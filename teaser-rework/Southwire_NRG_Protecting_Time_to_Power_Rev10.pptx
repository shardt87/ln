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  <p:sldId id="274" r:id="rI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  <Relationship Id="rId5" Type="http://schemas.openxmlformats.org/officeDocument/2006/relationships/slide" Target="slides/slide19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  <p:sp>
        <p:nvSpPr>
          <p:cNvPr id="300" name="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 xmlns:a="http://schemas.openxmlformats.org/drawingml/2006/main"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SUGGESTED FIRST SCOPE:  </a:t>
            </a:r>
            <a:r xmlns:a="http://schemas.openxmlformats.org/drawingml/2006/main">
              <a:rPr sz="10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CEDAR BAYOU 5 — ACTIVE TEF UNIT, MID-2028 COD</a:t>
            </a:r>
            <a:r xmlns:a="http://schemas.openxmlformats.org/drawingml/2006/main">
              <a:rPr sz="1050" b="1" i="0">
                <a:solidFill>
                  <a:srgbClr val="6A6F73"/>
                </a:solidFill>
                <a:latin typeface="Arial Narrow"/>
                <a:ea typeface="Arial Narrow"/>
                <a:cs typeface="Arial Narrow"/>
              </a:rPr>
              <a:t>   ·   OUR SUGGESTION, YOUR CALL   ·   DETAIL IN APPENDIX A9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4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4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A10 · FINANCE + ESG</a:t>
            </a:r>
          </a:p>
        </p:txBody>
      </p:sp>
      <p:sp>
        <p:nvSpPr>
          <p:cNvPr id="4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19</a:t>
            </a:r>
          </a:p>
        </p:txBody>
      </p:sp>
      <p:sp>
        <p:nvSpPr>
          <p:cNvPr id="4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EARLY ENGAGEMENT, UNDERWRITING-GRADE DOCUMENTATION</a:t>
            </a:r>
          </a:p>
        </p:txBody>
      </p:sp>
      <p:sp>
        <p:nvSpPr>
          <p:cNvPr id="4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early engagement includes — and what finance gets out of it.</a:t>
            </a:r>
          </a:p>
        </p:txBody>
      </p:sp>
      <p:sp>
        <p:nvSpPr>
          <p:cNvPr id="4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Technical readiness converts into underwriting inputs: cost, schedule, sourcing and carbon visibility before the EPC bid hardens contingency.</a:t>
            </a:r>
          </a:p>
        </p:txBody>
      </p:sp>
      <p:sp>
        <p:nvSpPr>
          <p:cNvPr id="4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PRE-EPC OFFERINGS</a:t>
            </a:r>
          </a:p>
        </p:txBody>
      </p:sp>
      <p:sp>
        <p:nvSpPr>
          <p:cNvPr id="409" name=""/>
          <p:cNvSpPr>
            <a:spLocks noGrp="1"/>
          </p:cNvSpPr>
          <p:nvPr/>
        </p:nvSpPr>
        <p:spPr>
          <a:xfrm>
            <a:off x="719138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0" name=""/>
          <p:cNvSpPr>
            <a:spLocks noGrp="1"/>
          </p:cNvSpPr>
          <p:nvPr/>
        </p:nvSpPr>
        <p:spPr>
          <a:xfrm>
            <a:off x="947738" y="283503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Master planning workshop — conceptual design and interface mapping for complex sites</a:t>
            </a:r>
          </a:p>
        </p:txBody>
      </p:sp>
      <p:sp>
        <p:nvSpPr>
          <p:cNvPr id="411" name=""/>
          <p:cNvSpPr>
            <a:spLocks noGrp="1"/>
          </p:cNvSpPr>
          <p:nvPr/>
        </p:nvSpPr>
        <p:spPr>
          <a:xfrm>
            <a:off x="719138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2" name=""/>
          <p:cNvSpPr>
            <a:spLocks noGrp="1"/>
          </p:cNvSpPr>
          <p:nvPr/>
        </p:nvSpPr>
        <p:spPr>
          <a:xfrm>
            <a:off x="947738" y="342939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cable solution design and electrical spine architecture</a:t>
            </a:r>
          </a:p>
        </p:txBody>
      </p:sp>
      <p:sp>
        <p:nvSpPr>
          <p:cNvPr id="413" name=""/>
          <p:cNvSpPr>
            <a:spLocks noGrp="1"/>
          </p:cNvSpPr>
          <p:nvPr/>
        </p:nvSpPr>
        <p:spPr>
          <a:xfrm>
            <a:off x="719138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4" name=""/>
          <p:cNvSpPr>
            <a:spLocks noGrp="1"/>
          </p:cNvSpPr>
          <p:nvPr/>
        </p:nvSpPr>
        <p:spPr>
          <a:xfrm>
            <a:off x="947738" y="402375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Procurement risk register and schedule visibility</a:t>
            </a:r>
          </a:p>
        </p:txBody>
      </p:sp>
      <p:sp>
        <p:nvSpPr>
          <p:cNvPr id="415" name=""/>
          <p:cNvSpPr>
            <a:spLocks noGrp="1"/>
          </p:cNvSpPr>
          <p:nvPr/>
        </p:nvSpPr>
        <p:spPr>
          <a:xfrm>
            <a:off x="719138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6" name=""/>
          <p:cNvSpPr>
            <a:spLocks noGrp="1"/>
          </p:cNvSpPr>
          <p:nvPr/>
        </p:nvSpPr>
        <p:spPr>
          <a:xfrm>
            <a:off x="947738" y="461811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allocation and commodity (Cu/Al) exposure hedging support</a:t>
            </a:r>
          </a:p>
        </p:txBody>
      </p:sp>
      <p:sp>
        <p:nvSpPr>
          <p:cNvPr id="417" name=""/>
          <p:cNvSpPr>
            <a:spLocks noGrp="1"/>
          </p:cNvSpPr>
          <p:nvPr/>
        </p:nvSpPr>
        <p:spPr>
          <a:xfrm>
            <a:off x="719138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8" name=""/>
          <p:cNvSpPr>
            <a:spLocks noGrp="1"/>
          </p:cNvSpPr>
          <p:nvPr/>
        </p:nvSpPr>
        <p:spPr>
          <a:xfrm>
            <a:off x="947738" y="521247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Domestic supply strategy — U.S.-made resilience for TEF and local-content goals</a:t>
            </a:r>
          </a:p>
        </p:txBody>
      </p:sp>
      <p:sp>
        <p:nvSpPr>
          <p:cNvPr id="4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DOCUMENTATION FOR FINANCE + ESG</a:t>
            </a:r>
          </a:p>
        </p:txBody>
      </p:sp>
      <p:sp>
        <p:nvSpPr>
          <p:cNvPr id="420" name=""/>
          <p:cNvSpPr>
            <a:spLocks noGrp="1"/>
          </p:cNvSpPr>
          <p:nvPr/>
        </p:nvSpPr>
        <p:spPr>
          <a:xfrm>
            <a:off x="6120130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1" name=""/>
          <p:cNvSpPr>
            <a:spLocks noGrp="1"/>
          </p:cNvSpPr>
          <p:nvPr/>
        </p:nvSpPr>
        <p:spPr>
          <a:xfrm>
            <a:off x="6348730" y="283503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Transparent BOMs and cost-allocation records supporting asset classification and depreciation — tax treatment confirmed per project</a:t>
            </a:r>
          </a:p>
        </p:txBody>
      </p:sp>
      <p:sp>
        <p:nvSpPr>
          <p:cNvPr id="422" name=""/>
          <p:cNvSpPr>
            <a:spLocks noGrp="1"/>
          </p:cNvSpPr>
          <p:nvPr/>
        </p:nvSpPr>
        <p:spPr>
          <a:xfrm>
            <a:off x="6120130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3" name=""/>
          <p:cNvSpPr>
            <a:spLocks noGrp="1"/>
          </p:cNvSpPr>
          <p:nvPr/>
        </p:nvSpPr>
        <p:spPr>
          <a:xfrm>
            <a:off x="6348730" y="342939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Verified EPDs for low-embodied-carbon procurement</a:t>
            </a:r>
          </a:p>
        </p:txBody>
      </p:sp>
      <p:sp>
        <p:nvSpPr>
          <p:cNvPr id="424" name=""/>
          <p:cNvSpPr>
            <a:spLocks noGrp="1"/>
          </p:cNvSpPr>
          <p:nvPr/>
        </p:nvSpPr>
        <p:spPr>
          <a:xfrm>
            <a:off x="6120130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5" name=""/>
          <p:cNvSpPr>
            <a:spLocks noGrp="1"/>
          </p:cNvSpPr>
          <p:nvPr/>
        </p:nvSpPr>
        <p:spPr>
          <a:xfrm>
            <a:off x="6348730" y="402375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3 cradle-to-gate carbon data for ESG-linked financing and hyperscaler offtaker requirements</a:t>
            </a:r>
          </a:p>
        </p:txBody>
      </p:sp>
      <p:sp>
        <p:nvSpPr>
          <p:cNvPr id="426" name=""/>
          <p:cNvSpPr>
            <a:spLocks noGrp="1"/>
          </p:cNvSpPr>
          <p:nvPr/>
        </p:nvSpPr>
        <p:spPr>
          <a:xfrm>
            <a:off x="6120130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7" name=""/>
          <p:cNvSpPr>
            <a:spLocks noGrp="1"/>
          </p:cNvSpPr>
          <p:nvPr/>
        </p:nvSpPr>
        <p:spPr>
          <a:xfrm>
            <a:off x="6348730" y="461811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Recycled-content integration and optimized logistics (circular economy)</a:t>
            </a:r>
          </a:p>
        </p:txBody>
      </p:sp>
      <p:sp>
        <p:nvSpPr>
          <p:cNvPr id="428" name=""/>
          <p:cNvSpPr>
            <a:spLocks noGrp="1"/>
          </p:cNvSpPr>
          <p:nvPr/>
        </p:nvSpPr>
        <p:spPr>
          <a:xfrm>
            <a:off x="6120130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9" name=""/>
          <p:cNvSpPr>
            <a:spLocks noGrp="1"/>
          </p:cNvSpPr>
          <p:nvPr/>
        </p:nvSpPr>
        <p:spPr>
          <a:xfrm>
            <a:off x="6348730" y="521247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Auditable domestic-content documentation for TEF and investor reporting</a:t>
            </a:r>
          </a:p>
        </p:txBody>
      </p:sp>
      <p:sp>
        <p:nvSpPr>
          <p:cNvPr id="430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commercial positioning — offerings, documentation and tax applicability are scoped and confirmed per project.</a:t>
            </a:r>
          </a:p>
        </p:txBody>
      </p:sp>
      <p:sp>
        <p:nvSpPr>
          <p:cNvPr id="4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4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COST, SCHEDULE, SOURCING AND CARBON VISIBILITY — BEFORE THE EPC BID PRICES THE UNCERTAINTY AS CONTINGENCY.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