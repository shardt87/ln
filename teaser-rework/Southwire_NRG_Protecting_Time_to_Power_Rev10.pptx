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d0926bf97124fee" /><Relationship Type="http://schemas.openxmlformats.org/officeDocument/2006/relationships/extended-properties" Target="/docProps/app.xml" Id="R07ac4663c3ef41e8" /><Relationship Type="http://schemas.openxmlformats.org/officeDocument/2006/relationships/officeDocument" Target="/ppt/presentation.xml" Id="R2499c83757fe4f35" 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xmlns:r="http://schemas.openxmlformats.org/officeDocument/2006/relationships" id="2147483648" r:id="Rb5e8e5b3817a4a98"/>
  </p:sldMasterIdLst>
  <p:notesMasterIdLst>
    <p:notesMasterId xmlns:r="http://schemas.openxmlformats.org/officeDocument/2006/relationships" r:id="R80b678ffa2494307"/>
  </p:notesMasterIdLst>
  <p:sldIdLst>
    <p:sldId xmlns:r="http://schemas.openxmlformats.org/officeDocument/2006/relationships" id="256" r:id="Ra6a9459434474981"/>
    <p:sldId xmlns:r="http://schemas.openxmlformats.org/officeDocument/2006/relationships" id="257" r:id="R905ad6d5c86f4ffd"/>
    <p:sldId xmlns:r="http://schemas.openxmlformats.org/officeDocument/2006/relationships" id="258" r:id="Rc8d0a1cb73de4e2f"/>
    <p:sldId xmlns:r="http://schemas.openxmlformats.org/officeDocument/2006/relationships" id="259" r:id="R6ef2e3d1bfca4224"/>
    <p:sldId xmlns:r="http://schemas.openxmlformats.org/officeDocument/2006/relationships" id="260" r:id="R0b6a3a838cc844a5"/>
    <p:sldId xmlns:r="http://schemas.openxmlformats.org/officeDocument/2006/relationships" id="261" r:id="R1b50de0b86aa4ce0"/>
    <p:sldId xmlns:r="http://schemas.openxmlformats.org/officeDocument/2006/relationships" id="262" r:id="R4b62031c4ada4992"/>
    <p:sldId xmlns:r="http://schemas.openxmlformats.org/officeDocument/2006/relationships" id="263" r:id="Rc41e49e7d6e6424d"/>
    <p:sldId xmlns:r="http://schemas.openxmlformats.org/officeDocument/2006/relationships" id="264" r:id="R52c4c95416cc4deb"/>
    <p:sldId xmlns:r="http://schemas.openxmlformats.org/officeDocument/2006/relationships" id="265" r:id="R4cd2b62133e44004"/>
    <p:sldId xmlns:r="http://schemas.openxmlformats.org/officeDocument/2006/relationships" id="266" r:id="R7eb2d03d5f9a410f"/>
    <p:sldId xmlns:r="http://schemas.openxmlformats.org/officeDocument/2006/relationships" id="267" r:id="R3587363244c248a2"/>
    <p:sldId xmlns:r="http://schemas.openxmlformats.org/officeDocument/2006/relationships" id="268" r:id="R6fc3685fea7f40cb"/>
    <p:sldId xmlns:r="http://schemas.openxmlformats.org/officeDocument/2006/relationships" id="269" r:id="R2dc7fa9f8acc4306"/>
    <p:sldId id="270" r:id="rId1"/>
    <p:sldId id="271" r:id="rId2"/>
    <p:sldId id="272" r:id="rId3"/>
    <p:sldId id="273" r:id="rId4"/>
    <p:sldId id="274" r:id="rId5"/>
    <p:sldId id="275" r:id="rId6"/>
    <p:sldId id="276" r:id="rId7"/>
    <p:sldId id="277" r:id="rId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90f60516f94b67" /><Relationship Type="http://schemas.openxmlformats.org/officeDocument/2006/relationships/slideMaster" Target="/ppt/slideMasters/slideMaster1.xml" Id="Rb5e8e5b3817a4a98" /><Relationship Type="http://schemas.openxmlformats.org/officeDocument/2006/relationships/notesMaster" Target="/ppt/notesMasters/notesMaster1.xml" Id="R80b678ffa2494307" /><Relationship Type="http://schemas.openxmlformats.org/officeDocument/2006/relationships/presProps" Target="/ppt/presProps.xml" Id="Ree62f03921ed4f0a" /><Relationship Type="http://schemas.openxmlformats.org/officeDocument/2006/relationships/tableStyles" Target="/ppt/tableStyles.xml" Id="R3e97285220704b69" /><Relationship Type="http://schemas.openxmlformats.org/officeDocument/2006/relationships/slide" Target="/ppt/slides/slide1.xml" Id="Ra6a9459434474981" /><Relationship Type="http://schemas.openxmlformats.org/officeDocument/2006/relationships/slide" Target="/ppt/slides/slide2.xml" Id="R905ad6d5c86f4ffd" /><Relationship Type="http://schemas.openxmlformats.org/officeDocument/2006/relationships/slide" Target="/ppt/slides/slide3.xml" Id="Rc8d0a1cb73de4e2f" /><Relationship Type="http://schemas.openxmlformats.org/officeDocument/2006/relationships/slide" Target="/ppt/slides/slide4.xml" Id="R6ef2e3d1bfca4224" /><Relationship Type="http://schemas.openxmlformats.org/officeDocument/2006/relationships/slide" Target="/ppt/slides/slide5.xml" Id="R0b6a3a838cc844a5" /><Relationship Type="http://schemas.openxmlformats.org/officeDocument/2006/relationships/slide" Target="/ppt/slides/slide6.xml" Id="R1b50de0b86aa4ce0" /><Relationship Type="http://schemas.openxmlformats.org/officeDocument/2006/relationships/slide" Target="/ppt/slides/slide7.xml" Id="R4b62031c4ada4992" /><Relationship Type="http://schemas.openxmlformats.org/officeDocument/2006/relationships/slide" Target="/ppt/slides/slide8.xml" Id="Rc41e49e7d6e6424d" /><Relationship Type="http://schemas.openxmlformats.org/officeDocument/2006/relationships/slide" Target="/ppt/slides/slide9.xml" Id="R52c4c95416cc4deb" /><Relationship Type="http://schemas.openxmlformats.org/officeDocument/2006/relationships/slide" Target="/ppt/slides/slide10.xml" Id="R4cd2b62133e44004" /><Relationship Type="http://schemas.openxmlformats.org/officeDocument/2006/relationships/slide" Target="/ppt/slides/slide11.xml" Id="R7eb2d03d5f9a410f" /><Relationship Type="http://schemas.openxmlformats.org/officeDocument/2006/relationships/slide" Target="/ppt/slides/slide12.xml" Id="R3587363244c248a2" /><Relationship Type="http://schemas.openxmlformats.org/officeDocument/2006/relationships/slide" Target="/ppt/slides/slide13.xml" Id="R6fc3685fea7f40cb" /><Relationship Type="http://schemas.openxmlformats.org/officeDocument/2006/relationships/slide" Target="/ppt/slides/slide14.xml" Id="R2dc7fa9f8acc4306" />  <Relationship Id="rId1" Type="http://schemas.openxmlformats.org/officeDocument/2006/relationships/slide" Target="slides/slide15.xml"/>
  <Relationship Id="rId2" Type="http://schemas.openxmlformats.org/officeDocument/2006/relationships/slide" Target="slides/slide16.xml"/>
  <Relationship Id="rId3" Type="http://schemas.openxmlformats.org/officeDocument/2006/relationships/slide" Target="slides/slide17.xml"/>
  <Relationship Id="rId4" Type="http://schemas.openxmlformats.org/officeDocument/2006/relationships/slide" Target="slides/slide18.xml"/>
  <Relationship Id="rId5" Type="http://schemas.openxmlformats.org/officeDocument/2006/relationships/slide" Target="slides/slide19.xml"/>
  <Relationship Id="rId6" Type="http://schemas.openxmlformats.org/officeDocument/2006/relationships/slide" Target="slides/slide20.xml"/>
  <Relationship Id="rId7" Type="http://schemas.openxmlformats.org/officeDocument/2006/relationships/slide" Target="slides/slide21.xml"/>
  <Relationship Id="rId8" Type="http://schemas.openxmlformats.org/officeDocument/2006/relationships/slide" Target="slides/slide22.xml"/>
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d09b9d2f2c3476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31ca114a6c547aa" /><Relationship Type="http://schemas.openxmlformats.org/officeDocument/2006/relationships/notesMaster" Target="/ppt/notesMasters/notesMaster1.xml" Id="Re76424e51eea4b6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283b3fb5a147c6" /><Relationship Type="http://schemas.openxmlformats.org/officeDocument/2006/relationships/notesMaster" Target="/ppt/notesMasters/notesMaster1.xml" Id="Rb5a7e20d6c964c9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df52d44f7c4419" /><Relationship Type="http://schemas.openxmlformats.org/officeDocument/2006/relationships/notesMaster" Target="/ppt/notesMasters/notesMaster1.xml" Id="R37a12510a0d94a7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654a01116b24c7a" /><Relationship Type="http://schemas.openxmlformats.org/officeDocument/2006/relationships/notesMaster" Target="/ppt/notesMasters/notesMaster1.xml" Id="R7b8429734b17424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7eb9d0b9b24bfe" /><Relationship Type="http://schemas.openxmlformats.org/officeDocument/2006/relationships/notesMaster" Target="/ppt/notesMasters/notesMaster1.xml" Id="Re8510f9385cc479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258ae63eba04390" /><Relationship Type="http://schemas.openxmlformats.org/officeDocument/2006/relationships/notesMaster" Target="/ppt/notesMasters/notesMaster1.xml" Id="R543cb85b48ae41a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8233e4ff1a14ccc" /><Relationship Type="http://schemas.openxmlformats.org/officeDocument/2006/relationships/notesMaster" Target="/ppt/notesMasters/notesMaster1.xml" Id="R2fc4d924caaf4d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1ed30a063df4f29" /><Relationship Type="http://schemas.openxmlformats.org/officeDocument/2006/relationships/notesMaster" Target="/ppt/notesMasters/notesMaster1.xml" Id="R64c85a6354a649a6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b8a41e7b7e540a6" /><Relationship Type="http://schemas.openxmlformats.org/officeDocument/2006/relationships/notesMaster" Target="/ppt/notesMasters/notesMaster1.xml" Id="Rb2f9770a12104ab6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e02a3704ce646e4" /><Relationship Type="http://schemas.openxmlformats.org/officeDocument/2006/relationships/notesMaster" Target="/ppt/notesMasters/notesMaster1.xml" Id="R86a54c982af84d2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9479691dfb54678" /><Relationship Type="http://schemas.openxmlformats.org/officeDocument/2006/relationships/notesMaster" Target="/ppt/notesMasters/notesMaster1.xml" Id="Ra806e0ee51b44fa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83a493649e4208" /><Relationship Type="http://schemas.openxmlformats.org/officeDocument/2006/relationships/notesMaster" Target="/ppt/notesMasters/notesMaster1.xml" Id="Rad4b405367a04c9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59b0e001392b4bf1" /><Relationship Type="http://schemas.openxmlformats.org/officeDocument/2006/relationships/notesMaster" Target="/ppt/notesMasters/notesMaster1.xml" Id="R243119a9dcb44b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985037211a04f08" /><Relationship Type="http://schemas.openxmlformats.org/officeDocument/2006/relationships/notesMaster" Target="/ppt/notesMasters/notesMaster1.xml" Id="Ra43e6c263aa24a3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NRG is managing three distinct execution environments: the TEF portfolio, a 5.4-GW newbuild runway and a larger operating fleet. Our working hypothesis is that the next place to protect schedule certainty is the electrical delivery chain—where specifications, material, releases, package interfaces, field labor and turnover converge.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(combined-cycle model and Southwire logo),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(labor, material and system-risk framing),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(central time-to-power thesis),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 and technical support: https://www.southwire.com/services</a:t>
            </a:r>
          </a:p>
          <a:p xmlns:a="http://schemas.openxmlformats.org/drawingml/2006/main">
            <a:r>
              <a:t>- Proposed operating model; not a committed NRG scope or commercial offer.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Outcome statements are hypotheses to validate, not claimed NRG results.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deck: 4,400 observed field hours for the site-built baseline and approximately 880 modeled field hours with a factory-built assembly. Not externally published and not an NRG result. Validate methodology, scope equivalence and permission before external release.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Southwire diagnostic exercise; scope, participants, timing and deliverables must be mutually agreed before commitment.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[Presenter notes]</a:t>
            </a:r>
          </a:p>
          <a:p xmlns:a="http://schemas.openxmlformats.org/drawingml/2006/main">
            <a:r>
              <a:t>We are not asking for a preferred-supplier decision or a broad commercial commitment. We are asking for one live scope, one focused hour with the people closest to electrical execution and, where practical, one site walk. We will return a concise written read-back—including where Southwire cannot materially help. If there is no credible case, we stop. If there is, we jointly define a bounded pilot.</a:t>
            </a:r>
          </a:p>
          <a:p xmlns:a="http://schemas.openxmlformats.org/drawingml/2006/main">
            <a:r>
              <a:t>[/Presenter notes]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(graphite honeycomb texture and contact information),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NRG 2Q26 earnings presentation (2026-08-04): https://investors.nrg.com/static-files/166760ef-79e6-4985-b776-09660ed84ae9</a:t>
            </a:r>
          </a:p>
          <a:p xmlns:a="http://schemas.openxmlformats.org/drawingml/2006/main">
            <a:r>
              <a:t>- NRG 2Q26 results release: https://investors.nrg.com/news-releases/news-release-details/nrg-energy-reports-second-quarter-2026-results-and-reaffirms</a:t>
            </a:r>
          </a:p>
          <a:p xmlns:a="http://schemas.openxmlformats.org/drawingml/2006/main">
            <a:r>
              <a:t>- NRG LS Power acquisition close: https://investors.nrg.com/news-releases/news-release-details/nrg-energy-completes-acquisition-13-gw-power-generation-and-ci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Proposed role-boundary framework for discussion; contractual scope and accountability must be agreed project by project.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Power Gen Teaser Southwire Final.pdf (Rev 89 combined-cycle site model and zone basis), supplied 2026-08-13.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Southwire project services: https://www.southwire.com/services/project-services</a:t>
            </a:r>
          </a:p>
          <a:p xmlns:a="http://schemas.openxmlformats.org/drawingml/2006/main">
            <a:r>
              <a:t>- Southwire services: https://www.southwire.com/services</a:t>
            </a:r>
          </a:p>
          <a:p xmlns:a="http://schemas.openxmlformats.org/drawingml/2006/main">
            <a:r>
              <a:t>- Southwire product transparency: https://www.southwire.com/sustainability/product-transparency</a:t>
            </a:r>
          </a:p>
          <a:p xmlns:a="http://schemas.openxmlformats.org/drawingml/2006/main">
            <a:r>
              <a:t>- Southwire responsible production: https://www.southwire.com/sustainability/doing-right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Internal adjacent-market benchmark supplied in the user-provided deck. No external source or customer permission has been provided. Keep the main-deck numeric slide internal until validation and external-use approval are complete.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2cd44b46b436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1f9ad11e21e49bd" /><Relationship Type="http://schemas.openxmlformats.org/officeDocument/2006/relationships/slideLayout" Target="/ppt/slideLayouts/slideLayout1.xml" Id="R9b6c61e7c04a47c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b6c61e7c04a47c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8bb182bfb84760" /><Relationship Type="http://schemas.openxmlformats.org/officeDocument/2006/relationships/image" Target="/ppt/media/image.jpeg" Id="R0f6abb0571bc450c" /><Relationship Type="http://schemas.openxmlformats.org/officeDocument/2006/relationships/image" Target="/ppt/media/image2.jpeg" Id="Re8f8611cb8914760" /><Relationship Type="http://schemas.openxmlformats.org/officeDocument/2006/relationships/notesSlide" Target="/ppt/notesSlides/notesSlide1.xml" Id="R5b1563f1cdc8477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5a7e71159499c" /><Relationship Type="http://schemas.openxmlformats.org/officeDocument/2006/relationships/image" Target="/ppt/media/image3.jpeg" Id="Rc876737220024471" /><Relationship Type="http://schemas.openxmlformats.org/officeDocument/2006/relationships/notesSlide" Target="/ppt/notesSlides/notesSlide2.xml" Id="Re64bd40c611a4ad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89ad1aff3441ea" /><Relationship Type="http://schemas.openxmlformats.org/officeDocument/2006/relationships/image" Target="/ppt/media/image4.jpeg" Id="Rfc1affae7cb74e1e" /><Relationship Type="http://schemas.openxmlformats.org/officeDocument/2006/relationships/notesSlide" Target="/ppt/notesSlides/notesSlide3.xml" Id="R380f4c840697403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02f384951b24fe2" /><Relationship Type="http://schemas.openxmlformats.org/officeDocument/2006/relationships/image" Target="/ppt/media/image5.jpeg" Id="R4defc997f92c418d" /><Relationship Type="http://schemas.openxmlformats.org/officeDocument/2006/relationships/notesSlide" Target="/ppt/notesSlides/notesSlide4.xml" Id="R84b426f3cf694a3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7ba4dfc772432f" /><Relationship Type="http://schemas.openxmlformats.org/officeDocument/2006/relationships/image" Target="/ppt/media/image6.jpeg" Id="Re9945691857c4426" /><Relationship Type="http://schemas.openxmlformats.org/officeDocument/2006/relationships/notesSlide" Target="/ppt/notesSlides/notesSlide5.xml" Id="Rec7788092b52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4a90135d8c4113" /><Relationship Type="http://schemas.openxmlformats.org/officeDocument/2006/relationships/image" Target="/ppt/media/image7.jpeg" Id="Re541a94199674e25" /><Relationship Type="http://schemas.openxmlformats.org/officeDocument/2006/relationships/notesSlide" Target="/ppt/notesSlides/notesSlide6.xml" Id="Rc0a37ce820eb4fa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fa585275e048c2" /><Relationship Type="http://schemas.openxmlformats.org/officeDocument/2006/relationships/image" Target="/ppt/media/image8.jpeg" Id="R7ee1c5f2262e4319" /><Relationship Type="http://schemas.openxmlformats.org/officeDocument/2006/relationships/notesSlide" Target="/ppt/notesSlides/notesSlide7.xml" Id="R54a22f7a9a1f442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210136f03452c" /><Relationship Type="http://schemas.openxmlformats.org/officeDocument/2006/relationships/image" Target="/ppt/media/image9.jpeg" Id="Raf48650a3c4a4d07" /><Relationship Type="http://schemas.openxmlformats.org/officeDocument/2006/relationships/notesSlide" Target="/ppt/notesSlides/notesSlide8.xml" Id="Rc27b689747074b8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c4fdbd6a84b31" /><Relationship Type="http://schemas.openxmlformats.org/officeDocument/2006/relationships/image" Target="/ppt/media/image10.jpeg" Id="R3d7090369bf04fb9" /><Relationship Type="http://schemas.openxmlformats.org/officeDocument/2006/relationships/notesSlide" Target="/ppt/notesSlides/notesSlide9.xml" Id="R80c06fd9fc784e2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notesSlide" Target="/ppt/notesSlides/notesSlide10.xml" Id="Rdcef412924914f5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7a23c9a4a9459d" /><Relationship Type="http://schemas.openxmlformats.org/officeDocument/2006/relationships/image" Target="/ppt/media/image12.jpeg" Id="R0d68d762455049bf" /><Relationship Type="http://schemas.openxmlformats.org/officeDocument/2006/relationships/notesSlide" Target="/ppt/notesSlides/notesSlide11.xml" Id="R0a347f0e7016443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a6cbf7d9bc42c0" /><Relationship Type="http://schemas.openxmlformats.org/officeDocument/2006/relationships/image" Target="/ppt/media/image13.jpeg" Id="R9278081788d04e04" /><Relationship Type="http://schemas.openxmlformats.org/officeDocument/2006/relationships/image" Target="/ppt/media/image14.jpeg" Id="R9ba0958dc14b4dd2" /><Relationship Type="http://schemas.openxmlformats.org/officeDocument/2006/relationships/notesSlide" Target="/ppt/notesSlides/notesSlide12.xml" Id="Rd15c87984c75405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0248d254e49c9" /><Relationship Type="http://schemas.openxmlformats.org/officeDocument/2006/relationships/image" Target="/ppt/media/image15.jpeg" Id="R1ecb628aa9ae49b6" /><Relationship Type="http://schemas.openxmlformats.org/officeDocument/2006/relationships/notesSlide" Target="/ppt/notesSlides/notesSlide13.xml" Id="Red5caebca57c437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23b3c08084749" /><Relationship Type="http://schemas.openxmlformats.org/officeDocument/2006/relationships/image" Target="/ppt/media/image16.jpeg" Id="R82a988a906914445" /><Relationship Type="http://schemas.openxmlformats.org/officeDocument/2006/relationships/notesSlide" Target="/ppt/notesSlides/notesSlide14.xml" Id="Rd31656f6b268456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Relationship Type="http://schemas.openxmlformats.org/officeDocument/2006/relationships/image" Target="/ppt/media/imagesk120.jpeg" Id="Rsk120a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620a3f08fb48b1" /><Relationship Type="http://schemas.openxmlformats.org/officeDocument/2006/relationships/image" Target="/ppt/media/image11.jpeg" Id="R48e2a3d3733b426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35EF59-13FD-4D9A-9878-74A258A1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5619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abb0571bc450c"/>
          <a:srcRect xmlns:a="http://schemas.openxmlformats.org/drawingml/2006/main" l="23047" t="0" r="230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619750" y="0"/>
            <a:ext cx="6572250" cy="68580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C488C-3A54-4952-8BC9-B7C7596F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81650" y="0"/>
            <a:ext cx="4762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f8611cb8914760"/>
          <a:srcRect xmlns:a="http://schemas.openxmlformats.org/drawingml/2006/main" l="8984" t="0" r="898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33400" y="400050"/>
            <a:ext cx="3667125" cy="6286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5C8ACA-EC8A-4169-9061-AF45BA88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447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PREPARED FOR NRG  |  EXECUTIVE WORKING DISCUSSION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D8E28E-9D85-4F4F-9279-A2B2509B4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19275"/>
            <a:ext cx="44958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PROTECTING</a:t>
            </a:r>
          </a:p>
          <a:p xmlns:a="http://schemas.openxmlformats.org/drawingml/2006/main">
            <a:pPr algn="l">
              <a:lnSpc>
                <a:spcPct val="86000"/>
              </a:lnSpc>
              <a:buNone/>
              <a:def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4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C4DD4-571A-4425-8F57-4DD0B73AA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38550"/>
            <a:ext cx="125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CBD95E-78E0-414E-88E1-9AD4DFDA7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14775"/>
            <a:ext cx="4333875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7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7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A working model for integrated electrical delivery across NRG's generation buildout.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0C325A-3DD2-4CE5-8C5A-4371B632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38750"/>
            <a:ext cx="43624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PRESERVE UPSTREAM CERTAINTY</a:t>
            </a:r>
          </a:p>
          <a:p xmlns:a="http://schemas.openxmlformats.org/drawingml/2006/main">
            <a:pPr algn="l">
              <a:lnSpc>
                <a:spcPct val="96000"/>
              </a:lnSpc>
              <a:buNone/>
              <a:def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THROUGH THE ELECTRICAL DELIVERY CHAIN.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AE29E2-F0A4-4ED8-ABF9-D68C5DE4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34125"/>
            <a:ext cx="476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</p:spTree>
    <p:extLst>
      <p:ext uri="{BB962C8B-B14F-4D97-AF65-F5344CB8AC3E}">
        <p14:creationId xmlns:p14="http://schemas.microsoft.com/office/powerpoint/2010/main" val="1121985240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66E4675-5951-4B04-9434-499810F11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6737220024471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B4B8-1504-4592-AA89-370627FC7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NRG'S AMBITION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683341-83F3-46B5-8D72-14A3CBA81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47850D-07DD-495F-8213-AA2ACF9C2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WHY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38A040-B911-4DF8-B72F-385313FCC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9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NRG's growth agenda creates three distinct electrical-delivery environments.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E8570-5C5C-4B3D-9D49-CC264D462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1.5 GW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B15914-1A5A-47FF-8097-D6EB9E4B9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TEF PORTFOLIO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342725-D677-4F0E-B596-4D4ACAADE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project operating; two targeting mid-2028.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7FF9E3-510C-4692-A02F-E3428EDB8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22E6A1-300D-4C60-8794-03A189E7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5AC63B9-A54E-4F34-B90F-101BBBE1B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F31A44-BB0F-400C-9475-083A791E8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NEWBUILD DEVELOPMENT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9750CE-3881-40C1-B74E-35447A1C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B3BEB2-048A-4133-A906-55D0EE9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BFF0A4-4D7B-4A87-991E-9BC0D59E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295525"/>
            <a:ext cx="0" cy="22002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219BED-A9F1-4C79-B716-1ADD50424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52650"/>
            <a:ext cx="32194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25.8 GW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E091B-9B90-4C14-9D65-A21C07AF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67025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OPERATING FLEET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B1CC97-064A-408F-8742-A2ED5BF80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05175"/>
            <a:ext cx="3143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1-2 GW of upgrades under evaluation.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913D1F-659E-49F6-8754-8492FDDBE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419600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D8D1C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510F29-0D04-4BA6-811D-E54CA110B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4867275"/>
            <a:ext cx="12192000" cy="1990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9D8E600-E2AE-42B9-9E01-5DDDF55C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72075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DIFFERENT ASSET STATES. ONE REQUIREMENT.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02E2BB2-5CB2-485C-8D5A-86374E30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85725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Preserve schedule certainty through energization.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480BB5-0579-4420-A454-EC2D8BFE7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48375"/>
            <a:ext cx="9982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425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Specifications, capacity, releases, reels, package interfaces and field readiness still have to converge on COD.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E9A9E5B-D592-4C2E-99CD-C027B12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6534150"/>
            <a:ext cx="24193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Source: NRG 2Q26, Aug. 4, 2026</a:t>
            </a:r>
          </a:p>
        </p:txBody>
      </p:sp>
    </p:spTree>
    <p:extLst>
      <p:ext uri="{BB962C8B-B14F-4D97-AF65-F5344CB8AC3E}">
        <p14:creationId xmlns:p14="http://schemas.microsoft.com/office/powerpoint/2010/main" val="177471549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387C382-684C-41EA-AD7B-090994DEA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1affae7cb74e1e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D62E9C2-EC75-4805-B37B-7F8E5EFE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EXECUTION CHALLENGE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55D9A4-4A86-47B2-BECD-3611783CD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C85CF9-7B4A-4498-A4FF-A1FEE4116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THREE RISKS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4E7682-C0E3-4EE9-82E6-03DD1466A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7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Three execution risks can erode certainty between design and energization.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4A3E3F-D6CA-4014-9838-F928AA69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6CE7DBA-AF47-4FA9-B00A-EA1DEB27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71500" y="2819400"/>
            <a:ext cx="333375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DED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FA24AB8-20D4-4A42-A131-C79D44186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19175" y="2600325"/>
            <a:ext cx="333375" cy="923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3A0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C41DE06-9BEB-4B12-B551-12303209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466850" y="2305050"/>
            <a:ext cx="3333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EAF7DC-6BC1-4284-A854-7D681DB60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1409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8B9094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26175-42E4-4549-A3A7-DD08F77F3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LABOR PRESSURE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13D31A-1F21-41A3-AFF2-83E8DEC6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labor demand can peak when schedule-recovery and commissioning flexibility are lowest.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F84559-460B-4C41-BD5D-67A4BAADB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26D61B0-6A32-4760-8474-5392F72F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454509-AB0B-46F7-AB99-185C4BCAE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2925" y="2371725"/>
            <a:ext cx="1162050" cy="1162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D69E25-DEEC-4F02-9229-32C78EABE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C9783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1CCA50-2808-443C-8C30-07C35CF8F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4975" y="2952750"/>
            <a:ext cx="590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C9783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10710-442E-4753-A109-3FB7DF4D1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8765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8C0643-D9D8-4050-B6DB-6DA9D5644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COMPLEXITY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03671-035A-4B87-BCB4-680AA1CB3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Specifications, lengths, reels, accessories and releases must match the construction sequence.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B3528B-F44A-4DC1-B4B2-6DF9E31D1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152650"/>
            <a:ext cx="0" cy="2952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1D3B0D1-03CC-4D8F-A5AB-1E78494AB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114550"/>
            <a:ext cx="57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317186-219B-4214-8435-451A3D31C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3425" y="2714625"/>
            <a:ext cx="7239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373C3D6-9905-4497-BBF0-1840198F4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732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940198B-9679-4166-A010-6B152C3A5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14625"/>
            <a:ext cx="51435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8D1C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D94A1D-FF55-40C0-AEFC-5636A569E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E4AD4F-4E0A-47E0-A7D2-E8C9ED7CD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AEF168-A049-4FA6-B8A8-3DEFF654D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3AC2D5-98BC-49E7-B6B9-BFB818FF5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2562225"/>
            <a:ext cx="304800" cy="3048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6F3EE"/>
          </a:solidFill>
          <a:ln xmlns:a="http://schemas.openxmlformats.org/drawingml/2006/main" w="9525">
            <a:solidFill>
              <a:srgbClr val="8B9094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5D1C497-7643-4BB7-BC5B-D815A745B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933825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8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FRAGMENTED COORDINATION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74D61C3-4B2A-49FF-A685-25626D935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4371975"/>
            <a:ext cx="3143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Owner, EPC, OEM, supplier and contractor decisions can converge too late.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A7EB2C-FB0F-4B6A-8D27-A9FE4230D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495925"/>
            <a:ext cx="110871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8820853-0352-4232-9109-367D1EAA3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743575"/>
            <a:ext cx="10629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7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LATE HANDOFFS BECOME SCHEDULE AND COMMISSIONING EXPOSURE.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56D35BF-74D2-4784-980F-6BDF91F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Labor availability  |  material readiness  |  decision timing</a:t>
            </a:r>
          </a:p>
        </p:txBody>
      </p:sp>
    </p:spTree>
    <p:extLst>
      <p:ext uri="{BB962C8B-B14F-4D97-AF65-F5344CB8AC3E}">
        <p14:creationId xmlns:p14="http://schemas.microsoft.com/office/powerpoint/2010/main" val="130449863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BF3D11-5231-4DDC-BB3A-94D00087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efc997f92c418d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4144D4-FF7A-4A82-99D7-3D12C1AA6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STRATEGIC INSIGHT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79070D-6C0F-4266-8945-5BC47DF63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E0C359-915D-4200-B24C-8C5DB37F2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304925"/>
            <a:ext cx="666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AE8ECB-F97B-4C8B-A969-7459B2AA0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247775"/>
            <a:ext cx="1000125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TIME TO POWER IS AN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ELECTRICAL EXECUTION PROBLEM</a:t>
            </a:r>
          </a:p>
          <a:p xmlns:a="http://schemas.openxmlformats.org/drawingml/2006/main">
            <a:pPr algn="l">
              <a:lnSpc>
                <a:spcPct val="88000"/>
              </a:lnSpc>
              <a:buNone/>
              <a:def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6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BEFORE IT IS A CABLE-BUYING PROBLEM.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ADA97-15E3-44DF-8039-F5322D253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3386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04F568-5669-432F-A2DA-B31C8C71C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2767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Interfaces cross packages, zones, contractors and turnover paths.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8C4731C-1E44-4801-8550-BCA9CD20C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48148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29FEADE-D784-4275-97D0-D439A872B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475297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Late material decisions return as handling, rework and commissioning exposure.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BDF5EDB-6FB9-47B4-90E7-4074EC3A1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3" y="529113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51CB84-C4F4-4D9D-BBAE-1F58A6DE5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" y="5229225"/>
            <a:ext cx="93059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D5D7D9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D5D7D9"/>
                </a:solidFill>
                <a:latin typeface="Arial"/>
                <a:ea typeface="Arial"/>
                <a:cs typeface="Arial"/>
              </a:rPr>
              <a:t>Managing the workstream as a system can protect schedule better than isolated purchase-order optimization.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49ADE3-6C12-4085-889E-8A2423F57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6096000"/>
            <a:ext cx="857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9783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9ADDD-D017-45CB-B044-B3CD0F2D0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783846-430F-43A3-8E35-20253928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DESIGN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0BBEA81-C80A-41ED-B57A-99D5025A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4E2898-5B19-487D-8F27-1B5CC3DD1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MATERIAL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92268D-8BE3-49C1-A1DD-AFEE7005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E81957-DAAF-4804-A30B-1D8791381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WORKFACE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8901EE6-526F-44DD-B308-332CEE410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598170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8D04B9-C876-439E-8002-82DC4C68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6334125"/>
            <a:ext cx="1447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ENERGIZATION</a:t>
            </a:r>
          </a:p>
        </p:txBody>
      </p:sp>
    </p:spTree>
    <p:extLst>
      <p:ext uri="{BB962C8B-B14F-4D97-AF65-F5344CB8AC3E}">
        <p14:creationId xmlns:p14="http://schemas.microsoft.com/office/powerpoint/2010/main" val="118752608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45DC38F-6AE2-41CB-8F67-FE474A831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45691857c442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9EEA4D-3183-4B6E-8498-78D3FCE2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INTEGRATED ELECTRICAL DELIVERY SYSTEM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F28EA1-DF91-47F4-8165-40932299F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5CC8-9D9B-49E1-BEC1-A70BAD838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COORDINATED FLOW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C0BCAE-551A-42C9-A5AF-140E3EF3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372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0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A coordinated electrical delivery system aligns decisions from planning through turnover.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1B163-FEC6-4A82-AC0D-BFBC738C4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47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8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Southwire connects application support, material planning, sequenced logistics and field readiness—without changing project accountability.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0834E0-F0DC-4C90-9E61-78A455267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81350"/>
            <a:ext cx="10048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7FDA60-6B1B-4154-9A93-CE3D69739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4B2944-3C32-41A4-B7DE-F11869E7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E862CD-7E83-4193-986F-2224FBD6F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PLAN + FORECAST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86C620-65F1-4F7A-9A35-D59254D61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and capacity visibility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931DE4-5B9D-450F-9375-80FB29CDC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E1E8D4-DC48-43E5-BDB0-06DCDDB20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8442E0-B01E-479C-8535-941AA472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APPLICATION ALIGNMENT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4735E2-DA32-4A3F-8C89-53B55832E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Codes, duty and alternates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34E919-3F74-49E2-9A5E-3B5E2FE3A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442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FFC1-96E5-4C04-8540-32DCBFE37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252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F4CE0C7-F215-4467-9632-95BC63F3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MATERIAL + REEL STRATEGY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3431A3-A8C2-4B8A-A59B-A3E229E7F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Routes, cuts and reel plan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D6F02E7-F294-408E-AE7B-57B98FC76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1FD49B-FA5A-4A7B-A012-300CD02A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230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38CFB6-8269-4816-938F-78C2F8E8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RELEASE + LOGISTICS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C77E230-1B0B-4F73-8A24-65663B601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 by zone and milestone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44B5AF7-4C1D-43FE-8983-E16EF6213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94CBBF6-3636-4021-9235-7A705BC79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B0B3B82-393B-4C25-86A4-24ECEE8A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INSTALLATION READINESS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2CFCDD8-3BF8-4990-8197-A9083D24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Labels, kits and pull planning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917D65D-B844-43A9-A2EB-E9EF8AA9A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3019425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09CD09-1EBC-429B-930F-D50F0A39F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1850" y="3067050"/>
            <a:ext cx="247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521088-E403-43F6-9051-AEE0895D4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35528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FIELD SUPPORT + TURNOVER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5C15463-1636-4C31-BFCD-F704B9D4D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48900" y="4019550"/>
            <a:ext cx="1733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Feedback, testing and records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CDCDBBB-418D-4496-B683-1E46A121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57750"/>
            <a:ext cx="110871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2C8B5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A06570-0838-4403-8C3D-864FB39C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95875"/>
            <a:ext cx="2781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 COORDINATION RAIL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D384A0D-57CD-4CD1-A4C8-D48025903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5038725"/>
            <a:ext cx="766762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Shared data  |  governed handoffs  |  field feedback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89880F5-9D2C-4FC8-96E7-B9006D019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29250"/>
            <a:ext cx="104489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 governance, EPC/EOR/OEM design authority and contractor means and methods remain intact.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A263A00-C9E1-4BDB-B5EE-F25C73D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81725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6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FIELD-ENGINEER WHAT IS UNIQUE. PREFABRICATE WHAT REPEATS.</a:t>
            </a:r>
          </a:p>
        </p:txBody>
      </p:sp>
    </p:spTree>
    <p:extLst>
      <p:ext uri="{BB962C8B-B14F-4D97-AF65-F5344CB8AC3E}">
        <p14:creationId xmlns:p14="http://schemas.microsoft.com/office/powerpoint/2010/main" val="196694450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437775-3E93-49D5-913C-6EC2B803F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41a94199674e2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4C3922-3AF7-4484-BCAC-B9116A3B1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VALUE TO NRG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D0BC42-5E53-4971-871E-BD3B868E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839EC-62AD-43FB-B350-14025AC61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THE OUTCOME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D6F92C-E4CC-426C-AFD2-A06B43E70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70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value to NRG is fewer execution surprises—not more supplier services.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72E7E-7CF0-4FF4-B395-AAF4727B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876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Translate each delivery lever into a direct execution outcome.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63EC5-AFC3-4CDF-A1E7-75190DCA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431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ALIGN APPLICATIONS + INTERFACES EARLY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F21814-B62E-4AD3-A738-66F0119B2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26003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8D6904-2C04-4FAD-8B52-649BF856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24955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Fewer late changes and handoff failures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05D1D6-7831-450F-9EF0-976D92E0E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BB2274-C5E4-420A-B9D4-087A8C65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623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GATE CAPACITY + RELEASES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4D9CBE-51A7-4E75-989A-CADF649D0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34194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63C693-0150-40E6-92D8-4A69BE5B9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33147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More predictable material availability and sequencing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D6F99D-2944-40B1-B07C-0ED784C7F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1955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963077-AE25-4178-9491-1261214E2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8147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 REELS + REPEATABLE SETS TO THE WORKFACE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CE0C038-7A77-4059-9A7E-C055825B2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423862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C86F1B-38F8-481C-BAAD-A6A3BE2AC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13385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Less handling and avoidable rework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6ADE07-9F3C-472D-9C02-0E98D2863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387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3D9E0F-899F-465B-9D14-0E8140D9C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00625"/>
            <a:ext cx="314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03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CARRY FIELD RECORDS THROUGH TURNOVER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E24CD7B-2E17-42BA-9028-F64F5CC43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3857625" y="5057775"/>
            <a:ext cx="800100" cy="2095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A4DFB31-3CCD-4CDA-A12D-1DC6EE0EF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1575" y="4953000"/>
            <a:ext cx="62388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8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Cleaner commissioning and lifecycle continuity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622249-1E5A-4CE7-93D5-B101EE57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95975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1EDD42A-983E-4ADF-8EAC-63D346842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38850"/>
            <a:ext cx="10629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OUTCOME HYPOTHESES TO VALIDATE ON ONE LIVE NRG SCOPE.</a:t>
            </a:r>
          </a:p>
        </p:txBody>
      </p:sp>
    </p:spTree>
    <p:extLst>
      <p:ext uri="{BB962C8B-B14F-4D97-AF65-F5344CB8AC3E}">
        <p14:creationId xmlns:p14="http://schemas.microsoft.com/office/powerpoint/2010/main" val="49248879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22252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A8162B-F601-4993-98BE-8D3BBB694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e1c5f2262e4319"/>
          <a:srcRect xmlns:a="http://schemas.openxmlformats.org/drawingml/2006/main" l="8771" t="0" r="877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52450" y="209550"/>
            <a:ext cx="2457450" cy="4191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FD36E9-20DA-46F1-ACA1-252C5BC6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ADJACENT EXPERIENCE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E4AB5C-7EC8-420D-B720-AC3E8A2FE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78909B-CBB8-472D-9EB7-45D22A318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ILLUSTRATIVE ADJACENT-MARKET BENCHMARK  |  NOT AN NRG RESULT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8CB839-CF33-46DF-BEAB-0097A59E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7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775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775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Adjacent experience indicates where to test—not what NRG will save.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63E3EC-1859-40FD-913D-354070C70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14525"/>
            <a:ext cx="800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 i="0">
                <a:solidFill>
                  <a:srgbClr val="C8CBCE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C8CBCE"/>
                </a:solidFill>
                <a:latin typeface="Arial"/>
                <a:ea typeface="Arial"/>
                <a:cs typeface="Arial"/>
              </a:rPr>
              <a:t>Field hours per electrical spine in one repetitive modular-generation scope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C04A89-F9F2-44AE-A653-9601C86D1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4,400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8F05E-D3A7-4725-AF7B-22D702CBA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OBSERVED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SITE-BUILT BASELINE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8F02CA-DBD3-4859-AF3F-1D044E927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781550" y="2933700"/>
            <a:ext cx="2095500" cy="46672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DFB9DE-7765-4137-85DE-D711A3251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0325"/>
            <a:ext cx="33337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9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57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~880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1E448B-AC8F-4D77-A10F-EB3D44F6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3476625"/>
            <a:ext cx="33337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MODELED FIELD HOURS</a:t>
            </a:r>
          </a:p>
          <a:p xmlns:a="http://schemas.openxmlformats.org/drawingml/2006/main">
            <a:pPr algn="ctr">
              <a:lnSpc>
                <a:spcPct val="92000"/>
              </a:lnSpc>
              <a:buNone/>
              <a:def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WITH FACTORY-BUILT ASSEMBLY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791E57-1617-48F4-B221-E3DE343A1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219575"/>
            <a:ext cx="525780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0F3D-24E2-43A3-BC80-0B27D9B21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38650"/>
            <a:ext cx="466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SUGGESTS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017E22-8AA6-4ADE-B06E-95252889A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67275"/>
            <a:ext cx="4619625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Stable, repeatable interfaces may be candidates for offsite work.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681D7F-D168-416D-9DD9-FF7CA8047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57900" y="4219575"/>
            <a:ext cx="5581650" cy="1562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2E32"/>
          </a:solidFill>
          <a:ln xmlns:a="http://schemas.openxmlformats.org/drawingml/2006/main" w="9525">
            <a:solidFill>
              <a:srgbClr val="4145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AC47E8-FE43-444A-BF93-C7020872A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438650"/>
            <a:ext cx="504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WHAT IT DOES NOT PROVE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80DF4B-9080-43AC-805A-3D9F6E0B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67275"/>
            <a:ext cx="49530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Net NRG savings, schedule reduction or critical-path removal.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91D27FB-5F84-48E5-842F-1B2511CCE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43625"/>
            <a:ext cx="110871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Rebuild the case with NRG scope, labor rates, schedule logic and acceptance criteria.</a:t>
            </a:r>
          </a:p>
        </p:txBody>
      </p:sp>
    </p:spTree>
    <p:extLst>
      <p:ext uri="{BB962C8B-B14F-4D97-AF65-F5344CB8AC3E}">
        <p14:creationId xmlns:p14="http://schemas.microsoft.com/office/powerpoint/2010/main" val="172234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D13ECD5-341F-415E-84A3-47C83FA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48650a3c4a4d07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ABAE97-A482-4C51-AB8A-4FC957C2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VALIDATION PATH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D9B8D4-7A2F-45E6-82B8-D279976E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22B7DA-FF50-4999-9E1F-7DC40D90A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LIVE SCOPE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ABED4F-19E1-4982-A1D1-521AEF1B0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529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live scope can prove—or disprove—the case before NRG expands it.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467C56-AE84-4523-8A09-974155F91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Start with one active newbuild package, TEF project or acquired-fleet conversion/uprate screen.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18CD6F-FAD1-4542-9104-F794B20E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133725"/>
            <a:ext cx="8743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B7608-3F72-4762-A223-E4CD655D0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C424C8-E27E-4777-98E6-33313A9FF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25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BC0D98-DE4B-45ED-9FE2-02949D37C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SELECT SCOPE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CD6648-3D0D-4368-B77F-F895BB12B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active electrical package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268B23-D7A4-4665-89C6-2CED9881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61213F-6B30-4A83-B799-2D99FAC73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40F5A5-7842-491B-8D20-9FD737DBE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WALK THE WORK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ED1B96-AD35-4D5F-BCE9-C6955AB85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People closest to execution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84852D-62CD-40A0-8594-6B48D1BB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8C0776-D7F7-4A88-B5A2-B555EE433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87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A59F52-B2A9-4422-BCEC-BDC6CB3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MAP THE RISK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43704E-D542-4DA0-B5E5-CDA2450CC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Handoffs, releases and repetition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226CA3-82E9-421A-AD1E-457B574C8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943225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D4E2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977B31-4638-490D-831C-B42F263F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00375"/>
            <a:ext cx="323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83C44C-4ECF-4BBC-8052-84B63F67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5433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4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DECIDE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A8CFB66-F8CA-46AE-B743-9928828FA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3943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20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Stop, standardize or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7BF63-4301-4D2E-AB17-9762F7623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829175"/>
            <a:ext cx="11087100" cy="13049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0C4B0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505F57C-E518-493A-A640-19DF682E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057775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WRITTEN READ-BACK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3835A7-613D-4054-BAAA-7005CBA59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038725"/>
            <a:ext cx="2238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Milestone exposure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6461B3C-2622-4929-8DE8-6495088A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5438775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Release + reel opportunities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13261F5-966B-44FA-9121-0D3FF6B2B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38725"/>
            <a:ext cx="2762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Repeatable-interface candidates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4CFA833-7555-4885-B8FA-6895A39AA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38775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13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Role gaps + recommendation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8D444A0-F72B-4A5B-A1B7-8DF5519C4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1600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STOP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STANDARDIZE</a:t>
            </a:r>
          </a:p>
          <a:p xmlns:a="http://schemas.openxmlformats.org/drawingml/2006/main">
            <a:pPr algn="ctr">
              <a:lnSpc>
                <a:spcPct val="90000"/>
              </a:lnSpc>
              <a:buNone/>
              <a:def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5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PILOT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BD9FD6F-F406-496E-99AE-88486C2FC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1050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No presumption that the answer is prefab—or that Southwire belongs in the solution.</a:t>
            </a:r>
          </a:p>
        </p:txBody>
      </p:sp>
      <p:sp>
        <p:nvSpPr>
          <p:cNvPr id="300" name="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11087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</a:pPr>
            <a:r xmlns:a="http://schemas.openxmlformats.org/drawingml/2006/main"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SUGGESTED FIRST SCOPE:  </a:t>
            </a:r>
            <a:r xmlns:a="http://schemas.openxmlformats.org/drawingml/2006/main">
              <a:rPr sz="10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CEDAR BAYOU 5 — ACTIVE TEF UNIT, MID-2028 COD</a:t>
            </a:r>
            <a:r xmlns:a="http://schemas.openxmlformats.org/drawingml/2006/main">
              <a:rPr sz="1050" b="1" i="0">
                <a:solidFill>
                  <a:srgbClr val="6A6F73"/>
                </a:solidFill>
                <a:latin typeface="Arial Narrow"/>
                <a:ea typeface="Arial Narrow"/>
                <a:cs typeface="Arial Narrow"/>
              </a:rPr>
              <a:t>   ·   OUR SUGGESTION, YOUR CALL   ·   DETAIL IN APPENDIX A9</a:t>
            </a:r>
          </a:p>
        </p:txBody>
      </p:sp>
    </p:spTree>
    <p:extLst>
      <p:ext uri="{BB962C8B-B14F-4D97-AF65-F5344CB8AC3E}">
        <p14:creationId xmlns:p14="http://schemas.microsoft.com/office/powerpoint/2010/main" val="192716673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17191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090369bf04fb9"/>
          <a:srcRect xmlns:a="http://schemas.openxmlformats.org/drawingml/2006/main" l="0" t="11345" r="0" b="11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D86577-7FD6-4E7A-9F78-F874D9D61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238125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7F0EE-5C22-46A5-8FF3-6F8A5001D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38175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THE ASK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826A6B-604E-4302-BED6-FAC031836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066800"/>
            <a:ext cx="7810500" cy="1781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SITE WALK.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ONE HOUR.</a:t>
            </a:r>
          </a:p>
          <a:p xmlns:a="http://schemas.openxmlformats.org/drawingml/2006/main">
            <a:pPr algn="l">
              <a:lnSpc>
                <a:spcPct val="84000"/>
              </a:lnSpc>
              <a:buNone/>
              <a:def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382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NO SALES PRESENTATION.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12C868-8A71-436C-9D9F-382247C54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086100"/>
            <a:ext cx="13620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42F160-C0E0-4544-AED1-110B326F9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343275"/>
            <a:ext cx="7667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 i="0">
                <a:solidFill>
                  <a:srgbClr val="D4D6D8"/>
                </a:solidFill>
                <a:latin typeface="Arial"/>
                <a:ea typeface="Arial"/>
                <a:cs typeface="Arial"/>
              </a:defRPr>
            </a:pPr>
            <a:r>
              <a:rPr sz="1650" b="0" i="0">
                <a:solidFill>
                  <a:srgbClr val="D4D6D8"/>
                </a:solidFill>
                <a:latin typeface="Arial"/>
                <a:ea typeface="Arial"/>
                <a:cs typeface="Arial"/>
              </a:rPr>
              <a:t>Choose one live electrical scope and bring the people closest to execution.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779A2-3811-4864-A788-4CE9F98FC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10527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8B2CE-326E-4BE2-9F47-54E879EF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06717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One live scope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5374F9-5B03-4021-96B6-6CCD936A6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476750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3F6D94-AF4F-4255-AB7C-1618C029A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724400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OUTPUT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990F82-14BA-4C45-81C4-D787E23F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4686300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Written execution-risk read-back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44146-E575-42D6-AFC2-879560555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095875"/>
            <a:ext cx="7762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44484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ADC995-35FC-47B8-98FE-36C2EA790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5343525"/>
            <a:ext cx="138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DECISION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E9760F-7F0F-4A25-AF32-24A9073EE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5825" y="5305425"/>
            <a:ext cx="6172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Stop, standardize or define a bounded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C17B67-3E80-460C-A9F3-61D1AF3A4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019800"/>
            <a:ext cx="781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75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NO PRICING EXERCISE. NO BROAD COMMERCIAL COMMITMENT.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8E470-C0A2-46EA-B882-4B0BC7C70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6438900"/>
            <a:ext cx="50958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Stephan Hardt  |  Director, Power Generation Solutions  |  Southwire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1632DE-BA61-449A-8837-ADD3F559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0025" y="6429375"/>
            <a:ext cx="3143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E3A06D"/>
                </a:solidFill>
                <a:latin typeface="Arial"/>
                <a:ea typeface="Arial"/>
                <a:cs typeface="Arial"/>
              </a:defRPr>
            </a:pPr>
            <a:r>
              <a:rPr sz="975" b="1" i="0">
                <a:solidFill>
                  <a:srgbClr val="E3A06D"/>
                </a:solidFill>
                <a:latin typeface="Arial"/>
                <a:ea typeface="Arial"/>
                <a:cs typeface="Arial"/>
              </a:rPr>
              <a:t>stephan.hardt@southwire.com  |  +1 470-439-8488</a:t>
            </a:r>
          </a:p>
        </p:txBody>
      </p:sp>
    </p:spTree>
    <p:extLst>
      <p:ext uri="{BB962C8B-B14F-4D97-AF65-F5344CB8AC3E}">
        <p14:creationId xmlns:p14="http://schemas.microsoft.com/office/powerpoint/2010/main" val="77569522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A587E2-FC4F-49CD-8D8C-2765E1B41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e2a3d3733b426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01195BE-0FB3-4DE7-ABCC-05436F185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 · NRG CONTEXT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856087-0A66-405A-A4F3-CDF61851D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B093D7-ADC1-4FE9-A40B-33BEC9378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SOURCE DISCIPLINE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1207A7-6AEC-4825-9F58-39F1286C3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NRG context is current, attributed and non-additive.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F16E89-BB6B-40C9-9ECA-2D2F18809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717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1.5 GW TEF PORTFOLIO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FD732F-8F8C-42CD-BB3E-99D66F58E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One operating project and two projects targeting mid-2028. Do not describe the entire portfolio as under construction.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AE8360-D312-4F77-88B6-E9B3EF863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289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4ACF0F-C1F1-4A27-AE2C-15DCA21F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861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5.4 GW NEWBUILD DEVELOPMENT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DA11E4-2A04-4FF3-A8C6-38790EA44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0575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Turbine and EPC access supports a runway through 2032. Do not call all 5.4 GW committed or under construction.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2C59DB-E4C9-4F83-84BA-B73537808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7433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09D277-4CE5-412D-8148-23D11769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25.8 GW OPERATING FLEET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0E60A5-AADA-4FDD-8EEA-34C3D7B8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9719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NRG's reported operating-generation fleet after the LS Power acquisition.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A9E2F5-416D-4FE5-BB98-305C4DD79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990A40-1E7F-4931-88D1-11C009FD9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149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~1-2 GW UPGRADE POTENTIAL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91068D0-216E-4F21-80F4-A3B9FE8A0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886325"/>
            <a:ext cx="7334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CT-to-CCGT conversions and traditional uprates are under evaluation—not a committed pipeline.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5BDA737-8704-4892-9648-12DB532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924550"/>
            <a:ext cx="11087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D731F1-869B-4C24-AFCD-4F786F886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76950"/>
            <a:ext cx="10629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SUM THESE FIGURES: THEY REPRESENT DIFFERENT ASSET STATES AND OVERLAP CONCEPTUALLY.</a:t>
            </a:r>
          </a:p>
        </p:txBody>
      </p:sp>
    </p:spTree>
    <p:extLst>
      <p:ext uri="{BB962C8B-B14F-4D97-AF65-F5344CB8AC3E}">
        <p14:creationId xmlns:p14="http://schemas.microsoft.com/office/powerpoint/2010/main" val="42642855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AA0B0E-59C2-46D9-A3F7-F12A81E29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68d762455049bf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060F8C-2940-4770-BB54-3D37F8DB3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A2 · GOVERNANCE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02FACD4-68DC-4EF1-9FCA-95986C82E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210EC3-F27F-4555-A478-23E2A2B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DECISION RIGHTS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5FE768-4C48-4B66-90B8-34DFA5EF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Clear decision rights preserve existing project accountability.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67E82-F478-4A19-AABA-6870A061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859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NRG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82584E-74E8-4A11-9334-BAD4F039F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0574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Owner priorities, portfolio standards, risk tolerances, acceptance criteria and investment decisions.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B5152D-AE6B-4CFF-9823-A36CFFDB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76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F3904B-3A5E-4436-A518-492FA59F2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8670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EPC / EOR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864D90-A700-4C42-A98A-DBA5C4E04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28384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Design authority, calculations, specifications, routing basis and approved technical design.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745614-EB8E-4048-A939-67C7767C5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575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5A83C9-3782-4EA9-9E17-34D1AF6E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480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OEM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3CF575-A7FB-42D9-BD59-7BA97BBC5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36195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Equipment-package interfaces, internal wiring, approved terminations and warranty boundaries.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F89F75-CE4A-4F40-A349-8BF0A2F3E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386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E6BA4CB-84F0-4E0C-9235-103696CE3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2912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ELECTRICAL CONTRACTOR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F8495E-E93E-4A34-8A5B-D1282962D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440055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Installation means and methods, pull planning, workface execution, testing support and field feedback.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F8ABAD-D706-4EE3-9D2D-E4372C449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1967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A707B80-13F4-4DF0-85A7-646CA6AC5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466725" y="5124450"/>
            <a:ext cx="1117282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E1C6B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7A8BEA-C6C7-4EFA-BFA9-19FBBB07E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10175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SOUTHWIRE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DE3C22D-18C8-4935-808D-8D44760E4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0875" y="5181600"/>
            <a:ext cx="804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support, material and capacity visibility, engineered reel strategy, sequenced delivery and selected field support.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25EF3DC-EDC0-4D4A-9FCF-D58A0E5F5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6076950"/>
            <a:ext cx="1108710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90B36D7-111A-4429-8309-B99F2DAB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106299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Southwire connects selected decisions; it does not replace owner, EPC, OEM or contractor accountability.</a:t>
            </a:r>
          </a:p>
        </p:txBody>
      </p:sp>
    </p:spTree>
    <p:extLst>
      <p:ext uri="{BB962C8B-B14F-4D97-AF65-F5344CB8AC3E}">
        <p14:creationId xmlns:p14="http://schemas.microsoft.com/office/powerpoint/2010/main" val="6547487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587CA73-F00F-444D-A144-E7BD3C3F9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278081788d04e04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19E82D-DB7C-4D48-AE18-2ADA099A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A3 · TECHNICAL COVERAGE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B6C31F-181F-4DC6-B47C-5324FFC4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E27FE3-B5F8-4C6E-9A80-44D35E267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PLANT-ZONE COVERAGE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D05A49D-C8FE-4DB7-81A6-02700B1A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925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9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Six system clusters capture plant-wide electrical complexity.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a0958dc14b4dd2"/>
          <a:stretch xmlns:a="http://schemas.openxmlformats.org/drawingml/2006/main"/>
        </p:blipFill>
        <p:spPr>
          <a:xfrm xmlns:a="http://schemas.openxmlformats.org/drawingml/2006/main">
            <a:off x="3429000" y="1763634"/>
            <a:ext cx="5334000" cy="3025932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DB9F71-6E26-43C9-9D00-650A9264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178D32-47AB-4ACD-B19C-93B637E95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1, 16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E48A4-C583-4DF2-8127-1CE7F33F6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GRID + SITE BACKBONE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FC49CC-76D8-4AA8-B69E-C48BDA46D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Switchyard, GSU/grid tie and MV corridors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HV/EHV · MV · protection/control · fiber · grounding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00BBA6-3815-4064-9996-C4A3431D7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D9FE05-C970-4F5B-867D-EB1533D03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2, 3, 10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19AC1E-8938-4E07-80D5-21A07218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+ LOGISTICS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4E5C80-B10A-4D5A-A046-88EEFCB6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BESS, reel staging, prefab/skids and modular power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DC/MV/LV · controls · fiber · engineered sets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9ABC6A-621A-4BD5-95E5-7371BC7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1D3FDD8-E901-490C-B9BE-5C15C6175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4, 5, 9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BFA7D0-0FFC-494E-BDA6-BA1B7AADA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BUILDINGS + DISTRIBUTION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4EEDC0-07DC-4F73-9AB2-7F55D329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Control building, e-house and MCC/VFD/UPS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essential AC/DC · life safety · BAS/data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8B272F-FC68-4F66-ACA2-8AFCA06E8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171450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B4657C-E45D-44CD-BC71-2E625D9D8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73355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6, 7, 8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6D8DDA4-F9FC-4381-8D34-0ADFBFD6D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4787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GENERATION ISLAND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80B89B-7A80-490F-AA9E-C7823FBD6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1457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HRSG, turbine hall and GT inlet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MV/LV/VFD · I&amp;C · F&amp;G/ESD · CEMS · heat trace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44BE2C6-4998-4ADD-B25C-54E9CF5DE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3019425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8DFCEB2-9877-47A3-90FC-88FC20023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038475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11, 12, 13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2B3B4A-B3CD-4A22-975D-95F37B779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352800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HEAT REJECTION + WATER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31A745-E5D4-48FB-9989-9FBA2FC65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619500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ACC, cooling and water/wastewater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Repeated fan/pump power · VFD · controls · wet runs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A8C467-CE20-456D-BB9F-C83FAC09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8934450" y="4324350"/>
            <a:ext cx="8001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E3D8"/>
          </a:solidFill>
          <a:ln xmlns:a="http://schemas.openxmlformats.org/drawingml/2006/main" w="9525">
            <a:solidFill>
              <a:srgbClr val="F2E3D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BB0FB1-1866-4D54-ADE3-77211A8F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343400"/>
            <a:ext cx="8001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0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14, 15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68C929-A254-489D-8D15-705FED3A8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657725"/>
            <a:ext cx="2714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12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OPTIONAL + AUXILIARY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1280B1-D9A6-4726-B19C-3B743B5B8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924425"/>
            <a:ext cx="2714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Carbon capture and gas metering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10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Classified power/control · instrumentation · F&amp;G · fiber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D23566-1B31-4E8D-BE90-45195AD7E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867400"/>
            <a:ext cx="11087100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C0C618-FF74-433A-AA0C-C035DF6A6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57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CABLE CLASSES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76C07A0-EA26-445C-8DDE-B768A0A8C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6029325"/>
            <a:ext cx="8972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HV/EHV  |  MV 5-35 kV  |  LV 600 V  |  VFD  |  essential AC/DC  |  I&amp;C  |  fiber/network  |  life safety  |  grounding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8ABFA80-5786-41C9-B6AA-A14DD56F9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43650"/>
            <a:ext cx="1053465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825" b="0" i="0">
                <a:solidFill>
                  <a:srgbClr val="8B9094"/>
                </a:solidFill>
                <a:latin typeface="Arial"/>
                <a:ea typeface="Arial"/>
                <a:cs typeface="Arial"/>
              </a:rPr>
              <a:t>Boundary: generator-output bus, OEM-internal wiring and contractor means and methods remain excluded.</a:t>
            </a:r>
          </a:p>
        </p:txBody>
      </p:sp>
    </p:spTree>
    <p:extLst>
      <p:ext uri="{BB962C8B-B14F-4D97-AF65-F5344CB8AC3E}">
        <p14:creationId xmlns:p14="http://schemas.microsoft.com/office/powerpoint/2010/main" val="12962554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5F3F95D-40A7-4D4B-B8C0-DDF9B4580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cb628aa9ae49b6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8F7F667-50EC-4256-A668-2143751CC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A4 · SOUTHWIRE SUPPORT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3E066-CBA7-4679-AAA7-4E289B758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77E023-6EFD-4A47-AAB9-B8E37BFB2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DEFINED SUPPORT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8AE18F-B033-4EF0-AE5A-D6D3BD14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09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Southwire can support selected delivery stages without taking design authority.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1179C-ABE1-47D4-B7FD-544D74A9E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7A7A0-0211-432F-ACC1-0F8518E66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ALIGN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754226-ABDE-4F00-9923-90D3EFBB7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Application and BOM review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Alternative-construction evaluation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Multidisciplinary cable support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A2DCF63-312C-4CC7-BB9B-63D6109E8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03122BE-CD6A-4967-93A8-4ACD26E6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BF8C22-A66C-4F37-A929-AEBB0404F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COORDINATE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E1901B-EFF2-4CAE-AD20-741DEE5D4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7675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Project cable management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Inventory and release coordination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Reel, cut and sequence planning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C2CE63-BE4A-4574-8C95-3D78CA43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2276475"/>
            <a:ext cx="0" cy="27527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75B815-323A-48D0-9D69-5DE13BBE0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266950"/>
            <a:ext cx="1000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C9783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E73447-38E3-4D91-9726-7A3D53701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505075"/>
            <a:ext cx="3190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defRPr>
            </a:pPr>
            <a:r>
              <a:rPr sz="1875" b="1" i="0">
                <a:solidFill>
                  <a:srgbClr val="17191C"/>
                </a:solidFill>
                <a:latin typeface="Arial Narrow"/>
                <a:ea typeface="Arial Narrow"/>
                <a:cs typeface="Arial Narrow"/>
              </a:rPr>
              <a:t>PREPARE + SUPPORT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F0646A-15D6-4C8E-80FC-195CF57C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095625"/>
            <a:ext cx="3190875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Striping, marking and labeling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Kitting and bundling</a:t>
            </a:r>
          </a:p>
          <a:p xmlns:a="http://schemas.openxmlformats.org/drawingml/2006/main">
            <a:pPr algn="l">
              <a:lnSpc>
                <a:spcPct val="132000"/>
              </a:lnSpc>
              <a:buNone/>
              <a:defRPr sz="1425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42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Selected field and lifecycle support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7A0DF1-0652-4D0E-A7D0-B6814CEB0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267325"/>
            <a:ext cx="1108710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2FED87-80D9-492D-8890-C4C4B029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486400"/>
            <a:ext cx="3476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defRPr>
            </a:pPr>
            <a:r>
              <a:rPr sz="1200" b="1" i="0">
                <a:solidFill>
                  <a:srgbClr val="E3A06D"/>
                </a:solidFill>
                <a:latin typeface="Arial Narrow"/>
                <a:ea typeface="Arial Narrow"/>
                <a:cs typeface="Arial Narrow"/>
              </a:rPr>
              <a:t>PROCUREMENT + SUSTAINABILITY SUPPORT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18E855-2D76-4DB7-BA16-032BCEF33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410200"/>
            <a:ext cx="69532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1275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Product-level EPDs and responsible-production evidence can support procurement where applicable to the selected product and manufacturing site.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6C44DB-D3AF-4B5B-B0F9-844CDAD4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391275"/>
            <a:ext cx="11087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Capability does not equal outcome. Availability, geography, contractual scope and technical fit must be confirmed for each project.</a:t>
            </a:r>
          </a:p>
        </p:txBody>
      </p:sp>
    </p:spTree>
    <p:extLst>
      <p:ext uri="{BB962C8B-B14F-4D97-AF65-F5344CB8AC3E}">
        <p14:creationId xmlns:p14="http://schemas.microsoft.com/office/powerpoint/2010/main" val="17327068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4483857-60DF-4507-8767-FC639CA5A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21920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a988a906914445"/>
          <a:stretch xmlns:a="http://schemas.openxmlformats.org/drawingml/2006/main"/>
        </p:blipFill>
        <p:spPr>
          <a:xfrm xmlns:a="http://schemas.openxmlformats.org/drawingml/2006/main">
            <a:off x="719138" y="200025"/>
            <a:ext cx="2066925" cy="5905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272564-1AF7-4860-B92F-49359E790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385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A5 · PROOF BOUNDARIES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99490-A61B-4C74-A660-331836971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23850"/>
            <a:ext cx="323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defRPr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D42113-28C4-497B-9E59-8CA98337B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876300"/>
            <a:ext cx="1104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METHODOLOGY BEFORE CLAIMS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207AB5-3F5E-4B0F-9380-118ED653C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81100"/>
            <a:ext cx="11049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033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2850" b="1" i="0">
                <a:solidFill>
                  <a:srgbClr val="17191C"/>
                </a:solidFill>
                <a:latin typeface="Arial"/>
                <a:ea typeface="Arial"/>
                <a:cs typeface="Arial"/>
              </a:defRPr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adjacent benchmark is useful only when its boundaries are visible.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C4BA17-C236-48F3-803B-78602306F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2133600"/>
            <a:ext cx="5219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6BA09D-E61E-4484-A86D-A8DCD473C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90775"/>
            <a:ext cx="4762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OBSERVED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944639-A036-48F7-BD23-F4E15A230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E8308D0-C641-4390-BDD1-3665400A5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57500"/>
            <a:ext cx="44481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Define the site-built scope and the unit called one spine.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1BB04D-C5B1-4EA3-8576-D7CBCCB1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09CD0E-2AF2-45A3-8BFC-3038D69EA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194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Confirm time records, sample size, project conditions and exclusions.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604F13-10EE-40AC-9D08-2665AC60B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831D8F-ADA7-4B09-85D4-780EB9A4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44481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Document what remained in field labor, supervision and commissioning.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CA2CD3-742F-4FC5-8514-C0ADD427B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038850" y="2133600"/>
            <a:ext cx="5600700" cy="3105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D1C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D5B53-92C0-4D01-92CA-C14E2504A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390775"/>
            <a:ext cx="5143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defRPr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MODELED BASIS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1F776E-E05D-4EB2-80E2-AB1FD9EB2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2919413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6049654-7D2B-4312-BBC3-ED9E23262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857500"/>
            <a:ext cx="47815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20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Reconcile scope equivalence between observed and modeled work.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11E5B9-9C2C-46CF-9BBB-8C9EDE8A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34813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5D1390-A0AB-4CE6-A5DF-67F290A0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4194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Include engineering, factory work, freight, FAT and field installation.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DBE3D-B8D5-46E4-B3E9-6FB110B75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1738" y="4090988"/>
            <a:ext cx="66675" cy="66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783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DC26375-FC07-448B-8157-ECED0F16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4029075"/>
            <a:ext cx="47815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350" b="0" i="0">
                <a:solidFill>
                  <a:srgbClr val="6A6F73"/>
                </a:solidFill>
                <a:latin typeface="Arial"/>
                <a:ea typeface="Arial"/>
                <a:cs typeface="Arial"/>
              </a:defRPr>
            </a:pPr>
            <a:r>
              <a:rPr sz="13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Test whether any activity actually leaves the critical path.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8188F30-07C8-40F2-87AA-93810A17A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552450" y="5600700"/>
            <a:ext cx="11087100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191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FE29EC6-E050-44FC-B70D-72148289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810250"/>
            <a:ext cx="106299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15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DO NOT CLAIM SAVINGS UNTIL THE GROSS-TO-NET CASE IS REBUILT WITH NRG INPUTS.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DA8D71-4AB1-4324-9908-EA1087FCA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77000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0" i="1">
                <a:solidFill>
                  <a:srgbClr val="8B9094"/>
                </a:solidFill>
                <a:latin typeface="Arial"/>
                <a:ea typeface="Arial"/>
                <a:cs typeface="Arial"/>
              </a:defRPr>
            </a:pPr>
            <a:r>
              <a:rPr sz="975" b="0" i="1">
                <a:solidFill>
                  <a:srgbClr val="8B9094"/>
                </a:solidFill>
                <a:latin typeface="Arial"/>
                <a:ea typeface="Arial"/>
                <a:cs typeface="Arial"/>
              </a:rPr>
              <a:t>Release gate: methodology, scope equivalence and external-use permission approved.</a:t>
            </a:r>
          </a:p>
        </p:txBody>
      </p:sp>
    </p:spTree>
    <p:extLst>
      <p:ext uri="{BB962C8B-B14F-4D97-AF65-F5344CB8AC3E}">
        <p14:creationId xmlns:p14="http://schemas.microsoft.com/office/powerpoint/2010/main" val="1131456466"/>
      </p:ext>
    </p:extLst>
  </p:cSld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03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A6 · OWNER'S MATH</a:t>
            </a:r>
          </a:p>
        </p:txBody>
      </p:sp>
      <p:sp>
        <p:nvSpPr>
          <p:cNvPr id="1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15</a:t>
            </a:r>
          </a:p>
        </p:txBody>
      </p:sp>
      <p:sp>
        <p:nvSpPr>
          <p:cNvPr id="105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THE OWNER'S EQUATION</a:t>
            </a:r>
          </a:p>
        </p:txBody>
      </p:sp>
      <p:sp>
        <p:nvSpPr>
          <p:cNvPr id="106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Cable is a small line item with large coefficients.</a:t>
            </a:r>
          </a:p>
        </p:txBody>
      </p:sp>
      <p:sp>
        <p:nvSpPr>
          <p:cNvPr id="107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LCOE and IRR decide every project. Five variables actually move — none of them is the purchase price.</a:t>
            </a:r>
          </a:p>
        </p:txBody>
      </p:sp>
      <p:sp>
        <p:nvSpPr>
          <p:cNvPr id="108" name=""/>
          <p:cNvSpPr>
            <a:spLocks noGrp="1"/>
          </p:cNvSpPr>
          <p:nvPr/>
        </p:nvSpPr>
        <p:spPr>
          <a:xfrm>
            <a:off x="719138" y="2529840"/>
            <a:ext cx="3200400" cy="17373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09" name=""/>
          <p:cNvSpPr>
            <a:spLocks noGrp="1"/>
          </p:cNvSpPr>
          <p:nvPr/>
        </p:nvSpPr>
        <p:spPr>
          <a:xfrm>
            <a:off x="947738" y="271272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LCOE  —  COST PER MWh</a:t>
            </a:r>
          </a:p>
        </p:txBody>
      </p:sp>
      <p:sp>
        <p:nvSpPr>
          <p:cNvPr id="110" name=""/>
          <p:cNvSpPr>
            <a:spLocks noGrp="1"/>
          </p:cNvSpPr>
          <p:nvPr/>
        </p:nvSpPr>
        <p:spPr>
          <a:xfrm>
            <a:off x="947738" y="3009900"/>
            <a:ext cx="2743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6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CAPEX + O&amp;M + Fuel (lifetime, discounted)</a:t>
            </a:r>
          </a:p>
        </p:txBody>
      </p:sp>
      <p:sp>
        <p:nvSpPr>
          <p:cNvPr id="111" name=""/>
          <p:cNvSpPr>
            <a:spLocks noGrp="1"/>
          </p:cNvSpPr>
          <p:nvPr/>
        </p:nvSpPr>
        <p:spPr>
          <a:xfrm>
            <a:off x="1313498" y="3550920"/>
            <a:ext cx="2011680" cy="127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12" name=""/>
          <p:cNvSpPr>
            <a:spLocks noGrp="1"/>
          </p:cNvSpPr>
          <p:nvPr/>
        </p:nvSpPr>
        <p:spPr>
          <a:xfrm>
            <a:off x="947738" y="3623310"/>
            <a:ext cx="2743200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Lifetime MWh delivered (discounted)</a:t>
            </a:r>
          </a:p>
        </p:txBody>
      </p:sp>
      <p:sp>
        <p:nvSpPr>
          <p:cNvPr id="113" name=""/>
          <p:cNvSpPr>
            <a:spLocks noGrp="1"/>
          </p:cNvSpPr>
          <p:nvPr/>
        </p:nvSpPr>
        <p:spPr>
          <a:xfrm>
            <a:off x="947738" y="3925570"/>
            <a:ext cx="2743200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Lower the top. Grow the bottom. De-risk the rate that discounts both.</a:t>
            </a:r>
          </a:p>
        </p:txBody>
      </p:sp>
      <p:sp>
        <p:nvSpPr>
          <p:cNvPr id="114" name=""/>
          <p:cNvSpPr>
            <a:spLocks noGrp="1"/>
          </p:cNvSpPr>
          <p:nvPr/>
        </p:nvSpPr>
        <p:spPr>
          <a:xfrm>
            <a:off x="719138" y="4450080"/>
            <a:ext cx="3200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115" name=""/>
          <p:cNvSpPr>
            <a:spLocks noGrp="1"/>
          </p:cNvSpPr>
          <p:nvPr/>
        </p:nvSpPr>
        <p:spPr>
          <a:xfrm>
            <a:off x="947738" y="4632960"/>
            <a:ext cx="27432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IRR  —  RETURN ON THE PROJECT</a:t>
            </a:r>
          </a:p>
        </p:txBody>
      </p:sp>
      <p:sp>
        <p:nvSpPr>
          <p:cNvPr id="116" name=""/>
          <p:cNvSpPr>
            <a:spLocks noGrp="1"/>
          </p:cNvSpPr>
          <p:nvPr/>
        </p:nvSpPr>
        <p:spPr>
          <a:xfrm>
            <a:off x="947738" y="4930140"/>
            <a:ext cx="2743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12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NPV = Σ CFₜ ÷ (1 + IRR)ᵗ = 0</a:t>
            </a:r>
          </a:p>
        </p:txBody>
      </p:sp>
      <p:sp>
        <p:nvSpPr>
          <p:cNvPr id="117" name=""/>
          <p:cNvSpPr>
            <a:spLocks noGrp="1"/>
          </p:cNvSpPr>
          <p:nvPr/>
        </p:nvSpPr>
        <p:spPr>
          <a:xfrm>
            <a:off x="947738" y="5278120"/>
            <a:ext cx="27432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Most sensitive to COD date, capex certainty and availability — revenue that starts late is IRR you never get back.</a:t>
            </a:r>
          </a:p>
        </p:txBody>
      </p:sp>
      <p:sp>
        <p:nvSpPr>
          <p:cNvPr id="118" name=""/>
          <p:cNvSpPr>
            <a:spLocks noGrp="1"/>
          </p:cNvSpPr>
          <p:nvPr/>
        </p:nvSpPr>
        <p:spPr>
          <a:xfrm>
            <a:off x="4394200" y="25298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01</a:t>
            </a:r>
          </a:p>
        </p:txBody>
      </p:sp>
      <p:sp>
        <p:nvSpPr>
          <p:cNvPr id="119" name=""/>
          <p:cNvSpPr>
            <a:spLocks noGrp="1"/>
          </p:cNvSpPr>
          <p:nvPr/>
        </p:nvSpPr>
        <p:spPr>
          <a:xfrm>
            <a:off x="4988560" y="25298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SCHEDULE → COD</a:t>
            </a:r>
          </a:p>
        </p:txBody>
      </p:sp>
      <p:sp>
        <p:nvSpPr>
          <p:cNvPr id="120" name=""/>
          <p:cNvSpPr>
            <a:spLocks noGrp="1"/>
          </p:cNvSpPr>
          <p:nvPr/>
        </p:nvSpPr>
        <p:spPr>
          <a:xfrm>
            <a:off x="4988560" y="27767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sits on the energization critical path. Supply certainty and sequencing protect the revenue start date — the largest single IRR lever.</a:t>
            </a:r>
          </a:p>
        </p:txBody>
      </p:sp>
      <p:sp>
        <p:nvSpPr>
          <p:cNvPr id="121" name=""/>
          <p:cNvSpPr>
            <a:spLocks noGrp="1"/>
          </p:cNvSpPr>
          <p:nvPr/>
        </p:nvSpPr>
        <p:spPr>
          <a:xfrm>
            <a:off x="4394200" y="32156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02</a:t>
            </a:r>
          </a:p>
        </p:txBody>
      </p:sp>
      <p:sp>
        <p:nvSpPr>
          <p:cNvPr id="122" name=""/>
          <p:cNvSpPr>
            <a:spLocks noGrp="1"/>
          </p:cNvSpPr>
          <p:nvPr/>
        </p:nvSpPr>
        <p:spPr>
          <a:xfrm>
            <a:off x="4988560" y="32156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RISK → DISCOUNT RATE</a:t>
            </a:r>
          </a:p>
        </p:txBody>
      </p:sp>
      <p:sp>
        <p:nvSpPr>
          <p:cNvPr id="123" name=""/>
          <p:cNvSpPr>
            <a:spLocks noGrp="1"/>
          </p:cNvSpPr>
          <p:nvPr/>
        </p:nvSpPr>
        <p:spPr>
          <a:xfrm>
            <a:off x="4988560" y="34625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Evidence-based scope lowers contingency and financing risk: an estimate within 4% on footage was 26% off on copper — right in total, wrong where the money is.</a:t>
            </a:r>
          </a:p>
        </p:txBody>
      </p:sp>
      <p:sp>
        <p:nvSpPr>
          <p:cNvPr id="124" name=""/>
          <p:cNvSpPr>
            <a:spLocks noGrp="1"/>
          </p:cNvSpPr>
          <p:nvPr/>
        </p:nvSpPr>
        <p:spPr>
          <a:xfrm>
            <a:off x="4394200" y="39014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03</a:t>
            </a:r>
          </a:p>
        </p:txBody>
      </p:sp>
      <p:sp>
        <p:nvSpPr>
          <p:cNvPr id="125" name=""/>
          <p:cNvSpPr>
            <a:spLocks noGrp="1"/>
          </p:cNvSpPr>
          <p:nvPr/>
        </p:nvSpPr>
        <p:spPr>
          <a:xfrm>
            <a:off x="4988560" y="39014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CAPEX — THE NUMERATOR</a:t>
            </a:r>
          </a:p>
        </p:txBody>
      </p:sp>
      <p:sp>
        <p:nvSpPr>
          <p:cNvPr id="126" name=""/>
          <p:cNvSpPr>
            <a:spLocks noGrp="1"/>
          </p:cNvSpPr>
          <p:nvPr/>
        </p:nvSpPr>
        <p:spPr>
          <a:xfrm>
            <a:off x="4988560" y="41483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Cable is under 2% of plant capex — purchase price barely moves the top line. Installed cost does: routing, reels, pulls, rework.</a:t>
            </a:r>
          </a:p>
        </p:txBody>
      </p:sp>
      <p:sp>
        <p:nvSpPr>
          <p:cNvPr id="127" name=""/>
          <p:cNvSpPr>
            <a:spLocks noGrp="1"/>
          </p:cNvSpPr>
          <p:nvPr/>
        </p:nvSpPr>
        <p:spPr>
          <a:xfrm>
            <a:off x="4394200" y="45872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04</a:t>
            </a:r>
          </a:p>
        </p:txBody>
      </p:sp>
      <p:sp>
        <p:nvSpPr>
          <p:cNvPr id="128" name=""/>
          <p:cNvSpPr>
            <a:spLocks noGrp="1"/>
          </p:cNvSpPr>
          <p:nvPr/>
        </p:nvSpPr>
        <p:spPr>
          <a:xfrm>
            <a:off x="4988560" y="45872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MWh — THE DENOMINATOR</a:t>
            </a:r>
          </a:p>
        </p:txBody>
      </p:sp>
      <p:sp>
        <p:nvSpPr>
          <p:cNvPr id="129" name=""/>
          <p:cNvSpPr>
            <a:spLocks noGrp="1"/>
          </p:cNvSpPr>
          <p:nvPr/>
        </p:nvSpPr>
        <p:spPr>
          <a:xfrm>
            <a:off x="4988560" y="48341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Availability and asset life grow the bottom of the equation: cable health, rejuvenation and life extension keep MWh flowing.</a:t>
            </a:r>
          </a:p>
        </p:txBody>
      </p:sp>
      <p:sp>
        <p:nvSpPr>
          <p:cNvPr id="130" name=""/>
          <p:cNvSpPr>
            <a:spLocks noGrp="1"/>
          </p:cNvSpPr>
          <p:nvPr/>
        </p:nvSpPr>
        <p:spPr>
          <a:xfrm>
            <a:off x="4394200" y="5273040"/>
            <a:ext cx="5029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05</a:t>
            </a:r>
          </a:p>
        </p:txBody>
      </p:sp>
      <p:sp>
        <p:nvSpPr>
          <p:cNvPr id="131" name=""/>
          <p:cNvSpPr>
            <a:spLocks noGrp="1"/>
          </p:cNvSpPr>
          <p:nvPr/>
        </p:nvSpPr>
        <p:spPr>
          <a:xfrm>
            <a:off x="4988560" y="5273040"/>
            <a:ext cx="6473164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COMMODITY VOLATILITY</a:t>
            </a:r>
          </a:p>
        </p:txBody>
      </p:sp>
      <p:sp>
        <p:nvSpPr>
          <p:cNvPr id="132" name=""/>
          <p:cNvSpPr>
            <a:spLocks noGrp="1"/>
          </p:cNvSpPr>
          <p:nvPr/>
        </p:nvSpPr>
        <p:spPr>
          <a:xfrm>
            <a:off x="4988560" y="5519928"/>
            <a:ext cx="6473164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Copper and aluminum exposure managed through supply strategy and hedging — capex certainty that lenders can underwrite.</a:t>
            </a:r>
          </a:p>
        </p:txBody>
      </p:sp>
      <p:sp>
        <p:nvSpPr>
          <p:cNvPr id="133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3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CABLE BARELY MOVES THE NUMERATOR — IT MOVES COD, RISK AND AVAILABILITY, WHERE LCOE AND IRR ARE DECIDED.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35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36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37" name=""/>
          <p:cNvSpPr>
            <a:spLocks noGrp="1"/>
          </p:cNvSpPr>
          <p:nvPr/>
        </p:nvSpPr>
        <p:spPr>
          <a:xfrm>
            <a:off x="8096250" y="323850"/>
            <a:ext cx="30861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A7 · SITE-MODEL BASIS</a:t>
            </a:r>
          </a:p>
        </p:txBody>
      </p:sp>
      <p:sp>
        <p:nvSpPr>
          <p:cNvPr id="138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16</a:t>
            </a:r>
          </a:p>
        </p:txBody>
      </p:sp>
      <p:sp>
        <p:nvSpPr>
          <p:cNvPr id="139" name=""/>
          <p:cNvSpPr>
            <a:spLocks noGrp="1"/>
          </p:cNvSpPr>
          <p:nvPr/>
        </p:nvSpPr>
        <p:spPr>
          <a:xfrm>
            <a:off x="719138" y="1005840"/>
            <a:ext cx="8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ROUTED 3×1 NGCC MODEL</a:t>
            </a:r>
          </a:p>
        </p:txBody>
      </p:sp>
      <p:sp>
        <p:nvSpPr>
          <p:cNvPr id="140" name=""/>
          <p:cNvSpPr>
            <a:spLocks noGrp="1"/>
          </p:cNvSpPr>
          <p:nvPr/>
        </p:nvSpPr>
        <p:spPr>
          <a:xfrm>
            <a:off x="719138" y="1280160"/>
            <a:ext cx="10753724" cy="8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The site model behind A3 is quantified, not conceptual.</a:t>
            </a:r>
          </a:p>
        </p:txBody>
      </p:sp>
      <p:sp>
        <p:nvSpPr>
          <p:cNvPr id="141" name=""/>
          <p:cNvSpPr>
            <a:spLocks noGrp="1"/>
          </p:cNvSpPr>
          <p:nvPr/>
        </p:nvSpPr>
        <p:spPr>
          <a:xfrm>
            <a:off x="719138" y="210312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figure below comes from the routed Rev 89 geometry — built before any RFQ existed.</a:t>
            </a:r>
          </a:p>
        </p:txBody>
      </p:sp>
      <p:sp>
        <p:nvSpPr>
          <p:cNvPr id="142" name=""/>
          <p:cNvSpPr>
            <a:spLocks noGrp="1"/>
          </p:cNvSpPr>
          <p:nvPr/>
        </p:nvSpPr>
        <p:spPr>
          <a:xfrm>
            <a:off x="719138" y="260604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96 SCHEDULE RECORDS</a:t>
            </a:r>
          </a:p>
        </p:txBody>
      </p:sp>
      <p:sp>
        <p:nvSpPr>
          <p:cNvPr id="143" name=""/>
          <p:cNvSpPr>
            <a:spLocks noGrp="1"/>
          </p:cNvSpPr>
          <p:nvPr/>
        </p:nvSpPr>
        <p:spPr>
          <a:xfrm>
            <a:off x="4645660" y="262890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NGCC master cable schedule Rev M21 — geometry-governed quantities, not factored estimates.</a:t>
            </a:r>
          </a:p>
        </p:txBody>
      </p:sp>
      <p:sp>
        <p:nvSpPr>
          <p:cNvPr id="144" name=""/>
          <p:cNvSpPr>
            <a:spLocks noGrp="1"/>
          </p:cNvSpPr>
          <p:nvPr/>
        </p:nvSpPr>
        <p:spPr>
          <a:xfrm>
            <a:off x="719138" y="320040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5" name=""/>
          <p:cNvSpPr>
            <a:spLocks noGrp="1"/>
          </p:cNvSpPr>
          <p:nvPr/>
        </p:nvSpPr>
        <p:spPr>
          <a:xfrm>
            <a:off x="719138" y="333756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1,784 CIRCUITS ROUTED</a:t>
            </a:r>
          </a:p>
        </p:txBody>
      </p:sp>
      <p:sp>
        <p:nvSpPr>
          <p:cNvPr id="146" name=""/>
          <p:cNvSpPr>
            <a:spLocks noGrp="1"/>
          </p:cNvSpPr>
          <p:nvPr/>
        </p:nvSpPr>
        <p:spPr>
          <a:xfrm>
            <a:off x="4645660" y="336042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2,478 physical runs routed through the Rev 89 site geometry, across every plant zone in A3.</a:t>
            </a:r>
          </a:p>
        </p:txBody>
      </p:sp>
      <p:sp>
        <p:nvSpPr>
          <p:cNvPr id="147" name=""/>
          <p:cNvSpPr>
            <a:spLocks noGrp="1"/>
          </p:cNvSpPr>
          <p:nvPr/>
        </p:nvSpPr>
        <p:spPr>
          <a:xfrm>
            <a:off x="719138" y="393192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48" name=""/>
          <p:cNvSpPr>
            <a:spLocks noGrp="1"/>
          </p:cNvSpPr>
          <p:nvPr/>
        </p:nvSpPr>
        <p:spPr>
          <a:xfrm>
            <a:off x="719138" y="406908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1,136,255 PROCUREMENT FT</a:t>
            </a:r>
          </a:p>
        </p:txBody>
      </p:sp>
      <p:sp>
        <p:nvSpPr>
          <p:cNvPr id="149" name=""/>
          <p:cNvSpPr>
            <a:spLocks noGrp="1"/>
          </p:cNvSpPr>
          <p:nvPr/>
        </p:nvSpPr>
        <p:spPr>
          <a:xfrm>
            <a:off x="4645660" y="409194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Approximately 1.14M ft of cable derived from routed lengths plus engineering allowances.</a:t>
            </a:r>
          </a:p>
        </p:txBody>
      </p:sp>
      <p:sp>
        <p:nvSpPr>
          <p:cNvPr id="150" name=""/>
          <p:cNvSpPr>
            <a:spLocks noGrp="1"/>
          </p:cNvSpPr>
          <p:nvPr/>
        </p:nvSpPr>
        <p:spPr>
          <a:xfrm>
            <a:off x="719138" y="4663440"/>
            <a:ext cx="10753724" cy="9525"/>
          </a:xfrm>
          <a:prstGeom prst="rect">
            <a:avLst/>
          </a:prstGeom>
          <a:solidFill>
            <a:srgbClr val="D8D1C8"/>
          </a:solidFill>
          <a:ln w="0">
            <a:noFill/>
            <a:prstDash val="solid"/>
          </a:ln>
        </p:spPr>
      </p:sp>
      <p:sp>
        <p:nvSpPr>
          <p:cNvPr id="151" name=""/>
          <p:cNvSpPr>
            <a:spLocks noGrp="1"/>
          </p:cNvSpPr>
          <p:nvPr/>
        </p:nvSpPr>
        <p:spPr>
          <a:xfrm>
            <a:off x="719138" y="4800600"/>
            <a:ext cx="37033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3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563,091 LB COPPER</a:t>
            </a:r>
          </a:p>
        </p:txBody>
      </p:sp>
      <p:sp>
        <p:nvSpPr>
          <p:cNvPr id="152" name=""/>
          <p:cNvSpPr>
            <a:spLocks noGrp="1"/>
          </p:cNvSpPr>
          <p:nvPr/>
        </p:nvSpPr>
        <p:spPr>
          <a:xfrm>
            <a:off x="4645660" y="4823460"/>
            <a:ext cx="6827202" cy="48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About 0.50 lb of copper per foot on average — commodity exposure quantified before procurement.</a:t>
            </a:r>
          </a:p>
        </p:txBody>
      </p:sp>
      <p:sp>
        <p:nvSpPr>
          <p:cNvPr id="153" name=""/>
          <p:cNvSpPr>
            <a:spLocks noGrp="1"/>
          </p:cNvSpPr>
          <p:nvPr/>
        </p:nvSpPr>
        <p:spPr>
          <a:xfrm>
            <a:off x="719138" y="5623560"/>
            <a:ext cx="10753724" cy="25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Published Southwire record: 15M+ ft of HV underground cable with zero in-service failures.</a:t>
            </a:r>
          </a:p>
        </p:txBody>
      </p:sp>
      <p:sp>
        <p:nvSpPr>
          <p:cNvPr id="154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155" name=""/>
          <p:cNvSpPr>
            <a:spLocks noGrp="1"/>
          </p:cNvSpPr>
          <p:nvPr/>
        </p:nvSpPr>
        <p:spPr>
          <a:xfrm>
            <a:off x="719138" y="62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THE MODEL BEHIND APPENDIX A3 — CONCEPT, NOT FOR CONSTRUCTION; STOCK NUMBERS REQUIRE CONDUCTOR SIZING.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163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164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165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A8 · SK-120 REFERENCE</a:t>
            </a:r>
          </a:p>
        </p:txBody>
      </p:sp>
      <p:sp>
        <p:nvSpPr>
          <p:cNvPr id="166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17</a:t>
            </a:r>
          </a:p>
        </p:txBody>
      </p:sp>
      <p:pic>
        <p:nvPicPr>
          <p:cNvPr id="167" name=""/>
          <p:cNvPicPr>
            <a:picLocks noChangeAspect="1"/>
          </p:cNvPicPr>
          <p:nvPr/>
        </p:nvPicPr>
        <p:blipFill>
          <a:blip r:embed="Rsk120a8"/>
          <a:stretch/>
        </p:blipFill>
        <p:spPr>
          <a:xfrm>
            <a:off x="892680" y="880000"/>
            <a:ext cx="10406639" cy="5700000"/>
          </a:xfrm>
          <a:prstGeom prst="rect">
            <a:avLst/>
          </a:prstGeom>
        </p:spPr>
      </p:pic>
      <p:sp>
        <p:nvSpPr>
          <p:cNvPr id="168" name=""/>
          <p:cNvSpPr>
            <a:spLocks noGrp="1"/>
          </p:cNvSpPr>
          <p:nvPr/>
        </p:nvSpPr>
        <p:spPr>
          <a:xfrm>
            <a:off x="719138" y="66750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SK-120 · 3×1 NGCC · Rev 89 site model · 16 zones with per-zone cable applications · concept, not for construction · print at 34″ for site-walk use.</a:t>
            </a:r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2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2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2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A9 · PROJECT OF INTEREST</a:t>
            </a:r>
          </a:p>
        </p:txBody>
      </p:sp>
      <p:sp>
        <p:nvSpPr>
          <p:cNvPr id="2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18</a:t>
            </a:r>
          </a:p>
        </p:txBody>
      </p:sp>
      <p:sp>
        <p:nvSpPr>
          <p:cNvPr id="2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CEDAR BAYOU UNIT 5 · BAYTOWN, TEXAS (CHAMBERS COUNTY)</a:t>
            </a:r>
          </a:p>
        </p:txBody>
      </p:sp>
      <p:sp>
        <p:nvSpPr>
          <p:cNvPr id="2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Cedar Bayou 5 is the natural first live scope.</a:t>
            </a:r>
          </a:p>
        </p:txBody>
      </p:sp>
      <p:sp>
        <p:nvSpPr>
          <p:cNvPr id="207" name=""/>
          <p:cNvSpPr>
            <a:spLocks noGrp="1"/>
          </p:cNvSpPr>
          <p:nvPr/>
        </p:nvSpPr>
        <p:spPr>
          <a:xfrm>
            <a:off x="719138" y="195072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 721 MW combined-cycle brownfield expansion at NRG's existing Cedar Bayou station — the anchor TEF unit in the NRG / GE Vernova / Kiewit framework, in active construction toward a mid-2028 COD.</a:t>
            </a:r>
          </a:p>
        </p:txBody>
      </p:sp>
      <p:sp>
        <p:nvSpPr>
          <p:cNvPr id="208" name=""/>
          <p:cNvSpPr>
            <a:spLocks noGrp="1"/>
          </p:cNvSpPr>
          <p:nvPr/>
        </p:nvSpPr>
        <p:spPr>
          <a:xfrm>
            <a:off x="719138" y="260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PROJECT FACTS — VALIDATED AUG 2026</a:t>
            </a:r>
          </a:p>
        </p:txBody>
      </p:sp>
      <p:sp>
        <p:nvSpPr>
          <p:cNvPr id="209" name=""/>
          <p:cNvSpPr>
            <a:spLocks noGrp="1"/>
          </p:cNvSpPr>
          <p:nvPr/>
        </p:nvSpPr>
        <p:spPr>
          <a:xfrm>
            <a:off x="719138" y="29258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721 MW CCGT · BROWNFIELD</a:t>
            </a:r>
          </a:p>
        </p:txBody>
      </p:sp>
      <p:sp>
        <p:nvSpPr>
          <p:cNvPr id="210" name=""/>
          <p:cNvSpPr>
            <a:spLocks noGrp="1"/>
          </p:cNvSpPr>
          <p:nvPr/>
        </p:nvSpPr>
        <p:spPr>
          <a:xfrm>
            <a:off x="719138" y="31544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GE Vernova H-class train at the existing station; ERCOT Houston Load Zone; existing 345 kV switchyard, cooling water and site infrastructure.</a:t>
            </a:r>
          </a:p>
        </p:txBody>
      </p:sp>
      <p:sp>
        <p:nvSpPr>
          <p:cNvPr id="211" name=""/>
          <p:cNvSpPr>
            <a:spLocks noGrp="1"/>
          </p:cNvSpPr>
          <p:nvPr/>
        </p:nvSpPr>
        <p:spPr>
          <a:xfrm>
            <a:off x="719138" y="37259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$562M TEF LOAN · 3% · 20-YEAR</a:t>
            </a:r>
          </a:p>
        </p:txBody>
      </p:sp>
      <p:sp>
        <p:nvSpPr>
          <p:cNvPr id="212" name=""/>
          <p:cNvSpPr>
            <a:spLocks noGrp="1"/>
          </p:cNvSpPr>
          <p:nvPr/>
        </p:nvSpPr>
        <p:spPr>
          <a:xfrm>
            <a:off x="719138" y="39545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Signed September 2025 — 60% of the $936M project cost; part of $1.15B TEF financing plus $66M tax abatements across the three-unit program.</a:t>
            </a:r>
          </a:p>
        </p:txBody>
      </p:sp>
      <p:sp>
        <p:nvSpPr>
          <p:cNvPr id="213" name=""/>
          <p:cNvSpPr>
            <a:spLocks noGrp="1"/>
          </p:cNvSpPr>
          <p:nvPr/>
        </p:nvSpPr>
        <p:spPr>
          <a:xfrm>
            <a:off x="719138" y="45260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COD TARGET MID-2028</a:t>
            </a:r>
          </a:p>
        </p:txBody>
      </p:sp>
      <p:sp>
        <p:nvSpPr>
          <p:cNvPr id="214" name=""/>
          <p:cNvSpPr>
            <a:spLocks noGrp="1"/>
          </p:cNvSpPr>
          <p:nvPr/>
        </p:nvSpPr>
        <p:spPr>
          <a:xfrm>
            <a:off x="719138" y="47546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First TEF unit to advance construction; T.H. Wharton (415 MW) completes mid-2026, Greens Bayou 6 follows in 2028.</a:t>
            </a:r>
          </a:p>
        </p:txBody>
      </p:sp>
      <p:sp>
        <p:nvSpPr>
          <p:cNvPr id="215" name=""/>
          <p:cNvSpPr>
            <a:spLocks noGrp="1"/>
          </p:cNvSpPr>
          <p:nvPr/>
        </p:nvSpPr>
        <p:spPr>
          <a:xfrm>
            <a:off x="719138" y="5326140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EPC: TIC / KIEWIT · OEM: GE VERNOVA</a:t>
            </a:r>
          </a:p>
        </p:txBody>
      </p:sp>
      <p:sp>
        <p:nvSpPr>
          <p:cNvPr id="216" name=""/>
          <p:cNvSpPr>
            <a:spLocks noGrp="1"/>
          </p:cNvSpPr>
          <p:nvPr/>
        </p:nvSpPr>
        <p:spPr>
          <a:xfrm>
            <a:off x="719138" y="5554740"/>
            <a:ext cx="4900000" cy="56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Delivered under the 5.4 GW development framework — 1.2 GW in service by 2029, 1.2 GW by 2030, 3 GW more through 2032.</a:t>
            </a:r>
          </a:p>
        </p:txBody>
      </p:sp>
      <p:sp>
        <p:nvSpPr>
          <p:cNvPr id="217" name=""/>
          <p:cNvSpPr>
            <a:spLocks noGrp="1"/>
          </p:cNvSpPr>
          <p:nvPr/>
        </p:nvSpPr>
        <p:spPr>
          <a:xfrm>
            <a:off x="6120130" y="2606040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POTENTIAL SCOPE SELECTIONS</a:t>
            </a:r>
          </a:p>
        </p:txBody>
      </p:sp>
      <p:sp>
        <p:nvSpPr>
          <p:cNvPr id="218" name=""/>
          <p:cNvSpPr>
            <a:spLocks noGrp="1"/>
          </p:cNvSpPr>
          <p:nvPr/>
        </p:nvSpPr>
        <p:spPr>
          <a:xfrm>
            <a:off x="6120130" y="2984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19" name=""/>
          <p:cNvSpPr>
            <a:spLocks noGrp="1"/>
          </p:cNvSpPr>
          <p:nvPr/>
        </p:nvSpPr>
        <p:spPr>
          <a:xfrm>
            <a:off x="6348730" y="2925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HV generator leads and brownfield 345 kV switchyard tie-in for the H-class train</a:t>
            </a:r>
          </a:p>
        </p:txBody>
      </p:sp>
      <p:sp>
        <p:nvSpPr>
          <p:cNvPr id="220" name=""/>
          <p:cNvSpPr>
            <a:spLocks noGrp="1"/>
          </p:cNvSpPr>
          <p:nvPr/>
        </p:nvSpPr>
        <p:spPr>
          <a:xfrm>
            <a:off x="6120130" y="3442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1" name=""/>
          <p:cNvSpPr>
            <a:spLocks noGrp="1"/>
          </p:cNvSpPr>
          <p:nvPr/>
        </p:nvSpPr>
        <p:spPr>
          <a:xfrm>
            <a:off x="6348730" y="3383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 plant auxiliary distribution, 5–35 kV, across the new unit and interfaces</a:t>
            </a:r>
          </a:p>
        </p:txBody>
      </p:sp>
      <p:sp>
        <p:nvSpPr>
          <p:cNvPr id="222" name=""/>
          <p:cNvSpPr>
            <a:spLocks noGrp="1"/>
          </p:cNvSpPr>
          <p:nvPr/>
        </p:nvSpPr>
        <p:spPr>
          <a:xfrm>
            <a:off x="6120130" y="38992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3" name=""/>
          <p:cNvSpPr>
            <a:spLocks noGrp="1"/>
          </p:cNvSpPr>
          <p:nvPr/>
        </p:nvSpPr>
        <p:spPr>
          <a:xfrm>
            <a:off x="6348730" y="38402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LV 600 V power and control — turbine hall, HRSG and balance of plant</a:t>
            </a:r>
          </a:p>
        </p:txBody>
      </p:sp>
      <p:sp>
        <p:nvSpPr>
          <p:cNvPr id="224" name=""/>
          <p:cNvSpPr>
            <a:spLocks noGrp="1"/>
          </p:cNvSpPr>
          <p:nvPr/>
        </p:nvSpPr>
        <p:spPr>
          <a:xfrm>
            <a:off x="6120130" y="43564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5" name=""/>
          <p:cNvSpPr>
            <a:spLocks noGrp="1"/>
          </p:cNvSpPr>
          <p:nvPr/>
        </p:nvSpPr>
        <p:spPr>
          <a:xfrm>
            <a:off x="6348730" y="42974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I&amp;C, DCS and fiber — integration with the existing station and ERCOT SCADA</a:t>
            </a:r>
          </a:p>
        </p:txBody>
      </p:sp>
      <p:sp>
        <p:nvSpPr>
          <p:cNvPr id="226" name=""/>
          <p:cNvSpPr>
            <a:spLocks noGrp="1"/>
          </p:cNvSpPr>
          <p:nvPr/>
        </p:nvSpPr>
        <p:spPr>
          <a:xfrm>
            <a:off x="6120130" y="48136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7" name=""/>
          <p:cNvSpPr>
            <a:spLocks noGrp="1"/>
          </p:cNvSpPr>
          <p:nvPr/>
        </p:nvSpPr>
        <p:spPr>
          <a:xfrm>
            <a:off x="6348730" y="47546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Grounding-grid extension into the heritage plant grid</a:t>
            </a:r>
          </a:p>
        </p:txBody>
      </p:sp>
      <p:sp>
        <p:nvSpPr>
          <p:cNvPr id="228" name=""/>
          <p:cNvSpPr>
            <a:spLocks noGrp="1"/>
          </p:cNvSpPr>
          <p:nvPr/>
        </p:nvSpPr>
        <p:spPr>
          <a:xfrm>
            <a:off x="6120130" y="52708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29" name=""/>
          <p:cNvSpPr>
            <a:spLocks noGrp="1"/>
          </p:cNvSpPr>
          <p:nvPr/>
        </p:nvSpPr>
        <p:spPr>
          <a:xfrm>
            <a:off x="6348730" y="52118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Sequenced reels, cut lengths and kits against 2026–2028 procurement windows</a:t>
            </a:r>
          </a:p>
        </p:txBody>
      </p:sp>
      <p:sp>
        <p:nvSpPr>
          <p:cNvPr id="230" name=""/>
          <p:cNvSpPr>
            <a:spLocks noGrp="1"/>
          </p:cNvSpPr>
          <p:nvPr/>
        </p:nvSpPr>
        <p:spPr>
          <a:xfrm>
            <a:off x="6120130" y="5728040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231" name=""/>
          <p:cNvSpPr>
            <a:spLocks noGrp="1"/>
          </p:cNvSpPr>
          <p:nvPr/>
        </p:nvSpPr>
        <p:spPr>
          <a:xfrm>
            <a:off x="6348730" y="5669040"/>
            <a:ext cx="5124132" cy="4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Post-COD continuity — records, spares and MRO carried into the operating fleet</a:t>
            </a:r>
          </a:p>
        </p:txBody>
      </p:sp>
      <p:sp>
        <p:nvSpPr>
          <p:cNvPr id="232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Validated against public sources, Aug 2026: PUCT / Texas Energy Fund announcements, Utility Dive, NRG investor materials. Capacity reported 689–721 MW across sources; 721 MW per the PUCT loan announcement.</a:t>
            </a:r>
          </a:p>
        </p:txBody>
      </p:sp>
      <p:sp>
        <p:nvSpPr>
          <p:cNvPr id="2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234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IN ACTIVE PROCUREMENT NOW — THE OBVIOUS CANDIDATE FOR THE ONE-LIVE-SCOPE VALIDATION PATH ON SLIDE 8.</a:t>
            </a:r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4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4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4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A10 · FINANCE + ESG</a:t>
            </a:r>
          </a:p>
        </p:txBody>
      </p:sp>
      <p:sp>
        <p:nvSpPr>
          <p:cNvPr id="4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19</a:t>
            </a:r>
          </a:p>
        </p:txBody>
      </p:sp>
      <p:sp>
        <p:nvSpPr>
          <p:cNvPr id="405" name=""/>
          <p:cNvSpPr>
            <a:spLocks noGrp="1"/>
          </p:cNvSpPr>
          <p:nvPr/>
        </p:nvSpPr>
        <p:spPr>
          <a:xfrm>
            <a:off x="719138" y="1005840"/>
            <a:ext cx="85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EARLY ENGAGEMENT, UNDERWRITING-GRADE DOCUMENTATION</a:t>
            </a:r>
          </a:p>
        </p:txBody>
      </p:sp>
      <p:sp>
        <p:nvSpPr>
          <p:cNvPr id="4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early engagement includes — and what finance gets out of it.</a:t>
            </a:r>
          </a:p>
        </p:txBody>
      </p:sp>
      <p:sp>
        <p:nvSpPr>
          <p:cNvPr id="4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Technical readiness converts into underwriting inputs: cost, schedule, sourcing and carbon visibility before the EPC bid hardens contingency.</a:t>
            </a:r>
          </a:p>
        </p:txBody>
      </p:sp>
      <p:sp>
        <p:nvSpPr>
          <p:cNvPr id="4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PRE-EPC OFFERINGS</a:t>
            </a:r>
          </a:p>
        </p:txBody>
      </p:sp>
      <p:sp>
        <p:nvSpPr>
          <p:cNvPr id="409" name=""/>
          <p:cNvSpPr>
            <a:spLocks noGrp="1"/>
          </p:cNvSpPr>
          <p:nvPr/>
        </p:nvSpPr>
        <p:spPr>
          <a:xfrm>
            <a:off x="719138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0" name=""/>
          <p:cNvSpPr>
            <a:spLocks noGrp="1"/>
          </p:cNvSpPr>
          <p:nvPr/>
        </p:nvSpPr>
        <p:spPr>
          <a:xfrm>
            <a:off x="947738" y="283503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Master planning workshop — conceptual design and interface mapping for complex sites</a:t>
            </a:r>
          </a:p>
        </p:txBody>
      </p:sp>
      <p:sp>
        <p:nvSpPr>
          <p:cNvPr id="411" name=""/>
          <p:cNvSpPr>
            <a:spLocks noGrp="1"/>
          </p:cNvSpPr>
          <p:nvPr/>
        </p:nvSpPr>
        <p:spPr>
          <a:xfrm>
            <a:off x="719138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2" name=""/>
          <p:cNvSpPr>
            <a:spLocks noGrp="1"/>
          </p:cNvSpPr>
          <p:nvPr/>
        </p:nvSpPr>
        <p:spPr>
          <a:xfrm>
            <a:off x="947738" y="342939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cable solution design and electrical spine architecture</a:t>
            </a:r>
          </a:p>
        </p:txBody>
      </p:sp>
      <p:sp>
        <p:nvSpPr>
          <p:cNvPr id="413" name=""/>
          <p:cNvSpPr>
            <a:spLocks noGrp="1"/>
          </p:cNvSpPr>
          <p:nvPr/>
        </p:nvSpPr>
        <p:spPr>
          <a:xfrm>
            <a:off x="719138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4" name=""/>
          <p:cNvSpPr>
            <a:spLocks noGrp="1"/>
          </p:cNvSpPr>
          <p:nvPr/>
        </p:nvSpPr>
        <p:spPr>
          <a:xfrm>
            <a:off x="947738" y="402375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Procurement risk register and schedule visibility</a:t>
            </a:r>
          </a:p>
        </p:txBody>
      </p:sp>
      <p:sp>
        <p:nvSpPr>
          <p:cNvPr id="415" name=""/>
          <p:cNvSpPr>
            <a:spLocks noGrp="1"/>
          </p:cNvSpPr>
          <p:nvPr/>
        </p:nvSpPr>
        <p:spPr>
          <a:xfrm>
            <a:off x="719138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6" name=""/>
          <p:cNvSpPr>
            <a:spLocks noGrp="1"/>
          </p:cNvSpPr>
          <p:nvPr/>
        </p:nvSpPr>
        <p:spPr>
          <a:xfrm>
            <a:off x="947738" y="461811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Capacity allocation and commodity (Cu/Al) exposure hedging support</a:t>
            </a:r>
          </a:p>
        </p:txBody>
      </p:sp>
      <p:sp>
        <p:nvSpPr>
          <p:cNvPr id="417" name=""/>
          <p:cNvSpPr>
            <a:spLocks noGrp="1"/>
          </p:cNvSpPr>
          <p:nvPr/>
        </p:nvSpPr>
        <p:spPr>
          <a:xfrm>
            <a:off x="719138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18" name=""/>
          <p:cNvSpPr>
            <a:spLocks noGrp="1"/>
          </p:cNvSpPr>
          <p:nvPr/>
        </p:nvSpPr>
        <p:spPr>
          <a:xfrm>
            <a:off x="947738" y="5212475"/>
            <a:ext cx="4671400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Domestic supply strategy — U.S.-made resilience for TEF and local-content goals</a:t>
            </a:r>
          </a:p>
        </p:txBody>
      </p:sp>
      <p:sp>
        <p:nvSpPr>
          <p:cNvPr id="4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DOCUMENTATION FOR FINANCE + ESG</a:t>
            </a:r>
          </a:p>
        </p:txBody>
      </p:sp>
      <p:sp>
        <p:nvSpPr>
          <p:cNvPr id="420" name=""/>
          <p:cNvSpPr>
            <a:spLocks noGrp="1"/>
          </p:cNvSpPr>
          <p:nvPr/>
        </p:nvSpPr>
        <p:spPr>
          <a:xfrm>
            <a:off x="6120130" y="289403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1" name=""/>
          <p:cNvSpPr>
            <a:spLocks noGrp="1"/>
          </p:cNvSpPr>
          <p:nvPr/>
        </p:nvSpPr>
        <p:spPr>
          <a:xfrm>
            <a:off x="6348730" y="283503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Transparent BOMs and cost-allocation records supporting asset classification and depreciation — tax treatment confirmed per project</a:t>
            </a:r>
          </a:p>
        </p:txBody>
      </p:sp>
      <p:sp>
        <p:nvSpPr>
          <p:cNvPr id="422" name=""/>
          <p:cNvSpPr>
            <a:spLocks noGrp="1"/>
          </p:cNvSpPr>
          <p:nvPr/>
        </p:nvSpPr>
        <p:spPr>
          <a:xfrm>
            <a:off x="6120130" y="348839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3" name=""/>
          <p:cNvSpPr>
            <a:spLocks noGrp="1"/>
          </p:cNvSpPr>
          <p:nvPr/>
        </p:nvSpPr>
        <p:spPr>
          <a:xfrm>
            <a:off x="6348730" y="342939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Verified EPDs for low-embodied-carbon procurement</a:t>
            </a:r>
          </a:p>
        </p:txBody>
      </p:sp>
      <p:sp>
        <p:nvSpPr>
          <p:cNvPr id="424" name=""/>
          <p:cNvSpPr>
            <a:spLocks noGrp="1"/>
          </p:cNvSpPr>
          <p:nvPr/>
        </p:nvSpPr>
        <p:spPr>
          <a:xfrm>
            <a:off x="6120130" y="408275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5" name=""/>
          <p:cNvSpPr>
            <a:spLocks noGrp="1"/>
          </p:cNvSpPr>
          <p:nvPr/>
        </p:nvSpPr>
        <p:spPr>
          <a:xfrm>
            <a:off x="6348730" y="402375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Scope 3 cradle-to-gate carbon data for ESG-linked financing and hyperscaler offtaker requirements</a:t>
            </a:r>
          </a:p>
        </p:txBody>
      </p:sp>
      <p:sp>
        <p:nvSpPr>
          <p:cNvPr id="426" name=""/>
          <p:cNvSpPr>
            <a:spLocks noGrp="1"/>
          </p:cNvSpPr>
          <p:nvPr/>
        </p:nvSpPr>
        <p:spPr>
          <a:xfrm>
            <a:off x="6120130" y="467711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7" name=""/>
          <p:cNvSpPr>
            <a:spLocks noGrp="1"/>
          </p:cNvSpPr>
          <p:nvPr/>
        </p:nvSpPr>
        <p:spPr>
          <a:xfrm>
            <a:off x="6348730" y="461811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Recycled-content integration and optimized logistics (circular economy)</a:t>
            </a:r>
          </a:p>
        </p:txBody>
      </p:sp>
      <p:sp>
        <p:nvSpPr>
          <p:cNvPr id="428" name=""/>
          <p:cNvSpPr>
            <a:spLocks noGrp="1"/>
          </p:cNvSpPr>
          <p:nvPr/>
        </p:nvSpPr>
        <p:spPr>
          <a:xfrm>
            <a:off x="6120130" y="5271475"/>
            <a:ext cx="91440" cy="914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429" name=""/>
          <p:cNvSpPr>
            <a:spLocks noGrp="1"/>
          </p:cNvSpPr>
          <p:nvPr/>
        </p:nvSpPr>
        <p:spPr>
          <a:xfrm>
            <a:off x="6348730" y="5212475"/>
            <a:ext cx="5124132" cy="52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Auditable domestic-content documentation for TEF and investor reporting</a:t>
            </a:r>
          </a:p>
        </p:txBody>
      </p:sp>
      <p:sp>
        <p:nvSpPr>
          <p:cNvPr id="430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Conceptual commercial positioning — offerings, documentation and tax applicability are scoped and confirmed per project.</a:t>
            </a:r>
          </a:p>
        </p:txBody>
      </p:sp>
      <p:sp>
        <p:nvSpPr>
          <p:cNvPr id="4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4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COST, SCHEDULE, SOURCING AND CARBON VISIBILITY — BEFORE THE EPC BID PRICES THE UNCERTAINTY AS CONTINGENCY.</a:t>
            </a:r>
          </a:p>
        </p:txBody>
      </p:sp>
    </p:spTree>
  </p:cSld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A11 · CABLE PLATFORM</a:t>
            </a:r>
          </a:p>
        </p:txBody>
      </p:sp>
      <p:sp>
        <p:nvSpPr>
          <p:cNvPr id="5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20</a:t>
            </a:r>
          </a:p>
        </p:txBody>
      </p:sp>
      <p:sp>
        <p:nvSpPr>
          <p:cNvPr id="5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ONE PLATFORM — PLANT SCOPE AND PACKAGED SCOPE</a:t>
            </a:r>
          </a:p>
        </p:txBody>
      </p:sp>
      <p:sp>
        <p:nvSpPr>
          <p:cNvPr id="5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One platform from generator to grid — and inside every package.</a:t>
            </a:r>
          </a:p>
        </p:txBody>
      </p:sp>
      <p:sp>
        <p:nvSpPr>
          <p:cNvPr id="5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run in the A3 zone map resolves to a named product family — one supplier, one spec basis, domestic manufacture.</a:t>
            </a:r>
          </a:p>
        </p:txBody>
      </p:sp>
      <p:sp>
        <p:nvSpPr>
          <p:cNvPr id="508" name=""/>
          <p:cNvSpPr>
            <a:spLocks noGrp="1"/>
          </p:cNvSpPr>
          <p:nvPr/>
        </p:nvSpPr>
        <p:spPr>
          <a:xfrm>
            <a:off x="719138" y="2515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PLANT SCOPE — GENERATOR TO GRID</a:t>
            </a:r>
          </a:p>
        </p:txBody>
      </p:sp>
      <p:sp>
        <p:nvSpPr>
          <p:cNvPr id="509" name=""/>
          <p:cNvSpPr>
            <a:spLocks noGrp="1"/>
          </p:cNvSpPr>
          <p:nvPr/>
        </p:nvSpPr>
        <p:spPr>
          <a:xfrm>
            <a:off x="719138" y="28350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HVUD HIGH-VOLTAGE UNDERGROUND · 69–400 kV</a:t>
            </a:r>
          </a:p>
        </p:txBody>
      </p:sp>
      <p:sp>
        <p:nvSpPr>
          <p:cNvPr id="510" name=""/>
          <p:cNvSpPr>
            <a:spLocks noGrp="1"/>
          </p:cNvSpPr>
          <p:nvPr/>
        </p:nvSpPr>
        <p:spPr>
          <a:xfrm>
            <a:off x="719138" y="30636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XLPE underground interconnect; HVUD3 (138 kV) and HVUD4 (230 kV) carry gen-tie, behind-the-meter and bulk interconnect duty.</a:t>
            </a:r>
          </a:p>
        </p:txBody>
      </p:sp>
      <p:sp>
        <p:nvSpPr>
          <p:cNvPr id="511" name=""/>
          <p:cNvSpPr>
            <a:spLocks noGrp="1"/>
          </p:cNvSpPr>
          <p:nvPr/>
        </p:nvSpPr>
        <p:spPr>
          <a:xfrm>
            <a:off x="719138" y="35208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MV-105 · NL-EPR · 5–35 kV</a:t>
            </a:r>
          </a:p>
        </p:txBody>
      </p:sp>
      <p:sp>
        <p:nvSpPr>
          <p:cNvPr id="512" name=""/>
          <p:cNvSpPr>
            <a:spLocks noGrp="1"/>
          </p:cNvSpPr>
          <p:nvPr/>
        </p:nvSpPr>
        <p:spPr>
          <a:xfrm>
            <a:off x="719138" y="37494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plant collection and auxiliary backbone — 105°C rated, low-friction jacket, tray and duct-bank installation economics.</a:t>
            </a:r>
          </a:p>
        </p:txBody>
      </p:sp>
      <p:sp>
        <p:nvSpPr>
          <p:cNvPr id="513" name=""/>
          <p:cNvSpPr>
            <a:spLocks noGrp="1"/>
          </p:cNvSpPr>
          <p:nvPr/>
        </p:nvSpPr>
        <p:spPr>
          <a:xfrm>
            <a:off x="719138" y="42066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LV 600 V POWER, CONTROL &amp; BUILDING WIRE</a:t>
            </a:r>
          </a:p>
        </p:txBody>
      </p:sp>
      <p:sp>
        <p:nvSpPr>
          <p:cNvPr id="514" name=""/>
          <p:cNvSpPr>
            <a:spLocks noGrp="1"/>
          </p:cNvSpPr>
          <p:nvPr/>
        </p:nvSpPr>
        <p:spPr>
          <a:xfrm>
            <a:off x="719138" y="44352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Feeders, motor circuits and unit auxiliary distribution across the plant.</a:t>
            </a:r>
          </a:p>
        </p:txBody>
      </p:sp>
      <p:sp>
        <p:nvSpPr>
          <p:cNvPr id="515" name=""/>
          <p:cNvSpPr>
            <a:spLocks noGrp="1"/>
          </p:cNvSpPr>
          <p:nvPr/>
        </p:nvSpPr>
        <p:spPr>
          <a:xfrm>
            <a:off x="719138" y="48924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I&amp;C, COMMS &amp; TRANSMISSION CONDUCTOR</a:t>
            </a:r>
          </a:p>
        </p:txBody>
      </p:sp>
      <p:sp>
        <p:nvSpPr>
          <p:cNvPr id="516" name=""/>
          <p:cNvSpPr>
            <a:spLocks noGrp="1"/>
          </p:cNvSpPr>
          <p:nvPr/>
        </p:nvSpPr>
        <p:spPr>
          <a:xfrm>
            <a:off x="719138" y="51210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DCS, protection and metering cable; industrial Ethernet and fiber; ACSR / ACSS / OPGW where overhead is the route.</a:t>
            </a:r>
          </a:p>
        </p:txBody>
      </p:sp>
      <p:sp>
        <p:nvSpPr>
          <p:cNvPr id="517" name=""/>
          <p:cNvSpPr>
            <a:spLocks noGrp="1"/>
          </p:cNvSpPr>
          <p:nvPr/>
        </p:nvSpPr>
        <p:spPr>
          <a:xfrm>
            <a:off x="719138" y="5578235"/>
            <a:ext cx="49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GROUNDING &amp; BONDING</a:t>
            </a:r>
          </a:p>
        </p:txBody>
      </p:sp>
      <p:sp>
        <p:nvSpPr>
          <p:cNvPr id="518" name=""/>
          <p:cNvSpPr>
            <a:spLocks noGrp="1"/>
          </p:cNvSpPr>
          <p:nvPr/>
        </p:nvSpPr>
        <p:spPr>
          <a:xfrm>
            <a:off x="719138" y="5806835"/>
            <a:ext cx="4900000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Bare copper and bonding conductor — the grid that ties the whole electrical system to earth.</a:t>
            </a:r>
          </a:p>
        </p:txBody>
      </p:sp>
      <p:sp>
        <p:nvSpPr>
          <p:cNvPr id="519" name=""/>
          <p:cNvSpPr>
            <a:spLocks noGrp="1"/>
          </p:cNvSpPr>
          <p:nvPr/>
        </p:nvSpPr>
        <p:spPr>
          <a:xfrm>
            <a:off x="6120130" y="2515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PACKAGED &amp; MODULAR SCOPE — 8 APPLICATION FAMILIES</a:t>
            </a:r>
          </a:p>
        </p:txBody>
      </p:sp>
      <p:sp>
        <p:nvSpPr>
          <p:cNvPr id="520" name=""/>
          <p:cNvSpPr>
            <a:spLocks noGrp="1"/>
          </p:cNvSpPr>
          <p:nvPr/>
        </p:nvSpPr>
        <p:spPr>
          <a:xfrm>
            <a:off x="6120130" y="28350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2.4–35 kV AND 600 V–2 kV · BUY AMERICA</a:t>
            </a:r>
          </a:p>
        </p:txBody>
      </p:sp>
      <p:sp>
        <p:nvSpPr>
          <p:cNvPr id="521" name=""/>
          <p:cNvSpPr>
            <a:spLocks noGrp="1"/>
          </p:cNvSpPr>
          <p:nvPr/>
        </p:nvSpPr>
        <p:spPr>
          <a:xfrm>
            <a:off x="6120130" y="30636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Every wire and cable application that lives inside — or connects — factory-built power packages, kitted to build sequence.</a:t>
            </a:r>
          </a:p>
        </p:txBody>
      </p:sp>
      <p:sp>
        <p:nvSpPr>
          <p:cNvPr id="522" name=""/>
          <p:cNvSpPr>
            <a:spLocks noGrp="1"/>
          </p:cNvSpPr>
          <p:nvPr/>
        </p:nvSpPr>
        <p:spPr>
          <a:xfrm>
            <a:off x="6120130" y="35208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E-HOUSES · CONTAINERIZED SUBSTATIONS · SWITCHGEAR</a:t>
            </a:r>
          </a:p>
        </p:txBody>
      </p:sp>
      <p:sp>
        <p:nvSpPr>
          <p:cNvPr id="523" name=""/>
          <p:cNvSpPr>
            <a:spLocks noGrp="1"/>
          </p:cNvSpPr>
          <p:nvPr/>
        </p:nvSpPr>
        <p:spPr>
          <a:xfrm>
            <a:off x="6120130" y="37494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Power control rooms, MV switchgear lineups, LV switchboard and MCC packages.</a:t>
            </a:r>
          </a:p>
        </p:txBody>
      </p:sp>
      <p:sp>
        <p:nvSpPr>
          <p:cNvPr id="524" name=""/>
          <p:cNvSpPr>
            <a:spLocks noGrp="1"/>
          </p:cNvSpPr>
          <p:nvPr/>
        </p:nvSpPr>
        <p:spPr>
          <a:xfrm>
            <a:off x="6120130" y="42066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TRANSFORMER · BESS · GENSET · PROCESS SKIDS</a:t>
            </a:r>
          </a:p>
        </p:txBody>
      </p:sp>
      <p:sp>
        <p:nvSpPr>
          <p:cNvPr id="525" name=""/>
          <p:cNvSpPr>
            <a:spLocks noGrp="1"/>
          </p:cNvSpPr>
          <p:nvPr/>
        </p:nvSpPr>
        <p:spPr>
          <a:xfrm>
            <a:off x="6120130" y="44352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Transformer packages, BESS containers, generator packages and process / pump skids.</a:t>
            </a:r>
          </a:p>
        </p:txBody>
      </p:sp>
      <p:sp>
        <p:nvSpPr>
          <p:cNvPr id="526" name=""/>
          <p:cNvSpPr>
            <a:spLocks noGrp="1"/>
          </p:cNvSpPr>
          <p:nvPr/>
        </p:nvSpPr>
        <p:spPr>
          <a:xfrm>
            <a:off x="6120130" y="48924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SIMPULL, PRE-CUTS &amp; KITTING</a:t>
            </a:r>
          </a:p>
        </p:txBody>
      </p:sp>
      <p:sp>
        <p:nvSpPr>
          <p:cNvPr id="527" name=""/>
          <p:cNvSpPr>
            <a:spLocks noGrp="1"/>
          </p:cNvSpPr>
          <p:nvPr/>
        </p:nvSpPr>
        <p:spPr>
          <a:xfrm>
            <a:off x="6120130" y="51210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Low-friction pulling technology, cut-to-length labeled reels and staged kits — energization-ready, less field labor.</a:t>
            </a:r>
          </a:p>
        </p:txBody>
      </p:sp>
      <p:sp>
        <p:nvSpPr>
          <p:cNvPr id="528" name=""/>
          <p:cNvSpPr>
            <a:spLocks noGrp="1"/>
          </p:cNvSpPr>
          <p:nvPr/>
        </p:nvSpPr>
        <p:spPr>
          <a:xfrm>
            <a:off x="6120130" y="5578235"/>
            <a:ext cx="535273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ONE SUPPLIER, WHOLE PACKAGE</a:t>
            </a:r>
          </a:p>
        </p:txBody>
      </p:sp>
      <p:sp>
        <p:nvSpPr>
          <p:cNvPr id="529" name=""/>
          <p:cNvSpPr>
            <a:spLocks noGrp="1"/>
          </p:cNvSpPr>
          <p:nvPr/>
        </p:nvSpPr>
        <p:spPr>
          <a:xfrm>
            <a:off x="6120130" y="5806835"/>
            <a:ext cx="5352732" cy="43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5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MV, LV, control, VFD, grounding, data and DC from a single domestic source — one procurement line item per package.</a:t>
            </a:r>
          </a:p>
        </p:txBody>
      </p:sp>
      <p:sp>
        <p:nvSpPr>
          <p:cNvPr id="530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31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TWO LEAVE-BEHIND CATALOGUES ACCOMPANY THIS DECK — IPP CABLE CATALOGUE (PLANT) · PACKAGED POWER E-CATALOGUE (SKIDS).</a:t>
            </a:r>
          </a:p>
        </p:txBody>
      </p:sp>
    </p:spTree>
  </p:cSld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532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533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534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A12 · OPERATING FLEET</a:t>
            </a:r>
          </a:p>
        </p:txBody>
      </p:sp>
      <p:sp>
        <p:nvSpPr>
          <p:cNvPr id="535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21</a:t>
            </a:r>
          </a:p>
        </p:txBody>
      </p:sp>
      <p:sp>
        <p:nvSpPr>
          <p:cNvPr id="536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REJUVENATION, BROWNFIELD &amp; SERVICE — FOR THE 25.8 GW FLEET</a:t>
            </a:r>
          </a:p>
        </p:txBody>
      </p:sp>
      <p:sp>
        <p:nvSpPr>
          <p:cNvPr id="537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Extend asset life without a greenfield rebuild.</a:t>
            </a:r>
          </a:p>
        </p:txBody>
      </p:sp>
      <p:sp>
        <p:nvSpPr>
          <p:cNvPr id="538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Aging cable systems, upgrades and modular additions across an operating fleet — planned around outage schedules, while the plant stays available.</a:t>
            </a:r>
          </a:p>
        </p:txBody>
      </p:sp>
      <p:sp>
        <p:nvSpPr>
          <p:cNvPr id="539" name=""/>
          <p:cNvSpPr>
            <a:spLocks noGrp="1"/>
          </p:cNvSpPr>
          <p:nvPr/>
        </p:nvSpPr>
        <p:spPr>
          <a:xfrm>
            <a:off x="719138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0" name=""/>
          <p:cNvSpPr>
            <a:spLocks noGrp="1"/>
          </p:cNvSpPr>
          <p:nvPr/>
        </p:nvSpPr>
        <p:spPr>
          <a:xfrm>
            <a:off x="947738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ELECTRICAL SPINE REJUVENATION</a:t>
            </a:r>
          </a:p>
        </p:txBody>
      </p:sp>
      <p:sp>
        <p:nvSpPr>
          <p:cNvPr id="541" name=""/>
          <p:cNvSpPr>
            <a:spLocks noGrp="1"/>
          </p:cNvSpPr>
          <p:nvPr/>
        </p:nvSpPr>
        <p:spPr>
          <a:xfrm>
            <a:off x="947738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Assessment, planning and phased replacement of aging MV / LV cable, grounding, tray and fiber — while the plant remains operational.</a:t>
            </a:r>
          </a:p>
        </p:txBody>
      </p:sp>
      <p:sp>
        <p:nvSpPr>
          <p:cNvPr id="542" name=""/>
          <p:cNvSpPr>
            <a:spLocks noGrp="1"/>
          </p:cNvSpPr>
          <p:nvPr/>
        </p:nvSpPr>
        <p:spPr>
          <a:xfrm>
            <a:off x="6235130" y="2560320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3" name=""/>
          <p:cNvSpPr>
            <a:spLocks noGrp="1"/>
          </p:cNvSpPr>
          <p:nvPr/>
        </p:nvSpPr>
        <p:spPr>
          <a:xfrm>
            <a:off x="6463730" y="2674620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CABLE REPLACEMENT PROGRAMS</a:t>
            </a:r>
          </a:p>
        </p:txBody>
      </p:sp>
      <p:sp>
        <p:nvSpPr>
          <p:cNvPr id="544" name=""/>
          <p:cNvSpPr>
            <a:spLocks noGrp="1"/>
          </p:cNvSpPr>
          <p:nvPr/>
        </p:nvSpPr>
        <p:spPr>
          <a:xfrm>
            <a:off x="6463730" y="2948940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Fast-track domestic supply of power, control and instrumentation cable for planned outages or emergency replacement.</a:t>
            </a:r>
          </a:p>
        </p:txBody>
      </p:sp>
      <p:sp>
        <p:nvSpPr>
          <p:cNvPr id="545" name=""/>
          <p:cNvSpPr>
            <a:spLocks noGrp="1"/>
          </p:cNvSpPr>
          <p:nvPr/>
        </p:nvSpPr>
        <p:spPr>
          <a:xfrm>
            <a:off x="719138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6" name=""/>
          <p:cNvSpPr>
            <a:spLocks noGrp="1"/>
          </p:cNvSpPr>
          <p:nvPr/>
        </p:nvSpPr>
        <p:spPr>
          <a:xfrm>
            <a:off x="947738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BROWNFIELD UPGRADES &amp; REPOWER</a:t>
            </a:r>
          </a:p>
        </p:txBody>
      </p:sp>
      <p:sp>
        <p:nvSpPr>
          <p:cNvPr id="547" name=""/>
          <p:cNvSpPr>
            <a:spLocks noGrp="1"/>
          </p:cNvSpPr>
          <p:nvPr/>
        </p:nvSpPr>
        <p:spPr>
          <a:xfrm>
            <a:off x="947738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Electrical scope for turbine upgrades, generator replacements, emissions retrofits and balance-of-plant modernization.</a:t>
            </a:r>
          </a:p>
        </p:txBody>
      </p:sp>
      <p:sp>
        <p:nvSpPr>
          <p:cNvPr id="548" name=""/>
          <p:cNvSpPr>
            <a:spLocks noGrp="1"/>
          </p:cNvSpPr>
          <p:nvPr/>
        </p:nvSpPr>
        <p:spPr>
          <a:xfrm>
            <a:off x="6235130" y="3739896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49" name=""/>
          <p:cNvSpPr>
            <a:spLocks noGrp="1"/>
          </p:cNvSpPr>
          <p:nvPr/>
        </p:nvSpPr>
        <p:spPr>
          <a:xfrm>
            <a:off x="6463730" y="3854196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MODULAR POWER ADDITIONS</a:t>
            </a:r>
          </a:p>
        </p:txBody>
      </p:sp>
      <p:sp>
        <p:nvSpPr>
          <p:cNvPr id="550" name=""/>
          <p:cNvSpPr>
            <a:spLocks noGrp="1"/>
          </p:cNvSpPr>
          <p:nvPr/>
        </p:nvSpPr>
        <p:spPr>
          <a:xfrm>
            <a:off x="6463730" y="4128516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E-houses, skids, switchgear, UPS and black-start capability — auxiliary loads or new behind-the-meter offtakers.</a:t>
            </a:r>
          </a:p>
        </p:txBody>
      </p:sp>
      <p:sp>
        <p:nvSpPr>
          <p:cNvPr id="551" name=""/>
          <p:cNvSpPr>
            <a:spLocks noGrp="1"/>
          </p:cNvSpPr>
          <p:nvPr/>
        </p:nvSpPr>
        <p:spPr>
          <a:xfrm>
            <a:off x="719138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2" name=""/>
          <p:cNvSpPr>
            <a:spLocks noGrp="1"/>
          </p:cNvSpPr>
          <p:nvPr/>
        </p:nvSpPr>
        <p:spPr>
          <a:xfrm>
            <a:off x="947738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RELIABILITY &amp; CONDITION SUPPORT</a:t>
            </a:r>
          </a:p>
        </p:txBody>
      </p:sp>
      <p:sp>
        <p:nvSpPr>
          <p:cNvPr id="553" name=""/>
          <p:cNvSpPr>
            <a:spLocks noGrp="1"/>
          </p:cNvSpPr>
          <p:nvPr/>
        </p:nvSpPr>
        <p:spPr>
          <a:xfrm>
            <a:off x="947738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System assessments, thermal-imaging coordination, failure analysis and prioritized replacement planning.</a:t>
            </a:r>
          </a:p>
        </p:txBody>
      </p:sp>
      <p:sp>
        <p:nvSpPr>
          <p:cNvPr id="554" name=""/>
          <p:cNvSpPr>
            <a:spLocks noGrp="1"/>
          </p:cNvSpPr>
          <p:nvPr/>
        </p:nvSpPr>
        <p:spPr>
          <a:xfrm>
            <a:off x="6235130" y="4919472"/>
            <a:ext cx="5237862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555" name=""/>
          <p:cNvSpPr>
            <a:spLocks noGrp="1"/>
          </p:cNvSpPr>
          <p:nvPr/>
        </p:nvSpPr>
        <p:spPr>
          <a:xfrm>
            <a:off x="6463730" y="5033772"/>
            <a:ext cx="4780662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SERVICE &amp; LONG-TERM AGREEMENTS</a:t>
            </a:r>
          </a:p>
        </p:txBody>
      </p:sp>
      <p:sp>
        <p:nvSpPr>
          <p:cNvPr id="556" name=""/>
          <p:cNvSpPr>
            <a:spLocks noGrp="1"/>
          </p:cNvSpPr>
          <p:nvPr/>
        </p:nvSpPr>
        <p:spPr>
          <a:xfrm>
            <a:off x="6463730" y="5308092"/>
            <a:ext cx="4780662" cy="54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Support contracts, inventory programs and rapid-response replacement capability for operating fleets.</a:t>
            </a:r>
          </a:p>
        </p:txBody>
      </p:sp>
      <p:sp>
        <p:nvSpPr>
          <p:cNvPr id="557" name=""/>
          <p:cNvSpPr>
            <a:spLocks noGrp="1"/>
          </p:cNvSpPr>
          <p:nvPr/>
        </p:nvSpPr>
        <p:spPr>
          <a:xfrm>
            <a:off x="719138" y="6032500"/>
            <a:ext cx="10753724" cy="2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825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Engagements begin with one focused 60–90 minute session across the fleet, then tailored proposals per plant — phased to outage schedules.</a:t>
            </a:r>
          </a:p>
        </p:txBody>
      </p:sp>
      <p:sp>
        <p:nvSpPr>
          <p:cNvPr id="558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559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MINIMIZED DOWNTIME · EXTENDED ASSET LIFE · LOWER TOTAL COST THAN FULL REPLACEMENT — PHASED TO OUTAGE SCHEDULES.</a:t>
            </a:r>
          </a:p>
        </p:txBody>
      </p:sp>
    </p:spTree>
  </p:cSld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/>
      </p:grpSpPr>
      <p:sp>
        <p:nvSpPr>
          <p:cNvPr id="701" name=""/>
          <p:cNvSpPr>
            <a:spLocks noGrp="1"/>
          </p:cNvSpPr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pic>
        <p:nvPicPr>
          <p:cNvPr id="702" name=""/>
          <p:cNvPicPr>
            <a:picLocks noChangeAspect="1"/>
          </p:cNvPicPr>
          <p:nvPr/>
        </p:nvPicPr>
        <p:blipFill>
          <a:blip r:embed="R48e2a3d3733b4264"/>
          <a:stretch/>
        </p:blipFill>
        <p:spPr>
          <a:xfrm>
            <a:off x="719138" y="200025"/>
            <a:ext cx="2066925" cy="590550"/>
          </a:xfrm>
          <a:prstGeom prst="rect">
            <a:avLst/>
          </a:prstGeom>
        </p:spPr>
      </p:pic>
      <p:sp>
        <p:nvSpPr>
          <p:cNvPr id="703" name=""/>
          <p:cNvSpPr>
            <a:spLocks noGrp="1"/>
          </p:cNvSpPr>
          <p:nvPr/>
        </p:nvSpPr>
        <p:spPr>
          <a:xfrm>
            <a:off x="7325360" y="323850"/>
            <a:ext cx="3857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APPENDIX A13 · BENCHMARK MATH</a:t>
            </a:r>
          </a:p>
        </p:txBody>
      </p:sp>
      <p:sp>
        <p:nvSpPr>
          <p:cNvPr id="704" name=""/>
          <p:cNvSpPr>
            <a:spLocks noGrp="1"/>
          </p:cNvSpPr>
          <p:nvPr/>
        </p:nvSpPr>
        <p:spPr>
          <a:xfrm>
            <a:off x="11334750" y="323850"/>
            <a:ext cx="323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r">
              <a:lnSpc>
                <a:spcPct val="100000"/>
              </a:lnSpc>
              <a:buNone/>
            </a:pPr>
            <a:r>
              <a:rPr sz="975" b="1" i="0">
                <a:solidFill>
                  <a:srgbClr val="8B9094"/>
                </a:solidFill>
                <a:latin typeface="Arial Narrow"/>
                <a:ea typeface="Arial Narrow"/>
                <a:cs typeface="Arial Narrow"/>
              </a:rPr>
              <a:t>22</a:t>
            </a:r>
          </a:p>
        </p:txBody>
      </p:sp>
      <p:sp>
        <p:nvSpPr>
          <p:cNvPr id="705" name=""/>
          <p:cNvSpPr>
            <a:spLocks noGrp="1"/>
          </p:cNvSpPr>
          <p:nvPr/>
        </p:nvSpPr>
        <p:spPr>
          <a:xfrm>
            <a:off x="719138" y="1005840"/>
            <a:ext cx="9000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C9783E"/>
                </a:solidFill>
                <a:latin typeface="Arial Narrow"/>
                <a:ea typeface="Arial Narrow"/>
                <a:cs typeface="Arial Narrow"/>
              </a:rPr>
              <a:t>GROSS FIELD-LABOR MATH — PER CENTRAL SPINE</a:t>
            </a:r>
          </a:p>
        </p:txBody>
      </p:sp>
      <p:sp>
        <p:nvSpPr>
          <p:cNvPr id="706" name=""/>
          <p:cNvSpPr>
            <a:spLocks noGrp="1"/>
          </p:cNvSpPr>
          <p:nvPr/>
        </p:nvSpPr>
        <p:spPr>
          <a:xfrm>
            <a:off x="719138" y="1280160"/>
            <a:ext cx="10753724" cy="5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4000"/>
              </a:lnSpc>
              <a:buNone/>
            </a:pPr>
            <a:r>
              <a:rPr sz="285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What the 4,400 → 880 hours are worth, before net.</a:t>
            </a:r>
          </a:p>
        </p:txBody>
      </p:sp>
      <p:sp>
        <p:nvSpPr>
          <p:cNvPr id="707" name=""/>
          <p:cNvSpPr>
            <a:spLocks noGrp="1"/>
          </p:cNvSpPr>
          <p:nvPr/>
        </p:nvSpPr>
        <p:spPr>
          <a:xfrm>
            <a:off x="719138" y="195072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8000"/>
              </a:lnSpc>
              <a:buNone/>
            </a:pPr>
            <a:r>
              <a:rPr sz="1050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The arithmetic behind slide 7, at a $95/hr fully burdened field-labor rate. This is the template A5 requires to be rebuilt with NRG inputs — not a result.</a:t>
            </a:r>
          </a:p>
        </p:txBody>
      </p:sp>
      <p:sp>
        <p:nvSpPr>
          <p:cNvPr id="708" name=""/>
          <p:cNvSpPr>
            <a:spLocks noGrp="1"/>
          </p:cNvSpPr>
          <p:nvPr/>
        </p:nvSpPr>
        <p:spPr>
          <a:xfrm>
            <a:off x="719138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709" name=""/>
          <p:cNvSpPr>
            <a:spLocks noGrp="1"/>
          </p:cNvSpPr>
          <p:nvPr/>
        </p:nvSpPr>
        <p:spPr>
          <a:xfrm>
            <a:off x="947738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TODAY · FIELD-BUILT</a:t>
            </a:r>
          </a:p>
        </p:txBody>
      </p:sp>
      <p:sp>
        <p:nvSpPr>
          <p:cNvPr id="710" name=""/>
          <p:cNvSpPr>
            <a:spLocks noGrp="1"/>
          </p:cNvSpPr>
          <p:nvPr/>
        </p:nvSpPr>
        <p:spPr>
          <a:xfrm>
            <a:off x="947738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$418,000</a:t>
            </a:r>
          </a:p>
        </p:txBody>
      </p:sp>
      <p:sp>
        <p:nvSpPr>
          <p:cNvPr id="711" name=""/>
          <p:cNvSpPr>
            <a:spLocks noGrp="1"/>
          </p:cNvSpPr>
          <p:nvPr/>
        </p:nvSpPr>
        <p:spPr>
          <a:xfrm>
            <a:off x="947738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712" name=""/>
          <p:cNvSpPr>
            <a:spLocks noGrp="1"/>
          </p:cNvSpPr>
          <p:nvPr/>
        </p:nvSpPr>
        <p:spPr>
          <a:xfrm>
            <a:off x="947738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4,400 man-hours × $95/hr</a:t>
            </a:r>
          </a:p>
        </p:txBody>
      </p:sp>
      <p:sp>
        <p:nvSpPr>
          <p:cNvPr id="713" name=""/>
          <p:cNvSpPr>
            <a:spLocks noGrp="1"/>
          </p:cNvSpPr>
          <p:nvPr/>
        </p:nvSpPr>
        <p:spPr>
          <a:xfrm>
            <a:off x="947738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27 installers × 2 shifts × 2 weeks</a:t>
            </a:r>
          </a:p>
        </p:txBody>
      </p:sp>
      <p:sp>
        <p:nvSpPr>
          <p:cNvPr id="714" name=""/>
          <p:cNvSpPr>
            <a:spLocks noGrp="1"/>
          </p:cNvSpPr>
          <p:nvPr/>
        </p:nvSpPr>
        <p:spPr>
          <a:xfrm>
            <a:off x="947738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High variability, rework risk</a:t>
            </a:r>
          </a:p>
        </p:txBody>
      </p:sp>
      <p:sp>
        <p:nvSpPr>
          <p:cNvPr id="715" name=""/>
          <p:cNvSpPr>
            <a:spLocks noGrp="1"/>
          </p:cNvSpPr>
          <p:nvPr/>
        </p:nvSpPr>
        <p:spPr>
          <a:xfrm>
            <a:off x="4406546" y="2560320"/>
            <a:ext cx="3378908" cy="2606040"/>
          </a:xfrm>
          <a:prstGeom prst="rect">
            <a:avLst/>
          </a:prstGeom>
          <a:solidFill>
            <a:srgbClr val="FFFFFF"/>
          </a:solidFill>
          <a:ln w="9525">
            <a:solidFill>
              <a:srgbClr val="D8D1C8"/>
            </a:solidFill>
            <a:prstDash val="solid"/>
          </a:ln>
        </p:spPr>
      </p:sp>
      <p:sp>
        <p:nvSpPr>
          <p:cNvPr id="716" name=""/>
          <p:cNvSpPr>
            <a:spLocks noGrp="1"/>
          </p:cNvSpPr>
          <p:nvPr/>
        </p:nvSpPr>
        <p:spPr>
          <a:xfrm>
            <a:off x="4635146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9D4E24"/>
                </a:solidFill>
                <a:latin typeface="Arial Narrow"/>
                <a:ea typeface="Arial Narrow"/>
                <a:cs typeface="Arial Narrow"/>
              </a:rPr>
              <a:t>WITH CONNECTORIZED ASSEMBLY</a:t>
            </a:r>
          </a:p>
        </p:txBody>
      </p:sp>
      <p:sp>
        <p:nvSpPr>
          <p:cNvPr id="717" name=""/>
          <p:cNvSpPr>
            <a:spLocks noGrp="1"/>
          </p:cNvSpPr>
          <p:nvPr/>
        </p:nvSpPr>
        <p:spPr>
          <a:xfrm>
            <a:off x="4635146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9D4E24"/>
                </a:solidFill>
                <a:latin typeface="Arial"/>
                <a:ea typeface="Arial"/>
                <a:cs typeface="Arial"/>
              </a:rPr>
              <a:t>$83,600</a:t>
            </a:r>
          </a:p>
        </p:txBody>
      </p:sp>
      <p:sp>
        <p:nvSpPr>
          <p:cNvPr id="718" name=""/>
          <p:cNvSpPr>
            <a:spLocks noGrp="1"/>
          </p:cNvSpPr>
          <p:nvPr/>
        </p:nvSpPr>
        <p:spPr>
          <a:xfrm>
            <a:off x="4635146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field labor per spine</a:t>
            </a:r>
          </a:p>
        </p:txBody>
      </p:sp>
      <p:sp>
        <p:nvSpPr>
          <p:cNvPr id="719" name=""/>
          <p:cNvSpPr>
            <a:spLocks noGrp="1"/>
          </p:cNvSpPr>
          <p:nvPr/>
        </p:nvSpPr>
        <p:spPr>
          <a:xfrm>
            <a:off x="4635146" y="416052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~880 man-hours × $95/hr</a:t>
            </a:r>
          </a:p>
        </p:txBody>
      </p:sp>
      <p:sp>
        <p:nvSpPr>
          <p:cNvPr id="720" name=""/>
          <p:cNvSpPr>
            <a:spLocks noGrp="1"/>
          </p:cNvSpPr>
          <p:nvPr/>
        </p:nvSpPr>
        <p:spPr>
          <a:xfrm>
            <a:off x="4635146" y="443484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0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~6 installers × 1 shift × ~3 days</a:t>
            </a:r>
          </a:p>
        </p:txBody>
      </p:sp>
      <p:sp>
        <p:nvSpPr>
          <p:cNvPr id="721" name=""/>
          <p:cNvSpPr>
            <a:spLocks noGrp="1"/>
          </p:cNvSpPr>
          <p:nvPr/>
        </p:nvSpPr>
        <p:spPr>
          <a:xfrm>
            <a:off x="4635146" y="4709160"/>
            <a:ext cx="292170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6A6F73"/>
                </a:solidFill>
                <a:latin typeface="Arial"/>
                <a:ea typeface="Arial"/>
                <a:cs typeface="Arial"/>
              </a:rPr>
              <a:t>Factory-validated, plug-and-play</a:t>
            </a:r>
          </a:p>
        </p:txBody>
      </p:sp>
      <p:sp>
        <p:nvSpPr>
          <p:cNvPr id="722" name=""/>
          <p:cNvSpPr>
            <a:spLocks noGrp="1"/>
          </p:cNvSpPr>
          <p:nvPr/>
        </p:nvSpPr>
        <p:spPr>
          <a:xfrm>
            <a:off x="8093954" y="2560320"/>
            <a:ext cx="3378908" cy="2606040"/>
          </a:xfrm>
          <a:prstGeom prst="rect">
            <a:avLst/>
          </a:prstGeom>
          <a:solidFill>
            <a:srgbClr val="C9783E"/>
          </a:solidFill>
          <a:ln w="0">
            <a:noFill/>
            <a:prstDash val="solid"/>
          </a:ln>
        </p:spPr>
      </p:sp>
      <p:sp>
        <p:nvSpPr>
          <p:cNvPr id="723" name=""/>
          <p:cNvSpPr>
            <a:spLocks noGrp="1"/>
          </p:cNvSpPr>
          <p:nvPr/>
        </p:nvSpPr>
        <p:spPr>
          <a:xfrm>
            <a:off x="8322554" y="27889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GROSS DELTA PER SPINE</a:t>
            </a:r>
          </a:p>
        </p:txBody>
      </p:sp>
      <p:sp>
        <p:nvSpPr>
          <p:cNvPr id="724" name=""/>
          <p:cNvSpPr>
            <a:spLocks noGrp="1"/>
          </p:cNvSpPr>
          <p:nvPr/>
        </p:nvSpPr>
        <p:spPr>
          <a:xfrm>
            <a:off x="8322554" y="3108960"/>
            <a:ext cx="2921708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$334K</a:t>
            </a:r>
          </a:p>
        </p:txBody>
      </p:sp>
      <p:sp>
        <p:nvSpPr>
          <p:cNvPr id="725" name=""/>
          <p:cNvSpPr>
            <a:spLocks noGrp="1"/>
          </p:cNvSpPr>
          <p:nvPr/>
        </p:nvSpPr>
        <p:spPr>
          <a:xfrm>
            <a:off x="8322554" y="374904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75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~80% of field-labor cost</a:t>
            </a:r>
          </a:p>
        </p:txBody>
      </p:sp>
      <p:sp>
        <p:nvSpPr>
          <p:cNvPr id="726" name=""/>
          <p:cNvSpPr>
            <a:spLocks noGrp="1"/>
          </p:cNvSpPr>
          <p:nvPr/>
        </p:nvSpPr>
        <p:spPr>
          <a:xfrm>
            <a:off x="8322554" y="411480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90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IF IT REPEATS (GROSS, ILLUSTRATIVE)</a:t>
            </a:r>
          </a:p>
        </p:txBody>
      </p:sp>
      <p:sp>
        <p:nvSpPr>
          <p:cNvPr id="727" name=""/>
          <p:cNvSpPr>
            <a:spLocks noGrp="1"/>
          </p:cNvSpPr>
          <p:nvPr/>
        </p:nvSpPr>
        <p:spPr>
          <a:xfrm>
            <a:off x="8322554" y="43891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 spines  →  $3.3M</a:t>
            </a:r>
          </a:p>
        </p:txBody>
      </p:sp>
      <p:sp>
        <p:nvSpPr>
          <p:cNvPr id="728" name=""/>
          <p:cNvSpPr>
            <a:spLocks noGrp="1"/>
          </p:cNvSpPr>
          <p:nvPr/>
        </p:nvSpPr>
        <p:spPr>
          <a:xfrm>
            <a:off x="8322554" y="46177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50 spines  →  $16.7M</a:t>
            </a:r>
          </a:p>
        </p:txBody>
      </p:sp>
      <p:sp>
        <p:nvSpPr>
          <p:cNvPr id="729" name=""/>
          <p:cNvSpPr>
            <a:spLocks noGrp="1"/>
          </p:cNvSpPr>
          <p:nvPr/>
        </p:nvSpPr>
        <p:spPr>
          <a:xfrm>
            <a:off x="8322554" y="4846320"/>
            <a:ext cx="2921708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100 spines  →  $33.4M</a:t>
            </a:r>
          </a:p>
        </p:txBody>
      </p:sp>
      <p:sp>
        <p:nvSpPr>
          <p:cNvPr id="730" name=""/>
          <p:cNvSpPr>
            <a:spLocks noGrp="1"/>
          </p:cNvSpPr>
          <p:nvPr/>
        </p:nvSpPr>
        <p:spPr>
          <a:xfrm>
            <a:off x="719138" y="534924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00" b="0" i="1">
                <a:solidFill>
                  <a:srgbClr val="6A6F73"/>
                </a:solidFill>
                <a:latin typeface="Arial"/>
                <a:ea typeface="Arial"/>
                <a:cs typeface="Arial"/>
              </a:rPr>
              <a:t>ASSUMPTIONS  ·  $95/hr fully burdened (wage + benefits + overtime + supervision)  ·  4,400 hours observed on one site-built spine in an adjacent market, May 2026  ·  ~80% field-labor reduction typical for prefabricated interconnect  ·  one spine = one central electrical spine serving repeated generation modules.</a:t>
            </a:r>
          </a:p>
        </p:txBody>
      </p:sp>
      <p:sp>
        <p:nvSpPr>
          <p:cNvPr id="731" name=""/>
          <p:cNvSpPr>
            <a:spLocks noGrp="1"/>
          </p:cNvSpPr>
          <p:nvPr/>
        </p:nvSpPr>
        <p:spPr>
          <a:xfrm>
            <a:off x="719138" y="5852160"/>
            <a:ext cx="10753724" cy="3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100000"/>
          </a:bodyPr>
          <a:lstStyle/>
          <a:p>
            <a:pPr algn="l">
              <a:lnSpc>
                <a:spcPct val="106000"/>
              </a:lnSpc>
              <a:buNone/>
            </a:pPr>
            <a:r>
              <a:rPr sz="975" b="1" i="0">
                <a:solidFill>
                  <a:srgbClr val="17191C"/>
                </a:solidFill>
                <a:latin typeface="Arial"/>
                <a:ea typeface="Arial"/>
                <a:cs typeface="Arial"/>
              </a:rPr>
              <a:t>NOT NET.  Subtract the assembly premium, engineering, factory labor, freight, factory acceptance and commissioning — and prefabrication does not automatically remove an activity from the critical path.</a:t>
            </a:r>
          </a:p>
        </p:txBody>
      </p:sp>
      <p:sp>
        <p:nvSpPr>
          <p:cNvPr id="732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solidFill>
            <a:srgbClr val="17191C"/>
          </a:solidFill>
          <a:ln w="0">
            <a:noFill/>
            <a:prstDash val="solid"/>
          </a:ln>
        </p:spPr>
      </p:sp>
      <p:sp>
        <p:nvSpPr>
          <p:cNvPr id="733" name=""/>
          <p:cNvSpPr>
            <a:spLocks noGrp="1"/>
          </p:cNvSpPr>
          <p:nvPr/>
        </p:nvSpPr>
        <p:spPr>
          <a:xfrm>
            <a:off x="719138" y="6315000"/>
            <a:ext cx="10753724" cy="400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 fontScale="100000"/>
          </a:bodyPr>
          <a:lstStyle/>
          <a:p>
            <a:pPr algn="ctr">
              <a:lnSpc>
                <a:spcPct val="100000"/>
              </a:lnSpc>
              <a:buNone/>
            </a:pPr>
            <a:r>
              <a:rPr sz="1050" b="1" i="0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GROSS TEMPLATE ONLY — REBUILD WITH NRG SCOPE, LABOR RATES AND SCHEDULE LOGIC BEFORE ANY CLAIM (SEE A5).</a:t>
            </a:r>
          </a:p>
        </p:txBody>
      </p:sp>
    </p:spTree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2026-08-13T22:16:15.7530000Z</dcterms:created>
  <dcterms:modified xsi:type="dcterms:W3CDTF">2026-08-13T22:16:15.7530000Z</dcterms:modified>
</coreProperties>
</file>