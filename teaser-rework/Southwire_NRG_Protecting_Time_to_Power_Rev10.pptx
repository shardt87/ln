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  <p:sldId id="274" r:id="rId5"/>
    <p:sldId id="275" r:id="rId6"/>
    <p:sldId id="276" r:id="rId7"/>
    <p:sldId id="277" r:id="rId8"/>
    <p:sldId id="278" r:id="rI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  <Relationship Id="rId5" Type="http://schemas.openxmlformats.org/officeDocument/2006/relationships/slide" Target="slides/slide19.xml"/>
  <Relationship Id="rId6" Type="http://schemas.openxmlformats.org/officeDocument/2006/relationships/slide" Target="slides/slide20.xml"/>
  <Relationship Id="rId7" Type="http://schemas.openxmlformats.org/officeDocument/2006/relationships/slide" Target="slides/slide21.xml"/>
  <Relationship Id="rId8" Type="http://schemas.openxmlformats.org/officeDocument/2006/relationships/slide" Target="slides/slide22.xml"/>
  <Relationship Id="rId9" Type="http://schemas.openxmlformats.org/officeDocument/2006/relationships/slide" Target="slides/slide23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  <p:sp>
        <p:nvSpPr>
          <p:cNvPr id="300" name="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 xmlns:a="http://schemas.openxmlformats.org/drawingml/2006/main"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SUGGESTED FIRST SCOPE:  </a:t>
            </a:r>
            <a:r xmlns:a="http://schemas.openxmlformats.org/drawingml/2006/main">
              <a:rPr sz="10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CEDAR BAYOU 5 — ACTIVE TEF UNIT, MID-2028 COD</a:t>
            </a:r>
            <a:r xmlns:a="http://schemas.openxmlformats.org/drawingml/2006/main">
              <a:rPr sz="1050" b="1" i="0">
                <a:solidFill>
                  <a:srgbClr val="6A6F73"/>
                </a:solidFill>
                <a:latin typeface="Arial Narrow"/>
                <a:ea typeface="Arial Narrow"/>
                <a:cs typeface="Arial Narrow"/>
              </a:rPr>
              <a:t>   ·   OUR SUGGESTION, YOUR CALL   ·   DETAIL IN APPENDIX A9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4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4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A10 · FINANCE + ESG</a:t>
            </a:r>
          </a:p>
        </p:txBody>
      </p:sp>
      <p:sp>
        <p:nvSpPr>
          <p:cNvPr id="4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19</a:t>
            </a:r>
          </a:p>
        </p:txBody>
      </p:sp>
      <p:sp>
        <p:nvSpPr>
          <p:cNvPr id="4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EARLY ENGAGEMENT, UNDERWRITING-GRADE DOCUMENTATION</a:t>
            </a:r>
          </a:p>
        </p:txBody>
      </p:sp>
      <p:sp>
        <p:nvSpPr>
          <p:cNvPr id="4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early engagement includes — and what finance gets out of it.</a:t>
            </a:r>
          </a:p>
        </p:txBody>
      </p:sp>
      <p:sp>
        <p:nvSpPr>
          <p:cNvPr id="4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Technical readiness converts into underwriting inputs: cost, schedule, sourcing and carbon visibility before the EPC bid hardens contingency.</a:t>
            </a:r>
          </a:p>
        </p:txBody>
      </p:sp>
      <p:sp>
        <p:nvSpPr>
          <p:cNvPr id="4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PRE-EPC OFFERINGS</a:t>
            </a:r>
          </a:p>
        </p:txBody>
      </p:sp>
      <p:sp>
        <p:nvSpPr>
          <p:cNvPr id="409" name=""/>
          <p:cNvSpPr>
            <a:spLocks noGrp="1"/>
          </p:cNvSpPr>
          <p:nvPr/>
        </p:nvSpPr>
        <p:spPr>
          <a:xfrm>
            <a:off x="719138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0" name=""/>
          <p:cNvSpPr>
            <a:spLocks noGrp="1"/>
          </p:cNvSpPr>
          <p:nvPr/>
        </p:nvSpPr>
        <p:spPr>
          <a:xfrm>
            <a:off x="947738" y="283503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Master planning workshop — conceptual design and interface mapping for complex sites</a:t>
            </a:r>
          </a:p>
        </p:txBody>
      </p:sp>
      <p:sp>
        <p:nvSpPr>
          <p:cNvPr id="411" name=""/>
          <p:cNvSpPr>
            <a:spLocks noGrp="1"/>
          </p:cNvSpPr>
          <p:nvPr/>
        </p:nvSpPr>
        <p:spPr>
          <a:xfrm>
            <a:off x="719138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2" name=""/>
          <p:cNvSpPr>
            <a:spLocks noGrp="1"/>
          </p:cNvSpPr>
          <p:nvPr/>
        </p:nvSpPr>
        <p:spPr>
          <a:xfrm>
            <a:off x="947738" y="342939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cable solution design and electrical spine architecture</a:t>
            </a:r>
          </a:p>
        </p:txBody>
      </p:sp>
      <p:sp>
        <p:nvSpPr>
          <p:cNvPr id="413" name=""/>
          <p:cNvSpPr>
            <a:spLocks noGrp="1"/>
          </p:cNvSpPr>
          <p:nvPr/>
        </p:nvSpPr>
        <p:spPr>
          <a:xfrm>
            <a:off x="719138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4" name=""/>
          <p:cNvSpPr>
            <a:spLocks noGrp="1"/>
          </p:cNvSpPr>
          <p:nvPr/>
        </p:nvSpPr>
        <p:spPr>
          <a:xfrm>
            <a:off x="947738" y="402375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Procurement risk register and schedule visibility</a:t>
            </a:r>
          </a:p>
        </p:txBody>
      </p:sp>
      <p:sp>
        <p:nvSpPr>
          <p:cNvPr id="415" name=""/>
          <p:cNvSpPr>
            <a:spLocks noGrp="1"/>
          </p:cNvSpPr>
          <p:nvPr/>
        </p:nvSpPr>
        <p:spPr>
          <a:xfrm>
            <a:off x="719138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6" name=""/>
          <p:cNvSpPr>
            <a:spLocks noGrp="1"/>
          </p:cNvSpPr>
          <p:nvPr/>
        </p:nvSpPr>
        <p:spPr>
          <a:xfrm>
            <a:off x="947738" y="461811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allocation and commodity (Cu/Al) exposure hedging support</a:t>
            </a:r>
          </a:p>
        </p:txBody>
      </p:sp>
      <p:sp>
        <p:nvSpPr>
          <p:cNvPr id="417" name=""/>
          <p:cNvSpPr>
            <a:spLocks noGrp="1"/>
          </p:cNvSpPr>
          <p:nvPr/>
        </p:nvSpPr>
        <p:spPr>
          <a:xfrm>
            <a:off x="719138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8" name=""/>
          <p:cNvSpPr>
            <a:spLocks noGrp="1"/>
          </p:cNvSpPr>
          <p:nvPr/>
        </p:nvSpPr>
        <p:spPr>
          <a:xfrm>
            <a:off x="947738" y="521247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Domestic supply strategy — U.S.-made resilience for TEF and local-content goals</a:t>
            </a:r>
          </a:p>
        </p:txBody>
      </p:sp>
      <p:sp>
        <p:nvSpPr>
          <p:cNvPr id="4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DOCUMENTATION FOR FINANCE + ESG</a:t>
            </a:r>
          </a:p>
        </p:txBody>
      </p:sp>
      <p:sp>
        <p:nvSpPr>
          <p:cNvPr id="420" name=""/>
          <p:cNvSpPr>
            <a:spLocks noGrp="1"/>
          </p:cNvSpPr>
          <p:nvPr/>
        </p:nvSpPr>
        <p:spPr>
          <a:xfrm>
            <a:off x="6120130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1" name=""/>
          <p:cNvSpPr>
            <a:spLocks noGrp="1"/>
          </p:cNvSpPr>
          <p:nvPr/>
        </p:nvSpPr>
        <p:spPr>
          <a:xfrm>
            <a:off x="6348730" y="283503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Transparent BOMs and cost-allocation records supporting asset classification and depreciation — tax treatment confirmed per project</a:t>
            </a:r>
          </a:p>
        </p:txBody>
      </p:sp>
      <p:sp>
        <p:nvSpPr>
          <p:cNvPr id="422" name=""/>
          <p:cNvSpPr>
            <a:spLocks noGrp="1"/>
          </p:cNvSpPr>
          <p:nvPr/>
        </p:nvSpPr>
        <p:spPr>
          <a:xfrm>
            <a:off x="6120130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3" name=""/>
          <p:cNvSpPr>
            <a:spLocks noGrp="1"/>
          </p:cNvSpPr>
          <p:nvPr/>
        </p:nvSpPr>
        <p:spPr>
          <a:xfrm>
            <a:off x="6348730" y="342939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Verified EPDs for low-embodied-carbon procurement</a:t>
            </a:r>
          </a:p>
        </p:txBody>
      </p:sp>
      <p:sp>
        <p:nvSpPr>
          <p:cNvPr id="424" name=""/>
          <p:cNvSpPr>
            <a:spLocks noGrp="1"/>
          </p:cNvSpPr>
          <p:nvPr/>
        </p:nvSpPr>
        <p:spPr>
          <a:xfrm>
            <a:off x="6120130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5" name=""/>
          <p:cNvSpPr>
            <a:spLocks noGrp="1"/>
          </p:cNvSpPr>
          <p:nvPr/>
        </p:nvSpPr>
        <p:spPr>
          <a:xfrm>
            <a:off x="6348730" y="402375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3 cradle-to-gate carbon data for ESG-linked financing and hyperscaler offtaker requirements</a:t>
            </a:r>
          </a:p>
        </p:txBody>
      </p:sp>
      <p:sp>
        <p:nvSpPr>
          <p:cNvPr id="426" name=""/>
          <p:cNvSpPr>
            <a:spLocks noGrp="1"/>
          </p:cNvSpPr>
          <p:nvPr/>
        </p:nvSpPr>
        <p:spPr>
          <a:xfrm>
            <a:off x="6120130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7" name=""/>
          <p:cNvSpPr>
            <a:spLocks noGrp="1"/>
          </p:cNvSpPr>
          <p:nvPr/>
        </p:nvSpPr>
        <p:spPr>
          <a:xfrm>
            <a:off x="6348730" y="461811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Recycled-content integration and optimized logistics (circular economy)</a:t>
            </a:r>
          </a:p>
        </p:txBody>
      </p:sp>
      <p:sp>
        <p:nvSpPr>
          <p:cNvPr id="428" name=""/>
          <p:cNvSpPr>
            <a:spLocks noGrp="1"/>
          </p:cNvSpPr>
          <p:nvPr/>
        </p:nvSpPr>
        <p:spPr>
          <a:xfrm>
            <a:off x="6120130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9" name=""/>
          <p:cNvSpPr>
            <a:spLocks noGrp="1"/>
          </p:cNvSpPr>
          <p:nvPr/>
        </p:nvSpPr>
        <p:spPr>
          <a:xfrm>
            <a:off x="6348730" y="521247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Auditable domestic-content documentation for TEF and investor reporting</a:t>
            </a:r>
          </a:p>
        </p:txBody>
      </p:sp>
      <p:sp>
        <p:nvSpPr>
          <p:cNvPr id="430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commercial positioning — offerings, documentation and tax applicability are scoped and confirmed per project.</a:t>
            </a:r>
          </a:p>
        </p:txBody>
      </p:sp>
      <p:sp>
        <p:nvSpPr>
          <p:cNvPr id="4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4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COST, SCHEDULE, SOURCING AND CARBON VISIBILITY — BEFORE THE EPC BID PRICES THE UNCERTAINTY AS CONTINGENCY.</a:t>
            </a:r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A11 · CABLE PLATFORM</a:t>
            </a:r>
          </a:p>
        </p:txBody>
      </p:sp>
      <p:sp>
        <p:nvSpPr>
          <p:cNvPr id="5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20</a:t>
            </a:r>
          </a:p>
        </p:txBody>
      </p:sp>
      <p:sp>
        <p:nvSpPr>
          <p:cNvPr id="5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ONE PLATFORM — PLANT SCOPE AND PACKAGED SCOPE</a:t>
            </a:r>
          </a:p>
        </p:txBody>
      </p:sp>
      <p:sp>
        <p:nvSpPr>
          <p:cNvPr id="5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platform from generator to grid — and inside every package.</a:t>
            </a:r>
          </a:p>
        </p:txBody>
      </p:sp>
      <p:sp>
        <p:nvSpPr>
          <p:cNvPr id="5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run in the A3 zone map resolves to a named product family — one supplier, one spec basis, domestic manufacture.</a:t>
            </a:r>
          </a:p>
        </p:txBody>
      </p:sp>
      <p:sp>
        <p:nvSpPr>
          <p:cNvPr id="5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 SCOPE — GENERATOR TO GRID</a:t>
            </a:r>
          </a:p>
        </p:txBody>
      </p:sp>
      <p:sp>
        <p:nvSpPr>
          <p:cNvPr id="509" name=""/>
          <p:cNvSpPr>
            <a:spLocks noGrp="1"/>
          </p:cNvSpPr>
          <p:nvPr/>
        </p:nvSpPr>
        <p:spPr>
          <a:xfrm>
            <a:off x="719138" y="28350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HVUD HIGH-VOLTAGE UNDERGROUND · 69–400 kV</a:t>
            </a:r>
          </a:p>
        </p:txBody>
      </p:sp>
      <p:sp>
        <p:nvSpPr>
          <p:cNvPr id="510" name=""/>
          <p:cNvSpPr>
            <a:spLocks noGrp="1"/>
          </p:cNvSpPr>
          <p:nvPr/>
        </p:nvSpPr>
        <p:spPr>
          <a:xfrm>
            <a:off x="719138" y="30636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XLPE underground interconnect; HVUD3 (138 kV) and HVUD4 (230 kV) carry gen-tie, behind-the-meter and bulk interconnect duty.</a:t>
            </a:r>
          </a:p>
        </p:txBody>
      </p:sp>
      <p:sp>
        <p:nvSpPr>
          <p:cNvPr id="511" name=""/>
          <p:cNvSpPr>
            <a:spLocks noGrp="1"/>
          </p:cNvSpPr>
          <p:nvPr/>
        </p:nvSpPr>
        <p:spPr>
          <a:xfrm>
            <a:off x="719138" y="35208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MV-105 · NL-EPR · 5–35 kV</a:t>
            </a:r>
          </a:p>
        </p:txBody>
      </p:sp>
      <p:sp>
        <p:nvSpPr>
          <p:cNvPr id="512" name=""/>
          <p:cNvSpPr>
            <a:spLocks noGrp="1"/>
          </p:cNvSpPr>
          <p:nvPr/>
        </p:nvSpPr>
        <p:spPr>
          <a:xfrm>
            <a:off x="719138" y="37494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plant collection and auxiliary backbone — 105°C rated, low-friction jacket, tray and duct-bank installation economics.</a:t>
            </a:r>
          </a:p>
        </p:txBody>
      </p:sp>
      <p:sp>
        <p:nvSpPr>
          <p:cNvPr id="513" name=""/>
          <p:cNvSpPr>
            <a:spLocks noGrp="1"/>
          </p:cNvSpPr>
          <p:nvPr/>
        </p:nvSpPr>
        <p:spPr>
          <a:xfrm>
            <a:off x="719138" y="42066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LV 600 V POWER, CONTROL &amp; BUILDING WIRE</a:t>
            </a:r>
          </a:p>
        </p:txBody>
      </p:sp>
      <p:sp>
        <p:nvSpPr>
          <p:cNvPr id="514" name=""/>
          <p:cNvSpPr>
            <a:spLocks noGrp="1"/>
          </p:cNvSpPr>
          <p:nvPr/>
        </p:nvSpPr>
        <p:spPr>
          <a:xfrm>
            <a:off x="719138" y="44352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Feeders, motor circuits and unit auxiliary distribution across the plant.</a:t>
            </a:r>
          </a:p>
        </p:txBody>
      </p:sp>
      <p:sp>
        <p:nvSpPr>
          <p:cNvPr id="515" name=""/>
          <p:cNvSpPr>
            <a:spLocks noGrp="1"/>
          </p:cNvSpPr>
          <p:nvPr/>
        </p:nvSpPr>
        <p:spPr>
          <a:xfrm>
            <a:off x="719138" y="48924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I&amp;C, COMMS &amp; TRANSMISSION CONDUCTOR</a:t>
            </a:r>
          </a:p>
        </p:txBody>
      </p:sp>
      <p:sp>
        <p:nvSpPr>
          <p:cNvPr id="516" name=""/>
          <p:cNvSpPr>
            <a:spLocks noGrp="1"/>
          </p:cNvSpPr>
          <p:nvPr/>
        </p:nvSpPr>
        <p:spPr>
          <a:xfrm>
            <a:off x="719138" y="51210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DCS, protection and metering cable; industrial Ethernet and fiber; ACSR / ACSS / OPGW where overhead is the route.</a:t>
            </a:r>
          </a:p>
        </p:txBody>
      </p:sp>
      <p:sp>
        <p:nvSpPr>
          <p:cNvPr id="517" name=""/>
          <p:cNvSpPr>
            <a:spLocks noGrp="1"/>
          </p:cNvSpPr>
          <p:nvPr/>
        </p:nvSpPr>
        <p:spPr>
          <a:xfrm>
            <a:off x="719138" y="5578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GROUNDING &amp; BONDING</a:t>
            </a:r>
          </a:p>
        </p:txBody>
      </p:sp>
      <p:sp>
        <p:nvSpPr>
          <p:cNvPr id="518" name=""/>
          <p:cNvSpPr>
            <a:spLocks noGrp="1"/>
          </p:cNvSpPr>
          <p:nvPr/>
        </p:nvSpPr>
        <p:spPr>
          <a:xfrm>
            <a:off x="719138" y="58068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Bare copper and bonding conductor — the grid that ties the whole electrical system to earth.</a:t>
            </a:r>
          </a:p>
        </p:txBody>
      </p:sp>
      <p:sp>
        <p:nvSpPr>
          <p:cNvPr id="5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PACKAGED &amp; MODULAR SCOPE — 8 APPLICATION FAMILIES</a:t>
            </a:r>
          </a:p>
        </p:txBody>
      </p:sp>
      <p:sp>
        <p:nvSpPr>
          <p:cNvPr id="520" name=""/>
          <p:cNvSpPr>
            <a:spLocks noGrp="1"/>
          </p:cNvSpPr>
          <p:nvPr/>
        </p:nvSpPr>
        <p:spPr>
          <a:xfrm>
            <a:off x="6120130" y="28350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2.4–35 kV AND 600 V–2 kV · BUY AMERICA</a:t>
            </a:r>
          </a:p>
        </p:txBody>
      </p:sp>
      <p:sp>
        <p:nvSpPr>
          <p:cNvPr id="521" name=""/>
          <p:cNvSpPr>
            <a:spLocks noGrp="1"/>
          </p:cNvSpPr>
          <p:nvPr/>
        </p:nvSpPr>
        <p:spPr>
          <a:xfrm>
            <a:off x="6120130" y="30636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wire and cable application that lives inside — or connects — factory-built power packages, kitted to build sequence.</a:t>
            </a:r>
          </a:p>
        </p:txBody>
      </p:sp>
      <p:sp>
        <p:nvSpPr>
          <p:cNvPr id="522" name=""/>
          <p:cNvSpPr>
            <a:spLocks noGrp="1"/>
          </p:cNvSpPr>
          <p:nvPr/>
        </p:nvSpPr>
        <p:spPr>
          <a:xfrm>
            <a:off x="6120130" y="35208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E-HOUSES · CONTAINERIZED SUBSTATIONS · SWITCHGEAR</a:t>
            </a:r>
          </a:p>
        </p:txBody>
      </p:sp>
      <p:sp>
        <p:nvSpPr>
          <p:cNvPr id="523" name=""/>
          <p:cNvSpPr>
            <a:spLocks noGrp="1"/>
          </p:cNvSpPr>
          <p:nvPr/>
        </p:nvSpPr>
        <p:spPr>
          <a:xfrm>
            <a:off x="6120130" y="37494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Power control rooms, MV switchgear lineups, LV switchboard and MCC packages.</a:t>
            </a:r>
          </a:p>
        </p:txBody>
      </p:sp>
      <p:sp>
        <p:nvSpPr>
          <p:cNvPr id="524" name=""/>
          <p:cNvSpPr>
            <a:spLocks noGrp="1"/>
          </p:cNvSpPr>
          <p:nvPr/>
        </p:nvSpPr>
        <p:spPr>
          <a:xfrm>
            <a:off x="6120130" y="42066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TRANSFORMER · BESS · GENSET · PROCESS SKIDS</a:t>
            </a:r>
          </a:p>
        </p:txBody>
      </p:sp>
      <p:sp>
        <p:nvSpPr>
          <p:cNvPr id="525" name=""/>
          <p:cNvSpPr>
            <a:spLocks noGrp="1"/>
          </p:cNvSpPr>
          <p:nvPr/>
        </p:nvSpPr>
        <p:spPr>
          <a:xfrm>
            <a:off x="6120130" y="44352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Transformer packages, BESS containers, generator packages and process / pump skids.</a:t>
            </a:r>
          </a:p>
        </p:txBody>
      </p:sp>
      <p:sp>
        <p:nvSpPr>
          <p:cNvPr id="526" name=""/>
          <p:cNvSpPr>
            <a:spLocks noGrp="1"/>
          </p:cNvSpPr>
          <p:nvPr/>
        </p:nvSpPr>
        <p:spPr>
          <a:xfrm>
            <a:off x="6120130" y="48924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SIMPULL, PRE-CUTS &amp; KITTING</a:t>
            </a:r>
          </a:p>
        </p:txBody>
      </p:sp>
      <p:sp>
        <p:nvSpPr>
          <p:cNvPr id="527" name=""/>
          <p:cNvSpPr>
            <a:spLocks noGrp="1"/>
          </p:cNvSpPr>
          <p:nvPr/>
        </p:nvSpPr>
        <p:spPr>
          <a:xfrm>
            <a:off x="6120130" y="51210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Low-friction pulling technology, cut-to-length labeled reels and staged kits — energization-ready, less field labor.</a:t>
            </a:r>
          </a:p>
        </p:txBody>
      </p:sp>
      <p:sp>
        <p:nvSpPr>
          <p:cNvPr id="528" name=""/>
          <p:cNvSpPr>
            <a:spLocks noGrp="1"/>
          </p:cNvSpPr>
          <p:nvPr/>
        </p:nvSpPr>
        <p:spPr>
          <a:xfrm>
            <a:off x="6120130" y="5578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SUPPLIER, WHOLE PACKAGE</a:t>
            </a:r>
          </a:p>
        </p:txBody>
      </p:sp>
      <p:sp>
        <p:nvSpPr>
          <p:cNvPr id="529" name=""/>
          <p:cNvSpPr>
            <a:spLocks noGrp="1"/>
          </p:cNvSpPr>
          <p:nvPr/>
        </p:nvSpPr>
        <p:spPr>
          <a:xfrm>
            <a:off x="6120130" y="58068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MV, LV, control, VFD, grounding, data and DC from a single domestic source — one procurement line item per package.</a:t>
            </a:r>
          </a:p>
        </p:txBody>
      </p:sp>
      <p:sp>
        <p:nvSpPr>
          <p:cNvPr id="530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TWO LEAVE-BEHIND CATALOGUES ACCOMPANY THIS DECK — IPP CABLE CATALOGUE (PLANT) · PACKAGED POWER E-CATALOGUE (SKIDS).</a:t>
            </a:r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32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33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34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A12 · OPERATING FLEET</a:t>
            </a:r>
          </a:p>
        </p:txBody>
      </p:sp>
      <p:sp>
        <p:nvSpPr>
          <p:cNvPr id="535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21</a:t>
            </a:r>
          </a:p>
        </p:txBody>
      </p:sp>
      <p:sp>
        <p:nvSpPr>
          <p:cNvPr id="536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REJUVENATION, BROWNFIELD &amp; SERVICE — FOR THE 25.8 GW FLEET</a:t>
            </a:r>
          </a:p>
        </p:txBody>
      </p:sp>
      <p:sp>
        <p:nvSpPr>
          <p:cNvPr id="537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Extend asset life without a greenfield rebuild.</a:t>
            </a:r>
          </a:p>
        </p:txBody>
      </p:sp>
      <p:sp>
        <p:nvSpPr>
          <p:cNvPr id="538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Aging cable systems, upgrades and modular additions across an operating fleet — planned around outage schedules, while the plant stays available.</a:t>
            </a:r>
          </a:p>
        </p:txBody>
      </p:sp>
      <p:sp>
        <p:nvSpPr>
          <p:cNvPr id="539" name=""/>
          <p:cNvSpPr>
            <a:spLocks noGrp="1"/>
          </p:cNvSpPr>
          <p:nvPr/>
        </p:nvSpPr>
        <p:spPr>
          <a:xfrm>
            <a:off x="719138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0" name=""/>
          <p:cNvSpPr>
            <a:spLocks noGrp="1"/>
          </p:cNvSpPr>
          <p:nvPr/>
        </p:nvSpPr>
        <p:spPr>
          <a:xfrm>
            <a:off x="947738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ELECTRICAL SPINE REJUVENATION</a:t>
            </a:r>
          </a:p>
        </p:txBody>
      </p:sp>
      <p:sp>
        <p:nvSpPr>
          <p:cNvPr id="541" name=""/>
          <p:cNvSpPr>
            <a:spLocks noGrp="1"/>
          </p:cNvSpPr>
          <p:nvPr/>
        </p:nvSpPr>
        <p:spPr>
          <a:xfrm>
            <a:off x="947738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Assessment, planning and phased replacement of aging MV / LV cable, grounding, tray and fiber — while the plant remains operational.</a:t>
            </a:r>
          </a:p>
        </p:txBody>
      </p:sp>
      <p:sp>
        <p:nvSpPr>
          <p:cNvPr id="542" name=""/>
          <p:cNvSpPr>
            <a:spLocks noGrp="1"/>
          </p:cNvSpPr>
          <p:nvPr/>
        </p:nvSpPr>
        <p:spPr>
          <a:xfrm>
            <a:off x="6235130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3" name=""/>
          <p:cNvSpPr>
            <a:spLocks noGrp="1"/>
          </p:cNvSpPr>
          <p:nvPr/>
        </p:nvSpPr>
        <p:spPr>
          <a:xfrm>
            <a:off x="6463730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CABLE REPLACEMENT PROGRAMS</a:t>
            </a:r>
          </a:p>
        </p:txBody>
      </p:sp>
      <p:sp>
        <p:nvSpPr>
          <p:cNvPr id="544" name=""/>
          <p:cNvSpPr>
            <a:spLocks noGrp="1"/>
          </p:cNvSpPr>
          <p:nvPr/>
        </p:nvSpPr>
        <p:spPr>
          <a:xfrm>
            <a:off x="6463730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Fast-track domestic supply of power, control and instrumentation cable for planned outages or emergency replacement.</a:t>
            </a:r>
          </a:p>
        </p:txBody>
      </p:sp>
      <p:sp>
        <p:nvSpPr>
          <p:cNvPr id="545" name=""/>
          <p:cNvSpPr>
            <a:spLocks noGrp="1"/>
          </p:cNvSpPr>
          <p:nvPr/>
        </p:nvSpPr>
        <p:spPr>
          <a:xfrm>
            <a:off x="719138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6" name=""/>
          <p:cNvSpPr>
            <a:spLocks noGrp="1"/>
          </p:cNvSpPr>
          <p:nvPr/>
        </p:nvSpPr>
        <p:spPr>
          <a:xfrm>
            <a:off x="947738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BROWNFIELD UPGRADES &amp; REPOWER</a:t>
            </a:r>
          </a:p>
        </p:txBody>
      </p:sp>
      <p:sp>
        <p:nvSpPr>
          <p:cNvPr id="547" name=""/>
          <p:cNvSpPr>
            <a:spLocks noGrp="1"/>
          </p:cNvSpPr>
          <p:nvPr/>
        </p:nvSpPr>
        <p:spPr>
          <a:xfrm>
            <a:off x="947738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scope for turbine upgrades, generator replacements, emissions retrofits and balance-of-plant modernization.</a:t>
            </a:r>
          </a:p>
        </p:txBody>
      </p:sp>
      <p:sp>
        <p:nvSpPr>
          <p:cNvPr id="548" name=""/>
          <p:cNvSpPr>
            <a:spLocks noGrp="1"/>
          </p:cNvSpPr>
          <p:nvPr/>
        </p:nvSpPr>
        <p:spPr>
          <a:xfrm>
            <a:off x="6235130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9" name=""/>
          <p:cNvSpPr>
            <a:spLocks noGrp="1"/>
          </p:cNvSpPr>
          <p:nvPr/>
        </p:nvSpPr>
        <p:spPr>
          <a:xfrm>
            <a:off x="6463730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POWER ADDITIONS</a:t>
            </a:r>
          </a:p>
        </p:txBody>
      </p:sp>
      <p:sp>
        <p:nvSpPr>
          <p:cNvPr id="550" name=""/>
          <p:cNvSpPr>
            <a:spLocks noGrp="1"/>
          </p:cNvSpPr>
          <p:nvPr/>
        </p:nvSpPr>
        <p:spPr>
          <a:xfrm>
            <a:off x="6463730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E-houses, skids, switchgear, UPS and black-start capability — auxiliary loads or new behind-the-meter offtakers.</a:t>
            </a:r>
          </a:p>
        </p:txBody>
      </p:sp>
      <p:sp>
        <p:nvSpPr>
          <p:cNvPr id="551" name=""/>
          <p:cNvSpPr>
            <a:spLocks noGrp="1"/>
          </p:cNvSpPr>
          <p:nvPr/>
        </p:nvSpPr>
        <p:spPr>
          <a:xfrm>
            <a:off x="719138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2" name=""/>
          <p:cNvSpPr>
            <a:spLocks noGrp="1"/>
          </p:cNvSpPr>
          <p:nvPr/>
        </p:nvSpPr>
        <p:spPr>
          <a:xfrm>
            <a:off x="947738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RELIABILITY &amp; CONDITION SUPPORT</a:t>
            </a:r>
          </a:p>
        </p:txBody>
      </p:sp>
      <p:sp>
        <p:nvSpPr>
          <p:cNvPr id="553" name=""/>
          <p:cNvSpPr>
            <a:spLocks noGrp="1"/>
          </p:cNvSpPr>
          <p:nvPr/>
        </p:nvSpPr>
        <p:spPr>
          <a:xfrm>
            <a:off x="947738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System assessments, thermal-imaging coordination, failure analysis and prioritized replacement planning.</a:t>
            </a:r>
          </a:p>
        </p:txBody>
      </p:sp>
      <p:sp>
        <p:nvSpPr>
          <p:cNvPr id="554" name=""/>
          <p:cNvSpPr>
            <a:spLocks noGrp="1"/>
          </p:cNvSpPr>
          <p:nvPr/>
        </p:nvSpPr>
        <p:spPr>
          <a:xfrm>
            <a:off x="6235130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5" name=""/>
          <p:cNvSpPr>
            <a:spLocks noGrp="1"/>
          </p:cNvSpPr>
          <p:nvPr/>
        </p:nvSpPr>
        <p:spPr>
          <a:xfrm>
            <a:off x="6463730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SERVICE &amp; LONG-TERM AGREEMENTS</a:t>
            </a:r>
          </a:p>
        </p:txBody>
      </p:sp>
      <p:sp>
        <p:nvSpPr>
          <p:cNvPr id="556" name=""/>
          <p:cNvSpPr>
            <a:spLocks noGrp="1"/>
          </p:cNvSpPr>
          <p:nvPr/>
        </p:nvSpPr>
        <p:spPr>
          <a:xfrm>
            <a:off x="6463730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Support contracts, inventory programs and rapid-response replacement capability for operating fleets.</a:t>
            </a:r>
          </a:p>
        </p:txBody>
      </p:sp>
      <p:sp>
        <p:nvSpPr>
          <p:cNvPr id="557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Engagements begin with one focused 60–90 minute session across the fleet, then tailored proposals per plant — phased to outage schedules.</a:t>
            </a:r>
          </a:p>
        </p:txBody>
      </p:sp>
      <p:sp>
        <p:nvSpPr>
          <p:cNvPr id="55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5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MINIMIZED DOWNTIME · EXTENDED ASSET LIFE · LOWER TOTAL COST THAN FULL REPLACEMENT — PHASED TO OUTAGE SCHEDULES.</a:t>
            </a:r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7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7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A13 · BENCHMARK MATH</a:t>
            </a:r>
          </a:p>
        </p:txBody>
      </p:sp>
      <p:sp>
        <p:nvSpPr>
          <p:cNvPr id="7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22</a:t>
            </a:r>
          </a:p>
        </p:txBody>
      </p:sp>
      <p:sp>
        <p:nvSpPr>
          <p:cNvPr id="7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GROSS FIELD-LABOR MATH — PER CENTRAL SPINE</a:t>
            </a:r>
          </a:p>
        </p:txBody>
      </p:sp>
      <p:sp>
        <p:nvSpPr>
          <p:cNvPr id="7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the 4,400 → 880 hours are worth, before net.</a:t>
            </a:r>
          </a:p>
        </p:txBody>
      </p:sp>
      <p:sp>
        <p:nvSpPr>
          <p:cNvPr id="7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arithmetic behind slide 7, at a $95/hr fully burdened field-labor rate. This is the template A5 requires to be rebuilt with NRG inputs — not a result.</a:t>
            </a:r>
          </a:p>
        </p:txBody>
      </p:sp>
      <p:sp>
        <p:nvSpPr>
          <p:cNvPr id="708" name=""/>
          <p:cNvSpPr>
            <a:spLocks noGrp="1"/>
          </p:cNvSpPr>
          <p:nvPr/>
        </p:nvSpPr>
        <p:spPr>
          <a:xfrm>
            <a:off x="719138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709" name=""/>
          <p:cNvSpPr>
            <a:spLocks noGrp="1"/>
          </p:cNvSpPr>
          <p:nvPr/>
        </p:nvSpPr>
        <p:spPr>
          <a:xfrm>
            <a:off x="947738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TODAY · FIELD-BUILT</a:t>
            </a:r>
          </a:p>
        </p:txBody>
      </p:sp>
      <p:sp>
        <p:nvSpPr>
          <p:cNvPr id="710" name=""/>
          <p:cNvSpPr>
            <a:spLocks noGrp="1"/>
          </p:cNvSpPr>
          <p:nvPr/>
        </p:nvSpPr>
        <p:spPr>
          <a:xfrm>
            <a:off x="947738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$418,000</a:t>
            </a:r>
          </a:p>
        </p:txBody>
      </p:sp>
      <p:sp>
        <p:nvSpPr>
          <p:cNvPr id="711" name=""/>
          <p:cNvSpPr>
            <a:spLocks noGrp="1"/>
          </p:cNvSpPr>
          <p:nvPr/>
        </p:nvSpPr>
        <p:spPr>
          <a:xfrm>
            <a:off x="947738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712" name=""/>
          <p:cNvSpPr>
            <a:spLocks noGrp="1"/>
          </p:cNvSpPr>
          <p:nvPr/>
        </p:nvSpPr>
        <p:spPr>
          <a:xfrm>
            <a:off x="947738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4,400 man-hours × $95/hr</a:t>
            </a:r>
          </a:p>
        </p:txBody>
      </p:sp>
      <p:sp>
        <p:nvSpPr>
          <p:cNvPr id="713" name=""/>
          <p:cNvSpPr>
            <a:spLocks noGrp="1"/>
          </p:cNvSpPr>
          <p:nvPr/>
        </p:nvSpPr>
        <p:spPr>
          <a:xfrm>
            <a:off x="947738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27 installers × 2 shifts × 2 weeks</a:t>
            </a:r>
          </a:p>
        </p:txBody>
      </p:sp>
      <p:sp>
        <p:nvSpPr>
          <p:cNvPr id="714" name=""/>
          <p:cNvSpPr>
            <a:spLocks noGrp="1"/>
          </p:cNvSpPr>
          <p:nvPr/>
        </p:nvSpPr>
        <p:spPr>
          <a:xfrm>
            <a:off x="947738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High variability, rework risk</a:t>
            </a:r>
          </a:p>
        </p:txBody>
      </p:sp>
      <p:sp>
        <p:nvSpPr>
          <p:cNvPr id="715" name=""/>
          <p:cNvSpPr>
            <a:spLocks noGrp="1"/>
          </p:cNvSpPr>
          <p:nvPr/>
        </p:nvSpPr>
        <p:spPr>
          <a:xfrm>
            <a:off x="4406546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716" name=""/>
          <p:cNvSpPr>
            <a:spLocks noGrp="1"/>
          </p:cNvSpPr>
          <p:nvPr/>
        </p:nvSpPr>
        <p:spPr>
          <a:xfrm>
            <a:off x="4635146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WITH CONNECTORIZED ASSEMBLY</a:t>
            </a:r>
          </a:p>
        </p:txBody>
      </p:sp>
      <p:sp>
        <p:nvSpPr>
          <p:cNvPr id="717" name=""/>
          <p:cNvSpPr>
            <a:spLocks noGrp="1"/>
          </p:cNvSpPr>
          <p:nvPr/>
        </p:nvSpPr>
        <p:spPr>
          <a:xfrm>
            <a:off x="4635146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$83,600</a:t>
            </a:r>
          </a:p>
        </p:txBody>
      </p:sp>
      <p:sp>
        <p:nvSpPr>
          <p:cNvPr id="718" name=""/>
          <p:cNvSpPr>
            <a:spLocks noGrp="1"/>
          </p:cNvSpPr>
          <p:nvPr/>
        </p:nvSpPr>
        <p:spPr>
          <a:xfrm>
            <a:off x="4635146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719" name=""/>
          <p:cNvSpPr>
            <a:spLocks noGrp="1"/>
          </p:cNvSpPr>
          <p:nvPr/>
        </p:nvSpPr>
        <p:spPr>
          <a:xfrm>
            <a:off x="4635146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~880 man-hours × $95/hr</a:t>
            </a:r>
          </a:p>
        </p:txBody>
      </p:sp>
      <p:sp>
        <p:nvSpPr>
          <p:cNvPr id="720" name=""/>
          <p:cNvSpPr>
            <a:spLocks noGrp="1"/>
          </p:cNvSpPr>
          <p:nvPr/>
        </p:nvSpPr>
        <p:spPr>
          <a:xfrm>
            <a:off x="4635146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~6 installers × 1 shift × ~3 days</a:t>
            </a:r>
          </a:p>
        </p:txBody>
      </p:sp>
      <p:sp>
        <p:nvSpPr>
          <p:cNvPr id="721" name=""/>
          <p:cNvSpPr>
            <a:spLocks noGrp="1"/>
          </p:cNvSpPr>
          <p:nvPr/>
        </p:nvSpPr>
        <p:spPr>
          <a:xfrm>
            <a:off x="4635146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Factory-validated, plug-and-play</a:t>
            </a:r>
          </a:p>
        </p:txBody>
      </p:sp>
      <p:sp>
        <p:nvSpPr>
          <p:cNvPr id="722" name=""/>
          <p:cNvSpPr>
            <a:spLocks noGrp="1"/>
          </p:cNvSpPr>
          <p:nvPr/>
        </p:nvSpPr>
        <p:spPr>
          <a:xfrm>
            <a:off x="8093954" y="2560320"/>
            <a:ext cx="3378908" cy="26060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723" name=""/>
          <p:cNvSpPr>
            <a:spLocks noGrp="1"/>
          </p:cNvSpPr>
          <p:nvPr/>
        </p:nvSpPr>
        <p:spPr>
          <a:xfrm>
            <a:off x="8322554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GROSS DELTA PER SPINE</a:t>
            </a:r>
          </a:p>
        </p:txBody>
      </p:sp>
      <p:sp>
        <p:nvSpPr>
          <p:cNvPr id="724" name=""/>
          <p:cNvSpPr>
            <a:spLocks noGrp="1"/>
          </p:cNvSpPr>
          <p:nvPr/>
        </p:nvSpPr>
        <p:spPr>
          <a:xfrm>
            <a:off x="8322554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$334K</a:t>
            </a:r>
          </a:p>
        </p:txBody>
      </p:sp>
      <p:sp>
        <p:nvSpPr>
          <p:cNvPr id="725" name=""/>
          <p:cNvSpPr>
            <a:spLocks noGrp="1"/>
          </p:cNvSpPr>
          <p:nvPr/>
        </p:nvSpPr>
        <p:spPr>
          <a:xfrm>
            <a:off x="8322554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~80% of field-labor cost</a:t>
            </a:r>
          </a:p>
        </p:txBody>
      </p:sp>
      <p:sp>
        <p:nvSpPr>
          <p:cNvPr id="726" name=""/>
          <p:cNvSpPr>
            <a:spLocks noGrp="1"/>
          </p:cNvSpPr>
          <p:nvPr/>
        </p:nvSpPr>
        <p:spPr>
          <a:xfrm>
            <a:off x="8322554" y="411480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IF IT REPEATS (GROSS, ILLUSTRATIVE)</a:t>
            </a:r>
          </a:p>
        </p:txBody>
      </p:sp>
      <p:sp>
        <p:nvSpPr>
          <p:cNvPr id="727" name=""/>
          <p:cNvSpPr>
            <a:spLocks noGrp="1"/>
          </p:cNvSpPr>
          <p:nvPr/>
        </p:nvSpPr>
        <p:spPr>
          <a:xfrm>
            <a:off x="8322554" y="43891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spines  →  $3.3M</a:t>
            </a:r>
          </a:p>
        </p:txBody>
      </p:sp>
      <p:sp>
        <p:nvSpPr>
          <p:cNvPr id="728" name=""/>
          <p:cNvSpPr>
            <a:spLocks noGrp="1"/>
          </p:cNvSpPr>
          <p:nvPr/>
        </p:nvSpPr>
        <p:spPr>
          <a:xfrm>
            <a:off x="8322554" y="4617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50 spines  →  $16.7M</a:t>
            </a:r>
          </a:p>
        </p:txBody>
      </p:sp>
      <p:sp>
        <p:nvSpPr>
          <p:cNvPr id="729" name=""/>
          <p:cNvSpPr>
            <a:spLocks noGrp="1"/>
          </p:cNvSpPr>
          <p:nvPr/>
        </p:nvSpPr>
        <p:spPr>
          <a:xfrm>
            <a:off x="8322554" y="48463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100 spines  →  $33.4M</a:t>
            </a:r>
          </a:p>
        </p:txBody>
      </p:sp>
      <p:sp>
        <p:nvSpPr>
          <p:cNvPr id="730" name=""/>
          <p:cNvSpPr>
            <a:spLocks noGrp="1"/>
          </p:cNvSpPr>
          <p:nvPr/>
        </p:nvSpPr>
        <p:spPr>
          <a:xfrm>
            <a:off x="719138" y="534924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ASSUMPTIONS  ·  $95/hr fully burdened (wage + benefits + overtime + supervision)  ·  4,400 hours observed on one site-built spine in an adjacent market, May 2026  ·  ~80% field-labor reduction typical for prefabricated interconnect  ·  one spine = one central electrical spine serving repeated generation modules.</a:t>
            </a:r>
          </a:p>
        </p:txBody>
      </p:sp>
      <p:sp>
        <p:nvSpPr>
          <p:cNvPr id="731" name=""/>
          <p:cNvSpPr>
            <a:spLocks noGrp="1"/>
          </p:cNvSpPr>
          <p:nvPr/>
        </p:nvSpPr>
        <p:spPr>
          <a:xfrm>
            <a:off x="719138" y="585216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NOT NET.  Subtract the assembly premium, engineering, factory labor, freight, factory acceptance and commissioning — and prefabrication does not automatically remove an activity from the critical path.</a:t>
            </a:r>
          </a:p>
        </p:txBody>
      </p:sp>
      <p:sp>
        <p:nvSpPr>
          <p:cNvPr id="7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7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GROSS TEMPLATE ONLY — REBUILD WITH NRG SCOPE, LABOR RATES AND SCHEDULE LOGIC BEFORE ANY CLAIM (SEE A5).</a:t>
            </a:r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9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9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A14 · MODULAR ECONOMICS</a:t>
            </a:r>
          </a:p>
        </p:txBody>
      </p:sp>
      <p:sp>
        <p:nvSpPr>
          <p:cNvPr id="9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23</a:t>
            </a:r>
          </a:p>
        </p:txBody>
      </p:sp>
      <p:sp>
        <p:nvSpPr>
          <p:cNvPr id="9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SECOND CASE — DEPLOYMENT-BLOCK SCALE</a:t>
            </a:r>
          </a:p>
        </p:txBody>
      </p:sp>
      <p:sp>
        <p:nvSpPr>
          <p:cNvPr id="9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same mechanism at package scale, from a different market.</a:t>
            </a:r>
          </a:p>
        </p:txBody>
      </p:sp>
      <p:sp>
        <p:nvSpPr>
          <p:cNvPr id="9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An illustrative 50 MW distribution-skid deployment block, modeled independently of A13. Two cases, two markets, one mechanism: onsite hours moved into the factory.</a:t>
            </a:r>
          </a:p>
        </p:txBody>
      </p:sp>
      <p:sp>
        <p:nvSpPr>
          <p:cNvPr id="908" name=""/>
          <p:cNvSpPr>
            <a:spLocks noGrp="1"/>
          </p:cNvSpPr>
          <p:nvPr/>
        </p:nvSpPr>
        <p:spPr>
          <a:xfrm>
            <a:off x="719138" y="2377440"/>
            <a:ext cx="3378908" cy="2469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909" name=""/>
          <p:cNvSpPr>
            <a:spLocks noGrp="1"/>
          </p:cNvSpPr>
          <p:nvPr/>
        </p:nvSpPr>
        <p:spPr>
          <a:xfrm>
            <a:off x="947738" y="2606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TRADITIONAL FIELD BUILD</a:t>
            </a:r>
          </a:p>
        </p:txBody>
      </p:sp>
      <p:sp>
        <p:nvSpPr>
          <p:cNvPr id="910" name=""/>
          <p:cNvSpPr>
            <a:spLocks noGrp="1"/>
          </p:cNvSpPr>
          <p:nvPr/>
        </p:nvSpPr>
        <p:spPr>
          <a:xfrm>
            <a:off x="947738" y="2880360"/>
            <a:ext cx="2921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8–12 wks</a:t>
            </a:r>
          </a:p>
        </p:txBody>
      </p:sp>
      <p:sp>
        <p:nvSpPr>
          <p:cNvPr id="911" name=""/>
          <p:cNvSpPr>
            <a:spLocks noGrp="1"/>
          </p:cNvSpPr>
          <p:nvPr/>
        </p:nvSpPr>
        <p:spPr>
          <a:xfrm>
            <a:off x="947738" y="3474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 + commissioning</a:t>
            </a:r>
          </a:p>
        </p:txBody>
      </p:sp>
      <p:sp>
        <p:nvSpPr>
          <p:cNvPr id="912" name=""/>
          <p:cNvSpPr>
            <a:spLocks noGrp="1"/>
          </p:cNvSpPr>
          <p:nvPr/>
        </p:nvSpPr>
        <p:spPr>
          <a:xfrm>
            <a:off x="947738" y="37947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15 electricians × 10 weeks</a:t>
            </a:r>
          </a:p>
        </p:txBody>
      </p:sp>
      <p:sp>
        <p:nvSpPr>
          <p:cNvPr id="913" name=""/>
          <p:cNvSpPr>
            <a:spLocks noGrp="1"/>
          </p:cNvSpPr>
          <p:nvPr/>
        </p:nvSpPr>
        <p:spPr>
          <a:xfrm>
            <a:off x="947738" y="406908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~$1.1M–$1.5M field labor</a:t>
            </a:r>
          </a:p>
        </p:txBody>
      </p:sp>
      <p:sp>
        <p:nvSpPr>
          <p:cNvPr id="914" name=""/>
          <p:cNvSpPr>
            <a:spLocks noGrp="1"/>
          </p:cNvSpPr>
          <p:nvPr/>
        </p:nvSpPr>
        <p:spPr>
          <a:xfrm>
            <a:off x="947738" y="434340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Weather, rework, multi-trade risk</a:t>
            </a:r>
          </a:p>
        </p:txBody>
      </p:sp>
      <p:sp>
        <p:nvSpPr>
          <p:cNvPr id="915" name=""/>
          <p:cNvSpPr>
            <a:spLocks noGrp="1"/>
          </p:cNvSpPr>
          <p:nvPr/>
        </p:nvSpPr>
        <p:spPr>
          <a:xfrm>
            <a:off x="4406546" y="2377440"/>
            <a:ext cx="3378908" cy="24695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916" name=""/>
          <p:cNvSpPr>
            <a:spLocks noGrp="1"/>
          </p:cNvSpPr>
          <p:nvPr/>
        </p:nvSpPr>
        <p:spPr>
          <a:xfrm>
            <a:off x="4635146" y="2606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WITH PREFABRICATED CABLE</a:t>
            </a:r>
          </a:p>
        </p:txBody>
      </p:sp>
      <p:sp>
        <p:nvSpPr>
          <p:cNvPr id="917" name=""/>
          <p:cNvSpPr>
            <a:spLocks noGrp="1"/>
          </p:cNvSpPr>
          <p:nvPr/>
        </p:nvSpPr>
        <p:spPr>
          <a:xfrm>
            <a:off x="4635146" y="2880360"/>
            <a:ext cx="2921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2–4 wks</a:t>
            </a:r>
          </a:p>
        </p:txBody>
      </p:sp>
      <p:sp>
        <p:nvSpPr>
          <p:cNvPr id="918" name=""/>
          <p:cNvSpPr>
            <a:spLocks noGrp="1"/>
          </p:cNvSpPr>
          <p:nvPr/>
        </p:nvSpPr>
        <p:spPr>
          <a:xfrm>
            <a:off x="4635146" y="3474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 + commissioning</a:t>
            </a:r>
          </a:p>
        </p:txBody>
      </p:sp>
      <p:sp>
        <p:nvSpPr>
          <p:cNvPr id="919" name=""/>
          <p:cNvSpPr>
            <a:spLocks noGrp="1"/>
          </p:cNvSpPr>
          <p:nvPr/>
        </p:nvSpPr>
        <p:spPr>
          <a:xfrm>
            <a:off x="4635146" y="37947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40–60% fewer onsite labor hours</a:t>
            </a:r>
          </a:p>
        </p:txBody>
      </p:sp>
      <p:sp>
        <p:nvSpPr>
          <p:cNvPr id="920" name=""/>
          <p:cNvSpPr>
            <a:spLocks noGrp="1"/>
          </p:cNvSpPr>
          <p:nvPr/>
        </p:nvSpPr>
        <p:spPr>
          <a:xfrm>
            <a:off x="4635146" y="406908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Pre-tested, pre-labeled harnesses</a:t>
            </a:r>
          </a:p>
        </p:txBody>
      </p:sp>
      <p:sp>
        <p:nvSpPr>
          <p:cNvPr id="921" name=""/>
          <p:cNvSpPr>
            <a:spLocks noGrp="1"/>
          </p:cNvSpPr>
          <p:nvPr/>
        </p:nvSpPr>
        <p:spPr>
          <a:xfrm>
            <a:off x="4635146" y="434340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Plug-and-play modular connections</a:t>
            </a:r>
          </a:p>
        </p:txBody>
      </p:sp>
      <p:sp>
        <p:nvSpPr>
          <p:cNvPr id="922" name=""/>
          <p:cNvSpPr>
            <a:spLocks noGrp="1"/>
          </p:cNvSpPr>
          <p:nvPr/>
        </p:nvSpPr>
        <p:spPr>
          <a:xfrm>
            <a:off x="8093954" y="2377440"/>
            <a:ext cx="3378908" cy="24695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923" name=""/>
          <p:cNvSpPr>
            <a:spLocks noGrp="1"/>
          </p:cNvSpPr>
          <p:nvPr/>
        </p:nvSpPr>
        <p:spPr>
          <a:xfrm>
            <a:off x="8322554" y="2606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GAIN PER DEPLOYMENT BLOCK</a:t>
            </a:r>
          </a:p>
        </p:txBody>
      </p:sp>
      <p:sp>
        <p:nvSpPr>
          <p:cNvPr id="924" name=""/>
          <p:cNvSpPr>
            <a:spLocks noGrp="1"/>
          </p:cNvSpPr>
          <p:nvPr/>
        </p:nvSpPr>
        <p:spPr>
          <a:xfrm>
            <a:off x="8322554" y="2880360"/>
            <a:ext cx="292170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6–8 wks</a:t>
            </a:r>
          </a:p>
        </p:txBody>
      </p:sp>
      <p:sp>
        <p:nvSpPr>
          <p:cNvPr id="925" name=""/>
          <p:cNvSpPr>
            <a:spLocks noGrp="1"/>
          </p:cNvSpPr>
          <p:nvPr/>
        </p:nvSpPr>
        <p:spPr>
          <a:xfrm>
            <a:off x="8322554" y="3474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faster to energization</a:t>
            </a:r>
          </a:p>
        </p:txBody>
      </p:sp>
      <p:sp>
        <p:nvSpPr>
          <p:cNvPr id="926" name=""/>
          <p:cNvSpPr>
            <a:spLocks noGrp="1"/>
          </p:cNvSpPr>
          <p:nvPr/>
        </p:nvSpPr>
        <p:spPr>
          <a:xfrm>
            <a:off x="8322554" y="3794760"/>
            <a:ext cx="2921708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$500K–$800K</a:t>
            </a:r>
          </a:p>
        </p:txBody>
      </p:sp>
      <p:sp>
        <p:nvSpPr>
          <p:cNvPr id="927" name=""/>
          <p:cNvSpPr>
            <a:spLocks noGrp="1"/>
          </p:cNvSpPr>
          <p:nvPr/>
        </p:nvSpPr>
        <p:spPr>
          <a:xfrm>
            <a:off x="8322554" y="411480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gross field-labor savings</a:t>
            </a:r>
          </a:p>
        </p:txBody>
      </p:sp>
      <p:sp>
        <p:nvSpPr>
          <p:cNvPr id="928" name=""/>
          <p:cNvSpPr>
            <a:spLocks noGrp="1"/>
          </p:cNvSpPr>
          <p:nvPr/>
        </p:nvSpPr>
        <p:spPr>
          <a:xfrm>
            <a:off x="8322554" y="4343400"/>
            <a:ext cx="2921708" cy="4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9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Plus lower rework, earlier revenue recognition and reduced LD exposure.</a:t>
            </a:r>
          </a:p>
        </p:txBody>
      </p:sp>
      <p:sp>
        <p:nvSpPr>
          <p:cNvPr id="929" name=""/>
          <p:cNvSpPr>
            <a:spLocks noGrp="1"/>
          </p:cNvSpPr>
          <p:nvPr/>
        </p:nvSpPr>
        <p:spPr>
          <a:xfrm>
            <a:off x="719138" y="5029200"/>
            <a:ext cx="1075372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WHERE THIS LANDS IN NRG'S PROGRAM</a:t>
            </a:r>
          </a:p>
        </p:txBody>
      </p:sp>
      <p:sp>
        <p:nvSpPr>
          <p:cNvPr id="930" name=""/>
          <p:cNvSpPr>
            <a:spLocks noGrp="1"/>
          </p:cNvSpPr>
          <p:nvPr/>
        </p:nvSpPr>
        <p:spPr>
          <a:xfrm>
            <a:off x="719138" y="5303520"/>
            <a:ext cx="10753724" cy="4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Modular power yard and black-start packages  ·  behind-the-meter and colocation skids  ·  e-houses, containerized substations and BESS  ·  any unit that repeats across the fleet.</a:t>
            </a:r>
          </a:p>
        </p:txBody>
      </p:sp>
      <p:sp>
        <p:nvSpPr>
          <p:cNvPr id="931" name=""/>
          <p:cNvSpPr>
            <a:spLocks noGrp="1"/>
          </p:cNvSpPr>
          <p:nvPr/>
        </p:nvSpPr>
        <p:spPr>
          <a:xfrm>
            <a:off x="719138" y="5806440"/>
            <a:ext cx="10753724" cy="4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00" b="0" i="1">
                <a:solidFill>
                  <a:srgbClr val="17191C"/>
                </a:solidFill>
                <a:latin typeface="Arial"/>
                <a:ea typeface="Arial"/>
                <a:cs typeface="Arial"/>
              </a:rPr>
              <a:t>WHY THE TWO CASES USE DIFFERENT RATES:  A13 models $95/hr fully burdened for an industrial electrician on a two-shift site; this case models $180/hr loaded for multi-trade work in the data-center market. Different markets and burden bases — both are gross field labor, and both need NRG's own rates before either number is used.</a:t>
            </a:r>
          </a:p>
        </p:txBody>
      </p:sp>
      <p:sp>
        <p:nvSpPr>
          <p:cNvPr id="9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9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DIRECTIONAL FIGURES — VALIDATE AGAINST PARTNER AND NRG LABOR DATA BEFORE USE (SEE A5).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