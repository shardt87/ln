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0926bf97124fee" /><Relationship Type="http://schemas.openxmlformats.org/officeDocument/2006/relationships/extended-properties" Target="/docProps/app.xml" Id="R07ac4663c3ef41e8" /><Relationship Type="http://schemas.openxmlformats.org/officeDocument/2006/relationships/officeDocument" Target="/ppt/presentation.xml" Id="R2499c83757fe4f35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b5e8e5b3817a4a98"/>
  </p:sldMasterIdLst>
  <p:notesMasterIdLst>
    <p:notesMasterId xmlns:r="http://schemas.openxmlformats.org/officeDocument/2006/relationships" r:id="R80b678ffa2494307"/>
  </p:notesMasterIdLst>
  <p:sldIdLst>
    <p:sldId xmlns:r="http://schemas.openxmlformats.org/officeDocument/2006/relationships" id="256" r:id="Ra6a9459434474981"/>
    <p:sldId xmlns:r="http://schemas.openxmlformats.org/officeDocument/2006/relationships" id="257" r:id="R905ad6d5c86f4ffd"/>
    <p:sldId xmlns:r="http://schemas.openxmlformats.org/officeDocument/2006/relationships" id="258" r:id="Rc8d0a1cb73de4e2f"/>
    <p:sldId xmlns:r="http://schemas.openxmlformats.org/officeDocument/2006/relationships" id="259" r:id="R6ef2e3d1bfca4224"/>
    <p:sldId xmlns:r="http://schemas.openxmlformats.org/officeDocument/2006/relationships" id="260" r:id="R0b6a3a838cc844a5"/>
    <p:sldId xmlns:r="http://schemas.openxmlformats.org/officeDocument/2006/relationships" id="261" r:id="R1b50de0b86aa4ce0"/>
    <p:sldId xmlns:r="http://schemas.openxmlformats.org/officeDocument/2006/relationships" id="262" r:id="R4b62031c4ada4992"/>
    <p:sldId xmlns:r="http://schemas.openxmlformats.org/officeDocument/2006/relationships" id="263" r:id="Rc41e49e7d6e6424d"/>
    <p:sldId xmlns:r="http://schemas.openxmlformats.org/officeDocument/2006/relationships" id="264" r:id="R52c4c95416cc4deb"/>
    <p:sldId xmlns:r="http://schemas.openxmlformats.org/officeDocument/2006/relationships" id="265" r:id="R4cd2b62133e44004"/>
    <p:sldId xmlns:r="http://schemas.openxmlformats.org/officeDocument/2006/relationships" id="266" r:id="R7eb2d03d5f9a410f"/>
    <p:sldId xmlns:r="http://schemas.openxmlformats.org/officeDocument/2006/relationships" id="267" r:id="R3587363244c248a2"/>
    <p:sldId xmlns:r="http://schemas.openxmlformats.org/officeDocument/2006/relationships" id="268" r:id="R6fc3685fea7f40cb"/>
    <p:sldId xmlns:r="http://schemas.openxmlformats.org/officeDocument/2006/relationships" id="269" r:id="R2dc7fa9f8acc4306"/>
    <p:sldId id="270" r:id="rId1"/>
    <p:sldId id="271" r:id="rId2"/>
    <p:sldId id="272" r:id="rId3"/>
    <p:sldId id="273" r:id="rId4"/>
    <p:sldId id="274" r:id="rId5"/>
    <p:sldId id="275" r:id="rId6"/>
    <p:sldId id="276" r:id="rI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0f60516f94b67" /><Relationship Type="http://schemas.openxmlformats.org/officeDocument/2006/relationships/slideMaster" Target="/ppt/slideMasters/slideMaster1.xml" Id="Rb5e8e5b3817a4a98" /><Relationship Type="http://schemas.openxmlformats.org/officeDocument/2006/relationships/notesMaster" Target="/ppt/notesMasters/notesMaster1.xml" Id="R80b678ffa2494307" /><Relationship Type="http://schemas.openxmlformats.org/officeDocument/2006/relationships/presProps" Target="/ppt/presProps.xml" Id="Ree62f03921ed4f0a" /><Relationship Type="http://schemas.openxmlformats.org/officeDocument/2006/relationships/tableStyles" Target="/ppt/tableStyles.xml" Id="R3e97285220704b69" /><Relationship Type="http://schemas.openxmlformats.org/officeDocument/2006/relationships/slide" Target="/ppt/slides/slide1.xml" Id="Ra6a9459434474981" /><Relationship Type="http://schemas.openxmlformats.org/officeDocument/2006/relationships/slide" Target="/ppt/slides/slide2.xml" Id="R905ad6d5c86f4ffd" /><Relationship Type="http://schemas.openxmlformats.org/officeDocument/2006/relationships/slide" Target="/ppt/slides/slide3.xml" Id="Rc8d0a1cb73de4e2f" /><Relationship Type="http://schemas.openxmlformats.org/officeDocument/2006/relationships/slide" Target="/ppt/slides/slide4.xml" Id="R6ef2e3d1bfca4224" /><Relationship Type="http://schemas.openxmlformats.org/officeDocument/2006/relationships/slide" Target="/ppt/slides/slide5.xml" Id="R0b6a3a838cc844a5" /><Relationship Type="http://schemas.openxmlformats.org/officeDocument/2006/relationships/slide" Target="/ppt/slides/slide6.xml" Id="R1b50de0b86aa4ce0" /><Relationship Type="http://schemas.openxmlformats.org/officeDocument/2006/relationships/slide" Target="/ppt/slides/slide7.xml" Id="R4b62031c4ada4992" /><Relationship Type="http://schemas.openxmlformats.org/officeDocument/2006/relationships/slide" Target="/ppt/slides/slide8.xml" Id="Rc41e49e7d6e6424d" /><Relationship Type="http://schemas.openxmlformats.org/officeDocument/2006/relationships/slide" Target="/ppt/slides/slide9.xml" Id="R52c4c95416cc4deb" /><Relationship Type="http://schemas.openxmlformats.org/officeDocument/2006/relationships/slide" Target="/ppt/slides/slide10.xml" Id="R4cd2b62133e44004" /><Relationship Type="http://schemas.openxmlformats.org/officeDocument/2006/relationships/slide" Target="/ppt/slides/slide11.xml" Id="R7eb2d03d5f9a410f" /><Relationship Type="http://schemas.openxmlformats.org/officeDocument/2006/relationships/slide" Target="/ppt/slides/slide12.xml" Id="R3587363244c248a2" /><Relationship Type="http://schemas.openxmlformats.org/officeDocument/2006/relationships/slide" Target="/ppt/slides/slide13.xml" Id="R6fc3685fea7f40cb" /><Relationship Type="http://schemas.openxmlformats.org/officeDocument/2006/relationships/slide" Target="/ppt/slides/slide14.xml" Id="R2dc7fa9f8acc4306" />  <Relationship Id="rId1" Type="http://schemas.openxmlformats.org/officeDocument/2006/relationships/slide" Target="slides/slide15.xml"/>
  <Relationship Id="rId2" Type="http://schemas.openxmlformats.org/officeDocument/2006/relationships/slide" Target="slides/slide16.xml"/>
  <Relationship Id="rId3" Type="http://schemas.openxmlformats.org/officeDocument/2006/relationships/slide" Target="slides/slide17.xml"/>
  <Relationship Id="rId4" Type="http://schemas.openxmlformats.org/officeDocument/2006/relationships/slide" Target="slides/slide18.xml"/>
  <Relationship Id="rId5" Type="http://schemas.openxmlformats.org/officeDocument/2006/relationships/slide" Target="slides/slide19.xml"/>
  <Relationship Id="rId6" Type="http://schemas.openxmlformats.org/officeDocument/2006/relationships/slide" Target="slides/slide20.xml"/>
  <Relationship Id="rId7" Type="http://schemas.openxmlformats.org/officeDocument/2006/relationships/slide" Target="slides/slide21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9b9d2f2c3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ca114a6c547aa" /><Relationship Type="http://schemas.openxmlformats.org/officeDocument/2006/relationships/notesMaster" Target="/ppt/notesMasters/notesMaster1.xml" Id="Re76424e51eea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83b3fb5a147c6" /><Relationship Type="http://schemas.openxmlformats.org/officeDocument/2006/relationships/notesMaster" Target="/ppt/notesMasters/notesMaster1.xml" Id="Rb5a7e20d6c964c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df52d44f7c4419" /><Relationship Type="http://schemas.openxmlformats.org/officeDocument/2006/relationships/notesMaster" Target="/ppt/notesMasters/notesMaster1.xml" Id="R37a12510a0d9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4a01116b24c7a" /><Relationship Type="http://schemas.openxmlformats.org/officeDocument/2006/relationships/notesMaster" Target="/ppt/notesMasters/notesMaster1.xml" Id="R7b8429734b17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eb9d0b9b24bfe" /><Relationship Type="http://schemas.openxmlformats.org/officeDocument/2006/relationships/notesMaster" Target="/ppt/notesMasters/notesMaster1.xml" Id="Re8510f9385cc47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8ae63eba04390" /><Relationship Type="http://schemas.openxmlformats.org/officeDocument/2006/relationships/notesMaster" Target="/ppt/notesMasters/notesMaster1.xml" Id="R543cb85b48ae41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33e4ff1a14ccc" /><Relationship Type="http://schemas.openxmlformats.org/officeDocument/2006/relationships/notesMaster" Target="/ppt/notesMasters/notesMaster1.xml" Id="R2fc4d924caaf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ed30a063df4f29" /><Relationship Type="http://schemas.openxmlformats.org/officeDocument/2006/relationships/notesMaster" Target="/ppt/notesMasters/notesMaster1.xml" Id="R64c85a6354a649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a41e7b7e540a6" /><Relationship Type="http://schemas.openxmlformats.org/officeDocument/2006/relationships/notesMaster" Target="/ppt/notesMasters/notesMaster1.xml" Id="Rb2f9770a12104a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2a3704ce646e4" /><Relationship Type="http://schemas.openxmlformats.org/officeDocument/2006/relationships/notesMaster" Target="/ppt/notesMasters/notesMaster1.xml" Id="R86a54c982af84d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479691dfb54678" /><Relationship Type="http://schemas.openxmlformats.org/officeDocument/2006/relationships/notesMaster" Target="/ppt/notesMasters/notesMaster1.xml" Id="Ra806e0ee51b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3a493649e4208" /><Relationship Type="http://schemas.openxmlformats.org/officeDocument/2006/relationships/notesMaster" Target="/ppt/notesMasters/notesMaster1.xml" Id="Rad4b405367a04c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b0e001392b4bf1" /><Relationship Type="http://schemas.openxmlformats.org/officeDocument/2006/relationships/notesMaster" Target="/ppt/notesMasters/notesMaster1.xml" Id="R243119a9dcb4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85037211a04f08" /><Relationship Type="http://schemas.openxmlformats.org/officeDocument/2006/relationships/notesMaster" Target="/ppt/notesMasters/notesMaster1.xml" Id="Ra43e6c263aa2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NRG is managing three distinct execution environments: the TEF portfolio, a 5.4-GW newbuild runway and a larger operating fleet. Our working hypothesis is that the next place to protect schedule certainty is the electrical delivery chain—where specifications, material, releases, package interfaces, field labor and turnover converge.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(combined-cycle model and Southwire logo),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(labor, material and system-risk framing),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(central time-to-power thesis),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 and technical support: https://www.southwire.com/services</a:t>
            </a:r>
          </a:p>
          <a:p xmlns:a="http://schemas.openxmlformats.org/drawingml/2006/main">
            <a:r>
              <a:t>- Proposed operating model; not a committed NRG scope or commercial offer.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Outcome statements are hypotheses to validate, not claimed NRG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deck: 4,400 observed field hours for the site-built baseline and approximately 880 modeled field hours with a factory-built assembly. Not externally published and not an NRG result. Validate methodology, scope equivalence and permission before external release.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Southwire diagnostic exercise; scope, participants, timing and deliverables must be mutually agreed before commitment.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We are not asking for a preferred-supplier decision or a broad commercial commitment. We are asking for one live scope, one focused hour with the people closest to electrical execution and, where practical, one site walk. We will return a concise written read-back—including where Southwire cannot materially help. If there is no credible case, we stop. If there is, we jointly define a bounded pilot.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(graphite honeycomb texture and contact information),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role-boundary framework for discussion; contractual scope and accountability must be agreed project by project.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(Rev 89 combined-cycle site model and zone basis),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services: https://www.southwire.com/services</a:t>
            </a:r>
          </a:p>
          <a:p xmlns:a="http://schemas.openxmlformats.org/drawingml/2006/main">
            <a:r>
              <a:t>- Southwire product transparency: https://www.southwire.com/sustainability/product-transparency</a:t>
            </a:r>
          </a:p>
          <a:p xmlns:a="http://schemas.openxmlformats.org/drawingml/2006/main">
            <a:r>
              <a:t>- Southwire responsible production: https://www.southwire.com/sustainability/doing-right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deck. No external source or customer permission has been provided. Keep the main-deck numeric slide internal until validation and external-use approval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2cd44b46b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f9ad11e21e49bd" /><Relationship Type="http://schemas.openxmlformats.org/officeDocument/2006/relationships/slideLayout" Target="/ppt/slideLayouts/slideLayout1.xml" Id="R9b6c61e7c04a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6c61e7c04a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bb182bfb84760" /><Relationship Type="http://schemas.openxmlformats.org/officeDocument/2006/relationships/image" Target="/ppt/media/image.jpeg" Id="R0f6abb0571bc450c" /><Relationship Type="http://schemas.openxmlformats.org/officeDocument/2006/relationships/image" Target="/ppt/media/image2.jpeg" Id="Re8f8611cb8914760" /><Relationship Type="http://schemas.openxmlformats.org/officeDocument/2006/relationships/notesSlide" Target="/ppt/notesSlides/notesSlide1.xml" Id="R5b1563f1cd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a7e71159499c" /><Relationship Type="http://schemas.openxmlformats.org/officeDocument/2006/relationships/image" Target="/ppt/media/image3.jpeg" Id="Rc876737220024471" /><Relationship Type="http://schemas.openxmlformats.org/officeDocument/2006/relationships/notesSlide" Target="/ppt/notesSlides/notesSlide2.xml" Id="Re64bd40c611a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ad1aff3441ea" /><Relationship Type="http://schemas.openxmlformats.org/officeDocument/2006/relationships/image" Target="/ppt/media/image4.jpeg" Id="Rfc1affae7cb74e1e" /><Relationship Type="http://schemas.openxmlformats.org/officeDocument/2006/relationships/notesSlide" Target="/ppt/notesSlides/notesSlide3.xml" Id="R380f4c840697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f384951b24fe2" /><Relationship Type="http://schemas.openxmlformats.org/officeDocument/2006/relationships/image" Target="/ppt/media/image5.jpeg" Id="R4defc997f92c418d" /><Relationship Type="http://schemas.openxmlformats.org/officeDocument/2006/relationships/notesSlide" Target="/ppt/notesSlides/notesSlide4.xml" Id="R84b426f3cf69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a4dfc772432f" /><Relationship Type="http://schemas.openxmlformats.org/officeDocument/2006/relationships/image" Target="/ppt/media/image6.jpeg" Id="Re9945691857c4426" /><Relationship Type="http://schemas.openxmlformats.org/officeDocument/2006/relationships/notesSlide" Target="/ppt/notesSlides/notesSlide5.xml" Id="Rec7788092b52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90135d8c4113" /><Relationship Type="http://schemas.openxmlformats.org/officeDocument/2006/relationships/image" Target="/ppt/media/image7.jpeg" Id="Re541a94199674e25" /><Relationship Type="http://schemas.openxmlformats.org/officeDocument/2006/relationships/notesSlide" Target="/ppt/notesSlides/notesSlide6.xml" Id="Rc0a37ce820eb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a585275e048c2" /><Relationship Type="http://schemas.openxmlformats.org/officeDocument/2006/relationships/image" Target="/ppt/media/image8.jpeg" Id="R7ee1c5f2262e4319" /><Relationship Type="http://schemas.openxmlformats.org/officeDocument/2006/relationships/notesSlide" Target="/ppt/notesSlides/notesSlide7.xml" Id="R54a22f7a9a1f44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210136f03452c" /><Relationship Type="http://schemas.openxmlformats.org/officeDocument/2006/relationships/image" Target="/ppt/media/image9.jpeg" Id="Raf48650a3c4a4d07" /><Relationship Type="http://schemas.openxmlformats.org/officeDocument/2006/relationships/notesSlide" Target="/ppt/notesSlides/notesSlide8.xml" Id="Rc27b68974707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c4fdbd6a84b31" /><Relationship Type="http://schemas.openxmlformats.org/officeDocument/2006/relationships/image" Target="/ppt/media/image10.jpeg" Id="R3d7090369bf04fb9" /><Relationship Type="http://schemas.openxmlformats.org/officeDocument/2006/relationships/notesSlide" Target="/ppt/notesSlides/notesSlide9.xml" Id="R80c06fd9fc78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notesSlide" Target="/ppt/notesSlides/notesSlide10.xml" Id="Rdcef412924914f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3c9a4a9459d" /><Relationship Type="http://schemas.openxmlformats.org/officeDocument/2006/relationships/image" Target="/ppt/media/image12.jpeg" Id="R0d68d762455049bf" /><Relationship Type="http://schemas.openxmlformats.org/officeDocument/2006/relationships/notesSlide" Target="/ppt/notesSlides/notesSlide11.xml" Id="R0a347f0e701644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6cbf7d9bc42c0" /><Relationship Type="http://schemas.openxmlformats.org/officeDocument/2006/relationships/image" Target="/ppt/media/image13.jpeg" Id="R9278081788d04e04" /><Relationship Type="http://schemas.openxmlformats.org/officeDocument/2006/relationships/image" Target="/ppt/media/image14.jpeg" Id="R9ba0958dc14b4dd2" /><Relationship Type="http://schemas.openxmlformats.org/officeDocument/2006/relationships/notesSlide" Target="/ppt/notesSlides/notesSlide12.xml" Id="Rd15c87984c7540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248d254e49c9" /><Relationship Type="http://schemas.openxmlformats.org/officeDocument/2006/relationships/image" Target="/ppt/media/image15.jpeg" Id="R1ecb628aa9ae49b6" /><Relationship Type="http://schemas.openxmlformats.org/officeDocument/2006/relationships/notesSlide" Target="/ppt/notesSlides/notesSlide13.xml" Id="Red5caebca57c43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23b3c08084749" /><Relationship Type="http://schemas.openxmlformats.org/officeDocument/2006/relationships/image" Target="/ppt/media/image16.jpeg" Id="R82a988a906914445" /><Relationship Type="http://schemas.openxmlformats.org/officeDocument/2006/relationships/notesSlide" Target="/ppt/notesSlides/notesSlide14.xml" Id="Rd31656f6b26845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image" Target="/ppt/media/imagesk120.jpeg" Id="Rsk120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labor demand can peak when schedule-recovery and commissioning flexibility are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COMPLEXITY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Specifications, lengths, reels, accessories and releases must match the construction sequence.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Owner, EPC, OEM, supplier and contractor decisions can converge too late.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INTEGRATED ELECTRICAL DELIVERY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Translate each delivery lever into a direct execution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Start with one active newbuild package, TEF project or acquired-fleet conversion/uprate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Handoffs, releases and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reel opportunities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Role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  <p:sp>
        <p:nvSpPr>
          <p:cNvPr id="300" name="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 xmlns:a="http://schemas.openxmlformats.org/drawingml/2006/main"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SUGGESTED FIRST SCOPE:  </a:t>
            </a:r>
            <a:r xmlns:a="http://schemas.openxmlformats.org/drawingml/2006/main">
              <a:rPr sz="10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CEDAR BAYOU 5 — ACTIVE TEF UNIT, MID-2028 COD</a:t>
            </a:r>
            <a:r xmlns:a="http://schemas.openxmlformats.org/drawingml/2006/main">
              <a:rPr sz="1050" b="1" i="0">
                <a:solidFill>
                  <a:srgbClr val="6A6F73"/>
                </a:solidFill>
                <a:latin typeface="Arial Narrow"/>
                <a:ea typeface="Arial Narrow"/>
                <a:cs typeface="Arial Narrow"/>
              </a:rPr>
              <a:t>   ·   OUR SUGGESTION, YOUR CALL   ·   DETAIL IN APPENDIX A9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A3 · TECHNICAL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system clusters capture plant-wide electrical complexity.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Boundary: generator-output bus, OEM-internal wiring and contractor means and methods remain excluded.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3F95D-40A7-4D4B-B8C0-DDF9B458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628aa9ae49b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7F667-50EC-4256-A668-2143751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A4 · SOUTHWIRE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E066-CBA7-4679-AAA7-4E289B75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7E023-6EFD-4A47-AAB9-B8E37BF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DEFINED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AE18F-B033-4EF0-AE5A-D6D3BD14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79C-ABE1-47D4-B7FD-544D74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7A7A0-0211-432F-ACC1-0F8518E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ALIGN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54226-ABDE-4F00-9923-90D3EFB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DCF63-312C-4CC7-BB9B-63D610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122BE-CD6A-4967-93A8-4ACD26E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F8C22-A66C-4F37-A929-AEBB040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COORDINATE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901B-EFF2-4CAE-AD20-741DEE5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2CE63-BE4A-4574-8C95-3D78CA43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5B815-323A-48D0-9D69-5DE13BB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73447-38E3-4D91-9726-7A3D5370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PREPARE + SUPPORT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0646A-15D6-4C8E-80FC-195CF57C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Striping, marking and labeling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and bundling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field and lifecycle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A0DF1-0652-4D0E-A7D0-B6814CEB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267325"/>
            <a:ext cx="11087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D87-80D9-492D-8890-C4C4B029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3476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PROCUREMENT + SUSTAINABILITY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8E855-2D76-4DB7-BA16-032BCEF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6953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C44DB-D3AF-4B5B-B0F9-844CDAD4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  <p:extLst>
      <p:ext uri="{BB962C8B-B14F-4D97-AF65-F5344CB8AC3E}">
        <p14:creationId xmlns:p14="http://schemas.microsoft.com/office/powerpoint/2010/main" val="17327068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83857-60DF-4507-8767-FC639CA5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88a90691444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2564-1AF7-4860-B92F-49359E79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A5 · PROOF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99490-A61B-4C74-A660-33183697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42113-28C4-497B-9E59-8CA98337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METHODOLOGY BEFORE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07AB5-3F5E-4B0F-9380-118ED653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adjacent benchmark is useful only when its boundaries are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BA17-C236-48F3-803B-7860230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133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A09D-E61E-4484-A86D-A8DCD47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OBSERVED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4639-A036-48F7-BD23-F4E15A23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08D0-C641-4390-BDD1-3665400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448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Define the site-built scope and the unit called one spine.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B04D-C5B1-4EA3-8576-D7CBCCB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9CD0E-2AF2-45A3-8BFC-3038D69E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194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Confirm time records, sample size, project conditions and exclusions.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4F13-10EE-40AC-9D08-2665AC6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31D8F-ADA7-4B09-85D4-780EB9A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Document what remained in field labor, supervision and commissioning.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A2CD3-742F-4FC5-8514-C0ADD427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133600"/>
            <a:ext cx="5600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D5B53-92C0-4D01-92CA-C14E250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907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MODELED BASIS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776E-E05D-4EB2-80E2-AB1FD9E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49654-7D2B-4312-BBC3-ED9E232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4781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Reconcile scope equivalence between observed and modeled work.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1E5B9-9C2C-46CF-9BBB-8C9EDE8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1390-A0AB-4CE6-A5DF-67F290A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194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field installation.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DBE3D-B8D5-46E4-B3E9-6FB110B7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26375-FC07-448B-8157-ECED0F16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290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any activity actually leaves the critical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188F30-07C8-40F2-87AA-93810A17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1087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29EC6-E050-44FC-B70D-7214828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CLAIM SAVINGS UNTIL THE GROSS-TO-NET CASE IS REBUILT WITH NRG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DA8D71-4AB1-4324-9908-EA1087F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Release gate: methodology, scope equivalence and external-use permission approved.</a:t>
            </a:r>
          </a:p>
        </p:txBody>
      </p:sp>
    </p:spTree>
    <p:extLst>
      <p:ext uri="{BB962C8B-B14F-4D97-AF65-F5344CB8AC3E}">
        <p14:creationId xmlns:p14="http://schemas.microsoft.com/office/powerpoint/2010/main" val="1131456466"/>
      </p:ext>
    </p:extLst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A6 · OWNER'S MATH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15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THE OWNER'S EQUATION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line item with large coefficients.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LCOE and IRR decide every project. Five variables actually move — none of them is the purchase price.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52984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1272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LCOE  —  COST PER MWh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947738" y="30099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CAPEX + O&amp;M + Fuel (lifetime, discounted)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313498" y="3550920"/>
            <a:ext cx="2011680" cy="127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12" name=""/>
          <p:cNvSpPr>
            <a:spLocks noGrp="1"/>
          </p:cNvSpPr>
          <p:nvPr/>
        </p:nvSpPr>
        <p:spPr>
          <a:xfrm>
            <a:off x="947738" y="3623310"/>
            <a:ext cx="2743200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Lifetime MWh delivered (discounted)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947738" y="3925570"/>
            <a:ext cx="27432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Lower the top. Grow the bottom. De-risk the rate that discounts both.</a:t>
            </a:r>
          </a:p>
        </p:txBody>
      </p:sp>
      <p:sp>
        <p:nvSpPr>
          <p:cNvPr id="114" name=""/>
          <p:cNvSpPr>
            <a:spLocks noGrp="1"/>
          </p:cNvSpPr>
          <p:nvPr/>
        </p:nvSpPr>
        <p:spPr>
          <a:xfrm>
            <a:off x="719138" y="4450080"/>
            <a:ext cx="3200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947738" y="463296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IRR  —  RETURN ON THE PROJECT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947738" y="4930140"/>
            <a:ext cx="2743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NPV = Σ CFₜ ÷ (1 + IRR)ᵗ = 0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947738" y="5278120"/>
            <a:ext cx="27432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Most sensitive to COD date, capex certainty and availability — revenue that starts late is IRR you never get back.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4394200" y="25298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9" name=""/>
          <p:cNvSpPr>
            <a:spLocks noGrp="1"/>
          </p:cNvSpPr>
          <p:nvPr/>
        </p:nvSpPr>
        <p:spPr>
          <a:xfrm>
            <a:off x="4988560" y="25298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SCHEDULE → COD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4988560" y="27767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sits on the energization critical path. Supply certainty and sequencing protect the revenue start date — the largest single IRR lever.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4394200" y="32156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4988560" y="32156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RISK → DISCOUNT RATE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4988560" y="34625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Evidence-based scope lowers contingency and financing risk: an estimate within 4% on footage was 26% off on copper — right in total, wrong where the money is.</a:t>
            </a:r>
          </a:p>
        </p:txBody>
      </p:sp>
      <p:sp>
        <p:nvSpPr>
          <p:cNvPr id="124" name=""/>
          <p:cNvSpPr>
            <a:spLocks noGrp="1"/>
          </p:cNvSpPr>
          <p:nvPr/>
        </p:nvSpPr>
        <p:spPr>
          <a:xfrm>
            <a:off x="4394200" y="39014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988560" y="39014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CAPEX — THE NUMERATOR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4988560" y="41483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is under 2% of plant capex — purchase price barely moves the top line. Installed cost does: routing, reels, pulls, rework.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4394200" y="45872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4988560" y="45872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MWh — THE DENOMINATOR</a:t>
            </a:r>
          </a:p>
        </p:txBody>
      </p:sp>
      <p:sp>
        <p:nvSpPr>
          <p:cNvPr id="129" name=""/>
          <p:cNvSpPr>
            <a:spLocks noGrp="1"/>
          </p:cNvSpPr>
          <p:nvPr/>
        </p:nvSpPr>
        <p:spPr>
          <a:xfrm>
            <a:off x="4988560" y="48341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Availability and asset life grow the bottom of the equation: cable health, rejuvenation and life extension keep MWh flowing.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4394200" y="52730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4988560" y="52730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COMMODITY VOLATILITY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4988560" y="55199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Copper and aluminum exposure managed through supply strategy and hedging — capex certainty that lenders can underwrite.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CABLE BARELY MOVES THE NUMERATOR — IT MOVES COD, RISK AND AVAILABILITY, WHERE LCOE AND IRR ARE DECIDED.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5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6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A7 · SITE-MODEL BASIS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16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ROUTED 3×1 NGCC MODEL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site model behind A3 is quantified, not conceptual.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42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96 SCHEDULE RECORDS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1,784 CIRCUITS ROUTED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A3.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1,136,255 PROCUREMENT FT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50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51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563,091 LB COPPER</a:t>
            </a:r>
          </a:p>
        </p:txBody>
      </p:sp>
      <p:sp>
        <p:nvSpPr>
          <p:cNvPr id="152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5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THE MODEL BEHIND APPENDIX A3 — CONCEPT, NOT FOR CONSTRUCTION; STOCK NUMBERS REQUIRE CONDUCTOR SIZING.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3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64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5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A8 · SK-120 REFERENCE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17</a:t>
            </a:r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sk120a8"/>
          <a:stretch/>
        </p:blipFill>
        <p:spPr>
          <a:xfrm>
            <a:off x="892680" y="880000"/>
            <a:ext cx="10406639" cy="5700000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/>
        </p:nvSpPr>
        <p:spPr>
          <a:xfrm>
            <a:off x="719138" y="6675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A9 · PROJECT OF INTEREST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18</a:t>
            </a:r>
          </a:p>
        </p:txBody>
      </p:sp>
      <p:sp>
        <p:nvSpPr>
          <p:cNvPr id="2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CEDAR BAYOU UNIT 5 · BAYTOWN, TEXAS (CHAMBERS COUNTY)</a:t>
            </a:r>
          </a:p>
        </p:txBody>
      </p:sp>
      <p:sp>
        <p:nvSpPr>
          <p:cNvPr id="2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Cedar Bayou 5 is the natural first live scope.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719138" y="195072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 721 MW combined-cycle brownfield expansion at NRG's existing Cedar Bayou station — the anchor TEF unit in the NRG / GE Vernova / Kiewit framework, in active construction toward a mid-2028 COD.</a:t>
            </a:r>
          </a:p>
        </p:txBody>
      </p:sp>
      <p:sp>
        <p:nvSpPr>
          <p:cNvPr id="208" name=""/>
          <p:cNvSpPr>
            <a:spLocks noGrp="1"/>
          </p:cNvSpPr>
          <p:nvPr/>
        </p:nvSpPr>
        <p:spPr>
          <a:xfrm>
            <a:off x="719138" y="260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PROJECT FACTS — VALIDATED AUG 2026</a:t>
            </a:r>
          </a:p>
        </p:txBody>
      </p:sp>
      <p:sp>
        <p:nvSpPr>
          <p:cNvPr id="209" name=""/>
          <p:cNvSpPr>
            <a:spLocks noGrp="1"/>
          </p:cNvSpPr>
          <p:nvPr/>
        </p:nvSpPr>
        <p:spPr>
          <a:xfrm>
            <a:off x="719138" y="29258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721 MW CCGT · BROWNFIELD</a:t>
            </a:r>
          </a:p>
        </p:txBody>
      </p:sp>
      <p:sp>
        <p:nvSpPr>
          <p:cNvPr id="210" name=""/>
          <p:cNvSpPr>
            <a:spLocks noGrp="1"/>
          </p:cNvSpPr>
          <p:nvPr/>
        </p:nvSpPr>
        <p:spPr>
          <a:xfrm>
            <a:off x="719138" y="31544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GE Vernova H-class train at the existing station; ERCOT Houston Load Zone; existing 345 kV switchyard, cooling water and site infrastructure.</a:t>
            </a:r>
          </a:p>
        </p:txBody>
      </p:sp>
      <p:sp>
        <p:nvSpPr>
          <p:cNvPr id="211" name=""/>
          <p:cNvSpPr>
            <a:spLocks noGrp="1"/>
          </p:cNvSpPr>
          <p:nvPr/>
        </p:nvSpPr>
        <p:spPr>
          <a:xfrm>
            <a:off x="719138" y="37259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$562M TEF LOAN · 3% · 20-YEAR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719138" y="39545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Signed September 2025 — 60% of the $936M project cost; part of $1.15B TEF financing plus $66M tax abatements across the three-unit program.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452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COD TARGET MID-2028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47546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First TEF unit to advance construction; T.H. Wharton (415 MW) completes mid-2026, Greens Bayou 6 follows in 2028.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53261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EPC: TIC / KIEWIT · OEM: GE VERNOVA</a:t>
            </a:r>
          </a:p>
        </p:txBody>
      </p:sp>
      <p:sp>
        <p:nvSpPr>
          <p:cNvPr id="216" name=""/>
          <p:cNvSpPr>
            <a:spLocks noGrp="1"/>
          </p:cNvSpPr>
          <p:nvPr/>
        </p:nvSpPr>
        <p:spPr>
          <a:xfrm>
            <a:off x="719138" y="55547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Delivered under the 5.4 GW development framework — 1.2 GW in service by 2029, 1.2 GW by 2030, 3 GW more through 2032.</a:t>
            </a:r>
          </a:p>
        </p:txBody>
      </p:sp>
      <p:sp>
        <p:nvSpPr>
          <p:cNvPr id="217" name=""/>
          <p:cNvSpPr>
            <a:spLocks noGrp="1"/>
          </p:cNvSpPr>
          <p:nvPr/>
        </p:nvSpPr>
        <p:spPr>
          <a:xfrm>
            <a:off x="6120130" y="26060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POTENTIAL SCOPE SELECTIONS</a:t>
            </a:r>
          </a:p>
        </p:txBody>
      </p:sp>
      <p:sp>
        <p:nvSpPr>
          <p:cNvPr id="218" name=""/>
          <p:cNvSpPr>
            <a:spLocks noGrp="1"/>
          </p:cNvSpPr>
          <p:nvPr/>
        </p:nvSpPr>
        <p:spPr>
          <a:xfrm>
            <a:off x="6120130" y="2984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19" name=""/>
          <p:cNvSpPr>
            <a:spLocks noGrp="1"/>
          </p:cNvSpPr>
          <p:nvPr/>
        </p:nvSpPr>
        <p:spPr>
          <a:xfrm>
            <a:off x="6348730" y="2925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 generator leads and brownfield 345 kV switchyard tie-in for the H-class train</a:t>
            </a:r>
          </a:p>
        </p:txBody>
      </p:sp>
      <p:sp>
        <p:nvSpPr>
          <p:cNvPr id="220" name=""/>
          <p:cNvSpPr>
            <a:spLocks noGrp="1"/>
          </p:cNvSpPr>
          <p:nvPr/>
        </p:nvSpPr>
        <p:spPr>
          <a:xfrm>
            <a:off x="6120130" y="3442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1" name=""/>
          <p:cNvSpPr>
            <a:spLocks noGrp="1"/>
          </p:cNvSpPr>
          <p:nvPr/>
        </p:nvSpPr>
        <p:spPr>
          <a:xfrm>
            <a:off x="6348730" y="3383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 plant auxiliary distribution, 5–35 kV, across the new unit and interfaces</a:t>
            </a:r>
          </a:p>
        </p:txBody>
      </p:sp>
      <p:sp>
        <p:nvSpPr>
          <p:cNvPr id="222" name=""/>
          <p:cNvSpPr>
            <a:spLocks noGrp="1"/>
          </p:cNvSpPr>
          <p:nvPr/>
        </p:nvSpPr>
        <p:spPr>
          <a:xfrm>
            <a:off x="6120130" y="38992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3" name=""/>
          <p:cNvSpPr>
            <a:spLocks noGrp="1"/>
          </p:cNvSpPr>
          <p:nvPr/>
        </p:nvSpPr>
        <p:spPr>
          <a:xfrm>
            <a:off x="6348730" y="38402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LV 600 V power and control — turbine hall, HRSG and balance of plant</a:t>
            </a:r>
          </a:p>
        </p:txBody>
      </p:sp>
      <p:sp>
        <p:nvSpPr>
          <p:cNvPr id="224" name=""/>
          <p:cNvSpPr>
            <a:spLocks noGrp="1"/>
          </p:cNvSpPr>
          <p:nvPr/>
        </p:nvSpPr>
        <p:spPr>
          <a:xfrm>
            <a:off x="6120130" y="43564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5" name=""/>
          <p:cNvSpPr>
            <a:spLocks noGrp="1"/>
          </p:cNvSpPr>
          <p:nvPr/>
        </p:nvSpPr>
        <p:spPr>
          <a:xfrm>
            <a:off x="6348730" y="42974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I&amp;C, DCS and fiber — integration with the existing station and ERCOT SCADA</a:t>
            </a:r>
          </a:p>
        </p:txBody>
      </p:sp>
      <p:sp>
        <p:nvSpPr>
          <p:cNvPr id="226" name=""/>
          <p:cNvSpPr>
            <a:spLocks noGrp="1"/>
          </p:cNvSpPr>
          <p:nvPr/>
        </p:nvSpPr>
        <p:spPr>
          <a:xfrm>
            <a:off x="6120130" y="4813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7" name=""/>
          <p:cNvSpPr>
            <a:spLocks noGrp="1"/>
          </p:cNvSpPr>
          <p:nvPr/>
        </p:nvSpPr>
        <p:spPr>
          <a:xfrm>
            <a:off x="6348730" y="47546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Grounding-grid extension into the heritage plant grid</a:t>
            </a:r>
          </a:p>
        </p:txBody>
      </p:sp>
      <p:sp>
        <p:nvSpPr>
          <p:cNvPr id="228" name=""/>
          <p:cNvSpPr>
            <a:spLocks noGrp="1"/>
          </p:cNvSpPr>
          <p:nvPr/>
        </p:nvSpPr>
        <p:spPr>
          <a:xfrm>
            <a:off x="6120130" y="5270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9" name=""/>
          <p:cNvSpPr>
            <a:spLocks noGrp="1"/>
          </p:cNvSpPr>
          <p:nvPr/>
        </p:nvSpPr>
        <p:spPr>
          <a:xfrm>
            <a:off x="6348730" y="5211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Sequenced reels, cut lengths and kits against 2026–2028 procurement windows</a:t>
            </a:r>
          </a:p>
        </p:txBody>
      </p:sp>
      <p:sp>
        <p:nvSpPr>
          <p:cNvPr id="230" name=""/>
          <p:cNvSpPr>
            <a:spLocks noGrp="1"/>
          </p:cNvSpPr>
          <p:nvPr/>
        </p:nvSpPr>
        <p:spPr>
          <a:xfrm>
            <a:off x="6120130" y="5728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31" name=""/>
          <p:cNvSpPr>
            <a:spLocks noGrp="1"/>
          </p:cNvSpPr>
          <p:nvPr/>
        </p:nvSpPr>
        <p:spPr>
          <a:xfrm>
            <a:off x="6348730" y="5669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Post-COD continuity — records, spares and MRO carried into the operating fleet</a:t>
            </a:r>
          </a:p>
        </p:txBody>
      </p:sp>
      <p:sp>
        <p:nvSpPr>
          <p:cNvPr id="232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Validated against public sources, Aug 2026: PUCT / Texas Energy Fund announcements, Utility Dive, NRG investor materials. Capacity reported 689–721 MW across sources; 721 MW per the PUCT loan announcement.</a:t>
            </a:r>
          </a:p>
        </p:txBody>
      </p:sp>
      <p:sp>
        <p:nvSpPr>
          <p:cNvPr id="2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34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IN ACTIVE PROCUREMENT NOW — THE OBVIOUS CANDIDATE FOR THE ONE-LIVE-SCOPE VALIDATION PATH ON SLIDE 8.</a:t>
            </a:r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4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4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A10 · FINANCE + ESG</a:t>
            </a:r>
          </a:p>
        </p:txBody>
      </p:sp>
      <p:sp>
        <p:nvSpPr>
          <p:cNvPr id="4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19</a:t>
            </a:r>
          </a:p>
        </p:txBody>
      </p:sp>
      <p:sp>
        <p:nvSpPr>
          <p:cNvPr id="4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EARLY ENGAGEMENT, UNDERWRITING-GRADE DOCUMENTATION</a:t>
            </a:r>
          </a:p>
        </p:txBody>
      </p:sp>
      <p:sp>
        <p:nvSpPr>
          <p:cNvPr id="4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early engagement includes — and what finance gets out of it.</a:t>
            </a:r>
          </a:p>
        </p:txBody>
      </p:sp>
      <p:sp>
        <p:nvSpPr>
          <p:cNvPr id="4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Technical readiness converts into underwriting inputs: cost, schedule, sourcing and carbon visibility before the EPC bid hardens contingency.</a:t>
            </a:r>
          </a:p>
        </p:txBody>
      </p:sp>
      <p:sp>
        <p:nvSpPr>
          <p:cNvPr id="408" name=""/>
          <p:cNvSpPr>
            <a:spLocks noGrp="1"/>
          </p:cNvSpPr>
          <p:nvPr/>
        </p:nvSpPr>
        <p:spPr>
          <a:xfrm>
            <a:off x="719138" y="2515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PRE-EPC OFFERINGS</a:t>
            </a:r>
          </a:p>
        </p:txBody>
      </p:sp>
      <p:sp>
        <p:nvSpPr>
          <p:cNvPr id="409" name=""/>
          <p:cNvSpPr>
            <a:spLocks noGrp="1"/>
          </p:cNvSpPr>
          <p:nvPr/>
        </p:nvSpPr>
        <p:spPr>
          <a:xfrm>
            <a:off x="719138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0" name=""/>
          <p:cNvSpPr>
            <a:spLocks noGrp="1"/>
          </p:cNvSpPr>
          <p:nvPr/>
        </p:nvSpPr>
        <p:spPr>
          <a:xfrm>
            <a:off x="947738" y="283503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Master planning workshop — conceptual design and interface mapping for complex sites</a:t>
            </a:r>
          </a:p>
        </p:txBody>
      </p:sp>
      <p:sp>
        <p:nvSpPr>
          <p:cNvPr id="411" name=""/>
          <p:cNvSpPr>
            <a:spLocks noGrp="1"/>
          </p:cNvSpPr>
          <p:nvPr/>
        </p:nvSpPr>
        <p:spPr>
          <a:xfrm>
            <a:off x="719138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2" name=""/>
          <p:cNvSpPr>
            <a:spLocks noGrp="1"/>
          </p:cNvSpPr>
          <p:nvPr/>
        </p:nvSpPr>
        <p:spPr>
          <a:xfrm>
            <a:off x="947738" y="342939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cable solution design and electrical spine architecture</a:t>
            </a:r>
          </a:p>
        </p:txBody>
      </p:sp>
      <p:sp>
        <p:nvSpPr>
          <p:cNvPr id="413" name=""/>
          <p:cNvSpPr>
            <a:spLocks noGrp="1"/>
          </p:cNvSpPr>
          <p:nvPr/>
        </p:nvSpPr>
        <p:spPr>
          <a:xfrm>
            <a:off x="719138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4" name=""/>
          <p:cNvSpPr>
            <a:spLocks noGrp="1"/>
          </p:cNvSpPr>
          <p:nvPr/>
        </p:nvSpPr>
        <p:spPr>
          <a:xfrm>
            <a:off x="947738" y="402375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Procurement risk register and schedule visibility</a:t>
            </a:r>
          </a:p>
        </p:txBody>
      </p:sp>
      <p:sp>
        <p:nvSpPr>
          <p:cNvPr id="415" name=""/>
          <p:cNvSpPr>
            <a:spLocks noGrp="1"/>
          </p:cNvSpPr>
          <p:nvPr/>
        </p:nvSpPr>
        <p:spPr>
          <a:xfrm>
            <a:off x="719138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6" name=""/>
          <p:cNvSpPr>
            <a:spLocks noGrp="1"/>
          </p:cNvSpPr>
          <p:nvPr/>
        </p:nvSpPr>
        <p:spPr>
          <a:xfrm>
            <a:off x="947738" y="461811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Capacity allocation and commodity (Cu/Al) exposure hedging support</a:t>
            </a:r>
          </a:p>
        </p:txBody>
      </p:sp>
      <p:sp>
        <p:nvSpPr>
          <p:cNvPr id="417" name=""/>
          <p:cNvSpPr>
            <a:spLocks noGrp="1"/>
          </p:cNvSpPr>
          <p:nvPr/>
        </p:nvSpPr>
        <p:spPr>
          <a:xfrm>
            <a:off x="719138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8" name=""/>
          <p:cNvSpPr>
            <a:spLocks noGrp="1"/>
          </p:cNvSpPr>
          <p:nvPr/>
        </p:nvSpPr>
        <p:spPr>
          <a:xfrm>
            <a:off x="947738" y="521247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Domestic supply strategy — U.S.-made resilience for TEF and local-content goals</a:t>
            </a:r>
          </a:p>
        </p:txBody>
      </p:sp>
      <p:sp>
        <p:nvSpPr>
          <p:cNvPr id="419" name=""/>
          <p:cNvSpPr>
            <a:spLocks noGrp="1"/>
          </p:cNvSpPr>
          <p:nvPr/>
        </p:nvSpPr>
        <p:spPr>
          <a:xfrm>
            <a:off x="6120130" y="2515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DOCUMENTATION FOR FINANCE + ESG</a:t>
            </a:r>
          </a:p>
        </p:txBody>
      </p:sp>
      <p:sp>
        <p:nvSpPr>
          <p:cNvPr id="420" name=""/>
          <p:cNvSpPr>
            <a:spLocks noGrp="1"/>
          </p:cNvSpPr>
          <p:nvPr/>
        </p:nvSpPr>
        <p:spPr>
          <a:xfrm>
            <a:off x="6120130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1" name=""/>
          <p:cNvSpPr>
            <a:spLocks noGrp="1"/>
          </p:cNvSpPr>
          <p:nvPr/>
        </p:nvSpPr>
        <p:spPr>
          <a:xfrm>
            <a:off x="6348730" y="283503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Transparent BOMs and cost-allocation records supporting asset classification and depreciation — tax treatment confirmed per project</a:t>
            </a:r>
          </a:p>
        </p:txBody>
      </p:sp>
      <p:sp>
        <p:nvSpPr>
          <p:cNvPr id="422" name=""/>
          <p:cNvSpPr>
            <a:spLocks noGrp="1"/>
          </p:cNvSpPr>
          <p:nvPr/>
        </p:nvSpPr>
        <p:spPr>
          <a:xfrm>
            <a:off x="6120130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3" name=""/>
          <p:cNvSpPr>
            <a:spLocks noGrp="1"/>
          </p:cNvSpPr>
          <p:nvPr/>
        </p:nvSpPr>
        <p:spPr>
          <a:xfrm>
            <a:off x="6348730" y="342939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Verified EPDs for low-embodied-carbon procurement</a:t>
            </a:r>
          </a:p>
        </p:txBody>
      </p:sp>
      <p:sp>
        <p:nvSpPr>
          <p:cNvPr id="424" name=""/>
          <p:cNvSpPr>
            <a:spLocks noGrp="1"/>
          </p:cNvSpPr>
          <p:nvPr/>
        </p:nvSpPr>
        <p:spPr>
          <a:xfrm>
            <a:off x="6120130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5" name=""/>
          <p:cNvSpPr>
            <a:spLocks noGrp="1"/>
          </p:cNvSpPr>
          <p:nvPr/>
        </p:nvSpPr>
        <p:spPr>
          <a:xfrm>
            <a:off x="6348730" y="402375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3 cradle-to-gate carbon data for ESG-linked financing and hyperscaler offtaker requirements</a:t>
            </a:r>
          </a:p>
        </p:txBody>
      </p:sp>
      <p:sp>
        <p:nvSpPr>
          <p:cNvPr id="426" name=""/>
          <p:cNvSpPr>
            <a:spLocks noGrp="1"/>
          </p:cNvSpPr>
          <p:nvPr/>
        </p:nvSpPr>
        <p:spPr>
          <a:xfrm>
            <a:off x="6120130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7" name=""/>
          <p:cNvSpPr>
            <a:spLocks noGrp="1"/>
          </p:cNvSpPr>
          <p:nvPr/>
        </p:nvSpPr>
        <p:spPr>
          <a:xfrm>
            <a:off x="6348730" y="461811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Recycled-content integration and optimized logistics (circular economy)</a:t>
            </a:r>
          </a:p>
        </p:txBody>
      </p:sp>
      <p:sp>
        <p:nvSpPr>
          <p:cNvPr id="428" name=""/>
          <p:cNvSpPr>
            <a:spLocks noGrp="1"/>
          </p:cNvSpPr>
          <p:nvPr/>
        </p:nvSpPr>
        <p:spPr>
          <a:xfrm>
            <a:off x="6120130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9" name=""/>
          <p:cNvSpPr>
            <a:spLocks noGrp="1"/>
          </p:cNvSpPr>
          <p:nvPr/>
        </p:nvSpPr>
        <p:spPr>
          <a:xfrm>
            <a:off x="6348730" y="521247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Auditable domestic-content documentation for TEF and investor reporting</a:t>
            </a:r>
          </a:p>
        </p:txBody>
      </p:sp>
      <p:sp>
        <p:nvSpPr>
          <p:cNvPr id="430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commercial positioning — offerings, documentation and tax applicability are scoped and confirmed per project.</a:t>
            </a:r>
          </a:p>
        </p:txBody>
      </p:sp>
      <p:sp>
        <p:nvSpPr>
          <p:cNvPr id="431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43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COST, SCHEDULE, SOURCING AND CARBON VISIBILITY — BEFORE THE EPC BID PRICES THE UNCERTAINTY AS CONTINGENCY.</a:t>
            </a:r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5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5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A11 · CABLE PLATFORM</a:t>
            </a:r>
          </a:p>
        </p:txBody>
      </p:sp>
      <p:sp>
        <p:nvSpPr>
          <p:cNvPr id="5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20</a:t>
            </a:r>
          </a:p>
        </p:txBody>
      </p:sp>
      <p:sp>
        <p:nvSpPr>
          <p:cNvPr id="505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ONE PLATFORM — PLANT SCOPE AND PACKAGED SCOPE</a:t>
            </a:r>
          </a:p>
        </p:txBody>
      </p:sp>
      <p:sp>
        <p:nvSpPr>
          <p:cNvPr id="5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platform from generator to grid — and inside every package.</a:t>
            </a:r>
          </a:p>
        </p:txBody>
      </p:sp>
      <p:sp>
        <p:nvSpPr>
          <p:cNvPr id="5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run in the A3 zone map resolves to a named product family — one supplier, one spec basis, domestic manufacture.</a:t>
            </a:r>
          </a:p>
        </p:txBody>
      </p:sp>
      <p:sp>
        <p:nvSpPr>
          <p:cNvPr id="508" name=""/>
          <p:cNvSpPr>
            <a:spLocks noGrp="1"/>
          </p:cNvSpPr>
          <p:nvPr/>
        </p:nvSpPr>
        <p:spPr>
          <a:xfrm>
            <a:off x="719138" y="2515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 SCOPE — GENERATOR TO GRID</a:t>
            </a:r>
          </a:p>
        </p:txBody>
      </p:sp>
      <p:sp>
        <p:nvSpPr>
          <p:cNvPr id="509" name=""/>
          <p:cNvSpPr>
            <a:spLocks noGrp="1"/>
          </p:cNvSpPr>
          <p:nvPr/>
        </p:nvSpPr>
        <p:spPr>
          <a:xfrm>
            <a:off x="719138" y="28350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HVUD HIGH-VOLTAGE UNDERGROUND · 69–400 kV</a:t>
            </a:r>
          </a:p>
        </p:txBody>
      </p:sp>
      <p:sp>
        <p:nvSpPr>
          <p:cNvPr id="510" name=""/>
          <p:cNvSpPr>
            <a:spLocks noGrp="1"/>
          </p:cNvSpPr>
          <p:nvPr/>
        </p:nvSpPr>
        <p:spPr>
          <a:xfrm>
            <a:off x="719138" y="30636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XLPE underground interconnect; HVUD3 (138 kV) and HVUD4 (230 kV) carry gen-tie, behind-the-meter and bulk interconnect duty.</a:t>
            </a:r>
          </a:p>
        </p:txBody>
      </p:sp>
      <p:sp>
        <p:nvSpPr>
          <p:cNvPr id="511" name=""/>
          <p:cNvSpPr>
            <a:spLocks noGrp="1"/>
          </p:cNvSpPr>
          <p:nvPr/>
        </p:nvSpPr>
        <p:spPr>
          <a:xfrm>
            <a:off x="719138" y="35208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MV-105 · NL-EPR · 5–35 kV</a:t>
            </a:r>
          </a:p>
        </p:txBody>
      </p:sp>
      <p:sp>
        <p:nvSpPr>
          <p:cNvPr id="512" name=""/>
          <p:cNvSpPr>
            <a:spLocks noGrp="1"/>
          </p:cNvSpPr>
          <p:nvPr/>
        </p:nvSpPr>
        <p:spPr>
          <a:xfrm>
            <a:off x="719138" y="37494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plant collection and auxiliary backbone — 105°C rated, low-friction jacket, tray and duct-bank installation economics.</a:t>
            </a:r>
          </a:p>
        </p:txBody>
      </p:sp>
      <p:sp>
        <p:nvSpPr>
          <p:cNvPr id="513" name=""/>
          <p:cNvSpPr>
            <a:spLocks noGrp="1"/>
          </p:cNvSpPr>
          <p:nvPr/>
        </p:nvSpPr>
        <p:spPr>
          <a:xfrm>
            <a:off x="719138" y="42066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LV 600 V POWER, CONTROL &amp; BUILDING WIRE</a:t>
            </a:r>
          </a:p>
        </p:txBody>
      </p:sp>
      <p:sp>
        <p:nvSpPr>
          <p:cNvPr id="514" name=""/>
          <p:cNvSpPr>
            <a:spLocks noGrp="1"/>
          </p:cNvSpPr>
          <p:nvPr/>
        </p:nvSpPr>
        <p:spPr>
          <a:xfrm>
            <a:off x="719138" y="44352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Feeders, motor circuits and unit auxiliary distribution across the plant.</a:t>
            </a:r>
          </a:p>
        </p:txBody>
      </p:sp>
      <p:sp>
        <p:nvSpPr>
          <p:cNvPr id="515" name=""/>
          <p:cNvSpPr>
            <a:spLocks noGrp="1"/>
          </p:cNvSpPr>
          <p:nvPr/>
        </p:nvSpPr>
        <p:spPr>
          <a:xfrm>
            <a:off x="719138" y="48924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I&amp;C, COMMS &amp; TRANSMISSION CONDUCTOR</a:t>
            </a:r>
          </a:p>
        </p:txBody>
      </p:sp>
      <p:sp>
        <p:nvSpPr>
          <p:cNvPr id="516" name=""/>
          <p:cNvSpPr>
            <a:spLocks noGrp="1"/>
          </p:cNvSpPr>
          <p:nvPr/>
        </p:nvSpPr>
        <p:spPr>
          <a:xfrm>
            <a:off x="719138" y="51210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DCS, protection and metering cable; industrial Ethernet and fiber; ACSR / ACSS / OPGW where overhead is the route.</a:t>
            </a:r>
          </a:p>
        </p:txBody>
      </p:sp>
      <p:sp>
        <p:nvSpPr>
          <p:cNvPr id="517" name=""/>
          <p:cNvSpPr>
            <a:spLocks noGrp="1"/>
          </p:cNvSpPr>
          <p:nvPr/>
        </p:nvSpPr>
        <p:spPr>
          <a:xfrm>
            <a:off x="719138" y="5578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GROUNDING &amp; BONDING</a:t>
            </a:r>
          </a:p>
        </p:txBody>
      </p:sp>
      <p:sp>
        <p:nvSpPr>
          <p:cNvPr id="518" name=""/>
          <p:cNvSpPr>
            <a:spLocks noGrp="1"/>
          </p:cNvSpPr>
          <p:nvPr/>
        </p:nvSpPr>
        <p:spPr>
          <a:xfrm>
            <a:off x="719138" y="58068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Bare copper and bonding conductor — the grid that ties the whole electrical system to earth.</a:t>
            </a:r>
          </a:p>
        </p:txBody>
      </p:sp>
      <p:sp>
        <p:nvSpPr>
          <p:cNvPr id="519" name=""/>
          <p:cNvSpPr>
            <a:spLocks noGrp="1"/>
          </p:cNvSpPr>
          <p:nvPr/>
        </p:nvSpPr>
        <p:spPr>
          <a:xfrm>
            <a:off x="6120130" y="2515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PACKAGED &amp; MODULAR SCOPE — 8 APPLICATION FAMILIES</a:t>
            </a:r>
          </a:p>
        </p:txBody>
      </p:sp>
      <p:sp>
        <p:nvSpPr>
          <p:cNvPr id="520" name=""/>
          <p:cNvSpPr>
            <a:spLocks noGrp="1"/>
          </p:cNvSpPr>
          <p:nvPr/>
        </p:nvSpPr>
        <p:spPr>
          <a:xfrm>
            <a:off x="6120130" y="28350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2.4–35 kV AND 600 V–2 kV · BUY AMERICA</a:t>
            </a:r>
          </a:p>
        </p:txBody>
      </p:sp>
      <p:sp>
        <p:nvSpPr>
          <p:cNvPr id="521" name=""/>
          <p:cNvSpPr>
            <a:spLocks noGrp="1"/>
          </p:cNvSpPr>
          <p:nvPr/>
        </p:nvSpPr>
        <p:spPr>
          <a:xfrm>
            <a:off x="6120130" y="30636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wire and cable application that lives inside — or connects — factory-built power packages, kitted to build sequence.</a:t>
            </a:r>
          </a:p>
        </p:txBody>
      </p:sp>
      <p:sp>
        <p:nvSpPr>
          <p:cNvPr id="522" name=""/>
          <p:cNvSpPr>
            <a:spLocks noGrp="1"/>
          </p:cNvSpPr>
          <p:nvPr/>
        </p:nvSpPr>
        <p:spPr>
          <a:xfrm>
            <a:off x="6120130" y="35208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E-HOUSES · CONTAINERIZED SUBSTATIONS · SWITCHGEAR</a:t>
            </a:r>
          </a:p>
        </p:txBody>
      </p:sp>
      <p:sp>
        <p:nvSpPr>
          <p:cNvPr id="523" name=""/>
          <p:cNvSpPr>
            <a:spLocks noGrp="1"/>
          </p:cNvSpPr>
          <p:nvPr/>
        </p:nvSpPr>
        <p:spPr>
          <a:xfrm>
            <a:off x="6120130" y="37494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Power control rooms, MV switchgear lineups, LV switchboard and MCC packages.</a:t>
            </a:r>
          </a:p>
        </p:txBody>
      </p:sp>
      <p:sp>
        <p:nvSpPr>
          <p:cNvPr id="524" name=""/>
          <p:cNvSpPr>
            <a:spLocks noGrp="1"/>
          </p:cNvSpPr>
          <p:nvPr/>
        </p:nvSpPr>
        <p:spPr>
          <a:xfrm>
            <a:off x="6120130" y="42066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TRANSFORMER · BESS · GENSET · PROCESS SKIDS</a:t>
            </a:r>
          </a:p>
        </p:txBody>
      </p:sp>
      <p:sp>
        <p:nvSpPr>
          <p:cNvPr id="525" name=""/>
          <p:cNvSpPr>
            <a:spLocks noGrp="1"/>
          </p:cNvSpPr>
          <p:nvPr/>
        </p:nvSpPr>
        <p:spPr>
          <a:xfrm>
            <a:off x="6120130" y="44352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Transformer packages, BESS containers, generator packages and process / pump skids.</a:t>
            </a:r>
          </a:p>
        </p:txBody>
      </p:sp>
      <p:sp>
        <p:nvSpPr>
          <p:cNvPr id="526" name=""/>
          <p:cNvSpPr>
            <a:spLocks noGrp="1"/>
          </p:cNvSpPr>
          <p:nvPr/>
        </p:nvSpPr>
        <p:spPr>
          <a:xfrm>
            <a:off x="6120130" y="48924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SIMPULL, PRE-CUTS &amp; KITTING</a:t>
            </a:r>
          </a:p>
        </p:txBody>
      </p:sp>
      <p:sp>
        <p:nvSpPr>
          <p:cNvPr id="527" name=""/>
          <p:cNvSpPr>
            <a:spLocks noGrp="1"/>
          </p:cNvSpPr>
          <p:nvPr/>
        </p:nvSpPr>
        <p:spPr>
          <a:xfrm>
            <a:off x="6120130" y="51210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Low-friction pulling technology, cut-to-length labeled reels and staged kits — energization-ready, less field labor.</a:t>
            </a:r>
          </a:p>
        </p:txBody>
      </p:sp>
      <p:sp>
        <p:nvSpPr>
          <p:cNvPr id="528" name=""/>
          <p:cNvSpPr>
            <a:spLocks noGrp="1"/>
          </p:cNvSpPr>
          <p:nvPr/>
        </p:nvSpPr>
        <p:spPr>
          <a:xfrm>
            <a:off x="6120130" y="5578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SUPPLIER, WHOLE PACKAGE</a:t>
            </a:r>
          </a:p>
        </p:txBody>
      </p:sp>
      <p:sp>
        <p:nvSpPr>
          <p:cNvPr id="529" name=""/>
          <p:cNvSpPr>
            <a:spLocks noGrp="1"/>
          </p:cNvSpPr>
          <p:nvPr/>
        </p:nvSpPr>
        <p:spPr>
          <a:xfrm>
            <a:off x="6120130" y="58068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MV, LV, control, VFD, grounding, data and DC from a single domestic source — one procurement line item per package.</a:t>
            </a:r>
          </a:p>
        </p:txBody>
      </p:sp>
      <p:sp>
        <p:nvSpPr>
          <p:cNvPr id="530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531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TWO LEAVE-BEHIND CATALOGUES ACCOMPANY THIS DECK — IPP CABLE CATALOGUE (PLANT) · PACKAGED POWER E-CATALOGUE (SKIDS).</a:t>
            </a:r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32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533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534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A12 · OPERATING FLEET</a:t>
            </a:r>
          </a:p>
        </p:txBody>
      </p:sp>
      <p:sp>
        <p:nvSpPr>
          <p:cNvPr id="535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21</a:t>
            </a:r>
          </a:p>
        </p:txBody>
      </p:sp>
      <p:sp>
        <p:nvSpPr>
          <p:cNvPr id="536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REJUVENATION, BROWNFIELD &amp; SERVICE — FOR THE 25.8 GW FLEET</a:t>
            </a:r>
          </a:p>
        </p:txBody>
      </p:sp>
      <p:sp>
        <p:nvSpPr>
          <p:cNvPr id="537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Extend asset life without a greenfield rebuild.</a:t>
            </a:r>
          </a:p>
        </p:txBody>
      </p:sp>
      <p:sp>
        <p:nvSpPr>
          <p:cNvPr id="538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Aging cable systems, upgrades and modular additions across an operating fleet — planned around outage schedules, while the plant stays available.</a:t>
            </a:r>
          </a:p>
        </p:txBody>
      </p:sp>
      <p:sp>
        <p:nvSpPr>
          <p:cNvPr id="539" name=""/>
          <p:cNvSpPr>
            <a:spLocks noGrp="1"/>
          </p:cNvSpPr>
          <p:nvPr/>
        </p:nvSpPr>
        <p:spPr>
          <a:xfrm>
            <a:off x="719138" y="256032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0" name=""/>
          <p:cNvSpPr>
            <a:spLocks noGrp="1"/>
          </p:cNvSpPr>
          <p:nvPr/>
        </p:nvSpPr>
        <p:spPr>
          <a:xfrm>
            <a:off x="947738" y="267462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ELECTRICAL SPINE REJUVENATION</a:t>
            </a:r>
          </a:p>
        </p:txBody>
      </p:sp>
      <p:sp>
        <p:nvSpPr>
          <p:cNvPr id="541" name=""/>
          <p:cNvSpPr>
            <a:spLocks noGrp="1"/>
          </p:cNvSpPr>
          <p:nvPr/>
        </p:nvSpPr>
        <p:spPr>
          <a:xfrm>
            <a:off x="947738" y="294894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Assessment, planning and phased replacement of aging MV / LV cable, grounding, tray and fiber — while the plant remains operational.</a:t>
            </a:r>
          </a:p>
        </p:txBody>
      </p:sp>
      <p:sp>
        <p:nvSpPr>
          <p:cNvPr id="542" name=""/>
          <p:cNvSpPr>
            <a:spLocks noGrp="1"/>
          </p:cNvSpPr>
          <p:nvPr/>
        </p:nvSpPr>
        <p:spPr>
          <a:xfrm>
            <a:off x="6235130" y="256032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3" name=""/>
          <p:cNvSpPr>
            <a:spLocks noGrp="1"/>
          </p:cNvSpPr>
          <p:nvPr/>
        </p:nvSpPr>
        <p:spPr>
          <a:xfrm>
            <a:off x="6463730" y="267462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CABLE REPLACEMENT PROGRAMS</a:t>
            </a:r>
          </a:p>
        </p:txBody>
      </p:sp>
      <p:sp>
        <p:nvSpPr>
          <p:cNvPr id="544" name=""/>
          <p:cNvSpPr>
            <a:spLocks noGrp="1"/>
          </p:cNvSpPr>
          <p:nvPr/>
        </p:nvSpPr>
        <p:spPr>
          <a:xfrm>
            <a:off x="6463730" y="294894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Fast-track domestic supply of power, control and instrumentation cable for planned outages or emergency replacement.</a:t>
            </a:r>
          </a:p>
        </p:txBody>
      </p:sp>
      <p:sp>
        <p:nvSpPr>
          <p:cNvPr id="545" name=""/>
          <p:cNvSpPr>
            <a:spLocks noGrp="1"/>
          </p:cNvSpPr>
          <p:nvPr/>
        </p:nvSpPr>
        <p:spPr>
          <a:xfrm>
            <a:off x="719138" y="373989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6" name=""/>
          <p:cNvSpPr>
            <a:spLocks noGrp="1"/>
          </p:cNvSpPr>
          <p:nvPr/>
        </p:nvSpPr>
        <p:spPr>
          <a:xfrm>
            <a:off x="947738" y="385419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BROWNFIELD UPGRADES &amp; REPOWER</a:t>
            </a:r>
          </a:p>
        </p:txBody>
      </p:sp>
      <p:sp>
        <p:nvSpPr>
          <p:cNvPr id="547" name=""/>
          <p:cNvSpPr>
            <a:spLocks noGrp="1"/>
          </p:cNvSpPr>
          <p:nvPr/>
        </p:nvSpPr>
        <p:spPr>
          <a:xfrm>
            <a:off x="947738" y="412851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scope for turbine upgrades, generator replacements, emissions retrofits and balance-of-plant modernization.</a:t>
            </a:r>
          </a:p>
        </p:txBody>
      </p:sp>
      <p:sp>
        <p:nvSpPr>
          <p:cNvPr id="548" name=""/>
          <p:cNvSpPr>
            <a:spLocks noGrp="1"/>
          </p:cNvSpPr>
          <p:nvPr/>
        </p:nvSpPr>
        <p:spPr>
          <a:xfrm>
            <a:off x="6235130" y="373989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9" name=""/>
          <p:cNvSpPr>
            <a:spLocks noGrp="1"/>
          </p:cNvSpPr>
          <p:nvPr/>
        </p:nvSpPr>
        <p:spPr>
          <a:xfrm>
            <a:off x="6463730" y="385419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POWER ADDITIONS</a:t>
            </a:r>
          </a:p>
        </p:txBody>
      </p:sp>
      <p:sp>
        <p:nvSpPr>
          <p:cNvPr id="550" name=""/>
          <p:cNvSpPr>
            <a:spLocks noGrp="1"/>
          </p:cNvSpPr>
          <p:nvPr/>
        </p:nvSpPr>
        <p:spPr>
          <a:xfrm>
            <a:off x="6463730" y="412851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E-houses, skids, switchgear, UPS and black-start capability — auxiliary loads or new behind-the-meter offtakers.</a:t>
            </a:r>
          </a:p>
        </p:txBody>
      </p:sp>
      <p:sp>
        <p:nvSpPr>
          <p:cNvPr id="551" name=""/>
          <p:cNvSpPr>
            <a:spLocks noGrp="1"/>
          </p:cNvSpPr>
          <p:nvPr/>
        </p:nvSpPr>
        <p:spPr>
          <a:xfrm>
            <a:off x="719138" y="491947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52" name=""/>
          <p:cNvSpPr>
            <a:spLocks noGrp="1"/>
          </p:cNvSpPr>
          <p:nvPr/>
        </p:nvSpPr>
        <p:spPr>
          <a:xfrm>
            <a:off x="947738" y="503377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RELIABILITY &amp; CONDITION SUPPORT</a:t>
            </a:r>
          </a:p>
        </p:txBody>
      </p:sp>
      <p:sp>
        <p:nvSpPr>
          <p:cNvPr id="553" name=""/>
          <p:cNvSpPr>
            <a:spLocks noGrp="1"/>
          </p:cNvSpPr>
          <p:nvPr/>
        </p:nvSpPr>
        <p:spPr>
          <a:xfrm>
            <a:off x="947738" y="530809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System assessments, thermal-imaging coordination, failure analysis and prioritized replacement planning.</a:t>
            </a:r>
          </a:p>
        </p:txBody>
      </p:sp>
      <p:sp>
        <p:nvSpPr>
          <p:cNvPr id="554" name=""/>
          <p:cNvSpPr>
            <a:spLocks noGrp="1"/>
          </p:cNvSpPr>
          <p:nvPr/>
        </p:nvSpPr>
        <p:spPr>
          <a:xfrm>
            <a:off x="6235130" y="491947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55" name=""/>
          <p:cNvSpPr>
            <a:spLocks noGrp="1"/>
          </p:cNvSpPr>
          <p:nvPr/>
        </p:nvSpPr>
        <p:spPr>
          <a:xfrm>
            <a:off x="6463730" y="503377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SERVICE &amp; LONG-TERM AGREEMENTS</a:t>
            </a:r>
          </a:p>
        </p:txBody>
      </p:sp>
      <p:sp>
        <p:nvSpPr>
          <p:cNvPr id="556" name=""/>
          <p:cNvSpPr>
            <a:spLocks noGrp="1"/>
          </p:cNvSpPr>
          <p:nvPr/>
        </p:nvSpPr>
        <p:spPr>
          <a:xfrm>
            <a:off x="6463730" y="530809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Support contracts, inventory programs and rapid-response replacement capability for operating fleets.</a:t>
            </a:r>
          </a:p>
        </p:txBody>
      </p:sp>
      <p:sp>
        <p:nvSpPr>
          <p:cNvPr id="557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Engagements begin with one focused 60–90 minute session across the fleet, then tailored proposals per plant — phased to outage schedules.</a:t>
            </a:r>
          </a:p>
        </p:txBody>
      </p:sp>
      <p:sp>
        <p:nvSpPr>
          <p:cNvPr id="558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559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MINIMIZED DOWNTIME · EXTENDED ASSET LIFE · LOWER TOTAL COST THAN FULL REPLACEMENT — PHASED TO OUTAGE SCHEDULES.</a:t>
            </a:r>
          </a:p>
        </p:txBody>
      </p:sp>
    </p:spTree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2026-08-13T22:16:15.7530000Z</dcterms:created>
  <dcterms:modified xsi:type="dcterms:W3CDTF">2026-08-13T22:16:15.7530000Z</dcterms:modified>
</coreProperties>
</file>