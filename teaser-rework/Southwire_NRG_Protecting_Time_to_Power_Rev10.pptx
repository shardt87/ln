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7d0926bf97124fee" /><Relationship Type="http://schemas.openxmlformats.org/officeDocument/2006/relationships/extended-properties" Target="/docProps/app.xml" Id="R07ac4663c3ef41e8" /><Relationship Type="http://schemas.openxmlformats.org/officeDocument/2006/relationships/officeDocument" Target="/ppt/presentation.xml" Id="R2499c83757fe4f35" /></Relationships>
</file>

<file path=ppt/presentation.xml><?xml version="1.0" encoding="utf-8"?>
<p:presentation xmlns:p="http://schemas.openxmlformats.org/presentationml/2006/main" xmlns:r="http://schemas.openxmlformats.org/officeDocument/2006/relationships">
  <p:sldMasterIdLst>
    <p:sldMasterId xmlns:r="http://schemas.openxmlformats.org/officeDocument/2006/relationships" id="2147483648" r:id="Rb5e8e5b3817a4a98"/>
  </p:sldMasterIdLst>
  <p:notesMasterIdLst>
    <p:notesMasterId xmlns:r="http://schemas.openxmlformats.org/officeDocument/2006/relationships" r:id="R80b678ffa2494307"/>
  </p:notesMasterIdLst>
  <p:sldIdLst>
    <p:sldId xmlns:r="http://schemas.openxmlformats.org/officeDocument/2006/relationships" id="256" r:id="Ra6a9459434474981"/>
    <p:sldId xmlns:r="http://schemas.openxmlformats.org/officeDocument/2006/relationships" id="257" r:id="R905ad6d5c86f4ffd"/>
    <p:sldId xmlns:r="http://schemas.openxmlformats.org/officeDocument/2006/relationships" id="258" r:id="Rc8d0a1cb73de4e2f"/>
    <p:sldId xmlns:r="http://schemas.openxmlformats.org/officeDocument/2006/relationships" id="259" r:id="R6ef2e3d1bfca4224"/>
    <p:sldId xmlns:r="http://schemas.openxmlformats.org/officeDocument/2006/relationships" id="260" r:id="R0b6a3a838cc844a5"/>
    <p:sldId xmlns:r="http://schemas.openxmlformats.org/officeDocument/2006/relationships" id="261" r:id="R1b50de0b86aa4ce0"/>
    <p:sldId xmlns:r="http://schemas.openxmlformats.org/officeDocument/2006/relationships" id="262" r:id="R4b62031c4ada4992"/>
    <p:sldId xmlns:r="http://schemas.openxmlformats.org/officeDocument/2006/relationships" id="263" r:id="Rc41e49e7d6e6424d"/>
    <p:sldId xmlns:r="http://schemas.openxmlformats.org/officeDocument/2006/relationships" id="264" r:id="R52c4c95416cc4deb"/>
    <p:sldId xmlns:r="http://schemas.openxmlformats.org/officeDocument/2006/relationships" id="265" r:id="R4cd2b62133e44004"/>
    <p:sldId xmlns:r="http://schemas.openxmlformats.org/officeDocument/2006/relationships" id="266" r:id="R7eb2d03d5f9a410f"/>
    <p:sldId xmlns:r="http://schemas.openxmlformats.org/officeDocument/2006/relationships" id="267" r:id="R3587363244c248a2"/>
    <p:sldId xmlns:r="http://schemas.openxmlformats.org/officeDocument/2006/relationships" id="268" r:id="R6fc3685fea7f40cb"/>
    <p:sldId xmlns:r="http://schemas.openxmlformats.org/officeDocument/2006/relationships" id="269" r:id="R2dc7fa9f8acc4306"/>
    <p:sldId id="270" r:id="rId1"/>
    <p:sldId id="271" r:id="rId2"/>
    <p:sldId id="272" r:id="rId3"/>
    <p:sldId id="273" r:id="rId4"/>
    <p:sldId id="274" r:id="rId5"/>
    <p:sldId id="275" r:id="rId6"/>
    <p:sldId id="276" r:id="rId7"/>
    <p:sldId id="277" r:id="rId8"/>
    <p:sldId id="278" r:id="rId9"/>
    <p:sldId id="279" r:id="rId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90f60516f94b67" /><Relationship Type="http://schemas.openxmlformats.org/officeDocument/2006/relationships/slideMaster" Target="/ppt/slideMasters/slideMaster1.xml" Id="Rb5e8e5b3817a4a98" /><Relationship Type="http://schemas.openxmlformats.org/officeDocument/2006/relationships/notesMaster" Target="/ppt/notesMasters/notesMaster1.xml" Id="R80b678ffa2494307" /><Relationship Type="http://schemas.openxmlformats.org/officeDocument/2006/relationships/presProps" Target="/ppt/presProps.xml" Id="Ree62f03921ed4f0a" /><Relationship Type="http://schemas.openxmlformats.org/officeDocument/2006/relationships/tableStyles" Target="/ppt/tableStyles.xml" Id="R3e97285220704b69" /><Relationship Type="http://schemas.openxmlformats.org/officeDocument/2006/relationships/slide" Target="/ppt/slides/slide1.xml" Id="Ra6a9459434474981" /><Relationship Type="http://schemas.openxmlformats.org/officeDocument/2006/relationships/slide" Target="/ppt/slides/slide2.xml" Id="R905ad6d5c86f4ffd" /><Relationship Type="http://schemas.openxmlformats.org/officeDocument/2006/relationships/slide" Target="/ppt/slides/slide3.xml" Id="Rc8d0a1cb73de4e2f" /><Relationship Type="http://schemas.openxmlformats.org/officeDocument/2006/relationships/slide" Target="/ppt/slides/slide4.xml" Id="R6ef2e3d1bfca4224" /><Relationship Type="http://schemas.openxmlformats.org/officeDocument/2006/relationships/slide" Target="/ppt/slides/slide5.xml" Id="R0b6a3a838cc844a5" /><Relationship Type="http://schemas.openxmlformats.org/officeDocument/2006/relationships/slide" Target="/ppt/slides/slide6.xml" Id="R1b50de0b86aa4ce0" /><Relationship Type="http://schemas.openxmlformats.org/officeDocument/2006/relationships/slide" Target="/ppt/slides/slide7.xml" Id="R4b62031c4ada4992" /><Relationship Type="http://schemas.openxmlformats.org/officeDocument/2006/relationships/slide" Target="/ppt/slides/slide8.xml" Id="Rc41e49e7d6e6424d" /><Relationship Type="http://schemas.openxmlformats.org/officeDocument/2006/relationships/slide" Target="/ppt/slides/slide9.xml" Id="R52c4c95416cc4deb" /><Relationship Type="http://schemas.openxmlformats.org/officeDocument/2006/relationships/slide" Target="/ppt/slides/slide10.xml" Id="R4cd2b62133e44004" /><Relationship Type="http://schemas.openxmlformats.org/officeDocument/2006/relationships/slide" Target="/ppt/slides/slide11.xml" Id="R7eb2d03d5f9a410f" /><Relationship Type="http://schemas.openxmlformats.org/officeDocument/2006/relationships/slide" Target="/ppt/slides/slide12.xml" Id="R3587363244c248a2" /><Relationship Type="http://schemas.openxmlformats.org/officeDocument/2006/relationships/slide" Target="/ppt/slides/slide13.xml" Id="R6fc3685fea7f40cb" /><Relationship Type="http://schemas.openxmlformats.org/officeDocument/2006/relationships/slide" Target="/ppt/slides/slide14.xml" Id="R2dc7fa9f8acc4306" />  <Relationship Id="rId1" Type="http://schemas.openxmlformats.org/officeDocument/2006/relationships/slide" Target="slides/slide15.xml"/>
  <Relationship Id="rId2" Type="http://schemas.openxmlformats.org/officeDocument/2006/relationships/slide" Target="slides/slide16.xml"/>
  <Relationship Id="rId3" Type="http://schemas.openxmlformats.org/officeDocument/2006/relationships/slide" Target="slides/slide17.xml"/>
  <Relationship Id="rId4" Type="http://schemas.openxmlformats.org/officeDocument/2006/relationships/slide" Target="slides/slide18.xml"/>
  <Relationship Id="rId5" Type="http://schemas.openxmlformats.org/officeDocument/2006/relationships/slide" Target="slides/slide19.xml"/>
  <Relationship Id="rId6" Type="http://schemas.openxmlformats.org/officeDocument/2006/relationships/slide" Target="slides/slide20.xml"/>
  <Relationship Id="rId7" Type="http://schemas.openxmlformats.org/officeDocument/2006/relationships/slide" Target="slides/slide21.xml"/>
  <Relationship Id="rId8" Type="http://schemas.openxmlformats.org/officeDocument/2006/relationships/slide" Target="slides/slide22.xml"/>
  <Relationship Id="rId9" Type="http://schemas.openxmlformats.org/officeDocument/2006/relationships/slide" Target="slides/slide23.xml"/>
  <Relationship Id="rId10" Type="http://schemas.openxmlformats.org/officeDocument/2006/relationships/slide" Target="slides/slide24.xml"/>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09b9d2f2c347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1ca114a6c547aa" /><Relationship Type="http://schemas.openxmlformats.org/officeDocument/2006/relationships/notesMaster" Target="/ppt/notesMasters/notesMaster1.xml" Id="Re76424e51eea4b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283b3fb5a147c6" /><Relationship Type="http://schemas.openxmlformats.org/officeDocument/2006/relationships/notesMaster" Target="/ppt/notesMasters/notesMaster1.xml" Id="Rb5a7e20d6c964c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df52d44f7c4419" /><Relationship Type="http://schemas.openxmlformats.org/officeDocument/2006/relationships/notesMaster" Target="/ppt/notesMasters/notesMaster1.xml" Id="R37a12510a0d94a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54a01116b24c7a" /><Relationship Type="http://schemas.openxmlformats.org/officeDocument/2006/relationships/notesMaster" Target="/ppt/notesMasters/notesMaster1.xml" Id="R7b8429734b1742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7eb9d0b9b24bfe" /><Relationship Type="http://schemas.openxmlformats.org/officeDocument/2006/relationships/notesMaster" Target="/ppt/notesMasters/notesMaster1.xml" Id="Re8510f9385cc47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58ae63eba04390" /><Relationship Type="http://schemas.openxmlformats.org/officeDocument/2006/relationships/notesMaster" Target="/ppt/notesMasters/notesMaster1.xml" Id="R543cb85b48ae41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233e4ff1a14ccc" /><Relationship Type="http://schemas.openxmlformats.org/officeDocument/2006/relationships/notesMaster" Target="/ppt/notesMasters/notesMaster1.xml" Id="R2fc4d924caaf4d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ed30a063df4f29" /><Relationship Type="http://schemas.openxmlformats.org/officeDocument/2006/relationships/notesMaster" Target="/ppt/notesMasters/notesMaster1.xml" Id="R64c85a6354a649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8a41e7b7e540a6" /><Relationship Type="http://schemas.openxmlformats.org/officeDocument/2006/relationships/notesMaster" Target="/ppt/notesMasters/notesMaster1.xml" Id="Rb2f9770a12104a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02a3704ce646e4" /><Relationship Type="http://schemas.openxmlformats.org/officeDocument/2006/relationships/notesMaster" Target="/ppt/notesMasters/notesMaster1.xml" Id="R86a54c982af84d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479691dfb54678" /><Relationship Type="http://schemas.openxmlformats.org/officeDocument/2006/relationships/notesMaster" Target="/ppt/notesMasters/notesMaster1.xml" Id="Ra806e0ee51b44f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83a493649e4208" /><Relationship Type="http://schemas.openxmlformats.org/officeDocument/2006/relationships/notesMaster" Target="/ppt/notesMasters/notesMaster1.xml" Id="Rad4b405367a04c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b0e001392b4bf1" /><Relationship Type="http://schemas.openxmlformats.org/officeDocument/2006/relationships/notesMaster" Target="/ppt/notesMasters/notesMaster1.xml" Id="R243119a9dcb44b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85037211a04f08" /><Relationship Type="http://schemas.openxmlformats.org/officeDocument/2006/relationships/notesMaster" Target="/ppt/notesMasters/notesMaster1.xml" Id="Ra43e6c263aa24a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NRG is managing three distinct execution environments: the TEF portfolio, a 5.4-GW newbuild runway and a larger operating fleet. Our working hypothesis is that the next place to protect schedule certainty is the electrical delivery chain—where specifications, material, releases, package interfaces, field labor and turnover converge.</a:t>
            </a:r>
          </a:p>
          <a:p xmlns:a="http://schemas.openxmlformats.org/drawingml/2006/main">
            <a:r>
              <a:t>[/Presenter notes]</a:t>
            </a:r>
          </a:p>
          <a:p xmlns:a="http://schemas.openxmlformats.org/drawingml/2006/main">
            <a:r>
              <a:t/>
            </a:r>
          </a:p>
          <a:p xmlns:a="http://schemas.openxmlformats.org/drawingml/2006/main">
            <a:r>
              <a:t>[Sources]</a:t>
            </a:r>
          </a:p>
          <a:p xmlns:a="http://schemas.openxmlformats.org/drawingml/2006/main">
            <a:r>
              <a:t>- User-provided Power Gen Teaser Southwire Final.pdf (combined-cycle model and Southwire logo), supplied 2026-08-13.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NRG 2Q26 earnings presentation (2026-08-04): https://investors.nrg.com/static-files/166760ef-79e6-4985-b776-09660ed84ae9</a:t>
            </a:r>
          </a:p>
          <a:p xmlns:a="http://schemas.openxmlformats.org/drawingml/2006/main">
            <a:r>
              <a:t>- NRG 2Q26 results release: https://investors.nrg.com/news-releases/news-release-details/nrg-energy-reports-second-quarter-2026-results-and-reaffirms</a:t>
            </a:r>
          </a:p>
          <a:p xmlns:a="http://schemas.openxmlformats.org/drawingml/2006/main">
            <a:r>
              <a:t>- NRG LS Power acquisition close: https://investors.nrg.com/news-releases/news-release-details/nrg-energy-completes-acquisition-13-gw-power-generation-and-ci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Power Gen Teaser Southwire Final.pdf (labor, material and system-risk framing), supplied 2026-08-13.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Power Gen Teaser Southwire Final.pdf (central time-to-power thesis), supplied 2026-08-13.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Southwire project services: https://www.southwire.com/services/project-services</a:t>
            </a:r>
          </a:p>
          <a:p xmlns:a="http://schemas.openxmlformats.org/drawingml/2006/main">
            <a:r>
              <a:t>- Southwire services and technical support: https://www.southwire.com/services</a:t>
            </a:r>
          </a:p>
          <a:p xmlns:a="http://schemas.openxmlformats.org/drawingml/2006/main">
            <a:r>
              <a:t>- Proposed operating model; not a committed NRG scope or commercial offer.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Southwire project services: https://www.southwire.com/services/project-services</a:t>
            </a:r>
          </a:p>
          <a:p xmlns:a="http://schemas.openxmlformats.org/drawingml/2006/main">
            <a:r>
              <a:t>- Outcome statements are hypotheses to validate, not claimed NRG results.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adjacent-market benchmark supplied in the user-provided deck: 4,400 observed field hours for the site-built baseline and approximately 880 modeled field hours with a factory-built assembly. Not externally published and not an NRG result. Validate methodology, scope equivalence and permission before external release.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Proposed Southwire diagnostic exercise; scope, participants, timing and deliverables must be mutually agreed before commitment.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We are not asking for a preferred-supplier decision or a broad commercial commitment. We are asking for one live scope, one focused hour with the people closest to electrical execution and, where practical, one site walk. We will return a concise written read-back—including where Southwire cannot materially help. If there is no credible case, we stop. If there is, we jointly define a bounded pilot.</a:t>
            </a:r>
          </a:p>
          <a:p xmlns:a="http://schemas.openxmlformats.org/drawingml/2006/main">
            <a:r>
              <a:t>[/Presenter notes]</a:t>
            </a:r>
          </a:p>
          <a:p xmlns:a="http://schemas.openxmlformats.org/drawingml/2006/main">
            <a:r>
              <a:t/>
            </a:r>
          </a:p>
          <a:p xmlns:a="http://schemas.openxmlformats.org/drawingml/2006/main">
            <a:r>
              <a:t>[Sources]</a:t>
            </a:r>
          </a:p>
          <a:p xmlns:a="http://schemas.openxmlformats.org/drawingml/2006/main">
            <a:r>
              <a:t>- User-provided Power Gen Teaser Southwire Final.pdf (graphite honeycomb texture and contact information), supplied 2026-08-13.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NRG 2Q26 earnings presentation (2026-08-04): https://investors.nrg.com/static-files/166760ef-79e6-4985-b776-09660ed84ae9</a:t>
            </a:r>
          </a:p>
          <a:p xmlns:a="http://schemas.openxmlformats.org/drawingml/2006/main">
            <a:r>
              <a:t>- NRG 2Q26 results release: https://investors.nrg.com/news-releases/news-release-details/nrg-energy-reports-second-quarter-2026-results-and-reaffirms</a:t>
            </a:r>
          </a:p>
          <a:p xmlns:a="http://schemas.openxmlformats.org/drawingml/2006/main">
            <a:r>
              <a:t>- NRG LS Power acquisition close: https://investors.nrg.com/news-releases/news-release-details/nrg-energy-completes-acquisition-13-gw-power-generation-and-ci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Proposed role-boundary framework for discussion; contractual scope and accountability must be agreed project by project.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Power Gen Teaser Southwire Final.pdf (Rev 89 combined-cycle site model and zone basis), supplied 2026-08-13.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Southwire project services: https://www.southwire.com/services/project-services</a:t>
            </a:r>
          </a:p>
          <a:p xmlns:a="http://schemas.openxmlformats.org/drawingml/2006/main">
            <a:r>
              <a:t>- Southwire services: https://www.southwire.com/services</a:t>
            </a:r>
          </a:p>
          <a:p xmlns:a="http://schemas.openxmlformats.org/drawingml/2006/main">
            <a:r>
              <a:t>- Southwire product transparency: https://www.southwire.com/sustainability/product-transparency</a:t>
            </a:r>
          </a:p>
          <a:p xmlns:a="http://schemas.openxmlformats.org/drawingml/2006/main">
            <a:r>
              <a:t>- Southwire responsible production: https://www.southwire.com/sustainability/doing-right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adjacent-market benchmark supplied in the user-provided deck. No external source or customer permission has been provided. Keep the main-deck numeric slide internal until validation and external-use approval are complete.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02cd44b46b43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f9ad11e21e49bd" /><Relationship Type="http://schemas.openxmlformats.org/officeDocument/2006/relationships/slideLayout" Target="/ppt/slideLayouts/slideLayout1.xml" Id="R9b6c61e7c04a47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6c61e7c04a47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8bb182bfb84760" /><Relationship Type="http://schemas.openxmlformats.org/officeDocument/2006/relationships/image" Target="/ppt/media/image.jpeg" Id="R0f6abb0571bc450c" /><Relationship Type="http://schemas.openxmlformats.org/officeDocument/2006/relationships/image" Target="/ppt/media/image2.jpeg" Id="Re8f8611cb8914760" /><Relationship Type="http://schemas.openxmlformats.org/officeDocument/2006/relationships/notesSlide" Target="/ppt/notesSlides/notesSlide1.xml" Id="R5b1563f1cdc847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a5a7e71159499c" /><Relationship Type="http://schemas.openxmlformats.org/officeDocument/2006/relationships/image" Target="/ppt/media/image3.jpeg" Id="Rc876737220024471" /><Relationship Type="http://schemas.openxmlformats.org/officeDocument/2006/relationships/notesSlide" Target="/ppt/notesSlides/notesSlide2.xml" Id="Re64bd40c611a4a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89ad1aff3441ea" /><Relationship Type="http://schemas.openxmlformats.org/officeDocument/2006/relationships/image" Target="/ppt/media/image4.jpeg" Id="Rfc1affae7cb74e1e" /><Relationship Type="http://schemas.openxmlformats.org/officeDocument/2006/relationships/notesSlide" Target="/ppt/notesSlides/notesSlide3.xml" Id="R380f4c84069740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2f384951b24fe2" /><Relationship Type="http://schemas.openxmlformats.org/officeDocument/2006/relationships/image" Target="/ppt/media/image5.jpeg" Id="R4defc997f92c418d" /><Relationship Type="http://schemas.openxmlformats.org/officeDocument/2006/relationships/notesSlide" Target="/ppt/notesSlides/notesSlide4.xml" Id="R84b426f3cf694a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7ba4dfc772432f" /><Relationship Type="http://schemas.openxmlformats.org/officeDocument/2006/relationships/image" Target="/ppt/media/image6.jpeg" Id="Re9945691857c4426" /><Relationship Type="http://schemas.openxmlformats.org/officeDocument/2006/relationships/notesSlide" Target="/ppt/notesSlides/notesSlide5.xml" Id="Rec7788092b524e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4a90135d8c4113" /><Relationship Type="http://schemas.openxmlformats.org/officeDocument/2006/relationships/image" Target="/ppt/media/image7.jpeg" Id="Re541a94199674e25" /><Relationship Type="http://schemas.openxmlformats.org/officeDocument/2006/relationships/notesSlide" Target="/ppt/notesSlides/notesSlide6.xml" Id="Rc0a37ce820eb4f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fa585275e048c2" /><Relationship Type="http://schemas.openxmlformats.org/officeDocument/2006/relationships/image" Target="/ppt/media/image8.jpeg" Id="R7ee1c5f2262e4319" /><Relationship Type="http://schemas.openxmlformats.org/officeDocument/2006/relationships/notesSlide" Target="/ppt/notesSlides/notesSlide7.xml" Id="R54a22f7a9a1f44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8210136f03452c" /><Relationship Type="http://schemas.openxmlformats.org/officeDocument/2006/relationships/image" Target="/ppt/media/image9.jpeg" Id="Raf48650a3c4a4d07" /><Relationship Type="http://schemas.openxmlformats.org/officeDocument/2006/relationships/notesSlide" Target="/ppt/notesSlides/notesSlide8.xml" Id="Rc27b689747074b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0bc4fdbd6a84b31" /><Relationship Type="http://schemas.openxmlformats.org/officeDocument/2006/relationships/image" Target="/ppt/media/image10.jpeg" Id="R3d7090369bf04fb9" /><Relationship Type="http://schemas.openxmlformats.org/officeDocument/2006/relationships/notesSlide" Target="/ppt/notesSlides/notesSlide9.xml" Id="R80c06fd9fc784e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 Type="http://schemas.openxmlformats.org/officeDocument/2006/relationships/notesSlide" Target="/ppt/notesSlides/notesSlide10.xml" Id="Rdcef412924914f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27a23c9a4a9459d" /><Relationship Type="http://schemas.openxmlformats.org/officeDocument/2006/relationships/image" Target="/ppt/media/image12.jpeg" Id="R0d68d762455049bf" /><Relationship Type="http://schemas.openxmlformats.org/officeDocument/2006/relationships/notesSlide" Target="/ppt/notesSlides/notesSlide11.xml" Id="R0a347f0e701644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a6cbf7d9bc42c0" /><Relationship Type="http://schemas.openxmlformats.org/officeDocument/2006/relationships/image" Target="/ppt/media/image13.jpeg" Id="R9278081788d04e04" /><Relationship Type="http://schemas.openxmlformats.org/officeDocument/2006/relationships/image" Target="/ppt/media/image14.jpeg" Id="R9ba0958dc14b4dd2" /><Relationship Type="http://schemas.openxmlformats.org/officeDocument/2006/relationships/notesSlide" Target="/ppt/notesSlides/notesSlide12.xml" Id="Rd15c87984c7540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200248d254e49c9" /><Relationship Type="http://schemas.openxmlformats.org/officeDocument/2006/relationships/image" Target="/ppt/media/image15.jpeg" Id="R1ecb628aa9ae49b6" /><Relationship Type="http://schemas.openxmlformats.org/officeDocument/2006/relationships/notesSlide" Target="/ppt/notesSlides/notesSlide13.xml" Id="Red5caebca57c43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2723b3c08084749" /><Relationship Type="http://schemas.openxmlformats.org/officeDocument/2006/relationships/image" Target="/ppt/media/image16.jpeg" Id="R82a988a906914445" /><Relationship Type="http://schemas.openxmlformats.org/officeDocument/2006/relationships/notesSlide" Target="/ppt/notesSlides/notesSlide14.xml" Id="Rd31656f6b26845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 Type="http://schemas.openxmlformats.org/officeDocument/2006/relationships/image" Target="/ppt/media/imagesk120.jpeg" Id="Rsk120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a620a3f08fb48b1" /><Relationship Type="http://schemas.openxmlformats.org/officeDocument/2006/relationships/image" Target="/ppt/media/image11.jpeg" Id="R48e2a3d3733b4264" /></Relationships>
</file>

<file path=ppt/slides/slide1.xml><?xml version="1.0" encoding="utf-8"?>
<p:sld xmlns:p="http://schemas.openxmlformats.org/presentationml/2006/main">
  <p:cSld>
    <p:bg>
      <p:bgPr>
        <a:solidFill xmlns:a="http://schemas.openxmlformats.org/drawingml/2006/main">
          <a:srgbClr val="22252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35EF59-13FD-4D9A-9878-74A258A17307}"/>
              </a:ext>
            </a:extLst>
          </p:cNvPr>
          <p:cNvSpPr>
            <a:spLocks xmlns:a="http://schemas.openxmlformats.org/drawingml/2006/main" noGrp="1"/>
          </p:cNvSpPr>
          <p:nvPr/>
        </p:nvSpPr>
        <p:spPr>
          <a:xfrm xmlns:a="http://schemas.openxmlformats.org/drawingml/2006/main" rot="0">
            <a:off x="0" y="0"/>
            <a:ext cx="5619750" cy="6858000"/>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f6abb0571bc450c"/>
          <a:srcRect xmlns:a="http://schemas.openxmlformats.org/drawingml/2006/main" l="23047" t="0" r="23047" b="0"/>
          <a:stretch xmlns:a="http://schemas.openxmlformats.org/drawingml/2006/main">
            <a:fillRect l="0" t="0" r="0" b="0"/>
          </a:stretch>
        </p:blipFill>
        <p:spPr>
          <a:xfrm xmlns:a="http://schemas.openxmlformats.org/drawingml/2006/main">
            <a:off x="5619750" y="0"/>
            <a:ext cx="65722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9C488C-3A54-4952-8BC9-B7C7596F74F7}"/>
              </a:ext>
            </a:extLst>
          </p:cNvPr>
          <p:cNvSpPr>
            <a:spLocks xmlns:a="http://schemas.openxmlformats.org/drawingml/2006/main" noGrp="1"/>
          </p:cNvSpPr>
          <p:nvPr/>
        </p:nvSpPr>
        <p:spPr>
          <a:xfrm xmlns:a="http://schemas.openxmlformats.org/drawingml/2006/main" rot="0">
            <a:off x="5581650" y="0"/>
            <a:ext cx="47625" cy="685800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8f8611cb8914760"/>
          <a:srcRect xmlns:a="http://schemas.openxmlformats.org/drawingml/2006/main" l="8984" t="0" r="8984" b="0"/>
          <a:stretch xmlns:a="http://schemas.openxmlformats.org/drawingml/2006/main">
            <a:fillRect l="0" t="0" r="0" b="0"/>
          </a:stretch>
        </p:blipFill>
        <p:spPr>
          <a:xfrm xmlns:a="http://schemas.openxmlformats.org/drawingml/2006/main">
            <a:off x="533400" y="400050"/>
            <a:ext cx="3667125" cy="628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A5C8ACA-EC8A-4169-9061-AF45BA88993C}"/>
              </a:ext>
            </a:extLst>
          </p:cNvPr>
          <p:cNvSpPr>
            <a:spLocks xmlns:a="http://schemas.openxmlformats.org/drawingml/2006/main" noGrp="1"/>
          </p:cNvSpPr>
          <p:nvPr/>
        </p:nvSpPr>
        <p:spPr>
          <a:xfrm xmlns:a="http://schemas.openxmlformats.org/drawingml/2006/main">
            <a:off x="552450" y="1381125"/>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E3A06D"/>
                </a:solidFill>
                <a:latin typeface="Arial Narrow"/>
                <a:ea typeface="Arial Narrow"/>
                <a:cs typeface="Arial Narrow"/>
              </a:defRPr>
            </a:pPr>
            <a:r>
              <a:rPr sz="1050" b="1" i="0">
                <a:solidFill>
                  <a:srgbClr val="E3A06D"/>
                </a:solidFill>
                <a:latin typeface="Arial Narrow"/>
                <a:ea typeface="Arial Narrow"/>
                <a:cs typeface="Arial Narrow"/>
              </a:rPr>
              <a:t>PREPARED FOR NRG  |  EXECUTIVE WORKING DISCUSSION</a:t>
            </a:r>
          </a:p>
        </p:txBody>
      </p:sp>
      <p:sp>
        <p:nvSpPr>
          <p:cNvPr id="6" name="">
            <a:extLst xmlns:a="http://schemas.openxmlformats.org/drawingml/2006/main">
              <a:ext uri="{FF2B5EF4-FFF2-40B4-BE49-F238E27FC236}">
                <a16:creationId xmlns:a16="http://schemas.microsoft.com/office/drawing/2014/main" id="{23D8E28E-9D85-4F4F-9279-A2B2509B4001}"/>
              </a:ext>
            </a:extLst>
          </p:cNvPr>
          <p:cNvSpPr>
            <a:spLocks xmlns:a="http://schemas.openxmlformats.org/drawingml/2006/main" noGrp="1"/>
          </p:cNvSpPr>
          <p:nvPr/>
        </p:nvSpPr>
        <p:spPr>
          <a:xfrm xmlns:a="http://schemas.openxmlformats.org/drawingml/2006/main">
            <a:off x="552450" y="1819275"/>
            <a:ext cx="44958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6000"/>
              </a:lnSpc>
              <a:buNone/>
              <a:defRPr sz="4350" b="1" i="0">
                <a:solidFill>
                  <a:srgbClr val="FFFFFF"/>
                </a:solidFill>
                <a:latin typeface="Arial Narrow"/>
                <a:ea typeface="Arial Narrow"/>
                <a:cs typeface="Arial Narrow"/>
              </a:defRPr>
            </a:pPr>
            <a:r>
              <a:rPr sz="4350" b="1" i="0">
                <a:solidFill>
                  <a:srgbClr val="FFFFFF"/>
                </a:solidFill>
                <a:latin typeface="Arial Narrow"/>
                <a:ea typeface="Arial Narrow"/>
                <a:cs typeface="Arial Narrow"/>
              </a:rPr>
              <a:t>PROTECTING</a:t>
            </a:r>
          </a:p>
          <a:p xmlns:a="http://schemas.openxmlformats.org/drawingml/2006/main">
            <a:pPr algn="l">
              <a:lnSpc>
                <a:spcPct val="86000"/>
              </a:lnSpc>
              <a:buNone/>
              <a:defRPr sz="4350" b="1" i="0">
                <a:solidFill>
                  <a:srgbClr val="FFFFFF"/>
                </a:solidFill>
                <a:latin typeface="Arial Narrow"/>
                <a:ea typeface="Arial Narrow"/>
                <a:cs typeface="Arial Narrow"/>
              </a:defRPr>
            </a:pPr>
            <a:r>
              <a:rPr sz="4350" b="1" i="0">
                <a:solidFill>
                  <a:srgbClr val="FFFFFF"/>
                </a:solidFill>
                <a:latin typeface="Arial Narrow"/>
                <a:ea typeface="Arial Narrow"/>
                <a:cs typeface="Arial Narrow"/>
              </a:rPr>
              <a:t>TIME TO POWER</a:t>
            </a:r>
          </a:p>
        </p:txBody>
      </p:sp>
      <p:sp>
        <p:nvSpPr>
          <p:cNvPr id="7" name="">
            <a:extLst xmlns:a="http://schemas.openxmlformats.org/drawingml/2006/main">
              <a:ext uri="{FF2B5EF4-FFF2-40B4-BE49-F238E27FC236}">
                <a16:creationId xmlns:a16="http://schemas.microsoft.com/office/drawing/2014/main" id="{36CC4DD4-571A-4425-8F57-4DD0B73AA56B}"/>
              </a:ext>
            </a:extLst>
          </p:cNvPr>
          <p:cNvSpPr>
            <a:spLocks xmlns:a="http://schemas.openxmlformats.org/drawingml/2006/main" noGrp="1"/>
          </p:cNvSpPr>
          <p:nvPr/>
        </p:nvSpPr>
        <p:spPr>
          <a:xfrm xmlns:a="http://schemas.openxmlformats.org/drawingml/2006/main">
            <a:off x="552450" y="3638550"/>
            <a:ext cx="1257300"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8" name="">
            <a:extLst xmlns:a="http://schemas.openxmlformats.org/drawingml/2006/main">
              <a:ext uri="{FF2B5EF4-FFF2-40B4-BE49-F238E27FC236}">
                <a16:creationId xmlns:a16="http://schemas.microsoft.com/office/drawing/2014/main" id="{BDCBD95E-78E0-414E-88E1-9AD4DFDA7D0C}"/>
              </a:ext>
            </a:extLst>
          </p:cNvPr>
          <p:cNvSpPr>
            <a:spLocks xmlns:a="http://schemas.openxmlformats.org/drawingml/2006/main" noGrp="1"/>
          </p:cNvSpPr>
          <p:nvPr/>
        </p:nvSpPr>
        <p:spPr>
          <a:xfrm xmlns:a="http://schemas.openxmlformats.org/drawingml/2006/main">
            <a:off x="552450" y="3914775"/>
            <a:ext cx="4333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D4D6D8"/>
                </a:solidFill>
                <a:latin typeface="Arial"/>
                <a:ea typeface="Arial"/>
                <a:cs typeface="Arial"/>
              </a:defRPr>
            </a:pPr>
            <a:r>
              <a:rPr sz="1725" b="0" i="0">
                <a:solidFill>
                  <a:srgbClr val="D4D6D8"/>
                </a:solidFill>
                <a:latin typeface="Arial"/>
                <a:ea typeface="Arial"/>
                <a:cs typeface="Arial"/>
              </a:rPr>
              <a:t>A working model for integrated electrical delivery across NRG's generation buildout.</a:t>
            </a:r>
          </a:p>
        </p:txBody>
      </p:sp>
      <p:sp>
        <p:nvSpPr>
          <p:cNvPr id="9" name="">
            <a:extLst xmlns:a="http://schemas.openxmlformats.org/drawingml/2006/main">
              <a:ext uri="{FF2B5EF4-FFF2-40B4-BE49-F238E27FC236}">
                <a16:creationId xmlns:a16="http://schemas.microsoft.com/office/drawing/2014/main" id="{1A0C325A-3DD2-4CE5-8C5A-4371B632F01C}"/>
              </a:ext>
            </a:extLst>
          </p:cNvPr>
          <p:cNvSpPr>
            <a:spLocks xmlns:a="http://schemas.openxmlformats.org/drawingml/2006/main" noGrp="1"/>
          </p:cNvSpPr>
          <p:nvPr/>
        </p:nvSpPr>
        <p:spPr>
          <a:xfrm xmlns:a="http://schemas.openxmlformats.org/drawingml/2006/main">
            <a:off x="552450" y="5238750"/>
            <a:ext cx="4362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1425" b="1" i="0">
                <a:solidFill>
                  <a:srgbClr val="E3A06D"/>
                </a:solidFill>
                <a:latin typeface="Arial Narrow"/>
                <a:ea typeface="Arial Narrow"/>
                <a:cs typeface="Arial Narrow"/>
              </a:defRPr>
            </a:pPr>
            <a:r>
              <a:rPr sz="1425" b="1" i="0">
                <a:solidFill>
                  <a:srgbClr val="E3A06D"/>
                </a:solidFill>
                <a:latin typeface="Arial Narrow"/>
                <a:ea typeface="Arial Narrow"/>
                <a:cs typeface="Arial Narrow"/>
              </a:rPr>
              <a:t>PRESERVE UPSTREAM CERTAINTY</a:t>
            </a:r>
          </a:p>
          <a:p xmlns:a="http://schemas.openxmlformats.org/drawingml/2006/main">
            <a:pPr algn="l">
              <a:lnSpc>
                <a:spcPct val="96000"/>
              </a:lnSpc>
              <a:buNone/>
              <a:defRPr sz="1425" b="1" i="0">
                <a:solidFill>
                  <a:srgbClr val="E3A06D"/>
                </a:solidFill>
                <a:latin typeface="Arial Narrow"/>
                <a:ea typeface="Arial Narrow"/>
                <a:cs typeface="Arial Narrow"/>
              </a:defRPr>
            </a:pPr>
            <a:r>
              <a:rPr sz="1425" b="1" i="0">
                <a:solidFill>
                  <a:srgbClr val="E3A06D"/>
                </a:solidFill>
                <a:latin typeface="Arial Narrow"/>
                <a:ea typeface="Arial Narrow"/>
                <a:cs typeface="Arial Narrow"/>
              </a:rPr>
              <a:t>THROUGH THE ELECTRICAL DELIVERY CHAIN.</a:t>
            </a:r>
          </a:p>
        </p:txBody>
      </p:sp>
      <p:sp>
        <p:nvSpPr>
          <p:cNvPr id="10" name="">
            <a:extLst xmlns:a="http://schemas.openxmlformats.org/drawingml/2006/main">
              <a:ext uri="{FF2B5EF4-FFF2-40B4-BE49-F238E27FC236}">
                <a16:creationId xmlns:a16="http://schemas.microsoft.com/office/drawing/2014/main" id="{56AE29E2-F0A4-4ED8-ABF9-D68C5DE430E9}"/>
              </a:ext>
            </a:extLst>
          </p:cNvPr>
          <p:cNvSpPr>
            <a:spLocks xmlns:a="http://schemas.openxmlformats.org/drawingml/2006/main" noGrp="1"/>
          </p:cNvSpPr>
          <p:nvPr/>
        </p:nvSpPr>
        <p:spPr>
          <a:xfrm xmlns:a="http://schemas.openxmlformats.org/drawingml/2006/main">
            <a:off x="552450" y="63341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i="0">
                <a:solidFill>
                  <a:srgbClr val="8B9094"/>
                </a:solidFill>
                <a:latin typeface="Arial"/>
                <a:ea typeface="Arial"/>
                <a:cs typeface="Arial"/>
              </a:defRPr>
            </a:pPr>
            <a:r>
              <a:rPr sz="900" b="0" i="0">
                <a:solidFill>
                  <a:srgbClr val="8B9094"/>
                </a:solidFill>
                <a:latin typeface="Arial"/>
                <a:ea typeface="Arial"/>
                <a:cs typeface="Arial"/>
              </a:rPr>
              <a:t>Stephan Hardt  |  Director, Power Generation Solutions  |  Southwire</a:t>
            </a:r>
          </a:p>
        </p:txBody>
      </p:sp>
    </p:spTree>
    <p:extLst>
      <p:ext uri="{BB962C8B-B14F-4D97-AF65-F5344CB8AC3E}">
        <p14:creationId xmlns:p14="http://schemas.microsoft.com/office/powerpoint/2010/main" val="1121985240"/>
      </p:ext>
    </p:extLst>
  </p:cSld>
</p:sld>
</file>

<file path=ppt/slides/slide2.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66E4675-5951-4B04-9434-499810F1190E}"/>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876737220024471"/>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A6B4B8-1504-4592-AA89-370627FC70EF}"/>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9D4E24"/>
                </a:solidFill>
                <a:latin typeface="Arial Narrow"/>
                <a:ea typeface="Arial Narrow"/>
                <a:cs typeface="Arial Narrow"/>
              </a:defRPr>
            </a:pPr>
            <a:r>
              <a:rPr sz="975" b="1" i="0">
                <a:solidFill>
                  <a:srgbClr val="9D4E24"/>
                </a:solidFill>
                <a:latin typeface="Arial Narrow"/>
                <a:ea typeface="Arial Narrow"/>
                <a:cs typeface="Arial Narrow"/>
              </a:rPr>
              <a:t>NRG'S AMBITION</a:t>
            </a:r>
          </a:p>
        </p:txBody>
      </p:sp>
      <p:sp>
        <p:nvSpPr>
          <p:cNvPr id="4" name="">
            <a:extLst xmlns:a="http://schemas.openxmlformats.org/drawingml/2006/main">
              <a:ext uri="{FF2B5EF4-FFF2-40B4-BE49-F238E27FC236}">
                <a16:creationId xmlns:a16="http://schemas.microsoft.com/office/drawing/2014/main" id="{7B683341-83F3-46B5-8D72-14A3CBA811D5}"/>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02</a:t>
            </a:r>
          </a:p>
        </p:txBody>
      </p:sp>
      <p:sp>
        <p:nvSpPr>
          <p:cNvPr id="5" name="">
            <a:extLst xmlns:a="http://schemas.openxmlformats.org/drawingml/2006/main">
              <a:ext uri="{FF2B5EF4-FFF2-40B4-BE49-F238E27FC236}">
                <a16:creationId xmlns:a16="http://schemas.microsoft.com/office/drawing/2014/main" id="{6547850D-07DD-495F-8213-AA2ACF9C26D4}"/>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D4E24"/>
                </a:solidFill>
                <a:latin typeface="Arial Narrow"/>
                <a:ea typeface="Arial Narrow"/>
                <a:cs typeface="Arial Narrow"/>
              </a:defRPr>
            </a:pPr>
            <a:r>
              <a:rPr sz="1050" b="1" i="0">
                <a:solidFill>
                  <a:srgbClr val="9D4E24"/>
                </a:solidFill>
                <a:latin typeface="Arial Narrow"/>
                <a:ea typeface="Arial Narrow"/>
                <a:cs typeface="Arial Narrow"/>
              </a:rPr>
              <a:t>WHY NOW</a:t>
            </a:r>
          </a:p>
        </p:txBody>
      </p:sp>
      <p:sp>
        <p:nvSpPr>
          <p:cNvPr id="6" name="">
            <a:extLst xmlns:a="http://schemas.openxmlformats.org/drawingml/2006/main">
              <a:ext uri="{FF2B5EF4-FFF2-40B4-BE49-F238E27FC236}">
                <a16:creationId xmlns:a16="http://schemas.microsoft.com/office/drawing/2014/main" id="{4F38A040-B911-4DF8-B72F-385313FCC383}"/>
              </a:ext>
            </a:extLst>
          </p:cNvPr>
          <p:cNvSpPr>
            <a:spLocks xmlns:a="http://schemas.openxmlformats.org/drawingml/2006/main" noGrp="1"/>
          </p:cNvSpPr>
          <p:nvPr/>
        </p:nvSpPr>
        <p:spPr>
          <a:xfrm xmlns:a="http://schemas.openxmlformats.org/drawingml/2006/main">
            <a:off x="552450" y="11811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85"/>
          </a:bodyPr>
          <a:lstStyle xmlns:a="http://schemas.openxmlformats.org/drawingml/2006/main"/>
          <a:p xmlns:a="http://schemas.openxmlformats.org/drawingml/2006/main">
            <a:pPr algn="l">
              <a:lnSpc>
                <a:spcPct val="94000"/>
              </a:lnSpc>
              <a:buNone/>
              <a:defRPr sz="2850" b="1" i="0">
                <a:solidFill>
                  <a:srgbClr val="17191C"/>
                </a:solidFill>
                <a:latin typeface="Arial"/>
                <a:ea typeface="Arial"/>
                <a:cs typeface="Arial"/>
              </a:defRPr>
            </a:pPr>
            <a:r>
              <a:rPr sz="2850" b="1" i="0">
                <a:solidFill>
                  <a:srgbClr val="17191C"/>
                </a:solidFill>
                <a:latin typeface="Arial"/>
                <a:ea typeface="Arial"/>
                <a:cs typeface="Arial"/>
              </a:rPr>
              <a:t>NRG's growth agenda creates three distinct electrical-delivery environments.</a:t>
            </a:r>
          </a:p>
        </p:txBody>
      </p:sp>
      <p:sp>
        <p:nvSpPr>
          <p:cNvPr id="7" name="">
            <a:extLst xmlns:a="http://schemas.openxmlformats.org/drawingml/2006/main">
              <a:ext uri="{FF2B5EF4-FFF2-40B4-BE49-F238E27FC236}">
                <a16:creationId xmlns:a16="http://schemas.microsoft.com/office/drawing/2014/main" id="{585E8570-5C5C-4B3D-9D49-CC264D462983}"/>
              </a:ext>
            </a:extLst>
          </p:cNvPr>
          <p:cNvSpPr>
            <a:spLocks xmlns:a="http://schemas.openxmlformats.org/drawingml/2006/main" noGrp="1"/>
          </p:cNvSpPr>
          <p:nvPr/>
        </p:nvSpPr>
        <p:spPr>
          <a:xfrm xmlns:a="http://schemas.openxmlformats.org/drawingml/2006/main">
            <a:off x="552450" y="2152650"/>
            <a:ext cx="3219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825" b="1" i="0">
                <a:solidFill>
                  <a:srgbClr val="17191C"/>
                </a:solidFill>
                <a:latin typeface="Arial Narrow"/>
                <a:ea typeface="Arial Narrow"/>
                <a:cs typeface="Arial Narrow"/>
              </a:defRPr>
            </a:pPr>
            <a:r>
              <a:rPr sz="3825" b="1" i="0">
                <a:solidFill>
                  <a:srgbClr val="17191C"/>
                </a:solidFill>
                <a:latin typeface="Arial Narrow"/>
                <a:ea typeface="Arial Narrow"/>
                <a:cs typeface="Arial Narrow"/>
              </a:rPr>
              <a:t>1.5 GW</a:t>
            </a:r>
          </a:p>
        </p:txBody>
      </p:sp>
      <p:sp>
        <p:nvSpPr>
          <p:cNvPr id="8" name="">
            <a:extLst xmlns:a="http://schemas.openxmlformats.org/drawingml/2006/main">
              <a:ext uri="{FF2B5EF4-FFF2-40B4-BE49-F238E27FC236}">
                <a16:creationId xmlns:a16="http://schemas.microsoft.com/office/drawing/2014/main" id="{C0B15914-1A5A-47FF-8097-D6EB9E4B9711}"/>
              </a:ext>
            </a:extLst>
          </p:cNvPr>
          <p:cNvSpPr>
            <a:spLocks xmlns:a="http://schemas.openxmlformats.org/drawingml/2006/main" noGrp="1"/>
          </p:cNvSpPr>
          <p:nvPr/>
        </p:nvSpPr>
        <p:spPr>
          <a:xfrm xmlns:a="http://schemas.openxmlformats.org/drawingml/2006/main">
            <a:off x="552450" y="28670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9D4E24"/>
                </a:solidFill>
                <a:latin typeface="Arial Narrow"/>
                <a:ea typeface="Arial Narrow"/>
                <a:cs typeface="Arial Narrow"/>
              </a:defRPr>
            </a:pPr>
            <a:r>
              <a:rPr sz="1275" b="1" i="0">
                <a:solidFill>
                  <a:srgbClr val="9D4E24"/>
                </a:solidFill>
                <a:latin typeface="Arial Narrow"/>
                <a:ea typeface="Arial Narrow"/>
                <a:cs typeface="Arial Narrow"/>
              </a:rPr>
              <a:t>TEF PORTFOLIO</a:t>
            </a:r>
          </a:p>
        </p:txBody>
      </p:sp>
      <p:sp>
        <p:nvSpPr>
          <p:cNvPr id="9" name="">
            <a:extLst xmlns:a="http://schemas.openxmlformats.org/drawingml/2006/main">
              <a:ext uri="{FF2B5EF4-FFF2-40B4-BE49-F238E27FC236}">
                <a16:creationId xmlns:a16="http://schemas.microsoft.com/office/drawing/2014/main" id="{12342725-D677-4F0E-B596-4D4ACAADEAF6}"/>
              </a:ext>
            </a:extLst>
          </p:cNvPr>
          <p:cNvSpPr>
            <a:spLocks xmlns:a="http://schemas.openxmlformats.org/drawingml/2006/main" noGrp="1"/>
          </p:cNvSpPr>
          <p:nvPr/>
        </p:nvSpPr>
        <p:spPr>
          <a:xfrm xmlns:a="http://schemas.openxmlformats.org/drawingml/2006/main">
            <a:off x="552450" y="3305175"/>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6A6F73"/>
                </a:solidFill>
                <a:latin typeface="Arial"/>
                <a:ea typeface="Arial"/>
                <a:cs typeface="Arial"/>
              </a:defRPr>
            </a:pPr>
            <a:r>
              <a:rPr sz="1425" b="0" i="0">
                <a:solidFill>
                  <a:srgbClr val="6A6F73"/>
                </a:solidFill>
                <a:latin typeface="Arial"/>
                <a:ea typeface="Arial"/>
                <a:cs typeface="Arial"/>
              </a:rPr>
              <a:t>One project operating; two targeting mid-2028.</a:t>
            </a:r>
          </a:p>
        </p:txBody>
      </p:sp>
      <p:sp>
        <p:nvSpPr>
          <p:cNvPr id="10" name="">
            <a:extLst xmlns:a="http://schemas.openxmlformats.org/drawingml/2006/main">
              <a:ext uri="{FF2B5EF4-FFF2-40B4-BE49-F238E27FC236}">
                <a16:creationId xmlns:a16="http://schemas.microsoft.com/office/drawing/2014/main" id="{6E7FF9E3-510C-4692-A02F-E3428EDB830D}"/>
              </a:ext>
            </a:extLst>
          </p:cNvPr>
          <p:cNvSpPr>
            <a:spLocks xmlns:a="http://schemas.openxmlformats.org/drawingml/2006/main" noGrp="1"/>
          </p:cNvSpPr>
          <p:nvPr/>
        </p:nvSpPr>
        <p:spPr>
          <a:xfrm xmlns:a="http://schemas.openxmlformats.org/drawingml/2006/main">
            <a:off x="552450" y="4419600"/>
            <a:ext cx="2476500" cy="0"/>
          </a:xfrm>
          <a:prstGeom xmlns:a="http://schemas.openxmlformats.org/drawingml/2006/main" prst="line">
            <a:avLst/>
          </a:prstGeom>
          <a:noFill xmlns:a="http://schemas.openxmlformats.org/drawingml/2006/main"/>
          <a:ln xmlns:a="http://schemas.openxmlformats.org/drawingml/2006/main" w="19050">
            <a:solidFill>
              <a:srgbClr val="D8D1C8"/>
            </a:solidFill>
            <a:prstDash val="solid"/>
          </a:ln>
        </p:spPr>
      </p:sp>
      <p:sp>
        <p:nvSpPr>
          <p:cNvPr id="11" name="">
            <a:extLst xmlns:a="http://schemas.openxmlformats.org/drawingml/2006/main">
              <a:ext uri="{FF2B5EF4-FFF2-40B4-BE49-F238E27FC236}">
                <a16:creationId xmlns:a16="http://schemas.microsoft.com/office/drawing/2014/main" id="{2F22E6A1-300D-4C60-8794-03A189E7E173}"/>
              </a:ext>
            </a:extLst>
          </p:cNvPr>
          <p:cNvSpPr>
            <a:spLocks xmlns:a="http://schemas.openxmlformats.org/drawingml/2006/main" noGrp="1"/>
          </p:cNvSpPr>
          <p:nvPr/>
        </p:nvSpPr>
        <p:spPr>
          <a:xfrm xmlns:a="http://schemas.openxmlformats.org/drawingml/2006/main">
            <a:off x="4076700" y="2295525"/>
            <a:ext cx="0" cy="2200275"/>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2" name="">
            <a:extLst xmlns:a="http://schemas.openxmlformats.org/drawingml/2006/main">
              <a:ext uri="{FF2B5EF4-FFF2-40B4-BE49-F238E27FC236}">
                <a16:creationId xmlns:a16="http://schemas.microsoft.com/office/drawing/2014/main" id="{85AC63B9-A54E-4F34-B90F-101BBBE1B815}"/>
              </a:ext>
            </a:extLst>
          </p:cNvPr>
          <p:cNvSpPr>
            <a:spLocks xmlns:a="http://schemas.openxmlformats.org/drawingml/2006/main" noGrp="1"/>
          </p:cNvSpPr>
          <p:nvPr/>
        </p:nvSpPr>
        <p:spPr>
          <a:xfrm xmlns:a="http://schemas.openxmlformats.org/drawingml/2006/main">
            <a:off x="4333875" y="2152650"/>
            <a:ext cx="3219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825" b="1" i="0">
                <a:solidFill>
                  <a:srgbClr val="9D4E24"/>
                </a:solidFill>
                <a:latin typeface="Arial Narrow"/>
                <a:ea typeface="Arial Narrow"/>
                <a:cs typeface="Arial Narrow"/>
              </a:defRPr>
            </a:pPr>
            <a:r>
              <a:rPr sz="3825" b="1" i="0">
                <a:solidFill>
                  <a:srgbClr val="9D4E24"/>
                </a:solidFill>
                <a:latin typeface="Arial Narrow"/>
                <a:ea typeface="Arial Narrow"/>
                <a:cs typeface="Arial Narrow"/>
              </a:rPr>
              <a:t>5.4 GW</a:t>
            </a:r>
          </a:p>
        </p:txBody>
      </p:sp>
      <p:sp>
        <p:nvSpPr>
          <p:cNvPr id="13" name="">
            <a:extLst xmlns:a="http://schemas.openxmlformats.org/drawingml/2006/main">
              <a:ext uri="{FF2B5EF4-FFF2-40B4-BE49-F238E27FC236}">
                <a16:creationId xmlns:a16="http://schemas.microsoft.com/office/drawing/2014/main" id="{A7F31A44-BB0F-400C-9475-083A791E8FA3}"/>
              </a:ext>
            </a:extLst>
          </p:cNvPr>
          <p:cNvSpPr>
            <a:spLocks xmlns:a="http://schemas.openxmlformats.org/drawingml/2006/main" noGrp="1"/>
          </p:cNvSpPr>
          <p:nvPr/>
        </p:nvSpPr>
        <p:spPr>
          <a:xfrm xmlns:a="http://schemas.openxmlformats.org/drawingml/2006/main">
            <a:off x="4333875" y="28670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9D4E24"/>
                </a:solidFill>
                <a:latin typeface="Arial Narrow"/>
                <a:ea typeface="Arial Narrow"/>
                <a:cs typeface="Arial Narrow"/>
              </a:defRPr>
            </a:pPr>
            <a:r>
              <a:rPr sz="1275" b="1" i="0">
                <a:solidFill>
                  <a:srgbClr val="9D4E24"/>
                </a:solidFill>
                <a:latin typeface="Arial Narrow"/>
                <a:ea typeface="Arial Narrow"/>
                <a:cs typeface="Arial Narrow"/>
              </a:rPr>
              <a:t>NEWBUILD DEVELOPMENT</a:t>
            </a:r>
          </a:p>
        </p:txBody>
      </p:sp>
      <p:sp>
        <p:nvSpPr>
          <p:cNvPr id="14" name="">
            <a:extLst xmlns:a="http://schemas.openxmlformats.org/drawingml/2006/main">
              <a:ext uri="{FF2B5EF4-FFF2-40B4-BE49-F238E27FC236}">
                <a16:creationId xmlns:a16="http://schemas.microsoft.com/office/drawing/2014/main" id="{AE9750CE-3881-40C1-B74E-35447A1C51EF}"/>
              </a:ext>
            </a:extLst>
          </p:cNvPr>
          <p:cNvSpPr>
            <a:spLocks xmlns:a="http://schemas.openxmlformats.org/drawingml/2006/main" noGrp="1"/>
          </p:cNvSpPr>
          <p:nvPr/>
        </p:nvSpPr>
        <p:spPr>
          <a:xfrm xmlns:a="http://schemas.openxmlformats.org/drawingml/2006/main">
            <a:off x="4333875" y="3305175"/>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6A6F73"/>
                </a:solidFill>
                <a:latin typeface="Arial"/>
                <a:ea typeface="Arial"/>
                <a:cs typeface="Arial"/>
              </a:defRPr>
            </a:pPr>
            <a:r>
              <a:rPr sz="1425" b="0" i="0">
                <a:solidFill>
                  <a:srgbClr val="6A6F73"/>
                </a:solidFill>
                <a:latin typeface="Arial"/>
                <a:ea typeface="Arial"/>
                <a:cs typeface="Arial"/>
              </a:rPr>
              <a:t>Turbine and EPC access supports a runway through 2032.</a:t>
            </a:r>
          </a:p>
        </p:txBody>
      </p:sp>
      <p:sp>
        <p:nvSpPr>
          <p:cNvPr id="15" name="">
            <a:extLst xmlns:a="http://schemas.openxmlformats.org/drawingml/2006/main">
              <a:ext uri="{FF2B5EF4-FFF2-40B4-BE49-F238E27FC236}">
                <a16:creationId xmlns:a16="http://schemas.microsoft.com/office/drawing/2014/main" id="{6AB3BEB2-048A-4133-A906-55D0EE96DB45}"/>
              </a:ext>
            </a:extLst>
          </p:cNvPr>
          <p:cNvSpPr>
            <a:spLocks xmlns:a="http://schemas.openxmlformats.org/drawingml/2006/main" noGrp="1"/>
          </p:cNvSpPr>
          <p:nvPr/>
        </p:nvSpPr>
        <p:spPr>
          <a:xfrm xmlns:a="http://schemas.openxmlformats.org/drawingml/2006/main">
            <a:off x="4333875" y="4419600"/>
            <a:ext cx="2476500"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16" name="">
            <a:extLst xmlns:a="http://schemas.openxmlformats.org/drawingml/2006/main">
              <a:ext uri="{FF2B5EF4-FFF2-40B4-BE49-F238E27FC236}">
                <a16:creationId xmlns:a16="http://schemas.microsoft.com/office/drawing/2014/main" id="{F0BFF0A4-4D7B-4A87-991E-9BC0D59E5639}"/>
              </a:ext>
            </a:extLst>
          </p:cNvPr>
          <p:cNvSpPr>
            <a:spLocks xmlns:a="http://schemas.openxmlformats.org/drawingml/2006/main" noGrp="1"/>
          </p:cNvSpPr>
          <p:nvPr/>
        </p:nvSpPr>
        <p:spPr>
          <a:xfrm xmlns:a="http://schemas.openxmlformats.org/drawingml/2006/main">
            <a:off x="7858125" y="2295525"/>
            <a:ext cx="0" cy="2200275"/>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7" name="">
            <a:extLst xmlns:a="http://schemas.openxmlformats.org/drawingml/2006/main">
              <a:ext uri="{FF2B5EF4-FFF2-40B4-BE49-F238E27FC236}">
                <a16:creationId xmlns:a16="http://schemas.microsoft.com/office/drawing/2014/main" id="{DF219BED-A9F1-4C79-B716-1ADD50424008}"/>
              </a:ext>
            </a:extLst>
          </p:cNvPr>
          <p:cNvSpPr>
            <a:spLocks xmlns:a="http://schemas.openxmlformats.org/drawingml/2006/main" noGrp="1"/>
          </p:cNvSpPr>
          <p:nvPr/>
        </p:nvSpPr>
        <p:spPr>
          <a:xfrm xmlns:a="http://schemas.openxmlformats.org/drawingml/2006/main">
            <a:off x="8115300" y="2152650"/>
            <a:ext cx="3219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825" b="1" i="0">
                <a:solidFill>
                  <a:srgbClr val="17191C"/>
                </a:solidFill>
                <a:latin typeface="Arial Narrow"/>
                <a:ea typeface="Arial Narrow"/>
                <a:cs typeface="Arial Narrow"/>
              </a:defRPr>
            </a:pPr>
            <a:r>
              <a:rPr sz="3825" b="1" i="0">
                <a:solidFill>
                  <a:srgbClr val="17191C"/>
                </a:solidFill>
                <a:latin typeface="Arial Narrow"/>
                <a:ea typeface="Arial Narrow"/>
                <a:cs typeface="Arial Narrow"/>
              </a:rPr>
              <a:t>25.8 GW</a:t>
            </a:r>
          </a:p>
        </p:txBody>
      </p:sp>
      <p:sp>
        <p:nvSpPr>
          <p:cNvPr id="18" name="">
            <a:extLst xmlns:a="http://schemas.openxmlformats.org/drawingml/2006/main">
              <a:ext uri="{FF2B5EF4-FFF2-40B4-BE49-F238E27FC236}">
                <a16:creationId xmlns:a16="http://schemas.microsoft.com/office/drawing/2014/main" id="{95EE091B-9B90-4C14-9D65-A21C07AF8F87}"/>
              </a:ext>
            </a:extLst>
          </p:cNvPr>
          <p:cNvSpPr>
            <a:spLocks xmlns:a="http://schemas.openxmlformats.org/drawingml/2006/main" noGrp="1"/>
          </p:cNvSpPr>
          <p:nvPr/>
        </p:nvSpPr>
        <p:spPr>
          <a:xfrm xmlns:a="http://schemas.openxmlformats.org/drawingml/2006/main">
            <a:off x="8115300" y="28670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9D4E24"/>
                </a:solidFill>
                <a:latin typeface="Arial Narrow"/>
                <a:ea typeface="Arial Narrow"/>
                <a:cs typeface="Arial Narrow"/>
              </a:defRPr>
            </a:pPr>
            <a:r>
              <a:rPr sz="1275" b="1" i="0">
                <a:solidFill>
                  <a:srgbClr val="9D4E24"/>
                </a:solidFill>
                <a:latin typeface="Arial Narrow"/>
                <a:ea typeface="Arial Narrow"/>
                <a:cs typeface="Arial Narrow"/>
              </a:rPr>
              <a:t>OPERATING FLEET</a:t>
            </a:r>
          </a:p>
        </p:txBody>
      </p:sp>
      <p:sp>
        <p:nvSpPr>
          <p:cNvPr id="19" name="">
            <a:extLst xmlns:a="http://schemas.openxmlformats.org/drawingml/2006/main">
              <a:ext uri="{FF2B5EF4-FFF2-40B4-BE49-F238E27FC236}">
                <a16:creationId xmlns:a16="http://schemas.microsoft.com/office/drawing/2014/main" id="{CEB1CC97-064A-408F-8742-A2ED5BF80241}"/>
              </a:ext>
            </a:extLst>
          </p:cNvPr>
          <p:cNvSpPr>
            <a:spLocks xmlns:a="http://schemas.openxmlformats.org/drawingml/2006/main" noGrp="1"/>
          </p:cNvSpPr>
          <p:nvPr/>
        </p:nvSpPr>
        <p:spPr>
          <a:xfrm xmlns:a="http://schemas.openxmlformats.org/drawingml/2006/main">
            <a:off x="8115300" y="3305175"/>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6A6F73"/>
                </a:solidFill>
                <a:latin typeface="Arial"/>
                <a:ea typeface="Arial"/>
                <a:cs typeface="Arial"/>
              </a:defRPr>
            </a:pPr>
            <a:r>
              <a:rPr sz="1425" b="0" i="0">
                <a:solidFill>
                  <a:srgbClr val="6A6F73"/>
                </a:solidFill>
                <a:latin typeface="Arial"/>
                <a:ea typeface="Arial"/>
                <a:cs typeface="Arial"/>
              </a:rPr>
              <a:t>Approximately 1-2 GW of upgrades under evaluation.</a:t>
            </a:r>
          </a:p>
        </p:txBody>
      </p:sp>
      <p:sp>
        <p:nvSpPr>
          <p:cNvPr id="20" name="">
            <a:extLst xmlns:a="http://schemas.openxmlformats.org/drawingml/2006/main">
              <a:ext uri="{FF2B5EF4-FFF2-40B4-BE49-F238E27FC236}">
                <a16:creationId xmlns:a16="http://schemas.microsoft.com/office/drawing/2014/main" id="{CB913D1F-659E-49F6-8754-8492FDDBECD7}"/>
              </a:ext>
            </a:extLst>
          </p:cNvPr>
          <p:cNvSpPr>
            <a:spLocks xmlns:a="http://schemas.openxmlformats.org/drawingml/2006/main" noGrp="1"/>
          </p:cNvSpPr>
          <p:nvPr/>
        </p:nvSpPr>
        <p:spPr>
          <a:xfrm xmlns:a="http://schemas.openxmlformats.org/drawingml/2006/main">
            <a:off x="8115300" y="4419600"/>
            <a:ext cx="2476500" cy="0"/>
          </a:xfrm>
          <a:prstGeom xmlns:a="http://schemas.openxmlformats.org/drawingml/2006/main" prst="line">
            <a:avLst/>
          </a:prstGeom>
          <a:noFill xmlns:a="http://schemas.openxmlformats.org/drawingml/2006/main"/>
          <a:ln xmlns:a="http://schemas.openxmlformats.org/drawingml/2006/main" w="19050">
            <a:solidFill>
              <a:srgbClr val="D8D1C8"/>
            </a:solidFill>
            <a:prstDash val="solid"/>
          </a:ln>
        </p:spPr>
      </p:sp>
      <p:sp>
        <p:nvSpPr>
          <p:cNvPr id="21" name="">
            <a:extLst xmlns:a="http://schemas.openxmlformats.org/drawingml/2006/main">
              <a:ext uri="{FF2B5EF4-FFF2-40B4-BE49-F238E27FC236}">
                <a16:creationId xmlns:a16="http://schemas.microsoft.com/office/drawing/2014/main" id="{3E510F29-0D04-4BA6-811D-E54CA110BC8E}"/>
              </a:ext>
            </a:extLst>
          </p:cNvPr>
          <p:cNvSpPr>
            <a:spLocks xmlns:a="http://schemas.openxmlformats.org/drawingml/2006/main" noGrp="1"/>
          </p:cNvSpPr>
          <p:nvPr/>
        </p:nvSpPr>
        <p:spPr>
          <a:xfrm xmlns:a="http://schemas.openxmlformats.org/drawingml/2006/main" rot="0">
            <a:off x="0" y="4867275"/>
            <a:ext cx="12192000" cy="1990725"/>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9D8E600-E2AE-42B9-9E01-5DDDF55C4A0A}"/>
              </a:ext>
            </a:extLst>
          </p:cNvPr>
          <p:cNvSpPr>
            <a:spLocks xmlns:a="http://schemas.openxmlformats.org/drawingml/2006/main" noGrp="1"/>
          </p:cNvSpPr>
          <p:nvPr/>
        </p:nvSpPr>
        <p:spPr>
          <a:xfrm xmlns:a="http://schemas.openxmlformats.org/drawingml/2006/main">
            <a:off x="552450" y="517207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E3A06D"/>
                </a:solidFill>
                <a:latin typeface="Arial Narrow"/>
                <a:ea typeface="Arial Narrow"/>
                <a:cs typeface="Arial Narrow"/>
              </a:defRPr>
            </a:pPr>
            <a:r>
              <a:rPr sz="1125" b="1" i="0">
                <a:solidFill>
                  <a:srgbClr val="E3A06D"/>
                </a:solidFill>
                <a:latin typeface="Arial Narrow"/>
                <a:ea typeface="Arial Narrow"/>
                <a:cs typeface="Arial Narrow"/>
              </a:rPr>
              <a:t>DIFFERENT ASSET STATES. ONE REQUIREMENT.</a:t>
            </a:r>
          </a:p>
        </p:txBody>
      </p:sp>
      <p:sp>
        <p:nvSpPr>
          <p:cNvPr id="23" name="">
            <a:extLst xmlns:a="http://schemas.openxmlformats.org/drawingml/2006/main">
              <a:ext uri="{FF2B5EF4-FFF2-40B4-BE49-F238E27FC236}">
                <a16:creationId xmlns:a16="http://schemas.microsoft.com/office/drawing/2014/main" id="{502E2BB2-5CB2-485C-8D5A-86374E3076DB}"/>
              </a:ext>
            </a:extLst>
          </p:cNvPr>
          <p:cNvSpPr>
            <a:spLocks xmlns:a="http://schemas.openxmlformats.org/drawingml/2006/main" noGrp="1"/>
          </p:cNvSpPr>
          <p:nvPr/>
        </p:nvSpPr>
        <p:spPr>
          <a:xfrm xmlns:a="http://schemas.openxmlformats.org/drawingml/2006/main">
            <a:off x="552450" y="5514975"/>
            <a:ext cx="857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FFFFFF"/>
                </a:solidFill>
                <a:latin typeface="Arial"/>
                <a:ea typeface="Arial"/>
                <a:cs typeface="Arial"/>
              </a:defRPr>
            </a:pPr>
            <a:r>
              <a:rPr sz="2250" b="1" i="0">
                <a:solidFill>
                  <a:srgbClr val="FFFFFF"/>
                </a:solidFill>
                <a:latin typeface="Arial"/>
                <a:ea typeface="Arial"/>
                <a:cs typeface="Arial"/>
              </a:rPr>
              <a:t>Preserve schedule certainty through energization.</a:t>
            </a:r>
          </a:p>
        </p:txBody>
      </p:sp>
      <p:sp>
        <p:nvSpPr>
          <p:cNvPr id="24" name="">
            <a:extLst xmlns:a="http://schemas.openxmlformats.org/drawingml/2006/main">
              <a:ext uri="{FF2B5EF4-FFF2-40B4-BE49-F238E27FC236}">
                <a16:creationId xmlns:a16="http://schemas.microsoft.com/office/drawing/2014/main" id="{CB480BB5-0579-4420-A454-EC2D8BFE7480}"/>
              </a:ext>
            </a:extLst>
          </p:cNvPr>
          <p:cNvSpPr>
            <a:spLocks xmlns:a="http://schemas.openxmlformats.org/drawingml/2006/main" noGrp="1"/>
          </p:cNvSpPr>
          <p:nvPr/>
        </p:nvSpPr>
        <p:spPr>
          <a:xfrm xmlns:a="http://schemas.openxmlformats.org/drawingml/2006/main">
            <a:off x="552450" y="6048375"/>
            <a:ext cx="998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0" i="0">
                <a:solidFill>
                  <a:srgbClr val="D4D6D8"/>
                </a:solidFill>
                <a:latin typeface="Arial"/>
                <a:ea typeface="Arial"/>
                <a:cs typeface="Arial"/>
              </a:defRPr>
            </a:pPr>
            <a:r>
              <a:rPr sz="1425" b="0" i="0">
                <a:solidFill>
                  <a:srgbClr val="D4D6D8"/>
                </a:solidFill>
                <a:latin typeface="Arial"/>
                <a:ea typeface="Arial"/>
                <a:cs typeface="Arial"/>
              </a:rPr>
              <a:t>Specifications, capacity, releases, reels, package interfaces and field readiness still have to converge on COD.</a:t>
            </a:r>
          </a:p>
        </p:txBody>
      </p:sp>
      <p:sp>
        <p:nvSpPr>
          <p:cNvPr id="25" name="">
            <a:extLst xmlns:a="http://schemas.openxmlformats.org/drawingml/2006/main">
              <a:ext uri="{FF2B5EF4-FFF2-40B4-BE49-F238E27FC236}">
                <a16:creationId xmlns:a16="http://schemas.microsoft.com/office/drawing/2014/main" id="{2E9A9E5B-D592-4C2E-99CD-C027B1281C26}"/>
              </a:ext>
            </a:extLst>
          </p:cNvPr>
          <p:cNvSpPr>
            <a:spLocks xmlns:a="http://schemas.openxmlformats.org/drawingml/2006/main" noGrp="1"/>
          </p:cNvSpPr>
          <p:nvPr/>
        </p:nvSpPr>
        <p:spPr>
          <a:xfrm xmlns:a="http://schemas.openxmlformats.org/drawingml/2006/main">
            <a:off x="9239250" y="6534150"/>
            <a:ext cx="24193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0" i="0">
                <a:solidFill>
                  <a:srgbClr val="8B9094"/>
                </a:solidFill>
                <a:latin typeface="Arial"/>
                <a:ea typeface="Arial"/>
                <a:cs typeface="Arial"/>
              </a:defRPr>
            </a:pPr>
            <a:r>
              <a:rPr sz="825" b="0" i="0">
                <a:solidFill>
                  <a:srgbClr val="8B9094"/>
                </a:solidFill>
                <a:latin typeface="Arial"/>
                <a:ea typeface="Arial"/>
                <a:cs typeface="Arial"/>
              </a:rPr>
              <a:t>Source: NRG 2Q26, Aug. 4, 2026</a:t>
            </a:r>
          </a:p>
        </p:txBody>
      </p:sp>
    </p:spTree>
    <p:extLst>
      <p:ext uri="{BB962C8B-B14F-4D97-AF65-F5344CB8AC3E}">
        <p14:creationId xmlns:p14="http://schemas.microsoft.com/office/powerpoint/2010/main" val="1774715495"/>
      </p:ext>
    </p:extLst>
  </p:cSld>
</p:sld>
</file>

<file path=ppt/slides/slide3.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387C382-684C-41EA-AD7B-090994DEA501}"/>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c1affae7cb74e1e"/>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D62E9C2-EC75-4805-B37B-7F8E5EFEBAEA}"/>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9D4E24"/>
                </a:solidFill>
                <a:latin typeface="Arial Narrow"/>
                <a:ea typeface="Arial Narrow"/>
                <a:cs typeface="Arial Narrow"/>
              </a:defRPr>
            </a:pPr>
            <a:r>
              <a:rPr sz="975" b="1" i="0">
                <a:solidFill>
                  <a:srgbClr val="9D4E24"/>
                </a:solidFill>
                <a:latin typeface="Arial Narrow"/>
                <a:ea typeface="Arial Narrow"/>
                <a:cs typeface="Arial Narrow"/>
              </a:rPr>
              <a:t>THE EXECUTION CHALLENGE</a:t>
            </a:r>
          </a:p>
        </p:txBody>
      </p:sp>
      <p:sp>
        <p:nvSpPr>
          <p:cNvPr id="4" name="">
            <a:extLst xmlns:a="http://schemas.openxmlformats.org/drawingml/2006/main">
              <a:ext uri="{FF2B5EF4-FFF2-40B4-BE49-F238E27FC236}">
                <a16:creationId xmlns:a16="http://schemas.microsoft.com/office/drawing/2014/main" id="{EC55D9A4-4A86-47B2-BECD-3611783CD997}"/>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03</a:t>
            </a:r>
          </a:p>
        </p:txBody>
      </p:sp>
      <p:sp>
        <p:nvSpPr>
          <p:cNvPr id="5" name="">
            <a:extLst xmlns:a="http://schemas.openxmlformats.org/drawingml/2006/main">
              <a:ext uri="{FF2B5EF4-FFF2-40B4-BE49-F238E27FC236}">
                <a16:creationId xmlns:a16="http://schemas.microsoft.com/office/drawing/2014/main" id="{56C85CF9-7B4A-4498-A4FF-A1FEE4116305}"/>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D4E24"/>
                </a:solidFill>
                <a:latin typeface="Arial Narrow"/>
                <a:ea typeface="Arial Narrow"/>
                <a:cs typeface="Arial Narrow"/>
              </a:defRPr>
            </a:pPr>
            <a:r>
              <a:rPr sz="1050" b="1" i="0">
                <a:solidFill>
                  <a:srgbClr val="9D4E24"/>
                </a:solidFill>
                <a:latin typeface="Arial Narrow"/>
                <a:ea typeface="Arial Narrow"/>
                <a:cs typeface="Arial Narrow"/>
              </a:rPr>
              <a:t>THREE RISKS</a:t>
            </a:r>
          </a:p>
        </p:txBody>
      </p:sp>
      <p:sp>
        <p:nvSpPr>
          <p:cNvPr id="6" name="">
            <a:extLst xmlns:a="http://schemas.openxmlformats.org/drawingml/2006/main">
              <a:ext uri="{FF2B5EF4-FFF2-40B4-BE49-F238E27FC236}">
                <a16:creationId xmlns:a16="http://schemas.microsoft.com/office/drawing/2014/main" id="{354E7682-C0E3-4EE9-82E6-03DD1466AD47}"/>
              </a:ext>
            </a:extLst>
          </p:cNvPr>
          <p:cNvSpPr>
            <a:spLocks xmlns:a="http://schemas.openxmlformats.org/drawingml/2006/main" noGrp="1"/>
          </p:cNvSpPr>
          <p:nvPr/>
        </p:nvSpPr>
        <p:spPr>
          <a:xfrm xmlns:a="http://schemas.openxmlformats.org/drawingml/2006/main">
            <a:off x="552450" y="1181100"/>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785"/>
          </a:bodyPr>
          <a:lstStyle xmlns:a="http://schemas.openxmlformats.org/drawingml/2006/main"/>
          <a:p xmlns:a="http://schemas.openxmlformats.org/drawingml/2006/main">
            <a:pPr algn="l">
              <a:lnSpc>
                <a:spcPct val="94000"/>
              </a:lnSpc>
              <a:buNone/>
              <a:defRPr sz="2850" b="1" i="0">
                <a:solidFill>
                  <a:srgbClr val="17191C"/>
                </a:solidFill>
                <a:latin typeface="Arial"/>
                <a:ea typeface="Arial"/>
                <a:cs typeface="Arial"/>
              </a:defRPr>
            </a:pPr>
            <a:r>
              <a:rPr sz="2850" b="1" i="0">
                <a:solidFill>
                  <a:srgbClr val="17191C"/>
                </a:solidFill>
                <a:latin typeface="Arial"/>
                <a:ea typeface="Arial"/>
                <a:cs typeface="Arial"/>
              </a:rPr>
              <a:t>Three execution risks can erode certainty between design and energization.</a:t>
            </a:r>
          </a:p>
        </p:txBody>
      </p:sp>
      <p:sp>
        <p:nvSpPr>
          <p:cNvPr id="7" name="">
            <a:extLst xmlns:a="http://schemas.openxmlformats.org/drawingml/2006/main">
              <a:ext uri="{FF2B5EF4-FFF2-40B4-BE49-F238E27FC236}">
                <a16:creationId xmlns:a16="http://schemas.microsoft.com/office/drawing/2014/main" id="{8E4A3E3F-D6CA-4014-9838-F928AA698E5D}"/>
              </a:ext>
            </a:extLst>
          </p:cNvPr>
          <p:cNvSpPr>
            <a:spLocks xmlns:a="http://schemas.openxmlformats.org/drawingml/2006/main" noGrp="1"/>
          </p:cNvSpPr>
          <p:nvPr/>
        </p:nvSpPr>
        <p:spPr>
          <a:xfrm xmlns:a="http://schemas.openxmlformats.org/drawingml/2006/main">
            <a:off x="552450" y="21145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i="0">
                <a:solidFill>
                  <a:srgbClr val="9D4E24"/>
                </a:solidFill>
                <a:latin typeface="Arial Narrow"/>
                <a:ea typeface="Arial Narrow"/>
                <a:cs typeface="Arial Narrow"/>
              </a:defRPr>
            </a:pPr>
            <a:r>
              <a:rPr sz="2400" b="1" i="0">
                <a:solidFill>
                  <a:srgbClr val="9D4E24"/>
                </a:solidFill>
                <a:latin typeface="Arial Narrow"/>
                <a:ea typeface="Arial Narrow"/>
                <a:cs typeface="Arial Narrow"/>
              </a:rPr>
              <a:t>01</a:t>
            </a:r>
          </a:p>
        </p:txBody>
      </p:sp>
      <p:sp>
        <p:nvSpPr>
          <p:cNvPr id="8" name="">
            <a:extLst xmlns:a="http://schemas.openxmlformats.org/drawingml/2006/main">
              <a:ext uri="{FF2B5EF4-FFF2-40B4-BE49-F238E27FC236}">
                <a16:creationId xmlns:a16="http://schemas.microsoft.com/office/drawing/2014/main" id="{F6CE7DBA-AF47-4FA9-B00A-EA1DEB27AA8F}"/>
              </a:ext>
            </a:extLst>
          </p:cNvPr>
          <p:cNvSpPr>
            <a:spLocks xmlns:a="http://schemas.openxmlformats.org/drawingml/2006/main" noGrp="1"/>
          </p:cNvSpPr>
          <p:nvPr/>
        </p:nvSpPr>
        <p:spPr>
          <a:xfrm xmlns:a="http://schemas.openxmlformats.org/drawingml/2006/main" rot="0">
            <a:off x="571500" y="2819400"/>
            <a:ext cx="333375" cy="704850"/>
          </a:xfrm>
          <a:prstGeom xmlns:a="http://schemas.openxmlformats.org/drawingml/2006/main" prst="rect">
            <a:avLst/>
          </a:prstGeom>
          <a:solidFill xmlns:a="http://schemas.openxmlformats.org/drawingml/2006/main">
            <a:srgbClr val="E7DE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FA24AB8-20D4-4A42-A131-C79D44186BA4}"/>
              </a:ext>
            </a:extLst>
          </p:cNvPr>
          <p:cNvSpPr>
            <a:spLocks xmlns:a="http://schemas.openxmlformats.org/drawingml/2006/main" noGrp="1"/>
          </p:cNvSpPr>
          <p:nvPr/>
        </p:nvSpPr>
        <p:spPr>
          <a:xfrm xmlns:a="http://schemas.openxmlformats.org/drawingml/2006/main" rot="0">
            <a:off x="1019175" y="2600325"/>
            <a:ext cx="333375" cy="923925"/>
          </a:xfrm>
          <a:prstGeom xmlns:a="http://schemas.openxmlformats.org/drawingml/2006/main" prst="rect">
            <a:avLst/>
          </a:prstGeom>
          <a:solidFill xmlns:a="http://schemas.openxmlformats.org/drawingml/2006/main">
            <a:srgbClr val="E3A06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C41DE06-9BEB-4B12-B551-123032097CAA}"/>
              </a:ext>
            </a:extLst>
          </p:cNvPr>
          <p:cNvSpPr>
            <a:spLocks xmlns:a="http://schemas.openxmlformats.org/drawingml/2006/main" noGrp="1"/>
          </p:cNvSpPr>
          <p:nvPr/>
        </p:nvSpPr>
        <p:spPr>
          <a:xfrm xmlns:a="http://schemas.openxmlformats.org/drawingml/2006/main" rot="0">
            <a:off x="1466850" y="2305050"/>
            <a:ext cx="333375" cy="121920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0EAF7DC-6BC1-4284-A854-7D681DB60FA9}"/>
              </a:ext>
            </a:extLst>
          </p:cNvPr>
          <p:cNvSpPr>
            <a:spLocks xmlns:a="http://schemas.openxmlformats.org/drawingml/2006/main" noGrp="1"/>
          </p:cNvSpPr>
          <p:nvPr/>
        </p:nvSpPr>
        <p:spPr>
          <a:xfrm xmlns:a="http://schemas.openxmlformats.org/drawingml/2006/main">
            <a:off x="571500" y="3638550"/>
            <a:ext cx="1409700" cy="0"/>
          </a:xfrm>
          <a:prstGeom xmlns:a="http://schemas.openxmlformats.org/drawingml/2006/main" prst="line">
            <a:avLst/>
          </a:prstGeom>
          <a:noFill xmlns:a="http://schemas.openxmlformats.org/drawingml/2006/main"/>
          <a:ln xmlns:a="http://schemas.openxmlformats.org/drawingml/2006/main" w="19050">
            <a:solidFill>
              <a:srgbClr val="8B9094"/>
            </a:solidFill>
            <a:prstDash val="solid"/>
          </a:ln>
        </p:spPr>
      </p:sp>
      <p:sp>
        <p:nvSpPr>
          <p:cNvPr id="12" name="">
            <a:extLst xmlns:a="http://schemas.openxmlformats.org/drawingml/2006/main">
              <a:ext uri="{FF2B5EF4-FFF2-40B4-BE49-F238E27FC236}">
                <a16:creationId xmlns:a16="http://schemas.microsoft.com/office/drawing/2014/main" id="{C8E26175-42E4-4549-A3A7-DD08F77F3CF9}"/>
              </a:ext>
            </a:extLst>
          </p:cNvPr>
          <p:cNvSpPr>
            <a:spLocks xmlns:a="http://schemas.openxmlformats.org/drawingml/2006/main" noGrp="1"/>
          </p:cNvSpPr>
          <p:nvPr/>
        </p:nvSpPr>
        <p:spPr>
          <a:xfrm xmlns:a="http://schemas.openxmlformats.org/drawingml/2006/main">
            <a:off x="552450" y="3933825"/>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7191C"/>
                </a:solidFill>
                <a:latin typeface="Arial Narrow"/>
                <a:ea typeface="Arial Narrow"/>
                <a:cs typeface="Arial Narrow"/>
              </a:defRPr>
            </a:pPr>
            <a:r>
              <a:rPr sz="1725" b="1" i="0">
                <a:solidFill>
                  <a:srgbClr val="17191C"/>
                </a:solidFill>
                <a:latin typeface="Arial Narrow"/>
                <a:ea typeface="Arial Narrow"/>
                <a:cs typeface="Arial Narrow"/>
              </a:rPr>
              <a:t>LABOR PRESSURE</a:t>
            </a:r>
          </a:p>
        </p:txBody>
      </p:sp>
      <p:sp>
        <p:nvSpPr>
          <p:cNvPr id="13" name="">
            <a:extLst xmlns:a="http://schemas.openxmlformats.org/drawingml/2006/main">
              <a:ext uri="{FF2B5EF4-FFF2-40B4-BE49-F238E27FC236}">
                <a16:creationId xmlns:a16="http://schemas.microsoft.com/office/drawing/2014/main" id="{A613D31A-1F21-41A3-AFF2-83E8DEC6D096}"/>
              </a:ext>
            </a:extLst>
          </p:cNvPr>
          <p:cNvSpPr>
            <a:spLocks xmlns:a="http://schemas.openxmlformats.org/drawingml/2006/main" noGrp="1"/>
          </p:cNvSpPr>
          <p:nvPr/>
        </p:nvSpPr>
        <p:spPr>
          <a:xfrm xmlns:a="http://schemas.openxmlformats.org/drawingml/2006/main">
            <a:off x="552450" y="4371975"/>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6A6F73"/>
                </a:solidFill>
                <a:latin typeface="Arial"/>
                <a:ea typeface="Arial"/>
                <a:cs typeface="Arial"/>
              </a:defRPr>
            </a:pPr>
            <a:r>
              <a:rPr sz="1425" b="0" i="0">
                <a:solidFill>
                  <a:srgbClr val="6A6F73"/>
                </a:solidFill>
                <a:latin typeface="Arial"/>
                <a:ea typeface="Arial"/>
                <a:cs typeface="Arial"/>
              </a:rPr>
              <a:t>Electrical labor demand can peak when schedule-recovery and commissioning flexibility are lowest.</a:t>
            </a:r>
          </a:p>
        </p:txBody>
      </p:sp>
      <p:sp>
        <p:nvSpPr>
          <p:cNvPr id="14" name="">
            <a:extLst xmlns:a="http://schemas.openxmlformats.org/drawingml/2006/main">
              <a:ext uri="{FF2B5EF4-FFF2-40B4-BE49-F238E27FC236}">
                <a16:creationId xmlns:a16="http://schemas.microsoft.com/office/drawing/2014/main" id="{D4F84559-460B-4C41-BD5D-67A4BAADB1A9}"/>
              </a:ext>
            </a:extLst>
          </p:cNvPr>
          <p:cNvSpPr>
            <a:spLocks xmlns:a="http://schemas.openxmlformats.org/drawingml/2006/main" noGrp="1"/>
          </p:cNvSpPr>
          <p:nvPr/>
        </p:nvSpPr>
        <p:spPr>
          <a:xfrm xmlns:a="http://schemas.openxmlformats.org/drawingml/2006/main">
            <a:off x="4076700" y="2152650"/>
            <a:ext cx="0" cy="295275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5" name="">
            <a:extLst xmlns:a="http://schemas.openxmlformats.org/drawingml/2006/main">
              <a:ext uri="{FF2B5EF4-FFF2-40B4-BE49-F238E27FC236}">
                <a16:creationId xmlns:a16="http://schemas.microsoft.com/office/drawing/2014/main" id="{026D61B0-6A32-4760-8474-5392F72FC243}"/>
              </a:ext>
            </a:extLst>
          </p:cNvPr>
          <p:cNvSpPr>
            <a:spLocks xmlns:a="http://schemas.openxmlformats.org/drawingml/2006/main" noGrp="1"/>
          </p:cNvSpPr>
          <p:nvPr/>
        </p:nvSpPr>
        <p:spPr>
          <a:xfrm xmlns:a="http://schemas.openxmlformats.org/drawingml/2006/main">
            <a:off x="4333875" y="21145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i="0">
                <a:solidFill>
                  <a:srgbClr val="9D4E24"/>
                </a:solidFill>
                <a:latin typeface="Arial Narrow"/>
                <a:ea typeface="Arial Narrow"/>
                <a:cs typeface="Arial Narrow"/>
              </a:defRPr>
            </a:pPr>
            <a:r>
              <a:rPr sz="2400" b="1" i="0">
                <a:solidFill>
                  <a:srgbClr val="9D4E24"/>
                </a:solidFill>
                <a:latin typeface="Arial Narrow"/>
                <a:ea typeface="Arial Narrow"/>
                <a:cs typeface="Arial Narrow"/>
              </a:rPr>
              <a:t>02</a:t>
            </a:r>
          </a:p>
        </p:txBody>
      </p:sp>
      <p:sp>
        <p:nvSpPr>
          <p:cNvPr id="16" name="">
            <a:extLst xmlns:a="http://schemas.openxmlformats.org/drawingml/2006/main">
              <a:ext uri="{FF2B5EF4-FFF2-40B4-BE49-F238E27FC236}">
                <a16:creationId xmlns:a16="http://schemas.microsoft.com/office/drawing/2014/main" id="{2C454509-AB0B-46F7-AB99-185C4BCAEF14}"/>
              </a:ext>
            </a:extLst>
          </p:cNvPr>
          <p:cNvSpPr>
            <a:spLocks xmlns:a="http://schemas.openxmlformats.org/drawingml/2006/main" noGrp="1"/>
          </p:cNvSpPr>
          <p:nvPr/>
        </p:nvSpPr>
        <p:spPr>
          <a:xfrm xmlns:a="http://schemas.openxmlformats.org/drawingml/2006/main">
            <a:off x="4352925" y="2371725"/>
            <a:ext cx="1162050" cy="1162050"/>
          </a:xfrm>
          <a:prstGeom xmlns:a="http://schemas.openxmlformats.org/drawingml/2006/main" prst="ellipse">
            <a:avLst/>
          </a:prstGeom>
          <a:solidFill xmlns:a="http://schemas.openxmlformats.org/drawingml/2006/main">
            <a:srgbClr val="F2E3D8"/>
          </a:solidFill>
          <a:ln xmlns:a="http://schemas.openxmlformats.org/drawingml/2006/main" w="9525">
            <a:solidFill>
              <a:srgbClr val="C9783E"/>
            </a:solidFill>
            <a:prstDash val="solid"/>
          </a:ln>
        </p:spPr>
      </p:sp>
      <p:sp>
        <p:nvSpPr>
          <p:cNvPr id="17" name="">
            <a:extLst xmlns:a="http://schemas.openxmlformats.org/drawingml/2006/main">
              <a:ext uri="{FF2B5EF4-FFF2-40B4-BE49-F238E27FC236}">
                <a16:creationId xmlns:a16="http://schemas.microsoft.com/office/drawing/2014/main" id="{7BD69E25-DEEC-4F02-9229-32C78EABEA76}"/>
              </a:ext>
            </a:extLst>
          </p:cNvPr>
          <p:cNvSpPr>
            <a:spLocks xmlns:a="http://schemas.openxmlformats.org/drawingml/2006/main" noGrp="1"/>
          </p:cNvSpPr>
          <p:nvPr/>
        </p:nvSpPr>
        <p:spPr>
          <a:xfrm xmlns:a="http://schemas.openxmlformats.org/drawingml/2006/main">
            <a:off x="4752975" y="2771775"/>
            <a:ext cx="361950" cy="361950"/>
          </a:xfrm>
          <a:prstGeom xmlns:a="http://schemas.openxmlformats.org/drawingml/2006/main" prst="ellipse">
            <a:avLst/>
          </a:prstGeom>
          <a:solidFill xmlns:a="http://schemas.openxmlformats.org/drawingml/2006/main">
            <a:srgbClr val="F6F3EE"/>
          </a:solidFill>
          <a:ln xmlns:a="http://schemas.openxmlformats.org/drawingml/2006/main" w="9525">
            <a:solidFill>
              <a:srgbClr val="C9783E"/>
            </a:solidFill>
            <a:prstDash val="solid"/>
          </a:ln>
        </p:spPr>
      </p:sp>
      <p:sp>
        <p:nvSpPr>
          <p:cNvPr id="18" name="">
            <a:extLst xmlns:a="http://schemas.openxmlformats.org/drawingml/2006/main">
              <a:ext uri="{FF2B5EF4-FFF2-40B4-BE49-F238E27FC236}">
                <a16:creationId xmlns:a16="http://schemas.microsoft.com/office/drawing/2014/main" id="{B01CCA50-2808-443C-8C30-07C35CF8F629}"/>
              </a:ext>
            </a:extLst>
          </p:cNvPr>
          <p:cNvSpPr>
            <a:spLocks xmlns:a="http://schemas.openxmlformats.org/drawingml/2006/main" noGrp="1"/>
          </p:cNvSpPr>
          <p:nvPr/>
        </p:nvSpPr>
        <p:spPr>
          <a:xfrm xmlns:a="http://schemas.openxmlformats.org/drawingml/2006/main">
            <a:off x="5514975" y="2952750"/>
            <a:ext cx="590550" cy="0"/>
          </a:xfrm>
          <a:prstGeom xmlns:a="http://schemas.openxmlformats.org/drawingml/2006/main" prst="line">
            <a:avLst/>
          </a:prstGeom>
          <a:noFill xmlns:a="http://schemas.openxmlformats.org/drawingml/2006/main"/>
          <a:ln xmlns:a="http://schemas.openxmlformats.org/drawingml/2006/main" w="47625">
            <a:solidFill>
              <a:srgbClr val="C9783E"/>
            </a:solidFill>
            <a:prstDash val="solid"/>
          </a:ln>
        </p:spPr>
      </p:sp>
      <p:sp>
        <p:nvSpPr>
          <p:cNvPr id="19" name="">
            <a:extLst xmlns:a="http://schemas.openxmlformats.org/drawingml/2006/main">
              <a:ext uri="{FF2B5EF4-FFF2-40B4-BE49-F238E27FC236}">
                <a16:creationId xmlns:a16="http://schemas.microsoft.com/office/drawing/2014/main" id="{EC510710-442E-4753-A109-3FB7DF4D146A}"/>
              </a:ext>
            </a:extLst>
          </p:cNvPr>
          <p:cNvSpPr>
            <a:spLocks xmlns:a="http://schemas.openxmlformats.org/drawingml/2006/main" noGrp="1"/>
          </p:cNvSpPr>
          <p:nvPr/>
        </p:nvSpPr>
        <p:spPr>
          <a:xfrm xmlns:a="http://schemas.openxmlformats.org/drawingml/2006/main">
            <a:off x="6076950" y="2876550"/>
            <a:ext cx="152400" cy="1524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E8C0643-D9D8-4050-B6DB-6DA9D5644EA3}"/>
              </a:ext>
            </a:extLst>
          </p:cNvPr>
          <p:cNvSpPr>
            <a:spLocks xmlns:a="http://schemas.openxmlformats.org/drawingml/2006/main" noGrp="1"/>
          </p:cNvSpPr>
          <p:nvPr/>
        </p:nvSpPr>
        <p:spPr>
          <a:xfrm xmlns:a="http://schemas.openxmlformats.org/drawingml/2006/main">
            <a:off x="4333875" y="3933825"/>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7191C"/>
                </a:solidFill>
                <a:latin typeface="Arial Narrow"/>
                <a:ea typeface="Arial Narrow"/>
                <a:cs typeface="Arial Narrow"/>
              </a:defRPr>
            </a:pPr>
            <a:r>
              <a:rPr sz="1725" b="1" i="0">
                <a:solidFill>
                  <a:srgbClr val="17191C"/>
                </a:solidFill>
                <a:latin typeface="Arial Narrow"/>
                <a:ea typeface="Arial Narrow"/>
                <a:cs typeface="Arial Narrow"/>
              </a:rPr>
              <a:t>MATERIAL COMPLEXITY</a:t>
            </a:r>
          </a:p>
        </p:txBody>
      </p:sp>
      <p:sp>
        <p:nvSpPr>
          <p:cNvPr id="21" name="">
            <a:extLst xmlns:a="http://schemas.openxmlformats.org/drawingml/2006/main">
              <a:ext uri="{FF2B5EF4-FFF2-40B4-BE49-F238E27FC236}">
                <a16:creationId xmlns:a16="http://schemas.microsoft.com/office/drawing/2014/main" id="{E7C03671-035A-4B87-BCB4-680AA1CB3B5B}"/>
              </a:ext>
            </a:extLst>
          </p:cNvPr>
          <p:cNvSpPr>
            <a:spLocks xmlns:a="http://schemas.openxmlformats.org/drawingml/2006/main" noGrp="1"/>
          </p:cNvSpPr>
          <p:nvPr/>
        </p:nvSpPr>
        <p:spPr>
          <a:xfrm xmlns:a="http://schemas.openxmlformats.org/drawingml/2006/main">
            <a:off x="4333875" y="4371975"/>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6A6F73"/>
                </a:solidFill>
                <a:latin typeface="Arial"/>
                <a:ea typeface="Arial"/>
                <a:cs typeface="Arial"/>
              </a:defRPr>
            </a:pPr>
            <a:r>
              <a:rPr sz="1425" b="0" i="0">
                <a:solidFill>
                  <a:srgbClr val="6A6F73"/>
                </a:solidFill>
                <a:latin typeface="Arial"/>
                <a:ea typeface="Arial"/>
                <a:cs typeface="Arial"/>
              </a:rPr>
              <a:t>Specifications, lengths, reels, accessories and releases must match the construction sequence.</a:t>
            </a:r>
          </a:p>
        </p:txBody>
      </p:sp>
      <p:sp>
        <p:nvSpPr>
          <p:cNvPr id="22" name="">
            <a:extLst xmlns:a="http://schemas.openxmlformats.org/drawingml/2006/main">
              <a:ext uri="{FF2B5EF4-FFF2-40B4-BE49-F238E27FC236}">
                <a16:creationId xmlns:a16="http://schemas.microsoft.com/office/drawing/2014/main" id="{56B3528B-F44A-4DC1-B4B2-6DF9E31D1BE3}"/>
              </a:ext>
            </a:extLst>
          </p:cNvPr>
          <p:cNvSpPr>
            <a:spLocks xmlns:a="http://schemas.openxmlformats.org/drawingml/2006/main" noGrp="1"/>
          </p:cNvSpPr>
          <p:nvPr/>
        </p:nvSpPr>
        <p:spPr>
          <a:xfrm xmlns:a="http://schemas.openxmlformats.org/drawingml/2006/main">
            <a:off x="7858125" y="2152650"/>
            <a:ext cx="0" cy="295275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23" name="">
            <a:extLst xmlns:a="http://schemas.openxmlformats.org/drawingml/2006/main">
              <a:ext uri="{FF2B5EF4-FFF2-40B4-BE49-F238E27FC236}">
                <a16:creationId xmlns:a16="http://schemas.microsoft.com/office/drawing/2014/main" id="{21D3B0D1-03CC-4D8F-A5AB-1E78494AB357}"/>
              </a:ext>
            </a:extLst>
          </p:cNvPr>
          <p:cNvSpPr>
            <a:spLocks xmlns:a="http://schemas.openxmlformats.org/drawingml/2006/main" noGrp="1"/>
          </p:cNvSpPr>
          <p:nvPr/>
        </p:nvSpPr>
        <p:spPr>
          <a:xfrm xmlns:a="http://schemas.openxmlformats.org/drawingml/2006/main">
            <a:off x="8115300" y="21145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i="0">
                <a:solidFill>
                  <a:srgbClr val="9D4E24"/>
                </a:solidFill>
                <a:latin typeface="Arial Narrow"/>
                <a:ea typeface="Arial Narrow"/>
                <a:cs typeface="Arial Narrow"/>
              </a:defRPr>
            </a:pPr>
            <a:r>
              <a:rPr sz="2400" b="1" i="0">
                <a:solidFill>
                  <a:srgbClr val="9D4E24"/>
                </a:solidFill>
                <a:latin typeface="Arial Narrow"/>
                <a:ea typeface="Arial Narrow"/>
                <a:cs typeface="Arial Narrow"/>
              </a:rPr>
              <a:t>03</a:t>
            </a:r>
          </a:p>
        </p:txBody>
      </p:sp>
      <p:sp>
        <p:nvSpPr>
          <p:cNvPr id="24" name="">
            <a:extLst xmlns:a="http://schemas.openxmlformats.org/drawingml/2006/main">
              <a:ext uri="{FF2B5EF4-FFF2-40B4-BE49-F238E27FC236}">
                <a16:creationId xmlns:a16="http://schemas.microsoft.com/office/drawing/2014/main" id="{7D317186-219B-4214-8435-451A3D31C99D}"/>
              </a:ext>
            </a:extLst>
          </p:cNvPr>
          <p:cNvSpPr>
            <a:spLocks xmlns:a="http://schemas.openxmlformats.org/drawingml/2006/main" noGrp="1"/>
          </p:cNvSpPr>
          <p:nvPr/>
        </p:nvSpPr>
        <p:spPr>
          <a:xfrm xmlns:a="http://schemas.openxmlformats.org/drawingml/2006/main">
            <a:off x="8353425" y="2714625"/>
            <a:ext cx="723900" cy="0"/>
          </a:xfrm>
          <a:prstGeom xmlns:a="http://schemas.openxmlformats.org/drawingml/2006/main" prst="line">
            <a:avLst/>
          </a:prstGeom>
          <a:noFill xmlns:a="http://schemas.openxmlformats.org/drawingml/2006/main"/>
          <a:ln xmlns:a="http://schemas.openxmlformats.org/drawingml/2006/main" w="28575">
            <a:solidFill>
              <a:srgbClr val="C9783E"/>
            </a:solidFill>
            <a:prstDash val="solid"/>
          </a:ln>
        </p:spPr>
      </p:sp>
      <p:sp>
        <p:nvSpPr>
          <p:cNvPr id="25" name="">
            <a:extLst xmlns:a="http://schemas.openxmlformats.org/drawingml/2006/main">
              <a:ext uri="{FF2B5EF4-FFF2-40B4-BE49-F238E27FC236}">
                <a16:creationId xmlns:a16="http://schemas.microsoft.com/office/drawing/2014/main" id="{1373C3D6-9905-4497-BBF0-1840198F4A87}"/>
              </a:ext>
            </a:extLst>
          </p:cNvPr>
          <p:cNvSpPr>
            <a:spLocks xmlns:a="http://schemas.openxmlformats.org/drawingml/2006/main" noGrp="1"/>
          </p:cNvSpPr>
          <p:nvPr/>
        </p:nvSpPr>
        <p:spPr>
          <a:xfrm xmlns:a="http://schemas.openxmlformats.org/drawingml/2006/main">
            <a:off x="9077325" y="2714625"/>
            <a:ext cx="514350" cy="619125"/>
          </a:xfrm>
          <a:prstGeom xmlns:a="http://schemas.openxmlformats.org/drawingml/2006/main" prst="line">
            <a:avLst/>
          </a:prstGeom>
          <a:noFill xmlns:a="http://schemas.openxmlformats.org/drawingml/2006/main"/>
          <a:ln xmlns:a="http://schemas.openxmlformats.org/drawingml/2006/main" w="28575">
            <a:solidFill>
              <a:srgbClr val="C9783E"/>
            </a:solidFill>
            <a:prstDash val="solid"/>
          </a:ln>
        </p:spPr>
      </p:sp>
      <p:sp>
        <p:nvSpPr>
          <p:cNvPr id="26" name="">
            <a:extLst xmlns:a="http://schemas.openxmlformats.org/drawingml/2006/main">
              <a:ext uri="{FF2B5EF4-FFF2-40B4-BE49-F238E27FC236}">
                <a16:creationId xmlns:a16="http://schemas.microsoft.com/office/drawing/2014/main" id="{1940198B-9679-4166-A010-6B152C3A5957}"/>
              </a:ext>
            </a:extLst>
          </p:cNvPr>
          <p:cNvSpPr>
            <a:spLocks xmlns:a="http://schemas.openxmlformats.org/drawingml/2006/main" noGrp="1"/>
          </p:cNvSpPr>
          <p:nvPr/>
        </p:nvSpPr>
        <p:spPr>
          <a:xfrm xmlns:a="http://schemas.openxmlformats.org/drawingml/2006/main">
            <a:off x="9591675" y="2714625"/>
            <a:ext cx="514350" cy="619125"/>
          </a:xfrm>
          <a:prstGeom xmlns:a="http://schemas.openxmlformats.org/drawingml/2006/main" prst="line">
            <a:avLst/>
          </a:prstGeom>
          <a:noFill xmlns:a="http://schemas.openxmlformats.org/drawingml/2006/main"/>
          <a:ln xmlns:a="http://schemas.openxmlformats.org/drawingml/2006/main" w="28575">
            <a:solidFill>
              <a:srgbClr val="D8D1C8"/>
            </a:solidFill>
            <a:prstDash val="solid"/>
          </a:ln>
        </p:spPr>
      </p:sp>
      <p:sp>
        <p:nvSpPr>
          <p:cNvPr id="27" name="">
            <a:extLst xmlns:a="http://schemas.openxmlformats.org/drawingml/2006/main">
              <a:ext uri="{FF2B5EF4-FFF2-40B4-BE49-F238E27FC236}">
                <a16:creationId xmlns:a16="http://schemas.microsoft.com/office/drawing/2014/main" id="{97D94A1D-FF55-40C0-AEFC-5636A569E280}"/>
              </a:ext>
            </a:extLst>
          </p:cNvPr>
          <p:cNvSpPr>
            <a:spLocks xmlns:a="http://schemas.openxmlformats.org/drawingml/2006/main" noGrp="1"/>
          </p:cNvSpPr>
          <p:nvPr/>
        </p:nvSpPr>
        <p:spPr>
          <a:xfrm xmlns:a="http://schemas.openxmlformats.org/drawingml/2006/main">
            <a:off x="8153400" y="2562225"/>
            <a:ext cx="304800" cy="3048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DE4AD4F-4E0A-47E0-A7D2-E8C9ED7CD1E3}"/>
              </a:ext>
            </a:extLst>
          </p:cNvPr>
          <p:cNvSpPr>
            <a:spLocks xmlns:a="http://schemas.openxmlformats.org/drawingml/2006/main" noGrp="1"/>
          </p:cNvSpPr>
          <p:nvPr/>
        </p:nvSpPr>
        <p:spPr>
          <a:xfrm xmlns:a="http://schemas.openxmlformats.org/drawingml/2006/main">
            <a:off x="8943975" y="2562225"/>
            <a:ext cx="304800" cy="3048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9AEF168-A049-4FA6-B8A8-3DEFF654D4FA}"/>
              </a:ext>
            </a:extLst>
          </p:cNvPr>
          <p:cNvSpPr>
            <a:spLocks xmlns:a="http://schemas.openxmlformats.org/drawingml/2006/main" noGrp="1"/>
          </p:cNvSpPr>
          <p:nvPr/>
        </p:nvSpPr>
        <p:spPr>
          <a:xfrm xmlns:a="http://schemas.openxmlformats.org/drawingml/2006/main">
            <a:off x="9467850" y="3181350"/>
            <a:ext cx="304800" cy="3048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B3AC2D5-98BC-49E7-B6B9-BFB818FF5015}"/>
              </a:ext>
            </a:extLst>
          </p:cNvPr>
          <p:cNvSpPr>
            <a:spLocks xmlns:a="http://schemas.openxmlformats.org/drawingml/2006/main" noGrp="1"/>
          </p:cNvSpPr>
          <p:nvPr/>
        </p:nvSpPr>
        <p:spPr>
          <a:xfrm xmlns:a="http://schemas.openxmlformats.org/drawingml/2006/main">
            <a:off x="10001250" y="2562225"/>
            <a:ext cx="304800" cy="304800"/>
          </a:xfrm>
          <a:prstGeom xmlns:a="http://schemas.openxmlformats.org/drawingml/2006/main" prst="ellipse">
            <a:avLst/>
          </a:prstGeom>
          <a:solidFill xmlns:a="http://schemas.openxmlformats.org/drawingml/2006/main">
            <a:srgbClr val="F6F3EE"/>
          </a:solidFill>
          <a:ln xmlns:a="http://schemas.openxmlformats.org/drawingml/2006/main" w="9525">
            <a:solidFill>
              <a:srgbClr val="8B9094"/>
            </a:solidFill>
            <a:prstDash val="solid"/>
          </a:ln>
        </p:spPr>
      </p:sp>
      <p:sp>
        <p:nvSpPr>
          <p:cNvPr id="31" name="">
            <a:extLst xmlns:a="http://schemas.openxmlformats.org/drawingml/2006/main">
              <a:ext uri="{FF2B5EF4-FFF2-40B4-BE49-F238E27FC236}">
                <a16:creationId xmlns:a16="http://schemas.microsoft.com/office/drawing/2014/main" id="{65D1C497-7643-4BB7-BC5B-D815A745B31F}"/>
              </a:ext>
            </a:extLst>
          </p:cNvPr>
          <p:cNvSpPr>
            <a:spLocks xmlns:a="http://schemas.openxmlformats.org/drawingml/2006/main" noGrp="1"/>
          </p:cNvSpPr>
          <p:nvPr/>
        </p:nvSpPr>
        <p:spPr>
          <a:xfrm xmlns:a="http://schemas.openxmlformats.org/drawingml/2006/main">
            <a:off x="8115300" y="3933825"/>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837"/>
          </a:bodyPr>
          <a:lstStyle xmlns:a="http://schemas.openxmlformats.org/drawingml/2006/main"/>
          <a:p xmlns:a="http://schemas.openxmlformats.org/drawingml/2006/main">
            <a:pPr algn="l">
              <a:lnSpc>
                <a:spcPct val="100000"/>
              </a:lnSpc>
              <a:buNone/>
              <a:defRPr sz="1725" b="1" i="0">
                <a:solidFill>
                  <a:srgbClr val="17191C"/>
                </a:solidFill>
                <a:latin typeface="Arial Narrow"/>
                <a:ea typeface="Arial Narrow"/>
                <a:cs typeface="Arial Narrow"/>
              </a:defRPr>
            </a:pPr>
            <a:r>
              <a:rPr sz="1725" b="1" i="0">
                <a:solidFill>
                  <a:srgbClr val="17191C"/>
                </a:solidFill>
                <a:latin typeface="Arial Narrow"/>
                <a:ea typeface="Arial Narrow"/>
                <a:cs typeface="Arial Narrow"/>
              </a:rPr>
              <a:t>FRAGMENTED COORDINATION</a:t>
            </a:r>
          </a:p>
        </p:txBody>
      </p:sp>
      <p:sp>
        <p:nvSpPr>
          <p:cNvPr id="32" name="">
            <a:extLst xmlns:a="http://schemas.openxmlformats.org/drawingml/2006/main">
              <a:ext uri="{FF2B5EF4-FFF2-40B4-BE49-F238E27FC236}">
                <a16:creationId xmlns:a16="http://schemas.microsoft.com/office/drawing/2014/main" id="{374D61C3-4B2A-49FF-A685-25626D93543D}"/>
              </a:ext>
            </a:extLst>
          </p:cNvPr>
          <p:cNvSpPr>
            <a:spLocks xmlns:a="http://schemas.openxmlformats.org/drawingml/2006/main" noGrp="1"/>
          </p:cNvSpPr>
          <p:nvPr/>
        </p:nvSpPr>
        <p:spPr>
          <a:xfrm xmlns:a="http://schemas.openxmlformats.org/drawingml/2006/main">
            <a:off x="8115300" y="4371975"/>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6A6F73"/>
                </a:solidFill>
                <a:latin typeface="Arial"/>
                <a:ea typeface="Arial"/>
                <a:cs typeface="Arial"/>
              </a:defRPr>
            </a:pPr>
            <a:r>
              <a:rPr sz="1425" b="0" i="0">
                <a:solidFill>
                  <a:srgbClr val="6A6F73"/>
                </a:solidFill>
                <a:latin typeface="Arial"/>
                <a:ea typeface="Arial"/>
                <a:cs typeface="Arial"/>
              </a:rPr>
              <a:t>Owner, EPC, OEM, supplier and contractor decisions can converge too late.</a:t>
            </a:r>
          </a:p>
        </p:txBody>
      </p:sp>
      <p:sp>
        <p:nvSpPr>
          <p:cNvPr id="33" name="">
            <a:extLst xmlns:a="http://schemas.openxmlformats.org/drawingml/2006/main">
              <a:ext uri="{FF2B5EF4-FFF2-40B4-BE49-F238E27FC236}">
                <a16:creationId xmlns:a16="http://schemas.microsoft.com/office/drawing/2014/main" id="{A4A7EB2C-FB0F-4B6A-8D27-A9FE4230D7D3}"/>
              </a:ext>
            </a:extLst>
          </p:cNvPr>
          <p:cNvSpPr>
            <a:spLocks xmlns:a="http://schemas.openxmlformats.org/drawingml/2006/main" noGrp="1"/>
          </p:cNvSpPr>
          <p:nvPr/>
        </p:nvSpPr>
        <p:spPr>
          <a:xfrm xmlns:a="http://schemas.openxmlformats.org/drawingml/2006/main" rot="0">
            <a:off x="552450" y="5495925"/>
            <a:ext cx="11087100" cy="838200"/>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8820853-0352-4232-9109-367D1EAA3E91}"/>
              </a:ext>
            </a:extLst>
          </p:cNvPr>
          <p:cNvSpPr>
            <a:spLocks xmlns:a="http://schemas.openxmlformats.org/drawingml/2006/main" noGrp="1"/>
          </p:cNvSpPr>
          <p:nvPr/>
        </p:nvSpPr>
        <p:spPr>
          <a:xfrm xmlns:a="http://schemas.openxmlformats.org/drawingml/2006/main">
            <a:off x="781050" y="574357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Arial Narrow"/>
                <a:ea typeface="Arial Narrow"/>
                <a:cs typeface="Arial Narrow"/>
              </a:defRPr>
            </a:pPr>
            <a:r>
              <a:rPr sz="1725" b="1" i="0">
                <a:solidFill>
                  <a:srgbClr val="FFFFFF"/>
                </a:solidFill>
                <a:latin typeface="Arial Narrow"/>
                <a:ea typeface="Arial Narrow"/>
                <a:cs typeface="Arial Narrow"/>
              </a:rPr>
              <a:t>LATE HANDOFFS BECOME SCHEDULE AND COMMISSIONING EXPOSURE.</a:t>
            </a:r>
          </a:p>
        </p:txBody>
      </p:sp>
      <p:sp>
        <p:nvSpPr>
          <p:cNvPr id="35" name="">
            <a:extLst xmlns:a="http://schemas.openxmlformats.org/drawingml/2006/main">
              <a:ext uri="{FF2B5EF4-FFF2-40B4-BE49-F238E27FC236}">
                <a16:creationId xmlns:a16="http://schemas.microsoft.com/office/drawing/2014/main" id="{856D35BF-74D2-4784-980F-6BDF91F15B0B}"/>
              </a:ext>
            </a:extLst>
          </p:cNvPr>
          <p:cNvSpPr>
            <a:spLocks xmlns:a="http://schemas.openxmlformats.org/drawingml/2006/main" noGrp="1"/>
          </p:cNvSpPr>
          <p:nvPr/>
        </p:nvSpPr>
        <p:spPr>
          <a:xfrm xmlns:a="http://schemas.openxmlformats.org/drawingml/2006/main">
            <a:off x="552450" y="6477000"/>
            <a:ext cx="11087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0" i="0">
                <a:solidFill>
                  <a:srgbClr val="8B9094"/>
                </a:solidFill>
                <a:latin typeface="Arial"/>
                <a:ea typeface="Arial"/>
                <a:cs typeface="Arial"/>
              </a:defRPr>
            </a:pPr>
            <a:r>
              <a:rPr sz="1050" b="0" i="0">
                <a:solidFill>
                  <a:srgbClr val="8B9094"/>
                </a:solidFill>
                <a:latin typeface="Arial"/>
                <a:ea typeface="Arial"/>
                <a:cs typeface="Arial"/>
              </a:rPr>
              <a:t>Labor availability  |  material readiness  |  decision timing</a:t>
            </a:r>
          </a:p>
        </p:txBody>
      </p:sp>
    </p:spTree>
    <p:extLst>
      <p:ext uri="{BB962C8B-B14F-4D97-AF65-F5344CB8AC3E}">
        <p14:creationId xmlns:p14="http://schemas.microsoft.com/office/powerpoint/2010/main" val="1304498637"/>
      </p:ext>
    </p:extLst>
  </p:cSld>
</p:sld>
</file>

<file path=ppt/slides/slide4.xml><?xml version="1.0" encoding="utf-8"?>
<p:sld xmlns:p="http://schemas.openxmlformats.org/presentationml/2006/main">
  <p:cSld>
    <p:bg>
      <p:bgPr>
        <a:solidFill xmlns:a="http://schemas.openxmlformats.org/drawingml/2006/main">
          <a:srgbClr val="22252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5BF3D11-5231-4DDC-BB3A-94D00087E5E7}"/>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defc997f92c418d"/>
          <a:srcRect xmlns:a="http://schemas.openxmlformats.org/drawingml/2006/main" l="8771" t="0" r="8771" b="0"/>
          <a:stretch xmlns:a="http://schemas.openxmlformats.org/drawingml/2006/main">
            <a:fillRect l="0" t="0" r="0" b="0"/>
          </a:stretch>
        </p:blipFill>
        <p:spPr>
          <a:xfrm xmlns:a="http://schemas.openxmlformats.org/drawingml/2006/main">
            <a:off x="552450" y="209550"/>
            <a:ext cx="245745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A4144D4-FF7A-4A82-99D7-3D12C1AA6DBA}"/>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E3A06D"/>
                </a:solidFill>
                <a:latin typeface="Arial Narrow"/>
                <a:ea typeface="Arial Narrow"/>
                <a:cs typeface="Arial Narrow"/>
              </a:defRPr>
            </a:pPr>
            <a:r>
              <a:rPr sz="975" b="1" i="0">
                <a:solidFill>
                  <a:srgbClr val="E3A06D"/>
                </a:solidFill>
                <a:latin typeface="Arial Narrow"/>
                <a:ea typeface="Arial Narrow"/>
                <a:cs typeface="Arial Narrow"/>
              </a:rPr>
              <a:t>THE STRATEGIC INSIGHT</a:t>
            </a:r>
          </a:p>
        </p:txBody>
      </p:sp>
      <p:sp>
        <p:nvSpPr>
          <p:cNvPr id="4" name="">
            <a:extLst xmlns:a="http://schemas.openxmlformats.org/drawingml/2006/main">
              <a:ext uri="{FF2B5EF4-FFF2-40B4-BE49-F238E27FC236}">
                <a16:creationId xmlns:a16="http://schemas.microsoft.com/office/drawing/2014/main" id="{0379070D-6C0F-4266-8945-5BC47DF63F1F}"/>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04</a:t>
            </a:r>
          </a:p>
        </p:txBody>
      </p:sp>
      <p:sp>
        <p:nvSpPr>
          <p:cNvPr id="5" name="">
            <a:extLst xmlns:a="http://schemas.openxmlformats.org/drawingml/2006/main">
              <a:ext uri="{FF2B5EF4-FFF2-40B4-BE49-F238E27FC236}">
                <a16:creationId xmlns:a16="http://schemas.microsoft.com/office/drawing/2014/main" id="{63E0C359-915D-4200-B24C-8C5DB37F2860}"/>
              </a:ext>
            </a:extLst>
          </p:cNvPr>
          <p:cNvSpPr>
            <a:spLocks xmlns:a="http://schemas.openxmlformats.org/drawingml/2006/main" noGrp="1"/>
          </p:cNvSpPr>
          <p:nvPr/>
        </p:nvSpPr>
        <p:spPr>
          <a:xfrm xmlns:a="http://schemas.openxmlformats.org/drawingml/2006/main" rot="0">
            <a:off x="552450" y="1304925"/>
            <a:ext cx="66675" cy="274320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FAE8ECB-F97B-4C8B-A969-7459B2AA08F4}"/>
              </a:ext>
            </a:extLst>
          </p:cNvPr>
          <p:cNvSpPr>
            <a:spLocks xmlns:a="http://schemas.openxmlformats.org/drawingml/2006/main" noGrp="1"/>
          </p:cNvSpPr>
          <p:nvPr/>
        </p:nvSpPr>
        <p:spPr>
          <a:xfrm xmlns:a="http://schemas.openxmlformats.org/drawingml/2006/main">
            <a:off x="866775" y="1247775"/>
            <a:ext cx="1000125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3675" b="1" i="0">
                <a:solidFill>
                  <a:srgbClr val="FFFFFF"/>
                </a:solidFill>
                <a:latin typeface="Arial Narrow"/>
                <a:ea typeface="Arial Narrow"/>
                <a:cs typeface="Arial Narrow"/>
              </a:defRPr>
            </a:pPr>
            <a:r>
              <a:rPr sz="3675" b="1" i="0">
                <a:solidFill>
                  <a:srgbClr val="FFFFFF"/>
                </a:solidFill>
                <a:latin typeface="Arial Narrow"/>
                <a:ea typeface="Arial Narrow"/>
                <a:cs typeface="Arial Narrow"/>
              </a:rPr>
              <a:t>TIME TO POWER IS AN</a:t>
            </a:r>
          </a:p>
          <a:p xmlns:a="http://schemas.openxmlformats.org/drawingml/2006/main">
            <a:pPr algn="l">
              <a:lnSpc>
                <a:spcPct val="88000"/>
              </a:lnSpc>
              <a:buNone/>
              <a:defRPr sz="3675" b="1" i="0">
                <a:solidFill>
                  <a:srgbClr val="FFFFFF"/>
                </a:solidFill>
                <a:latin typeface="Arial Narrow"/>
                <a:ea typeface="Arial Narrow"/>
                <a:cs typeface="Arial Narrow"/>
              </a:defRPr>
            </a:pPr>
            <a:r>
              <a:rPr sz="3675" b="1" i="0">
                <a:solidFill>
                  <a:srgbClr val="FFFFFF"/>
                </a:solidFill>
                <a:latin typeface="Arial Narrow"/>
                <a:ea typeface="Arial Narrow"/>
                <a:cs typeface="Arial Narrow"/>
              </a:rPr>
              <a:t>ELECTRICAL EXECUTION PROBLEM</a:t>
            </a:r>
          </a:p>
          <a:p xmlns:a="http://schemas.openxmlformats.org/drawingml/2006/main">
            <a:pPr algn="l">
              <a:lnSpc>
                <a:spcPct val="88000"/>
              </a:lnSpc>
              <a:buNone/>
              <a:defRPr sz="3675" b="1" i="0">
                <a:solidFill>
                  <a:srgbClr val="FFFFFF"/>
                </a:solidFill>
                <a:latin typeface="Arial Narrow"/>
                <a:ea typeface="Arial Narrow"/>
                <a:cs typeface="Arial Narrow"/>
              </a:defRPr>
            </a:pPr>
            <a:r>
              <a:rPr sz="3675" b="1" i="0">
                <a:solidFill>
                  <a:srgbClr val="FFFFFF"/>
                </a:solidFill>
                <a:latin typeface="Arial Narrow"/>
                <a:ea typeface="Arial Narrow"/>
                <a:cs typeface="Arial Narrow"/>
              </a:rPr>
              <a:t>BEFORE IT IS A CABLE-BUYING PROBLEM.</a:t>
            </a:r>
          </a:p>
        </p:txBody>
      </p:sp>
      <p:sp>
        <p:nvSpPr>
          <p:cNvPr id="7" name="">
            <a:extLst xmlns:a="http://schemas.openxmlformats.org/drawingml/2006/main">
              <a:ext uri="{FF2B5EF4-FFF2-40B4-BE49-F238E27FC236}">
                <a16:creationId xmlns:a16="http://schemas.microsoft.com/office/drawing/2014/main" id="{778ADA97-15E3-44DF-8039-F5322D253F29}"/>
              </a:ext>
            </a:extLst>
          </p:cNvPr>
          <p:cNvSpPr>
            <a:spLocks xmlns:a="http://schemas.openxmlformats.org/drawingml/2006/main" noGrp="1"/>
          </p:cNvSpPr>
          <p:nvPr/>
        </p:nvSpPr>
        <p:spPr>
          <a:xfrm xmlns:a="http://schemas.openxmlformats.org/drawingml/2006/main">
            <a:off x="881063" y="4338638"/>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604F568-5669-432F-A2DA-B31C8C71C266}"/>
              </a:ext>
            </a:extLst>
          </p:cNvPr>
          <p:cNvSpPr>
            <a:spLocks xmlns:a="http://schemas.openxmlformats.org/drawingml/2006/main" noGrp="1"/>
          </p:cNvSpPr>
          <p:nvPr/>
        </p:nvSpPr>
        <p:spPr>
          <a:xfrm xmlns:a="http://schemas.openxmlformats.org/drawingml/2006/main">
            <a:off x="1038225" y="4276725"/>
            <a:ext cx="9305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D5D7D9"/>
                </a:solidFill>
                <a:latin typeface="Arial"/>
                <a:ea typeface="Arial"/>
                <a:cs typeface="Arial"/>
              </a:defRPr>
            </a:pPr>
            <a:r>
              <a:rPr sz="1350" b="0" i="0">
                <a:solidFill>
                  <a:srgbClr val="D5D7D9"/>
                </a:solidFill>
                <a:latin typeface="Arial"/>
                <a:ea typeface="Arial"/>
                <a:cs typeface="Arial"/>
              </a:rPr>
              <a:t>Interfaces cross packages, zones, contractors and turnover paths.</a:t>
            </a:r>
          </a:p>
        </p:txBody>
      </p:sp>
      <p:sp>
        <p:nvSpPr>
          <p:cNvPr id="9" name="">
            <a:extLst xmlns:a="http://schemas.openxmlformats.org/drawingml/2006/main">
              <a:ext uri="{FF2B5EF4-FFF2-40B4-BE49-F238E27FC236}">
                <a16:creationId xmlns:a16="http://schemas.microsoft.com/office/drawing/2014/main" id="{C8C4731C-1E44-4801-8550-BCA9CD20CA32}"/>
              </a:ext>
            </a:extLst>
          </p:cNvPr>
          <p:cNvSpPr>
            <a:spLocks xmlns:a="http://schemas.openxmlformats.org/drawingml/2006/main" noGrp="1"/>
          </p:cNvSpPr>
          <p:nvPr/>
        </p:nvSpPr>
        <p:spPr>
          <a:xfrm xmlns:a="http://schemas.openxmlformats.org/drawingml/2006/main">
            <a:off x="881063" y="4814888"/>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9FEADE-D784-4275-97D0-D439A872B660}"/>
              </a:ext>
            </a:extLst>
          </p:cNvPr>
          <p:cNvSpPr>
            <a:spLocks xmlns:a="http://schemas.openxmlformats.org/drawingml/2006/main" noGrp="1"/>
          </p:cNvSpPr>
          <p:nvPr/>
        </p:nvSpPr>
        <p:spPr>
          <a:xfrm xmlns:a="http://schemas.openxmlformats.org/drawingml/2006/main">
            <a:off x="1038225" y="4752975"/>
            <a:ext cx="9305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D5D7D9"/>
                </a:solidFill>
                <a:latin typeface="Arial"/>
                <a:ea typeface="Arial"/>
                <a:cs typeface="Arial"/>
              </a:defRPr>
            </a:pPr>
            <a:r>
              <a:rPr sz="1350" b="0" i="0">
                <a:solidFill>
                  <a:srgbClr val="D5D7D9"/>
                </a:solidFill>
                <a:latin typeface="Arial"/>
                <a:ea typeface="Arial"/>
                <a:cs typeface="Arial"/>
              </a:rPr>
              <a:t>Late material decisions return as handling, rework and commissioning exposure.</a:t>
            </a:r>
          </a:p>
        </p:txBody>
      </p:sp>
      <p:sp>
        <p:nvSpPr>
          <p:cNvPr id="11" name="">
            <a:extLst xmlns:a="http://schemas.openxmlformats.org/drawingml/2006/main">
              <a:ext uri="{FF2B5EF4-FFF2-40B4-BE49-F238E27FC236}">
                <a16:creationId xmlns:a16="http://schemas.microsoft.com/office/drawing/2014/main" id="{EBDF5EDB-6FB9-47B4-90E7-4074EC3A17C7}"/>
              </a:ext>
            </a:extLst>
          </p:cNvPr>
          <p:cNvSpPr>
            <a:spLocks xmlns:a="http://schemas.openxmlformats.org/drawingml/2006/main" noGrp="1"/>
          </p:cNvSpPr>
          <p:nvPr/>
        </p:nvSpPr>
        <p:spPr>
          <a:xfrm xmlns:a="http://schemas.openxmlformats.org/drawingml/2006/main">
            <a:off x="881063" y="5291138"/>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F51CB84-C4F4-4D9D-BBAE-1F58A6DE57D0}"/>
              </a:ext>
            </a:extLst>
          </p:cNvPr>
          <p:cNvSpPr>
            <a:spLocks xmlns:a="http://schemas.openxmlformats.org/drawingml/2006/main" noGrp="1"/>
          </p:cNvSpPr>
          <p:nvPr/>
        </p:nvSpPr>
        <p:spPr>
          <a:xfrm xmlns:a="http://schemas.openxmlformats.org/drawingml/2006/main">
            <a:off x="1038225" y="5229225"/>
            <a:ext cx="9305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D5D7D9"/>
                </a:solidFill>
                <a:latin typeface="Arial"/>
                <a:ea typeface="Arial"/>
                <a:cs typeface="Arial"/>
              </a:defRPr>
            </a:pPr>
            <a:r>
              <a:rPr sz="1350" b="0" i="0">
                <a:solidFill>
                  <a:srgbClr val="D5D7D9"/>
                </a:solidFill>
                <a:latin typeface="Arial"/>
                <a:ea typeface="Arial"/>
                <a:cs typeface="Arial"/>
              </a:rPr>
              <a:t>Managing the workstream as a system can protect schedule better than isolated purchase-order optimization.</a:t>
            </a:r>
          </a:p>
        </p:txBody>
      </p:sp>
      <p:sp>
        <p:nvSpPr>
          <p:cNvPr id="13" name="">
            <a:extLst xmlns:a="http://schemas.openxmlformats.org/drawingml/2006/main">
              <a:ext uri="{FF2B5EF4-FFF2-40B4-BE49-F238E27FC236}">
                <a16:creationId xmlns:a16="http://schemas.microsoft.com/office/drawing/2014/main" id="{D549ADE3-6C12-4085-889E-8A2423F5705D}"/>
              </a:ext>
            </a:extLst>
          </p:cNvPr>
          <p:cNvSpPr>
            <a:spLocks xmlns:a="http://schemas.openxmlformats.org/drawingml/2006/main" noGrp="1"/>
          </p:cNvSpPr>
          <p:nvPr/>
        </p:nvSpPr>
        <p:spPr>
          <a:xfrm xmlns:a="http://schemas.openxmlformats.org/drawingml/2006/main">
            <a:off x="1524000" y="6096000"/>
            <a:ext cx="8572500" cy="0"/>
          </a:xfrm>
          <a:prstGeom xmlns:a="http://schemas.openxmlformats.org/drawingml/2006/main" prst="line">
            <a:avLst/>
          </a:prstGeom>
          <a:noFill xmlns:a="http://schemas.openxmlformats.org/drawingml/2006/main"/>
          <a:ln xmlns:a="http://schemas.openxmlformats.org/drawingml/2006/main" w="28575">
            <a:solidFill>
              <a:srgbClr val="C9783E"/>
            </a:solidFill>
            <a:prstDash val="solid"/>
          </a:ln>
        </p:spPr>
      </p:sp>
      <p:sp>
        <p:nvSpPr>
          <p:cNvPr id="14" name="">
            <a:extLst xmlns:a="http://schemas.openxmlformats.org/drawingml/2006/main">
              <a:ext uri="{FF2B5EF4-FFF2-40B4-BE49-F238E27FC236}">
                <a16:creationId xmlns:a16="http://schemas.microsoft.com/office/drawing/2014/main" id="{5EB9ADDD-D017-45CB-B044-B3CD0F2D0C2E}"/>
              </a:ext>
            </a:extLst>
          </p:cNvPr>
          <p:cNvSpPr>
            <a:spLocks xmlns:a="http://schemas.openxmlformats.org/drawingml/2006/main" noGrp="1"/>
          </p:cNvSpPr>
          <p:nvPr/>
        </p:nvSpPr>
        <p:spPr>
          <a:xfrm xmlns:a="http://schemas.openxmlformats.org/drawingml/2006/main">
            <a:off x="1409700" y="5981700"/>
            <a:ext cx="228600" cy="2286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2783846-430F-43A3-8E35-20253928B57B}"/>
              </a:ext>
            </a:extLst>
          </p:cNvPr>
          <p:cNvSpPr>
            <a:spLocks xmlns:a="http://schemas.openxmlformats.org/drawingml/2006/main" noGrp="1"/>
          </p:cNvSpPr>
          <p:nvPr/>
        </p:nvSpPr>
        <p:spPr>
          <a:xfrm xmlns:a="http://schemas.openxmlformats.org/drawingml/2006/main">
            <a:off x="800100" y="6334125"/>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8B9094"/>
                </a:solidFill>
                <a:latin typeface="Arial Narrow"/>
                <a:ea typeface="Arial Narrow"/>
                <a:cs typeface="Arial Narrow"/>
              </a:defRPr>
            </a:pPr>
            <a:r>
              <a:rPr sz="1050" b="1" i="0">
                <a:solidFill>
                  <a:srgbClr val="8B9094"/>
                </a:solidFill>
                <a:latin typeface="Arial Narrow"/>
                <a:ea typeface="Arial Narrow"/>
                <a:cs typeface="Arial Narrow"/>
              </a:rPr>
              <a:t>DESIGN</a:t>
            </a:r>
          </a:p>
        </p:txBody>
      </p:sp>
      <p:sp>
        <p:nvSpPr>
          <p:cNvPr id="16" name="">
            <a:extLst xmlns:a="http://schemas.openxmlformats.org/drawingml/2006/main">
              <a:ext uri="{FF2B5EF4-FFF2-40B4-BE49-F238E27FC236}">
                <a16:creationId xmlns:a16="http://schemas.microsoft.com/office/drawing/2014/main" id="{80BBEA81-C80A-41ED-B57A-99D5025A0570}"/>
              </a:ext>
            </a:extLst>
          </p:cNvPr>
          <p:cNvSpPr>
            <a:spLocks xmlns:a="http://schemas.openxmlformats.org/drawingml/2006/main" noGrp="1"/>
          </p:cNvSpPr>
          <p:nvPr/>
        </p:nvSpPr>
        <p:spPr>
          <a:xfrm xmlns:a="http://schemas.openxmlformats.org/drawingml/2006/main">
            <a:off x="4267200" y="5981700"/>
            <a:ext cx="228600" cy="2286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24E2898-5B19-487D-8F27-1B5CC3DD19FF}"/>
              </a:ext>
            </a:extLst>
          </p:cNvPr>
          <p:cNvSpPr>
            <a:spLocks xmlns:a="http://schemas.openxmlformats.org/drawingml/2006/main" noGrp="1"/>
          </p:cNvSpPr>
          <p:nvPr/>
        </p:nvSpPr>
        <p:spPr>
          <a:xfrm xmlns:a="http://schemas.openxmlformats.org/drawingml/2006/main">
            <a:off x="3657600" y="6334125"/>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8B9094"/>
                </a:solidFill>
                <a:latin typeface="Arial Narrow"/>
                <a:ea typeface="Arial Narrow"/>
                <a:cs typeface="Arial Narrow"/>
              </a:defRPr>
            </a:pPr>
            <a:r>
              <a:rPr sz="1050" b="1" i="0">
                <a:solidFill>
                  <a:srgbClr val="8B9094"/>
                </a:solidFill>
                <a:latin typeface="Arial Narrow"/>
                <a:ea typeface="Arial Narrow"/>
                <a:cs typeface="Arial Narrow"/>
              </a:rPr>
              <a:t>MATERIAL</a:t>
            </a:r>
          </a:p>
        </p:txBody>
      </p:sp>
      <p:sp>
        <p:nvSpPr>
          <p:cNvPr id="18" name="">
            <a:extLst xmlns:a="http://schemas.openxmlformats.org/drawingml/2006/main">
              <a:ext uri="{FF2B5EF4-FFF2-40B4-BE49-F238E27FC236}">
                <a16:creationId xmlns:a16="http://schemas.microsoft.com/office/drawing/2014/main" id="{2392268D-8BE3-49C1-A1DD-AFEE7005E6D1}"/>
              </a:ext>
            </a:extLst>
          </p:cNvPr>
          <p:cNvSpPr>
            <a:spLocks xmlns:a="http://schemas.openxmlformats.org/drawingml/2006/main" noGrp="1"/>
          </p:cNvSpPr>
          <p:nvPr/>
        </p:nvSpPr>
        <p:spPr>
          <a:xfrm xmlns:a="http://schemas.openxmlformats.org/drawingml/2006/main">
            <a:off x="7124700" y="5981700"/>
            <a:ext cx="228600" cy="2286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7E81957-DAAF-4804-A30B-1D8791381F59}"/>
              </a:ext>
            </a:extLst>
          </p:cNvPr>
          <p:cNvSpPr>
            <a:spLocks xmlns:a="http://schemas.openxmlformats.org/drawingml/2006/main" noGrp="1"/>
          </p:cNvSpPr>
          <p:nvPr/>
        </p:nvSpPr>
        <p:spPr>
          <a:xfrm xmlns:a="http://schemas.openxmlformats.org/drawingml/2006/main">
            <a:off x="6515100" y="6334125"/>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8B9094"/>
                </a:solidFill>
                <a:latin typeface="Arial Narrow"/>
                <a:ea typeface="Arial Narrow"/>
                <a:cs typeface="Arial Narrow"/>
              </a:defRPr>
            </a:pPr>
            <a:r>
              <a:rPr sz="1050" b="1" i="0">
                <a:solidFill>
                  <a:srgbClr val="8B9094"/>
                </a:solidFill>
                <a:latin typeface="Arial Narrow"/>
                <a:ea typeface="Arial Narrow"/>
                <a:cs typeface="Arial Narrow"/>
              </a:rPr>
              <a:t>WORKFACE</a:t>
            </a:r>
          </a:p>
        </p:txBody>
      </p:sp>
      <p:sp>
        <p:nvSpPr>
          <p:cNvPr id="20" name="">
            <a:extLst xmlns:a="http://schemas.openxmlformats.org/drawingml/2006/main">
              <a:ext uri="{FF2B5EF4-FFF2-40B4-BE49-F238E27FC236}">
                <a16:creationId xmlns:a16="http://schemas.microsoft.com/office/drawing/2014/main" id="{B8901EE6-526F-44DD-B308-332CEE4102C1}"/>
              </a:ext>
            </a:extLst>
          </p:cNvPr>
          <p:cNvSpPr>
            <a:spLocks xmlns:a="http://schemas.openxmlformats.org/drawingml/2006/main" noGrp="1"/>
          </p:cNvSpPr>
          <p:nvPr/>
        </p:nvSpPr>
        <p:spPr>
          <a:xfrm xmlns:a="http://schemas.openxmlformats.org/drawingml/2006/main">
            <a:off x="9982200" y="5981700"/>
            <a:ext cx="228600" cy="228600"/>
          </a:xfrm>
          <a:prstGeom xmlns:a="http://schemas.openxmlformats.org/drawingml/2006/main" prst="ellipse">
            <a:avLst/>
          </a:prstGeom>
          <a:solidFill xmlns:a="http://schemas.openxmlformats.org/drawingml/2006/main">
            <a:srgbClr val="9D4E2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48D04B9-C876-439E-8002-82DC4C685F6C}"/>
              </a:ext>
            </a:extLst>
          </p:cNvPr>
          <p:cNvSpPr>
            <a:spLocks xmlns:a="http://schemas.openxmlformats.org/drawingml/2006/main" noGrp="1"/>
          </p:cNvSpPr>
          <p:nvPr/>
        </p:nvSpPr>
        <p:spPr>
          <a:xfrm xmlns:a="http://schemas.openxmlformats.org/drawingml/2006/main">
            <a:off x="9372600" y="6334125"/>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E3A06D"/>
                </a:solidFill>
                <a:latin typeface="Arial Narrow"/>
                <a:ea typeface="Arial Narrow"/>
                <a:cs typeface="Arial Narrow"/>
              </a:defRPr>
            </a:pPr>
            <a:r>
              <a:rPr sz="1050" b="1" i="0">
                <a:solidFill>
                  <a:srgbClr val="E3A06D"/>
                </a:solidFill>
                <a:latin typeface="Arial Narrow"/>
                <a:ea typeface="Arial Narrow"/>
                <a:cs typeface="Arial Narrow"/>
              </a:rPr>
              <a:t>ENERGIZATION</a:t>
            </a:r>
          </a:p>
        </p:txBody>
      </p:sp>
    </p:spTree>
    <p:extLst>
      <p:ext uri="{BB962C8B-B14F-4D97-AF65-F5344CB8AC3E}">
        <p14:creationId xmlns:p14="http://schemas.microsoft.com/office/powerpoint/2010/main" val="1187526084"/>
      </p:ext>
    </p:extLst>
  </p:cSld>
</p:sld>
</file>

<file path=ppt/slides/slide5.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45DC38F-6AE2-41CB-8F67-FE474A831FFC}"/>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9945691857c4426"/>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9EEA4D-3183-4B6E-8498-78D3FCE2A4A2}"/>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9D4E24"/>
                </a:solidFill>
                <a:latin typeface="Arial Narrow"/>
                <a:ea typeface="Arial Narrow"/>
                <a:cs typeface="Arial Narrow"/>
              </a:defRPr>
            </a:pPr>
            <a:r>
              <a:rPr sz="975" b="1" i="0">
                <a:solidFill>
                  <a:srgbClr val="9D4E24"/>
                </a:solidFill>
                <a:latin typeface="Arial Narrow"/>
                <a:ea typeface="Arial Narrow"/>
                <a:cs typeface="Arial Narrow"/>
              </a:rPr>
              <a:t>INTEGRATED ELECTRICAL DELIVERY SYSTEM</a:t>
            </a:r>
          </a:p>
        </p:txBody>
      </p:sp>
      <p:sp>
        <p:nvSpPr>
          <p:cNvPr id="4" name="">
            <a:extLst xmlns:a="http://schemas.openxmlformats.org/drawingml/2006/main">
              <a:ext uri="{FF2B5EF4-FFF2-40B4-BE49-F238E27FC236}">
                <a16:creationId xmlns:a16="http://schemas.microsoft.com/office/drawing/2014/main" id="{9BF28EA1-DF91-47F4-8165-40932299F7AF}"/>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05</a:t>
            </a:r>
          </a:p>
        </p:txBody>
      </p:sp>
      <p:sp>
        <p:nvSpPr>
          <p:cNvPr id="5" name="">
            <a:extLst xmlns:a="http://schemas.openxmlformats.org/drawingml/2006/main">
              <a:ext uri="{FF2B5EF4-FFF2-40B4-BE49-F238E27FC236}">
                <a16:creationId xmlns:a16="http://schemas.microsoft.com/office/drawing/2014/main" id="{47AF5CC8-9D9B-49E1-BEC1-A70BAD8389D4}"/>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D4E24"/>
                </a:solidFill>
                <a:latin typeface="Arial Narrow"/>
                <a:ea typeface="Arial Narrow"/>
                <a:cs typeface="Arial Narrow"/>
              </a:defRPr>
            </a:pPr>
            <a:r>
              <a:rPr sz="1050" b="1" i="0">
                <a:solidFill>
                  <a:srgbClr val="9D4E24"/>
                </a:solidFill>
                <a:latin typeface="Arial Narrow"/>
                <a:ea typeface="Arial Narrow"/>
                <a:cs typeface="Arial Narrow"/>
              </a:rPr>
              <a:t>ONE COORDINATED FLOW</a:t>
            </a:r>
          </a:p>
        </p:txBody>
      </p:sp>
      <p:sp>
        <p:nvSpPr>
          <p:cNvPr id="6" name="">
            <a:extLst xmlns:a="http://schemas.openxmlformats.org/drawingml/2006/main">
              <a:ext uri="{FF2B5EF4-FFF2-40B4-BE49-F238E27FC236}">
                <a16:creationId xmlns:a16="http://schemas.microsoft.com/office/drawing/2014/main" id="{65C0BCAE-551A-42C9-A5AF-140E3EF3526C}"/>
              </a:ext>
            </a:extLst>
          </p:cNvPr>
          <p:cNvSpPr>
            <a:spLocks xmlns:a="http://schemas.openxmlformats.org/drawingml/2006/main" noGrp="1"/>
          </p:cNvSpPr>
          <p:nvPr/>
        </p:nvSpPr>
        <p:spPr>
          <a:xfrm xmlns:a="http://schemas.openxmlformats.org/drawingml/2006/main">
            <a:off x="552450" y="1181100"/>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27"/>
          </a:bodyPr>
          <a:lstStyle xmlns:a="http://schemas.openxmlformats.org/drawingml/2006/main"/>
          <a:p xmlns:a="http://schemas.openxmlformats.org/drawingml/2006/main">
            <a:pPr algn="l">
              <a:lnSpc>
                <a:spcPct val="94000"/>
              </a:lnSpc>
              <a:buNone/>
              <a:defRPr sz="2700" b="1" i="0">
                <a:solidFill>
                  <a:srgbClr val="17191C"/>
                </a:solidFill>
                <a:latin typeface="Arial"/>
                <a:ea typeface="Arial"/>
                <a:cs typeface="Arial"/>
              </a:defRPr>
            </a:pPr>
            <a:r>
              <a:rPr sz="2700" b="1" i="0">
                <a:solidFill>
                  <a:srgbClr val="17191C"/>
                </a:solidFill>
                <a:latin typeface="Arial"/>
                <a:ea typeface="Arial"/>
                <a:cs typeface="Arial"/>
              </a:rPr>
              <a:t>A coordinated electrical delivery system aligns decisions from planning through turnover.</a:t>
            </a:r>
          </a:p>
        </p:txBody>
      </p:sp>
      <p:sp>
        <p:nvSpPr>
          <p:cNvPr id="7" name="">
            <a:extLst xmlns:a="http://schemas.openxmlformats.org/drawingml/2006/main">
              <a:ext uri="{FF2B5EF4-FFF2-40B4-BE49-F238E27FC236}">
                <a16:creationId xmlns:a16="http://schemas.microsoft.com/office/drawing/2014/main" id="{7B11B163-FEC6-4A82-AC0D-BFBC738C42FA}"/>
              </a:ext>
            </a:extLst>
          </p:cNvPr>
          <p:cNvSpPr>
            <a:spLocks xmlns:a="http://schemas.openxmlformats.org/drawingml/2006/main" noGrp="1"/>
          </p:cNvSpPr>
          <p:nvPr/>
        </p:nvSpPr>
        <p:spPr>
          <a:xfrm xmlns:a="http://schemas.openxmlformats.org/drawingml/2006/main">
            <a:off x="552450" y="18859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34"/>
          </a:bodyPr>
          <a:lstStyle xmlns:a="http://schemas.openxmlformats.org/drawingml/2006/main"/>
          <a:p xmlns:a="http://schemas.openxmlformats.org/drawingml/2006/main">
            <a:pPr algn="l">
              <a:lnSpc>
                <a:spcPct val="103000"/>
              </a:lnSpc>
              <a:buNone/>
              <a:defRPr sz="1425" b="0" i="0">
                <a:solidFill>
                  <a:srgbClr val="6A6F73"/>
                </a:solidFill>
                <a:latin typeface="Arial"/>
                <a:ea typeface="Arial"/>
                <a:cs typeface="Arial"/>
              </a:defRPr>
            </a:pPr>
            <a:r>
              <a:rPr sz="1425" b="0" i="0">
                <a:solidFill>
                  <a:srgbClr val="6A6F73"/>
                </a:solidFill>
                <a:latin typeface="Arial"/>
                <a:ea typeface="Arial"/>
                <a:cs typeface="Arial"/>
              </a:rPr>
              <a:t>Southwire connects application support, material planning, sequenced logistics and field readiness—without changing project accountability.</a:t>
            </a:r>
          </a:p>
        </p:txBody>
      </p:sp>
      <p:sp>
        <p:nvSpPr>
          <p:cNvPr id="8" name="">
            <a:extLst xmlns:a="http://schemas.openxmlformats.org/drawingml/2006/main">
              <a:ext uri="{FF2B5EF4-FFF2-40B4-BE49-F238E27FC236}">
                <a16:creationId xmlns:a16="http://schemas.microsoft.com/office/drawing/2014/main" id="{AA0834E0-F0DC-4C90-9E61-78A455267176}"/>
              </a:ext>
            </a:extLst>
          </p:cNvPr>
          <p:cNvSpPr>
            <a:spLocks xmlns:a="http://schemas.openxmlformats.org/drawingml/2006/main" noGrp="1"/>
          </p:cNvSpPr>
          <p:nvPr/>
        </p:nvSpPr>
        <p:spPr>
          <a:xfrm xmlns:a="http://schemas.openxmlformats.org/drawingml/2006/main">
            <a:off x="1066800" y="3181350"/>
            <a:ext cx="10048875"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9" name="">
            <a:extLst xmlns:a="http://schemas.openxmlformats.org/drawingml/2006/main">
              <a:ext uri="{FF2B5EF4-FFF2-40B4-BE49-F238E27FC236}">
                <a16:creationId xmlns:a16="http://schemas.microsoft.com/office/drawing/2014/main" id="{AB7FDA60-6B1B-4154-9A93-CE3D697397B4}"/>
              </a:ext>
            </a:extLst>
          </p:cNvPr>
          <p:cNvSpPr>
            <a:spLocks xmlns:a="http://schemas.openxmlformats.org/drawingml/2006/main" noGrp="1"/>
          </p:cNvSpPr>
          <p:nvPr/>
        </p:nvSpPr>
        <p:spPr>
          <a:xfrm xmlns:a="http://schemas.openxmlformats.org/drawingml/2006/main">
            <a:off x="904875" y="3019425"/>
            <a:ext cx="323850" cy="323850"/>
          </a:xfrm>
          <a:prstGeom xmlns:a="http://schemas.openxmlformats.org/drawingml/2006/main" prst="ellipse">
            <a:avLst/>
          </a:prstGeom>
          <a:solidFill xmlns:a="http://schemas.openxmlformats.org/drawingml/2006/main">
            <a:srgbClr val="9D4E2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4B2944-3C32-41A4-B7DE-F11869E77CB1}"/>
              </a:ext>
            </a:extLst>
          </p:cNvPr>
          <p:cNvSpPr>
            <a:spLocks xmlns:a="http://schemas.openxmlformats.org/drawingml/2006/main" noGrp="1"/>
          </p:cNvSpPr>
          <p:nvPr/>
        </p:nvSpPr>
        <p:spPr>
          <a:xfrm xmlns:a="http://schemas.openxmlformats.org/drawingml/2006/main">
            <a:off x="942975"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FFFFFF"/>
                </a:solidFill>
                <a:latin typeface="Arial Narrow"/>
                <a:ea typeface="Arial Narrow"/>
                <a:cs typeface="Arial Narrow"/>
              </a:defRPr>
            </a:pPr>
            <a:r>
              <a:rPr sz="900" b="1" i="0">
                <a:solidFill>
                  <a:srgbClr val="FFFFFF"/>
                </a:solidFill>
                <a:latin typeface="Arial Narrow"/>
                <a:ea typeface="Arial Narrow"/>
                <a:cs typeface="Arial Narrow"/>
              </a:rPr>
              <a:t>1</a:t>
            </a:r>
          </a:p>
        </p:txBody>
      </p:sp>
      <p:sp>
        <p:nvSpPr>
          <p:cNvPr id="11" name="">
            <a:extLst xmlns:a="http://schemas.openxmlformats.org/drawingml/2006/main">
              <a:ext uri="{FF2B5EF4-FFF2-40B4-BE49-F238E27FC236}">
                <a16:creationId xmlns:a16="http://schemas.microsoft.com/office/drawing/2014/main" id="{ECE862CD-7E83-4193-986F-2224FBD6FD8B}"/>
              </a:ext>
            </a:extLst>
          </p:cNvPr>
          <p:cNvSpPr>
            <a:spLocks xmlns:a="http://schemas.openxmlformats.org/drawingml/2006/main" noGrp="1"/>
          </p:cNvSpPr>
          <p:nvPr/>
        </p:nvSpPr>
        <p:spPr>
          <a:xfrm xmlns:a="http://schemas.openxmlformats.org/drawingml/2006/main">
            <a:off x="200025"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17191C"/>
                </a:solidFill>
                <a:latin typeface="Arial Narrow"/>
                <a:ea typeface="Arial Narrow"/>
                <a:cs typeface="Arial Narrow"/>
              </a:defRPr>
            </a:pPr>
            <a:r>
              <a:rPr sz="1125" b="1" i="0">
                <a:solidFill>
                  <a:srgbClr val="17191C"/>
                </a:solidFill>
                <a:latin typeface="Arial Narrow"/>
                <a:ea typeface="Arial Narrow"/>
                <a:cs typeface="Arial Narrow"/>
              </a:rPr>
              <a:t>PLAN + FORECAST</a:t>
            </a:r>
          </a:p>
        </p:txBody>
      </p:sp>
      <p:sp>
        <p:nvSpPr>
          <p:cNvPr id="12" name="">
            <a:extLst xmlns:a="http://schemas.openxmlformats.org/drawingml/2006/main">
              <a:ext uri="{FF2B5EF4-FFF2-40B4-BE49-F238E27FC236}">
                <a16:creationId xmlns:a16="http://schemas.microsoft.com/office/drawing/2014/main" id="{BF86C620-65F1-4F7A-9A35-D59254D61F36}"/>
              </a:ext>
            </a:extLst>
          </p:cNvPr>
          <p:cNvSpPr>
            <a:spLocks xmlns:a="http://schemas.openxmlformats.org/drawingml/2006/main" noGrp="1"/>
          </p:cNvSpPr>
          <p:nvPr/>
        </p:nvSpPr>
        <p:spPr>
          <a:xfrm xmlns:a="http://schemas.openxmlformats.org/drawingml/2006/main">
            <a:off x="200025"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Scope and capacity visibility</a:t>
            </a:r>
          </a:p>
        </p:txBody>
      </p:sp>
      <p:sp>
        <p:nvSpPr>
          <p:cNvPr id="13" name="">
            <a:extLst xmlns:a="http://schemas.openxmlformats.org/drawingml/2006/main">
              <a:ext uri="{FF2B5EF4-FFF2-40B4-BE49-F238E27FC236}">
                <a16:creationId xmlns:a16="http://schemas.microsoft.com/office/drawing/2014/main" id="{D9931DE4-5B9D-450F-9375-80FB29CDC14C}"/>
              </a:ext>
            </a:extLst>
          </p:cNvPr>
          <p:cNvSpPr>
            <a:spLocks xmlns:a="http://schemas.openxmlformats.org/drawingml/2006/main" noGrp="1"/>
          </p:cNvSpPr>
          <p:nvPr/>
        </p:nvSpPr>
        <p:spPr>
          <a:xfrm xmlns:a="http://schemas.openxmlformats.org/drawingml/2006/main">
            <a:off x="2914650" y="3019425"/>
            <a:ext cx="323850" cy="32385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E1E8D4-DC48-43E5-BDB0-06DCDDB204DE}"/>
              </a:ext>
            </a:extLst>
          </p:cNvPr>
          <p:cNvSpPr>
            <a:spLocks xmlns:a="http://schemas.openxmlformats.org/drawingml/2006/main" noGrp="1"/>
          </p:cNvSpPr>
          <p:nvPr/>
        </p:nvSpPr>
        <p:spPr>
          <a:xfrm xmlns:a="http://schemas.openxmlformats.org/drawingml/2006/main">
            <a:off x="2952750"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FFFFFF"/>
                </a:solidFill>
                <a:latin typeface="Arial Narrow"/>
                <a:ea typeface="Arial Narrow"/>
                <a:cs typeface="Arial Narrow"/>
              </a:defRPr>
            </a:pPr>
            <a:r>
              <a:rPr sz="900" b="1" i="0">
                <a:solidFill>
                  <a:srgbClr val="FFFFFF"/>
                </a:solidFill>
                <a:latin typeface="Arial Narrow"/>
                <a:ea typeface="Arial Narrow"/>
                <a:cs typeface="Arial Narrow"/>
              </a:rPr>
              <a:t>2</a:t>
            </a:r>
          </a:p>
        </p:txBody>
      </p:sp>
      <p:sp>
        <p:nvSpPr>
          <p:cNvPr id="15" name="">
            <a:extLst xmlns:a="http://schemas.openxmlformats.org/drawingml/2006/main">
              <a:ext uri="{FF2B5EF4-FFF2-40B4-BE49-F238E27FC236}">
                <a16:creationId xmlns:a16="http://schemas.microsoft.com/office/drawing/2014/main" id="{558442E0-B01E-479C-8535-941AA472B43D}"/>
              </a:ext>
            </a:extLst>
          </p:cNvPr>
          <p:cNvSpPr>
            <a:spLocks xmlns:a="http://schemas.openxmlformats.org/drawingml/2006/main" noGrp="1"/>
          </p:cNvSpPr>
          <p:nvPr/>
        </p:nvSpPr>
        <p:spPr>
          <a:xfrm xmlns:a="http://schemas.openxmlformats.org/drawingml/2006/main">
            <a:off x="2209800"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17191C"/>
                </a:solidFill>
                <a:latin typeface="Arial Narrow"/>
                <a:ea typeface="Arial Narrow"/>
                <a:cs typeface="Arial Narrow"/>
              </a:defRPr>
            </a:pPr>
            <a:r>
              <a:rPr sz="1125" b="1" i="0">
                <a:solidFill>
                  <a:srgbClr val="17191C"/>
                </a:solidFill>
                <a:latin typeface="Arial Narrow"/>
                <a:ea typeface="Arial Narrow"/>
                <a:cs typeface="Arial Narrow"/>
              </a:rPr>
              <a:t>APPLICATION ALIGNMENT</a:t>
            </a:r>
          </a:p>
        </p:txBody>
      </p:sp>
      <p:sp>
        <p:nvSpPr>
          <p:cNvPr id="16" name="">
            <a:extLst xmlns:a="http://schemas.openxmlformats.org/drawingml/2006/main">
              <a:ext uri="{FF2B5EF4-FFF2-40B4-BE49-F238E27FC236}">
                <a16:creationId xmlns:a16="http://schemas.microsoft.com/office/drawing/2014/main" id="{914735E2-DA32-4A3F-8C89-53B55832ED96}"/>
              </a:ext>
            </a:extLst>
          </p:cNvPr>
          <p:cNvSpPr>
            <a:spLocks xmlns:a="http://schemas.openxmlformats.org/drawingml/2006/main" noGrp="1"/>
          </p:cNvSpPr>
          <p:nvPr/>
        </p:nvSpPr>
        <p:spPr>
          <a:xfrm xmlns:a="http://schemas.openxmlformats.org/drawingml/2006/main">
            <a:off x="2209800"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Codes, duty and alternates</a:t>
            </a:r>
          </a:p>
        </p:txBody>
      </p:sp>
      <p:sp>
        <p:nvSpPr>
          <p:cNvPr id="17" name="">
            <a:extLst xmlns:a="http://schemas.openxmlformats.org/drawingml/2006/main">
              <a:ext uri="{FF2B5EF4-FFF2-40B4-BE49-F238E27FC236}">
                <a16:creationId xmlns:a16="http://schemas.microsoft.com/office/drawing/2014/main" id="{A634E919-3F74-49E2-9A5E-3B5E2FE3A017}"/>
              </a:ext>
            </a:extLst>
          </p:cNvPr>
          <p:cNvSpPr>
            <a:spLocks xmlns:a="http://schemas.openxmlformats.org/drawingml/2006/main" noGrp="1"/>
          </p:cNvSpPr>
          <p:nvPr/>
        </p:nvSpPr>
        <p:spPr>
          <a:xfrm xmlns:a="http://schemas.openxmlformats.org/drawingml/2006/main">
            <a:off x="4924425" y="3019425"/>
            <a:ext cx="323850" cy="32385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46FFC1-96E5-4C04-8540-32DCBFE37DB7}"/>
              </a:ext>
            </a:extLst>
          </p:cNvPr>
          <p:cNvSpPr>
            <a:spLocks xmlns:a="http://schemas.openxmlformats.org/drawingml/2006/main" noGrp="1"/>
          </p:cNvSpPr>
          <p:nvPr/>
        </p:nvSpPr>
        <p:spPr>
          <a:xfrm xmlns:a="http://schemas.openxmlformats.org/drawingml/2006/main">
            <a:off x="4962525"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FFFFFF"/>
                </a:solidFill>
                <a:latin typeface="Arial Narrow"/>
                <a:ea typeface="Arial Narrow"/>
                <a:cs typeface="Arial Narrow"/>
              </a:defRPr>
            </a:pPr>
            <a:r>
              <a:rPr sz="900" b="1" i="0">
                <a:solidFill>
                  <a:srgbClr val="FFFFFF"/>
                </a:solidFill>
                <a:latin typeface="Arial Narrow"/>
                <a:ea typeface="Arial Narrow"/>
                <a:cs typeface="Arial Narrow"/>
              </a:rPr>
              <a:t>3</a:t>
            </a:r>
          </a:p>
        </p:txBody>
      </p:sp>
      <p:sp>
        <p:nvSpPr>
          <p:cNvPr id="19" name="">
            <a:extLst xmlns:a="http://schemas.openxmlformats.org/drawingml/2006/main">
              <a:ext uri="{FF2B5EF4-FFF2-40B4-BE49-F238E27FC236}">
                <a16:creationId xmlns:a16="http://schemas.microsoft.com/office/drawing/2014/main" id="{FF4CE0C7-F215-4467-9632-95BC63F3DE13}"/>
              </a:ext>
            </a:extLst>
          </p:cNvPr>
          <p:cNvSpPr>
            <a:spLocks xmlns:a="http://schemas.openxmlformats.org/drawingml/2006/main" noGrp="1"/>
          </p:cNvSpPr>
          <p:nvPr/>
        </p:nvSpPr>
        <p:spPr>
          <a:xfrm xmlns:a="http://schemas.openxmlformats.org/drawingml/2006/main">
            <a:off x="4219575"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17191C"/>
                </a:solidFill>
                <a:latin typeface="Arial Narrow"/>
                <a:ea typeface="Arial Narrow"/>
                <a:cs typeface="Arial Narrow"/>
              </a:defRPr>
            </a:pPr>
            <a:r>
              <a:rPr sz="1125" b="1" i="0">
                <a:solidFill>
                  <a:srgbClr val="17191C"/>
                </a:solidFill>
                <a:latin typeface="Arial Narrow"/>
                <a:ea typeface="Arial Narrow"/>
                <a:cs typeface="Arial Narrow"/>
              </a:rPr>
              <a:t>MATERIAL + REEL STRATEGY</a:t>
            </a:r>
          </a:p>
        </p:txBody>
      </p:sp>
      <p:sp>
        <p:nvSpPr>
          <p:cNvPr id="20" name="">
            <a:extLst xmlns:a="http://schemas.openxmlformats.org/drawingml/2006/main">
              <a:ext uri="{FF2B5EF4-FFF2-40B4-BE49-F238E27FC236}">
                <a16:creationId xmlns:a16="http://schemas.microsoft.com/office/drawing/2014/main" id="{FA3431A3-A8C2-4B8A-A59B-A3E229E7F731}"/>
              </a:ext>
            </a:extLst>
          </p:cNvPr>
          <p:cNvSpPr>
            <a:spLocks xmlns:a="http://schemas.openxmlformats.org/drawingml/2006/main" noGrp="1"/>
          </p:cNvSpPr>
          <p:nvPr/>
        </p:nvSpPr>
        <p:spPr>
          <a:xfrm xmlns:a="http://schemas.openxmlformats.org/drawingml/2006/main">
            <a:off x="4219575"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Routes, cuts and reel plan</a:t>
            </a:r>
          </a:p>
        </p:txBody>
      </p:sp>
      <p:sp>
        <p:nvSpPr>
          <p:cNvPr id="21" name="">
            <a:extLst xmlns:a="http://schemas.openxmlformats.org/drawingml/2006/main">
              <a:ext uri="{FF2B5EF4-FFF2-40B4-BE49-F238E27FC236}">
                <a16:creationId xmlns:a16="http://schemas.microsoft.com/office/drawing/2014/main" id="{3D6F02E7-F294-408E-AE7B-57B98FC7622D}"/>
              </a:ext>
            </a:extLst>
          </p:cNvPr>
          <p:cNvSpPr>
            <a:spLocks xmlns:a="http://schemas.openxmlformats.org/drawingml/2006/main" noGrp="1"/>
          </p:cNvSpPr>
          <p:nvPr/>
        </p:nvSpPr>
        <p:spPr>
          <a:xfrm xmlns:a="http://schemas.openxmlformats.org/drawingml/2006/main">
            <a:off x="6934200" y="3019425"/>
            <a:ext cx="323850" cy="32385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71FD49B-FA5A-4A7B-A012-300CD02AABD7}"/>
              </a:ext>
            </a:extLst>
          </p:cNvPr>
          <p:cNvSpPr>
            <a:spLocks xmlns:a="http://schemas.openxmlformats.org/drawingml/2006/main" noGrp="1"/>
          </p:cNvSpPr>
          <p:nvPr/>
        </p:nvSpPr>
        <p:spPr>
          <a:xfrm xmlns:a="http://schemas.openxmlformats.org/drawingml/2006/main">
            <a:off x="6972300"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FFFFFF"/>
                </a:solidFill>
                <a:latin typeface="Arial Narrow"/>
                <a:ea typeface="Arial Narrow"/>
                <a:cs typeface="Arial Narrow"/>
              </a:defRPr>
            </a:pPr>
            <a:r>
              <a:rPr sz="900" b="1" i="0">
                <a:solidFill>
                  <a:srgbClr val="FFFFFF"/>
                </a:solidFill>
                <a:latin typeface="Arial Narrow"/>
                <a:ea typeface="Arial Narrow"/>
                <a:cs typeface="Arial Narrow"/>
              </a:rPr>
              <a:t>4</a:t>
            </a:r>
          </a:p>
        </p:txBody>
      </p:sp>
      <p:sp>
        <p:nvSpPr>
          <p:cNvPr id="23" name="">
            <a:extLst xmlns:a="http://schemas.openxmlformats.org/drawingml/2006/main">
              <a:ext uri="{FF2B5EF4-FFF2-40B4-BE49-F238E27FC236}">
                <a16:creationId xmlns:a16="http://schemas.microsoft.com/office/drawing/2014/main" id="{B438CFB6-8269-4816-938F-78C2F8E88B68}"/>
              </a:ext>
            </a:extLst>
          </p:cNvPr>
          <p:cNvSpPr>
            <a:spLocks xmlns:a="http://schemas.openxmlformats.org/drawingml/2006/main" noGrp="1"/>
          </p:cNvSpPr>
          <p:nvPr/>
        </p:nvSpPr>
        <p:spPr>
          <a:xfrm xmlns:a="http://schemas.openxmlformats.org/drawingml/2006/main">
            <a:off x="6229350"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17191C"/>
                </a:solidFill>
                <a:latin typeface="Arial Narrow"/>
                <a:ea typeface="Arial Narrow"/>
                <a:cs typeface="Arial Narrow"/>
              </a:defRPr>
            </a:pPr>
            <a:r>
              <a:rPr sz="1125" b="1" i="0">
                <a:solidFill>
                  <a:srgbClr val="17191C"/>
                </a:solidFill>
                <a:latin typeface="Arial Narrow"/>
                <a:ea typeface="Arial Narrow"/>
                <a:cs typeface="Arial Narrow"/>
              </a:rPr>
              <a:t>RELEASE + LOGISTICS</a:t>
            </a:r>
          </a:p>
        </p:txBody>
      </p:sp>
      <p:sp>
        <p:nvSpPr>
          <p:cNvPr id="24" name="">
            <a:extLst xmlns:a="http://schemas.openxmlformats.org/drawingml/2006/main">
              <a:ext uri="{FF2B5EF4-FFF2-40B4-BE49-F238E27FC236}">
                <a16:creationId xmlns:a16="http://schemas.microsoft.com/office/drawing/2014/main" id="{9C77E230-1B0B-4F73-8A24-65663B601DD9}"/>
              </a:ext>
            </a:extLst>
          </p:cNvPr>
          <p:cNvSpPr>
            <a:spLocks xmlns:a="http://schemas.openxmlformats.org/drawingml/2006/main" noGrp="1"/>
          </p:cNvSpPr>
          <p:nvPr/>
        </p:nvSpPr>
        <p:spPr>
          <a:xfrm xmlns:a="http://schemas.openxmlformats.org/drawingml/2006/main">
            <a:off x="6229350"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Sequence by zone and milestone</a:t>
            </a:r>
          </a:p>
        </p:txBody>
      </p:sp>
      <p:sp>
        <p:nvSpPr>
          <p:cNvPr id="25" name="">
            <a:extLst xmlns:a="http://schemas.openxmlformats.org/drawingml/2006/main">
              <a:ext uri="{FF2B5EF4-FFF2-40B4-BE49-F238E27FC236}">
                <a16:creationId xmlns:a16="http://schemas.microsoft.com/office/drawing/2014/main" id="{D44B5AF7-4C1D-43FE-8983-E16EF6213D42}"/>
              </a:ext>
            </a:extLst>
          </p:cNvPr>
          <p:cNvSpPr>
            <a:spLocks xmlns:a="http://schemas.openxmlformats.org/drawingml/2006/main" noGrp="1"/>
          </p:cNvSpPr>
          <p:nvPr/>
        </p:nvSpPr>
        <p:spPr>
          <a:xfrm xmlns:a="http://schemas.openxmlformats.org/drawingml/2006/main">
            <a:off x="8943975" y="3019425"/>
            <a:ext cx="323850" cy="32385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94CBBF6-3636-4021-9235-7A705BC79643}"/>
              </a:ext>
            </a:extLst>
          </p:cNvPr>
          <p:cNvSpPr>
            <a:spLocks xmlns:a="http://schemas.openxmlformats.org/drawingml/2006/main" noGrp="1"/>
          </p:cNvSpPr>
          <p:nvPr/>
        </p:nvSpPr>
        <p:spPr>
          <a:xfrm xmlns:a="http://schemas.openxmlformats.org/drawingml/2006/main">
            <a:off x="8982075"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FFFFFF"/>
                </a:solidFill>
                <a:latin typeface="Arial Narrow"/>
                <a:ea typeface="Arial Narrow"/>
                <a:cs typeface="Arial Narrow"/>
              </a:defRPr>
            </a:pPr>
            <a:r>
              <a:rPr sz="900" b="1" i="0">
                <a:solidFill>
                  <a:srgbClr val="FFFFFF"/>
                </a:solidFill>
                <a:latin typeface="Arial Narrow"/>
                <a:ea typeface="Arial Narrow"/>
                <a:cs typeface="Arial Narrow"/>
              </a:rPr>
              <a:t>5</a:t>
            </a:r>
          </a:p>
        </p:txBody>
      </p:sp>
      <p:sp>
        <p:nvSpPr>
          <p:cNvPr id="27" name="">
            <a:extLst xmlns:a="http://schemas.openxmlformats.org/drawingml/2006/main">
              <a:ext uri="{FF2B5EF4-FFF2-40B4-BE49-F238E27FC236}">
                <a16:creationId xmlns:a16="http://schemas.microsoft.com/office/drawing/2014/main" id="{3B0B3B82-393B-4C25-86A4-24ECEE8A21AC}"/>
              </a:ext>
            </a:extLst>
          </p:cNvPr>
          <p:cNvSpPr>
            <a:spLocks xmlns:a="http://schemas.openxmlformats.org/drawingml/2006/main" noGrp="1"/>
          </p:cNvSpPr>
          <p:nvPr/>
        </p:nvSpPr>
        <p:spPr>
          <a:xfrm xmlns:a="http://schemas.openxmlformats.org/drawingml/2006/main">
            <a:off x="8239125"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17191C"/>
                </a:solidFill>
                <a:latin typeface="Arial Narrow"/>
                <a:ea typeface="Arial Narrow"/>
                <a:cs typeface="Arial Narrow"/>
              </a:defRPr>
            </a:pPr>
            <a:r>
              <a:rPr sz="1125" b="1" i="0">
                <a:solidFill>
                  <a:srgbClr val="17191C"/>
                </a:solidFill>
                <a:latin typeface="Arial Narrow"/>
                <a:ea typeface="Arial Narrow"/>
                <a:cs typeface="Arial Narrow"/>
              </a:rPr>
              <a:t>INSTALLATION READINESS</a:t>
            </a:r>
          </a:p>
        </p:txBody>
      </p:sp>
      <p:sp>
        <p:nvSpPr>
          <p:cNvPr id="28" name="">
            <a:extLst xmlns:a="http://schemas.openxmlformats.org/drawingml/2006/main">
              <a:ext uri="{FF2B5EF4-FFF2-40B4-BE49-F238E27FC236}">
                <a16:creationId xmlns:a16="http://schemas.microsoft.com/office/drawing/2014/main" id="{42CFCDD8-3BF8-4990-8197-A9083D2476C5}"/>
              </a:ext>
            </a:extLst>
          </p:cNvPr>
          <p:cNvSpPr>
            <a:spLocks xmlns:a="http://schemas.openxmlformats.org/drawingml/2006/main" noGrp="1"/>
          </p:cNvSpPr>
          <p:nvPr/>
        </p:nvSpPr>
        <p:spPr>
          <a:xfrm xmlns:a="http://schemas.openxmlformats.org/drawingml/2006/main">
            <a:off x="8239125"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Labels, kits and pull planning</a:t>
            </a:r>
          </a:p>
        </p:txBody>
      </p:sp>
      <p:sp>
        <p:nvSpPr>
          <p:cNvPr id="29" name="">
            <a:extLst xmlns:a="http://schemas.openxmlformats.org/drawingml/2006/main">
              <a:ext uri="{FF2B5EF4-FFF2-40B4-BE49-F238E27FC236}">
                <a16:creationId xmlns:a16="http://schemas.microsoft.com/office/drawing/2014/main" id="{C917D65D-B844-43A9-A2EB-E9EF8AA9A133}"/>
              </a:ext>
            </a:extLst>
          </p:cNvPr>
          <p:cNvSpPr>
            <a:spLocks xmlns:a="http://schemas.openxmlformats.org/drawingml/2006/main" noGrp="1"/>
          </p:cNvSpPr>
          <p:nvPr/>
        </p:nvSpPr>
        <p:spPr>
          <a:xfrm xmlns:a="http://schemas.openxmlformats.org/drawingml/2006/main">
            <a:off x="10953750" y="3019425"/>
            <a:ext cx="323850" cy="323850"/>
          </a:xfrm>
          <a:prstGeom xmlns:a="http://schemas.openxmlformats.org/drawingml/2006/main" prst="ellipse">
            <a:avLst/>
          </a:prstGeom>
          <a:solidFill xmlns:a="http://schemas.openxmlformats.org/drawingml/2006/main">
            <a:srgbClr val="9D4E2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F09CD09-1EBC-429B-930F-D50F0A39F1AC}"/>
              </a:ext>
            </a:extLst>
          </p:cNvPr>
          <p:cNvSpPr>
            <a:spLocks xmlns:a="http://schemas.openxmlformats.org/drawingml/2006/main" noGrp="1"/>
          </p:cNvSpPr>
          <p:nvPr/>
        </p:nvSpPr>
        <p:spPr>
          <a:xfrm xmlns:a="http://schemas.openxmlformats.org/drawingml/2006/main">
            <a:off x="10991850" y="30670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FFFFFF"/>
                </a:solidFill>
                <a:latin typeface="Arial Narrow"/>
                <a:ea typeface="Arial Narrow"/>
                <a:cs typeface="Arial Narrow"/>
              </a:defRPr>
            </a:pPr>
            <a:r>
              <a:rPr sz="900" b="1" i="0">
                <a:solidFill>
                  <a:srgbClr val="FFFFFF"/>
                </a:solidFill>
                <a:latin typeface="Arial Narrow"/>
                <a:ea typeface="Arial Narrow"/>
                <a:cs typeface="Arial Narrow"/>
              </a:rPr>
              <a:t>6</a:t>
            </a:r>
          </a:p>
        </p:txBody>
      </p:sp>
      <p:sp>
        <p:nvSpPr>
          <p:cNvPr id="31" name="">
            <a:extLst xmlns:a="http://schemas.openxmlformats.org/drawingml/2006/main">
              <a:ext uri="{FF2B5EF4-FFF2-40B4-BE49-F238E27FC236}">
                <a16:creationId xmlns:a16="http://schemas.microsoft.com/office/drawing/2014/main" id="{AA521088-E403-43F6-9051-AEE0895D41A3}"/>
              </a:ext>
            </a:extLst>
          </p:cNvPr>
          <p:cNvSpPr>
            <a:spLocks xmlns:a="http://schemas.openxmlformats.org/drawingml/2006/main" noGrp="1"/>
          </p:cNvSpPr>
          <p:nvPr/>
        </p:nvSpPr>
        <p:spPr>
          <a:xfrm xmlns:a="http://schemas.openxmlformats.org/drawingml/2006/main">
            <a:off x="10248900" y="3552825"/>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17191C"/>
                </a:solidFill>
                <a:latin typeface="Arial Narrow"/>
                <a:ea typeface="Arial Narrow"/>
                <a:cs typeface="Arial Narrow"/>
              </a:defRPr>
            </a:pPr>
            <a:r>
              <a:rPr sz="1125" b="1" i="0">
                <a:solidFill>
                  <a:srgbClr val="17191C"/>
                </a:solidFill>
                <a:latin typeface="Arial Narrow"/>
                <a:ea typeface="Arial Narrow"/>
                <a:cs typeface="Arial Narrow"/>
              </a:rPr>
              <a:t>FIELD SUPPORT + TURNOVER</a:t>
            </a:r>
          </a:p>
        </p:txBody>
      </p:sp>
      <p:sp>
        <p:nvSpPr>
          <p:cNvPr id="32" name="">
            <a:extLst xmlns:a="http://schemas.openxmlformats.org/drawingml/2006/main">
              <a:ext uri="{FF2B5EF4-FFF2-40B4-BE49-F238E27FC236}">
                <a16:creationId xmlns:a16="http://schemas.microsoft.com/office/drawing/2014/main" id="{85C15463-1636-4C31-BFCD-F704B9D4D3BF}"/>
              </a:ext>
            </a:extLst>
          </p:cNvPr>
          <p:cNvSpPr>
            <a:spLocks xmlns:a="http://schemas.openxmlformats.org/drawingml/2006/main" noGrp="1"/>
          </p:cNvSpPr>
          <p:nvPr/>
        </p:nvSpPr>
        <p:spPr>
          <a:xfrm xmlns:a="http://schemas.openxmlformats.org/drawingml/2006/main">
            <a:off x="10248900" y="4019550"/>
            <a:ext cx="1733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A6F73"/>
                </a:solidFill>
                <a:latin typeface="Arial"/>
                <a:ea typeface="Arial"/>
                <a:cs typeface="Arial"/>
              </a:defRPr>
            </a:pPr>
            <a:r>
              <a:rPr sz="1125" b="0" i="0">
                <a:solidFill>
                  <a:srgbClr val="6A6F73"/>
                </a:solidFill>
                <a:latin typeface="Arial"/>
                <a:ea typeface="Arial"/>
                <a:cs typeface="Arial"/>
              </a:rPr>
              <a:t>Feedback, testing and records</a:t>
            </a:r>
          </a:p>
        </p:txBody>
      </p:sp>
      <p:sp>
        <p:nvSpPr>
          <p:cNvPr id="33" name="">
            <a:extLst xmlns:a="http://schemas.openxmlformats.org/drawingml/2006/main">
              <a:ext uri="{FF2B5EF4-FFF2-40B4-BE49-F238E27FC236}">
                <a16:creationId xmlns:a16="http://schemas.microsoft.com/office/drawing/2014/main" id="{CCDCDBBB-418D-4496-B683-1E46A12185A0}"/>
              </a:ext>
            </a:extLst>
          </p:cNvPr>
          <p:cNvSpPr>
            <a:spLocks xmlns:a="http://schemas.openxmlformats.org/drawingml/2006/main" noGrp="1"/>
          </p:cNvSpPr>
          <p:nvPr/>
        </p:nvSpPr>
        <p:spPr>
          <a:xfrm xmlns:a="http://schemas.openxmlformats.org/drawingml/2006/main" rot="0">
            <a:off x="552450" y="4857750"/>
            <a:ext cx="11087100" cy="876300"/>
          </a:xfrm>
          <a:prstGeom xmlns:a="http://schemas.openxmlformats.org/drawingml/2006/main" prst="rect">
            <a:avLst/>
          </a:prstGeom>
          <a:solidFill xmlns:a="http://schemas.openxmlformats.org/drawingml/2006/main">
            <a:srgbClr val="F2E3D8"/>
          </a:solidFill>
          <a:ln xmlns:a="http://schemas.openxmlformats.org/drawingml/2006/main" w="9525">
            <a:solidFill>
              <a:srgbClr val="E2C8B5"/>
            </a:solidFill>
            <a:prstDash val="solid"/>
          </a:ln>
        </p:spPr>
      </p:sp>
      <p:sp>
        <p:nvSpPr>
          <p:cNvPr id="34" name="">
            <a:extLst xmlns:a="http://schemas.openxmlformats.org/drawingml/2006/main">
              <a:ext uri="{FF2B5EF4-FFF2-40B4-BE49-F238E27FC236}">
                <a16:creationId xmlns:a16="http://schemas.microsoft.com/office/drawing/2014/main" id="{E0A06570-0838-4403-8C3D-864FB39CF2C3}"/>
              </a:ext>
            </a:extLst>
          </p:cNvPr>
          <p:cNvSpPr>
            <a:spLocks xmlns:a="http://schemas.openxmlformats.org/drawingml/2006/main" noGrp="1"/>
          </p:cNvSpPr>
          <p:nvPr/>
        </p:nvSpPr>
        <p:spPr>
          <a:xfrm xmlns:a="http://schemas.openxmlformats.org/drawingml/2006/main">
            <a:off x="781050" y="5095875"/>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9D4E24"/>
                </a:solidFill>
                <a:latin typeface="Arial Narrow"/>
                <a:ea typeface="Arial Narrow"/>
                <a:cs typeface="Arial Narrow"/>
              </a:defRPr>
            </a:pPr>
            <a:r>
              <a:rPr sz="1200" b="1" i="0">
                <a:solidFill>
                  <a:srgbClr val="9D4E24"/>
                </a:solidFill>
                <a:latin typeface="Arial Narrow"/>
                <a:ea typeface="Arial Narrow"/>
                <a:cs typeface="Arial Narrow"/>
              </a:rPr>
              <a:t>SOUTHWIRE COORDINATION RAIL</a:t>
            </a:r>
          </a:p>
        </p:txBody>
      </p:sp>
      <p:sp>
        <p:nvSpPr>
          <p:cNvPr id="35" name="">
            <a:extLst xmlns:a="http://schemas.openxmlformats.org/drawingml/2006/main">
              <a:ext uri="{FF2B5EF4-FFF2-40B4-BE49-F238E27FC236}">
                <a16:creationId xmlns:a16="http://schemas.microsoft.com/office/drawing/2014/main" id="{1D384A0D-57CD-4CD1-A4C8-D480259036B2}"/>
              </a:ext>
            </a:extLst>
          </p:cNvPr>
          <p:cNvSpPr>
            <a:spLocks xmlns:a="http://schemas.openxmlformats.org/drawingml/2006/main" noGrp="1"/>
          </p:cNvSpPr>
          <p:nvPr/>
        </p:nvSpPr>
        <p:spPr>
          <a:xfrm xmlns:a="http://schemas.openxmlformats.org/drawingml/2006/main">
            <a:off x="3571875" y="5038725"/>
            <a:ext cx="766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0" i="0">
                <a:solidFill>
                  <a:srgbClr val="17191C"/>
                </a:solidFill>
                <a:latin typeface="Arial"/>
                <a:ea typeface="Arial"/>
                <a:cs typeface="Arial"/>
              </a:defRPr>
            </a:pPr>
            <a:r>
              <a:rPr sz="1350" b="0" i="0">
                <a:solidFill>
                  <a:srgbClr val="17191C"/>
                </a:solidFill>
                <a:latin typeface="Arial"/>
                <a:ea typeface="Arial"/>
                <a:cs typeface="Arial"/>
              </a:rPr>
              <a:t>Shared data  |  governed handoffs  |  field feedback</a:t>
            </a:r>
          </a:p>
        </p:txBody>
      </p:sp>
      <p:sp>
        <p:nvSpPr>
          <p:cNvPr id="36" name="">
            <a:extLst xmlns:a="http://schemas.openxmlformats.org/drawingml/2006/main">
              <a:ext uri="{FF2B5EF4-FFF2-40B4-BE49-F238E27FC236}">
                <a16:creationId xmlns:a16="http://schemas.microsoft.com/office/drawing/2014/main" id="{189880F5-9D2C-4FC8-96E7-B9006D019828}"/>
              </a:ext>
            </a:extLst>
          </p:cNvPr>
          <p:cNvSpPr>
            <a:spLocks xmlns:a="http://schemas.openxmlformats.org/drawingml/2006/main" noGrp="1"/>
          </p:cNvSpPr>
          <p:nvPr/>
        </p:nvSpPr>
        <p:spPr>
          <a:xfrm xmlns:a="http://schemas.openxmlformats.org/drawingml/2006/main">
            <a:off x="781050" y="5429250"/>
            <a:ext cx="10448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0" i="0">
                <a:solidFill>
                  <a:srgbClr val="6A6F73"/>
                </a:solidFill>
                <a:latin typeface="Arial"/>
                <a:ea typeface="Arial"/>
                <a:cs typeface="Arial"/>
              </a:defRPr>
            </a:pPr>
            <a:r>
              <a:rPr sz="1050" b="0" i="0">
                <a:solidFill>
                  <a:srgbClr val="6A6F73"/>
                </a:solidFill>
                <a:latin typeface="Arial"/>
                <a:ea typeface="Arial"/>
                <a:cs typeface="Arial"/>
              </a:rPr>
              <a:t>NRG governance, EPC/EOR/OEM design authority and contractor means and methods remain intact.</a:t>
            </a:r>
          </a:p>
        </p:txBody>
      </p:sp>
      <p:sp>
        <p:nvSpPr>
          <p:cNvPr id="37" name="">
            <a:extLst xmlns:a="http://schemas.openxmlformats.org/drawingml/2006/main">
              <a:ext uri="{FF2B5EF4-FFF2-40B4-BE49-F238E27FC236}">
                <a16:creationId xmlns:a16="http://schemas.microsoft.com/office/drawing/2014/main" id="{3A263A00-C9E1-4BDB-B5EE-F25C73D5AACB}"/>
              </a:ext>
            </a:extLst>
          </p:cNvPr>
          <p:cNvSpPr>
            <a:spLocks xmlns:a="http://schemas.openxmlformats.org/drawingml/2006/main" noGrp="1"/>
          </p:cNvSpPr>
          <p:nvPr/>
        </p:nvSpPr>
        <p:spPr>
          <a:xfrm xmlns:a="http://schemas.openxmlformats.org/drawingml/2006/main">
            <a:off x="552450" y="6181725"/>
            <a:ext cx="11087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9D4E24"/>
                </a:solidFill>
                <a:latin typeface="Arial Narrow"/>
                <a:ea typeface="Arial Narrow"/>
                <a:cs typeface="Arial Narrow"/>
              </a:defRPr>
            </a:pPr>
            <a:r>
              <a:rPr sz="1650" b="1" i="0">
                <a:solidFill>
                  <a:srgbClr val="9D4E24"/>
                </a:solidFill>
                <a:latin typeface="Arial Narrow"/>
                <a:ea typeface="Arial Narrow"/>
                <a:cs typeface="Arial Narrow"/>
              </a:rPr>
              <a:t>FIELD-ENGINEER WHAT IS UNIQUE. PREFABRICATE WHAT REPEATS.</a:t>
            </a:r>
          </a:p>
        </p:txBody>
      </p:sp>
    </p:spTree>
    <p:extLst>
      <p:ext uri="{BB962C8B-B14F-4D97-AF65-F5344CB8AC3E}">
        <p14:creationId xmlns:p14="http://schemas.microsoft.com/office/powerpoint/2010/main" val="1966944507"/>
      </p:ext>
    </p:extLst>
  </p:cSld>
</p:sld>
</file>

<file path=ppt/slides/slide6.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2437775-3E93-49D5-913C-6EC2B803FF91}"/>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541a94199674e25"/>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4C3922-3AF7-4484-BCAC-B9116A3B1F61}"/>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9D4E24"/>
                </a:solidFill>
                <a:latin typeface="Arial Narrow"/>
                <a:ea typeface="Arial Narrow"/>
                <a:cs typeface="Arial Narrow"/>
              </a:defRPr>
            </a:pPr>
            <a:r>
              <a:rPr sz="975" b="1" i="0">
                <a:solidFill>
                  <a:srgbClr val="9D4E24"/>
                </a:solidFill>
                <a:latin typeface="Arial Narrow"/>
                <a:ea typeface="Arial Narrow"/>
                <a:cs typeface="Arial Narrow"/>
              </a:rPr>
              <a:t>VALUE TO NRG</a:t>
            </a:r>
          </a:p>
        </p:txBody>
      </p:sp>
      <p:sp>
        <p:nvSpPr>
          <p:cNvPr id="4" name="">
            <a:extLst xmlns:a="http://schemas.openxmlformats.org/drawingml/2006/main">
              <a:ext uri="{FF2B5EF4-FFF2-40B4-BE49-F238E27FC236}">
                <a16:creationId xmlns:a16="http://schemas.microsoft.com/office/drawing/2014/main" id="{CCD0BC42-5E53-4971-871E-BD3B868EC341}"/>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06</a:t>
            </a:r>
          </a:p>
        </p:txBody>
      </p:sp>
      <p:sp>
        <p:nvSpPr>
          <p:cNvPr id="5" name="">
            <a:extLst xmlns:a="http://schemas.openxmlformats.org/drawingml/2006/main">
              <a:ext uri="{FF2B5EF4-FFF2-40B4-BE49-F238E27FC236}">
                <a16:creationId xmlns:a16="http://schemas.microsoft.com/office/drawing/2014/main" id="{965839EC-62AD-43FB-B350-14025AC61739}"/>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D4E24"/>
                </a:solidFill>
                <a:latin typeface="Arial Narrow"/>
                <a:ea typeface="Arial Narrow"/>
                <a:cs typeface="Arial Narrow"/>
              </a:defRPr>
            </a:pPr>
            <a:r>
              <a:rPr sz="1050" b="1" i="0">
                <a:solidFill>
                  <a:srgbClr val="9D4E24"/>
                </a:solidFill>
                <a:latin typeface="Arial Narrow"/>
                <a:ea typeface="Arial Narrow"/>
                <a:cs typeface="Arial Narrow"/>
              </a:rPr>
              <a:t>THE OUTCOME</a:t>
            </a:r>
          </a:p>
        </p:txBody>
      </p:sp>
      <p:sp>
        <p:nvSpPr>
          <p:cNvPr id="6" name="">
            <a:extLst xmlns:a="http://schemas.openxmlformats.org/drawingml/2006/main">
              <a:ext uri="{FF2B5EF4-FFF2-40B4-BE49-F238E27FC236}">
                <a16:creationId xmlns:a16="http://schemas.microsoft.com/office/drawing/2014/main" id="{28D6F92C-E4CC-426C-AFD2-A06B43E702E0}"/>
              </a:ext>
            </a:extLst>
          </p:cNvPr>
          <p:cNvSpPr>
            <a:spLocks xmlns:a="http://schemas.openxmlformats.org/drawingml/2006/main" noGrp="1"/>
          </p:cNvSpPr>
          <p:nvPr/>
        </p:nvSpPr>
        <p:spPr>
          <a:xfrm xmlns:a="http://schemas.openxmlformats.org/drawingml/2006/main">
            <a:off x="552450" y="1181100"/>
            <a:ext cx="110490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034"/>
          </a:bodyPr>
          <a:lstStyle xmlns:a="http://schemas.openxmlformats.org/drawingml/2006/main"/>
          <a:p xmlns:a="http://schemas.openxmlformats.org/drawingml/2006/main">
            <a:pPr algn="l">
              <a:lnSpc>
                <a:spcPct val="94000"/>
              </a:lnSpc>
              <a:buNone/>
              <a:defRPr sz="2775" b="1" i="0">
                <a:solidFill>
                  <a:srgbClr val="17191C"/>
                </a:solidFill>
                <a:latin typeface="Arial"/>
                <a:ea typeface="Arial"/>
                <a:cs typeface="Arial"/>
              </a:defRPr>
            </a:pPr>
            <a:r>
              <a:rPr sz="2775" b="1" i="0">
                <a:solidFill>
                  <a:srgbClr val="17191C"/>
                </a:solidFill>
                <a:latin typeface="Arial"/>
                <a:ea typeface="Arial"/>
                <a:cs typeface="Arial"/>
              </a:rPr>
              <a:t>The value to NRG is fewer execution surprises—not more supplier services.</a:t>
            </a:r>
          </a:p>
        </p:txBody>
      </p:sp>
      <p:sp>
        <p:nvSpPr>
          <p:cNvPr id="7" name="">
            <a:extLst xmlns:a="http://schemas.openxmlformats.org/drawingml/2006/main">
              <a:ext uri="{FF2B5EF4-FFF2-40B4-BE49-F238E27FC236}">
                <a16:creationId xmlns:a16="http://schemas.microsoft.com/office/drawing/2014/main" id="{2F172E7E-7CF0-4FF4-B395-AAF4727BC6F5}"/>
              </a:ext>
            </a:extLst>
          </p:cNvPr>
          <p:cNvSpPr>
            <a:spLocks xmlns:a="http://schemas.openxmlformats.org/drawingml/2006/main" noGrp="1"/>
          </p:cNvSpPr>
          <p:nvPr/>
        </p:nvSpPr>
        <p:spPr>
          <a:xfrm xmlns:a="http://schemas.openxmlformats.org/drawingml/2006/main">
            <a:off x="552450" y="188595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6A6F73"/>
                </a:solidFill>
                <a:latin typeface="Arial"/>
                <a:ea typeface="Arial"/>
                <a:cs typeface="Arial"/>
              </a:defRPr>
            </a:pPr>
            <a:r>
              <a:rPr sz="1425" b="0" i="0">
                <a:solidFill>
                  <a:srgbClr val="6A6F73"/>
                </a:solidFill>
                <a:latin typeface="Arial"/>
                <a:ea typeface="Arial"/>
                <a:cs typeface="Arial"/>
              </a:rPr>
              <a:t>Translate each delivery lever into a direct execution outcome.</a:t>
            </a:r>
          </a:p>
        </p:txBody>
      </p:sp>
      <p:sp>
        <p:nvSpPr>
          <p:cNvPr id="8" name="">
            <a:extLst xmlns:a="http://schemas.openxmlformats.org/drawingml/2006/main">
              <a:ext uri="{FF2B5EF4-FFF2-40B4-BE49-F238E27FC236}">
                <a16:creationId xmlns:a16="http://schemas.microsoft.com/office/drawing/2014/main" id="{BB363EC5-AFC3-4CDF-A1E7-75190DCADBD8}"/>
              </a:ext>
            </a:extLst>
          </p:cNvPr>
          <p:cNvSpPr>
            <a:spLocks xmlns:a="http://schemas.openxmlformats.org/drawingml/2006/main" noGrp="1"/>
          </p:cNvSpPr>
          <p:nvPr/>
        </p:nvSpPr>
        <p:spPr>
          <a:xfrm xmlns:a="http://schemas.openxmlformats.org/drawingml/2006/main">
            <a:off x="552450" y="254317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l">
              <a:lnSpc>
                <a:spcPct val="100000"/>
              </a:lnSpc>
              <a:buNone/>
              <a:defRPr sz="1275" b="1" i="0">
                <a:solidFill>
                  <a:srgbClr val="9D4E24"/>
                </a:solidFill>
                <a:latin typeface="Arial Narrow"/>
                <a:ea typeface="Arial Narrow"/>
                <a:cs typeface="Arial Narrow"/>
              </a:defRPr>
            </a:pPr>
            <a:r>
              <a:rPr sz="1275" b="1" i="0">
                <a:solidFill>
                  <a:srgbClr val="9D4E24"/>
                </a:solidFill>
                <a:latin typeface="Arial Narrow"/>
                <a:ea typeface="Arial Narrow"/>
                <a:cs typeface="Arial Narrow"/>
              </a:rPr>
              <a:t>ALIGN APPLICATIONS + INTERFACES EARLY</a:t>
            </a:r>
          </a:p>
        </p:txBody>
      </p:sp>
      <p:sp>
        <p:nvSpPr>
          <p:cNvPr id="9" name="">
            <a:extLst xmlns:a="http://schemas.openxmlformats.org/drawingml/2006/main">
              <a:ext uri="{FF2B5EF4-FFF2-40B4-BE49-F238E27FC236}">
                <a16:creationId xmlns:a16="http://schemas.microsoft.com/office/drawing/2014/main" id="{2EF21814-B62E-4AD3-A738-66F0119B2AEF}"/>
              </a:ext>
            </a:extLst>
          </p:cNvPr>
          <p:cNvSpPr>
            <a:spLocks xmlns:a="http://schemas.openxmlformats.org/drawingml/2006/main" noGrp="1"/>
          </p:cNvSpPr>
          <p:nvPr/>
        </p:nvSpPr>
        <p:spPr>
          <a:xfrm xmlns:a="http://schemas.openxmlformats.org/drawingml/2006/main" rot="0">
            <a:off x="3857625" y="2600325"/>
            <a:ext cx="800100" cy="209550"/>
          </a:xfrm>
          <a:prstGeom xmlns:a="http://schemas.openxmlformats.org/drawingml/2006/main" prst="rightArrow">
            <a:avLst/>
          </a:prstGeom>
          <a:solidFill xmlns:a="http://schemas.openxmlformats.org/drawingml/2006/main">
            <a:srgbClr val="C9783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8D6904-2C04-4FAD-8B52-649BF856D104}"/>
              </a:ext>
            </a:extLst>
          </p:cNvPr>
          <p:cNvSpPr>
            <a:spLocks xmlns:a="http://schemas.openxmlformats.org/drawingml/2006/main" noGrp="1"/>
          </p:cNvSpPr>
          <p:nvPr/>
        </p:nvSpPr>
        <p:spPr>
          <a:xfrm xmlns:a="http://schemas.openxmlformats.org/drawingml/2006/main">
            <a:off x="4981575" y="2495550"/>
            <a:ext cx="623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a:ea typeface="Arial"/>
                <a:cs typeface="Arial"/>
              </a:defRPr>
            </a:pPr>
            <a:r>
              <a:rPr sz="1875" b="1" i="0">
                <a:solidFill>
                  <a:srgbClr val="17191C"/>
                </a:solidFill>
                <a:latin typeface="Arial"/>
                <a:ea typeface="Arial"/>
                <a:cs typeface="Arial"/>
              </a:rPr>
              <a:t>Fewer late changes and handoff failures</a:t>
            </a:r>
          </a:p>
        </p:txBody>
      </p:sp>
      <p:sp>
        <p:nvSpPr>
          <p:cNvPr id="11" name="">
            <a:extLst xmlns:a="http://schemas.openxmlformats.org/drawingml/2006/main">
              <a:ext uri="{FF2B5EF4-FFF2-40B4-BE49-F238E27FC236}">
                <a16:creationId xmlns:a16="http://schemas.microsoft.com/office/drawing/2014/main" id="{B505D1D6-7831-450F-9EF0-976D92E0E351}"/>
              </a:ext>
            </a:extLst>
          </p:cNvPr>
          <p:cNvSpPr>
            <a:spLocks xmlns:a="http://schemas.openxmlformats.org/drawingml/2006/main" noGrp="1"/>
          </p:cNvSpPr>
          <p:nvPr/>
        </p:nvSpPr>
        <p:spPr>
          <a:xfrm xmlns:a="http://schemas.openxmlformats.org/drawingml/2006/main">
            <a:off x="552450" y="3200400"/>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2" name="">
            <a:extLst xmlns:a="http://schemas.openxmlformats.org/drawingml/2006/main">
              <a:ext uri="{FF2B5EF4-FFF2-40B4-BE49-F238E27FC236}">
                <a16:creationId xmlns:a16="http://schemas.microsoft.com/office/drawing/2014/main" id="{4DBB2274-C5E4-420A-B9D4-087A8C65CF15}"/>
              </a:ext>
            </a:extLst>
          </p:cNvPr>
          <p:cNvSpPr>
            <a:spLocks xmlns:a="http://schemas.openxmlformats.org/drawingml/2006/main" noGrp="1"/>
          </p:cNvSpPr>
          <p:nvPr/>
        </p:nvSpPr>
        <p:spPr>
          <a:xfrm xmlns:a="http://schemas.openxmlformats.org/drawingml/2006/main">
            <a:off x="552450" y="33623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1" i="0">
                <a:solidFill>
                  <a:srgbClr val="9D4E24"/>
                </a:solidFill>
                <a:latin typeface="Arial Narrow"/>
                <a:ea typeface="Arial Narrow"/>
                <a:cs typeface="Arial Narrow"/>
              </a:defRPr>
            </a:pPr>
            <a:r>
              <a:rPr sz="1275" b="1" i="0">
                <a:solidFill>
                  <a:srgbClr val="9D4E24"/>
                </a:solidFill>
                <a:latin typeface="Arial Narrow"/>
                <a:ea typeface="Arial Narrow"/>
                <a:cs typeface="Arial Narrow"/>
              </a:rPr>
              <a:t>GATE CAPACITY + RELEASES</a:t>
            </a:r>
          </a:p>
        </p:txBody>
      </p:sp>
      <p:sp>
        <p:nvSpPr>
          <p:cNvPr id="13" name="">
            <a:extLst xmlns:a="http://schemas.openxmlformats.org/drawingml/2006/main">
              <a:ext uri="{FF2B5EF4-FFF2-40B4-BE49-F238E27FC236}">
                <a16:creationId xmlns:a16="http://schemas.microsoft.com/office/drawing/2014/main" id="{B44D9CBE-51A7-4E75-989A-CADF649D0CFA}"/>
              </a:ext>
            </a:extLst>
          </p:cNvPr>
          <p:cNvSpPr>
            <a:spLocks xmlns:a="http://schemas.openxmlformats.org/drawingml/2006/main" noGrp="1"/>
          </p:cNvSpPr>
          <p:nvPr/>
        </p:nvSpPr>
        <p:spPr>
          <a:xfrm xmlns:a="http://schemas.openxmlformats.org/drawingml/2006/main" rot="0">
            <a:off x="3857625" y="3419475"/>
            <a:ext cx="800100" cy="209550"/>
          </a:xfrm>
          <a:prstGeom xmlns:a="http://schemas.openxmlformats.org/drawingml/2006/main" prst="rightArrow">
            <a:avLst/>
          </a:prstGeom>
          <a:solidFill xmlns:a="http://schemas.openxmlformats.org/drawingml/2006/main">
            <a:srgbClr val="C9783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763C693-0150-40E6-92D8-4A69BE5B971E}"/>
              </a:ext>
            </a:extLst>
          </p:cNvPr>
          <p:cNvSpPr>
            <a:spLocks xmlns:a="http://schemas.openxmlformats.org/drawingml/2006/main" noGrp="1"/>
          </p:cNvSpPr>
          <p:nvPr/>
        </p:nvSpPr>
        <p:spPr>
          <a:xfrm xmlns:a="http://schemas.openxmlformats.org/drawingml/2006/main">
            <a:off x="4981575" y="3314700"/>
            <a:ext cx="623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a:ea typeface="Arial"/>
                <a:cs typeface="Arial"/>
              </a:defRPr>
            </a:pPr>
            <a:r>
              <a:rPr sz="1875" b="1" i="0">
                <a:solidFill>
                  <a:srgbClr val="17191C"/>
                </a:solidFill>
                <a:latin typeface="Arial"/>
                <a:ea typeface="Arial"/>
                <a:cs typeface="Arial"/>
              </a:rPr>
              <a:t>More predictable material availability and sequencing</a:t>
            </a:r>
          </a:p>
        </p:txBody>
      </p:sp>
      <p:sp>
        <p:nvSpPr>
          <p:cNvPr id="15" name="">
            <a:extLst xmlns:a="http://schemas.openxmlformats.org/drawingml/2006/main">
              <a:ext uri="{FF2B5EF4-FFF2-40B4-BE49-F238E27FC236}">
                <a16:creationId xmlns:a16="http://schemas.microsoft.com/office/drawing/2014/main" id="{10D6F99D-2944-40B1-B07C-0ED784C7F16B}"/>
              </a:ext>
            </a:extLst>
          </p:cNvPr>
          <p:cNvSpPr>
            <a:spLocks xmlns:a="http://schemas.openxmlformats.org/drawingml/2006/main" noGrp="1"/>
          </p:cNvSpPr>
          <p:nvPr/>
        </p:nvSpPr>
        <p:spPr>
          <a:xfrm xmlns:a="http://schemas.openxmlformats.org/drawingml/2006/main">
            <a:off x="552450" y="4019550"/>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6" name="">
            <a:extLst xmlns:a="http://schemas.openxmlformats.org/drawingml/2006/main">
              <a:ext uri="{FF2B5EF4-FFF2-40B4-BE49-F238E27FC236}">
                <a16:creationId xmlns:a16="http://schemas.microsoft.com/office/drawing/2014/main" id="{0F963077-AE25-4178-9491-1261214E2F9D}"/>
              </a:ext>
            </a:extLst>
          </p:cNvPr>
          <p:cNvSpPr>
            <a:spLocks xmlns:a="http://schemas.openxmlformats.org/drawingml/2006/main" noGrp="1"/>
          </p:cNvSpPr>
          <p:nvPr/>
        </p:nvSpPr>
        <p:spPr>
          <a:xfrm xmlns:a="http://schemas.openxmlformats.org/drawingml/2006/main">
            <a:off x="552450" y="418147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l">
              <a:lnSpc>
                <a:spcPct val="100000"/>
              </a:lnSpc>
              <a:buNone/>
              <a:defRPr sz="1275" b="1" i="0">
                <a:solidFill>
                  <a:srgbClr val="9D4E24"/>
                </a:solidFill>
                <a:latin typeface="Arial Narrow"/>
                <a:ea typeface="Arial Narrow"/>
                <a:cs typeface="Arial Narrow"/>
              </a:defRPr>
            </a:pPr>
            <a:r>
              <a:rPr sz="1275" b="1" i="0">
                <a:solidFill>
                  <a:srgbClr val="9D4E24"/>
                </a:solidFill>
                <a:latin typeface="Arial Narrow"/>
                <a:ea typeface="Arial Narrow"/>
                <a:cs typeface="Arial Narrow"/>
              </a:rPr>
              <a:t>PLAN REELS + REPEATABLE SETS TO THE WORKFACE</a:t>
            </a:r>
          </a:p>
        </p:txBody>
      </p:sp>
      <p:sp>
        <p:nvSpPr>
          <p:cNvPr id="17" name="">
            <a:extLst xmlns:a="http://schemas.openxmlformats.org/drawingml/2006/main">
              <a:ext uri="{FF2B5EF4-FFF2-40B4-BE49-F238E27FC236}">
                <a16:creationId xmlns:a16="http://schemas.microsoft.com/office/drawing/2014/main" id="{7CE0C038-7A77-4059-9A7E-C055825B207F}"/>
              </a:ext>
            </a:extLst>
          </p:cNvPr>
          <p:cNvSpPr>
            <a:spLocks xmlns:a="http://schemas.openxmlformats.org/drawingml/2006/main" noGrp="1"/>
          </p:cNvSpPr>
          <p:nvPr/>
        </p:nvSpPr>
        <p:spPr>
          <a:xfrm xmlns:a="http://schemas.openxmlformats.org/drawingml/2006/main" rot="0">
            <a:off x="3857625" y="4238625"/>
            <a:ext cx="800100" cy="209550"/>
          </a:xfrm>
          <a:prstGeom xmlns:a="http://schemas.openxmlformats.org/drawingml/2006/main" prst="rightArrow">
            <a:avLst/>
          </a:prstGeom>
          <a:solidFill xmlns:a="http://schemas.openxmlformats.org/drawingml/2006/main">
            <a:srgbClr val="C9783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CC86F1B-38F8-481C-BAAD-A6A3BE2ACEB1}"/>
              </a:ext>
            </a:extLst>
          </p:cNvPr>
          <p:cNvSpPr>
            <a:spLocks xmlns:a="http://schemas.openxmlformats.org/drawingml/2006/main" noGrp="1"/>
          </p:cNvSpPr>
          <p:nvPr/>
        </p:nvSpPr>
        <p:spPr>
          <a:xfrm xmlns:a="http://schemas.openxmlformats.org/drawingml/2006/main">
            <a:off x="4981575" y="4133850"/>
            <a:ext cx="623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a:ea typeface="Arial"/>
                <a:cs typeface="Arial"/>
              </a:defRPr>
            </a:pPr>
            <a:r>
              <a:rPr sz="1875" b="1" i="0">
                <a:solidFill>
                  <a:srgbClr val="17191C"/>
                </a:solidFill>
                <a:latin typeface="Arial"/>
                <a:ea typeface="Arial"/>
                <a:cs typeface="Arial"/>
              </a:rPr>
              <a:t>Less handling and avoidable rework</a:t>
            </a:r>
          </a:p>
        </p:txBody>
      </p:sp>
      <p:sp>
        <p:nvSpPr>
          <p:cNvPr id="19" name="">
            <a:extLst xmlns:a="http://schemas.openxmlformats.org/drawingml/2006/main">
              <a:ext uri="{FF2B5EF4-FFF2-40B4-BE49-F238E27FC236}">
                <a16:creationId xmlns:a16="http://schemas.microsoft.com/office/drawing/2014/main" id="{C36ADE07-9F3C-472D-9C02-0E98D2863FB3}"/>
              </a:ext>
            </a:extLst>
          </p:cNvPr>
          <p:cNvSpPr>
            <a:spLocks xmlns:a="http://schemas.openxmlformats.org/drawingml/2006/main" noGrp="1"/>
          </p:cNvSpPr>
          <p:nvPr/>
        </p:nvSpPr>
        <p:spPr>
          <a:xfrm xmlns:a="http://schemas.openxmlformats.org/drawingml/2006/main">
            <a:off x="552450" y="4838700"/>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20" name="">
            <a:extLst xmlns:a="http://schemas.openxmlformats.org/drawingml/2006/main">
              <a:ext uri="{FF2B5EF4-FFF2-40B4-BE49-F238E27FC236}">
                <a16:creationId xmlns:a16="http://schemas.microsoft.com/office/drawing/2014/main" id="{B03D9E0F-899F-465B-9D14-0E8140D9C6D7}"/>
              </a:ext>
            </a:extLst>
          </p:cNvPr>
          <p:cNvSpPr>
            <a:spLocks xmlns:a="http://schemas.openxmlformats.org/drawingml/2006/main" noGrp="1"/>
          </p:cNvSpPr>
          <p:nvPr/>
        </p:nvSpPr>
        <p:spPr>
          <a:xfrm xmlns:a="http://schemas.openxmlformats.org/drawingml/2006/main">
            <a:off x="552450" y="50006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l">
              <a:lnSpc>
                <a:spcPct val="100000"/>
              </a:lnSpc>
              <a:buNone/>
              <a:defRPr sz="1275" b="1" i="0">
                <a:solidFill>
                  <a:srgbClr val="9D4E24"/>
                </a:solidFill>
                <a:latin typeface="Arial Narrow"/>
                <a:ea typeface="Arial Narrow"/>
                <a:cs typeface="Arial Narrow"/>
              </a:defRPr>
            </a:pPr>
            <a:r>
              <a:rPr sz="1275" b="1" i="0">
                <a:solidFill>
                  <a:srgbClr val="9D4E24"/>
                </a:solidFill>
                <a:latin typeface="Arial Narrow"/>
                <a:ea typeface="Arial Narrow"/>
                <a:cs typeface="Arial Narrow"/>
              </a:rPr>
              <a:t>CARRY FIELD RECORDS THROUGH TURNOVER</a:t>
            </a:r>
          </a:p>
        </p:txBody>
      </p:sp>
      <p:sp>
        <p:nvSpPr>
          <p:cNvPr id="21" name="">
            <a:extLst xmlns:a="http://schemas.openxmlformats.org/drawingml/2006/main">
              <a:ext uri="{FF2B5EF4-FFF2-40B4-BE49-F238E27FC236}">
                <a16:creationId xmlns:a16="http://schemas.microsoft.com/office/drawing/2014/main" id="{FE24CD7B-2E17-42BA-9028-F64F5CC4383D}"/>
              </a:ext>
            </a:extLst>
          </p:cNvPr>
          <p:cNvSpPr>
            <a:spLocks xmlns:a="http://schemas.openxmlformats.org/drawingml/2006/main" noGrp="1"/>
          </p:cNvSpPr>
          <p:nvPr/>
        </p:nvSpPr>
        <p:spPr>
          <a:xfrm xmlns:a="http://schemas.openxmlformats.org/drawingml/2006/main" rot="0">
            <a:off x="3857625" y="5057775"/>
            <a:ext cx="800100" cy="209550"/>
          </a:xfrm>
          <a:prstGeom xmlns:a="http://schemas.openxmlformats.org/drawingml/2006/main" prst="rightArrow">
            <a:avLst/>
          </a:prstGeom>
          <a:solidFill xmlns:a="http://schemas.openxmlformats.org/drawingml/2006/main">
            <a:srgbClr val="9D4E2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A4DFB31-3CCD-4CDA-A12D-1DC6EE0EF141}"/>
              </a:ext>
            </a:extLst>
          </p:cNvPr>
          <p:cNvSpPr>
            <a:spLocks xmlns:a="http://schemas.openxmlformats.org/drawingml/2006/main" noGrp="1"/>
          </p:cNvSpPr>
          <p:nvPr/>
        </p:nvSpPr>
        <p:spPr>
          <a:xfrm xmlns:a="http://schemas.openxmlformats.org/drawingml/2006/main">
            <a:off x="4981575" y="4953000"/>
            <a:ext cx="623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a:ea typeface="Arial"/>
                <a:cs typeface="Arial"/>
              </a:defRPr>
            </a:pPr>
            <a:r>
              <a:rPr sz="1875" b="1" i="0">
                <a:solidFill>
                  <a:srgbClr val="17191C"/>
                </a:solidFill>
                <a:latin typeface="Arial"/>
                <a:ea typeface="Arial"/>
                <a:cs typeface="Arial"/>
              </a:rPr>
              <a:t>Cleaner commissioning and lifecycle continuity</a:t>
            </a:r>
          </a:p>
        </p:txBody>
      </p:sp>
      <p:sp>
        <p:nvSpPr>
          <p:cNvPr id="23" name="">
            <a:extLst xmlns:a="http://schemas.openxmlformats.org/drawingml/2006/main">
              <a:ext uri="{FF2B5EF4-FFF2-40B4-BE49-F238E27FC236}">
                <a16:creationId xmlns:a16="http://schemas.microsoft.com/office/drawing/2014/main" id="{4D622249-1E5A-4CE7-93D5-B101EE577682}"/>
              </a:ext>
            </a:extLst>
          </p:cNvPr>
          <p:cNvSpPr>
            <a:spLocks xmlns:a="http://schemas.openxmlformats.org/drawingml/2006/main" noGrp="1"/>
          </p:cNvSpPr>
          <p:nvPr/>
        </p:nvSpPr>
        <p:spPr>
          <a:xfrm xmlns:a="http://schemas.openxmlformats.org/drawingml/2006/main" rot="0">
            <a:off x="552450" y="5895975"/>
            <a:ext cx="11087100" cy="523875"/>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1EDD42A-983E-4ADF-8EAC-63D346842549}"/>
              </a:ext>
            </a:extLst>
          </p:cNvPr>
          <p:cNvSpPr>
            <a:spLocks xmlns:a="http://schemas.openxmlformats.org/drawingml/2006/main" noGrp="1"/>
          </p:cNvSpPr>
          <p:nvPr/>
        </p:nvSpPr>
        <p:spPr>
          <a:xfrm xmlns:a="http://schemas.openxmlformats.org/drawingml/2006/main">
            <a:off x="781050" y="6038850"/>
            <a:ext cx="10629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rial Narrow"/>
                <a:ea typeface="Arial Narrow"/>
                <a:cs typeface="Arial Narrow"/>
              </a:defRPr>
            </a:pPr>
            <a:r>
              <a:rPr sz="1350" b="1" i="0">
                <a:solidFill>
                  <a:srgbClr val="FFFFFF"/>
                </a:solidFill>
                <a:latin typeface="Arial Narrow"/>
                <a:ea typeface="Arial Narrow"/>
                <a:cs typeface="Arial Narrow"/>
              </a:rPr>
              <a:t>OUTCOME HYPOTHESES TO VALIDATE ON ONE LIVE NRG SCOPE.</a:t>
            </a:r>
          </a:p>
        </p:txBody>
      </p:sp>
    </p:spTree>
    <p:extLst>
      <p:ext uri="{BB962C8B-B14F-4D97-AF65-F5344CB8AC3E}">
        <p14:creationId xmlns:p14="http://schemas.microsoft.com/office/powerpoint/2010/main" val="492488797"/>
      </p:ext>
    </p:extLst>
  </p:cSld>
</p:sld>
</file>

<file path=ppt/slides/slide7.xml><?xml version="1.0" encoding="utf-8"?>
<p:sld xmlns:p="http://schemas.openxmlformats.org/presentationml/2006/main">
  <p:cSld>
    <p:bg>
      <p:bgPr>
        <a:solidFill xmlns:a="http://schemas.openxmlformats.org/drawingml/2006/main">
          <a:srgbClr val="22252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A8162B-F601-4993-98BE-8D3BBB6944A4}"/>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ee1c5f2262e4319"/>
          <a:srcRect xmlns:a="http://schemas.openxmlformats.org/drawingml/2006/main" l="8771" t="0" r="8771" b="0"/>
          <a:stretch xmlns:a="http://schemas.openxmlformats.org/drawingml/2006/main">
            <a:fillRect l="0" t="0" r="0" b="0"/>
          </a:stretch>
        </p:blipFill>
        <p:spPr>
          <a:xfrm xmlns:a="http://schemas.openxmlformats.org/drawingml/2006/main">
            <a:off x="552450" y="209550"/>
            <a:ext cx="2457450" cy="41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FD36E9-20DA-46F1-ACA1-252C5BC610D1}"/>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E3A06D"/>
                </a:solidFill>
                <a:latin typeface="Arial Narrow"/>
                <a:ea typeface="Arial Narrow"/>
                <a:cs typeface="Arial Narrow"/>
              </a:defRPr>
            </a:pPr>
            <a:r>
              <a:rPr sz="975" b="1" i="0">
                <a:solidFill>
                  <a:srgbClr val="E3A06D"/>
                </a:solidFill>
                <a:latin typeface="Arial Narrow"/>
                <a:ea typeface="Arial Narrow"/>
                <a:cs typeface="Arial Narrow"/>
              </a:rPr>
              <a:t>ADJACENT EXPERIENCE</a:t>
            </a:r>
          </a:p>
        </p:txBody>
      </p:sp>
      <p:sp>
        <p:nvSpPr>
          <p:cNvPr id="4" name="">
            <a:extLst xmlns:a="http://schemas.openxmlformats.org/drawingml/2006/main">
              <a:ext uri="{FF2B5EF4-FFF2-40B4-BE49-F238E27FC236}">
                <a16:creationId xmlns:a16="http://schemas.microsoft.com/office/drawing/2014/main" id="{00E4AB5C-7EC8-420D-B720-AC3E8A2FEB4D}"/>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07</a:t>
            </a:r>
          </a:p>
        </p:txBody>
      </p:sp>
      <p:sp>
        <p:nvSpPr>
          <p:cNvPr id="5" name="">
            <a:extLst xmlns:a="http://schemas.openxmlformats.org/drawingml/2006/main">
              <a:ext uri="{FF2B5EF4-FFF2-40B4-BE49-F238E27FC236}">
                <a16:creationId xmlns:a16="http://schemas.microsoft.com/office/drawing/2014/main" id="{3678909B-CBB8-472D-9EB7-45D22A318EED}"/>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E3A06D"/>
                </a:solidFill>
                <a:latin typeface="Arial Narrow"/>
                <a:ea typeface="Arial Narrow"/>
                <a:cs typeface="Arial Narrow"/>
              </a:defRPr>
            </a:pPr>
            <a:r>
              <a:rPr sz="1050" b="1" i="0">
                <a:solidFill>
                  <a:srgbClr val="E3A06D"/>
                </a:solidFill>
                <a:latin typeface="Arial Narrow"/>
                <a:ea typeface="Arial Narrow"/>
                <a:cs typeface="Arial Narrow"/>
              </a:rPr>
              <a:t>ILLUSTRATIVE ADJACENT-MARKET BENCHMARK  |  NOT AN NRG RESULT</a:t>
            </a:r>
          </a:p>
        </p:txBody>
      </p:sp>
      <p:sp>
        <p:nvSpPr>
          <p:cNvPr id="6" name="">
            <a:extLst xmlns:a="http://schemas.openxmlformats.org/drawingml/2006/main">
              <a:ext uri="{FF2B5EF4-FFF2-40B4-BE49-F238E27FC236}">
                <a16:creationId xmlns:a16="http://schemas.microsoft.com/office/drawing/2014/main" id="{588CB839-CF33-46DF-BEAB-0097A59E0ECC}"/>
              </a:ext>
            </a:extLst>
          </p:cNvPr>
          <p:cNvSpPr>
            <a:spLocks xmlns:a="http://schemas.openxmlformats.org/drawingml/2006/main" noGrp="1"/>
          </p:cNvSpPr>
          <p:nvPr/>
        </p:nvSpPr>
        <p:spPr>
          <a:xfrm xmlns:a="http://schemas.openxmlformats.org/drawingml/2006/main">
            <a:off x="552450" y="1181100"/>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63"/>
          </a:bodyPr>
          <a:lstStyle xmlns:a="http://schemas.openxmlformats.org/drawingml/2006/main"/>
          <a:p xmlns:a="http://schemas.openxmlformats.org/drawingml/2006/main">
            <a:pPr algn="l">
              <a:lnSpc>
                <a:spcPct val="94000"/>
              </a:lnSpc>
              <a:buNone/>
              <a:defRPr sz="2775" b="1" i="0">
                <a:solidFill>
                  <a:srgbClr val="FFFFFF"/>
                </a:solidFill>
                <a:latin typeface="Arial"/>
                <a:ea typeface="Arial"/>
                <a:cs typeface="Arial"/>
              </a:defRPr>
            </a:pPr>
            <a:r>
              <a:rPr sz="2775" b="1" i="0">
                <a:solidFill>
                  <a:srgbClr val="FFFFFF"/>
                </a:solidFill>
                <a:latin typeface="Arial"/>
                <a:ea typeface="Arial"/>
                <a:cs typeface="Arial"/>
              </a:rPr>
              <a:t>Adjacent experience indicates where to test—not what NRG will save.</a:t>
            </a:r>
          </a:p>
        </p:txBody>
      </p:sp>
      <p:sp>
        <p:nvSpPr>
          <p:cNvPr id="7" name="">
            <a:extLst xmlns:a="http://schemas.openxmlformats.org/drawingml/2006/main">
              <a:ext uri="{FF2B5EF4-FFF2-40B4-BE49-F238E27FC236}">
                <a16:creationId xmlns:a16="http://schemas.microsoft.com/office/drawing/2014/main" id="{7463E3EC-1859-40FD-913D-354070C70FBE}"/>
              </a:ext>
            </a:extLst>
          </p:cNvPr>
          <p:cNvSpPr>
            <a:spLocks xmlns:a="http://schemas.openxmlformats.org/drawingml/2006/main" noGrp="1"/>
          </p:cNvSpPr>
          <p:nvPr/>
        </p:nvSpPr>
        <p:spPr>
          <a:xfrm xmlns:a="http://schemas.openxmlformats.org/drawingml/2006/main">
            <a:off x="552450" y="1914525"/>
            <a:ext cx="800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C8CBCE"/>
                </a:solidFill>
                <a:latin typeface="Arial"/>
                <a:ea typeface="Arial"/>
                <a:cs typeface="Arial"/>
              </a:defRPr>
            </a:pPr>
            <a:r>
              <a:rPr sz="1350" b="0" i="0">
                <a:solidFill>
                  <a:srgbClr val="C8CBCE"/>
                </a:solidFill>
                <a:latin typeface="Arial"/>
                <a:ea typeface="Arial"/>
                <a:cs typeface="Arial"/>
              </a:rPr>
              <a:t>Field hours per electrical spine in one repetitive modular-generation scope</a:t>
            </a:r>
          </a:p>
        </p:txBody>
      </p:sp>
      <p:sp>
        <p:nvSpPr>
          <p:cNvPr id="8" name="">
            <a:extLst xmlns:a="http://schemas.openxmlformats.org/drawingml/2006/main">
              <a:ext uri="{FF2B5EF4-FFF2-40B4-BE49-F238E27FC236}">
                <a16:creationId xmlns:a16="http://schemas.microsoft.com/office/drawing/2014/main" id="{E1C04A89-F9F2-44AE-A653-9601C86D134C}"/>
              </a:ext>
            </a:extLst>
          </p:cNvPr>
          <p:cNvSpPr>
            <a:spLocks xmlns:a="http://schemas.openxmlformats.org/drawingml/2006/main" noGrp="1"/>
          </p:cNvSpPr>
          <p:nvPr/>
        </p:nvSpPr>
        <p:spPr>
          <a:xfrm xmlns:a="http://schemas.openxmlformats.org/drawingml/2006/main">
            <a:off x="742950" y="26003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ctr">
              <a:lnSpc>
                <a:spcPct val="100000"/>
              </a:lnSpc>
              <a:buNone/>
              <a:defRPr sz="5700" b="1" i="0">
                <a:solidFill>
                  <a:srgbClr val="FFFFFF"/>
                </a:solidFill>
                <a:latin typeface="Arial Narrow"/>
                <a:ea typeface="Arial Narrow"/>
                <a:cs typeface="Arial Narrow"/>
              </a:defRPr>
            </a:pPr>
            <a:r>
              <a:rPr sz="5700" b="1" i="0">
                <a:solidFill>
                  <a:srgbClr val="FFFFFF"/>
                </a:solidFill>
                <a:latin typeface="Arial Narrow"/>
                <a:ea typeface="Arial Narrow"/>
                <a:cs typeface="Arial Narrow"/>
              </a:rPr>
              <a:t>4,400</a:t>
            </a:r>
          </a:p>
        </p:txBody>
      </p:sp>
      <p:sp>
        <p:nvSpPr>
          <p:cNvPr id="9" name="">
            <a:extLst xmlns:a="http://schemas.openxmlformats.org/drawingml/2006/main">
              <a:ext uri="{FF2B5EF4-FFF2-40B4-BE49-F238E27FC236}">
                <a16:creationId xmlns:a16="http://schemas.microsoft.com/office/drawing/2014/main" id="{7D18F05E-D3A7-4725-AF7B-22D702CBA0A5}"/>
              </a:ext>
            </a:extLst>
          </p:cNvPr>
          <p:cNvSpPr>
            <a:spLocks xmlns:a="http://schemas.openxmlformats.org/drawingml/2006/main" noGrp="1"/>
          </p:cNvSpPr>
          <p:nvPr/>
        </p:nvSpPr>
        <p:spPr>
          <a:xfrm xmlns:a="http://schemas.openxmlformats.org/drawingml/2006/main">
            <a:off x="742950" y="3476625"/>
            <a:ext cx="333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2000"/>
              </a:lnSpc>
              <a:buNone/>
              <a:defRPr sz="1275" b="1" i="0">
                <a:solidFill>
                  <a:srgbClr val="8B9094"/>
                </a:solidFill>
                <a:latin typeface="Arial Narrow"/>
                <a:ea typeface="Arial Narrow"/>
                <a:cs typeface="Arial Narrow"/>
              </a:defRPr>
            </a:pPr>
            <a:r>
              <a:rPr sz="1275" b="1" i="0">
                <a:solidFill>
                  <a:srgbClr val="8B9094"/>
                </a:solidFill>
                <a:latin typeface="Arial Narrow"/>
                <a:ea typeface="Arial Narrow"/>
                <a:cs typeface="Arial Narrow"/>
              </a:rPr>
              <a:t>OBSERVED FIELD HOURS</a:t>
            </a:r>
          </a:p>
          <a:p xmlns:a="http://schemas.openxmlformats.org/drawingml/2006/main">
            <a:pPr algn="ctr">
              <a:lnSpc>
                <a:spcPct val="92000"/>
              </a:lnSpc>
              <a:buNone/>
              <a:defRPr sz="1275" b="1" i="0">
                <a:solidFill>
                  <a:srgbClr val="8B9094"/>
                </a:solidFill>
                <a:latin typeface="Arial Narrow"/>
                <a:ea typeface="Arial Narrow"/>
                <a:cs typeface="Arial Narrow"/>
              </a:defRPr>
            </a:pPr>
            <a:r>
              <a:rPr sz="1275" b="1" i="0">
                <a:solidFill>
                  <a:srgbClr val="8B9094"/>
                </a:solidFill>
                <a:latin typeface="Arial Narrow"/>
                <a:ea typeface="Arial Narrow"/>
                <a:cs typeface="Arial Narrow"/>
              </a:rPr>
              <a:t>SITE-BUILT BASELINE</a:t>
            </a:r>
          </a:p>
        </p:txBody>
      </p:sp>
      <p:sp>
        <p:nvSpPr>
          <p:cNvPr id="10" name="">
            <a:extLst xmlns:a="http://schemas.openxmlformats.org/drawingml/2006/main">
              <a:ext uri="{FF2B5EF4-FFF2-40B4-BE49-F238E27FC236}">
                <a16:creationId xmlns:a16="http://schemas.microsoft.com/office/drawing/2014/main" id="{F58F02CA-DBD3-4859-AF3F-1D044E927AC0}"/>
              </a:ext>
            </a:extLst>
          </p:cNvPr>
          <p:cNvSpPr>
            <a:spLocks xmlns:a="http://schemas.openxmlformats.org/drawingml/2006/main" noGrp="1"/>
          </p:cNvSpPr>
          <p:nvPr/>
        </p:nvSpPr>
        <p:spPr>
          <a:xfrm xmlns:a="http://schemas.openxmlformats.org/drawingml/2006/main" rot="0">
            <a:off x="4781550" y="2933700"/>
            <a:ext cx="2095500" cy="466725"/>
          </a:xfrm>
          <a:prstGeom xmlns:a="http://schemas.openxmlformats.org/drawingml/2006/main" prst="rightArrow">
            <a:avLst/>
          </a:prstGeom>
          <a:solidFill xmlns:a="http://schemas.openxmlformats.org/drawingml/2006/main">
            <a:srgbClr val="C9783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DFB9DE-7765-4137-85DE-D711A3251BD0}"/>
              </a:ext>
            </a:extLst>
          </p:cNvPr>
          <p:cNvSpPr>
            <a:spLocks xmlns:a="http://schemas.openxmlformats.org/drawingml/2006/main" noGrp="1"/>
          </p:cNvSpPr>
          <p:nvPr/>
        </p:nvSpPr>
        <p:spPr>
          <a:xfrm xmlns:a="http://schemas.openxmlformats.org/drawingml/2006/main">
            <a:off x="7600950" y="26003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ctr">
              <a:lnSpc>
                <a:spcPct val="100000"/>
              </a:lnSpc>
              <a:buNone/>
              <a:defRPr sz="5700" b="1" i="0">
                <a:solidFill>
                  <a:srgbClr val="E3A06D"/>
                </a:solidFill>
                <a:latin typeface="Arial Narrow"/>
                <a:ea typeface="Arial Narrow"/>
                <a:cs typeface="Arial Narrow"/>
              </a:defRPr>
            </a:pPr>
            <a:r>
              <a:rPr sz="5700" b="1" i="0">
                <a:solidFill>
                  <a:srgbClr val="E3A06D"/>
                </a:solidFill>
                <a:latin typeface="Arial Narrow"/>
                <a:ea typeface="Arial Narrow"/>
                <a:cs typeface="Arial Narrow"/>
              </a:rPr>
              <a:t>~880</a:t>
            </a:r>
          </a:p>
        </p:txBody>
      </p:sp>
      <p:sp>
        <p:nvSpPr>
          <p:cNvPr id="12" name="">
            <a:extLst xmlns:a="http://schemas.openxmlformats.org/drawingml/2006/main">
              <a:ext uri="{FF2B5EF4-FFF2-40B4-BE49-F238E27FC236}">
                <a16:creationId xmlns:a16="http://schemas.microsoft.com/office/drawing/2014/main" id="{901E448B-AC8F-4D77-A10F-EB3D44F665CE}"/>
              </a:ext>
            </a:extLst>
          </p:cNvPr>
          <p:cNvSpPr>
            <a:spLocks xmlns:a="http://schemas.openxmlformats.org/drawingml/2006/main" noGrp="1"/>
          </p:cNvSpPr>
          <p:nvPr/>
        </p:nvSpPr>
        <p:spPr>
          <a:xfrm xmlns:a="http://schemas.openxmlformats.org/drawingml/2006/main">
            <a:off x="7600950" y="3476625"/>
            <a:ext cx="3333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2000"/>
              </a:lnSpc>
              <a:buNone/>
              <a:defRPr sz="1275" b="1" i="0">
                <a:solidFill>
                  <a:srgbClr val="8B9094"/>
                </a:solidFill>
                <a:latin typeface="Arial Narrow"/>
                <a:ea typeface="Arial Narrow"/>
                <a:cs typeface="Arial Narrow"/>
              </a:defRPr>
            </a:pPr>
            <a:r>
              <a:rPr sz="1275" b="1" i="0">
                <a:solidFill>
                  <a:srgbClr val="8B9094"/>
                </a:solidFill>
                <a:latin typeface="Arial Narrow"/>
                <a:ea typeface="Arial Narrow"/>
                <a:cs typeface="Arial Narrow"/>
              </a:rPr>
              <a:t>MODELED FIELD HOURS</a:t>
            </a:r>
          </a:p>
          <a:p xmlns:a="http://schemas.openxmlformats.org/drawingml/2006/main">
            <a:pPr algn="ctr">
              <a:lnSpc>
                <a:spcPct val="92000"/>
              </a:lnSpc>
              <a:buNone/>
              <a:defRPr sz="1275" b="1" i="0">
                <a:solidFill>
                  <a:srgbClr val="8B9094"/>
                </a:solidFill>
                <a:latin typeface="Arial Narrow"/>
                <a:ea typeface="Arial Narrow"/>
                <a:cs typeface="Arial Narrow"/>
              </a:defRPr>
            </a:pPr>
            <a:r>
              <a:rPr sz="1275" b="1" i="0">
                <a:solidFill>
                  <a:srgbClr val="8B9094"/>
                </a:solidFill>
                <a:latin typeface="Arial Narrow"/>
                <a:ea typeface="Arial Narrow"/>
                <a:cs typeface="Arial Narrow"/>
              </a:rPr>
              <a:t>WITH FACTORY-BUILT ASSEMBLY</a:t>
            </a:r>
          </a:p>
        </p:txBody>
      </p:sp>
      <p:sp>
        <p:nvSpPr>
          <p:cNvPr id="13" name="">
            <a:extLst xmlns:a="http://schemas.openxmlformats.org/drawingml/2006/main">
              <a:ext uri="{FF2B5EF4-FFF2-40B4-BE49-F238E27FC236}">
                <a16:creationId xmlns:a16="http://schemas.microsoft.com/office/drawing/2014/main" id="{08791E57-1617-48F4-B221-E3DE343A13C2}"/>
              </a:ext>
            </a:extLst>
          </p:cNvPr>
          <p:cNvSpPr>
            <a:spLocks xmlns:a="http://schemas.openxmlformats.org/drawingml/2006/main" noGrp="1"/>
          </p:cNvSpPr>
          <p:nvPr/>
        </p:nvSpPr>
        <p:spPr>
          <a:xfrm xmlns:a="http://schemas.openxmlformats.org/drawingml/2006/main" rot="0">
            <a:off x="552450" y="4219575"/>
            <a:ext cx="5257800" cy="1562100"/>
          </a:xfrm>
          <a:prstGeom xmlns:a="http://schemas.openxmlformats.org/drawingml/2006/main" prst="rect">
            <a:avLst/>
          </a:prstGeom>
          <a:solidFill xmlns:a="http://schemas.openxmlformats.org/drawingml/2006/main">
            <a:srgbClr val="2B2E32"/>
          </a:solidFill>
          <a:ln xmlns:a="http://schemas.openxmlformats.org/drawingml/2006/main" w="9525">
            <a:solidFill>
              <a:srgbClr val="41454A"/>
            </a:solidFill>
            <a:prstDash val="solid"/>
          </a:ln>
        </p:spPr>
      </p:sp>
      <p:sp>
        <p:nvSpPr>
          <p:cNvPr id="14" name="">
            <a:extLst xmlns:a="http://schemas.openxmlformats.org/drawingml/2006/main">
              <a:ext uri="{FF2B5EF4-FFF2-40B4-BE49-F238E27FC236}">
                <a16:creationId xmlns:a16="http://schemas.microsoft.com/office/drawing/2014/main" id="{15390F3D-24E2-43A3-BC80-0B27D9B2161F}"/>
              </a:ext>
            </a:extLst>
          </p:cNvPr>
          <p:cNvSpPr>
            <a:spLocks xmlns:a="http://schemas.openxmlformats.org/drawingml/2006/main" noGrp="1"/>
          </p:cNvSpPr>
          <p:nvPr/>
        </p:nvSpPr>
        <p:spPr>
          <a:xfrm xmlns:a="http://schemas.openxmlformats.org/drawingml/2006/main">
            <a:off x="781050" y="443865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E3A06D"/>
                </a:solidFill>
                <a:latin typeface="Arial Narrow"/>
                <a:ea typeface="Arial Narrow"/>
                <a:cs typeface="Arial Narrow"/>
              </a:defRPr>
            </a:pPr>
            <a:r>
              <a:rPr sz="1200" b="1" i="0">
                <a:solidFill>
                  <a:srgbClr val="E3A06D"/>
                </a:solidFill>
                <a:latin typeface="Arial Narrow"/>
                <a:ea typeface="Arial Narrow"/>
                <a:cs typeface="Arial Narrow"/>
              </a:rPr>
              <a:t>WHAT IT SUGGESTS</a:t>
            </a:r>
          </a:p>
        </p:txBody>
      </p:sp>
      <p:sp>
        <p:nvSpPr>
          <p:cNvPr id="15" name="">
            <a:extLst xmlns:a="http://schemas.openxmlformats.org/drawingml/2006/main">
              <a:ext uri="{FF2B5EF4-FFF2-40B4-BE49-F238E27FC236}">
                <a16:creationId xmlns:a16="http://schemas.microsoft.com/office/drawing/2014/main" id="{E3017E22-8AA6-4ADE-B06E-95252889AC45}"/>
              </a:ext>
            </a:extLst>
          </p:cNvPr>
          <p:cNvSpPr>
            <a:spLocks xmlns:a="http://schemas.openxmlformats.org/drawingml/2006/main" noGrp="1"/>
          </p:cNvSpPr>
          <p:nvPr/>
        </p:nvSpPr>
        <p:spPr>
          <a:xfrm xmlns:a="http://schemas.openxmlformats.org/drawingml/2006/main">
            <a:off x="781050" y="4867275"/>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FFFFFF"/>
                </a:solidFill>
                <a:latin typeface="Arial"/>
                <a:ea typeface="Arial"/>
                <a:cs typeface="Arial"/>
              </a:defRPr>
            </a:pPr>
            <a:r>
              <a:rPr sz="1500" b="1" i="0">
                <a:solidFill>
                  <a:srgbClr val="FFFFFF"/>
                </a:solidFill>
                <a:latin typeface="Arial"/>
                <a:ea typeface="Arial"/>
                <a:cs typeface="Arial"/>
              </a:rPr>
              <a:t>Stable, repeatable interfaces may be candidates for offsite work.</a:t>
            </a:r>
          </a:p>
        </p:txBody>
      </p:sp>
      <p:sp>
        <p:nvSpPr>
          <p:cNvPr id="16" name="">
            <a:extLst xmlns:a="http://schemas.openxmlformats.org/drawingml/2006/main">
              <a:ext uri="{FF2B5EF4-FFF2-40B4-BE49-F238E27FC236}">
                <a16:creationId xmlns:a16="http://schemas.microsoft.com/office/drawing/2014/main" id="{C5681D7F-D168-416D-9DD9-FF7CA804773E}"/>
              </a:ext>
            </a:extLst>
          </p:cNvPr>
          <p:cNvSpPr>
            <a:spLocks xmlns:a="http://schemas.openxmlformats.org/drawingml/2006/main" noGrp="1"/>
          </p:cNvSpPr>
          <p:nvPr/>
        </p:nvSpPr>
        <p:spPr>
          <a:xfrm xmlns:a="http://schemas.openxmlformats.org/drawingml/2006/main" rot="0">
            <a:off x="6057900" y="4219575"/>
            <a:ext cx="5581650" cy="1562100"/>
          </a:xfrm>
          <a:prstGeom xmlns:a="http://schemas.openxmlformats.org/drawingml/2006/main" prst="rect">
            <a:avLst/>
          </a:prstGeom>
          <a:solidFill xmlns:a="http://schemas.openxmlformats.org/drawingml/2006/main">
            <a:srgbClr val="2B2E32"/>
          </a:solidFill>
          <a:ln xmlns:a="http://schemas.openxmlformats.org/drawingml/2006/main" w="9525">
            <a:solidFill>
              <a:srgbClr val="41454A"/>
            </a:solidFill>
            <a:prstDash val="solid"/>
          </a:ln>
        </p:spPr>
      </p:sp>
      <p:sp>
        <p:nvSpPr>
          <p:cNvPr id="17" name="">
            <a:extLst xmlns:a="http://schemas.openxmlformats.org/drawingml/2006/main">
              <a:ext uri="{FF2B5EF4-FFF2-40B4-BE49-F238E27FC236}">
                <a16:creationId xmlns:a16="http://schemas.microsoft.com/office/drawing/2014/main" id="{C2AC47E8-FE43-444A-BF93-C7020872ACCF}"/>
              </a:ext>
            </a:extLst>
          </p:cNvPr>
          <p:cNvSpPr>
            <a:spLocks xmlns:a="http://schemas.openxmlformats.org/drawingml/2006/main" noGrp="1"/>
          </p:cNvSpPr>
          <p:nvPr/>
        </p:nvSpPr>
        <p:spPr>
          <a:xfrm xmlns:a="http://schemas.openxmlformats.org/drawingml/2006/main">
            <a:off x="6286500" y="44386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E3A06D"/>
                </a:solidFill>
                <a:latin typeface="Arial Narrow"/>
                <a:ea typeface="Arial Narrow"/>
                <a:cs typeface="Arial Narrow"/>
              </a:defRPr>
            </a:pPr>
            <a:r>
              <a:rPr sz="1200" b="1" i="0">
                <a:solidFill>
                  <a:srgbClr val="E3A06D"/>
                </a:solidFill>
                <a:latin typeface="Arial Narrow"/>
                <a:ea typeface="Arial Narrow"/>
                <a:cs typeface="Arial Narrow"/>
              </a:rPr>
              <a:t>WHAT IT DOES NOT PROVE</a:t>
            </a:r>
          </a:p>
        </p:txBody>
      </p:sp>
      <p:sp>
        <p:nvSpPr>
          <p:cNvPr id="18" name="">
            <a:extLst xmlns:a="http://schemas.openxmlformats.org/drawingml/2006/main">
              <a:ext uri="{FF2B5EF4-FFF2-40B4-BE49-F238E27FC236}">
                <a16:creationId xmlns:a16="http://schemas.microsoft.com/office/drawing/2014/main" id="{7980DF4B-9080-43AC-805A-3D9F6E0B4A60}"/>
              </a:ext>
            </a:extLst>
          </p:cNvPr>
          <p:cNvSpPr>
            <a:spLocks xmlns:a="http://schemas.openxmlformats.org/drawingml/2006/main" noGrp="1"/>
          </p:cNvSpPr>
          <p:nvPr/>
        </p:nvSpPr>
        <p:spPr>
          <a:xfrm xmlns:a="http://schemas.openxmlformats.org/drawingml/2006/main">
            <a:off x="6286500" y="4867275"/>
            <a:ext cx="4953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FFFFFF"/>
                </a:solidFill>
                <a:latin typeface="Arial"/>
                <a:ea typeface="Arial"/>
                <a:cs typeface="Arial"/>
              </a:defRPr>
            </a:pPr>
            <a:r>
              <a:rPr sz="1500" b="1" i="0">
                <a:solidFill>
                  <a:srgbClr val="FFFFFF"/>
                </a:solidFill>
                <a:latin typeface="Arial"/>
                <a:ea typeface="Arial"/>
                <a:cs typeface="Arial"/>
              </a:rPr>
              <a:t>Net NRG savings, schedule reduction or critical-path removal.</a:t>
            </a:r>
          </a:p>
        </p:txBody>
      </p:sp>
      <p:sp>
        <p:nvSpPr>
          <p:cNvPr id="19" name="">
            <a:extLst xmlns:a="http://schemas.openxmlformats.org/drawingml/2006/main">
              <a:ext uri="{FF2B5EF4-FFF2-40B4-BE49-F238E27FC236}">
                <a16:creationId xmlns:a16="http://schemas.microsoft.com/office/drawing/2014/main" id="{C91D27FB-5F84-48E5-842F-1B2511CCEC66}"/>
              </a:ext>
            </a:extLst>
          </p:cNvPr>
          <p:cNvSpPr>
            <a:spLocks xmlns:a="http://schemas.openxmlformats.org/drawingml/2006/main" noGrp="1"/>
          </p:cNvSpPr>
          <p:nvPr/>
        </p:nvSpPr>
        <p:spPr>
          <a:xfrm xmlns:a="http://schemas.openxmlformats.org/drawingml/2006/main">
            <a:off x="552450" y="6143625"/>
            <a:ext cx="11087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0" i="1">
                <a:solidFill>
                  <a:srgbClr val="8B9094"/>
                </a:solidFill>
                <a:latin typeface="Arial"/>
                <a:ea typeface="Arial"/>
                <a:cs typeface="Arial"/>
              </a:defRPr>
            </a:pPr>
            <a:r>
              <a:rPr sz="1050" b="0" i="1">
                <a:solidFill>
                  <a:srgbClr val="8B9094"/>
                </a:solidFill>
                <a:latin typeface="Arial"/>
                <a:ea typeface="Arial"/>
                <a:cs typeface="Arial"/>
              </a:rPr>
              <a:t>Rebuild the case with NRG scope, labor rates, schedule logic and acceptance criteria.</a:t>
            </a:r>
          </a:p>
        </p:txBody>
      </p:sp>
    </p:spTree>
    <p:extLst>
      <p:ext uri="{BB962C8B-B14F-4D97-AF65-F5344CB8AC3E}">
        <p14:creationId xmlns:p14="http://schemas.microsoft.com/office/powerpoint/2010/main" val="1722348828"/>
      </p:ext>
    </p:extLst>
  </p:cSld>
</p:sld>
</file>

<file path=ppt/slides/slide8.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D13ECD5-341F-415E-84A3-47C83FA79A8D}"/>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f48650a3c4a4d07"/>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3ABAE97-A482-4C51-AB8A-4FC957C20960}"/>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9D4E24"/>
                </a:solidFill>
                <a:latin typeface="Arial Narrow"/>
                <a:ea typeface="Arial Narrow"/>
                <a:cs typeface="Arial Narrow"/>
              </a:defRPr>
            </a:pPr>
            <a:r>
              <a:rPr sz="975" b="1" i="0">
                <a:solidFill>
                  <a:srgbClr val="9D4E24"/>
                </a:solidFill>
                <a:latin typeface="Arial Narrow"/>
                <a:ea typeface="Arial Narrow"/>
                <a:cs typeface="Arial Narrow"/>
              </a:rPr>
              <a:t>VALIDATION PATH</a:t>
            </a:r>
          </a:p>
        </p:txBody>
      </p:sp>
      <p:sp>
        <p:nvSpPr>
          <p:cNvPr id="4" name="">
            <a:extLst xmlns:a="http://schemas.openxmlformats.org/drawingml/2006/main">
              <a:ext uri="{FF2B5EF4-FFF2-40B4-BE49-F238E27FC236}">
                <a16:creationId xmlns:a16="http://schemas.microsoft.com/office/drawing/2014/main" id="{A9D9B8D4-7A2F-45E6-82B8-D279976E2F48}"/>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08</a:t>
            </a:r>
          </a:p>
        </p:txBody>
      </p:sp>
      <p:sp>
        <p:nvSpPr>
          <p:cNvPr id="5" name="">
            <a:extLst xmlns:a="http://schemas.openxmlformats.org/drawingml/2006/main">
              <a:ext uri="{FF2B5EF4-FFF2-40B4-BE49-F238E27FC236}">
                <a16:creationId xmlns:a16="http://schemas.microsoft.com/office/drawing/2014/main" id="{9E22B7DA-FF50-4999-9E1F-7DC40D90AC37}"/>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D4E24"/>
                </a:solidFill>
                <a:latin typeface="Arial Narrow"/>
                <a:ea typeface="Arial Narrow"/>
                <a:cs typeface="Arial Narrow"/>
              </a:defRPr>
            </a:pPr>
            <a:r>
              <a:rPr sz="1050" b="1" i="0">
                <a:solidFill>
                  <a:srgbClr val="9D4E24"/>
                </a:solidFill>
                <a:latin typeface="Arial Narrow"/>
                <a:ea typeface="Arial Narrow"/>
                <a:cs typeface="Arial Narrow"/>
              </a:rPr>
              <a:t>ONE LIVE SCOPE</a:t>
            </a:r>
          </a:p>
        </p:txBody>
      </p:sp>
      <p:sp>
        <p:nvSpPr>
          <p:cNvPr id="6" name="">
            <a:extLst xmlns:a="http://schemas.openxmlformats.org/drawingml/2006/main">
              <a:ext uri="{FF2B5EF4-FFF2-40B4-BE49-F238E27FC236}">
                <a16:creationId xmlns:a16="http://schemas.microsoft.com/office/drawing/2014/main" id="{C5ABED4F-19E1-4982-A1D1-521AEF1B0B12}"/>
              </a:ext>
            </a:extLst>
          </p:cNvPr>
          <p:cNvSpPr>
            <a:spLocks xmlns:a="http://schemas.openxmlformats.org/drawingml/2006/main" noGrp="1"/>
          </p:cNvSpPr>
          <p:nvPr/>
        </p:nvSpPr>
        <p:spPr>
          <a:xfrm xmlns:a="http://schemas.openxmlformats.org/drawingml/2006/main">
            <a:off x="552450" y="11811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296"/>
          </a:bodyPr>
          <a:lstStyle xmlns:a="http://schemas.openxmlformats.org/drawingml/2006/main"/>
          <a:p xmlns:a="http://schemas.openxmlformats.org/drawingml/2006/main">
            <a:pPr algn="l">
              <a:lnSpc>
                <a:spcPct val="94000"/>
              </a:lnSpc>
              <a:buNone/>
              <a:defRPr sz="2925" b="1" i="0">
                <a:solidFill>
                  <a:srgbClr val="17191C"/>
                </a:solidFill>
                <a:latin typeface="Arial"/>
                <a:ea typeface="Arial"/>
                <a:cs typeface="Arial"/>
              </a:defRPr>
            </a:pPr>
            <a:r>
              <a:rPr sz="2925" b="1" i="0">
                <a:solidFill>
                  <a:srgbClr val="17191C"/>
                </a:solidFill>
                <a:latin typeface="Arial"/>
                <a:ea typeface="Arial"/>
                <a:cs typeface="Arial"/>
              </a:rPr>
              <a:t>One live scope can prove—or disprove—the case before NRG expands it.</a:t>
            </a:r>
          </a:p>
        </p:txBody>
      </p:sp>
      <p:sp>
        <p:nvSpPr>
          <p:cNvPr id="7" name="">
            <a:extLst xmlns:a="http://schemas.openxmlformats.org/drawingml/2006/main">
              <a:ext uri="{FF2B5EF4-FFF2-40B4-BE49-F238E27FC236}">
                <a16:creationId xmlns:a16="http://schemas.microsoft.com/office/drawing/2014/main" id="{7B467C56-AE84-4523-8A09-974155F913ED}"/>
              </a:ext>
            </a:extLst>
          </p:cNvPr>
          <p:cNvSpPr>
            <a:spLocks xmlns:a="http://schemas.openxmlformats.org/drawingml/2006/main" noGrp="1"/>
          </p:cNvSpPr>
          <p:nvPr/>
        </p:nvSpPr>
        <p:spPr>
          <a:xfrm xmlns:a="http://schemas.openxmlformats.org/drawingml/2006/main">
            <a:off x="552450" y="18859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6A6F73"/>
                </a:solidFill>
                <a:latin typeface="Arial"/>
                <a:ea typeface="Arial"/>
                <a:cs typeface="Arial"/>
              </a:defRPr>
            </a:pPr>
            <a:r>
              <a:rPr sz="1425" b="0" i="0">
                <a:solidFill>
                  <a:srgbClr val="6A6F73"/>
                </a:solidFill>
                <a:latin typeface="Arial"/>
                <a:ea typeface="Arial"/>
                <a:cs typeface="Arial"/>
              </a:rPr>
              <a:t>Start with one active newbuild package, TEF project or acquired-fleet conversion/uprate screen.</a:t>
            </a:r>
          </a:p>
        </p:txBody>
      </p:sp>
      <p:sp>
        <p:nvSpPr>
          <p:cNvPr id="8" name="">
            <a:extLst xmlns:a="http://schemas.openxmlformats.org/drawingml/2006/main">
              <a:ext uri="{FF2B5EF4-FFF2-40B4-BE49-F238E27FC236}">
                <a16:creationId xmlns:a16="http://schemas.microsoft.com/office/drawing/2014/main" id="{1B18CD6F-FAD1-4542-9104-F794B20E649E}"/>
              </a:ext>
            </a:extLst>
          </p:cNvPr>
          <p:cNvSpPr>
            <a:spLocks xmlns:a="http://schemas.openxmlformats.org/drawingml/2006/main" noGrp="1"/>
          </p:cNvSpPr>
          <p:nvPr/>
        </p:nvSpPr>
        <p:spPr>
          <a:xfrm xmlns:a="http://schemas.openxmlformats.org/drawingml/2006/main">
            <a:off x="1714500" y="3133725"/>
            <a:ext cx="8743950"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9" name="">
            <a:extLst xmlns:a="http://schemas.openxmlformats.org/drawingml/2006/main">
              <a:ext uri="{FF2B5EF4-FFF2-40B4-BE49-F238E27FC236}">
                <a16:creationId xmlns:a16="http://schemas.microsoft.com/office/drawing/2014/main" id="{77FB7608-3F72-4762-A223-E4CD655D06BC}"/>
              </a:ext>
            </a:extLst>
          </p:cNvPr>
          <p:cNvSpPr>
            <a:spLocks xmlns:a="http://schemas.openxmlformats.org/drawingml/2006/main" noGrp="1"/>
          </p:cNvSpPr>
          <p:nvPr/>
        </p:nvSpPr>
        <p:spPr>
          <a:xfrm xmlns:a="http://schemas.openxmlformats.org/drawingml/2006/main">
            <a:off x="1524000" y="2943225"/>
            <a:ext cx="381000" cy="3810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5C424C8-E27E-4777-98E6-33313A9FF224}"/>
              </a:ext>
            </a:extLst>
          </p:cNvPr>
          <p:cNvSpPr>
            <a:spLocks xmlns:a="http://schemas.openxmlformats.org/drawingml/2006/main" noGrp="1"/>
          </p:cNvSpPr>
          <p:nvPr/>
        </p:nvSpPr>
        <p:spPr>
          <a:xfrm xmlns:a="http://schemas.openxmlformats.org/drawingml/2006/main">
            <a:off x="1552575" y="30003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i="0">
                <a:solidFill>
                  <a:srgbClr val="FFFFFF"/>
                </a:solidFill>
                <a:latin typeface="Arial Narrow"/>
                <a:ea typeface="Arial Narrow"/>
                <a:cs typeface="Arial Narrow"/>
              </a:defRPr>
            </a:pPr>
            <a:r>
              <a:rPr sz="975" b="1" i="0">
                <a:solidFill>
                  <a:srgbClr val="FFFFFF"/>
                </a:solidFill>
                <a:latin typeface="Arial Narrow"/>
                <a:ea typeface="Arial Narrow"/>
                <a:cs typeface="Arial Narrow"/>
              </a:rPr>
              <a:t>01</a:t>
            </a:r>
          </a:p>
        </p:txBody>
      </p:sp>
      <p:sp>
        <p:nvSpPr>
          <p:cNvPr id="11" name="">
            <a:extLst xmlns:a="http://schemas.openxmlformats.org/drawingml/2006/main">
              <a:ext uri="{FF2B5EF4-FFF2-40B4-BE49-F238E27FC236}">
                <a16:creationId xmlns:a16="http://schemas.microsoft.com/office/drawing/2014/main" id="{FEBC0D98-DE4B-45ED-9FE2-02949D37CECB}"/>
              </a:ext>
            </a:extLst>
          </p:cNvPr>
          <p:cNvSpPr>
            <a:spLocks xmlns:a="http://schemas.openxmlformats.org/drawingml/2006/main" noGrp="1"/>
          </p:cNvSpPr>
          <p:nvPr/>
        </p:nvSpPr>
        <p:spPr>
          <a:xfrm xmlns:a="http://schemas.openxmlformats.org/drawingml/2006/main">
            <a:off x="571500" y="3543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9D4E24"/>
                </a:solidFill>
                <a:latin typeface="Arial Narrow"/>
                <a:ea typeface="Arial Narrow"/>
                <a:cs typeface="Arial Narrow"/>
              </a:defRPr>
            </a:pPr>
            <a:r>
              <a:rPr sz="1425" b="1" i="0">
                <a:solidFill>
                  <a:srgbClr val="9D4E24"/>
                </a:solidFill>
                <a:latin typeface="Arial Narrow"/>
                <a:ea typeface="Arial Narrow"/>
                <a:cs typeface="Arial Narrow"/>
              </a:rPr>
              <a:t>SELECT SCOPE</a:t>
            </a:r>
          </a:p>
        </p:txBody>
      </p:sp>
      <p:sp>
        <p:nvSpPr>
          <p:cNvPr id="12" name="">
            <a:extLst xmlns:a="http://schemas.openxmlformats.org/drawingml/2006/main">
              <a:ext uri="{FF2B5EF4-FFF2-40B4-BE49-F238E27FC236}">
                <a16:creationId xmlns:a16="http://schemas.microsoft.com/office/drawing/2014/main" id="{81CD6648-3D0D-4368-B77F-F895BB12BA16}"/>
              </a:ext>
            </a:extLst>
          </p:cNvPr>
          <p:cNvSpPr>
            <a:spLocks xmlns:a="http://schemas.openxmlformats.org/drawingml/2006/main" noGrp="1"/>
          </p:cNvSpPr>
          <p:nvPr/>
        </p:nvSpPr>
        <p:spPr>
          <a:xfrm xmlns:a="http://schemas.openxmlformats.org/drawingml/2006/main">
            <a:off x="571500" y="39433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A6F73"/>
                </a:solidFill>
                <a:latin typeface="Arial"/>
                <a:ea typeface="Arial"/>
                <a:cs typeface="Arial"/>
              </a:defRPr>
            </a:pPr>
            <a:r>
              <a:rPr sz="1200" b="0" i="0">
                <a:solidFill>
                  <a:srgbClr val="6A6F73"/>
                </a:solidFill>
                <a:latin typeface="Arial"/>
                <a:ea typeface="Arial"/>
                <a:cs typeface="Arial"/>
              </a:rPr>
              <a:t>One active electrical package</a:t>
            </a:r>
          </a:p>
        </p:txBody>
      </p:sp>
      <p:sp>
        <p:nvSpPr>
          <p:cNvPr id="13" name="">
            <a:extLst xmlns:a="http://schemas.openxmlformats.org/drawingml/2006/main">
              <a:ext uri="{FF2B5EF4-FFF2-40B4-BE49-F238E27FC236}">
                <a16:creationId xmlns:a16="http://schemas.microsoft.com/office/drawing/2014/main" id="{12268B23-D7A4-4665-89C6-2CED9881E608}"/>
              </a:ext>
            </a:extLst>
          </p:cNvPr>
          <p:cNvSpPr>
            <a:spLocks xmlns:a="http://schemas.openxmlformats.org/drawingml/2006/main" noGrp="1"/>
          </p:cNvSpPr>
          <p:nvPr/>
        </p:nvSpPr>
        <p:spPr>
          <a:xfrm xmlns:a="http://schemas.openxmlformats.org/drawingml/2006/main">
            <a:off x="4438650" y="2943225"/>
            <a:ext cx="381000" cy="3810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61213F-6B30-4A83-B799-2D99FAC73582}"/>
              </a:ext>
            </a:extLst>
          </p:cNvPr>
          <p:cNvSpPr>
            <a:spLocks xmlns:a="http://schemas.openxmlformats.org/drawingml/2006/main" noGrp="1"/>
          </p:cNvSpPr>
          <p:nvPr/>
        </p:nvSpPr>
        <p:spPr>
          <a:xfrm xmlns:a="http://schemas.openxmlformats.org/drawingml/2006/main">
            <a:off x="4467225" y="30003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i="0">
                <a:solidFill>
                  <a:srgbClr val="FFFFFF"/>
                </a:solidFill>
                <a:latin typeface="Arial Narrow"/>
                <a:ea typeface="Arial Narrow"/>
                <a:cs typeface="Arial Narrow"/>
              </a:defRPr>
            </a:pPr>
            <a:r>
              <a:rPr sz="975" b="1" i="0">
                <a:solidFill>
                  <a:srgbClr val="FFFFFF"/>
                </a:solidFill>
                <a:latin typeface="Arial Narrow"/>
                <a:ea typeface="Arial Narrow"/>
                <a:cs typeface="Arial Narrow"/>
              </a:rPr>
              <a:t>02</a:t>
            </a:r>
          </a:p>
        </p:txBody>
      </p:sp>
      <p:sp>
        <p:nvSpPr>
          <p:cNvPr id="15" name="">
            <a:extLst xmlns:a="http://schemas.openxmlformats.org/drawingml/2006/main">
              <a:ext uri="{FF2B5EF4-FFF2-40B4-BE49-F238E27FC236}">
                <a16:creationId xmlns:a16="http://schemas.microsoft.com/office/drawing/2014/main" id="{4140F5A5-7842-491B-8D20-9FD737DBE2FB}"/>
              </a:ext>
            </a:extLst>
          </p:cNvPr>
          <p:cNvSpPr>
            <a:spLocks xmlns:a="http://schemas.openxmlformats.org/drawingml/2006/main" noGrp="1"/>
          </p:cNvSpPr>
          <p:nvPr/>
        </p:nvSpPr>
        <p:spPr>
          <a:xfrm xmlns:a="http://schemas.openxmlformats.org/drawingml/2006/main">
            <a:off x="3486150" y="3543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9D4E24"/>
                </a:solidFill>
                <a:latin typeface="Arial Narrow"/>
                <a:ea typeface="Arial Narrow"/>
                <a:cs typeface="Arial Narrow"/>
              </a:defRPr>
            </a:pPr>
            <a:r>
              <a:rPr sz="1425" b="1" i="0">
                <a:solidFill>
                  <a:srgbClr val="9D4E24"/>
                </a:solidFill>
                <a:latin typeface="Arial Narrow"/>
                <a:ea typeface="Arial Narrow"/>
                <a:cs typeface="Arial Narrow"/>
              </a:rPr>
              <a:t>WALK THE WORK</a:t>
            </a:r>
          </a:p>
        </p:txBody>
      </p:sp>
      <p:sp>
        <p:nvSpPr>
          <p:cNvPr id="16" name="">
            <a:extLst xmlns:a="http://schemas.openxmlformats.org/drawingml/2006/main">
              <a:ext uri="{FF2B5EF4-FFF2-40B4-BE49-F238E27FC236}">
                <a16:creationId xmlns:a16="http://schemas.microsoft.com/office/drawing/2014/main" id="{A0ED1B96-AD35-4D5F-BCE9-C6955AB85DCB}"/>
              </a:ext>
            </a:extLst>
          </p:cNvPr>
          <p:cNvSpPr>
            <a:spLocks xmlns:a="http://schemas.openxmlformats.org/drawingml/2006/main" noGrp="1"/>
          </p:cNvSpPr>
          <p:nvPr/>
        </p:nvSpPr>
        <p:spPr>
          <a:xfrm xmlns:a="http://schemas.openxmlformats.org/drawingml/2006/main">
            <a:off x="3486150" y="39433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A6F73"/>
                </a:solidFill>
                <a:latin typeface="Arial"/>
                <a:ea typeface="Arial"/>
                <a:cs typeface="Arial"/>
              </a:defRPr>
            </a:pPr>
            <a:r>
              <a:rPr sz="1200" b="0" i="0">
                <a:solidFill>
                  <a:srgbClr val="6A6F73"/>
                </a:solidFill>
                <a:latin typeface="Arial"/>
                <a:ea typeface="Arial"/>
                <a:cs typeface="Arial"/>
              </a:rPr>
              <a:t>People closest to execution</a:t>
            </a:r>
          </a:p>
        </p:txBody>
      </p:sp>
      <p:sp>
        <p:nvSpPr>
          <p:cNvPr id="17" name="">
            <a:extLst xmlns:a="http://schemas.openxmlformats.org/drawingml/2006/main">
              <a:ext uri="{FF2B5EF4-FFF2-40B4-BE49-F238E27FC236}">
                <a16:creationId xmlns:a16="http://schemas.microsoft.com/office/drawing/2014/main" id="{3984852D-62CD-40A0-8594-6B48D1BBF3B8}"/>
              </a:ext>
            </a:extLst>
          </p:cNvPr>
          <p:cNvSpPr>
            <a:spLocks xmlns:a="http://schemas.openxmlformats.org/drawingml/2006/main" noGrp="1"/>
          </p:cNvSpPr>
          <p:nvPr/>
        </p:nvSpPr>
        <p:spPr>
          <a:xfrm xmlns:a="http://schemas.openxmlformats.org/drawingml/2006/main">
            <a:off x="7353300" y="2943225"/>
            <a:ext cx="381000" cy="381000"/>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28C0776-D7F7-4A88-B5A2-B555EE433493}"/>
              </a:ext>
            </a:extLst>
          </p:cNvPr>
          <p:cNvSpPr>
            <a:spLocks xmlns:a="http://schemas.openxmlformats.org/drawingml/2006/main" noGrp="1"/>
          </p:cNvSpPr>
          <p:nvPr/>
        </p:nvSpPr>
        <p:spPr>
          <a:xfrm xmlns:a="http://schemas.openxmlformats.org/drawingml/2006/main">
            <a:off x="7381875" y="30003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i="0">
                <a:solidFill>
                  <a:srgbClr val="FFFFFF"/>
                </a:solidFill>
                <a:latin typeface="Arial Narrow"/>
                <a:ea typeface="Arial Narrow"/>
                <a:cs typeface="Arial Narrow"/>
              </a:defRPr>
            </a:pPr>
            <a:r>
              <a:rPr sz="975" b="1" i="0">
                <a:solidFill>
                  <a:srgbClr val="FFFFFF"/>
                </a:solidFill>
                <a:latin typeface="Arial Narrow"/>
                <a:ea typeface="Arial Narrow"/>
                <a:cs typeface="Arial Narrow"/>
              </a:rPr>
              <a:t>03</a:t>
            </a:r>
          </a:p>
        </p:txBody>
      </p:sp>
      <p:sp>
        <p:nvSpPr>
          <p:cNvPr id="19" name="">
            <a:extLst xmlns:a="http://schemas.openxmlformats.org/drawingml/2006/main">
              <a:ext uri="{FF2B5EF4-FFF2-40B4-BE49-F238E27FC236}">
                <a16:creationId xmlns:a16="http://schemas.microsoft.com/office/drawing/2014/main" id="{31A59F52-B2A9-4422-BCEC-BDC6CB36D6CA}"/>
              </a:ext>
            </a:extLst>
          </p:cNvPr>
          <p:cNvSpPr>
            <a:spLocks xmlns:a="http://schemas.openxmlformats.org/drawingml/2006/main" noGrp="1"/>
          </p:cNvSpPr>
          <p:nvPr/>
        </p:nvSpPr>
        <p:spPr>
          <a:xfrm xmlns:a="http://schemas.openxmlformats.org/drawingml/2006/main">
            <a:off x="6400800" y="3543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9D4E24"/>
                </a:solidFill>
                <a:latin typeface="Arial Narrow"/>
                <a:ea typeface="Arial Narrow"/>
                <a:cs typeface="Arial Narrow"/>
              </a:defRPr>
            </a:pPr>
            <a:r>
              <a:rPr sz="1425" b="1" i="0">
                <a:solidFill>
                  <a:srgbClr val="9D4E24"/>
                </a:solidFill>
                <a:latin typeface="Arial Narrow"/>
                <a:ea typeface="Arial Narrow"/>
                <a:cs typeface="Arial Narrow"/>
              </a:rPr>
              <a:t>MAP THE RISK</a:t>
            </a:r>
          </a:p>
        </p:txBody>
      </p:sp>
      <p:sp>
        <p:nvSpPr>
          <p:cNvPr id="20" name="">
            <a:extLst xmlns:a="http://schemas.openxmlformats.org/drawingml/2006/main">
              <a:ext uri="{FF2B5EF4-FFF2-40B4-BE49-F238E27FC236}">
                <a16:creationId xmlns:a16="http://schemas.microsoft.com/office/drawing/2014/main" id="{2F43704E-D542-4DA0-B5E5-CDA2450CC1A4}"/>
              </a:ext>
            </a:extLst>
          </p:cNvPr>
          <p:cNvSpPr>
            <a:spLocks xmlns:a="http://schemas.openxmlformats.org/drawingml/2006/main" noGrp="1"/>
          </p:cNvSpPr>
          <p:nvPr/>
        </p:nvSpPr>
        <p:spPr>
          <a:xfrm xmlns:a="http://schemas.openxmlformats.org/drawingml/2006/main">
            <a:off x="6400800" y="39433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A6F73"/>
                </a:solidFill>
                <a:latin typeface="Arial"/>
                <a:ea typeface="Arial"/>
                <a:cs typeface="Arial"/>
              </a:defRPr>
            </a:pPr>
            <a:r>
              <a:rPr sz="1200" b="0" i="0">
                <a:solidFill>
                  <a:srgbClr val="6A6F73"/>
                </a:solidFill>
                <a:latin typeface="Arial"/>
                <a:ea typeface="Arial"/>
                <a:cs typeface="Arial"/>
              </a:rPr>
              <a:t>Handoffs, releases and repetition</a:t>
            </a:r>
          </a:p>
        </p:txBody>
      </p:sp>
      <p:sp>
        <p:nvSpPr>
          <p:cNvPr id="21" name="">
            <a:extLst xmlns:a="http://schemas.openxmlformats.org/drawingml/2006/main">
              <a:ext uri="{FF2B5EF4-FFF2-40B4-BE49-F238E27FC236}">
                <a16:creationId xmlns:a16="http://schemas.microsoft.com/office/drawing/2014/main" id="{3F226CA3-82E9-421A-AD1E-457B574C896C}"/>
              </a:ext>
            </a:extLst>
          </p:cNvPr>
          <p:cNvSpPr>
            <a:spLocks xmlns:a="http://schemas.openxmlformats.org/drawingml/2006/main" noGrp="1"/>
          </p:cNvSpPr>
          <p:nvPr/>
        </p:nvSpPr>
        <p:spPr>
          <a:xfrm xmlns:a="http://schemas.openxmlformats.org/drawingml/2006/main">
            <a:off x="10267950" y="2943225"/>
            <a:ext cx="381000" cy="381000"/>
          </a:xfrm>
          <a:prstGeom xmlns:a="http://schemas.openxmlformats.org/drawingml/2006/main" prst="ellipse">
            <a:avLst/>
          </a:prstGeom>
          <a:solidFill xmlns:a="http://schemas.openxmlformats.org/drawingml/2006/main">
            <a:srgbClr val="9D4E2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5977B31-4638-490D-831C-B42F263F9EDD}"/>
              </a:ext>
            </a:extLst>
          </p:cNvPr>
          <p:cNvSpPr>
            <a:spLocks xmlns:a="http://schemas.openxmlformats.org/drawingml/2006/main" noGrp="1"/>
          </p:cNvSpPr>
          <p:nvPr/>
        </p:nvSpPr>
        <p:spPr>
          <a:xfrm xmlns:a="http://schemas.openxmlformats.org/drawingml/2006/main">
            <a:off x="10296525" y="300037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75" b="1" i="0">
                <a:solidFill>
                  <a:srgbClr val="FFFFFF"/>
                </a:solidFill>
                <a:latin typeface="Arial Narrow"/>
                <a:ea typeface="Arial Narrow"/>
                <a:cs typeface="Arial Narrow"/>
              </a:defRPr>
            </a:pPr>
            <a:r>
              <a:rPr sz="975" b="1" i="0">
                <a:solidFill>
                  <a:srgbClr val="FFFFFF"/>
                </a:solidFill>
                <a:latin typeface="Arial Narrow"/>
                <a:ea typeface="Arial Narrow"/>
                <a:cs typeface="Arial Narrow"/>
              </a:rPr>
              <a:t>04</a:t>
            </a:r>
          </a:p>
        </p:txBody>
      </p:sp>
      <p:sp>
        <p:nvSpPr>
          <p:cNvPr id="23" name="">
            <a:extLst xmlns:a="http://schemas.openxmlformats.org/drawingml/2006/main">
              <a:ext uri="{FF2B5EF4-FFF2-40B4-BE49-F238E27FC236}">
                <a16:creationId xmlns:a16="http://schemas.microsoft.com/office/drawing/2014/main" id="{0A83C44C-4ECF-4BBC-8052-84B63F67E5CB}"/>
              </a:ext>
            </a:extLst>
          </p:cNvPr>
          <p:cNvSpPr>
            <a:spLocks xmlns:a="http://schemas.openxmlformats.org/drawingml/2006/main" noGrp="1"/>
          </p:cNvSpPr>
          <p:nvPr/>
        </p:nvSpPr>
        <p:spPr>
          <a:xfrm xmlns:a="http://schemas.openxmlformats.org/drawingml/2006/main">
            <a:off x="9315450" y="3543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9D4E24"/>
                </a:solidFill>
                <a:latin typeface="Arial Narrow"/>
                <a:ea typeface="Arial Narrow"/>
                <a:cs typeface="Arial Narrow"/>
              </a:defRPr>
            </a:pPr>
            <a:r>
              <a:rPr sz="1425" b="1" i="0">
                <a:solidFill>
                  <a:srgbClr val="9D4E24"/>
                </a:solidFill>
                <a:latin typeface="Arial Narrow"/>
                <a:ea typeface="Arial Narrow"/>
                <a:cs typeface="Arial Narrow"/>
              </a:rPr>
              <a:t>DECIDE</a:t>
            </a:r>
          </a:p>
        </p:txBody>
      </p:sp>
      <p:sp>
        <p:nvSpPr>
          <p:cNvPr id="24" name="">
            <a:extLst xmlns:a="http://schemas.openxmlformats.org/drawingml/2006/main">
              <a:ext uri="{FF2B5EF4-FFF2-40B4-BE49-F238E27FC236}">
                <a16:creationId xmlns:a16="http://schemas.microsoft.com/office/drawing/2014/main" id="{5A8CFB66-F8CA-46AE-B743-9928828FA80B}"/>
              </a:ext>
            </a:extLst>
          </p:cNvPr>
          <p:cNvSpPr>
            <a:spLocks xmlns:a="http://schemas.openxmlformats.org/drawingml/2006/main" noGrp="1"/>
          </p:cNvSpPr>
          <p:nvPr/>
        </p:nvSpPr>
        <p:spPr>
          <a:xfrm xmlns:a="http://schemas.openxmlformats.org/drawingml/2006/main">
            <a:off x="9315450" y="39433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A6F73"/>
                </a:solidFill>
                <a:latin typeface="Arial"/>
                <a:ea typeface="Arial"/>
                <a:cs typeface="Arial"/>
              </a:defRPr>
            </a:pPr>
            <a:r>
              <a:rPr sz="1200" b="0" i="0">
                <a:solidFill>
                  <a:srgbClr val="6A6F73"/>
                </a:solidFill>
                <a:latin typeface="Arial"/>
                <a:ea typeface="Arial"/>
                <a:cs typeface="Arial"/>
              </a:rPr>
              <a:t>Stop, standardize or pilot</a:t>
            </a:r>
          </a:p>
        </p:txBody>
      </p:sp>
      <p:sp>
        <p:nvSpPr>
          <p:cNvPr id="25" name="">
            <a:extLst xmlns:a="http://schemas.openxmlformats.org/drawingml/2006/main">
              <a:ext uri="{FF2B5EF4-FFF2-40B4-BE49-F238E27FC236}">
                <a16:creationId xmlns:a16="http://schemas.microsoft.com/office/drawing/2014/main" id="{6627BF63-4301-4D2E-AB17-9762F76238F8}"/>
              </a:ext>
            </a:extLst>
          </p:cNvPr>
          <p:cNvSpPr>
            <a:spLocks xmlns:a="http://schemas.openxmlformats.org/drawingml/2006/main" noGrp="1"/>
          </p:cNvSpPr>
          <p:nvPr/>
        </p:nvSpPr>
        <p:spPr>
          <a:xfrm xmlns:a="http://schemas.openxmlformats.org/drawingml/2006/main" rot="0">
            <a:off x="552450" y="4829175"/>
            <a:ext cx="11087100" cy="1304925"/>
          </a:xfrm>
          <a:prstGeom xmlns:a="http://schemas.openxmlformats.org/drawingml/2006/main" prst="rect">
            <a:avLst/>
          </a:prstGeom>
          <a:solidFill xmlns:a="http://schemas.openxmlformats.org/drawingml/2006/main">
            <a:srgbClr val="F2E3D8"/>
          </a:solidFill>
          <a:ln xmlns:a="http://schemas.openxmlformats.org/drawingml/2006/main" w="9525">
            <a:solidFill>
              <a:srgbClr val="E0C4B0"/>
            </a:solidFill>
            <a:prstDash val="solid"/>
          </a:ln>
        </p:spPr>
      </p:sp>
      <p:sp>
        <p:nvSpPr>
          <p:cNvPr id="26" name="">
            <a:extLst xmlns:a="http://schemas.openxmlformats.org/drawingml/2006/main">
              <a:ext uri="{FF2B5EF4-FFF2-40B4-BE49-F238E27FC236}">
                <a16:creationId xmlns:a16="http://schemas.microsoft.com/office/drawing/2014/main" id="{B505F57C-E518-493A-A640-19DF682E6E3C}"/>
              </a:ext>
            </a:extLst>
          </p:cNvPr>
          <p:cNvSpPr>
            <a:spLocks xmlns:a="http://schemas.openxmlformats.org/drawingml/2006/main" noGrp="1"/>
          </p:cNvSpPr>
          <p:nvPr/>
        </p:nvSpPr>
        <p:spPr>
          <a:xfrm xmlns:a="http://schemas.openxmlformats.org/drawingml/2006/main">
            <a:off x="781050" y="505777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9D4E24"/>
                </a:solidFill>
                <a:latin typeface="Arial Narrow"/>
                <a:ea typeface="Arial Narrow"/>
                <a:cs typeface="Arial Narrow"/>
              </a:defRPr>
            </a:pPr>
            <a:r>
              <a:rPr sz="1275" b="1" i="0">
                <a:solidFill>
                  <a:srgbClr val="9D4E24"/>
                </a:solidFill>
                <a:latin typeface="Arial Narrow"/>
                <a:ea typeface="Arial Narrow"/>
                <a:cs typeface="Arial Narrow"/>
              </a:rPr>
              <a:t>WRITTEN READ-BACK</a:t>
            </a:r>
          </a:p>
        </p:txBody>
      </p:sp>
      <p:sp>
        <p:nvSpPr>
          <p:cNvPr id="27" name="">
            <a:extLst xmlns:a="http://schemas.openxmlformats.org/drawingml/2006/main">
              <a:ext uri="{FF2B5EF4-FFF2-40B4-BE49-F238E27FC236}">
                <a16:creationId xmlns:a16="http://schemas.microsoft.com/office/drawing/2014/main" id="{CC3835A7-613D-4054-BAAA-7005CBA59D87}"/>
              </a:ext>
            </a:extLst>
          </p:cNvPr>
          <p:cNvSpPr>
            <a:spLocks xmlns:a="http://schemas.openxmlformats.org/drawingml/2006/main" noGrp="1"/>
          </p:cNvSpPr>
          <p:nvPr/>
        </p:nvSpPr>
        <p:spPr>
          <a:xfrm xmlns:a="http://schemas.openxmlformats.org/drawingml/2006/main">
            <a:off x="3305175" y="503872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a:ea typeface="Arial"/>
                <a:cs typeface="Arial"/>
              </a:defRPr>
            </a:pPr>
            <a:r>
              <a:rPr sz="1350" b="1" i="0">
                <a:solidFill>
                  <a:srgbClr val="17191C"/>
                </a:solidFill>
                <a:latin typeface="Arial"/>
                <a:ea typeface="Arial"/>
                <a:cs typeface="Arial"/>
              </a:rPr>
              <a:t>Milestone exposure</a:t>
            </a:r>
          </a:p>
        </p:txBody>
      </p:sp>
      <p:sp>
        <p:nvSpPr>
          <p:cNvPr id="28" name="">
            <a:extLst xmlns:a="http://schemas.openxmlformats.org/drawingml/2006/main">
              <a:ext uri="{FF2B5EF4-FFF2-40B4-BE49-F238E27FC236}">
                <a16:creationId xmlns:a16="http://schemas.microsoft.com/office/drawing/2014/main" id="{06461B3C-2622-4929-8DE8-6495088A06BA}"/>
              </a:ext>
            </a:extLst>
          </p:cNvPr>
          <p:cNvSpPr>
            <a:spLocks xmlns:a="http://schemas.openxmlformats.org/drawingml/2006/main" noGrp="1"/>
          </p:cNvSpPr>
          <p:nvPr/>
        </p:nvSpPr>
        <p:spPr>
          <a:xfrm xmlns:a="http://schemas.openxmlformats.org/drawingml/2006/main">
            <a:off x="3305175" y="54387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a:ea typeface="Arial"/>
                <a:cs typeface="Arial"/>
              </a:defRPr>
            </a:pPr>
            <a:r>
              <a:rPr sz="1350" b="1" i="0">
                <a:solidFill>
                  <a:srgbClr val="17191C"/>
                </a:solidFill>
                <a:latin typeface="Arial"/>
                <a:ea typeface="Arial"/>
                <a:cs typeface="Arial"/>
              </a:rPr>
              <a:t>Release + reel opportunities</a:t>
            </a:r>
          </a:p>
        </p:txBody>
      </p:sp>
      <p:sp>
        <p:nvSpPr>
          <p:cNvPr id="29" name="">
            <a:extLst xmlns:a="http://schemas.openxmlformats.org/drawingml/2006/main">
              <a:ext uri="{FF2B5EF4-FFF2-40B4-BE49-F238E27FC236}">
                <a16:creationId xmlns:a16="http://schemas.microsoft.com/office/drawing/2014/main" id="{C13261F5-966B-44FA-9121-0D3FF6B2B334}"/>
              </a:ext>
            </a:extLst>
          </p:cNvPr>
          <p:cNvSpPr>
            <a:spLocks xmlns:a="http://schemas.openxmlformats.org/drawingml/2006/main" noGrp="1"/>
          </p:cNvSpPr>
          <p:nvPr/>
        </p:nvSpPr>
        <p:spPr>
          <a:xfrm xmlns:a="http://schemas.openxmlformats.org/drawingml/2006/main">
            <a:off x="6191250" y="5038725"/>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a:ea typeface="Arial"/>
                <a:cs typeface="Arial"/>
              </a:defRPr>
            </a:pPr>
            <a:r>
              <a:rPr sz="1350" b="1" i="0">
                <a:solidFill>
                  <a:srgbClr val="17191C"/>
                </a:solidFill>
                <a:latin typeface="Arial"/>
                <a:ea typeface="Arial"/>
                <a:cs typeface="Arial"/>
              </a:rPr>
              <a:t>Repeatable-interface candidates</a:t>
            </a:r>
          </a:p>
        </p:txBody>
      </p:sp>
      <p:sp>
        <p:nvSpPr>
          <p:cNvPr id="30" name="">
            <a:extLst xmlns:a="http://schemas.openxmlformats.org/drawingml/2006/main">
              <a:ext uri="{FF2B5EF4-FFF2-40B4-BE49-F238E27FC236}">
                <a16:creationId xmlns:a16="http://schemas.microsoft.com/office/drawing/2014/main" id="{A4CFA833-7555-4885-B8FA-6895A39AA892}"/>
              </a:ext>
            </a:extLst>
          </p:cNvPr>
          <p:cNvSpPr>
            <a:spLocks xmlns:a="http://schemas.openxmlformats.org/drawingml/2006/main" noGrp="1"/>
          </p:cNvSpPr>
          <p:nvPr/>
        </p:nvSpPr>
        <p:spPr>
          <a:xfrm xmlns:a="http://schemas.openxmlformats.org/drawingml/2006/main">
            <a:off x="6191250" y="54387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a:ea typeface="Arial"/>
                <a:cs typeface="Arial"/>
              </a:defRPr>
            </a:pPr>
            <a:r>
              <a:rPr sz="1350" b="1" i="0">
                <a:solidFill>
                  <a:srgbClr val="17191C"/>
                </a:solidFill>
                <a:latin typeface="Arial"/>
                <a:ea typeface="Arial"/>
                <a:cs typeface="Arial"/>
              </a:rPr>
              <a:t>Role gaps + recommendation</a:t>
            </a:r>
          </a:p>
        </p:txBody>
      </p:sp>
      <p:sp>
        <p:nvSpPr>
          <p:cNvPr id="31" name="">
            <a:extLst xmlns:a="http://schemas.openxmlformats.org/drawingml/2006/main">
              <a:ext uri="{FF2B5EF4-FFF2-40B4-BE49-F238E27FC236}">
                <a16:creationId xmlns:a16="http://schemas.microsoft.com/office/drawing/2014/main" id="{98D444A0-F72B-4A5B-A1B7-8DF5519C479B}"/>
              </a:ext>
            </a:extLst>
          </p:cNvPr>
          <p:cNvSpPr>
            <a:spLocks xmlns:a="http://schemas.openxmlformats.org/drawingml/2006/main" noGrp="1"/>
          </p:cNvSpPr>
          <p:nvPr/>
        </p:nvSpPr>
        <p:spPr>
          <a:xfrm xmlns:a="http://schemas.openxmlformats.org/drawingml/2006/main">
            <a:off x="9534525" y="4981575"/>
            <a:ext cx="16002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0000"/>
              </a:lnSpc>
              <a:buNone/>
              <a:defRPr sz="1500" b="1" i="0">
                <a:solidFill>
                  <a:srgbClr val="9D4E24"/>
                </a:solidFill>
                <a:latin typeface="Arial Narrow"/>
                <a:ea typeface="Arial Narrow"/>
                <a:cs typeface="Arial Narrow"/>
              </a:defRPr>
            </a:pPr>
            <a:r>
              <a:rPr sz="1500" b="1" i="0">
                <a:solidFill>
                  <a:srgbClr val="9D4E24"/>
                </a:solidFill>
                <a:latin typeface="Arial Narrow"/>
                <a:ea typeface="Arial Narrow"/>
                <a:cs typeface="Arial Narrow"/>
              </a:rPr>
              <a:t>STOP</a:t>
            </a:r>
          </a:p>
          <a:p xmlns:a="http://schemas.openxmlformats.org/drawingml/2006/main">
            <a:pPr algn="ctr">
              <a:lnSpc>
                <a:spcPct val="90000"/>
              </a:lnSpc>
              <a:buNone/>
              <a:defRPr sz="1500" b="1" i="0">
                <a:solidFill>
                  <a:srgbClr val="9D4E24"/>
                </a:solidFill>
                <a:latin typeface="Arial Narrow"/>
                <a:ea typeface="Arial Narrow"/>
                <a:cs typeface="Arial Narrow"/>
              </a:defRPr>
            </a:pPr>
            <a:r>
              <a:rPr sz="1500" b="1" i="0">
                <a:solidFill>
                  <a:srgbClr val="9D4E24"/>
                </a:solidFill>
                <a:latin typeface="Arial Narrow"/>
                <a:ea typeface="Arial Narrow"/>
                <a:cs typeface="Arial Narrow"/>
              </a:rPr>
              <a:t>STANDARDIZE</a:t>
            </a:r>
          </a:p>
          <a:p xmlns:a="http://schemas.openxmlformats.org/drawingml/2006/main">
            <a:pPr algn="ctr">
              <a:lnSpc>
                <a:spcPct val="90000"/>
              </a:lnSpc>
              <a:buNone/>
              <a:defRPr sz="1500" b="1" i="0">
                <a:solidFill>
                  <a:srgbClr val="9D4E24"/>
                </a:solidFill>
                <a:latin typeface="Arial Narrow"/>
                <a:ea typeface="Arial Narrow"/>
                <a:cs typeface="Arial Narrow"/>
              </a:defRPr>
            </a:pPr>
            <a:r>
              <a:rPr sz="1500" b="1" i="0">
                <a:solidFill>
                  <a:srgbClr val="9D4E24"/>
                </a:solidFill>
                <a:latin typeface="Arial Narrow"/>
                <a:ea typeface="Arial Narrow"/>
                <a:cs typeface="Arial Narrow"/>
              </a:rPr>
              <a:t>PILOT</a:t>
            </a:r>
          </a:p>
        </p:txBody>
      </p:sp>
      <p:sp>
        <p:nvSpPr>
          <p:cNvPr id="32" name="">
            <a:extLst xmlns:a="http://schemas.openxmlformats.org/drawingml/2006/main">
              <a:ext uri="{FF2B5EF4-FFF2-40B4-BE49-F238E27FC236}">
                <a16:creationId xmlns:a16="http://schemas.microsoft.com/office/drawing/2014/main" id="{7BD9FD6F-F406-496E-99AE-88486C2FC3F6}"/>
              </a:ext>
            </a:extLst>
          </p:cNvPr>
          <p:cNvSpPr>
            <a:spLocks xmlns:a="http://schemas.openxmlformats.org/drawingml/2006/main" noGrp="1"/>
          </p:cNvSpPr>
          <p:nvPr/>
        </p:nvSpPr>
        <p:spPr>
          <a:xfrm xmlns:a="http://schemas.openxmlformats.org/drawingml/2006/main">
            <a:off x="552450" y="6391275"/>
            <a:ext cx="11087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0" i="1">
                <a:solidFill>
                  <a:srgbClr val="8B9094"/>
                </a:solidFill>
                <a:latin typeface="Arial"/>
                <a:ea typeface="Arial"/>
                <a:cs typeface="Arial"/>
              </a:defRPr>
            </a:pPr>
            <a:r>
              <a:rPr sz="1050" b="0" i="1">
                <a:solidFill>
                  <a:srgbClr val="8B9094"/>
                </a:solidFill>
                <a:latin typeface="Arial"/>
                <a:ea typeface="Arial"/>
                <a:cs typeface="Arial"/>
              </a:rPr>
              <a:t>No presumption that the answer is prefab—or that Southwire belongs in the solution.</a:t>
            </a:r>
          </a:p>
        </p:txBody>
      </p:sp>
      <p:sp>
        <p:nvSpPr>
          <p:cNvPr id="300" name=""/>
          <p:cNvSpPr>
            <a:spLocks xmlns:a="http://schemas.openxmlformats.org/drawingml/2006/main" noGrp="1"/>
          </p:cNvSpPr>
          <p:nvPr/>
        </p:nvSpPr>
        <p:spPr>
          <a:xfrm xmlns:a="http://schemas.openxmlformats.org/drawingml/2006/main">
            <a:off x="552450" y="2381250"/>
            <a:ext cx="11087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pPr>
            <a:r xmlns:a="http://schemas.openxmlformats.org/drawingml/2006/main">
              <a:rPr sz="1050" b="1" i="0">
                <a:solidFill>
                  <a:srgbClr val="9D4E24"/>
                </a:solidFill>
                <a:latin typeface="Arial Narrow"/>
                <a:ea typeface="Arial Narrow"/>
                <a:cs typeface="Arial Narrow"/>
              </a:rPr>
              <a:t>EXAMPLE SCOPE FOR DISCUSSION:  </a:t>
            </a:r>
            <a:r xmlns:a="http://schemas.openxmlformats.org/drawingml/2006/main">
              <a:rPr sz="1050" b="1" i="0">
                <a:solidFill>
                  <a:srgbClr val="17191C"/>
                </a:solidFill>
                <a:latin typeface="Arial Narrow"/>
                <a:ea typeface="Arial Narrow"/>
                <a:cs typeface="Arial Narrow"/>
              </a:rPr>
              <a:t>CEDAR BAYOU 5 — ACTIVE TEF UNIT, MID-2028 COD</a:t>
            </a:r>
            <a:r xmlns:a="http://schemas.openxmlformats.org/drawingml/2006/main">
              <a:rPr sz="1050" b="1" i="0">
                <a:solidFill>
                  <a:srgbClr val="6A6F73"/>
                </a:solidFill>
                <a:latin typeface="Arial Narrow"/>
                <a:ea typeface="Arial Narrow"/>
                <a:cs typeface="Arial Narrow"/>
              </a:rPr>
              <a:t>   ·   NRG SELECTS THE SCOPE   ·   DETAIL IN APPENDIX A9</a:t>
            </a:r>
          </a:p>
        </p:txBody>
      </p:sp>
    </p:spTree>
    <p:extLst>
      <p:ext uri="{BB962C8B-B14F-4D97-AF65-F5344CB8AC3E}">
        <p14:creationId xmlns:p14="http://schemas.microsoft.com/office/powerpoint/2010/main" val="1927166737"/>
      </p:ext>
    </p:extLst>
  </p:cSld>
</p:sld>
</file>

<file path=ppt/slides/slide9.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d7090369bf04fb9"/>
          <a:srcRect xmlns:a="http://schemas.openxmlformats.org/drawingml/2006/main" l="0" t="11345" r="0" b="11345"/>
          <a:stretch xmlns:a="http://schemas.openxmlformats.org/drawingml/2006/main">
            <a:fillRect l="0" t="0" r="0" b="0"/>
          </a:stretch>
        </p:blipFill>
        <p:spPr>
          <a:xfrm xmlns:a="http://schemas.openxmlformats.org/drawingml/2006/main">
            <a:off x="0" y="0"/>
            <a:ext cx="24003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9D86577-7FD6-4E7A-9F78-F874D9D61AE8}"/>
              </a:ext>
            </a:extLst>
          </p:cNvPr>
          <p:cNvSpPr>
            <a:spLocks xmlns:a="http://schemas.openxmlformats.org/drawingml/2006/main" noGrp="1"/>
          </p:cNvSpPr>
          <p:nvPr/>
        </p:nvSpPr>
        <p:spPr>
          <a:xfrm xmlns:a="http://schemas.openxmlformats.org/drawingml/2006/main" rot="0">
            <a:off x="2381250" y="0"/>
            <a:ext cx="38100" cy="685800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437F0EE-5C22-46A5-8FF3-6F8A5001D1EB}"/>
              </a:ext>
            </a:extLst>
          </p:cNvPr>
          <p:cNvSpPr>
            <a:spLocks xmlns:a="http://schemas.openxmlformats.org/drawingml/2006/main" noGrp="1"/>
          </p:cNvSpPr>
          <p:nvPr/>
        </p:nvSpPr>
        <p:spPr>
          <a:xfrm xmlns:a="http://schemas.openxmlformats.org/drawingml/2006/main">
            <a:off x="3105150" y="6381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E3A06D"/>
                </a:solidFill>
                <a:latin typeface="Arial Narrow"/>
                <a:ea typeface="Arial Narrow"/>
                <a:cs typeface="Arial Narrow"/>
              </a:defRPr>
            </a:pPr>
            <a:r>
              <a:rPr sz="1125" b="1" i="0">
                <a:solidFill>
                  <a:srgbClr val="E3A06D"/>
                </a:solidFill>
                <a:latin typeface="Arial Narrow"/>
                <a:ea typeface="Arial Narrow"/>
                <a:cs typeface="Arial Narrow"/>
              </a:rPr>
              <a:t>THE ASK</a:t>
            </a:r>
          </a:p>
        </p:txBody>
      </p:sp>
      <p:sp>
        <p:nvSpPr>
          <p:cNvPr id="4" name="">
            <a:extLst xmlns:a="http://schemas.openxmlformats.org/drawingml/2006/main">
              <a:ext uri="{FF2B5EF4-FFF2-40B4-BE49-F238E27FC236}">
                <a16:creationId xmlns:a16="http://schemas.microsoft.com/office/drawing/2014/main" id="{5C826A6B-604E-4302-BED6-FAC031836404}"/>
              </a:ext>
            </a:extLst>
          </p:cNvPr>
          <p:cNvSpPr>
            <a:spLocks xmlns:a="http://schemas.openxmlformats.org/drawingml/2006/main" noGrp="1"/>
          </p:cNvSpPr>
          <p:nvPr/>
        </p:nvSpPr>
        <p:spPr>
          <a:xfrm xmlns:a="http://schemas.openxmlformats.org/drawingml/2006/main">
            <a:off x="3105150" y="1066800"/>
            <a:ext cx="7810500" cy="1781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4000"/>
              </a:lnSpc>
              <a:buNone/>
              <a:defRPr sz="3825" b="1" i="0">
                <a:solidFill>
                  <a:srgbClr val="FFFFFF"/>
                </a:solidFill>
                <a:latin typeface="Arial Narrow"/>
                <a:ea typeface="Arial Narrow"/>
                <a:cs typeface="Arial Narrow"/>
              </a:defRPr>
            </a:pPr>
            <a:r>
              <a:rPr sz="3825" b="1" i="0">
                <a:solidFill>
                  <a:srgbClr val="FFFFFF"/>
                </a:solidFill>
                <a:latin typeface="Arial Narrow"/>
                <a:ea typeface="Arial Narrow"/>
                <a:cs typeface="Arial Narrow"/>
              </a:rPr>
              <a:t>ONE SITE WALK.</a:t>
            </a:r>
          </a:p>
          <a:p xmlns:a="http://schemas.openxmlformats.org/drawingml/2006/main">
            <a:pPr algn="l">
              <a:lnSpc>
                <a:spcPct val="84000"/>
              </a:lnSpc>
              <a:buNone/>
              <a:defRPr sz="3825" b="1" i="0">
                <a:solidFill>
                  <a:srgbClr val="FFFFFF"/>
                </a:solidFill>
                <a:latin typeface="Arial Narrow"/>
                <a:ea typeface="Arial Narrow"/>
                <a:cs typeface="Arial Narrow"/>
              </a:defRPr>
            </a:pPr>
            <a:r>
              <a:rPr sz="3825" b="1" i="0">
                <a:solidFill>
                  <a:srgbClr val="FFFFFF"/>
                </a:solidFill>
                <a:latin typeface="Arial Narrow"/>
                <a:ea typeface="Arial Narrow"/>
                <a:cs typeface="Arial Narrow"/>
              </a:rPr>
              <a:t>ONE HOUR.</a:t>
            </a:r>
          </a:p>
          <a:p xmlns:a="http://schemas.openxmlformats.org/drawingml/2006/main">
            <a:pPr algn="l">
              <a:lnSpc>
                <a:spcPct val="84000"/>
              </a:lnSpc>
              <a:buNone/>
              <a:defRPr sz="3825" b="1" i="0">
                <a:solidFill>
                  <a:srgbClr val="FFFFFF"/>
                </a:solidFill>
                <a:latin typeface="Arial Narrow"/>
                <a:ea typeface="Arial Narrow"/>
                <a:cs typeface="Arial Narrow"/>
              </a:defRPr>
            </a:pPr>
            <a:r>
              <a:rPr sz="3825" b="1" i="0">
                <a:solidFill>
                  <a:srgbClr val="FFFFFF"/>
                </a:solidFill>
                <a:latin typeface="Arial Narrow"/>
                <a:ea typeface="Arial Narrow"/>
                <a:cs typeface="Arial Narrow"/>
              </a:rPr>
              <a:t>NO SALES PRESENTATION.</a:t>
            </a:r>
          </a:p>
        </p:txBody>
      </p:sp>
      <p:sp>
        <p:nvSpPr>
          <p:cNvPr id="5" name="">
            <a:extLst xmlns:a="http://schemas.openxmlformats.org/drawingml/2006/main">
              <a:ext uri="{FF2B5EF4-FFF2-40B4-BE49-F238E27FC236}">
                <a16:creationId xmlns:a16="http://schemas.microsoft.com/office/drawing/2014/main" id="{9512C868-8A71-436C-9D9F-382247C54467}"/>
              </a:ext>
            </a:extLst>
          </p:cNvPr>
          <p:cNvSpPr>
            <a:spLocks xmlns:a="http://schemas.openxmlformats.org/drawingml/2006/main" noGrp="1"/>
          </p:cNvSpPr>
          <p:nvPr/>
        </p:nvSpPr>
        <p:spPr>
          <a:xfrm xmlns:a="http://schemas.openxmlformats.org/drawingml/2006/main">
            <a:off x="3105150" y="3086100"/>
            <a:ext cx="1362075"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6" name="">
            <a:extLst xmlns:a="http://schemas.openxmlformats.org/drawingml/2006/main">
              <a:ext uri="{FF2B5EF4-FFF2-40B4-BE49-F238E27FC236}">
                <a16:creationId xmlns:a16="http://schemas.microsoft.com/office/drawing/2014/main" id="{2A42F160-C0E0-4544-AED1-110B326F93C4}"/>
              </a:ext>
            </a:extLst>
          </p:cNvPr>
          <p:cNvSpPr>
            <a:spLocks xmlns:a="http://schemas.openxmlformats.org/drawingml/2006/main" noGrp="1"/>
          </p:cNvSpPr>
          <p:nvPr/>
        </p:nvSpPr>
        <p:spPr>
          <a:xfrm xmlns:a="http://schemas.openxmlformats.org/drawingml/2006/main">
            <a:off x="3105150" y="3343275"/>
            <a:ext cx="7667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D4D6D8"/>
                </a:solidFill>
                <a:latin typeface="Arial"/>
                <a:ea typeface="Arial"/>
                <a:cs typeface="Arial"/>
              </a:defRPr>
            </a:pPr>
            <a:r>
              <a:rPr sz="1650" b="0" i="0">
                <a:solidFill>
                  <a:srgbClr val="D4D6D8"/>
                </a:solidFill>
                <a:latin typeface="Arial"/>
                <a:ea typeface="Arial"/>
                <a:cs typeface="Arial"/>
              </a:rPr>
              <a:t>Choose one live electrical scope and bring the people closest to execution.</a:t>
            </a:r>
          </a:p>
        </p:txBody>
      </p:sp>
      <p:sp>
        <p:nvSpPr>
          <p:cNvPr id="7" name="">
            <a:extLst xmlns:a="http://schemas.openxmlformats.org/drawingml/2006/main">
              <a:ext uri="{FF2B5EF4-FFF2-40B4-BE49-F238E27FC236}">
                <a16:creationId xmlns:a16="http://schemas.microsoft.com/office/drawing/2014/main" id="{072779A2-3811-4864-A788-4CE9F98FC953}"/>
              </a:ext>
            </a:extLst>
          </p:cNvPr>
          <p:cNvSpPr>
            <a:spLocks xmlns:a="http://schemas.openxmlformats.org/drawingml/2006/main" noGrp="1"/>
          </p:cNvSpPr>
          <p:nvPr/>
        </p:nvSpPr>
        <p:spPr>
          <a:xfrm xmlns:a="http://schemas.openxmlformats.org/drawingml/2006/main">
            <a:off x="3105150" y="410527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E3A06D"/>
                </a:solidFill>
                <a:latin typeface="Arial Narrow"/>
                <a:ea typeface="Arial Narrow"/>
                <a:cs typeface="Arial Narrow"/>
              </a:defRPr>
            </a:pPr>
            <a:r>
              <a:rPr sz="1125" b="1" i="0">
                <a:solidFill>
                  <a:srgbClr val="E3A06D"/>
                </a:solidFill>
                <a:latin typeface="Arial Narrow"/>
                <a:ea typeface="Arial Narrow"/>
                <a:cs typeface="Arial Narrow"/>
              </a:rPr>
              <a:t>INPUT</a:t>
            </a:r>
          </a:p>
        </p:txBody>
      </p:sp>
      <p:sp>
        <p:nvSpPr>
          <p:cNvPr id="8" name="">
            <a:extLst xmlns:a="http://schemas.openxmlformats.org/drawingml/2006/main">
              <a:ext uri="{FF2B5EF4-FFF2-40B4-BE49-F238E27FC236}">
                <a16:creationId xmlns:a16="http://schemas.microsoft.com/office/drawing/2014/main" id="{E5A8B2CE-326E-4BE2-9F47-54E879EFA6D9}"/>
              </a:ext>
            </a:extLst>
          </p:cNvPr>
          <p:cNvSpPr>
            <a:spLocks xmlns:a="http://schemas.openxmlformats.org/drawingml/2006/main" noGrp="1"/>
          </p:cNvSpPr>
          <p:nvPr/>
        </p:nvSpPr>
        <p:spPr>
          <a:xfrm xmlns:a="http://schemas.openxmlformats.org/drawingml/2006/main">
            <a:off x="4695825" y="4067175"/>
            <a:ext cx="617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One live scope</a:t>
            </a:r>
          </a:p>
        </p:txBody>
      </p:sp>
      <p:sp>
        <p:nvSpPr>
          <p:cNvPr id="9" name="">
            <a:extLst xmlns:a="http://schemas.openxmlformats.org/drawingml/2006/main">
              <a:ext uri="{FF2B5EF4-FFF2-40B4-BE49-F238E27FC236}">
                <a16:creationId xmlns:a16="http://schemas.microsoft.com/office/drawing/2014/main" id="{5C5374F9-5B03-4021-96B6-6CCD936A6882}"/>
              </a:ext>
            </a:extLst>
          </p:cNvPr>
          <p:cNvSpPr>
            <a:spLocks xmlns:a="http://schemas.openxmlformats.org/drawingml/2006/main" noGrp="1"/>
          </p:cNvSpPr>
          <p:nvPr/>
        </p:nvSpPr>
        <p:spPr>
          <a:xfrm xmlns:a="http://schemas.openxmlformats.org/drawingml/2006/main">
            <a:off x="3105150" y="4476750"/>
            <a:ext cx="7762875" cy="0"/>
          </a:xfrm>
          <a:prstGeom xmlns:a="http://schemas.openxmlformats.org/drawingml/2006/main" prst="line">
            <a:avLst/>
          </a:prstGeom>
          <a:noFill xmlns:a="http://schemas.openxmlformats.org/drawingml/2006/main"/>
          <a:ln xmlns:a="http://schemas.openxmlformats.org/drawingml/2006/main" w="9525">
            <a:solidFill>
              <a:srgbClr val="44484D"/>
            </a:solidFill>
            <a:prstDash val="solid"/>
          </a:ln>
        </p:spPr>
      </p:sp>
      <p:sp>
        <p:nvSpPr>
          <p:cNvPr id="10" name="">
            <a:extLst xmlns:a="http://schemas.openxmlformats.org/drawingml/2006/main">
              <a:ext uri="{FF2B5EF4-FFF2-40B4-BE49-F238E27FC236}">
                <a16:creationId xmlns:a16="http://schemas.microsoft.com/office/drawing/2014/main" id="{1A3F6D94-AF4F-4255-AB7C-1618C029A8D4}"/>
              </a:ext>
            </a:extLst>
          </p:cNvPr>
          <p:cNvSpPr>
            <a:spLocks xmlns:a="http://schemas.openxmlformats.org/drawingml/2006/main" noGrp="1"/>
          </p:cNvSpPr>
          <p:nvPr/>
        </p:nvSpPr>
        <p:spPr>
          <a:xfrm xmlns:a="http://schemas.openxmlformats.org/drawingml/2006/main">
            <a:off x="3105150" y="47244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E3A06D"/>
                </a:solidFill>
                <a:latin typeface="Arial Narrow"/>
                <a:ea typeface="Arial Narrow"/>
                <a:cs typeface="Arial Narrow"/>
              </a:defRPr>
            </a:pPr>
            <a:r>
              <a:rPr sz="1125" b="1" i="0">
                <a:solidFill>
                  <a:srgbClr val="E3A06D"/>
                </a:solidFill>
                <a:latin typeface="Arial Narrow"/>
                <a:ea typeface="Arial Narrow"/>
                <a:cs typeface="Arial Narrow"/>
              </a:rPr>
              <a:t>OUTPUT</a:t>
            </a:r>
          </a:p>
        </p:txBody>
      </p:sp>
      <p:sp>
        <p:nvSpPr>
          <p:cNvPr id="11" name="">
            <a:extLst xmlns:a="http://schemas.openxmlformats.org/drawingml/2006/main">
              <a:ext uri="{FF2B5EF4-FFF2-40B4-BE49-F238E27FC236}">
                <a16:creationId xmlns:a16="http://schemas.microsoft.com/office/drawing/2014/main" id="{7E990F82-14BA-4C45-81C4-D787E23FD2D7}"/>
              </a:ext>
            </a:extLst>
          </p:cNvPr>
          <p:cNvSpPr>
            <a:spLocks xmlns:a="http://schemas.openxmlformats.org/drawingml/2006/main" noGrp="1"/>
          </p:cNvSpPr>
          <p:nvPr/>
        </p:nvSpPr>
        <p:spPr>
          <a:xfrm xmlns:a="http://schemas.openxmlformats.org/drawingml/2006/main">
            <a:off x="4695825" y="4686300"/>
            <a:ext cx="617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Written execution-risk read-back</a:t>
            </a:r>
          </a:p>
        </p:txBody>
      </p:sp>
      <p:sp>
        <p:nvSpPr>
          <p:cNvPr id="12" name="">
            <a:extLst xmlns:a="http://schemas.openxmlformats.org/drawingml/2006/main">
              <a:ext uri="{FF2B5EF4-FFF2-40B4-BE49-F238E27FC236}">
                <a16:creationId xmlns:a16="http://schemas.microsoft.com/office/drawing/2014/main" id="{02D44146-E575-42D6-AFC2-8795605550D2}"/>
              </a:ext>
            </a:extLst>
          </p:cNvPr>
          <p:cNvSpPr>
            <a:spLocks xmlns:a="http://schemas.openxmlformats.org/drawingml/2006/main" noGrp="1"/>
          </p:cNvSpPr>
          <p:nvPr/>
        </p:nvSpPr>
        <p:spPr>
          <a:xfrm xmlns:a="http://schemas.openxmlformats.org/drawingml/2006/main">
            <a:off x="3105150" y="5095875"/>
            <a:ext cx="7762875" cy="0"/>
          </a:xfrm>
          <a:prstGeom xmlns:a="http://schemas.openxmlformats.org/drawingml/2006/main" prst="line">
            <a:avLst/>
          </a:prstGeom>
          <a:noFill xmlns:a="http://schemas.openxmlformats.org/drawingml/2006/main"/>
          <a:ln xmlns:a="http://schemas.openxmlformats.org/drawingml/2006/main" w="9525">
            <a:solidFill>
              <a:srgbClr val="44484D"/>
            </a:solidFill>
            <a:prstDash val="solid"/>
          </a:ln>
        </p:spPr>
      </p:sp>
      <p:sp>
        <p:nvSpPr>
          <p:cNvPr id="13" name="">
            <a:extLst xmlns:a="http://schemas.openxmlformats.org/drawingml/2006/main">
              <a:ext uri="{FF2B5EF4-FFF2-40B4-BE49-F238E27FC236}">
                <a16:creationId xmlns:a16="http://schemas.microsoft.com/office/drawing/2014/main" id="{21ADC995-35FC-47B8-98FE-36C2EA790238}"/>
              </a:ext>
            </a:extLst>
          </p:cNvPr>
          <p:cNvSpPr>
            <a:spLocks xmlns:a="http://schemas.openxmlformats.org/drawingml/2006/main" noGrp="1"/>
          </p:cNvSpPr>
          <p:nvPr/>
        </p:nvSpPr>
        <p:spPr>
          <a:xfrm xmlns:a="http://schemas.openxmlformats.org/drawingml/2006/main">
            <a:off x="3105150" y="534352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E3A06D"/>
                </a:solidFill>
                <a:latin typeface="Arial Narrow"/>
                <a:ea typeface="Arial Narrow"/>
                <a:cs typeface="Arial Narrow"/>
              </a:defRPr>
            </a:pPr>
            <a:r>
              <a:rPr sz="1125" b="1" i="0">
                <a:solidFill>
                  <a:srgbClr val="E3A06D"/>
                </a:solidFill>
                <a:latin typeface="Arial Narrow"/>
                <a:ea typeface="Arial Narrow"/>
                <a:cs typeface="Arial Narrow"/>
              </a:rPr>
              <a:t>DECISION</a:t>
            </a:r>
          </a:p>
        </p:txBody>
      </p:sp>
      <p:sp>
        <p:nvSpPr>
          <p:cNvPr id="14" name="">
            <a:extLst xmlns:a="http://schemas.openxmlformats.org/drawingml/2006/main">
              <a:ext uri="{FF2B5EF4-FFF2-40B4-BE49-F238E27FC236}">
                <a16:creationId xmlns:a16="http://schemas.microsoft.com/office/drawing/2014/main" id="{15E9760F-7F0F-4A25-AF32-24A9073EE0DB}"/>
              </a:ext>
            </a:extLst>
          </p:cNvPr>
          <p:cNvSpPr>
            <a:spLocks xmlns:a="http://schemas.openxmlformats.org/drawingml/2006/main" noGrp="1"/>
          </p:cNvSpPr>
          <p:nvPr/>
        </p:nvSpPr>
        <p:spPr>
          <a:xfrm xmlns:a="http://schemas.openxmlformats.org/drawingml/2006/main">
            <a:off x="4695825" y="5305425"/>
            <a:ext cx="617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FFF"/>
                </a:solidFill>
                <a:latin typeface="Arial"/>
                <a:ea typeface="Arial"/>
                <a:cs typeface="Arial"/>
              </a:defRPr>
            </a:pPr>
            <a:r>
              <a:rPr sz="1500" b="1" i="0">
                <a:solidFill>
                  <a:srgbClr val="FFFFFF"/>
                </a:solidFill>
                <a:latin typeface="Arial"/>
                <a:ea typeface="Arial"/>
                <a:cs typeface="Arial"/>
              </a:rPr>
              <a:t>Stop, standardize or define a bounded pilot</a:t>
            </a:r>
          </a:p>
        </p:txBody>
      </p:sp>
      <p:sp>
        <p:nvSpPr>
          <p:cNvPr id="15" name="">
            <a:extLst xmlns:a="http://schemas.openxmlformats.org/drawingml/2006/main">
              <a:ext uri="{FF2B5EF4-FFF2-40B4-BE49-F238E27FC236}">
                <a16:creationId xmlns:a16="http://schemas.microsoft.com/office/drawing/2014/main" id="{76C17B67-3E80-460C-A9F3-61D1AF3A45DA}"/>
              </a:ext>
            </a:extLst>
          </p:cNvPr>
          <p:cNvSpPr>
            <a:spLocks xmlns:a="http://schemas.openxmlformats.org/drawingml/2006/main" noGrp="1"/>
          </p:cNvSpPr>
          <p:nvPr/>
        </p:nvSpPr>
        <p:spPr>
          <a:xfrm xmlns:a="http://schemas.openxmlformats.org/drawingml/2006/main">
            <a:off x="3105150" y="6019800"/>
            <a:ext cx="781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E3A06D"/>
                </a:solidFill>
                <a:latin typeface="Arial Narrow"/>
                <a:ea typeface="Arial Narrow"/>
                <a:cs typeface="Arial Narrow"/>
              </a:defRPr>
            </a:pPr>
            <a:r>
              <a:rPr sz="1275" b="1" i="0">
                <a:solidFill>
                  <a:srgbClr val="E3A06D"/>
                </a:solidFill>
                <a:latin typeface="Arial Narrow"/>
                <a:ea typeface="Arial Narrow"/>
                <a:cs typeface="Arial Narrow"/>
              </a:rPr>
              <a:t>NO PRICING EXERCISE. NO BROAD COMMERCIAL COMMITMENT.</a:t>
            </a:r>
          </a:p>
        </p:txBody>
      </p:sp>
      <p:sp>
        <p:nvSpPr>
          <p:cNvPr id="16" name="">
            <a:extLst xmlns:a="http://schemas.openxmlformats.org/drawingml/2006/main">
              <a:ext uri="{FF2B5EF4-FFF2-40B4-BE49-F238E27FC236}">
                <a16:creationId xmlns:a16="http://schemas.microsoft.com/office/drawing/2014/main" id="{EA48E470-C0A2-46EA-B882-4B0BC7C704A2}"/>
              </a:ext>
            </a:extLst>
          </p:cNvPr>
          <p:cNvSpPr>
            <a:spLocks xmlns:a="http://schemas.openxmlformats.org/drawingml/2006/main" noGrp="1"/>
          </p:cNvSpPr>
          <p:nvPr/>
        </p:nvSpPr>
        <p:spPr>
          <a:xfrm xmlns:a="http://schemas.openxmlformats.org/drawingml/2006/main">
            <a:off x="3105150" y="6438900"/>
            <a:ext cx="509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8B9094"/>
                </a:solidFill>
                <a:latin typeface="Arial"/>
                <a:ea typeface="Arial"/>
                <a:cs typeface="Arial"/>
              </a:defRPr>
            </a:pPr>
            <a:r>
              <a:rPr sz="975" b="0" i="0">
                <a:solidFill>
                  <a:srgbClr val="8B9094"/>
                </a:solidFill>
                <a:latin typeface="Arial"/>
                <a:ea typeface="Arial"/>
                <a:cs typeface="Arial"/>
              </a:rPr>
              <a:t>Stephan Hardt  |  Director, Power Generation Solutions  |  Southwire</a:t>
            </a:r>
          </a:p>
        </p:txBody>
      </p:sp>
      <p:sp>
        <p:nvSpPr>
          <p:cNvPr id="17" name="">
            <a:extLst xmlns:a="http://schemas.openxmlformats.org/drawingml/2006/main">
              <a:ext uri="{FF2B5EF4-FFF2-40B4-BE49-F238E27FC236}">
                <a16:creationId xmlns:a16="http://schemas.microsoft.com/office/drawing/2014/main" id="{871632DE-BA61-449A-8837-ADD3F55949F1}"/>
              </a:ext>
            </a:extLst>
          </p:cNvPr>
          <p:cNvSpPr>
            <a:spLocks xmlns:a="http://schemas.openxmlformats.org/drawingml/2006/main" noGrp="1"/>
          </p:cNvSpPr>
          <p:nvPr/>
        </p:nvSpPr>
        <p:spPr>
          <a:xfrm xmlns:a="http://schemas.openxmlformats.org/drawingml/2006/main">
            <a:off x="7820025" y="6429375"/>
            <a:ext cx="3143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E3A06D"/>
                </a:solidFill>
                <a:latin typeface="Arial"/>
                <a:ea typeface="Arial"/>
                <a:cs typeface="Arial"/>
              </a:defRPr>
            </a:pPr>
            <a:r>
              <a:rPr sz="975" b="1" i="0">
                <a:solidFill>
                  <a:srgbClr val="E3A06D"/>
                </a:solidFill>
                <a:latin typeface="Arial"/>
                <a:ea typeface="Arial"/>
                <a:cs typeface="Arial"/>
              </a:rPr>
              <a:t>stephan.hardt@southwire.com  |  +1 470-439-8488</a:t>
            </a:r>
          </a:p>
        </p:txBody>
      </p:sp>
    </p:spTree>
    <p:extLst>
      <p:ext uri="{BB962C8B-B14F-4D97-AF65-F5344CB8AC3E}">
        <p14:creationId xmlns:p14="http://schemas.microsoft.com/office/powerpoint/2010/main" val="775695220"/>
      </p:ext>
    </p:extLst>
  </p:cSld>
</p:sld>
</file>

<file path=ppt/slides/slide10.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7A587E2-FC4F-49CD-8D8C-2765E1B41952}"/>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8e2a3d3733b4264"/>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1195BE-0FB3-4DE7-ABCC-05436F185E6D}"/>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9D4E24"/>
                </a:solidFill>
                <a:latin typeface="Arial Narrow"/>
                <a:ea typeface="Arial Narrow"/>
                <a:cs typeface="Arial Narrow"/>
              </a:defRPr>
            </a:pPr>
            <a:r>
              <a:rPr sz="975" b="1" i="0">
                <a:solidFill>
                  <a:srgbClr val="9D4E24"/>
                </a:solidFill>
                <a:latin typeface="Arial Narrow"/>
                <a:ea typeface="Arial Narrow"/>
                <a:cs typeface="Arial Narrow"/>
              </a:rPr>
              <a:t>APPENDIX A1 · NRG CONTEXT</a:t>
            </a:r>
          </a:p>
        </p:txBody>
      </p:sp>
      <p:sp>
        <p:nvSpPr>
          <p:cNvPr id="4" name="">
            <a:extLst xmlns:a="http://schemas.openxmlformats.org/drawingml/2006/main">
              <a:ext uri="{FF2B5EF4-FFF2-40B4-BE49-F238E27FC236}">
                <a16:creationId xmlns:a16="http://schemas.microsoft.com/office/drawing/2014/main" id="{3F856087-0A66-405A-A4F3-CDF61851DEA4}"/>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10</a:t>
            </a:r>
          </a:p>
        </p:txBody>
      </p:sp>
      <p:sp>
        <p:nvSpPr>
          <p:cNvPr id="5" name="">
            <a:extLst xmlns:a="http://schemas.openxmlformats.org/drawingml/2006/main">
              <a:ext uri="{FF2B5EF4-FFF2-40B4-BE49-F238E27FC236}">
                <a16:creationId xmlns:a16="http://schemas.microsoft.com/office/drawing/2014/main" id="{59B093D7-ADC1-4FE9-A40B-33BEC9378D15}"/>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D4E24"/>
                </a:solidFill>
                <a:latin typeface="Arial Narrow"/>
                <a:ea typeface="Arial Narrow"/>
                <a:cs typeface="Arial Narrow"/>
              </a:defRPr>
            </a:pPr>
            <a:r>
              <a:rPr sz="1050" b="1" i="0">
                <a:solidFill>
                  <a:srgbClr val="9D4E24"/>
                </a:solidFill>
                <a:latin typeface="Arial Narrow"/>
                <a:ea typeface="Arial Narrow"/>
                <a:cs typeface="Arial Narrow"/>
              </a:rPr>
              <a:t>SOURCE DISCIPLINE</a:t>
            </a:r>
          </a:p>
        </p:txBody>
      </p:sp>
      <p:sp>
        <p:nvSpPr>
          <p:cNvPr id="6" name="">
            <a:extLst xmlns:a="http://schemas.openxmlformats.org/drawingml/2006/main">
              <a:ext uri="{FF2B5EF4-FFF2-40B4-BE49-F238E27FC236}">
                <a16:creationId xmlns:a16="http://schemas.microsoft.com/office/drawing/2014/main" id="{5D1207A7-6AEC-4825-9F58-39F1286C3DAD}"/>
              </a:ext>
            </a:extLst>
          </p:cNvPr>
          <p:cNvSpPr>
            <a:spLocks xmlns:a="http://schemas.openxmlformats.org/drawingml/2006/main" noGrp="1"/>
          </p:cNvSpPr>
          <p:nvPr/>
        </p:nvSpPr>
        <p:spPr>
          <a:xfrm xmlns:a="http://schemas.openxmlformats.org/drawingml/2006/main">
            <a:off x="552450" y="11811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925" b="1" i="0">
                <a:solidFill>
                  <a:srgbClr val="17191C"/>
                </a:solidFill>
                <a:latin typeface="Arial"/>
                <a:ea typeface="Arial"/>
                <a:cs typeface="Arial"/>
              </a:defRPr>
            </a:pPr>
            <a:r>
              <a:rPr sz="2925" b="1" i="0">
                <a:solidFill>
                  <a:srgbClr val="17191C"/>
                </a:solidFill>
                <a:latin typeface="Arial"/>
                <a:ea typeface="Arial"/>
                <a:cs typeface="Arial"/>
              </a:rPr>
              <a:t>NRG context is current, attributed and non-additive.</a:t>
            </a:r>
          </a:p>
        </p:txBody>
      </p:sp>
      <p:sp>
        <p:nvSpPr>
          <p:cNvPr id="7" name="">
            <a:extLst xmlns:a="http://schemas.openxmlformats.org/drawingml/2006/main">
              <a:ext uri="{FF2B5EF4-FFF2-40B4-BE49-F238E27FC236}">
                <a16:creationId xmlns:a16="http://schemas.microsoft.com/office/drawing/2014/main" id="{A6F16E89-BB6B-40C9-9ECA-2D2F188090FF}"/>
              </a:ext>
            </a:extLst>
          </p:cNvPr>
          <p:cNvSpPr>
            <a:spLocks xmlns:a="http://schemas.openxmlformats.org/drawingml/2006/main" noGrp="1"/>
          </p:cNvSpPr>
          <p:nvPr/>
        </p:nvSpPr>
        <p:spPr>
          <a:xfrm xmlns:a="http://schemas.openxmlformats.org/drawingml/2006/main">
            <a:off x="552450" y="21717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9D4E24"/>
                </a:solidFill>
                <a:latin typeface="Arial Narrow"/>
                <a:ea typeface="Arial Narrow"/>
                <a:cs typeface="Arial Narrow"/>
              </a:defRPr>
            </a:pPr>
            <a:r>
              <a:rPr sz="1350" b="1" i="0">
                <a:solidFill>
                  <a:srgbClr val="9D4E24"/>
                </a:solidFill>
                <a:latin typeface="Arial Narrow"/>
                <a:ea typeface="Arial Narrow"/>
                <a:cs typeface="Arial Narrow"/>
              </a:rPr>
              <a:t>1.5 GW TEF PORTFOLIO</a:t>
            </a:r>
          </a:p>
        </p:txBody>
      </p:sp>
      <p:sp>
        <p:nvSpPr>
          <p:cNvPr id="8" name="">
            <a:extLst xmlns:a="http://schemas.openxmlformats.org/drawingml/2006/main">
              <a:ext uri="{FF2B5EF4-FFF2-40B4-BE49-F238E27FC236}">
                <a16:creationId xmlns:a16="http://schemas.microsoft.com/office/drawing/2014/main" id="{EDFD732F-8F8C-42CD-BB3E-99D66F58E960}"/>
              </a:ext>
            </a:extLst>
          </p:cNvPr>
          <p:cNvSpPr>
            <a:spLocks xmlns:a="http://schemas.openxmlformats.org/drawingml/2006/main" noGrp="1"/>
          </p:cNvSpPr>
          <p:nvPr/>
        </p:nvSpPr>
        <p:spPr>
          <a:xfrm xmlns:a="http://schemas.openxmlformats.org/drawingml/2006/main">
            <a:off x="3905250" y="2143125"/>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i="0">
                <a:solidFill>
                  <a:srgbClr val="6A6F73"/>
                </a:solidFill>
                <a:latin typeface="Arial"/>
                <a:ea typeface="Arial"/>
                <a:cs typeface="Arial"/>
              </a:defRPr>
            </a:pPr>
            <a:r>
              <a:rPr sz="1350" b="0" i="0">
                <a:solidFill>
                  <a:srgbClr val="6A6F73"/>
                </a:solidFill>
                <a:latin typeface="Arial"/>
                <a:ea typeface="Arial"/>
                <a:cs typeface="Arial"/>
              </a:rPr>
              <a:t>One operating project and two projects targeting mid-2028. Do not describe the entire portfolio as under construction.</a:t>
            </a:r>
          </a:p>
        </p:txBody>
      </p:sp>
      <p:sp>
        <p:nvSpPr>
          <p:cNvPr id="9" name="">
            <a:extLst xmlns:a="http://schemas.openxmlformats.org/drawingml/2006/main">
              <a:ext uri="{FF2B5EF4-FFF2-40B4-BE49-F238E27FC236}">
                <a16:creationId xmlns:a16="http://schemas.microsoft.com/office/drawing/2014/main" id="{7EAE8360-D312-4F77-88B6-E9B3EF863961}"/>
              </a:ext>
            </a:extLst>
          </p:cNvPr>
          <p:cNvSpPr>
            <a:spLocks xmlns:a="http://schemas.openxmlformats.org/drawingml/2006/main" noGrp="1"/>
          </p:cNvSpPr>
          <p:nvPr/>
        </p:nvSpPr>
        <p:spPr>
          <a:xfrm xmlns:a="http://schemas.openxmlformats.org/drawingml/2006/main">
            <a:off x="552450" y="282892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0" name="">
            <a:extLst xmlns:a="http://schemas.openxmlformats.org/drawingml/2006/main">
              <a:ext uri="{FF2B5EF4-FFF2-40B4-BE49-F238E27FC236}">
                <a16:creationId xmlns:a16="http://schemas.microsoft.com/office/drawing/2014/main" id="{694ACF0F-C1F1-4A27-AE2C-15DCA21F5DFD}"/>
              </a:ext>
            </a:extLst>
          </p:cNvPr>
          <p:cNvSpPr>
            <a:spLocks xmlns:a="http://schemas.openxmlformats.org/drawingml/2006/main" noGrp="1"/>
          </p:cNvSpPr>
          <p:nvPr/>
        </p:nvSpPr>
        <p:spPr>
          <a:xfrm xmlns:a="http://schemas.openxmlformats.org/drawingml/2006/main">
            <a:off x="552450" y="30861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9D4E24"/>
                </a:solidFill>
                <a:latin typeface="Arial Narrow"/>
                <a:ea typeface="Arial Narrow"/>
                <a:cs typeface="Arial Narrow"/>
              </a:defRPr>
            </a:pPr>
            <a:r>
              <a:rPr sz="1350" b="1" i="0">
                <a:solidFill>
                  <a:srgbClr val="9D4E24"/>
                </a:solidFill>
                <a:latin typeface="Arial Narrow"/>
                <a:ea typeface="Arial Narrow"/>
                <a:cs typeface="Arial Narrow"/>
              </a:rPr>
              <a:t>5.4 GW NEWBUILD DEVELOPMENT</a:t>
            </a:r>
          </a:p>
        </p:txBody>
      </p:sp>
      <p:sp>
        <p:nvSpPr>
          <p:cNvPr id="11" name="">
            <a:extLst xmlns:a="http://schemas.openxmlformats.org/drawingml/2006/main">
              <a:ext uri="{FF2B5EF4-FFF2-40B4-BE49-F238E27FC236}">
                <a16:creationId xmlns:a16="http://schemas.microsoft.com/office/drawing/2014/main" id="{2BDA11E4-2A04-4FF3-A8C6-38790EA44A8C}"/>
              </a:ext>
            </a:extLst>
          </p:cNvPr>
          <p:cNvSpPr>
            <a:spLocks xmlns:a="http://schemas.openxmlformats.org/drawingml/2006/main" noGrp="1"/>
          </p:cNvSpPr>
          <p:nvPr/>
        </p:nvSpPr>
        <p:spPr>
          <a:xfrm xmlns:a="http://schemas.openxmlformats.org/drawingml/2006/main">
            <a:off x="3905250" y="3057525"/>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i="0">
                <a:solidFill>
                  <a:srgbClr val="6A6F73"/>
                </a:solidFill>
                <a:latin typeface="Arial"/>
                <a:ea typeface="Arial"/>
                <a:cs typeface="Arial"/>
              </a:defRPr>
            </a:pPr>
            <a:r>
              <a:rPr sz="1350" b="0" i="0">
                <a:solidFill>
                  <a:srgbClr val="6A6F73"/>
                </a:solidFill>
                <a:latin typeface="Arial"/>
                <a:ea typeface="Arial"/>
                <a:cs typeface="Arial"/>
              </a:rPr>
              <a:t>Turbine and EPC access supports a runway through 2032. Do not call all 5.4 GW committed or under construction.</a:t>
            </a:r>
          </a:p>
        </p:txBody>
      </p:sp>
      <p:sp>
        <p:nvSpPr>
          <p:cNvPr id="12" name="">
            <a:extLst xmlns:a="http://schemas.openxmlformats.org/drawingml/2006/main">
              <a:ext uri="{FF2B5EF4-FFF2-40B4-BE49-F238E27FC236}">
                <a16:creationId xmlns:a16="http://schemas.microsoft.com/office/drawing/2014/main" id="{FE2C59DB-E4C9-4F83-84BA-B73537808509}"/>
              </a:ext>
            </a:extLst>
          </p:cNvPr>
          <p:cNvSpPr>
            <a:spLocks xmlns:a="http://schemas.openxmlformats.org/drawingml/2006/main" noGrp="1"/>
          </p:cNvSpPr>
          <p:nvPr/>
        </p:nvSpPr>
        <p:spPr>
          <a:xfrm xmlns:a="http://schemas.openxmlformats.org/drawingml/2006/main">
            <a:off x="552450" y="374332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3" name="">
            <a:extLst xmlns:a="http://schemas.openxmlformats.org/drawingml/2006/main">
              <a:ext uri="{FF2B5EF4-FFF2-40B4-BE49-F238E27FC236}">
                <a16:creationId xmlns:a16="http://schemas.microsoft.com/office/drawing/2014/main" id="{9D09D277-4CE5-412D-8148-23D117699EDC}"/>
              </a:ext>
            </a:extLst>
          </p:cNvPr>
          <p:cNvSpPr>
            <a:spLocks xmlns:a="http://schemas.openxmlformats.org/drawingml/2006/main" noGrp="1"/>
          </p:cNvSpPr>
          <p:nvPr/>
        </p:nvSpPr>
        <p:spPr>
          <a:xfrm xmlns:a="http://schemas.openxmlformats.org/drawingml/2006/main">
            <a:off x="552450" y="40005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9D4E24"/>
                </a:solidFill>
                <a:latin typeface="Arial Narrow"/>
                <a:ea typeface="Arial Narrow"/>
                <a:cs typeface="Arial Narrow"/>
              </a:defRPr>
            </a:pPr>
            <a:r>
              <a:rPr sz="1350" b="1" i="0">
                <a:solidFill>
                  <a:srgbClr val="9D4E24"/>
                </a:solidFill>
                <a:latin typeface="Arial Narrow"/>
                <a:ea typeface="Arial Narrow"/>
                <a:cs typeface="Arial Narrow"/>
              </a:rPr>
              <a:t>25.8 GW OPERATING FLEET</a:t>
            </a:r>
          </a:p>
        </p:txBody>
      </p:sp>
      <p:sp>
        <p:nvSpPr>
          <p:cNvPr id="14" name="">
            <a:extLst xmlns:a="http://schemas.openxmlformats.org/drawingml/2006/main">
              <a:ext uri="{FF2B5EF4-FFF2-40B4-BE49-F238E27FC236}">
                <a16:creationId xmlns:a16="http://schemas.microsoft.com/office/drawing/2014/main" id="{330E60A5-AADA-4FDD-8EEA-34C3D7B81DCC}"/>
              </a:ext>
            </a:extLst>
          </p:cNvPr>
          <p:cNvSpPr>
            <a:spLocks xmlns:a="http://schemas.openxmlformats.org/drawingml/2006/main" noGrp="1"/>
          </p:cNvSpPr>
          <p:nvPr/>
        </p:nvSpPr>
        <p:spPr>
          <a:xfrm xmlns:a="http://schemas.openxmlformats.org/drawingml/2006/main">
            <a:off x="3905250" y="3971925"/>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i="0">
                <a:solidFill>
                  <a:srgbClr val="6A6F73"/>
                </a:solidFill>
                <a:latin typeface="Arial"/>
                <a:ea typeface="Arial"/>
                <a:cs typeface="Arial"/>
              </a:defRPr>
            </a:pPr>
            <a:r>
              <a:rPr sz="1350" b="0" i="0">
                <a:solidFill>
                  <a:srgbClr val="6A6F73"/>
                </a:solidFill>
                <a:latin typeface="Arial"/>
                <a:ea typeface="Arial"/>
                <a:cs typeface="Arial"/>
              </a:rPr>
              <a:t>NRG's reported operating-generation fleet after the LS Power acquisition.</a:t>
            </a:r>
          </a:p>
        </p:txBody>
      </p:sp>
      <p:sp>
        <p:nvSpPr>
          <p:cNvPr id="15" name="">
            <a:extLst xmlns:a="http://schemas.openxmlformats.org/drawingml/2006/main">
              <a:ext uri="{FF2B5EF4-FFF2-40B4-BE49-F238E27FC236}">
                <a16:creationId xmlns:a16="http://schemas.microsoft.com/office/drawing/2014/main" id="{0EA9E2F5-416D-4FE5-BB98-305C4DD79E06}"/>
              </a:ext>
            </a:extLst>
          </p:cNvPr>
          <p:cNvSpPr>
            <a:spLocks xmlns:a="http://schemas.openxmlformats.org/drawingml/2006/main" noGrp="1"/>
          </p:cNvSpPr>
          <p:nvPr/>
        </p:nvSpPr>
        <p:spPr>
          <a:xfrm xmlns:a="http://schemas.openxmlformats.org/drawingml/2006/main">
            <a:off x="552450" y="465772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6" name="">
            <a:extLst xmlns:a="http://schemas.openxmlformats.org/drawingml/2006/main">
              <a:ext uri="{FF2B5EF4-FFF2-40B4-BE49-F238E27FC236}">
                <a16:creationId xmlns:a16="http://schemas.microsoft.com/office/drawing/2014/main" id="{50990A40-1E7F-4931-88D1-11C009FD940B}"/>
              </a:ext>
            </a:extLst>
          </p:cNvPr>
          <p:cNvSpPr>
            <a:spLocks xmlns:a="http://schemas.openxmlformats.org/drawingml/2006/main" noGrp="1"/>
          </p:cNvSpPr>
          <p:nvPr/>
        </p:nvSpPr>
        <p:spPr>
          <a:xfrm xmlns:a="http://schemas.openxmlformats.org/drawingml/2006/main">
            <a:off x="552450" y="49149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9D4E24"/>
                </a:solidFill>
                <a:latin typeface="Arial Narrow"/>
                <a:ea typeface="Arial Narrow"/>
                <a:cs typeface="Arial Narrow"/>
              </a:defRPr>
            </a:pPr>
            <a:r>
              <a:rPr sz="1350" b="1" i="0">
                <a:solidFill>
                  <a:srgbClr val="9D4E24"/>
                </a:solidFill>
                <a:latin typeface="Arial Narrow"/>
                <a:ea typeface="Arial Narrow"/>
                <a:cs typeface="Arial Narrow"/>
              </a:rPr>
              <a:t>~1-2 GW UPGRADE POTENTIAL</a:t>
            </a:r>
          </a:p>
        </p:txBody>
      </p:sp>
      <p:sp>
        <p:nvSpPr>
          <p:cNvPr id="17" name="">
            <a:extLst xmlns:a="http://schemas.openxmlformats.org/drawingml/2006/main">
              <a:ext uri="{FF2B5EF4-FFF2-40B4-BE49-F238E27FC236}">
                <a16:creationId xmlns:a16="http://schemas.microsoft.com/office/drawing/2014/main" id="{191068D0-216E-4F21-80F4-A3B9FE8A0CEF}"/>
              </a:ext>
            </a:extLst>
          </p:cNvPr>
          <p:cNvSpPr>
            <a:spLocks xmlns:a="http://schemas.openxmlformats.org/drawingml/2006/main" noGrp="1"/>
          </p:cNvSpPr>
          <p:nvPr/>
        </p:nvSpPr>
        <p:spPr>
          <a:xfrm xmlns:a="http://schemas.openxmlformats.org/drawingml/2006/main">
            <a:off x="3905250" y="4886325"/>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0" i="0">
                <a:solidFill>
                  <a:srgbClr val="6A6F73"/>
                </a:solidFill>
                <a:latin typeface="Arial"/>
                <a:ea typeface="Arial"/>
                <a:cs typeface="Arial"/>
              </a:defRPr>
            </a:pPr>
            <a:r>
              <a:rPr sz="1350" b="0" i="0">
                <a:solidFill>
                  <a:srgbClr val="6A6F73"/>
                </a:solidFill>
                <a:latin typeface="Arial"/>
                <a:ea typeface="Arial"/>
                <a:cs typeface="Arial"/>
              </a:rPr>
              <a:t>CT-to-CCGT conversions and traditional uprates are under evaluation—not a committed pipeline.</a:t>
            </a:r>
          </a:p>
        </p:txBody>
      </p:sp>
      <p:sp>
        <p:nvSpPr>
          <p:cNvPr id="18" name="">
            <a:extLst xmlns:a="http://schemas.openxmlformats.org/drawingml/2006/main">
              <a:ext uri="{FF2B5EF4-FFF2-40B4-BE49-F238E27FC236}">
                <a16:creationId xmlns:a16="http://schemas.microsoft.com/office/drawing/2014/main" id="{05BDA737-8704-4892-9648-12DB532ECBCC}"/>
              </a:ext>
            </a:extLst>
          </p:cNvPr>
          <p:cNvSpPr>
            <a:spLocks xmlns:a="http://schemas.openxmlformats.org/drawingml/2006/main" noGrp="1"/>
          </p:cNvSpPr>
          <p:nvPr/>
        </p:nvSpPr>
        <p:spPr>
          <a:xfrm xmlns:a="http://schemas.openxmlformats.org/drawingml/2006/main" rot="0">
            <a:off x="552450" y="5924550"/>
            <a:ext cx="11087100" cy="533400"/>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7D731F1-869B-4C24-AFCD-4F786F886441}"/>
              </a:ext>
            </a:extLst>
          </p:cNvPr>
          <p:cNvSpPr>
            <a:spLocks xmlns:a="http://schemas.openxmlformats.org/drawingml/2006/main" noGrp="1"/>
          </p:cNvSpPr>
          <p:nvPr/>
        </p:nvSpPr>
        <p:spPr>
          <a:xfrm xmlns:a="http://schemas.openxmlformats.org/drawingml/2006/main">
            <a:off x="781050" y="6076950"/>
            <a:ext cx="1062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FFFFFF"/>
                </a:solidFill>
                <a:latin typeface="Arial Narrow"/>
                <a:ea typeface="Arial Narrow"/>
                <a:cs typeface="Arial Narrow"/>
              </a:defRPr>
            </a:pPr>
            <a:r>
              <a:rPr sz="1350" b="1" i="0">
                <a:solidFill>
                  <a:srgbClr val="FFFFFF"/>
                </a:solidFill>
                <a:latin typeface="Arial Narrow"/>
                <a:ea typeface="Arial Narrow"/>
                <a:cs typeface="Arial Narrow"/>
              </a:rPr>
              <a:t>DO NOT SUM THESE FIGURES: THEY REPRESENT DIFFERENT ASSET STATES AND OVERLAP CONCEPTUALLY.</a:t>
            </a:r>
          </a:p>
        </p:txBody>
      </p:sp>
    </p:spTree>
    <p:extLst>
      <p:ext uri="{BB962C8B-B14F-4D97-AF65-F5344CB8AC3E}">
        <p14:creationId xmlns:p14="http://schemas.microsoft.com/office/powerpoint/2010/main" val="426428554"/>
      </p:ext>
    </p:extLst>
  </p:cSld>
</p:sld>
</file>

<file path=ppt/slides/slide11.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5AA0B0E-59C2-46D9-A3F7-F12A81E293AE}"/>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d68d762455049bf"/>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9060F8C-2940-4770-BB54-3D37F8DB3644}"/>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9D4E24"/>
                </a:solidFill>
                <a:latin typeface="Arial Narrow"/>
                <a:ea typeface="Arial Narrow"/>
                <a:cs typeface="Arial Narrow"/>
              </a:defRPr>
            </a:pPr>
            <a:r>
              <a:rPr sz="975" b="1" i="0">
                <a:solidFill>
                  <a:srgbClr val="9D4E24"/>
                </a:solidFill>
                <a:latin typeface="Arial Narrow"/>
                <a:ea typeface="Arial Narrow"/>
                <a:cs typeface="Arial Narrow"/>
              </a:rPr>
              <a:t>APPENDIX A2 · GOVERNANCE</a:t>
            </a:r>
          </a:p>
        </p:txBody>
      </p:sp>
      <p:sp>
        <p:nvSpPr>
          <p:cNvPr id="4" name="">
            <a:extLst xmlns:a="http://schemas.openxmlformats.org/drawingml/2006/main">
              <a:ext uri="{FF2B5EF4-FFF2-40B4-BE49-F238E27FC236}">
                <a16:creationId xmlns:a16="http://schemas.microsoft.com/office/drawing/2014/main" id="{202FACD4-68DC-4EF1-9FCA-95986C82E539}"/>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11</a:t>
            </a:r>
          </a:p>
        </p:txBody>
      </p:sp>
      <p:sp>
        <p:nvSpPr>
          <p:cNvPr id="5" name="">
            <a:extLst xmlns:a="http://schemas.openxmlformats.org/drawingml/2006/main">
              <a:ext uri="{FF2B5EF4-FFF2-40B4-BE49-F238E27FC236}">
                <a16:creationId xmlns:a16="http://schemas.microsoft.com/office/drawing/2014/main" id="{22210EC3-F27F-4555-A478-23E2A2B733BA}"/>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D4E24"/>
                </a:solidFill>
                <a:latin typeface="Arial Narrow"/>
                <a:ea typeface="Arial Narrow"/>
                <a:cs typeface="Arial Narrow"/>
              </a:defRPr>
            </a:pPr>
            <a:r>
              <a:rPr sz="1050" b="1" i="0">
                <a:solidFill>
                  <a:srgbClr val="9D4E24"/>
                </a:solidFill>
                <a:latin typeface="Arial Narrow"/>
                <a:ea typeface="Arial Narrow"/>
                <a:cs typeface="Arial Narrow"/>
              </a:rPr>
              <a:t>DECISION RIGHTS</a:t>
            </a:r>
          </a:p>
        </p:txBody>
      </p:sp>
      <p:sp>
        <p:nvSpPr>
          <p:cNvPr id="6" name="">
            <a:extLst xmlns:a="http://schemas.openxmlformats.org/drawingml/2006/main">
              <a:ext uri="{FF2B5EF4-FFF2-40B4-BE49-F238E27FC236}">
                <a16:creationId xmlns:a16="http://schemas.microsoft.com/office/drawing/2014/main" id="{005FE768-4C48-4B66-90B8-34DFA5EF4380}"/>
              </a:ext>
            </a:extLst>
          </p:cNvPr>
          <p:cNvSpPr>
            <a:spLocks xmlns:a="http://schemas.openxmlformats.org/drawingml/2006/main" noGrp="1"/>
          </p:cNvSpPr>
          <p:nvPr/>
        </p:nvSpPr>
        <p:spPr>
          <a:xfrm xmlns:a="http://schemas.openxmlformats.org/drawingml/2006/main">
            <a:off x="552450" y="11811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925" b="1" i="0">
                <a:solidFill>
                  <a:srgbClr val="17191C"/>
                </a:solidFill>
                <a:latin typeface="Arial"/>
                <a:ea typeface="Arial"/>
                <a:cs typeface="Arial"/>
              </a:defRPr>
            </a:pPr>
            <a:r>
              <a:rPr sz="2925" b="1" i="0">
                <a:solidFill>
                  <a:srgbClr val="17191C"/>
                </a:solidFill>
                <a:latin typeface="Arial"/>
                <a:ea typeface="Arial"/>
                <a:cs typeface="Arial"/>
              </a:rPr>
              <a:t>Clear decision rights preserve existing project accountability.</a:t>
            </a:r>
          </a:p>
        </p:txBody>
      </p:sp>
      <p:sp>
        <p:nvSpPr>
          <p:cNvPr id="7" name="">
            <a:extLst xmlns:a="http://schemas.openxmlformats.org/drawingml/2006/main">
              <a:ext uri="{FF2B5EF4-FFF2-40B4-BE49-F238E27FC236}">
                <a16:creationId xmlns:a16="http://schemas.microsoft.com/office/drawing/2014/main" id="{07267E82-F478-4A19-AABA-6870A0616C8F}"/>
              </a:ext>
            </a:extLst>
          </p:cNvPr>
          <p:cNvSpPr>
            <a:spLocks xmlns:a="http://schemas.openxmlformats.org/drawingml/2006/main" noGrp="1"/>
          </p:cNvSpPr>
          <p:nvPr/>
        </p:nvSpPr>
        <p:spPr>
          <a:xfrm xmlns:a="http://schemas.openxmlformats.org/drawingml/2006/main">
            <a:off x="552450" y="20859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Narrow"/>
                <a:ea typeface="Arial Narrow"/>
                <a:cs typeface="Arial Narrow"/>
              </a:defRPr>
            </a:pPr>
            <a:r>
              <a:rPr sz="1350" b="1" i="0">
                <a:solidFill>
                  <a:srgbClr val="17191C"/>
                </a:solidFill>
                <a:latin typeface="Arial Narrow"/>
                <a:ea typeface="Arial Narrow"/>
                <a:cs typeface="Arial Narrow"/>
              </a:rPr>
              <a:t>NRG</a:t>
            </a:r>
          </a:p>
        </p:txBody>
      </p:sp>
      <p:sp>
        <p:nvSpPr>
          <p:cNvPr id="8" name="">
            <a:extLst xmlns:a="http://schemas.openxmlformats.org/drawingml/2006/main">
              <a:ext uri="{FF2B5EF4-FFF2-40B4-BE49-F238E27FC236}">
                <a16:creationId xmlns:a16="http://schemas.microsoft.com/office/drawing/2014/main" id="{1882584E-74E8-4A11-9334-BAD4F039F70C}"/>
              </a:ext>
            </a:extLst>
          </p:cNvPr>
          <p:cNvSpPr>
            <a:spLocks xmlns:a="http://schemas.openxmlformats.org/drawingml/2006/main" noGrp="1"/>
          </p:cNvSpPr>
          <p:nvPr/>
        </p:nvSpPr>
        <p:spPr>
          <a:xfrm xmlns:a="http://schemas.openxmlformats.org/drawingml/2006/main">
            <a:off x="3190875" y="2057400"/>
            <a:ext cx="8048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A6F73"/>
                </a:solidFill>
                <a:latin typeface="Arial"/>
                <a:ea typeface="Arial"/>
                <a:cs typeface="Arial"/>
              </a:defRPr>
            </a:pPr>
            <a:r>
              <a:rPr sz="1350" b="0" i="0">
                <a:solidFill>
                  <a:srgbClr val="6A6F73"/>
                </a:solidFill>
                <a:latin typeface="Arial"/>
                <a:ea typeface="Arial"/>
                <a:cs typeface="Arial"/>
              </a:rPr>
              <a:t>Owner priorities, portfolio standards, risk tolerances, acceptance criteria and investment decisions.</a:t>
            </a:r>
          </a:p>
        </p:txBody>
      </p:sp>
      <p:sp>
        <p:nvSpPr>
          <p:cNvPr id="9" name="">
            <a:extLst xmlns:a="http://schemas.openxmlformats.org/drawingml/2006/main">
              <a:ext uri="{FF2B5EF4-FFF2-40B4-BE49-F238E27FC236}">
                <a16:creationId xmlns:a16="http://schemas.microsoft.com/office/drawing/2014/main" id="{44B5152D-AE6B-4CFF-9823-A36CFFDB01C1}"/>
              </a:ext>
            </a:extLst>
          </p:cNvPr>
          <p:cNvSpPr>
            <a:spLocks xmlns:a="http://schemas.openxmlformats.org/drawingml/2006/main" noGrp="1"/>
          </p:cNvSpPr>
          <p:nvPr/>
        </p:nvSpPr>
        <p:spPr>
          <a:xfrm xmlns:a="http://schemas.openxmlformats.org/drawingml/2006/main">
            <a:off x="552450" y="267652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0" name="">
            <a:extLst xmlns:a="http://schemas.openxmlformats.org/drawingml/2006/main">
              <a:ext uri="{FF2B5EF4-FFF2-40B4-BE49-F238E27FC236}">
                <a16:creationId xmlns:a16="http://schemas.microsoft.com/office/drawing/2014/main" id="{21F3904B-3A5E-4436-A518-492FA59F2E51}"/>
              </a:ext>
            </a:extLst>
          </p:cNvPr>
          <p:cNvSpPr>
            <a:spLocks xmlns:a="http://schemas.openxmlformats.org/drawingml/2006/main" noGrp="1"/>
          </p:cNvSpPr>
          <p:nvPr/>
        </p:nvSpPr>
        <p:spPr>
          <a:xfrm xmlns:a="http://schemas.openxmlformats.org/drawingml/2006/main">
            <a:off x="552450" y="2867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Narrow"/>
                <a:ea typeface="Arial Narrow"/>
                <a:cs typeface="Arial Narrow"/>
              </a:defRPr>
            </a:pPr>
            <a:r>
              <a:rPr sz="1350" b="1" i="0">
                <a:solidFill>
                  <a:srgbClr val="17191C"/>
                </a:solidFill>
                <a:latin typeface="Arial Narrow"/>
                <a:ea typeface="Arial Narrow"/>
                <a:cs typeface="Arial Narrow"/>
              </a:rPr>
              <a:t>EPC / EOR</a:t>
            </a:r>
          </a:p>
        </p:txBody>
      </p:sp>
      <p:sp>
        <p:nvSpPr>
          <p:cNvPr id="11" name="">
            <a:extLst xmlns:a="http://schemas.openxmlformats.org/drawingml/2006/main">
              <a:ext uri="{FF2B5EF4-FFF2-40B4-BE49-F238E27FC236}">
                <a16:creationId xmlns:a16="http://schemas.microsoft.com/office/drawing/2014/main" id="{A5864D90-A700-4C42-A98A-DBA5C4E0457C}"/>
              </a:ext>
            </a:extLst>
          </p:cNvPr>
          <p:cNvSpPr>
            <a:spLocks xmlns:a="http://schemas.openxmlformats.org/drawingml/2006/main" noGrp="1"/>
          </p:cNvSpPr>
          <p:nvPr/>
        </p:nvSpPr>
        <p:spPr>
          <a:xfrm xmlns:a="http://schemas.openxmlformats.org/drawingml/2006/main">
            <a:off x="3190875" y="2838450"/>
            <a:ext cx="8048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A6F73"/>
                </a:solidFill>
                <a:latin typeface="Arial"/>
                <a:ea typeface="Arial"/>
                <a:cs typeface="Arial"/>
              </a:defRPr>
            </a:pPr>
            <a:r>
              <a:rPr sz="1350" b="0" i="0">
                <a:solidFill>
                  <a:srgbClr val="6A6F73"/>
                </a:solidFill>
                <a:latin typeface="Arial"/>
                <a:ea typeface="Arial"/>
                <a:cs typeface="Arial"/>
              </a:rPr>
              <a:t>Design authority, calculations, specifications, routing basis and approved technical design.</a:t>
            </a:r>
          </a:p>
        </p:txBody>
      </p:sp>
      <p:sp>
        <p:nvSpPr>
          <p:cNvPr id="12" name="">
            <a:extLst xmlns:a="http://schemas.openxmlformats.org/drawingml/2006/main">
              <a:ext uri="{FF2B5EF4-FFF2-40B4-BE49-F238E27FC236}">
                <a16:creationId xmlns:a16="http://schemas.microsoft.com/office/drawing/2014/main" id="{09745614-EB8E-4048-A939-67C7767C52E7}"/>
              </a:ext>
            </a:extLst>
          </p:cNvPr>
          <p:cNvSpPr>
            <a:spLocks xmlns:a="http://schemas.openxmlformats.org/drawingml/2006/main" noGrp="1"/>
          </p:cNvSpPr>
          <p:nvPr/>
        </p:nvSpPr>
        <p:spPr>
          <a:xfrm xmlns:a="http://schemas.openxmlformats.org/drawingml/2006/main">
            <a:off x="552450" y="345757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3" name="">
            <a:extLst xmlns:a="http://schemas.openxmlformats.org/drawingml/2006/main">
              <a:ext uri="{FF2B5EF4-FFF2-40B4-BE49-F238E27FC236}">
                <a16:creationId xmlns:a16="http://schemas.microsoft.com/office/drawing/2014/main" id="{955A83C9-3782-4EA9-9E17-34D1AF6ECC65}"/>
              </a:ext>
            </a:extLst>
          </p:cNvPr>
          <p:cNvSpPr>
            <a:spLocks xmlns:a="http://schemas.openxmlformats.org/drawingml/2006/main" noGrp="1"/>
          </p:cNvSpPr>
          <p:nvPr/>
        </p:nvSpPr>
        <p:spPr>
          <a:xfrm xmlns:a="http://schemas.openxmlformats.org/drawingml/2006/main">
            <a:off x="552450" y="36480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Narrow"/>
                <a:ea typeface="Arial Narrow"/>
                <a:cs typeface="Arial Narrow"/>
              </a:defRPr>
            </a:pPr>
            <a:r>
              <a:rPr sz="1350" b="1" i="0">
                <a:solidFill>
                  <a:srgbClr val="17191C"/>
                </a:solidFill>
                <a:latin typeface="Arial Narrow"/>
                <a:ea typeface="Arial Narrow"/>
                <a:cs typeface="Arial Narrow"/>
              </a:rPr>
              <a:t>OEM</a:t>
            </a:r>
          </a:p>
        </p:txBody>
      </p:sp>
      <p:sp>
        <p:nvSpPr>
          <p:cNvPr id="14" name="">
            <a:extLst xmlns:a="http://schemas.openxmlformats.org/drawingml/2006/main">
              <a:ext uri="{FF2B5EF4-FFF2-40B4-BE49-F238E27FC236}">
                <a16:creationId xmlns:a16="http://schemas.microsoft.com/office/drawing/2014/main" id="{853CF575-A7FB-42D9-BD59-7BA97BBC5ED7}"/>
              </a:ext>
            </a:extLst>
          </p:cNvPr>
          <p:cNvSpPr>
            <a:spLocks xmlns:a="http://schemas.openxmlformats.org/drawingml/2006/main" noGrp="1"/>
          </p:cNvSpPr>
          <p:nvPr/>
        </p:nvSpPr>
        <p:spPr>
          <a:xfrm xmlns:a="http://schemas.openxmlformats.org/drawingml/2006/main">
            <a:off x="3190875" y="3619500"/>
            <a:ext cx="8048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A6F73"/>
                </a:solidFill>
                <a:latin typeface="Arial"/>
                <a:ea typeface="Arial"/>
                <a:cs typeface="Arial"/>
              </a:defRPr>
            </a:pPr>
            <a:r>
              <a:rPr sz="1350" b="0" i="0">
                <a:solidFill>
                  <a:srgbClr val="6A6F73"/>
                </a:solidFill>
                <a:latin typeface="Arial"/>
                <a:ea typeface="Arial"/>
                <a:cs typeface="Arial"/>
              </a:rPr>
              <a:t>Equipment-package interfaces, internal wiring, approved terminations and warranty boundaries.</a:t>
            </a:r>
          </a:p>
        </p:txBody>
      </p:sp>
      <p:sp>
        <p:nvSpPr>
          <p:cNvPr id="15" name="">
            <a:extLst xmlns:a="http://schemas.openxmlformats.org/drawingml/2006/main">
              <a:ext uri="{FF2B5EF4-FFF2-40B4-BE49-F238E27FC236}">
                <a16:creationId xmlns:a16="http://schemas.microsoft.com/office/drawing/2014/main" id="{ABF89F75-CE4A-4F40-A349-8BF0A2F3EF8C}"/>
              </a:ext>
            </a:extLst>
          </p:cNvPr>
          <p:cNvSpPr>
            <a:spLocks xmlns:a="http://schemas.openxmlformats.org/drawingml/2006/main" noGrp="1"/>
          </p:cNvSpPr>
          <p:nvPr/>
        </p:nvSpPr>
        <p:spPr>
          <a:xfrm xmlns:a="http://schemas.openxmlformats.org/drawingml/2006/main">
            <a:off x="552450" y="423862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6" name="">
            <a:extLst xmlns:a="http://schemas.openxmlformats.org/drawingml/2006/main">
              <a:ext uri="{FF2B5EF4-FFF2-40B4-BE49-F238E27FC236}">
                <a16:creationId xmlns:a16="http://schemas.microsoft.com/office/drawing/2014/main" id="{1E6BA4CB-84F0-4E0C-9235-103696CE3EC6}"/>
              </a:ext>
            </a:extLst>
          </p:cNvPr>
          <p:cNvSpPr>
            <a:spLocks xmlns:a="http://schemas.openxmlformats.org/drawingml/2006/main" noGrp="1"/>
          </p:cNvSpPr>
          <p:nvPr/>
        </p:nvSpPr>
        <p:spPr>
          <a:xfrm xmlns:a="http://schemas.openxmlformats.org/drawingml/2006/main">
            <a:off x="552450" y="44291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17191C"/>
                </a:solidFill>
                <a:latin typeface="Arial Narrow"/>
                <a:ea typeface="Arial Narrow"/>
                <a:cs typeface="Arial Narrow"/>
              </a:defRPr>
            </a:pPr>
            <a:r>
              <a:rPr sz="1350" b="1" i="0">
                <a:solidFill>
                  <a:srgbClr val="17191C"/>
                </a:solidFill>
                <a:latin typeface="Arial Narrow"/>
                <a:ea typeface="Arial Narrow"/>
                <a:cs typeface="Arial Narrow"/>
              </a:rPr>
              <a:t>ELECTRICAL CONTRACTOR</a:t>
            </a:r>
          </a:p>
        </p:txBody>
      </p:sp>
      <p:sp>
        <p:nvSpPr>
          <p:cNvPr id="17" name="">
            <a:extLst xmlns:a="http://schemas.openxmlformats.org/drawingml/2006/main">
              <a:ext uri="{FF2B5EF4-FFF2-40B4-BE49-F238E27FC236}">
                <a16:creationId xmlns:a16="http://schemas.microsoft.com/office/drawing/2014/main" id="{B7F8495E-E93E-4A34-8A5B-D1282962D8B1}"/>
              </a:ext>
            </a:extLst>
          </p:cNvPr>
          <p:cNvSpPr>
            <a:spLocks xmlns:a="http://schemas.openxmlformats.org/drawingml/2006/main" noGrp="1"/>
          </p:cNvSpPr>
          <p:nvPr/>
        </p:nvSpPr>
        <p:spPr>
          <a:xfrm xmlns:a="http://schemas.openxmlformats.org/drawingml/2006/main">
            <a:off x="3190875" y="4400550"/>
            <a:ext cx="8048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A6F73"/>
                </a:solidFill>
                <a:latin typeface="Arial"/>
                <a:ea typeface="Arial"/>
                <a:cs typeface="Arial"/>
              </a:defRPr>
            </a:pPr>
            <a:r>
              <a:rPr sz="1350" b="0" i="0">
                <a:solidFill>
                  <a:srgbClr val="6A6F73"/>
                </a:solidFill>
                <a:latin typeface="Arial"/>
                <a:ea typeface="Arial"/>
                <a:cs typeface="Arial"/>
              </a:rPr>
              <a:t>Installation means and methods, pull planning, workface execution, testing support and field feedback.</a:t>
            </a:r>
          </a:p>
        </p:txBody>
      </p:sp>
      <p:sp>
        <p:nvSpPr>
          <p:cNvPr id="18" name="">
            <a:extLst xmlns:a="http://schemas.openxmlformats.org/drawingml/2006/main">
              <a:ext uri="{FF2B5EF4-FFF2-40B4-BE49-F238E27FC236}">
                <a16:creationId xmlns:a16="http://schemas.microsoft.com/office/drawing/2014/main" id="{6AF8ABAD-D706-4EE3-9D2D-E4372C44903A}"/>
              </a:ext>
            </a:extLst>
          </p:cNvPr>
          <p:cNvSpPr>
            <a:spLocks xmlns:a="http://schemas.openxmlformats.org/drawingml/2006/main" noGrp="1"/>
          </p:cNvSpPr>
          <p:nvPr/>
        </p:nvSpPr>
        <p:spPr>
          <a:xfrm xmlns:a="http://schemas.openxmlformats.org/drawingml/2006/main">
            <a:off x="552450" y="5019675"/>
            <a:ext cx="11087100" cy="0"/>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9" name="">
            <a:extLst xmlns:a="http://schemas.openxmlformats.org/drawingml/2006/main">
              <a:ext uri="{FF2B5EF4-FFF2-40B4-BE49-F238E27FC236}">
                <a16:creationId xmlns:a16="http://schemas.microsoft.com/office/drawing/2014/main" id="{7A707B80-13F4-4DF0-85A7-646CA6AC51DB}"/>
              </a:ext>
            </a:extLst>
          </p:cNvPr>
          <p:cNvSpPr>
            <a:spLocks xmlns:a="http://schemas.openxmlformats.org/drawingml/2006/main" noGrp="1"/>
          </p:cNvSpPr>
          <p:nvPr/>
        </p:nvSpPr>
        <p:spPr>
          <a:xfrm xmlns:a="http://schemas.openxmlformats.org/drawingml/2006/main" rot="0">
            <a:off x="466725" y="5124450"/>
            <a:ext cx="11172825" cy="666750"/>
          </a:xfrm>
          <a:prstGeom xmlns:a="http://schemas.openxmlformats.org/drawingml/2006/main" prst="rect">
            <a:avLst/>
          </a:prstGeom>
          <a:solidFill xmlns:a="http://schemas.openxmlformats.org/drawingml/2006/main">
            <a:srgbClr val="F2E3D8"/>
          </a:solidFill>
          <a:ln xmlns:a="http://schemas.openxmlformats.org/drawingml/2006/main" w="9525">
            <a:solidFill>
              <a:srgbClr val="E1C6B3"/>
            </a:solidFill>
            <a:prstDash val="solid"/>
          </a:ln>
        </p:spPr>
      </p:sp>
      <p:sp>
        <p:nvSpPr>
          <p:cNvPr id="20" name="">
            <a:extLst xmlns:a="http://schemas.openxmlformats.org/drawingml/2006/main">
              <a:ext uri="{FF2B5EF4-FFF2-40B4-BE49-F238E27FC236}">
                <a16:creationId xmlns:a16="http://schemas.microsoft.com/office/drawing/2014/main" id="{087A8BEA-C6C7-4EFA-BFA9-19FBBB07EB54}"/>
              </a:ext>
            </a:extLst>
          </p:cNvPr>
          <p:cNvSpPr>
            <a:spLocks xmlns:a="http://schemas.openxmlformats.org/drawingml/2006/main" noGrp="1"/>
          </p:cNvSpPr>
          <p:nvPr/>
        </p:nvSpPr>
        <p:spPr>
          <a:xfrm xmlns:a="http://schemas.openxmlformats.org/drawingml/2006/main">
            <a:off x="552450" y="52101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9D4E24"/>
                </a:solidFill>
                <a:latin typeface="Arial Narrow"/>
                <a:ea typeface="Arial Narrow"/>
                <a:cs typeface="Arial Narrow"/>
              </a:defRPr>
            </a:pPr>
            <a:r>
              <a:rPr sz="1350" b="1" i="0">
                <a:solidFill>
                  <a:srgbClr val="9D4E24"/>
                </a:solidFill>
                <a:latin typeface="Arial Narrow"/>
                <a:ea typeface="Arial Narrow"/>
                <a:cs typeface="Arial Narrow"/>
              </a:rPr>
              <a:t>SOUTHWIRE</a:t>
            </a:r>
          </a:p>
        </p:txBody>
      </p:sp>
      <p:sp>
        <p:nvSpPr>
          <p:cNvPr id="21" name="">
            <a:extLst xmlns:a="http://schemas.openxmlformats.org/drawingml/2006/main">
              <a:ext uri="{FF2B5EF4-FFF2-40B4-BE49-F238E27FC236}">
                <a16:creationId xmlns:a16="http://schemas.microsoft.com/office/drawing/2014/main" id="{8DE3C22D-18C8-4935-808D-8D44760E4491}"/>
              </a:ext>
            </a:extLst>
          </p:cNvPr>
          <p:cNvSpPr>
            <a:spLocks xmlns:a="http://schemas.openxmlformats.org/drawingml/2006/main" noGrp="1"/>
          </p:cNvSpPr>
          <p:nvPr/>
        </p:nvSpPr>
        <p:spPr>
          <a:xfrm xmlns:a="http://schemas.openxmlformats.org/drawingml/2006/main">
            <a:off x="3190875" y="5181600"/>
            <a:ext cx="8048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0" i="0">
                <a:solidFill>
                  <a:srgbClr val="6A6F73"/>
                </a:solidFill>
                <a:latin typeface="Arial"/>
                <a:ea typeface="Arial"/>
                <a:cs typeface="Arial"/>
              </a:defRPr>
            </a:pPr>
            <a:r>
              <a:rPr sz="1350" b="0" i="0">
                <a:solidFill>
                  <a:srgbClr val="6A6F73"/>
                </a:solidFill>
                <a:latin typeface="Arial"/>
                <a:ea typeface="Arial"/>
                <a:cs typeface="Arial"/>
              </a:rPr>
              <a:t>Application support, material and capacity visibility, engineered reel strategy, sequenced delivery and selected field support.</a:t>
            </a:r>
          </a:p>
        </p:txBody>
      </p:sp>
      <p:sp>
        <p:nvSpPr>
          <p:cNvPr id="22" name="">
            <a:extLst xmlns:a="http://schemas.openxmlformats.org/drawingml/2006/main">
              <a:ext uri="{FF2B5EF4-FFF2-40B4-BE49-F238E27FC236}">
                <a16:creationId xmlns:a16="http://schemas.microsoft.com/office/drawing/2014/main" id="{B25EF3DC-EDC0-4D4A-9FCF-D58A0E5F5589}"/>
              </a:ext>
            </a:extLst>
          </p:cNvPr>
          <p:cNvSpPr>
            <a:spLocks xmlns:a="http://schemas.openxmlformats.org/drawingml/2006/main" noGrp="1"/>
          </p:cNvSpPr>
          <p:nvPr/>
        </p:nvSpPr>
        <p:spPr>
          <a:xfrm xmlns:a="http://schemas.openxmlformats.org/drawingml/2006/main" rot="0">
            <a:off x="552450" y="6076950"/>
            <a:ext cx="11087100" cy="428625"/>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90B36D7-111A-4429-8309-B99F2DABA39D}"/>
              </a:ext>
            </a:extLst>
          </p:cNvPr>
          <p:cNvSpPr>
            <a:spLocks xmlns:a="http://schemas.openxmlformats.org/drawingml/2006/main" noGrp="1"/>
          </p:cNvSpPr>
          <p:nvPr/>
        </p:nvSpPr>
        <p:spPr>
          <a:xfrm xmlns:a="http://schemas.openxmlformats.org/drawingml/2006/main">
            <a:off x="781050" y="6191250"/>
            <a:ext cx="10629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Southwire connects selected decisions; it does not replace owner, EPC, OEM or contractor accountability.</a:t>
            </a:r>
          </a:p>
        </p:txBody>
      </p:sp>
    </p:spTree>
    <p:extLst>
      <p:ext uri="{BB962C8B-B14F-4D97-AF65-F5344CB8AC3E}">
        <p14:creationId xmlns:p14="http://schemas.microsoft.com/office/powerpoint/2010/main" val="654748704"/>
      </p:ext>
    </p:extLst>
  </p:cSld>
</p:sld>
</file>

<file path=ppt/slides/slide12.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587CA73-F00F-444D-A144-E7BD3C3F9685}"/>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278081788d04e04"/>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419E82D-DB7C-4D48-AE18-2ADA099AB5ED}"/>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9D4E24"/>
                </a:solidFill>
                <a:latin typeface="Arial Narrow"/>
                <a:ea typeface="Arial Narrow"/>
                <a:cs typeface="Arial Narrow"/>
              </a:defRPr>
            </a:pPr>
            <a:r>
              <a:rPr sz="975" b="1" i="0">
                <a:solidFill>
                  <a:srgbClr val="9D4E24"/>
                </a:solidFill>
                <a:latin typeface="Arial Narrow"/>
                <a:ea typeface="Arial Narrow"/>
                <a:cs typeface="Arial Narrow"/>
              </a:rPr>
              <a:t>APPENDIX A3 · TECHNICAL COVERAGE</a:t>
            </a:r>
          </a:p>
        </p:txBody>
      </p:sp>
      <p:sp>
        <p:nvSpPr>
          <p:cNvPr id="4" name="">
            <a:extLst xmlns:a="http://schemas.openxmlformats.org/drawingml/2006/main">
              <a:ext uri="{FF2B5EF4-FFF2-40B4-BE49-F238E27FC236}">
                <a16:creationId xmlns:a16="http://schemas.microsoft.com/office/drawing/2014/main" id="{FBB6C31F-181F-4DC6-B47C-5324FFC4F8AC}"/>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12</a:t>
            </a:r>
          </a:p>
        </p:txBody>
      </p:sp>
      <p:sp>
        <p:nvSpPr>
          <p:cNvPr id="5" name="">
            <a:extLst xmlns:a="http://schemas.openxmlformats.org/drawingml/2006/main">
              <a:ext uri="{FF2B5EF4-FFF2-40B4-BE49-F238E27FC236}">
                <a16:creationId xmlns:a16="http://schemas.microsoft.com/office/drawing/2014/main" id="{F7E27FE3-B5F8-4C6E-9A80-44D35E26742D}"/>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D4E24"/>
                </a:solidFill>
                <a:latin typeface="Arial Narrow"/>
                <a:ea typeface="Arial Narrow"/>
                <a:cs typeface="Arial Narrow"/>
              </a:defRPr>
            </a:pPr>
            <a:r>
              <a:rPr sz="1050" b="1" i="0">
                <a:solidFill>
                  <a:srgbClr val="9D4E24"/>
                </a:solidFill>
                <a:latin typeface="Arial Narrow"/>
                <a:ea typeface="Arial Narrow"/>
                <a:cs typeface="Arial Narrow"/>
              </a:rPr>
              <a:t>PLANT-ZONE COVERAGE</a:t>
            </a:r>
          </a:p>
        </p:txBody>
      </p:sp>
      <p:sp>
        <p:nvSpPr>
          <p:cNvPr id="6" name="">
            <a:extLst xmlns:a="http://schemas.openxmlformats.org/drawingml/2006/main">
              <a:ext uri="{FF2B5EF4-FFF2-40B4-BE49-F238E27FC236}">
                <a16:creationId xmlns:a16="http://schemas.microsoft.com/office/drawing/2014/main" id="{1D05A49D-C8FE-4DB7-81A6-02700B1A5567}"/>
              </a:ext>
            </a:extLst>
          </p:cNvPr>
          <p:cNvSpPr>
            <a:spLocks xmlns:a="http://schemas.openxmlformats.org/drawingml/2006/main" noGrp="1"/>
          </p:cNvSpPr>
          <p:nvPr/>
        </p:nvSpPr>
        <p:spPr>
          <a:xfrm xmlns:a="http://schemas.openxmlformats.org/drawingml/2006/main">
            <a:off x="552450" y="11811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2925" b="1" i="0">
                <a:solidFill>
                  <a:srgbClr val="17191C"/>
                </a:solidFill>
                <a:latin typeface="Arial"/>
                <a:ea typeface="Arial"/>
                <a:cs typeface="Arial"/>
              </a:defRPr>
            </a:pPr>
            <a:r>
              <a:rPr sz="2925" b="1" i="0">
                <a:solidFill>
                  <a:srgbClr val="17191C"/>
                </a:solidFill>
                <a:latin typeface="Arial"/>
                <a:ea typeface="Arial"/>
                <a:cs typeface="Arial"/>
              </a:rPr>
              <a:t>Six system clusters capture plant-wide electrical complexity.</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ba0958dc14b4dd2"/>
          <a:stretch xmlns:a="http://schemas.openxmlformats.org/drawingml/2006/main"/>
        </p:blipFill>
        <p:spPr>
          <a:xfrm xmlns:a="http://schemas.openxmlformats.org/drawingml/2006/main">
            <a:off x="3429000" y="1763634"/>
            <a:ext cx="5334000" cy="302593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3DB9F71-6E26-43C9-9D00-650A92648EAF}"/>
              </a:ext>
            </a:extLst>
          </p:cNvPr>
          <p:cNvSpPr>
            <a:spLocks xmlns:a="http://schemas.openxmlformats.org/drawingml/2006/main" noGrp="1"/>
          </p:cNvSpPr>
          <p:nvPr/>
        </p:nvSpPr>
        <p:spPr>
          <a:xfrm xmlns:a="http://schemas.openxmlformats.org/drawingml/2006/main" rot="0">
            <a:off x="552450" y="1714500"/>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9" name="">
            <a:extLst xmlns:a="http://schemas.openxmlformats.org/drawingml/2006/main">
              <a:ext uri="{FF2B5EF4-FFF2-40B4-BE49-F238E27FC236}">
                <a16:creationId xmlns:a16="http://schemas.microsoft.com/office/drawing/2014/main" id="{9F178D32-47AB-4ACD-B19C-93B637E9560A}"/>
              </a:ext>
            </a:extLst>
          </p:cNvPr>
          <p:cNvSpPr>
            <a:spLocks xmlns:a="http://schemas.openxmlformats.org/drawingml/2006/main" noGrp="1"/>
          </p:cNvSpPr>
          <p:nvPr/>
        </p:nvSpPr>
        <p:spPr>
          <a:xfrm xmlns:a="http://schemas.openxmlformats.org/drawingml/2006/main">
            <a:off x="552450" y="17335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9D4E24"/>
                </a:solidFill>
                <a:latin typeface="Arial Narrow"/>
                <a:ea typeface="Arial Narrow"/>
                <a:cs typeface="Arial Narrow"/>
              </a:defRPr>
            </a:pPr>
            <a:r>
              <a:rPr sz="900" b="1" i="0">
                <a:solidFill>
                  <a:srgbClr val="9D4E24"/>
                </a:solidFill>
                <a:latin typeface="Arial Narrow"/>
                <a:ea typeface="Arial Narrow"/>
                <a:cs typeface="Arial Narrow"/>
              </a:rPr>
              <a:t>1, 16</a:t>
            </a:r>
          </a:p>
        </p:txBody>
      </p:sp>
      <p:sp>
        <p:nvSpPr>
          <p:cNvPr id="10" name="">
            <a:extLst xmlns:a="http://schemas.openxmlformats.org/drawingml/2006/main">
              <a:ext uri="{FF2B5EF4-FFF2-40B4-BE49-F238E27FC236}">
                <a16:creationId xmlns:a16="http://schemas.microsoft.com/office/drawing/2014/main" id="{889E48A4-C583-4DF2-8127-1CE7F33F6429}"/>
              </a:ext>
            </a:extLst>
          </p:cNvPr>
          <p:cNvSpPr>
            <a:spLocks xmlns:a="http://schemas.openxmlformats.org/drawingml/2006/main" noGrp="1"/>
          </p:cNvSpPr>
          <p:nvPr/>
        </p:nvSpPr>
        <p:spPr>
          <a:xfrm xmlns:a="http://schemas.openxmlformats.org/drawingml/2006/main">
            <a:off x="552450" y="2047875"/>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9D4E24"/>
                </a:solidFill>
                <a:latin typeface="Arial Narrow"/>
                <a:ea typeface="Arial Narrow"/>
                <a:cs typeface="Arial Narrow"/>
              </a:defRPr>
            </a:pPr>
            <a:r>
              <a:rPr sz="1125" b="1" i="0">
                <a:solidFill>
                  <a:srgbClr val="9D4E24"/>
                </a:solidFill>
                <a:latin typeface="Arial Narrow"/>
                <a:ea typeface="Arial Narrow"/>
                <a:cs typeface="Arial Narrow"/>
              </a:rPr>
              <a:t>GRID + SITE BACKBONE</a:t>
            </a:r>
          </a:p>
        </p:txBody>
      </p:sp>
      <p:sp>
        <p:nvSpPr>
          <p:cNvPr id="11" name="">
            <a:extLst xmlns:a="http://schemas.openxmlformats.org/drawingml/2006/main">
              <a:ext uri="{FF2B5EF4-FFF2-40B4-BE49-F238E27FC236}">
                <a16:creationId xmlns:a16="http://schemas.microsoft.com/office/drawing/2014/main" id="{A4FC49CC-76D8-4AA8-B69E-C48BDA46D145}"/>
              </a:ext>
            </a:extLst>
          </p:cNvPr>
          <p:cNvSpPr>
            <a:spLocks xmlns:a="http://schemas.openxmlformats.org/drawingml/2006/main" noGrp="1"/>
          </p:cNvSpPr>
          <p:nvPr/>
        </p:nvSpPr>
        <p:spPr>
          <a:xfrm xmlns:a="http://schemas.openxmlformats.org/drawingml/2006/main">
            <a:off x="552450" y="2314575"/>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Switchyard, GSU/grid tie and MV corridors</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HV/EHV · MV · protection/control · fiber · grounding</a:t>
            </a:r>
          </a:p>
        </p:txBody>
      </p:sp>
      <p:sp>
        <p:nvSpPr>
          <p:cNvPr id="12" name="">
            <a:extLst xmlns:a="http://schemas.openxmlformats.org/drawingml/2006/main">
              <a:ext uri="{FF2B5EF4-FFF2-40B4-BE49-F238E27FC236}">
                <a16:creationId xmlns:a16="http://schemas.microsoft.com/office/drawing/2014/main" id="{7700BBA6-3815-4064-9996-C4A3431D7734}"/>
              </a:ext>
            </a:extLst>
          </p:cNvPr>
          <p:cNvSpPr>
            <a:spLocks xmlns:a="http://schemas.openxmlformats.org/drawingml/2006/main" noGrp="1"/>
          </p:cNvSpPr>
          <p:nvPr/>
        </p:nvSpPr>
        <p:spPr>
          <a:xfrm xmlns:a="http://schemas.openxmlformats.org/drawingml/2006/main" rot="0">
            <a:off x="552450" y="3019425"/>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13" name="">
            <a:extLst xmlns:a="http://schemas.openxmlformats.org/drawingml/2006/main">
              <a:ext uri="{FF2B5EF4-FFF2-40B4-BE49-F238E27FC236}">
                <a16:creationId xmlns:a16="http://schemas.microsoft.com/office/drawing/2014/main" id="{2ED9FE05-C970-4F5B-867D-EB1533D0365A}"/>
              </a:ext>
            </a:extLst>
          </p:cNvPr>
          <p:cNvSpPr>
            <a:spLocks xmlns:a="http://schemas.openxmlformats.org/drawingml/2006/main" noGrp="1"/>
          </p:cNvSpPr>
          <p:nvPr/>
        </p:nvSpPr>
        <p:spPr>
          <a:xfrm xmlns:a="http://schemas.openxmlformats.org/drawingml/2006/main">
            <a:off x="552450" y="303847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9D4E24"/>
                </a:solidFill>
                <a:latin typeface="Arial Narrow"/>
                <a:ea typeface="Arial Narrow"/>
                <a:cs typeface="Arial Narrow"/>
              </a:defRPr>
            </a:pPr>
            <a:r>
              <a:rPr sz="900" b="1" i="0">
                <a:solidFill>
                  <a:srgbClr val="9D4E24"/>
                </a:solidFill>
                <a:latin typeface="Arial Narrow"/>
                <a:ea typeface="Arial Narrow"/>
                <a:cs typeface="Arial Narrow"/>
              </a:rPr>
              <a:t>2, 3, 10</a:t>
            </a:r>
          </a:p>
        </p:txBody>
      </p:sp>
      <p:sp>
        <p:nvSpPr>
          <p:cNvPr id="14" name="">
            <a:extLst xmlns:a="http://schemas.openxmlformats.org/drawingml/2006/main">
              <a:ext uri="{FF2B5EF4-FFF2-40B4-BE49-F238E27FC236}">
                <a16:creationId xmlns:a16="http://schemas.microsoft.com/office/drawing/2014/main" id="{F619AC1E-8938-4E07-80D5-21A072184928}"/>
              </a:ext>
            </a:extLst>
          </p:cNvPr>
          <p:cNvSpPr>
            <a:spLocks xmlns:a="http://schemas.openxmlformats.org/drawingml/2006/main" noGrp="1"/>
          </p:cNvSpPr>
          <p:nvPr/>
        </p:nvSpPr>
        <p:spPr>
          <a:xfrm xmlns:a="http://schemas.openxmlformats.org/drawingml/2006/main">
            <a:off x="552450" y="3352800"/>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9D4E24"/>
                </a:solidFill>
                <a:latin typeface="Arial Narrow"/>
                <a:ea typeface="Arial Narrow"/>
                <a:cs typeface="Arial Narrow"/>
              </a:defRPr>
            </a:pPr>
            <a:r>
              <a:rPr sz="1125" b="1" i="0">
                <a:solidFill>
                  <a:srgbClr val="9D4E24"/>
                </a:solidFill>
                <a:latin typeface="Arial Narrow"/>
                <a:ea typeface="Arial Narrow"/>
                <a:cs typeface="Arial Narrow"/>
              </a:rPr>
              <a:t>MODULAR + LOGISTICS</a:t>
            </a:r>
          </a:p>
        </p:txBody>
      </p:sp>
      <p:sp>
        <p:nvSpPr>
          <p:cNvPr id="15" name="">
            <a:extLst xmlns:a="http://schemas.openxmlformats.org/drawingml/2006/main">
              <a:ext uri="{FF2B5EF4-FFF2-40B4-BE49-F238E27FC236}">
                <a16:creationId xmlns:a16="http://schemas.microsoft.com/office/drawing/2014/main" id="{1F4E5C80-B10A-4D5A-A046-88EEFCB69A54}"/>
              </a:ext>
            </a:extLst>
          </p:cNvPr>
          <p:cNvSpPr>
            <a:spLocks xmlns:a="http://schemas.openxmlformats.org/drawingml/2006/main" noGrp="1"/>
          </p:cNvSpPr>
          <p:nvPr/>
        </p:nvSpPr>
        <p:spPr>
          <a:xfrm xmlns:a="http://schemas.openxmlformats.org/drawingml/2006/main">
            <a:off x="552450" y="3619500"/>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BESS, reel staging, prefab/skids and modular power</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DC/MV/LV · controls · fiber · engineered sets</a:t>
            </a:r>
          </a:p>
        </p:txBody>
      </p:sp>
      <p:sp>
        <p:nvSpPr>
          <p:cNvPr id="16" name="">
            <a:extLst xmlns:a="http://schemas.openxmlformats.org/drawingml/2006/main">
              <a:ext uri="{FF2B5EF4-FFF2-40B4-BE49-F238E27FC236}">
                <a16:creationId xmlns:a16="http://schemas.microsoft.com/office/drawing/2014/main" id="{F49ABC6A-621A-4BD5-95E5-7371BC7DD622}"/>
              </a:ext>
            </a:extLst>
          </p:cNvPr>
          <p:cNvSpPr>
            <a:spLocks xmlns:a="http://schemas.openxmlformats.org/drawingml/2006/main" noGrp="1"/>
          </p:cNvSpPr>
          <p:nvPr/>
        </p:nvSpPr>
        <p:spPr>
          <a:xfrm xmlns:a="http://schemas.openxmlformats.org/drawingml/2006/main" rot="0">
            <a:off x="552450" y="4324350"/>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17" name="">
            <a:extLst xmlns:a="http://schemas.openxmlformats.org/drawingml/2006/main">
              <a:ext uri="{FF2B5EF4-FFF2-40B4-BE49-F238E27FC236}">
                <a16:creationId xmlns:a16="http://schemas.microsoft.com/office/drawing/2014/main" id="{C1D3FDD8-E901-490C-B9BE-5C15C6175EA4}"/>
              </a:ext>
            </a:extLst>
          </p:cNvPr>
          <p:cNvSpPr>
            <a:spLocks xmlns:a="http://schemas.openxmlformats.org/drawingml/2006/main" noGrp="1"/>
          </p:cNvSpPr>
          <p:nvPr/>
        </p:nvSpPr>
        <p:spPr>
          <a:xfrm xmlns:a="http://schemas.openxmlformats.org/drawingml/2006/main">
            <a:off x="552450" y="43434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9D4E24"/>
                </a:solidFill>
                <a:latin typeface="Arial Narrow"/>
                <a:ea typeface="Arial Narrow"/>
                <a:cs typeface="Arial Narrow"/>
              </a:defRPr>
            </a:pPr>
            <a:r>
              <a:rPr sz="900" b="1" i="0">
                <a:solidFill>
                  <a:srgbClr val="9D4E24"/>
                </a:solidFill>
                <a:latin typeface="Arial Narrow"/>
                <a:ea typeface="Arial Narrow"/>
                <a:cs typeface="Arial Narrow"/>
              </a:rPr>
              <a:t>4, 5, 9</a:t>
            </a:r>
          </a:p>
        </p:txBody>
      </p:sp>
      <p:sp>
        <p:nvSpPr>
          <p:cNvPr id="18" name="">
            <a:extLst xmlns:a="http://schemas.openxmlformats.org/drawingml/2006/main">
              <a:ext uri="{FF2B5EF4-FFF2-40B4-BE49-F238E27FC236}">
                <a16:creationId xmlns:a16="http://schemas.microsoft.com/office/drawing/2014/main" id="{47BFA7D0-0FFC-494E-BDA6-BA1B7AADA848}"/>
              </a:ext>
            </a:extLst>
          </p:cNvPr>
          <p:cNvSpPr>
            <a:spLocks xmlns:a="http://schemas.openxmlformats.org/drawingml/2006/main" noGrp="1"/>
          </p:cNvSpPr>
          <p:nvPr/>
        </p:nvSpPr>
        <p:spPr>
          <a:xfrm xmlns:a="http://schemas.openxmlformats.org/drawingml/2006/main">
            <a:off x="552450" y="4657725"/>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9D4E24"/>
                </a:solidFill>
                <a:latin typeface="Arial Narrow"/>
                <a:ea typeface="Arial Narrow"/>
                <a:cs typeface="Arial Narrow"/>
              </a:defRPr>
            </a:pPr>
            <a:r>
              <a:rPr sz="1125" b="1" i="0">
                <a:solidFill>
                  <a:srgbClr val="9D4E24"/>
                </a:solidFill>
                <a:latin typeface="Arial Narrow"/>
                <a:ea typeface="Arial Narrow"/>
                <a:cs typeface="Arial Narrow"/>
              </a:rPr>
              <a:t>BUILDINGS + DISTRIBUTION</a:t>
            </a:r>
          </a:p>
        </p:txBody>
      </p:sp>
      <p:sp>
        <p:nvSpPr>
          <p:cNvPr id="19" name="">
            <a:extLst xmlns:a="http://schemas.openxmlformats.org/drawingml/2006/main">
              <a:ext uri="{FF2B5EF4-FFF2-40B4-BE49-F238E27FC236}">
                <a16:creationId xmlns:a16="http://schemas.microsoft.com/office/drawing/2014/main" id="{9C4EEDC0-07DC-4F73-9AB2-7F55D3295C52}"/>
              </a:ext>
            </a:extLst>
          </p:cNvPr>
          <p:cNvSpPr>
            <a:spLocks xmlns:a="http://schemas.openxmlformats.org/drawingml/2006/main" noGrp="1"/>
          </p:cNvSpPr>
          <p:nvPr/>
        </p:nvSpPr>
        <p:spPr>
          <a:xfrm xmlns:a="http://schemas.openxmlformats.org/drawingml/2006/main">
            <a:off x="552450" y="4924425"/>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Control building, e-house and MCC/VFD/UPS</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MV/LV/VFD · essential AC/DC · life safety · BAS/data</a:t>
            </a:r>
          </a:p>
        </p:txBody>
      </p:sp>
      <p:sp>
        <p:nvSpPr>
          <p:cNvPr id="20" name="">
            <a:extLst xmlns:a="http://schemas.openxmlformats.org/drawingml/2006/main">
              <a:ext uri="{FF2B5EF4-FFF2-40B4-BE49-F238E27FC236}">
                <a16:creationId xmlns:a16="http://schemas.microsoft.com/office/drawing/2014/main" id="{D48B272F-FC68-4F66-ACA2-8AFCA06E880A}"/>
              </a:ext>
            </a:extLst>
          </p:cNvPr>
          <p:cNvSpPr>
            <a:spLocks xmlns:a="http://schemas.openxmlformats.org/drawingml/2006/main" noGrp="1"/>
          </p:cNvSpPr>
          <p:nvPr/>
        </p:nvSpPr>
        <p:spPr>
          <a:xfrm xmlns:a="http://schemas.openxmlformats.org/drawingml/2006/main" rot="0">
            <a:off x="8934450" y="1714500"/>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21" name="">
            <a:extLst xmlns:a="http://schemas.openxmlformats.org/drawingml/2006/main">
              <a:ext uri="{FF2B5EF4-FFF2-40B4-BE49-F238E27FC236}">
                <a16:creationId xmlns:a16="http://schemas.microsoft.com/office/drawing/2014/main" id="{54B4657C-E45D-44CD-BC71-2E625D9D8915}"/>
              </a:ext>
            </a:extLst>
          </p:cNvPr>
          <p:cNvSpPr>
            <a:spLocks xmlns:a="http://schemas.openxmlformats.org/drawingml/2006/main" noGrp="1"/>
          </p:cNvSpPr>
          <p:nvPr/>
        </p:nvSpPr>
        <p:spPr>
          <a:xfrm xmlns:a="http://schemas.openxmlformats.org/drawingml/2006/main">
            <a:off x="8934450" y="17335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9D4E24"/>
                </a:solidFill>
                <a:latin typeface="Arial Narrow"/>
                <a:ea typeface="Arial Narrow"/>
                <a:cs typeface="Arial Narrow"/>
              </a:defRPr>
            </a:pPr>
            <a:r>
              <a:rPr sz="900" b="1" i="0">
                <a:solidFill>
                  <a:srgbClr val="9D4E24"/>
                </a:solidFill>
                <a:latin typeface="Arial Narrow"/>
                <a:ea typeface="Arial Narrow"/>
                <a:cs typeface="Arial Narrow"/>
              </a:rPr>
              <a:t>6, 7, 8</a:t>
            </a:r>
          </a:p>
        </p:txBody>
      </p:sp>
      <p:sp>
        <p:nvSpPr>
          <p:cNvPr id="22" name="">
            <a:extLst xmlns:a="http://schemas.openxmlformats.org/drawingml/2006/main">
              <a:ext uri="{FF2B5EF4-FFF2-40B4-BE49-F238E27FC236}">
                <a16:creationId xmlns:a16="http://schemas.microsoft.com/office/drawing/2014/main" id="{E6D8DDA4-F9FC-4381-8D34-0ADFBFD6D7CA}"/>
              </a:ext>
            </a:extLst>
          </p:cNvPr>
          <p:cNvSpPr>
            <a:spLocks xmlns:a="http://schemas.openxmlformats.org/drawingml/2006/main" noGrp="1"/>
          </p:cNvSpPr>
          <p:nvPr/>
        </p:nvSpPr>
        <p:spPr>
          <a:xfrm xmlns:a="http://schemas.openxmlformats.org/drawingml/2006/main">
            <a:off x="8934450" y="2047875"/>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9D4E24"/>
                </a:solidFill>
                <a:latin typeface="Arial Narrow"/>
                <a:ea typeface="Arial Narrow"/>
                <a:cs typeface="Arial Narrow"/>
              </a:defRPr>
            </a:pPr>
            <a:r>
              <a:rPr sz="1125" b="1" i="0">
                <a:solidFill>
                  <a:srgbClr val="9D4E24"/>
                </a:solidFill>
                <a:latin typeface="Arial Narrow"/>
                <a:ea typeface="Arial Narrow"/>
                <a:cs typeface="Arial Narrow"/>
              </a:rPr>
              <a:t>GENERATION ISLAND</a:t>
            </a:r>
          </a:p>
        </p:txBody>
      </p:sp>
      <p:sp>
        <p:nvSpPr>
          <p:cNvPr id="23" name="">
            <a:extLst xmlns:a="http://schemas.openxmlformats.org/drawingml/2006/main">
              <a:ext uri="{FF2B5EF4-FFF2-40B4-BE49-F238E27FC236}">
                <a16:creationId xmlns:a16="http://schemas.microsoft.com/office/drawing/2014/main" id="{9D80B89B-7A80-490F-AA9E-C7823FBD68C5}"/>
              </a:ext>
            </a:extLst>
          </p:cNvPr>
          <p:cNvSpPr>
            <a:spLocks xmlns:a="http://schemas.openxmlformats.org/drawingml/2006/main" noGrp="1"/>
          </p:cNvSpPr>
          <p:nvPr/>
        </p:nvSpPr>
        <p:spPr>
          <a:xfrm xmlns:a="http://schemas.openxmlformats.org/drawingml/2006/main">
            <a:off x="8934450" y="2314575"/>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HRSG, turbine hall and GT inlet</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MV/LV/VFD · I&amp;C · F&amp;G/ESD · CEMS · heat trace</a:t>
            </a:r>
          </a:p>
        </p:txBody>
      </p:sp>
      <p:sp>
        <p:nvSpPr>
          <p:cNvPr id="24" name="">
            <a:extLst xmlns:a="http://schemas.openxmlformats.org/drawingml/2006/main">
              <a:ext uri="{FF2B5EF4-FFF2-40B4-BE49-F238E27FC236}">
                <a16:creationId xmlns:a16="http://schemas.microsoft.com/office/drawing/2014/main" id="{744BE2C6-4998-4ADD-B25C-54E9CF5DEFB5}"/>
              </a:ext>
            </a:extLst>
          </p:cNvPr>
          <p:cNvSpPr>
            <a:spLocks xmlns:a="http://schemas.openxmlformats.org/drawingml/2006/main" noGrp="1"/>
          </p:cNvSpPr>
          <p:nvPr/>
        </p:nvSpPr>
        <p:spPr>
          <a:xfrm xmlns:a="http://schemas.openxmlformats.org/drawingml/2006/main" rot="0">
            <a:off x="8934450" y="3019425"/>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25" name="">
            <a:extLst xmlns:a="http://schemas.openxmlformats.org/drawingml/2006/main">
              <a:ext uri="{FF2B5EF4-FFF2-40B4-BE49-F238E27FC236}">
                <a16:creationId xmlns:a16="http://schemas.microsoft.com/office/drawing/2014/main" id="{48DFCEB2-9877-47A3-90FC-88FC2002307B}"/>
              </a:ext>
            </a:extLst>
          </p:cNvPr>
          <p:cNvSpPr>
            <a:spLocks xmlns:a="http://schemas.openxmlformats.org/drawingml/2006/main" noGrp="1"/>
          </p:cNvSpPr>
          <p:nvPr/>
        </p:nvSpPr>
        <p:spPr>
          <a:xfrm xmlns:a="http://schemas.openxmlformats.org/drawingml/2006/main">
            <a:off x="8934450" y="303847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9D4E24"/>
                </a:solidFill>
                <a:latin typeface="Arial Narrow"/>
                <a:ea typeface="Arial Narrow"/>
                <a:cs typeface="Arial Narrow"/>
              </a:defRPr>
            </a:pPr>
            <a:r>
              <a:rPr sz="900" b="1" i="0">
                <a:solidFill>
                  <a:srgbClr val="9D4E24"/>
                </a:solidFill>
                <a:latin typeface="Arial Narrow"/>
                <a:ea typeface="Arial Narrow"/>
                <a:cs typeface="Arial Narrow"/>
              </a:rPr>
              <a:t>11, 12, 13</a:t>
            </a:r>
          </a:p>
        </p:txBody>
      </p:sp>
      <p:sp>
        <p:nvSpPr>
          <p:cNvPr id="26" name="">
            <a:extLst xmlns:a="http://schemas.openxmlformats.org/drawingml/2006/main">
              <a:ext uri="{FF2B5EF4-FFF2-40B4-BE49-F238E27FC236}">
                <a16:creationId xmlns:a16="http://schemas.microsoft.com/office/drawing/2014/main" id="{FE2B3B4A-B3CD-4A22-975D-95F37B77905A}"/>
              </a:ext>
            </a:extLst>
          </p:cNvPr>
          <p:cNvSpPr>
            <a:spLocks xmlns:a="http://schemas.openxmlformats.org/drawingml/2006/main" noGrp="1"/>
          </p:cNvSpPr>
          <p:nvPr/>
        </p:nvSpPr>
        <p:spPr>
          <a:xfrm xmlns:a="http://schemas.openxmlformats.org/drawingml/2006/main">
            <a:off x="8934450" y="3352800"/>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9D4E24"/>
                </a:solidFill>
                <a:latin typeface="Arial Narrow"/>
                <a:ea typeface="Arial Narrow"/>
                <a:cs typeface="Arial Narrow"/>
              </a:defRPr>
            </a:pPr>
            <a:r>
              <a:rPr sz="1125" b="1" i="0">
                <a:solidFill>
                  <a:srgbClr val="9D4E24"/>
                </a:solidFill>
                <a:latin typeface="Arial Narrow"/>
                <a:ea typeface="Arial Narrow"/>
                <a:cs typeface="Arial Narrow"/>
              </a:rPr>
              <a:t>HEAT REJECTION + WATER</a:t>
            </a:r>
          </a:p>
        </p:txBody>
      </p:sp>
      <p:sp>
        <p:nvSpPr>
          <p:cNvPr id="27" name="">
            <a:extLst xmlns:a="http://schemas.openxmlformats.org/drawingml/2006/main">
              <a:ext uri="{FF2B5EF4-FFF2-40B4-BE49-F238E27FC236}">
                <a16:creationId xmlns:a16="http://schemas.microsoft.com/office/drawing/2014/main" id="{0631A745-E5D4-48FB-9989-9FBA2FC65BA2}"/>
              </a:ext>
            </a:extLst>
          </p:cNvPr>
          <p:cNvSpPr>
            <a:spLocks xmlns:a="http://schemas.openxmlformats.org/drawingml/2006/main" noGrp="1"/>
          </p:cNvSpPr>
          <p:nvPr/>
        </p:nvSpPr>
        <p:spPr>
          <a:xfrm xmlns:a="http://schemas.openxmlformats.org/drawingml/2006/main">
            <a:off x="8934450" y="3619500"/>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ACC, cooling and water/wastewater</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Repeated fan/pump power · VFD · controls · wet runs</a:t>
            </a:r>
          </a:p>
        </p:txBody>
      </p:sp>
      <p:sp>
        <p:nvSpPr>
          <p:cNvPr id="28" name="">
            <a:extLst xmlns:a="http://schemas.openxmlformats.org/drawingml/2006/main">
              <a:ext uri="{FF2B5EF4-FFF2-40B4-BE49-F238E27FC236}">
                <a16:creationId xmlns:a16="http://schemas.microsoft.com/office/drawing/2014/main" id="{75A8C467-CE20-456D-BB9F-C83FAC094D0B}"/>
              </a:ext>
            </a:extLst>
          </p:cNvPr>
          <p:cNvSpPr>
            <a:spLocks xmlns:a="http://schemas.openxmlformats.org/drawingml/2006/main" noGrp="1"/>
          </p:cNvSpPr>
          <p:nvPr/>
        </p:nvSpPr>
        <p:spPr>
          <a:xfrm xmlns:a="http://schemas.openxmlformats.org/drawingml/2006/main" rot="0">
            <a:off x="8934450" y="4324350"/>
            <a:ext cx="800100" cy="238125"/>
          </a:xfrm>
          <a:prstGeom xmlns:a="http://schemas.openxmlformats.org/drawingml/2006/main" prst="roundRect">
            <a:avLst>
              <a:gd name="adj" fmla="val 50000"/>
            </a:avLst>
          </a:prstGeom>
          <a:solidFill xmlns:a="http://schemas.openxmlformats.org/drawingml/2006/main">
            <a:srgbClr val="F2E3D8"/>
          </a:solidFill>
          <a:ln xmlns:a="http://schemas.openxmlformats.org/drawingml/2006/main" w="9525">
            <a:solidFill>
              <a:srgbClr val="F2E3D8"/>
            </a:solidFill>
            <a:prstDash val="solid"/>
          </a:ln>
        </p:spPr>
      </p:sp>
      <p:sp>
        <p:nvSpPr>
          <p:cNvPr id="29" name="">
            <a:extLst xmlns:a="http://schemas.openxmlformats.org/drawingml/2006/main">
              <a:ext uri="{FF2B5EF4-FFF2-40B4-BE49-F238E27FC236}">
                <a16:creationId xmlns:a16="http://schemas.microsoft.com/office/drawing/2014/main" id="{09BB0FB1-1866-4D54-ADE3-77211A8F96AE}"/>
              </a:ext>
            </a:extLst>
          </p:cNvPr>
          <p:cNvSpPr>
            <a:spLocks xmlns:a="http://schemas.openxmlformats.org/drawingml/2006/main" noGrp="1"/>
          </p:cNvSpPr>
          <p:nvPr/>
        </p:nvSpPr>
        <p:spPr>
          <a:xfrm xmlns:a="http://schemas.openxmlformats.org/drawingml/2006/main">
            <a:off x="8934450" y="43434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900" b="1" i="0">
                <a:solidFill>
                  <a:srgbClr val="9D4E24"/>
                </a:solidFill>
                <a:latin typeface="Arial Narrow"/>
                <a:ea typeface="Arial Narrow"/>
                <a:cs typeface="Arial Narrow"/>
              </a:defRPr>
            </a:pPr>
            <a:r>
              <a:rPr sz="900" b="1" i="0">
                <a:solidFill>
                  <a:srgbClr val="9D4E24"/>
                </a:solidFill>
                <a:latin typeface="Arial Narrow"/>
                <a:ea typeface="Arial Narrow"/>
                <a:cs typeface="Arial Narrow"/>
              </a:rPr>
              <a:t>14, 15</a:t>
            </a:r>
          </a:p>
        </p:txBody>
      </p:sp>
      <p:sp>
        <p:nvSpPr>
          <p:cNvPr id="30" name="">
            <a:extLst xmlns:a="http://schemas.openxmlformats.org/drawingml/2006/main">
              <a:ext uri="{FF2B5EF4-FFF2-40B4-BE49-F238E27FC236}">
                <a16:creationId xmlns:a16="http://schemas.microsoft.com/office/drawing/2014/main" id="{5768C929-A254-489D-8D15-705FED3A8728}"/>
              </a:ext>
            </a:extLst>
          </p:cNvPr>
          <p:cNvSpPr>
            <a:spLocks xmlns:a="http://schemas.openxmlformats.org/drawingml/2006/main" noGrp="1"/>
          </p:cNvSpPr>
          <p:nvPr/>
        </p:nvSpPr>
        <p:spPr>
          <a:xfrm xmlns:a="http://schemas.openxmlformats.org/drawingml/2006/main">
            <a:off x="8934450" y="4657725"/>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9D4E24"/>
                </a:solidFill>
                <a:latin typeface="Arial Narrow"/>
                <a:ea typeface="Arial Narrow"/>
                <a:cs typeface="Arial Narrow"/>
              </a:defRPr>
            </a:pPr>
            <a:r>
              <a:rPr sz="1125" b="1" i="0">
                <a:solidFill>
                  <a:srgbClr val="9D4E24"/>
                </a:solidFill>
                <a:latin typeface="Arial Narrow"/>
                <a:ea typeface="Arial Narrow"/>
                <a:cs typeface="Arial Narrow"/>
              </a:rPr>
              <a:t>OPTIONAL + AUXILIARY</a:t>
            </a:r>
          </a:p>
        </p:txBody>
      </p:sp>
      <p:sp>
        <p:nvSpPr>
          <p:cNvPr id="31" name="">
            <a:extLst xmlns:a="http://schemas.openxmlformats.org/drawingml/2006/main">
              <a:ext uri="{FF2B5EF4-FFF2-40B4-BE49-F238E27FC236}">
                <a16:creationId xmlns:a16="http://schemas.microsoft.com/office/drawing/2014/main" id="{861280B1-D9A6-4726-B19C-3B743B5B8BCD}"/>
              </a:ext>
            </a:extLst>
          </p:cNvPr>
          <p:cNvSpPr>
            <a:spLocks xmlns:a="http://schemas.openxmlformats.org/drawingml/2006/main" noGrp="1"/>
          </p:cNvSpPr>
          <p:nvPr/>
        </p:nvSpPr>
        <p:spPr>
          <a:xfrm xmlns:a="http://schemas.openxmlformats.org/drawingml/2006/main">
            <a:off x="8934450" y="4924425"/>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Carbon capture and gas metering</a:t>
            </a:r>
          </a:p>
          <a:p xmlns:a="http://schemas.openxmlformats.org/drawingml/2006/main">
            <a:pPr algn="l">
              <a:lnSpc>
                <a:spcPct val="103000"/>
              </a:lnSpc>
              <a:buNone/>
              <a:defRPr sz="1050" b="0" i="0">
                <a:solidFill>
                  <a:srgbClr val="6A6F73"/>
                </a:solidFill>
                <a:latin typeface="Arial"/>
                <a:ea typeface="Arial"/>
                <a:cs typeface="Arial"/>
              </a:defRPr>
            </a:pPr>
            <a:r>
              <a:rPr sz="1050" b="0" i="0">
                <a:solidFill>
                  <a:srgbClr val="6A6F73"/>
                </a:solidFill>
                <a:latin typeface="Arial"/>
                <a:ea typeface="Arial"/>
                <a:cs typeface="Arial"/>
              </a:rPr>
              <a:t>Classified power/control · instrumentation · F&amp;G · fiber</a:t>
            </a:r>
          </a:p>
        </p:txBody>
      </p:sp>
      <p:sp>
        <p:nvSpPr>
          <p:cNvPr id="32" name="">
            <a:extLst xmlns:a="http://schemas.openxmlformats.org/drawingml/2006/main">
              <a:ext uri="{FF2B5EF4-FFF2-40B4-BE49-F238E27FC236}">
                <a16:creationId xmlns:a16="http://schemas.microsoft.com/office/drawing/2014/main" id="{45D23566-1B31-4E8D-BE90-45195AD7ED8A}"/>
              </a:ext>
            </a:extLst>
          </p:cNvPr>
          <p:cNvSpPr>
            <a:spLocks xmlns:a="http://schemas.openxmlformats.org/drawingml/2006/main" noGrp="1"/>
          </p:cNvSpPr>
          <p:nvPr/>
        </p:nvSpPr>
        <p:spPr>
          <a:xfrm xmlns:a="http://schemas.openxmlformats.org/drawingml/2006/main" rot="0">
            <a:off x="552450" y="5867400"/>
            <a:ext cx="11087100" cy="666750"/>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BC0C618-FF74-433A-AA0C-C035DF6A6605}"/>
              </a:ext>
            </a:extLst>
          </p:cNvPr>
          <p:cNvSpPr>
            <a:spLocks xmlns:a="http://schemas.openxmlformats.org/drawingml/2006/main" noGrp="1"/>
          </p:cNvSpPr>
          <p:nvPr/>
        </p:nvSpPr>
        <p:spPr>
          <a:xfrm xmlns:a="http://schemas.openxmlformats.org/drawingml/2006/main">
            <a:off x="762000" y="60579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E3A06D"/>
                </a:solidFill>
                <a:latin typeface="Arial Narrow"/>
                <a:ea typeface="Arial Narrow"/>
                <a:cs typeface="Arial Narrow"/>
              </a:defRPr>
            </a:pPr>
            <a:r>
              <a:rPr sz="1050" b="1" i="0">
                <a:solidFill>
                  <a:srgbClr val="E3A06D"/>
                </a:solidFill>
                <a:latin typeface="Arial Narrow"/>
                <a:ea typeface="Arial Narrow"/>
                <a:cs typeface="Arial Narrow"/>
              </a:rPr>
              <a:t>CABLE CLASSES</a:t>
            </a:r>
          </a:p>
        </p:txBody>
      </p:sp>
      <p:sp>
        <p:nvSpPr>
          <p:cNvPr id="34" name="">
            <a:extLst xmlns:a="http://schemas.openxmlformats.org/drawingml/2006/main">
              <a:ext uri="{FF2B5EF4-FFF2-40B4-BE49-F238E27FC236}">
                <a16:creationId xmlns:a16="http://schemas.microsoft.com/office/drawing/2014/main" id="{976C07A0-EA26-445C-8DDE-B768A0A8C8AD}"/>
              </a:ext>
            </a:extLst>
          </p:cNvPr>
          <p:cNvSpPr>
            <a:spLocks xmlns:a="http://schemas.openxmlformats.org/drawingml/2006/main" noGrp="1"/>
          </p:cNvSpPr>
          <p:nvPr/>
        </p:nvSpPr>
        <p:spPr>
          <a:xfrm xmlns:a="http://schemas.openxmlformats.org/drawingml/2006/main">
            <a:off x="2324100" y="6029325"/>
            <a:ext cx="897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125" b="0" i="0">
                <a:solidFill>
                  <a:srgbClr val="FFFFFF"/>
                </a:solidFill>
                <a:latin typeface="Arial"/>
                <a:ea typeface="Arial"/>
                <a:cs typeface="Arial"/>
              </a:defRPr>
            </a:pPr>
            <a:r>
              <a:rPr sz="1125" b="0" i="0">
                <a:solidFill>
                  <a:srgbClr val="FFFFFF"/>
                </a:solidFill>
                <a:latin typeface="Arial"/>
                <a:ea typeface="Arial"/>
                <a:cs typeface="Arial"/>
              </a:rPr>
              <a:t>HV/EHV  |  MV 5-35 kV  |  LV 600 V  |  VFD  |  essential AC/DC  |  I&amp;C  |  fiber/network  |  life safety  |  grounding</a:t>
            </a:r>
          </a:p>
        </p:txBody>
      </p:sp>
      <p:sp>
        <p:nvSpPr>
          <p:cNvPr id="35" name="">
            <a:extLst xmlns:a="http://schemas.openxmlformats.org/drawingml/2006/main">
              <a:ext uri="{FF2B5EF4-FFF2-40B4-BE49-F238E27FC236}">
                <a16:creationId xmlns:a16="http://schemas.microsoft.com/office/drawing/2014/main" id="{98ABFA80-5786-41C9-B6AA-A14DD56F9826}"/>
              </a:ext>
            </a:extLst>
          </p:cNvPr>
          <p:cNvSpPr>
            <a:spLocks xmlns:a="http://schemas.openxmlformats.org/drawingml/2006/main" noGrp="1"/>
          </p:cNvSpPr>
          <p:nvPr/>
        </p:nvSpPr>
        <p:spPr>
          <a:xfrm xmlns:a="http://schemas.openxmlformats.org/drawingml/2006/main">
            <a:off x="762000" y="6343650"/>
            <a:ext cx="10534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25" b="0" i="0">
                <a:solidFill>
                  <a:srgbClr val="8B9094"/>
                </a:solidFill>
                <a:latin typeface="Arial"/>
                <a:ea typeface="Arial"/>
                <a:cs typeface="Arial"/>
              </a:defRPr>
            </a:pPr>
            <a:r>
              <a:rPr sz="825" b="0" i="0">
                <a:solidFill>
                  <a:srgbClr val="8B9094"/>
                </a:solidFill>
                <a:latin typeface="Arial"/>
                <a:ea typeface="Arial"/>
                <a:cs typeface="Arial"/>
              </a:rPr>
              <a:t>Boundary: generator-output bus, OEM-internal wiring and contractor means and methods remain excluded.</a:t>
            </a:r>
          </a:p>
        </p:txBody>
      </p:sp>
    </p:spTree>
    <p:extLst>
      <p:ext uri="{BB962C8B-B14F-4D97-AF65-F5344CB8AC3E}">
        <p14:creationId xmlns:p14="http://schemas.microsoft.com/office/powerpoint/2010/main" val="1296255461"/>
      </p:ext>
    </p:extLst>
  </p:cSld>
</p:sld>
</file>

<file path=ppt/slides/slide13.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5F3F95D-40A7-4D4B-B8C0-DDF9B4580B0E}"/>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ecb628aa9ae49b6"/>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8F7F667-50EC-4256-A668-2143751CC364}"/>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9D4E24"/>
                </a:solidFill>
                <a:latin typeface="Arial Narrow"/>
                <a:ea typeface="Arial Narrow"/>
                <a:cs typeface="Arial Narrow"/>
              </a:defRPr>
            </a:pPr>
            <a:r>
              <a:rPr sz="975" b="1" i="0">
                <a:solidFill>
                  <a:srgbClr val="9D4E24"/>
                </a:solidFill>
                <a:latin typeface="Arial Narrow"/>
                <a:ea typeface="Arial Narrow"/>
                <a:cs typeface="Arial Narrow"/>
              </a:rPr>
              <a:t>APPENDIX A4 · SOUTHWIRE SUPPORT</a:t>
            </a:r>
          </a:p>
        </p:txBody>
      </p:sp>
      <p:sp>
        <p:nvSpPr>
          <p:cNvPr id="4" name="">
            <a:extLst xmlns:a="http://schemas.openxmlformats.org/drawingml/2006/main">
              <a:ext uri="{FF2B5EF4-FFF2-40B4-BE49-F238E27FC236}">
                <a16:creationId xmlns:a16="http://schemas.microsoft.com/office/drawing/2014/main" id="{8C63E066-CBA7-4679-AAA7-4E289B758EA7}"/>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13</a:t>
            </a:r>
          </a:p>
        </p:txBody>
      </p:sp>
      <p:sp>
        <p:nvSpPr>
          <p:cNvPr id="5" name="">
            <a:extLst xmlns:a="http://schemas.openxmlformats.org/drawingml/2006/main">
              <a:ext uri="{FF2B5EF4-FFF2-40B4-BE49-F238E27FC236}">
                <a16:creationId xmlns:a16="http://schemas.microsoft.com/office/drawing/2014/main" id="{0777E023-6EFD-4A47-AAB9-B8E37BFB2B89}"/>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D4E24"/>
                </a:solidFill>
                <a:latin typeface="Arial Narrow"/>
                <a:ea typeface="Arial Narrow"/>
                <a:cs typeface="Arial Narrow"/>
              </a:defRPr>
            </a:pPr>
            <a:r>
              <a:rPr sz="1050" b="1" i="0">
                <a:solidFill>
                  <a:srgbClr val="9D4E24"/>
                </a:solidFill>
                <a:latin typeface="Arial Narrow"/>
                <a:ea typeface="Arial Narrow"/>
                <a:cs typeface="Arial Narrow"/>
              </a:rPr>
              <a:t>DEFINED SUPPORT</a:t>
            </a:r>
          </a:p>
        </p:txBody>
      </p:sp>
      <p:sp>
        <p:nvSpPr>
          <p:cNvPr id="6" name="">
            <a:extLst xmlns:a="http://schemas.openxmlformats.org/drawingml/2006/main">
              <a:ext uri="{FF2B5EF4-FFF2-40B4-BE49-F238E27FC236}">
                <a16:creationId xmlns:a16="http://schemas.microsoft.com/office/drawing/2014/main" id="{868AE18F-B033-4EF0-AE5A-D6D3BD148B39}"/>
              </a:ext>
            </a:extLst>
          </p:cNvPr>
          <p:cNvSpPr>
            <a:spLocks xmlns:a="http://schemas.openxmlformats.org/drawingml/2006/main" noGrp="1"/>
          </p:cNvSpPr>
          <p:nvPr/>
        </p:nvSpPr>
        <p:spPr>
          <a:xfrm xmlns:a="http://schemas.openxmlformats.org/drawingml/2006/main">
            <a:off x="552450" y="11811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099"/>
          </a:bodyPr>
          <a:lstStyle xmlns:a="http://schemas.openxmlformats.org/drawingml/2006/main"/>
          <a:p xmlns:a="http://schemas.openxmlformats.org/drawingml/2006/main">
            <a:pPr algn="l">
              <a:lnSpc>
                <a:spcPct val="94000"/>
              </a:lnSpc>
              <a:buNone/>
              <a:defRPr sz="2850" b="1" i="0">
                <a:solidFill>
                  <a:srgbClr val="17191C"/>
                </a:solidFill>
                <a:latin typeface="Arial"/>
                <a:ea typeface="Arial"/>
                <a:cs typeface="Arial"/>
              </a:defRPr>
            </a:pPr>
            <a:r>
              <a:rPr sz="2850" b="1" i="0">
                <a:solidFill>
                  <a:srgbClr val="17191C"/>
                </a:solidFill>
                <a:latin typeface="Arial"/>
                <a:ea typeface="Arial"/>
                <a:cs typeface="Arial"/>
              </a:rPr>
              <a:t>Southwire can support selected delivery stages without taking design authority.</a:t>
            </a:r>
          </a:p>
        </p:txBody>
      </p:sp>
      <p:sp>
        <p:nvSpPr>
          <p:cNvPr id="7" name="">
            <a:extLst xmlns:a="http://schemas.openxmlformats.org/drawingml/2006/main">
              <a:ext uri="{FF2B5EF4-FFF2-40B4-BE49-F238E27FC236}">
                <a16:creationId xmlns:a16="http://schemas.microsoft.com/office/drawing/2014/main" id="{C511179C-ABE1-47D4-B7FD-544D74A9EB00}"/>
              </a:ext>
            </a:extLst>
          </p:cNvPr>
          <p:cNvSpPr>
            <a:spLocks xmlns:a="http://schemas.openxmlformats.org/drawingml/2006/main" noGrp="1"/>
          </p:cNvSpPr>
          <p:nvPr/>
        </p:nvSpPr>
        <p:spPr>
          <a:xfrm xmlns:a="http://schemas.openxmlformats.org/drawingml/2006/main">
            <a:off x="552450" y="2266950"/>
            <a:ext cx="1000125"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8" name="">
            <a:extLst xmlns:a="http://schemas.openxmlformats.org/drawingml/2006/main">
              <a:ext uri="{FF2B5EF4-FFF2-40B4-BE49-F238E27FC236}">
                <a16:creationId xmlns:a16="http://schemas.microsoft.com/office/drawing/2014/main" id="{2397A7A0-0211-432F-ACC1-0F8518E668CD}"/>
              </a:ext>
            </a:extLst>
          </p:cNvPr>
          <p:cNvSpPr>
            <a:spLocks xmlns:a="http://schemas.openxmlformats.org/drawingml/2006/main" noGrp="1"/>
          </p:cNvSpPr>
          <p:nvPr/>
        </p:nvSpPr>
        <p:spPr>
          <a:xfrm xmlns:a="http://schemas.openxmlformats.org/drawingml/2006/main">
            <a:off x="552450" y="2505075"/>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Narrow"/>
                <a:ea typeface="Arial Narrow"/>
                <a:cs typeface="Arial Narrow"/>
              </a:defRPr>
            </a:pPr>
            <a:r>
              <a:rPr sz="1875" b="1" i="0">
                <a:solidFill>
                  <a:srgbClr val="17191C"/>
                </a:solidFill>
                <a:latin typeface="Arial Narrow"/>
                <a:ea typeface="Arial Narrow"/>
                <a:cs typeface="Arial Narrow"/>
              </a:rPr>
              <a:t>ALIGN</a:t>
            </a:r>
          </a:p>
        </p:txBody>
      </p:sp>
      <p:sp>
        <p:nvSpPr>
          <p:cNvPr id="9" name="">
            <a:extLst xmlns:a="http://schemas.openxmlformats.org/drawingml/2006/main">
              <a:ext uri="{FF2B5EF4-FFF2-40B4-BE49-F238E27FC236}">
                <a16:creationId xmlns:a16="http://schemas.microsoft.com/office/drawing/2014/main" id="{6D754226-ABDE-4F00-9923-90D3EFBB7D4E}"/>
              </a:ext>
            </a:extLst>
          </p:cNvPr>
          <p:cNvSpPr>
            <a:spLocks xmlns:a="http://schemas.openxmlformats.org/drawingml/2006/main" noGrp="1"/>
          </p:cNvSpPr>
          <p:nvPr/>
        </p:nvSpPr>
        <p:spPr>
          <a:xfrm xmlns:a="http://schemas.openxmlformats.org/drawingml/2006/main">
            <a:off x="552450" y="3095625"/>
            <a:ext cx="3190875"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2000"/>
              </a:lnSpc>
              <a:buNone/>
              <a:defRPr sz="1425" b="0" i="0">
                <a:solidFill>
                  <a:srgbClr val="6A6F73"/>
                </a:solidFill>
                <a:latin typeface="Arial"/>
                <a:ea typeface="Arial"/>
                <a:cs typeface="Arial"/>
              </a:defRPr>
            </a:pPr>
            <a:r>
              <a:rPr sz="1425" b="0" i="0">
                <a:solidFill>
                  <a:srgbClr val="6A6F73"/>
                </a:solidFill>
                <a:latin typeface="Arial"/>
                <a:ea typeface="Arial"/>
                <a:cs typeface="Arial"/>
              </a:rPr>
              <a:t>Application and BOM review</a:t>
            </a:r>
          </a:p>
          <a:p xmlns:a="http://schemas.openxmlformats.org/drawingml/2006/main">
            <a:pPr algn="l">
              <a:lnSpc>
                <a:spcPct val="132000"/>
              </a:lnSpc>
              <a:buNone/>
              <a:defRPr sz="1425" b="0" i="0">
                <a:solidFill>
                  <a:srgbClr val="6A6F73"/>
                </a:solidFill>
                <a:latin typeface="Arial"/>
                <a:ea typeface="Arial"/>
                <a:cs typeface="Arial"/>
              </a:defRPr>
            </a:pPr>
            <a:r>
              <a:rPr sz="1425" b="0" i="0">
                <a:solidFill>
                  <a:srgbClr val="6A6F73"/>
                </a:solidFill>
                <a:latin typeface="Arial"/>
                <a:ea typeface="Arial"/>
                <a:cs typeface="Arial"/>
              </a:rPr>
              <a:t>Alternative-construction evaluation</a:t>
            </a:r>
          </a:p>
          <a:p xmlns:a="http://schemas.openxmlformats.org/drawingml/2006/main">
            <a:pPr algn="l">
              <a:lnSpc>
                <a:spcPct val="132000"/>
              </a:lnSpc>
              <a:buNone/>
              <a:defRPr sz="1425" b="0" i="0">
                <a:solidFill>
                  <a:srgbClr val="6A6F73"/>
                </a:solidFill>
                <a:latin typeface="Arial"/>
                <a:ea typeface="Arial"/>
                <a:cs typeface="Arial"/>
              </a:defRPr>
            </a:pPr>
            <a:r>
              <a:rPr sz="1425" b="0" i="0">
                <a:solidFill>
                  <a:srgbClr val="6A6F73"/>
                </a:solidFill>
                <a:latin typeface="Arial"/>
                <a:ea typeface="Arial"/>
                <a:cs typeface="Arial"/>
              </a:rPr>
              <a:t>Multidisciplinary cable support</a:t>
            </a:r>
          </a:p>
        </p:txBody>
      </p:sp>
      <p:sp>
        <p:nvSpPr>
          <p:cNvPr id="10" name="">
            <a:extLst xmlns:a="http://schemas.openxmlformats.org/drawingml/2006/main">
              <a:ext uri="{FF2B5EF4-FFF2-40B4-BE49-F238E27FC236}">
                <a16:creationId xmlns:a16="http://schemas.microsoft.com/office/drawing/2014/main" id="{6A2DCF63-312C-4CC7-BB9B-63D6109E8C45}"/>
              </a:ext>
            </a:extLst>
          </p:cNvPr>
          <p:cNvSpPr>
            <a:spLocks xmlns:a="http://schemas.openxmlformats.org/drawingml/2006/main" noGrp="1"/>
          </p:cNvSpPr>
          <p:nvPr/>
        </p:nvSpPr>
        <p:spPr>
          <a:xfrm xmlns:a="http://schemas.openxmlformats.org/drawingml/2006/main">
            <a:off x="4038600" y="2276475"/>
            <a:ext cx="0" cy="2752725"/>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1" name="">
            <a:extLst xmlns:a="http://schemas.openxmlformats.org/drawingml/2006/main">
              <a:ext uri="{FF2B5EF4-FFF2-40B4-BE49-F238E27FC236}">
                <a16:creationId xmlns:a16="http://schemas.microsoft.com/office/drawing/2014/main" id="{103122BE-CD6A-4967-93A8-4ACD26E60856}"/>
              </a:ext>
            </a:extLst>
          </p:cNvPr>
          <p:cNvSpPr>
            <a:spLocks xmlns:a="http://schemas.openxmlformats.org/drawingml/2006/main" noGrp="1"/>
          </p:cNvSpPr>
          <p:nvPr/>
        </p:nvSpPr>
        <p:spPr>
          <a:xfrm xmlns:a="http://schemas.openxmlformats.org/drawingml/2006/main">
            <a:off x="4257675" y="2266950"/>
            <a:ext cx="1000125"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12" name="">
            <a:extLst xmlns:a="http://schemas.openxmlformats.org/drawingml/2006/main">
              <a:ext uri="{FF2B5EF4-FFF2-40B4-BE49-F238E27FC236}">
                <a16:creationId xmlns:a16="http://schemas.microsoft.com/office/drawing/2014/main" id="{74BF8C22-A66C-4F37-A929-AEBB0404FF48}"/>
              </a:ext>
            </a:extLst>
          </p:cNvPr>
          <p:cNvSpPr>
            <a:spLocks xmlns:a="http://schemas.openxmlformats.org/drawingml/2006/main" noGrp="1"/>
          </p:cNvSpPr>
          <p:nvPr/>
        </p:nvSpPr>
        <p:spPr>
          <a:xfrm xmlns:a="http://schemas.openxmlformats.org/drawingml/2006/main">
            <a:off x="4257675" y="2505075"/>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Narrow"/>
                <a:ea typeface="Arial Narrow"/>
                <a:cs typeface="Arial Narrow"/>
              </a:defRPr>
            </a:pPr>
            <a:r>
              <a:rPr sz="1875" b="1" i="0">
                <a:solidFill>
                  <a:srgbClr val="17191C"/>
                </a:solidFill>
                <a:latin typeface="Arial Narrow"/>
                <a:ea typeface="Arial Narrow"/>
                <a:cs typeface="Arial Narrow"/>
              </a:rPr>
              <a:t>COORDINATE</a:t>
            </a:r>
          </a:p>
        </p:txBody>
      </p:sp>
      <p:sp>
        <p:nvSpPr>
          <p:cNvPr id="13" name="">
            <a:extLst xmlns:a="http://schemas.openxmlformats.org/drawingml/2006/main">
              <a:ext uri="{FF2B5EF4-FFF2-40B4-BE49-F238E27FC236}">
                <a16:creationId xmlns:a16="http://schemas.microsoft.com/office/drawing/2014/main" id="{ECE1901B-EFF2-4CAE-AD20-741DEE5D4C95}"/>
              </a:ext>
            </a:extLst>
          </p:cNvPr>
          <p:cNvSpPr>
            <a:spLocks xmlns:a="http://schemas.openxmlformats.org/drawingml/2006/main" noGrp="1"/>
          </p:cNvSpPr>
          <p:nvPr/>
        </p:nvSpPr>
        <p:spPr>
          <a:xfrm xmlns:a="http://schemas.openxmlformats.org/drawingml/2006/main">
            <a:off x="4257675" y="3095625"/>
            <a:ext cx="3190875"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2000"/>
              </a:lnSpc>
              <a:buNone/>
              <a:defRPr sz="1425" b="0" i="0">
                <a:solidFill>
                  <a:srgbClr val="6A6F73"/>
                </a:solidFill>
                <a:latin typeface="Arial"/>
                <a:ea typeface="Arial"/>
                <a:cs typeface="Arial"/>
              </a:defRPr>
            </a:pPr>
            <a:r>
              <a:rPr sz="1425" b="0" i="0">
                <a:solidFill>
                  <a:srgbClr val="6A6F73"/>
                </a:solidFill>
                <a:latin typeface="Arial"/>
                <a:ea typeface="Arial"/>
                <a:cs typeface="Arial"/>
              </a:rPr>
              <a:t>Project cable management</a:t>
            </a:r>
          </a:p>
          <a:p xmlns:a="http://schemas.openxmlformats.org/drawingml/2006/main">
            <a:pPr algn="l">
              <a:lnSpc>
                <a:spcPct val="132000"/>
              </a:lnSpc>
              <a:buNone/>
              <a:defRPr sz="1425" b="0" i="0">
                <a:solidFill>
                  <a:srgbClr val="6A6F73"/>
                </a:solidFill>
                <a:latin typeface="Arial"/>
                <a:ea typeface="Arial"/>
                <a:cs typeface="Arial"/>
              </a:defRPr>
            </a:pPr>
            <a:r>
              <a:rPr sz="1425" b="0" i="0">
                <a:solidFill>
                  <a:srgbClr val="6A6F73"/>
                </a:solidFill>
                <a:latin typeface="Arial"/>
                <a:ea typeface="Arial"/>
                <a:cs typeface="Arial"/>
              </a:rPr>
              <a:t>Inventory and release coordination</a:t>
            </a:r>
          </a:p>
          <a:p xmlns:a="http://schemas.openxmlformats.org/drawingml/2006/main">
            <a:pPr algn="l">
              <a:lnSpc>
                <a:spcPct val="132000"/>
              </a:lnSpc>
              <a:buNone/>
              <a:defRPr sz="1425" b="0" i="0">
                <a:solidFill>
                  <a:srgbClr val="6A6F73"/>
                </a:solidFill>
                <a:latin typeface="Arial"/>
                <a:ea typeface="Arial"/>
                <a:cs typeface="Arial"/>
              </a:defRPr>
            </a:pPr>
            <a:r>
              <a:rPr sz="1425" b="0" i="0">
                <a:solidFill>
                  <a:srgbClr val="6A6F73"/>
                </a:solidFill>
                <a:latin typeface="Arial"/>
                <a:ea typeface="Arial"/>
                <a:cs typeface="Arial"/>
              </a:rPr>
              <a:t>Reel, cut and sequence planning</a:t>
            </a:r>
          </a:p>
        </p:txBody>
      </p:sp>
      <p:sp>
        <p:nvSpPr>
          <p:cNvPr id="14" name="">
            <a:extLst xmlns:a="http://schemas.openxmlformats.org/drawingml/2006/main">
              <a:ext uri="{FF2B5EF4-FFF2-40B4-BE49-F238E27FC236}">
                <a16:creationId xmlns:a16="http://schemas.microsoft.com/office/drawing/2014/main" id="{BEC2CE63-BE4A-4574-8C95-3D78CA437FDE}"/>
              </a:ext>
            </a:extLst>
          </p:cNvPr>
          <p:cNvSpPr>
            <a:spLocks xmlns:a="http://schemas.openxmlformats.org/drawingml/2006/main" noGrp="1"/>
          </p:cNvSpPr>
          <p:nvPr/>
        </p:nvSpPr>
        <p:spPr>
          <a:xfrm xmlns:a="http://schemas.openxmlformats.org/drawingml/2006/main">
            <a:off x="7743825" y="2276475"/>
            <a:ext cx="0" cy="2752725"/>
          </a:xfrm>
          <a:prstGeom xmlns:a="http://schemas.openxmlformats.org/drawingml/2006/main" prst="line">
            <a:avLst/>
          </a:prstGeom>
          <a:noFill xmlns:a="http://schemas.openxmlformats.org/drawingml/2006/main"/>
          <a:ln xmlns:a="http://schemas.openxmlformats.org/drawingml/2006/main" w="9525">
            <a:solidFill>
              <a:srgbClr val="D8D1C8"/>
            </a:solidFill>
            <a:prstDash val="solid"/>
          </a:ln>
        </p:spPr>
      </p:sp>
      <p:sp>
        <p:nvSpPr>
          <p:cNvPr id="15" name="">
            <a:extLst xmlns:a="http://schemas.openxmlformats.org/drawingml/2006/main">
              <a:ext uri="{FF2B5EF4-FFF2-40B4-BE49-F238E27FC236}">
                <a16:creationId xmlns:a16="http://schemas.microsoft.com/office/drawing/2014/main" id="{F275B815-323A-48D0-9D69-5DE13BBE0208}"/>
              </a:ext>
            </a:extLst>
          </p:cNvPr>
          <p:cNvSpPr>
            <a:spLocks xmlns:a="http://schemas.openxmlformats.org/drawingml/2006/main" noGrp="1"/>
          </p:cNvSpPr>
          <p:nvPr/>
        </p:nvSpPr>
        <p:spPr>
          <a:xfrm xmlns:a="http://schemas.openxmlformats.org/drawingml/2006/main">
            <a:off x="7962900" y="2266950"/>
            <a:ext cx="1000125" cy="0"/>
          </a:xfrm>
          <a:prstGeom xmlns:a="http://schemas.openxmlformats.org/drawingml/2006/main" prst="line">
            <a:avLst/>
          </a:prstGeom>
          <a:noFill xmlns:a="http://schemas.openxmlformats.org/drawingml/2006/main"/>
          <a:ln xmlns:a="http://schemas.openxmlformats.org/drawingml/2006/main" w="38100">
            <a:solidFill>
              <a:srgbClr val="C9783E"/>
            </a:solidFill>
            <a:prstDash val="solid"/>
          </a:ln>
        </p:spPr>
      </p:sp>
      <p:sp>
        <p:nvSpPr>
          <p:cNvPr id="16" name="">
            <a:extLst xmlns:a="http://schemas.openxmlformats.org/drawingml/2006/main">
              <a:ext uri="{FF2B5EF4-FFF2-40B4-BE49-F238E27FC236}">
                <a16:creationId xmlns:a16="http://schemas.microsoft.com/office/drawing/2014/main" id="{A4E73447-38E3-4D91-9726-7A3D53701651}"/>
              </a:ext>
            </a:extLst>
          </p:cNvPr>
          <p:cNvSpPr>
            <a:spLocks xmlns:a="http://schemas.openxmlformats.org/drawingml/2006/main" noGrp="1"/>
          </p:cNvSpPr>
          <p:nvPr/>
        </p:nvSpPr>
        <p:spPr>
          <a:xfrm xmlns:a="http://schemas.openxmlformats.org/drawingml/2006/main">
            <a:off x="7962900" y="2505075"/>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7191C"/>
                </a:solidFill>
                <a:latin typeface="Arial Narrow"/>
                <a:ea typeface="Arial Narrow"/>
                <a:cs typeface="Arial Narrow"/>
              </a:defRPr>
            </a:pPr>
            <a:r>
              <a:rPr sz="1875" b="1" i="0">
                <a:solidFill>
                  <a:srgbClr val="17191C"/>
                </a:solidFill>
                <a:latin typeface="Arial Narrow"/>
                <a:ea typeface="Arial Narrow"/>
                <a:cs typeface="Arial Narrow"/>
              </a:rPr>
              <a:t>PREPARE + SUPPORT</a:t>
            </a:r>
          </a:p>
        </p:txBody>
      </p:sp>
      <p:sp>
        <p:nvSpPr>
          <p:cNvPr id="17" name="">
            <a:extLst xmlns:a="http://schemas.openxmlformats.org/drawingml/2006/main">
              <a:ext uri="{FF2B5EF4-FFF2-40B4-BE49-F238E27FC236}">
                <a16:creationId xmlns:a16="http://schemas.microsoft.com/office/drawing/2014/main" id="{00F0646A-15D6-4C8E-80FC-195CF57C279F}"/>
              </a:ext>
            </a:extLst>
          </p:cNvPr>
          <p:cNvSpPr>
            <a:spLocks xmlns:a="http://schemas.openxmlformats.org/drawingml/2006/main" noGrp="1"/>
          </p:cNvSpPr>
          <p:nvPr/>
        </p:nvSpPr>
        <p:spPr>
          <a:xfrm xmlns:a="http://schemas.openxmlformats.org/drawingml/2006/main">
            <a:off x="7962900" y="3095625"/>
            <a:ext cx="3190875"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2000"/>
              </a:lnSpc>
              <a:buNone/>
              <a:defRPr sz="1425" b="0" i="0">
                <a:solidFill>
                  <a:srgbClr val="6A6F73"/>
                </a:solidFill>
                <a:latin typeface="Arial"/>
                <a:ea typeface="Arial"/>
                <a:cs typeface="Arial"/>
              </a:defRPr>
            </a:pPr>
            <a:r>
              <a:rPr sz="1425" b="0" i="0">
                <a:solidFill>
                  <a:srgbClr val="6A6F73"/>
                </a:solidFill>
                <a:latin typeface="Arial"/>
                <a:ea typeface="Arial"/>
                <a:cs typeface="Arial"/>
              </a:rPr>
              <a:t>Striping, marking and labeling</a:t>
            </a:r>
          </a:p>
          <a:p xmlns:a="http://schemas.openxmlformats.org/drawingml/2006/main">
            <a:pPr algn="l">
              <a:lnSpc>
                <a:spcPct val="132000"/>
              </a:lnSpc>
              <a:buNone/>
              <a:defRPr sz="1425" b="0" i="0">
                <a:solidFill>
                  <a:srgbClr val="6A6F73"/>
                </a:solidFill>
                <a:latin typeface="Arial"/>
                <a:ea typeface="Arial"/>
                <a:cs typeface="Arial"/>
              </a:defRPr>
            </a:pPr>
            <a:r>
              <a:rPr sz="1425" b="0" i="0">
                <a:solidFill>
                  <a:srgbClr val="6A6F73"/>
                </a:solidFill>
                <a:latin typeface="Arial"/>
                <a:ea typeface="Arial"/>
                <a:cs typeface="Arial"/>
              </a:rPr>
              <a:t>Kitting and bundling</a:t>
            </a:r>
          </a:p>
          <a:p xmlns:a="http://schemas.openxmlformats.org/drawingml/2006/main">
            <a:pPr algn="l">
              <a:lnSpc>
                <a:spcPct val="132000"/>
              </a:lnSpc>
              <a:buNone/>
              <a:defRPr sz="1425" b="0" i="0">
                <a:solidFill>
                  <a:srgbClr val="6A6F73"/>
                </a:solidFill>
                <a:latin typeface="Arial"/>
                <a:ea typeface="Arial"/>
                <a:cs typeface="Arial"/>
              </a:defRPr>
            </a:pPr>
            <a:r>
              <a:rPr sz="1425" b="0" i="0">
                <a:solidFill>
                  <a:srgbClr val="6A6F73"/>
                </a:solidFill>
                <a:latin typeface="Arial"/>
                <a:ea typeface="Arial"/>
                <a:cs typeface="Arial"/>
              </a:rPr>
              <a:t>Selected field and lifecycle support</a:t>
            </a:r>
          </a:p>
        </p:txBody>
      </p:sp>
      <p:sp>
        <p:nvSpPr>
          <p:cNvPr id="18" name="">
            <a:extLst xmlns:a="http://schemas.openxmlformats.org/drawingml/2006/main">
              <a:ext uri="{FF2B5EF4-FFF2-40B4-BE49-F238E27FC236}">
                <a16:creationId xmlns:a16="http://schemas.microsoft.com/office/drawing/2014/main" id="{267A0DF1-0652-4D0E-A7D0-B6814CEB0E13}"/>
              </a:ext>
            </a:extLst>
          </p:cNvPr>
          <p:cNvSpPr>
            <a:spLocks xmlns:a="http://schemas.openxmlformats.org/drawingml/2006/main" noGrp="1"/>
          </p:cNvSpPr>
          <p:nvPr/>
        </p:nvSpPr>
        <p:spPr>
          <a:xfrm xmlns:a="http://schemas.openxmlformats.org/drawingml/2006/main" rot="0">
            <a:off x="552450" y="5267325"/>
            <a:ext cx="11087100" cy="866775"/>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2FED87-80D9-492D-8890-C4C4B02959B4}"/>
              </a:ext>
            </a:extLst>
          </p:cNvPr>
          <p:cNvSpPr>
            <a:spLocks xmlns:a="http://schemas.openxmlformats.org/drawingml/2006/main" noGrp="1"/>
          </p:cNvSpPr>
          <p:nvPr/>
        </p:nvSpPr>
        <p:spPr>
          <a:xfrm xmlns:a="http://schemas.openxmlformats.org/drawingml/2006/main">
            <a:off x="781050" y="5486400"/>
            <a:ext cx="3476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E3A06D"/>
                </a:solidFill>
                <a:latin typeface="Arial Narrow"/>
                <a:ea typeface="Arial Narrow"/>
                <a:cs typeface="Arial Narrow"/>
              </a:defRPr>
            </a:pPr>
            <a:r>
              <a:rPr sz="1200" b="1" i="0">
                <a:solidFill>
                  <a:srgbClr val="E3A06D"/>
                </a:solidFill>
                <a:latin typeface="Arial Narrow"/>
                <a:ea typeface="Arial Narrow"/>
                <a:cs typeface="Arial Narrow"/>
              </a:rPr>
              <a:t>PROCUREMENT + SUSTAINABILITY SUPPORT</a:t>
            </a:r>
          </a:p>
        </p:txBody>
      </p:sp>
      <p:sp>
        <p:nvSpPr>
          <p:cNvPr id="20" name="">
            <a:extLst xmlns:a="http://schemas.openxmlformats.org/drawingml/2006/main">
              <a:ext uri="{FF2B5EF4-FFF2-40B4-BE49-F238E27FC236}">
                <a16:creationId xmlns:a16="http://schemas.microsoft.com/office/drawing/2014/main" id="{4A18E855-2D76-4DB7-BA16-032BCEF33532}"/>
              </a:ext>
            </a:extLst>
          </p:cNvPr>
          <p:cNvSpPr>
            <a:spLocks xmlns:a="http://schemas.openxmlformats.org/drawingml/2006/main" noGrp="1"/>
          </p:cNvSpPr>
          <p:nvPr/>
        </p:nvSpPr>
        <p:spPr>
          <a:xfrm xmlns:a="http://schemas.openxmlformats.org/drawingml/2006/main">
            <a:off x="4286250" y="5410200"/>
            <a:ext cx="6953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275" b="0" i="0">
                <a:solidFill>
                  <a:srgbClr val="FFFFFF"/>
                </a:solidFill>
                <a:latin typeface="Arial"/>
                <a:ea typeface="Arial"/>
                <a:cs typeface="Arial"/>
              </a:defRPr>
            </a:pPr>
            <a:r>
              <a:rPr sz="1275" b="0" i="0">
                <a:solidFill>
                  <a:srgbClr val="FFFFFF"/>
                </a:solidFill>
                <a:latin typeface="Arial"/>
                <a:ea typeface="Arial"/>
                <a:cs typeface="Arial"/>
              </a:rPr>
              <a:t>Product-level EPDs and responsible-production evidence can support procurement where applicable to the selected product and manufacturing site.</a:t>
            </a:r>
          </a:p>
        </p:txBody>
      </p:sp>
      <p:sp>
        <p:nvSpPr>
          <p:cNvPr id="21" name="">
            <a:extLst xmlns:a="http://schemas.openxmlformats.org/drawingml/2006/main">
              <a:ext uri="{FF2B5EF4-FFF2-40B4-BE49-F238E27FC236}">
                <a16:creationId xmlns:a16="http://schemas.microsoft.com/office/drawing/2014/main" id="{836C44DB-D3AF-4B5B-B0F9-844CDAD40AA9}"/>
              </a:ext>
            </a:extLst>
          </p:cNvPr>
          <p:cNvSpPr>
            <a:spLocks xmlns:a="http://schemas.openxmlformats.org/drawingml/2006/main" noGrp="1"/>
          </p:cNvSpPr>
          <p:nvPr/>
        </p:nvSpPr>
        <p:spPr>
          <a:xfrm xmlns:a="http://schemas.openxmlformats.org/drawingml/2006/main">
            <a:off x="552450" y="6391275"/>
            <a:ext cx="110871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0" i="1">
                <a:solidFill>
                  <a:srgbClr val="8B9094"/>
                </a:solidFill>
                <a:latin typeface="Arial"/>
                <a:ea typeface="Arial"/>
                <a:cs typeface="Arial"/>
              </a:defRPr>
            </a:pPr>
            <a:r>
              <a:rPr sz="975" b="0" i="1">
                <a:solidFill>
                  <a:srgbClr val="8B9094"/>
                </a:solidFill>
                <a:latin typeface="Arial"/>
                <a:ea typeface="Arial"/>
                <a:cs typeface="Arial"/>
              </a:rPr>
              <a:t>Capability does not equal outcome. Availability, geography, contractual scope and technical fit must be confirmed for each project.</a:t>
            </a:r>
          </a:p>
        </p:txBody>
      </p:sp>
    </p:spTree>
    <p:extLst>
      <p:ext uri="{BB962C8B-B14F-4D97-AF65-F5344CB8AC3E}">
        <p14:creationId xmlns:p14="http://schemas.microsoft.com/office/powerpoint/2010/main" val="1732706841"/>
      </p:ext>
    </p:extLst>
  </p:cSld>
</p:sld>
</file>

<file path=ppt/slides/slide14.xml><?xml version="1.0" encoding="utf-8"?>
<p:sld xmlns:p="http://schemas.openxmlformats.org/presentationml/2006/main">
  <p:cSld>
    <p:bg>
      <p:bgPr>
        <a:solidFill xmlns:a="http://schemas.openxmlformats.org/drawingml/2006/main">
          <a:srgbClr val="F6F3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4483857-60DF-4507-8767-FC639CA5A39A}"/>
              </a:ext>
            </a:extLst>
          </p:cNvPr>
          <p:cNvSpPr>
            <a:spLocks xmlns:a="http://schemas.openxmlformats.org/drawingml/2006/main" noGrp="1"/>
          </p:cNvSpPr>
          <p:nvPr/>
        </p:nvSpPr>
        <p:spPr>
          <a:xfrm xmlns:a="http://schemas.openxmlformats.org/drawingml/2006/main" rot="0">
            <a:off x="0" y="0"/>
            <a:ext cx="12192000" cy="57150"/>
          </a:xfrm>
          <a:prstGeom xmlns:a="http://schemas.openxmlformats.org/drawingml/2006/main" prst="rect">
            <a:avLst/>
          </a:prstGeom>
          <a:solidFill xmlns:a="http://schemas.openxmlformats.org/drawingml/2006/main">
            <a:srgbClr val="C9783E"/>
          </a:solidFill>
          <a:ln xmlns:a="http://schemas.openxmlformats.org/drawingml/2006/main" w="0">
            <a:no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2a988a906914445"/>
          <a:stretch xmlns:a="http://schemas.openxmlformats.org/drawingml/2006/main"/>
        </p:blipFill>
        <p:spPr>
          <a:xfrm xmlns:a="http://schemas.openxmlformats.org/drawingml/2006/main">
            <a:off x="719138" y="200025"/>
            <a:ext cx="2066925"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4272564-1AF7-4860-B92F-49359E790EC9}"/>
              </a:ext>
            </a:extLst>
          </p:cNvPr>
          <p:cNvSpPr>
            <a:spLocks xmlns:a="http://schemas.openxmlformats.org/drawingml/2006/main" noGrp="1"/>
          </p:cNvSpPr>
          <p:nvPr/>
        </p:nvSpPr>
        <p:spPr>
          <a:xfrm xmlns:a="http://schemas.openxmlformats.org/drawingml/2006/main">
            <a:off x="8096250" y="3238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9D4E24"/>
                </a:solidFill>
                <a:latin typeface="Arial Narrow"/>
                <a:ea typeface="Arial Narrow"/>
                <a:cs typeface="Arial Narrow"/>
              </a:defRPr>
            </a:pPr>
            <a:r>
              <a:rPr sz="975" b="1" i="0">
                <a:solidFill>
                  <a:srgbClr val="9D4E24"/>
                </a:solidFill>
                <a:latin typeface="Arial Narrow"/>
                <a:ea typeface="Arial Narrow"/>
                <a:cs typeface="Arial Narrow"/>
              </a:rPr>
              <a:t>APPENDIX A5 · PROOF BOUNDARIES</a:t>
            </a:r>
          </a:p>
        </p:txBody>
      </p:sp>
      <p:sp>
        <p:nvSpPr>
          <p:cNvPr id="4" name="">
            <a:extLst xmlns:a="http://schemas.openxmlformats.org/drawingml/2006/main">
              <a:ext uri="{FF2B5EF4-FFF2-40B4-BE49-F238E27FC236}">
                <a16:creationId xmlns:a16="http://schemas.microsoft.com/office/drawing/2014/main" id="{01399490-A61B-4C74-A660-331836971F2E}"/>
              </a:ext>
            </a:extLst>
          </p:cNvPr>
          <p:cNvSpPr>
            <a:spLocks xmlns:a="http://schemas.openxmlformats.org/drawingml/2006/main" noGrp="1"/>
          </p:cNvSpPr>
          <p:nvPr/>
        </p:nvSpPr>
        <p:spPr>
          <a:xfrm xmlns:a="http://schemas.openxmlformats.org/drawingml/2006/main">
            <a:off x="11334750" y="323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8B9094"/>
                </a:solidFill>
                <a:latin typeface="Arial Narrow"/>
                <a:ea typeface="Arial Narrow"/>
                <a:cs typeface="Arial Narrow"/>
              </a:defRPr>
            </a:pPr>
            <a:r>
              <a:rPr sz="975" b="1" i="0">
                <a:solidFill>
                  <a:srgbClr val="8B9094"/>
                </a:solidFill>
                <a:latin typeface="Arial Narrow"/>
                <a:ea typeface="Arial Narrow"/>
                <a:cs typeface="Arial Narrow"/>
              </a:rPr>
              <a:t>14</a:t>
            </a:r>
          </a:p>
        </p:txBody>
      </p:sp>
      <p:sp>
        <p:nvSpPr>
          <p:cNvPr id="5" name="">
            <a:extLst xmlns:a="http://schemas.openxmlformats.org/drawingml/2006/main">
              <a:ext uri="{FF2B5EF4-FFF2-40B4-BE49-F238E27FC236}">
                <a16:creationId xmlns:a16="http://schemas.microsoft.com/office/drawing/2014/main" id="{DAD42113-28C4-497B-9E59-8CA98337BA80}"/>
              </a:ext>
            </a:extLst>
          </p:cNvPr>
          <p:cNvSpPr>
            <a:spLocks xmlns:a="http://schemas.openxmlformats.org/drawingml/2006/main" noGrp="1"/>
          </p:cNvSpPr>
          <p:nvPr/>
        </p:nvSpPr>
        <p:spPr>
          <a:xfrm xmlns:a="http://schemas.openxmlformats.org/drawingml/2006/main">
            <a:off x="552450" y="876300"/>
            <a:ext cx="1104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9D4E24"/>
                </a:solidFill>
                <a:latin typeface="Arial Narrow"/>
                <a:ea typeface="Arial Narrow"/>
                <a:cs typeface="Arial Narrow"/>
              </a:defRPr>
            </a:pPr>
            <a:r>
              <a:rPr sz="1050" b="1" i="0">
                <a:solidFill>
                  <a:srgbClr val="9D4E24"/>
                </a:solidFill>
                <a:latin typeface="Arial Narrow"/>
                <a:ea typeface="Arial Narrow"/>
                <a:cs typeface="Arial Narrow"/>
              </a:rPr>
              <a:t>METHODOLOGY BEFORE CLAIMS</a:t>
            </a:r>
          </a:p>
        </p:txBody>
      </p:sp>
      <p:sp>
        <p:nvSpPr>
          <p:cNvPr id="6" name="">
            <a:extLst xmlns:a="http://schemas.openxmlformats.org/drawingml/2006/main">
              <a:ext uri="{FF2B5EF4-FFF2-40B4-BE49-F238E27FC236}">
                <a16:creationId xmlns:a16="http://schemas.microsoft.com/office/drawing/2014/main" id="{D3207AB5-3F5E-4B0F-9380-118ED653CE51}"/>
              </a:ext>
            </a:extLst>
          </p:cNvPr>
          <p:cNvSpPr>
            <a:spLocks xmlns:a="http://schemas.openxmlformats.org/drawingml/2006/main" noGrp="1"/>
          </p:cNvSpPr>
          <p:nvPr/>
        </p:nvSpPr>
        <p:spPr>
          <a:xfrm xmlns:a="http://schemas.openxmlformats.org/drawingml/2006/main">
            <a:off x="552450" y="11811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335"/>
          </a:bodyPr>
          <a:lstStyle xmlns:a="http://schemas.openxmlformats.org/drawingml/2006/main"/>
          <a:p xmlns:a="http://schemas.openxmlformats.org/drawingml/2006/main">
            <a:pPr algn="l">
              <a:lnSpc>
                <a:spcPct val="94000"/>
              </a:lnSpc>
              <a:buNone/>
              <a:defRPr sz="2850" b="1" i="0">
                <a:solidFill>
                  <a:srgbClr val="17191C"/>
                </a:solidFill>
                <a:latin typeface="Arial"/>
                <a:ea typeface="Arial"/>
                <a:cs typeface="Arial"/>
              </a:defRPr>
            </a:pPr>
            <a:r>
              <a:rPr sz="2850" b="1" i="0">
                <a:solidFill>
                  <a:srgbClr val="17191C"/>
                </a:solidFill>
                <a:latin typeface="Arial"/>
                <a:ea typeface="Arial"/>
                <a:cs typeface="Arial"/>
              </a:rPr>
              <a:t>The adjacent benchmark is useful only when its boundaries are visible.</a:t>
            </a:r>
          </a:p>
        </p:txBody>
      </p:sp>
      <p:sp>
        <p:nvSpPr>
          <p:cNvPr id="7" name="">
            <a:extLst xmlns:a="http://schemas.openxmlformats.org/drawingml/2006/main">
              <a:ext uri="{FF2B5EF4-FFF2-40B4-BE49-F238E27FC236}">
                <a16:creationId xmlns:a16="http://schemas.microsoft.com/office/drawing/2014/main" id="{10C4BA17-C236-48F3-803B-78602306FA03}"/>
              </a:ext>
            </a:extLst>
          </p:cNvPr>
          <p:cNvSpPr>
            <a:spLocks xmlns:a="http://schemas.openxmlformats.org/drawingml/2006/main" noGrp="1"/>
          </p:cNvSpPr>
          <p:nvPr/>
        </p:nvSpPr>
        <p:spPr>
          <a:xfrm xmlns:a="http://schemas.openxmlformats.org/drawingml/2006/main" rot="0">
            <a:off x="552450" y="2133600"/>
            <a:ext cx="5219700" cy="31051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8"/>
            </a:solidFill>
            <a:prstDash val="solid"/>
          </a:ln>
        </p:spPr>
      </p:sp>
      <p:sp>
        <p:nvSpPr>
          <p:cNvPr id="8" name="">
            <a:extLst xmlns:a="http://schemas.openxmlformats.org/drawingml/2006/main">
              <a:ext uri="{FF2B5EF4-FFF2-40B4-BE49-F238E27FC236}">
                <a16:creationId xmlns:a16="http://schemas.microsoft.com/office/drawing/2014/main" id="{606BA09D-E61E-4484-A86D-A8DCD473CEE3}"/>
              </a:ext>
            </a:extLst>
          </p:cNvPr>
          <p:cNvSpPr>
            <a:spLocks xmlns:a="http://schemas.openxmlformats.org/drawingml/2006/main" noGrp="1"/>
          </p:cNvSpPr>
          <p:nvPr/>
        </p:nvSpPr>
        <p:spPr>
          <a:xfrm xmlns:a="http://schemas.openxmlformats.org/drawingml/2006/main">
            <a:off x="781050" y="2390775"/>
            <a:ext cx="476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9D4E24"/>
                </a:solidFill>
                <a:latin typeface="Arial Narrow"/>
                <a:ea typeface="Arial Narrow"/>
                <a:cs typeface="Arial Narrow"/>
              </a:defRPr>
            </a:pPr>
            <a:r>
              <a:rPr sz="1350" b="1" i="0">
                <a:solidFill>
                  <a:srgbClr val="9D4E24"/>
                </a:solidFill>
                <a:latin typeface="Arial Narrow"/>
                <a:ea typeface="Arial Narrow"/>
                <a:cs typeface="Arial Narrow"/>
              </a:rPr>
              <a:t>OBSERVED BASIS</a:t>
            </a:r>
          </a:p>
        </p:txBody>
      </p:sp>
      <p:sp>
        <p:nvSpPr>
          <p:cNvPr id="9" name="">
            <a:extLst xmlns:a="http://schemas.openxmlformats.org/drawingml/2006/main">
              <a:ext uri="{FF2B5EF4-FFF2-40B4-BE49-F238E27FC236}">
                <a16:creationId xmlns:a16="http://schemas.microsoft.com/office/drawing/2014/main" id="{8D944639-A036-48F7-BD23-F4E15A2308A2}"/>
              </a:ext>
            </a:extLst>
          </p:cNvPr>
          <p:cNvSpPr>
            <a:spLocks xmlns:a="http://schemas.openxmlformats.org/drawingml/2006/main" noGrp="1"/>
          </p:cNvSpPr>
          <p:nvPr/>
        </p:nvSpPr>
        <p:spPr>
          <a:xfrm xmlns:a="http://schemas.openxmlformats.org/drawingml/2006/main">
            <a:off x="795338" y="2919413"/>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8308D0-C641-4390-BDD1-3665400A5910}"/>
              </a:ext>
            </a:extLst>
          </p:cNvPr>
          <p:cNvSpPr>
            <a:spLocks xmlns:a="http://schemas.openxmlformats.org/drawingml/2006/main" noGrp="1"/>
          </p:cNvSpPr>
          <p:nvPr/>
        </p:nvSpPr>
        <p:spPr>
          <a:xfrm xmlns:a="http://schemas.openxmlformats.org/drawingml/2006/main">
            <a:off x="952500" y="2857500"/>
            <a:ext cx="44481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6A6F73"/>
                </a:solidFill>
                <a:latin typeface="Arial"/>
                <a:ea typeface="Arial"/>
                <a:cs typeface="Arial"/>
              </a:defRPr>
            </a:pPr>
            <a:r>
              <a:rPr sz="1350" b="0" i="0">
                <a:solidFill>
                  <a:srgbClr val="6A6F73"/>
                </a:solidFill>
                <a:latin typeface="Arial"/>
                <a:ea typeface="Arial"/>
                <a:cs typeface="Arial"/>
              </a:rPr>
              <a:t>Define the site-built scope and the unit called one spine.</a:t>
            </a:r>
          </a:p>
        </p:txBody>
      </p:sp>
      <p:sp>
        <p:nvSpPr>
          <p:cNvPr id="11" name="">
            <a:extLst xmlns:a="http://schemas.openxmlformats.org/drawingml/2006/main">
              <a:ext uri="{FF2B5EF4-FFF2-40B4-BE49-F238E27FC236}">
                <a16:creationId xmlns:a16="http://schemas.microsoft.com/office/drawing/2014/main" id="{291BB04D-C5B1-4EA3-8576-D7CBCCB1E8C3}"/>
              </a:ext>
            </a:extLst>
          </p:cNvPr>
          <p:cNvSpPr>
            <a:spLocks xmlns:a="http://schemas.openxmlformats.org/drawingml/2006/main" noGrp="1"/>
          </p:cNvSpPr>
          <p:nvPr/>
        </p:nvSpPr>
        <p:spPr>
          <a:xfrm xmlns:a="http://schemas.openxmlformats.org/drawingml/2006/main">
            <a:off x="795338" y="3481388"/>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009CD0E-2AF2-45A3-8BFC-3038D69EA43A}"/>
              </a:ext>
            </a:extLst>
          </p:cNvPr>
          <p:cNvSpPr>
            <a:spLocks xmlns:a="http://schemas.openxmlformats.org/drawingml/2006/main" noGrp="1"/>
          </p:cNvSpPr>
          <p:nvPr/>
        </p:nvSpPr>
        <p:spPr>
          <a:xfrm xmlns:a="http://schemas.openxmlformats.org/drawingml/2006/main">
            <a:off x="952500" y="3419475"/>
            <a:ext cx="4448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6A6F73"/>
                </a:solidFill>
                <a:latin typeface="Arial"/>
                <a:ea typeface="Arial"/>
                <a:cs typeface="Arial"/>
              </a:defRPr>
            </a:pPr>
            <a:r>
              <a:rPr sz="1350" b="0" i="0">
                <a:solidFill>
                  <a:srgbClr val="6A6F73"/>
                </a:solidFill>
                <a:latin typeface="Arial"/>
                <a:ea typeface="Arial"/>
                <a:cs typeface="Arial"/>
              </a:rPr>
              <a:t>Confirm time records, sample size, project conditions and exclusions.</a:t>
            </a:r>
          </a:p>
        </p:txBody>
      </p:sp>
      <p:sp>
        <p:nvSpPr>
          <p:cNvPr id="13" name="">
            <a:extLst xmlns:a="http://schemas.openxmlformats.org/drawingml/2006/main">
              <a:ext uri="{FF2B5EF4-FFF2-40B4-BE49-F238E27FC236}">
                <a16:creationId xmlns:a16="http://schemas.microsoft.com/office/drawing/2014/main" id="{DF604F13-10EE-40AC-9D08-2665AC60BFDE}"/>
              </a:ext>
            </a:extLst>
          </p:cNvPr>
          <p:cNvSpPr>
            <a:spLocks xmlns:a="http://schemas.openxmlformats.org/drawingml/2006/main" noGrp="1"/>
          </p:cNvSpPr>
          <p:nvPr/>
        </p:nvSpPr>
        <p:spPr>
          <a:xfrm xmlns:a="http://schemas.openxmlformats.org/drawingml/2006/main">
            <a:off x="795338" y="4090988"/>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831D8F-ADA7-4B09-85D4-780EB9A42CBC}"/>
              </a:ext>
            </a:extLst>
          </p:cNvPr>
          <p:cNvSpPr>
            <a:spLocks xmlns:a="http://schemas.openxmlformats.org/drawingml/2006/main" noGrp="1"/>
          </p:cNvSpPr>
          <p:nvPr/>
        </p:nvSpPr>
        <p:spPr>
          <a:xfrm xmlns:a="http://schemas.openxmlformats.org/drawingml/2006/main">
            <a:off x="952500" y="4029075"/>
            <a:ext cx="4448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6A6F73"/>
                </a:solidFill>
                <a:latin typeface="Arial"/>
                <a:ea typeface="Arial"/>
                <a:cs typeface="Arial"/>
              </a:defRPr>
            </a:pPr>
            <a:r>
              <a:rPr sz="1350" b="0" i="0">
                <a:solidFill>
                  <a:srgbClr val="6A6F73"/>
                </a:solidFill>
                <a:latin typeface="Arial"/>
                <a:ea typeface="Arial"/>
                <a:cs typeface="Arial"/>
              </a:rPr>
              <a:t>Document what remained in field labor, supervision and commissioning.</a:t>
            </a:r>
          </a:p>
        </p:txBody>
      </p:sp>
      <p:sp>
        <p:nvSpPr>
          <p:cNvPr id="15" name="">
            <a:extLst xmlns:a="http://schemas.openxmlformats.org/drawingml/2006/main">
              <a:ext uri="{FF2B5EF4-FFF2-40B4-BE49-F238E27FC236}">
                <a16:creationId xmlns:a16="http://schemas.microsoft.com/office/drawing/2014/main" id="{96CA2CD3-742F-4FC5-8514-C0ADD427BF4F}"/>
              </a:ext>
            </a:extLst>
          </p:cNvPr>
          <p:cNvSpPr>
            <a:spLocks xmlns:a="http://schemas.openxmlformats.org/drawingml/2006/main" noGrp="1"/>
          </p:cNvSpPr>
          <p:nvPr/>
        </p:nvSpPr>
        <p:spPr>
          <a:xfrm xmlns:a="http://schemas.openxmlformats.org/drawingml/2006/main" rot="0">
            <a:off x="6038850" y="2133600"/>
            <a:ext cx="5600700" cy="3105150"/>
          </a:xfrm>
          <a:prstGeom xmlns:a="http://schemas.openxmlformats.org/drawingml/2006/main" prst="rect">
            <a:avLst/>
          </a:prstGeom>
          <a:solidFill xmlns:a="http://schemas.openxmlformats.org/drawingml/2006/main">
            <a:srgbClr val="FFFFFF"/>
          </a:solidFill>
          <a:ln xmlns:a="http://schemas.openxmlformats.org/drawingml/2006/main" w="9525">
            <a:solidFill>
              <a:srgbClr val="D8D1C8"/>
            </a:solidFill>
            <a:prstDash val="solid"/>
          </a:ln>
        </p:spPr>
      </p:sp>
      <p:sp>
        <p:nvSpPr>
          <p:cNvPr id="16" name="">
            <a:extLst xmlns:a="http://schemas.openxmlformats.org/drawingml/2006/main">
              <a:ext uri="{FF2B5EF4-FFF2-40B4-BE49-F238E27FC236}">
                <a16:creationId xmlns:a16="http://schemas.microsoft.com/office/drawing/2014/main" id="{466D5B53-92C0-4D01-92CA-C14E2504A523}"/>
              </a:ext>
            </a:extLst>
          </p:cNvPr>
          <p:cNvSpPr>
            <a:spLocks xmlns:a="http://schemas.openxmlformats.org/drawingml/2006/main" noGrp="1"/>
          </p:cNvSpPr>
          <p:nvPr/>
        </p:nvSpPr>
        <p:spPr>
          <a:xfrm xmlns:a="http://schemas.openxmlformats.org/drawingml/2006/main">
            <a:off x="6267450" y="239077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9D4E24"/>
                </a:solidFill>
                <a:latin typeface="Arial Narrow"/>
                <a:ea typeface="Arial Narrow"/>
                <a:cs typeface="Arial Narrow"/>
              </a:defRPr>
            </a:pPr>
            <a:r>
              <a:rPr sz="1350" b="1" i="0">
                <a:solidFill>
                  <a:srgbClr val="9D4E24"/>
                </a:solidFill>
                <a:latin typeface="Arial Narrow"/>
                <a:ea typeface="Arial Narrow"/>
                <a:cs typeface="Arial Narrow"/>
              </a:rPr>
              <a:t>MODELED BASIS</a:t>
            </a:r>
          </a:p>
        </p:txBody>
      </p:sp>
      <p:sp>
        <p:nvSpPr>
          <p:cNvPr id="17" name="">
            <a:extLst xmlns:a="http://schemas.openxmlformats.org/drawingml/2006/main">
              <a:ext uri="{FF2B5EF4-FFF2-40B4-BE49-F238E27FC236}">
                <a16:creationId xmlns:a16="http://schemas.microsoft.com/office/drawing/2014/main" id="{031F776E-E05D-4EB2-80E2-AB1FD9EB2F37}"/>
              </a:ext>
            </a:extLst>
          </p:cNvPr>
          <p:cNvSpPr>
            <a:spLocks xmlns:a="http://schemas.openxmlformats.org/drawingml/2006/main" noGrp="1"/>
          </p:cNvSpPr>
          <p:nvPr/>
        </p:nvSpPr>
        <p:spPr>
          <a:xfrm xmlns:a="http://schemas.openxmlformats.org/drawingml/2006/main">
            <a:off x="6281738" y="2919413"/>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6049654-7D2B-4312-BBC3-ED9E2326233E}"/>
              </a:ext>
            </a:extLst>
          </p:cNvPr>
          <p:cNvSpPr>
            <a:spLocks xmlns:a="http://schemas.openxmlformats.org/drawingml/2006/main" noGrp="1"/>
          </p:cNvSpPr>
          <p:nvPr/>
        </p:nvSpPr>
        <p:spPr>
          <a:xfrm xmlns:a="http://schemas.openxmlformats.org/drawingml/2006/main">
            <a:off x="6438900" y="2857500"/>
            <a:ext cx="47815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350" b="0" i="0">
                <a:solidFill>
                  <a:srgbClr val="6A6F73"/>
                </a:solidFill>
                <a:latin typeface="Arial"/>
                <a:ea typeface="Arial"/>
                <a:cs typeface="Arial"/>
              </a:defRPr>
            </a:pPr>
            <a:r>
              <a:rPr sz="1350" b="0" i="0">
                <a:solidFill>
                  <a:srgbClr val="6A6F73"/>
                </a:solidFill>
                <a:latin typeface="Arial"/>
                <a:ea typeface="Arial"/>
                <a:cs typeface="Arial"/>
              </a:rPr>
              <a:t>Reconcile scope equivalence between observed and modeled work.</a:t>
            </a:r>
          </a:p>
        </p:txBody>
      </p:sp>
      <p:sp>
        <p:nvSpPr>
          <p:cNvPr id="19" name="">
            <a:extLst xmlns:a="http://schemas.openxmlformats.org/drawingml/2006/main">
              <a:ext uri="{FF2B5EF4-FFF2-40B4-BE49-F238E27FC236}">
                <a16:creationId xmlns:a16="http://schemas.microsoft.com/office/drawing/2014/main" id="{F611E5B9-9C2C-46CF-9BBB-8C9EDE8AAA4D}"/>
              </a:ext>
            </a:extLst>
          </p:cNvPr>
          <p:cNvSpPr>
            <a:spLocks xmlns:a="http://schemas.openxmlformats.org/drawingml/2006/main" noGrp="1"/>
          </p:cNvSpPr>
          <p:nvPr/>
        </p:nvSpPr>
        <p:spPr>
          <a:xfrm xmlns:a="http://schemas.openxmlformats.org/drawingml/2006/main">
            <a:off x="6281738" y="3481388"/>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25D1390-A0AB-4CE6-A5DF-67F290A001DA}"/>
              </a:ext>
            </a:extLst>
          </p:cNvPr>
          <p:cNvSpPr>
            <a:spLocks xmlns:a="http://schemas.openxmlformats.org/drawingml/2006/main" noGrp="1"/>
          </p:cNvSpPr>
          <p:nvPr/>
        </p:nvSpPr>
        <p:spPr>
          <a:xfrm xmlns:a="http://schemas.openxmlformats.org/drawingml/2006/main">
            <a:off x="6438900" y="3419475"/>
            <a:ext cx="4781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6A6F73"/>
                </a:solidFill>
                <a:latin typeface="Arial"/>
                <a:ea typeface="Arial"/>
                <a:cs typeface="Arial"/>
              </a:defRPr>
            </a:pPr>
            <a:r>
              <a:rPr sz="1350" b="0" i="0">
                <a:solidFill>
                  <a:srgbClr val="6A6F73"/>
                </a:solidFill>
                <a:latin typeface="Arial"/>
                <a:ea typeface="Arial"/>
                <a:cs typeface="Arial"/>
              </a:rPr>
              <a:t>Include engineering, factory work, freight, FAT and field installation.</a:t>
            </a:r>
          </a:p>
        </p:txBody>
      </p:sp>
      <p:sp>
        <p:nvSpPr>
          <p:cNvPr id="21" name="">
            <a:extLst xmlns:a="http://schemas.openxmlformats.org/drawingml/2006/main">
              <a:ext uri="{FF2B5EF4-FFF2-40B4-BE49-F238E27FC236}">
                <a16:creationId xmlns:a16="http://schemas.microsoft.com/office/drawing/2014/main" id="{D59DBE3D-B8D5-46E4-B3E9-6FB110B75E10}"/>
              </a:ext>
            </a:extLst>
          </p:cNvPr>
          <p:cNvSpPr>
            <a:spLocks xmlns:a="http://schemas.openxmlformats.org/drawingml/2006/main" noGrp="1"/>
          </p:cNvSpPr>
          <p:nvPr/>
        </p:nvSpPr>
        <p:spPr>
          <a:xfrm xmlns:a="http://schemas.openxmlformats.org/drawingml/2006/main">
            <a:off x="6281738" y="4090988"/>
            <a:ext cx="66675" cy="66675"/>
          </a:xfrm>
          <a:prstGeom xmlns:a="http://schemas.openxmlformats.org/drawingml/2006/main" prst="ellipse">
            <a:avLst/>
          </a:prstGeom>
          <a:solidFill xmlns:a="http://schemas.openxmlformats.org/drawingml/2006/main">
            <a:srgbClr val="C9783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DC26375-FC07-448B-8157-ECED0F168DE4}"/>
              </a:ext>
            </a:extLst>
          </p:cNvPr>
          <p:cNvSpPr>
            <a:spLocks xmlns:a="http://schemas.openxmlformats.org/drawingml/2006/main" noGrp="1"/>
          </p:cNvSpPr>
          <p:nvPr/>
        </p:nvSpPr>
        <p:spPr>
          <a:xfrm xmlns:a="http://schemas.openxmlformats.org/drawingml/2006/main">
            <a:off x="6438900" y="4029075"/>
            <a:ext cx="4781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6A6F73"/>
                </a:solidFill>
                <a:latin typeface="Arial"/>
                <a:ea typeface="Arial"/>
                <a:cs typeface="Arial"/>
              </a:defRPr>
            </a:pPr>
            <a:r>
              <a:rPr sz="1350" b="0" i="0">
                <a:solidFill>
                  <a:srgbClr val="6A6F73"/>
                </a:solidFill>
                <a:latin typeface="Arial"/>
                <a:ea typeface="Arial"/>
                <a:cs typeface="Arial"/>
              </a:rPr>
              <a:t>Test whether any activity actually leaves the critical path.</a:t>
            </a:r>
          </a:p>
        </p:txBody>
      </p:sp>
      <p:sp>
        <p:nvSpPr>
          <p:cNvPr id="23" name="">
            <a:extLst xmlns:a="http://schemas.openxmlformats.org/drawingml/2006/main">
              <a:ext uri="{FF2B5EF4-FFF2-40B4-BE49-F238E27FC236}">
                <a16:creationId xmlns:a16="http://schemas.microsoft.com/office/drawing/2014/main" id="{C8188F30-07C8-40F2-87AA-93810A17AA30}"/>
              </a:ext>
            </a:extLst>
          </p:cNvPr>
          <p:cNvSpPr>
            <a:spLocks xmlns:a="http://schemas.openxmlformats.org/drawingml/2006/main" noGrp="1"/>
          </p:cNvSpPr>
          <p:nvPr/>
        </p:nvSpPr>
        <p:spPr>
          <a:xfrm xmlns:a="http://schemas.openxmlformats.org/drawingml/2006/main" rot="0">
            <a:off x="552450" y="5600700"/>
            <a:ext cx="11087100" cy="676275"/>
          </a:xfrm>
          <a:prstGeom xmlns:a="http://schemas.openxmlformats.org/drawingml/2006/main" prst="rect">
            <a:avLst/>
          </a:prstGeom>
          <a:solidFill xmlns:a="http://schemas.openxmlformats.org/drawingml/2006/main">
            <a:srgbClr val="17191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FE29EC6-E050-44FC-B70D-72148289EF7E}"/>
              </a:ext>
            </a:extLst>
          </p:cNvPr>
          <p:cNvSpPr>
            <a:spLocks xmlns:a="http://schemas.openxmlformats.org/drawingml/2006/main" noGrp="1"/>
          </p:cNvSpPr>
          <p:nvPr/>
        </p:nvSpPr>
        <p:spPr>
          <a:xfrm xmlns:a="http://schemas.openxmlformats.org/drawingml/2006/main">
            <a:off x="781050" y="5810250"/>
            <a:ext cx="10629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FFFFFF"/>
                </a:solidFill>
                <a:latin typeface="Arial Narrow"/>
                <a:ea typeface="Arial Narrow"/>
                <a:cs typeface="Arial Narrow"/>
              </a:defRPr>
            </a:pPr>
            <a:r>
              <a:rPr sz="1575" b="1" i="0">
                <a:solidFill>
                  <a:srgbClr val="FFFFFF"/>
                </a:solidFill>
                <a:latin typeface="Arial Narrow"/>
                <a:ea typeface="Arial Narrow"/>
                <a:cs typeface="Arial Narrow"/>
              </a:rPr>
              <a:t>DO NOT CLAIM SAVINGS UNTIL THE GROSS-TO-NET CASE IS REBUILT WITH NRG INPUTS.</a:t>
            </a:r>
          </a:p>
        </p:txBody>
      </p:sp>
      <p:sp>
        <p:nvSpPr>
          <p:cNvPr id="25" name="">
            <a:extLst xmlns:a="http://schemas.openxmlformats.org/drawingml/2006/main">
              <a:ext uri="{FF2B5EF4-FFF2-40B4-BE49-F238E27FC236}">
                <a16:creationId xmlns:a16="http://schemas.microsoft.com/office/drawing/2014/main" id="{0EDA8D71-4AB1-4324-9908-EA1087FCA67C}"/>
              </a:ext>
            </a:extLst>
          </p:cNvPr>
          <p:cNvSpPr>
            <a:spLocks xmlns:a="http://schemas.openxmlformats.org/drawingml/2006/main" noGrp="1"/>
          </p:cNvSpPr>
          <p:nvPr/>
        </p:nvSpPr>
        <p:spPr>
          <a:xfrm xmlns:a="http://schemas.openxmlformats.org/drawingml/2006/main">
            <a:off x="552450" y="6477000"/>
            <a:ext cx="11087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0" i="1">
                <a:solidFill>
                  <a:srgbClr val="8B9094"/>
                </a:solidFill>
                <a:latin typeface="Arial"/>
                <a:ea typeface="Arial"/>
                <a:cs typeface="Arial"/>
              </a:defRPr>
            </a:pPr>
            <a:r>
              <a:rPr sz="975" b="0" i="1">
                <a:solidFill>
                  <a:srgbClr val="8B9094"/>
                </a:solidFill>
                <a:latin typeface="Arial"/>
                <a:ea typeface="Arial"/>
                <a:cs typeface="Arial"/>
              </a:rPr>
              <a:t>Release gate: methodology, scope equivalence and external-use permission approved.</a:t>
            </a:r>
          </a:p>
        </p:txBody>
      </p:sp>
    </p:spTree>
    <p:extLst>
      <p:ext uri="{BB962C8B-B14F-4D97-AF65-F5344CB8AC3E}">
        <p14:creationId xmlns:p14="http://schemas.microsoft.com/office/powerpoint/2010/main" val="1131456466"/>
      </p:ext>
    </p:extLst>
  </p:cSld>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01" name=""/>
          <p:cNvSpPr>
            <a:spLocks noGrp="1"/>
          </p:cNvSpPr>
          <p:nvPr/>
        </p:nvSpPr>
        <p:spPr>
          <a:xfrm>
            <a:off x="0" y="0"/>
            <a:ext cx="12192000" cy="57150"/>
          </a:xfrm>
          <a:prstGeom prst="rect">
            <a:avLst/>
          </a:prstGeom>
          <a:solidFill>
            <a:srgbClr val="C9783E"/>
          </a:solidFill>
          <a:ln w="0">
            <a:noFill/>
            <a:prstDash val="solid"/>
          </a:ln>
        </p:spPr>
      </p:sp>
      <p:pic>
        <p:nvPicPr>
          <p:cNvPr id="102" name=""/>
          <p:cNvPicPr>
            <a:picLocks noChangeAspect="1"/>
          </p:cNvPicPr>
          <p:nvPr/>
        </p:nvPicPr>
        <p:blipFill>
          <a:blip r:embed="R48e2a3d3733b4264"/>
          <a:stretch/>
        </p:blipFill>
        <p:spPr>
          <a:xfrm>
            <a:off x="719138" y="200025"/>
            <a:ext cx="2066925" cy="590550"/>
          </a:xfrm>
          <a:prstGeom prst="rect">
            <a:avLst/>
          </a:prstGeom>
        </p:spPr>
      </p:pic>
      <p:sp>
        <p:nvSpPr>
          <p:cNvPr id="103" name=""/>
          <p:cNvSpPr>
            <a:spLocks noGrp="1"/>
          </p:cNvSpPr>
          <p:nvPr/>
        </p:nvSpPr>
        <p:spPr>
          <a:xfrm>
            <a:off x="8096250" y="323850"/>
            <a:ext cx="30861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9D4E24"/>
                </a:solidFill>
                <a:latin typeface="Arial Narrow"/>
                <a:ea typeface="Arial Narrow"/>
                <a:cs typeface="Arial Narrow"/>
              </a:rPr>
              <a:t>APPENDIX A6 · OWNER'S MATH</a:t>
            </a:r>
          </a:p>
        </p:txBody>
      </p:sp>
      <p:sp>
        <p:nvSpPr>
          <p:cNvPr id="104" name=""/>
          <p:cNvSpPr>
            <a:spLocks noGrp="1"/>
          </p:cNvSpPr>
          <p:nvPr/>
        </p:nvSpPr>
        <p:spPr>
          <a:xfrm>
            <a:off x="11334750" y="323850"/>
            <a:ext cx="32385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8B9094"/>
                </a:solidFill>
                <a:latin typeface="Arial Narrow"/>
                <a:ea typeface="Arial Narrow"/>
                <a:cs typeface="Arial Narrow"/>
              </a:rPr>
              <a:t>15</a:t>
            </a:r>
          </a:p>
        </p:txBody>
      </p:sp>
      <p:sp>
        <p:nvSpPr>
          <p:cNvPr id="105" name=""/>
          <p:cNvSpPr>
            <a:spLocks noGrp="1"/>
          </p:cNvSpPr>
          <p:nvPr/>
        </p:nvSpPr>
        <p:spPr>
          <a:xfrm>
            <a:off x="719138" y="1005840"/>
            <a:ext cx="80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C9783E"/>
                </a:solidFill>
                <a:latin typeface="Arial Narrow"/>
                <a:ea typeface="Arial Narrow"/>
                <a:cs typeface="Arial Narrow"/>
              </a:rPr>
              <a:t>THE OWNER'S EQUATION</a:t>
            </a:r>
          </a:p>
        </p:txBody>
      </p:sp>
      <p:sp>
        <p:nvSpPr>
          <p:cNvPr id="106"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Cable is a small line item with large coefficients.</a:t>
            </a:r>
          </a:p>
        </p:txBody>
      </p:sp>
      <p:sp>
        <p:nvSpPr>
          <p:cNvPr id="107" name=""/>
          <p:cNvSpPr>
            <a:spLocks noGrp="1"/>
          </p:cNvSpPr>
          <p:nvPr/>
        </p:nvSpPr>
        <p:spPr>
          <a:xfrm>
            <a:off x="719138" y="2103120"/>
            <a:ext cx="10753724" cy="25000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6A6F73"/>
                </a:solidFill>
                <a:latin typeface="Arial"/>
                <a:ea typeface="Arial"/>
                <a:cs typeface="Arial"/>
              </a:rPr>
              <a:t>LCOE and IRR decide every project. Five variables actually move — none of them is the purchase price.</a:t>
            </a:r>
          </a:p>
        </p:txBody>
      </p:sp>
      <p:sp>
        <p:nvSpPr>
          <p:cNvPr id="108" name=""/>
          <p:cNvSpPr>
            <a:spLocks noGrp="1"/>
          </p:cNvSpPr>
          <p:nvPr/>
        </p:nvSpPr>
        <p:spPr>
          <a:xfrm>
            <a:off x="719138" y="2529840"/>
            <a:ext cx="3200400" cy="1737360"/>
          </a:xfrm>
          <a:prstGeom prst="rect">
            <a:avLst/>
          </a:prstGeom>
          <a:solidFill>
            <a:srgbClr val="FFFFFF"/>
          </a:solidFill>
          <a:ln w="9525">
            <a:solidFill>
              <a:srgbClr val="D8D1C8"/>
            </a:solidFill>
            <a:prstDash val="solid"/>
          </a:ln>
        </p:spPr>
      </p:sp>
      <p:sp>
        <p:nvSpPr>
          <p:cNvPr id="109" name=""/>
          <p:cNvSpPr>
            <a:spLocks noGrp="1"/>
          </p:cNvSpPr>
          <p:nvPr/>
        </p:nvSpPr>
        <p:spPr>
          <a:xfrm>
            <a:off x="947738" y="2712720"/>
            <a:ext cx="27432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LCOE  —  COST PER MWh</a:t>
            </a:r>
          </a:p>
        </p:txBody>
      </p:sp>
      <p:sp>
        <p:nvSpPr>
          <p:cNvPr id="110" name=""/>
          <p:cNvSpPr>
            <a:spLocks noGrp="1"/>
          </p:cNvSpPr>
          <p:nvPr/>
        </p:nvSpPr>
        <p:spPr>
          <a:xfrm>
            <a:off x="947738" y="3009900"/>
            <a:ext cx="2743200" cy="457200"/>
          </a:xfrm>
          <a:prstGeom prst="rect">
            <a:avLst/>
          </a:prstGeom>
          <a:noFill/>
          <a:ln w="0">
            <a:noFill/>
            <a:prstDash val="solid"/>
          </a:ln>
        </p:spPr>
        <p:txBody>
          <a:bodyPr wrap="square" lIns="0" tIns="0" rIns="0" bIns="0" anchor="t">
            <a:normAutofit fontScale="100000"/>
          </a:bodyPr>
          <a:lstStyle/>
          <a:p>
            <a:pPr algn="ctr">
              <a:lnSpc>
                <a:spcPct val="106000"/>
              </a:lnSpc>
              <a:buNone/>
            </a:pPr>
            <a:r>
              <a:rPr sz="1125" b="1" i="0">
                <a:solidFill>
                  <a:srgbClr val="17191C"/>
                </a:solidFill>
                <a:latin typeface="Arial"/>
                <a:ea typeface="Arial"/>
                <a:cs typeface="Arial"/>
              </a:rPr>
              <a:t>CAPEX + O&amp;M + Fuel (lifetime, discounted)</a:t>
            </a:r>
          </a:p>
        </p:txBody>
      </p:sp>
      <p:sp>
        <p:nvSpPr>
          <p:cNvPr id="111" name=""/>
          <p:cNvSpPr>
            <a:spLocks noGrp="1"/>
          </p:cNvSpPr>
          <p:nvPr/>
        </p:nvSpPr>
        <p:spPr>
          <a:xfrm>
            <a:off x="1313498" y="3550920"/>
            <a:ext cx="2011680" cy="12700"/>
          </a:xfrm>
          <a:prstGeom prst="rect">
            <a:avLst/>
          </a:prstGeom>
          <a:solidFill>
            <a:srgbClr val="17191C"/>
          </a:solidFill>
          <a:ln w="0">
            <a:noFill/>
            <a:prstDash val="solid"/>
          </a:ln>
        </p:spPr>
      </p:sp>
      <p:sp>
        <p:nvSpPr>
          <p:cNvPr id="112" name=""/>
          <p:cNvSpPr>
            <a:spLocks noGrp="1"/>
          </p:cNvSpPr>
          <p:nvPr/>
        </p:nvSpPr>
        <p:spPr>
          <a:xfrm>
            <a:off x="947738" y="3623310"/>
            <a:ext cx="2743200" cy="250000"/>
          </a:xfrm>
          <a:prstGeom prst="rect">
            <a:avLst/>
          </a:prstGeom>
          <a:noFill/>
          <a:ln w="0">
            <a:noFill/>
            <a:prstDash val="solid"/>
          </a:ln>
        </p:spPr>
        <p:txBody>
          <a:bodyPr wrap="square" lIns="0" tIns="0" rIns="0" bIns="0" anchor="t">
            <a:normAutofit fontScale="100000"/>
          </a:bodyPr>
          <a:lstStyle/>
          <a:p>
            <a:pPr algn="ctr">
              <a:lnSpc>
                <a:spcPct val="100000"/>
              </a:lnSpc>
              <a:buNone/>
            </a:pPr>
            <a:r>
              <a:rPr sz="1050" b="1" i="0">
                <a:solidFill>
                  <a:srgbClr val="17191C"/>
                </a:solidFill>
                <a:latin typeface="Arial"/>
                <a:ea typeface="Arial"/>
                <a:cs typeface="Arial"/>
              </a:rPr>
              <a:t>Lifetime MWh delivered (discounted)</a:t>
            </a:r>
          </a:p>
        </p:txBody>
      </p:sp>
      <p:sp>
        <p:nvSpPr>
          <p:cNvPr id="113" name=""/>
          <p:cNvSpPr>
            <a:spLocks noGrp="1"/>
          </p:cNvSpPr>
          <p:nvPr/>
        </p:nvSpPr>
        <p:spPr>
          <a:xfrm>
            <a:off x="947738" y="3925570"/>
            <a:ext cx="2743200" cy="300000"/>
          </a:xfrm>
          <a:prstGeom prst="rect">
            <a:avLst/>
          </a:prstGeom>
          <a:noFill/>
          <a:ln w="0">
            <a:noFill/>
            <a:prstDash val="solid"/>
          </a:ln>
        </p:spPr>
        <p:txBody>
          <a:bodyPr wrap="square" lIns="0" tIns="0" rIns="0" bIns="0" anchor="t">
            <a:normAutofit fontScale="100000"/>
          </a:bodyPr>
          <a:lstStyle/>
          <a:p>
            <a:pPr algn="l">
              <a:lnSpc>
                <a:spcPct val="100000"/>
              </a:lnSpc>
              <a:buNone/>
            </a:pPr>
            <a:r>
              <a:rPr sz="900" b="0" i="1">
                <a:solidFill>
                  <a:srgbClr val="6A6F73"/>
                </a:solidFill>
                <a:latin typeface="Arial"/>
                <a:ea typeface="Arial"/>
                <a:cs typeface="Arial"/>
              </a:rPr>
              <a:t>Lower the top. Grow the bottom. De-risk the rate that discounts both.</a:t>
            </a:r>
          </a:p>
        </p:txBody>
      </p:sp>
      <p:sp>
        <p:nvSpPr>
          <p:cNvPr id="114" name=""/>
          <p:cNvSpPr>
            <a:spLocks noGrp="1"/>
          </p:cNvSpPr>
          <p:nvPr/>
        </p:nvSpPr>
        <p:spPr>
          <a:xfrm>
            <a:off x="719138" y="4450080"/>
            <a:ext cx="3200400" cy="1508760"/>
          </a:xfrm>
          <a:prstGeom prst="rect">
            <a:avLst/>
          </a:prstGeom>
          <a:solidFill>
            <a:srgbClr val="FFFFFF"/>
          </a:solidFill>
          <a:ln w="9525">
            <a:solidFill>
              <a:srgbClr val="D8D1C8"/>
            </a:solidFill>
            <a:prstDash val="solid"/>
          </a:ln>
        </p:spPr>
      </p:sp>
      <p:sp>
        <p:nvSpPr>
          <p:cNvPr id="115" name=""/>
          <p:cNvSpPr>
            <a:spLocks noGrp="1"/>
          </p:cNvSpPr>
          <p:nvPr/>
        </p:nvSpPr>
        <p:spPr>
          <a:xfrm>
            <a:off x="947738" y="4632960"/>
            <a:ext cx="27432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IRR  —  RETURN ON THE PROJECT</a:t>
            </a:r>
          </a:p>
        </p:txBody>
      </p:sp>
      <p:sp>
        <p:nvSpPr>
          <p:cNvPr id="116" name=""/>
          <p:cNvSpPr>
            <a:spLocks noGrp="1"/>
          </p:cNvSpPr>
          <p:nvPr/>
        </p:nvSpPr>
        <p:spPr>
          <a:xfrm>
            <a:off x="947738" y="4930140"/>
            <a:ext cx="2743200" cy="274320"/>
          </a:xfrm>
          <a:prstGeom prst="rect">
            <a:avLst/>
          </a:prstGeom>
          <a:noFill/>
          <a:ln w="0">
            <a:noFill/>
            <a:prstDash val="solid"/>
          </a:ln>
        </p:spPr>
        <p:txBody>
          <a:bodyPr wrap="square" lIns="0" tIns="0" rIns="0" bIns="0" anchor="t">
            <a:normAutofit fontScale="100000"/>
          </a:bodyPr>
          <a:lstStyle/>
          <a:p>
            <a:pPr algn="ctr">
              <a:lnSpc>
                <a:spcPct val="100000"/>
              </a:lnSpc>
              <a:buNone/>
            </a:pPr>
            <a:r>
              <a:rPr sz="1125" b="1" i="0">
                <a:solidFill>
                  <a:srgbClr val="17191C"/>
                </a:solidFill>
                <a:latin typeface="Arial"/>
                <a:ea typeface="Arial"/>
                <a:cs typeface="Arial"/>
              </a:rPr>
              <a:t>NPV = Σ CFₜ ÷ (1 + IRR)ᵗ = 0</a:t>
            </a:r>
          </a:p>
        </p:txBody>
      </p:sp>
      <p:sp>
        <p:nvSpPr>
          <p:cNvPr id="117" name=""/>
          <p:cNvSpPr>
            <a:spLocks noGrp="1"/>
          </p:cNvSpPr>
          <p:nvPr/>
        </p:nvSpPr>
        <p:spPr>
          <a:xfrm>
            <a:off x="947738" y="5278120"/>
            <a:ext cx="2743200" cy="560000"/>
          </a:xfrm>
          <a:prstGeom prst="rect">
            <a:avLst/>
          </a:prstGeom>
          <a:noFill/>
          <a:ln w="0">
            <a:noFill/>
            <a:prstDash val="solid"/>
          </a:ln>
        </p:spPr>
        <p:txBody>
          <a:bodyPr wrap="square" lIns="0" tIns="0" rIns="0" bIns="0" anchor="t">
            <a:normAutofit fontScale="100000"/>
          </a:bodyPr>
          <a:lstStyle/>
          <a:p>
            <a:pPr algn="l">
              <a:lnSpc>
                <a:spcPct val="108000"/>
              </a:lnSpc>
              <a:buNone/>
            </a:pPr>
            <a:r>
              <a:rPr sz="900" b="0" i="1">
                <a:solidFill>
                  <a:srgbClr val="6A6F73"/>
                </a:solidFill>
                <a:latin typeface="Arial"/>
                <a:ea typeface="Arial"/>
                <a:cs typeface="Arial"/>
              </a:rPr>
              <a:t>Most sensitive to COD date, capex certainty and availability — revenue that starts late is IRR you never get back.</a:t>
            </a:r>
          </a:p>
        </p:txBody>
      </p:sp>
      <p:sp>
        <p:nvSpPr>
          <p:cNvPr id="118" name=""/>
          <p:cNvSpPr>
            <a:spLocks noGrp="1"/>
          </p:cNvSpPr>
          <p:nvPr/>
        </p:nvSpPr>
        <p:spPr>
          <a:xfrm>
            <a:off x="4394200" y="2529840"/>
            <a:ext cx="5029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350" b="1" i="0">
                <a:solidFill>
                  <a:srgbClr val="C9783E"/>
                </a:solidFill>
                <a:latin typeface="Arial Narrow"/>
                <a:ea typeface="Arial Narrow"/>
                <a:cs typeface="Arial Narrow"/>
              </a:rPr>
              <a:t>01</a:t>
            </a:r>
          </a:p>
        </p:txBody>
      </p:sp>
      <p:sp>
        <p:nvSpPr>
          <p:cNvPr id="119" name=""/>
          <p:cNvSpPr>
            <a:spLocks noGrp="1"/>
          </p:cNvSpPr>
          <p:nvPr/>
        </p:nvSpPr>
        <p:spPr>
          <a:xfrm>
            <a:off x="4988560" y="2529840"/>
            <a:ext cx="6473164"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SCHEDULE → COD</a:t>
            </a:r>
          </a:p>
        </p:txBody>
      </p:sp>
      <p:sp>
        <p:nvSpPr>
          <p:cNvPr id="120" name=""/>
          <p:cNvSpPr>
            <a:spLocks noGrp="1"/>
          </p:cNvSpPr>
          <p:nvPr/>
        </p:nvSpPr>
        <p:spPr>
          <a:xfrm>
            <a:off x="4988560" y="2776728"/>
            <a:ext cx="6473164" cy="41148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Cable sits on the energization critical path. Supply certainty and sequencing protect the revenue start date — the largest single IRR lever.</a:t>
            </a:r>
          </a:p>
        </p:txBody>
      </p:sp>
      <p:sp>
        <p:nvSpPr>
          <p:cNvPr id="121" name=""/>
          <p:cNvSpPr>
            <a:spLocks noGrp="1"/>
          </p:cNvSpPr>
          <p:nvPr/>
        </p:nvSpPr>
        <p:spPr>
          <a:xfrm>
            <a:off x="4394200" y="3215640"/>
            <a:ext cx="5029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350" b="1" i="0">
                <a:solidFill>
                  <a:srgbClr val="C9783E"/>
                </a:solidFill>
                <a:latin typeface="Arial Narrow"/>
                <a:ea typeface="Arial Narrow"/>
                <a:cs typeface="Arial Narrow"/>
              </a:rPr>
              <a:t>02</a:t>
            </a:r>
          </a:p>
        </p:txBody>
      </p:sp>
      <p:sp>
        <p:nvSpPr>
          <p:cNvPr id="122" name=""/>
          <p:cNvSpPr>
            <a:spLocks noGrp="1"/>
          </p:cNvSpPr>
          <p:nvPr/>
        </p:nvSpPr>
        <p:spPr>
          <a:xfrm>
            <a:off x="4988560" y="3215640"/>
            <a:ext cx="6473164"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RISK → DISCOUNT RATE</a:t>
            </a:r>
          </a:p>
        </p:txBody>
      </p:sp>
      <p:sp>
        <p:nvSpPr>
          <p:cNvPr id="123" name=""/>
          <p:cNvSpPr>
            <a:spLocks noGrp="1"/>
          </p:cNvSpPr>
          <p:nvPr/>
        </p:nvSpPr>
        <p:spPr>
          <a:xfrm>
            <a:off x="4988560" y="3462528"/>
            <a:ext cx="6473164" cy="41148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Evidence-based scope lowers contingency and financing risk: an estimate within 4% on footage was 26% off on copper — right in total, wrong where the money is.</a:t>
            </a:r>
          </a:p>
        </p:txBody>
      </p:sp>
      <p:sp>
        <p:nvSpPr>
          <p:cNvPr id="124" name=""/>
          <p:cNvSpPr>
            <a:spLocks noGrp="1"/>
          </p:cNvSpPr>
          <p:nvPr/>
        </p:nvSpPr>
        <p:spPr>
          <a:xfrm>
            <a:off x="4394200" y="3901440"/>
            <a:ext cx="5029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350" b="1" i="0">
                <a:solidFill>
                  <a:srgbClr val="C9783E"/>
                </a:solidFill>
                <a:latin typeface="Arial Narrow"/>
                <a:ea typeface="Arial Narrow"/>
                <a:cs typeface="Arial Narrow"/>
              </a:rPr>
              <a:t>03</a:t>
            </a:r>
          </a:p>
        </p:txBody>
      </p:sp>
      <p:sp>
        <p:nvSpPr>
          <p:cNvPr id="125" name=""/>
          <p:cNvSpPr>
            <a:spLocks noGrp="1"/>
          </p:cNvSpPr>
          <p:nvPr/>
        </p:nvSpPr>
        <p:spPr>
          <a:xfrm>
            <a:off x="4988560" y="3901440"/>
            <a:ext cx="6473164"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CAPEX — THE NUMERATOR</a:t>
            </a:r>
          </a:p>
        </p:txBody>
      </p:sp>
      <p:sp>
        <p:nvSpPr>
          <p:cNvPr id="126" name=""/>
          <p:cNvSpPr>
            <a:spLocks noGrp="1"/>
          </p:cNvSpPr>
          <p:nvPr/>
        </p:nvSpPr>
        <p:spPr>
          <a:xfrm>
            <a:off x="4988560" y="4148328"/>
            <a:ext cx="6473164" cy="41148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Cable is under 2% of plant capex — purchase price barely moves the top line. Installed cost does: routing, reels, pulls, rework.</a:t>
            </a:r>
          </a:p>
        </p:txBody>
      </p:sp>
      <p:sp>
        <p:nvSpPr>
          <p:cNvPr id="127" name=""/>
          <p:cNvSpPr>
            <a:spLocks noGrp="1"/>
          </p:cNvSpPr>
          <p:nvPr/>
        </p:nvSpPr>
        <p:spPr>
          <a:xfrm>
            <a:off x="4394200" y="4587240"/>
            <a:ext cx="5029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350" b="1" i="0">
                <a:solidFill>
                  <a:srgbClr val="C9783E"/>
                </a:solidFill>
                <a:latin typeface="Arial Narrow"/>
                <a:ea typeface="Arial Narrow"/>
                <a:cs typeface="Arial Narrow"/>
              </a:rPr>
              <a:t>04</a:t>
            </a:r>
          </a:p>
        </p:txBody>
      </p:sp>
      <p:sp>
        <p:nvSpPr>
          <p:cNvPr id="128" name=""/>
          <p:cNvSpPr>
            <a:spLocks noGrp="1"/>
          </p:cNvSpPr>
          <p:nvPr/>
        </p:nvSpPr>
        <p:spPr>
          <a:xfrm>
            <a:off x="4988560" y="4587240"/>
            <a:ext cx="6473164"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MWh — THE DENOMINATOR</a:t>
            </a:r>
          </a:p>
        </p:txBody>
      </p:sp>
      <p:sp>
        <p:nvSpPr>
          <p:cNvPr id="129" name=""/>
          <p:cNvSpPr>
            <a:spLocks noGrp="1"/>
          </p:cNvSpPr>
          <p:nvPr/>
        </p:nvSpPr>
        <p:spPr>
          <a:xfrm>
            <a:off x="4988560" y="4834128"/>
            <a:ext cx="6473164" cy="41148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Availability and asset life grow the bottom of the equation: cable health, rejuvenation and life extension keep MWh flowing.</a:t>
            </a:r>
          </a:p>
        </p:txBody>
      </p:sp>
      <p:sp>
        <p:nvSpPr>
          <p:cNvPr id="130" name=""/>
          <p:cNvSpPr>
            <a:spLocks noGrp="1"/>
          </p:cNvSpPr>
          <p:nvPr/>
        </p:nvSpPr>
        <p:spPr>
          <a:xfrm>
            <a:off x="4394200" y="5273040"/>
            <a:ext cx="5029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350" b="1" i="0">
                <a:solidFill>
                  <a:srgbClr val="C9783E"/>
                </a:solidFill>
                <a:latin typeface="Arial Narrow"/>
                <a:ea typeface="Arial Narrow"/>
                <a:cs typeface="Arial Narrow"/>
              </a:rPr>
              <a:t>05</a:t>
            </a:r>
          </a:p>
        </p:txBody>
      </p:sp>
      <p:sp>
        <p:nvSpPr>
          <p:cNvPr id="131" name=""/>
          <p:cNvSpPr>
            <a:spLocks noGrp="1"/>
          </p:cNvSpPr>
          <p:nvPr/>
        </p:nvSpPr>
        <p:spPr>
          <a:xfrm>
            <a:off x="4988560" y="5273040"/>
            <a:ext cx="6473164"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COMMODITY VOLATILITY</a:t>
            </a:r>
          </a:p>
        </p:txBody>
      </p:sp>
      <p:sp>
        <p:nvSpPr>
          <p:cNvPr id="132" name=""/>
          <p:cNvSpPr>
            <a:spLocks noGrp="1"/>
          </p:cNvSpPr>
          <p:nvPr/>
        </p:nvSpPr>
        <p:spPr>
          <a:xfrm>
            <a:off x="4988560" y="5519928"/>
            <a:ext cx="6473164" cy="41148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Copper and aluminum exposure managed through supply strategy and hedging — capex certainty that lenders can underwrite.</a:t>
            </a:r>
          </a:p>
        </p:txBody>
      </p:sp>
      <p:sp>
        <p:nvSpPr>
          <p:cNvPr id="133" name=""/>
          <p:cNvSpPr>
            <a:spLocks noGrp="1"/>
          </p:cNvSpPr>
          <p:nvPr/>
        </p:nvSpPr>
        <p:spPr>
          <a:xfrm>
            <a:off x="719138" y="6215000"/>
            <a:ext cx="10753724" cy="400000"/>
          </a:xfrm>
          <a:prstGeom prst="rect">
            <a:avLst/>
          </a:prstGeom>
          <a:solidFill>
            <a:srgbClr val="17191C"/>
          </a:solidFill>
          <a:ln w="0">
            <a:noFill/>
            <a:prstDash val="solid"/>
          </a:ln>
        </p:spPr>
      </p:sp>
      <p:sp>
        <p:nvSpPr>
          <p:cNvPr id="134" name=""/>
          <p:cNvSpPr>
            <a:spLocks noGrp="1"/>
          </p:cNvSpPr>
          <p:nvPr/>
        </p:nvSpPr>
        <p:spPr>
          <a:xfrm>
            <a:off x="719138" y="62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1050" b="1" i="0">
                <a:solidFill>
                  <a:srgbClr val="FFFFFF"/>
                </a:solidFill>
                <a:latin typeface="Arial Narrow"/>
                <a:ea typeface="Arial Narrow"/>
                <a:cs typeface="Arial Narrow"/>
              </a:rPr>
              <a:t>CABLE BARELY MOVES THE NUMERATOR — IT MOVES COD, RISK AND AVAILABILITY, WHERE LCOE AND IRR ARE DECIDED.</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35" name=""/>
          <p:cNvSpPr>
            <a:spLocks noGrp="1"/>
          </p:cNvSpPr>
          <p:nvPr/>
        </p:nvSpPr>
        <p:spPr>
          <a:xfrm>
            <a:off x="0" y="0"/>
            <a:ext cx="12192000" cy="57150"/>
          </a:xfrm>
          <a:prstGeom prst="rect">
            <a:avLst/>
          </a:prstGeom>
          <a:solidFill>
            <a:srgbClr val="C9783E"/>
          </a:solidFill>
          <a:ln w="0">
            <a:noFill/>
            <a:prstDash val="solid"/>
          </a:ln>
        </p:spPr>
      </p:sp>
      <p:pic>
        <p:nvPicPr>
          <p:cNvPr id="136" name=""/>
          <p:cNvPicPr>
            <a:picLocks noChangeAspect="1"/>
          </p:cNvPicPr>
          <p:nvPr/>
        </p:nvPicPr>
        <p:blipFill>
          <a:blip r:embed="R48e2a3d3733b4264"/>
          <a:stretch/>
        </p:blipFill>
        <p:spPr>
          <a:xfrm>
            <a:off x="719138" y="200025"/>
            <a:ext cx="2066925" cy="590550"/>
          </a:xfrm>
          <a:prstGeom prst="rect">
            <a:avLst/>
          </a:prstGeom>
        </p:spPr>
      </p:pic>
      <p:sp>
        <p:nvSpPr>
          <p:cNvPr id="137" name=""/>
          <p:cNvSpPr>
            <a:spLocks noGrp="1"/>
          </p:cNvSpPr>
          <p:nvPr/>
        </p:nvSpPr>
        <p:spPr>
          <a:xfrm>
            <a:off x="8096250" y="323850"/>
            <a:ext cx="30861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9D4E24"/>
                </a:solidFill>
                <a:latin typeface="Arial Narrow"/>
                <a:ea typeface="Arial Narrow"/>
                <a:cs typeface="Arial Narrow"/>
              </a:rPr>
              <a:t>APPENDIX A7 · SITE-MODEL BASIS</a:t>
            </a:r>
          </a:p>
        </p:txBody>
      </p:sp>
      <p:sp>
        <p:nvSpPr>
          <p:cNvPr id="138" name=""/>
          <p:cNvSpPr>
            <a:spLocks noGrp="1"/>
          </p:cNvSpPr>
          <p:nvPr/>
        </p:nvSpPr>
        <p:spPr>
          <a:xfrm>
            <a:off x="11334750" y="323850"/>
            <a:ext cx="32385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8B9094"/>
                </a:solidFill>
                <a:latin typeface="Arial Narrow"/>
                <a:ea typeface="Arial Narrow"/>
                <a:cs typeface="Arial Narrow"/>
              </a:rPr>
              <a:t>16</a:t>
            </a:r>
          </a:p>
        </p:txBody>
      </p:sp>
      <p:sp>
        <p:nvSpPr>
          <p:cNvPr id="139" name=""/>
          <p:cNvSpPr>
            <a:spLocks noGrp="1"/>
          </p:cNvSpPr>
          <p:nvPr/>
        </p:nvSpPr>
        <p:spPr>
          <a:xfrm>
            <a:off x="719138" y="1005840"/>
            <a:ext cx="80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C9783E"/>
                </a:solidFill>
                <a:latin typeface="Arial Narrow"/>
                <a:ea typeface="Arial Narrow"/>
                <a:cs typeface="Arial Narrow"/>
              </a:rPr>
              <a:t>ROUTED 3×1 NGCC MODEL</a:t>
            </a:r>
          </a:p>
        </p:txBody>
      </p:sp>
      <p:sp>
        <p:nvSpPr>
          <p:cNvPr id="140" name=""/>
          <p:cNvSpPr>
            <a:spLocks noGrp="1"/>
          </p:cNvSpPr>
          <p:nvPr/>
        </p:nvSpPr>
        <p:spPr>
          <a:xfrm>
            <a:off x="719138" y="1280160"/>
            <a:ext cx="10753724" cy="8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The site model behind A3 is quantified, not conceptual.</a:t>
            </a:r>
          </a:p>
        </p:txBody>
      </p:sp>
      <p:sp>
        <p:nvSpPr>
          <p:cNvPr id="141" name=""/>
          <p:cNvSpPr>
            <a:spLocks noGrp="1"/>
          </p:cNvSpPr>
          <p:nvPr/>
        </p:nvSpPr>
        <p:spPr>
          <a:xfrm>
            <a:off x="719138" y="2103120"/>
            <a:ext cx="10753724" cy="25000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6A6F73"/>
                </a:solidFill>
                <a:latin typeface="Arial"/>
                <a:ea typeface="Arial"/>
                <a:cs typeface="Arial"/>
              </a:rPr>
              <a:t>Every figure below comes from the routed Rev 89 geometry — built before any RFQ existed.</a:t>
            </a:r>
          </a:p>
        </p:txBody>
      </p:sp>
      <p:sp>
        <p:nvSpPr>
          <p:cNvPr id="142" name=""/>
          <p:cNvSpPr>
            <a:spLocks noGrp="1"/>
          </p:cNvSpPr>
          <p:nvPr/>
        </p:nvSpPr>
        <p:spPr>
          <a:xfrm>
            <a:off x="719138" y="2606040"/>
            <a:ext cx="37033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350" b="1" i="0">
                <a:solidFill>
                  <a:srgbClr val="9D4E24"/>
                </a:solidFill>
                <a:latin typeface="Arial Narrow"/>
                <a:ea typeface="Arial Narrow"/>
                <a:cs typeface="Arial Narrow"/>
              </a:rPr>
              <a:t>96 SCHEDULE RECORDS</a:t>
            </a:r>
          </a:p>
        </p:txBody>
      </p:sp>
      <p:sp>
        <p:nvSpPr>
          <p:cNvPr id="143" name=""/>
          <p:cNvSpPr>
            <a:spLocks noGrp="1"/>
          </p:cNvSpPr>
          <p:nvPr/>
        </p:nvSpPr>
        <p:spPr>
          <a:xfrm>
            <a:off x="4645660" y="2628900"/>
            <a:ext cx="6827202" cy="48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NGCC master cable schedule Rev M21 — geometry-governed quantities, not factored estimates.</a:t>
            </a:r>
          </a:p>
        </p:txBody>
      </p:sp>
      <p:sp>
        <p:nvSpPr>
          <p:cNvPr id="144" name=""/>
          <p:cNvSpPr>
            <a:spLocks noGrp="1"/>
          </p:cNvSpPr>
          <p:nvPr/>
        </p:nvSpPr>
        <p:spPr>
          <a:xfrm>
            <a:off x="719138" y="3200400"/>
            <a:ext cx="10753724" cy="9525"/>
          </a:xfrm>
          <a:prstGeom prst="rect">
            <a:avLst/>
          </a:prstGeom>
          <a:solidFill>
            <a:srgbClr val="D8D1C8"/>
          </a:solidFill>
          <a:ln w="0">
            <a:noFill/>
            <a:prstDash val="solid"/>
          </a:ln>
        </p:spPr>
      </p:sp>
      <p:sp>
        <p:nvSpPr>
          <p:cNvPr id="145" name=""/>
          <p:cNvSpPr>
            <a:spLocks noGrp="1"/>
          </p:cNvSpPr>
          <p:nvPr/>
        </p:nvSpPr>
        <p:spPr>
          <a:xfrm>
            <a:off x="719138" y="3337560"/>
            <a:ext cx="37033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350" b="1" i="0">
                <a:solidFill>
                  <a:srgbClr val="9D4E24"/>
                </a:solidFill>
                <a:latin typeface="Arial Narrow"/>
                <a:ea typeface="Arial Narrow"/>
                <a:cs typeface="Arial Narrow"/>
              </a:rPr>
              <a:t>1,784 CIRCUITS ROUTED</a:t>
            </a:r>
          </a:p>
        </p:txBody>
      </p:sp>
      <p:sp>
        <p:nvSpPr>
          <p:cNvPr id="146" name=""/>
          <p:cNvSpPr>
            <a:spLocks noGrp="1"/>
          </p:cNvSpPr>
          <p:nvPr/>
        </p:nvSpPr>
        <p:spPr>
          <a:xfrm>
            <a:off x="4645660" y="3360420"/>
            <a:ext cx="6827202" cy="48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2,478 physical runs routed through the Rev 89 site geometry, across every plant zone in A3.</a:t>
            </a:r>
          </a:p>
        </p:txBody>
      </p:sp>
      <p:sp>
        <p:nvSpPr>
          <p:cNvPr id="147" name=""/>
          <p:cNvSpPr>
            <a:spLocks noGrp="1"/>
          </p:cNvSpPr>
          <p:nvPr/>
        </p:nvSpPr>
        <p:spPr>
          <a:xfrm>
            <a:off x="719138" y="3931920"/>
            <a:ext cx="10753724" cy="9525"/>
          </a:xfrm>
          <a:prstGeom prst="rect">
            <a:avLst/>
          </a:prstGeom>
          <a:solidFill>
            <a:srgbClr val="D8D1C8"/>
          </a:solidFill>
          <a:ln w="0">
            <a:noFill/>
            <a:prstDash val="solid"/>
          </a:ln>
        </p:spPr>
      </p:sp>
      <p:sp>
        <p:nvSpPr>
          <p:cNvPr id="148" name=""/>
          <p:cNvSpPr>
            <a:spLocks noGrp="1"/>
          </p:cNvSpPr>
          <p:nvPr/>
        </p:nvSpPr>
        <p:spPr>
          <a:xfrm>
            <a:off x="719138" y="4069080"/>
            <a:ext cx="37033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350" b="1" i="0">
                <a:solidFill>
                  <a:srgbClr val="9D4E24"/>
                </a:solidFill>
                <a:latin typeface="Arial Narrow"/>
                <a:ea typeface="Arial Narrow"/>
                <a:cs typeface="Arial Narrow"/>
              </a:rPr>
              <a:t>1,136,255 PROCUREMENT FT</a:t>
            </a:r>
          </a:p>
        </p:txBody>
      </p:sp>
      <p:sp>
        <p:nvSpPr>
          <p:cNvPr id="149" name=""/>
          <p:cNvSpPr>
            <a:spLocks noGrp="1"/>
          </p:cNvSpPr>
          <p:nvPr/>
        </p:nvSpPr>
        <p:spPr>
          <a:xfrm>
            <a:off x="4645660" y="4091940"/>
            <a:ext cx="6827202" cy="48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Approximately 1.14M ft of cable derived from routed lengths plus engineering allowances.</a:t>
            </a:r>
          </a:p>
        </p:txBody>
      </p:sp>
      <p:sp>
        <p:nvSpPr>
          <p:cNvPr id="150" name=""/>
          <p:cNvSpPr>
            <a:spLocks noGrp="1"/>
          </p:cNvSpPr>
          <p:nvPr/>
        </p:nvSpPr>
        <p:spPr>
          <a:xfrm>
            <a:off x="719138" y="4663440"/>
            <a:ext cx="10753724" cy="9525"/>
          </a:xfrm>
          <a:prstGeom prst="rect">
            <a:avLst/>
          </a:prstGeom>
          <a:solidFill>
            <a:srgbClr val="D8D1C8"/>
          </a:solidFill>
          <a:ln w="0">
            <a:noFill/>
            <a:prstDash val="solid"/>
          </a:ln>
        </p:spPr>
      </p:sp>
      <p:sp>
        <p:nvSpPr>
          <p:cNvPr id="151" name=""/>
          <p:cNvSpPr>
            <a:spLocks noGrp="1"/>
          </p:cNvSpPr>
          <p:nvPr/>
        </p:nvSpPr>
        <p:spPr>
          <a:xfrm>
            <a:off x="719138" y="4800600"/>
            <a:ext cx="3703320"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350" b="1" i="0">
                <a:solidFill>
                  <a:srgbClr val="9D4E24"/>
                </a:solidFill>
                <a:latin typeface="Arial Narrow"/>
                <a:ea typeface="Arial Narrow"/>
                <a:cs typeface="Arial Narrow"/>
              </a:rPr>
              <a:t>563,091 LB COPPER</a:t>
            </a:r>
          </a:p>
        </p:txBody>
      </p:sp>
      <p:sp>
        <p:nvSpPr>
          <p:cNvPr id="152" name=""/>
          <p:cNvSpPr>
            <a:spLocks noGrp="1"/>
          </p:cNvSpPr>
          <p:nvPr/>
        </p:nvSpPr>
        <p:spPr>
          <a:xfrm>
            <a:off x="4645660" y="4823460"/>
            <a:ext cx="6827202" cy="48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About 0.50 lb of copper per foot on average — commodity exposure quantified before procurement.</a:t>
            </a:r>
          </a:p>
        </p:txBody>
      </p:sp>
      <p:sp>
        <p:nvSpPr>
          <p:cNvPr id="153" name=""/>
          <p:cNvSpPr>
            <a:spLocks noGrp="1"/>
          </p:cNvSpPr>
          <p:nvPr/>
        </p:nvSpPr>
        <p:spPr>
          <a:xfrm>
            <a:off x="719138" y="5623560"/>
            <a:ext cx="10753724" cy="2500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a:ea typeface="Arial"/>
                <a:cs typeface="Arial"/>
              </a:rPr>
              <a:t>Published Southwire record: 15M+ ft of HV underground cable with zero in-service failures.</a:t>
            </a:r>
          </a:p>
        </p:txBody>
      </p:sp>
      <p:sp>
        <p:nvSpPr>
          <p:cNvPr id="154" name=""/>
          <p:cNvSpPr>
            <a:spLocks noGrp="1"/>
          </p:cNvSpPr>
          <p:nvPr/>
        </p:nvSpPr>
        <p:spPr>
          <a:xfrm>
            <a:off x="719138" y="6215000"/>
            <a:ext cx="10753724" cy="400000"/>
          </a:xfrm>
          <a:prstGeom prst="rect">
            <a:avLst/>
          </a:prstGeom>
          <a:solidFill>
            <a:srgbClr val="17191C"/>
          </a:solidFill>
          <a:ln w="0">
            <a:noFill/>
            <a:prstDash val="solid"/>
          </a:ln>
        </p:spPr>
      </p:sp>
      <p:sp>
        <p:nvSpPr>
          <p:cNvPr id="155" name=""/>
          <p:cNvSpPr>
            <a:spLocks noGrp="1"/>
          </p:cNvSpPr>
          <p:nvPr/>
        </p:nvSpPr>
        <p:spPr>
          <a:xfrm>
            <a:off x="719138" y="62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1050" b="1" i="0">
                <a:solidFill>
                  <a:srgbClr val="FFFFFF"/>
                </a:solidFill>
                <a:latin typeface="Arial Narrow"/>
                <a:ea typeface="Arial Narrow"/>
                <a:cs typeface="Arial Narrow"/>
              </a:rPr>
              <a:t>THE MODEL BEHIND APPENDIX A3 — CONCEPT, NOT FOR CONSTRUCTION; STOCK NUMBERS REQUIRE CONDUCTOR SIZING.</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63" name=""/>
          <p:cNvSpPr>
            <a:spLocks noGrp="1"/>
          </p:cNvSpPr>
          <p:nvPr/>
        </p:nvSpPr>
        <p:spPr>
          <a:xfrm>
            <a:off x="0" y="0"/>
            <a:ext cx="12192000" cy="57150"/>
          </a:xfrm>
          <a:prstGeom prst="rect">
            <a:avLst/>
          </a:prstGeom>
          <a:solidFill>
            <a:srgbClr val="C9783E"/>
          </a:solidFill>
          <a:ln w="0">
            <a:noFill/>
            <a:prstDash val="solid"/>
          </a:ln>
        </p:spPr>
      </p:sp>
      <p:pic>
        <p:nvPicPr>
          <p:cNvPr id="164" name=""/>
          <p:cNvPicPr>
            <a:picLocks noChangeAspect="1"/>
          </p:cNvPicPr>
          <p:nvPr/>
        </p:nvPicPr>
        <p:blipFill>
          <a:blip r:embed="R48e2a3d3733b4264"/>
          <a:stretch/>
        </p:blipFill>
        <p:spPr>
          <a:xfrm>
            <a:off x="719138" y="200025"/>
            <a:ext cx="2066925" cy="590550"/>
          </a:xfrm>
          <a:prstGeom prst="rect">
            <a:avLst/>
          </a:prstGeom>
        </p:spPr>
      </p:pic>
      <p:sp>
        <p:nvSpPr>
          <p:cNvPr id="165" name=""/>
          <p:cNvSpPr>
            <a:spLocks noGrp="1"/>
          </p:cNvSpPr>
          <p:nvPr/>
        </p:nvSpPr>
        <p:spPr>
          <a:xfrm>
            <a:off x="7325360" y="323850"/>
            <a:ext cx="3857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9D4E24"/>
                </a:solidFill>
                <a:latin typeface="Arial Narrow"/>
                <a:ea typeface="Arial Narrow"/>
                <a:cs typeface="Arial Narrow"/>
              </a:rPr>
              <a:t>APPENDIX A8 · SK-120 REFERENCE</a:t>
            </a:r>
          </a:p>
        </p:txBody>
      </p:sp>
      <p:sp>
        <p:nvSpPr>
          <p:cNvPr id="166" name=""/>
          <p:cNvSpPr>
            <a:spLocks noGrp="1"/>
          </p:cNvSpPr>
          <p:nvPr/>
        </p:nvSpPr>
        <p:spPr>
          <a:xfrm>
            <a:off x="11334750" y="323850"/>
            <a:ext cx="32385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8B9094"/>
                </a:solidFill>
                <a:latin typeface="Arial Narrow"/>
                <a:ea typeface="Arial Narrow"/>
                <a:cs typeface="Arial Narrow"/>
              </a:rPr>
              <a:t>17</a:t>
            </a:r>
          </a:p>
        </p:txBody>
      </p:sp>
      <p:pic>
        <p:nvPicPr>
          <p:cNvPr id="167" name=""/>
          <p:cNvPicPr>
            <a:picLocks noChangeAspect="1"/>
          </p:cNvPicPr>
          <p:nvPr/>
        </p:nvPicPr>
        <p:blipFill>
          <a:blip r:embed="Rsk120a8"/>
          <a:stretch/>
        </p:blipFill>
        <p:spPr>
          <a:xfrm>
            <a:off x="892680" y="880000"/>
            <a:ext cx="10406639" cy="5700000"/>
          </a:xfrm>
          <a:prstGeom prst="rect">
            <a:avLst/>
          </a:prstGeom>
        </p:spPr>
      </p:pic>
      <p:sp>
        <p:nvSpPr>
          <p:cNvPr id="168" name=""/>
          <p:cNvSpPr>
            <a:spLocks noGrp="1"/>
          </p:cNvSpPr>
          <p:nvPr/>
        </p:nvSpPr>
        <p:spPr>
          <a:xfrm>
            <a:off x="719138" y="6675000"/>
            <a:ext cx="10753724" cy="200000"/>
          </a:xfrm>
          <a:prstGeom prst="rect">
            <a:avLst/>
          </a:prstGeom>
          <a:noFill/>
          <a:ln w="0">
            <a:noFill/>
            <a:prstDash val="solid"/>
          </a:ln>
        </p:spPr>
        <p:txBody>
          <a:bodyPr wrap="square" lIns="0" tIns="0" rIns="0" bIns="0" anchor="t">
            <a:normAutofit fontScale="100000"/>
          </a:bodyPr>
          <a:lstStyle/>
          <a:p>
            <a:pPr algn="ctr">
              <a:lnSpc>
                <a:spcPct val="100000"/>
              </a:lnSpc>
              <a:buNone/>
            </a:pPr>
            <a:r>
              <a:rPr sz="900" b="0" i="1">
                <a:solidFill>
                  <a:srgbClr val="6A6F73"/>
                </a:solidFill>
                <a:latin typeface="Arial"/>
                <a:ea typeface="Arial"/>
                <a:cs typeface="Arial"/>
              </a:rPr>
              <a:t>SK-120 · 3×1 NGCC · Rev 89 site model · 16 zones with per-zone cable applications · concept, not for construction · print at 34″ for site-walk use.</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201" name=""/>
          <p:cNvSpPr>
            <a:spLocks noGrp="1"/>
          </p:cNvSpPr>
          <p:nvPr/>
        </p:nvSpPr>
        <p:spPr>
          <a:xfrm>
            <a:off x="0" y="0"/>
            <a:ext cx="12192000" cy="57150"/>
          </a:xfrm>
          <a:prstGeom prst="rect">
            <a:avLst/>
          </a:prstGeom>
          <a:solidFill>
            <a:srgbClr val="C9783E"/>
          </a:solidFill>
          <a:ln w="0">
            <a:noFill/>
            <a:prstDash val="solid"/>
          </a:ln>
        </p:spPr>
      </p:sp>
      <p:pic>
        <p:nvPicPr>
          <p:cNvPr id="202" name=""/>
          <p:cNvPicPr>
            <a:picLocks noChangeAspect="1"/>
          </p:cNvPicPr>
          <p:nvPr/>
        </p:nvPicPr>
        <p:blipFill>
          <a:blip r:embed="R48e2a3d3733b4264"/>
          <a:stretch/>
        </p:blipFill>
        <p:spPr>
          <a:xfrm>
            <a:off x="719138" y="200025"/>
            <a:ext cx="2066925" cy="590550"/>
          </a:xfrm>
          <a:prstGeom prst="rect">
            <a:avLst/>
          </a:prstGeom>
        </p:spPr>
      </p:pic>
      <p:sp>
        <p:nvSpPr>
          <p:cNvPr id="203" name=""/>
          <p:cNvSpPr>
            <a:spLocks noGrp="1"/>
          </p:cNvSpPr>
          <p:nvPr/>
        </p:nvSpPr>
        <p:spPr>
          <a:xfrm>
            <a:off x="7325360" y="323850"/>
            <a:ext cx="3857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9D4E24"/>
                </a:solidFill>
                <a:latin typeface="Arial Narrow"/>
                <a:ea typeface="Arial Narrow"/>
                <a:cs typeface="Arial Narrow"/>
              </a:rPr>
              <a:t>APPENDIX A9 · PROJECT OF INTEREST</a:t>
            </a:r>
          </a:p>
        </p:txBody>
      </p:sp>
      <p:sp>
        <p:nvSpPr>
          <p:cNvPr id="204" name=""/>
          <p:cNvSpPr>
            <a:spLocks noGrp="1"/>
          </p:cNvSpPr>
          <p:nvPr/>
        </p:nvSpPr>
        <p:spPr>
          <a:xfrm>
            <a:off x="11334750" y="323850"/>
            <a:ext cx="32385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8B9094"/>
                </a:solidFill>
                <a:latin typeface="Arial Narrow"/>
                <a:ea typeface="Arial Narrow"/>
                <a:cs typeface="Arial Narrow"/>
              </a:rPr>
              <a:t>18</a:t>
            </a:r>
          </a:p>
        </p:txBody>
      </p:sp>
      <p:sp>
        <p:nvSpPr>
          <p:cNvPr id="205"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C9783E"/>
                </a:solidFill>
                <a:latin typeface="Arial Narrow"/>
                <a:ea typeface="Arial Narrow"/>
                <a:cs typeface="Arial Narrow"/>
              </a:rPr>
              <a:t>CEDAR BAYOU UNIT 5 · BAYTOWN, TEXAS (CHAMBERS COUNTY)</a:t>
            </a:r>
          </a:p>
        </p:txBody>
      </p:sp>
      <p:sp>
        <p:nvSpPr>
          <p:cNvPr id="206" name=""/>
          <p:cNvSpPr>
            <a:spLocks noGrp="1"/>
          </p:cNvSpPr>
          <p:nvPr/>
        </p:nvSpPr>
        <p:spPr>
          <a:xfrm>
            <a:off x="719138" y="1280160"/>
            <a:ext cx="10753724" cy="5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Cedar Bayou Unit 5 — an example, not a recommendation.</a:t>
            </a:r>
          </a:p>
        </p:txBody>
      </p:sp>
      <p:sp>
        <p:nvSpPr>
          <p:cNvPr id="207" name=""/>
          <p:cNvSpPr>
            <a:spLocks noGrp="1"/>
          </p:cNvSpPr>
          <p:nvPr/>
        </p:nvSpPr>
        <p:spPr>
          <a:xfrm>
            <a:off x="719138" y="1950720"/>
            <a:ext cx="10753724" cy="5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A 721 MW combined-cycle brownfield expansion at NRG's existing Cedar Bayou station — the anchor TEF unit in the NRG / GE Vernova / Kiewit framework, in active construction toward a mid-2028 COD.</a:t>
            </a:r>
          </a:p>
        </p:txBody>
      </p:sp>
      <p:sp>
        <p:nvSpPr>
          <p:cNvPr id="208" name=""/>
          <p:cNvSpPr>
            <a:spLocks noGrp="1"/>
          </p:cNvSpPr>
          <p:nvPr/>
        </p:nvSpPr>
        <p:spPr>
          <a:xfrm>
            <a:off x="719138" y="26060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PROJECT FACTS — VALIDATED AUG 2026</a:t>
            </a:r>
          </a:p>
        </p:txBody>
      </p:sp>
      <p:sp>
        <p:nvSpPr>
          <p:cNvPr id="209" name=""/>
          <p:cNvSpPr>
            <a:spLocks noGrp="1"/>
          </p:cNvSpPr>
          <p:nvPr/>
        </p:nvSpPr>
        <p:spPr>
          <a:xfrm>
            <a:off x="719138" y="29258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721 MW CCGT · BROWNFIELD</a:t>
            </a:r>
          </a:p>
        </p:txBody>
      </p:sp>
      <p:sp>
        <p:nvSpPr>
          <p:cNvPr id="210" name=""/>
          <p:cNvSpPr>
            <a:spLocks noGrp="1"/>
          </p:cNvSpPr>
          <p:nvPr/>
        </p:nvSpPr>
        <p:spPr>
          <a:xfrm>
            <a:off x="719138" y="3154440"/>
            <a:ext cx="4900000" cy="56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GE Vernova H-class train at the existing station; ERCOT Houston Load Zone; existing 345 kV switchyard, cooling water and site infrastructure.</a:t>
            </a:r>
          </a:p>
        </p:txBody>
      </p:sp>
      <p:sp>
        <p:nvSpPr>
          <p:cNvPr id="211" name=""/>
          <p:cNvSpPr>
            <a:spLocks noGrp="1"/>
          </p:cNvSpPr>
          <p:nvPr/>
        </p:nvSpPr>
        <p:spPr>
          <a:xfrm>
            <a:off x="719138" y="37259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$562M TEF LOAN · 3% · 20-YEAR</a:t>
            </a:r>
          </a:p>
        </p:txBody>
      </p:sp>
      <p:sp>
        <p:nvSpPr>
          <p:cNvPr id="212" name=""/>
          <p:cNvSpPr>
            <a:spLocks noGrp="1"/>
          </p:cNvSpPr>
          <p:nvPr/>
        </p:nvSpPr>
        <p:spPr>
          <a:xfrm>
            <a:off x="719138" y="3954540"/>
            <a:ext cx="4900000" cy="56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Signed September 2025 — 60% of the $936M project cost; part of $1.15B TEF financing plus $66M tax abatements across the three-unit program.</a:t>
            </a:r>
          </a:p>
        </p:txBody>
      </p:sp>
      <p:sp>
        <p:nvSpPr>
          <p:cNvPr id="213" name=""/>
          <p:cNvSpPr>
            <a:spLocks noGrp="1"/>
          </p:cNvSpPr>
          <p:nvPr/>
        </p:nvSpPr>
        <p:spPr>
          <a:xfrm>
            <a:off x="719138" y="45260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COD TARGET MID-2028</a:t>
            </a:r>
          </a:p>
        </p:txBody>
      </p:sp>
      <p:sp>
        <p:nvSpPr>
          <p:cNvPr id="214" name=""/>
          <p:cNvSpPr>
            <a:spLocks noGrp="1"/>
          </p:cNvSpPr>
          <p:nvPr/>
        </p:nvSpPr>
        <p:spPr>
          <a:xfrm>
            <a:off x="719138" y="4754640"/>
            <a:ext cx="4900000" cy="56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First TEF unit to advance construction; T.H. Wharton (415 MW) completes mid-2026, Greens Bayou 6 follows in 2028.</a:t>
            </a:r>
          </a:p>
        </p:txBody>
      </p:sp>
      <p:sp>
        <p:nvSpPr>
          <p:cNvPr id="215" name=""/>
          <p:cNvSpPr>
            <a:spLocks noGrp="1"/>
          </p:cNvSpPr>
          <p:nvPr/>
        </p:nvSpPr>
        <p:spPr>
          <a:xfrm>
            <a:off x="719138" y="5326140"/>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EPC: TIC / KIEWIT · OEM: GE VERNOVA</a:t>
            </a:r>
          </a:p>
        </p:txBody>
      </p:sp>
      <p:sp>
        <p:nvSpPr>
          <p:cNvPr id="216" name=""/>
          <p:cNvSpPr>
            <a:spLocks noGrp="1"/>
          </p:cNvSpPr>
          <p:nvPr/>
        </p:nvSpPr>
        <p:spPr>
          <a:xfrm>
            <a:off x="719138" y="5554740"/>
            <a:ext cx="4900000" cy="56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Delivered under the 5.4 GW development framework — 1.2 GW in service by 2029, 1.2 GW by 2030, 3 GW more through 2032.</a:t>
            </a:r>
          </a:p>
        </p:txBody>
      </p:sp>
      <p:sp>
        <p:nvSpPr>
          <p:cNvPr id="217" name=""/>
          <p:cNvSpPr>
            <a:spLocks noGrp="1"/>
          </p:cNvSpPr>
          <p:nvPr/>
        </p:nvSpPr>
        <p:spPr>
          <a:xfrm>
            <a:off x="6120130" y="2606040"/>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SCOPE THAT WOULD BE IN PLAY</a:t>
            </a:r>
          </a:p>
        </p:txBody>
      </p:sp>
      <p:sp>
        <p:nvSpPr>
          <p:cNvPr id="218" name=""/>
          <p:cNvSpPr>
            <a:spLocks noGrp="1"/>
          </p:cNvSpPr>
          <p:nvPr/>
        </p:nvSpPr>
        <p:spPr>
          <a:xfrm>
            <a:off x="6120130" y="2984840"/>
            <a:ext cx="91440" cy="91440"/>
          </a:xfrm>
          <a:prstGeom prst="rect">
            <a:avLst/>
          </a:prstGeom>
          <a:solidFill>
            <a:srgbClr val="C9783E"/>
          </a:solidFill>
          <a:ln w="0">
            <a:noFill/>
            <a:prstDash val="solid"/>
          </a:ln>
        </p:spPr>
      </p:sp>
      <p:sp>
        <p:nvSpPr>
          <p:cNvPr id="219" name=""/>
          <p:cNvSpPr>
            <a:spLocks noGrp="1"/>
          </p:cNvSpPr>
          <p:nvPr/>
        </p:nvSpPr>
        <p:spPr>
          <a:xfrm>
            <a:off x="6348730" y="29258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HV generator leads and brownfield 345 kV switchyard tie-in for the H-class train</a:t>
            </a:r>
          </a:p>
        </p:txBody>
      </p:sp>
      <p:sp>
        <p:nvSpPr>
          <p:cNvPr id="220" name=""/>
          <p:cNvSpPr>
            <a:spLocks noGrp="1"/>
          </p:cNvSpPr>
          <p:nvPr/>
        </p:nvSpPr>
        <p:spPr>
          <a:xfrm>
            <a:off x="6120130" y="3442040"/>
            <a:ext cx="91440" cy="91440"/>
          </a:xfrm>
          <a:prstGeom prst="rect">
            <a:avLst/>
          </a:prstGeom>
          <a:solidFill>
            <a:srgbClr val="C9783E"/>
          </a:solidFill>
          <a:ln w="0">
            <a:noFill/>
            <a:prstDash val="solid"/>
          </a:ln>
        </p:spPr>
      </p:sp>
      <p:sp>
        <p:nvSpPr>
          <p:cNvPr id="221" name=""/>
          <p:cNvSpPr>
            <a:spLocks noGrp="1"/>
          </p:cNvSpPr>
          <p:nvPr/>
        </p:nvSpPr>
        <p:spPr>
          <a:xfrm>
            <a:off x="6348730" y="33830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MV plant auxiliary distribution, 5–35 kV, across the new unit and interfaces</a:t>
            </a:r>
          </a:p>
        </p:txBody>
      </p:sp>
      <p:sp>
        <p:nvSpPr>
          <p:cNvPr id="222" name=""/>
          <p:cNvSpPr>
            <a:spLocks noGrp="1"/>
          </p:cNvSpPr>
          <p:nvPr/>
        </p:nvSpPr>
        <p:spPr>
          <a:xfrm>
            <a:off x="6120130" y="3899240"/>
            <a:ext cx="91440" cy="91440"/>
          </a:xfrm>
          <a:prstGeom prst="rect">
            <a:avLst/>
          </a:prstGeom>
          <a:solidFill>
            <a:srgbClr val="C9783E"/>
          </a:solidFill>
          <a:ln w="0">
            <a:noFill/>
            <a:prstDash val="solid"/>
          </a:ln>
        </p:spPr>
      </p:sp>
      <p:sp>
        <p:nvSpPr>
          <p:cNvPr id="223" name=""/>
          <p:cNvSpPr>
            <a:spLocks noGrp="1"/>
          </p:cNvSpPr>
          <p:nvPr/>
        </p:nvSpPr>
        <p:spPr>
          <a:xfrm>
            <a:off x="6348730" y="38402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LV 600 V power and control — turbine hall, HRSG and balance of plant</a:t>
            </a:r>
          </a:p>
        </p:txBody>
      </p:sp>
      <p:sp>
        <p:nvSpPr>
          <p:cNvPr id="224" name=""/>
          <p:cNvSpPr>
            <a:spLocks noGrp="1"/>
          </p:cNvSpPr>
          <p:nvPr/>
        </p:nvSpPr>
        <p:spPr>
          <a:xfrm>
            <a:off x="6120130" y="4356440"/>
            <a:ext cx="91440" cy="91440"/>
          </a:xfrm>
          <a:prstGeom prst="rect">
            <a:avLst/>
          </a:prstGeom>
          <a:solidFill>
            <a:srgbClr val="C9783E"/>
          </a:solidFill>
          <a:ln w="0">
            <a:noFill/>
            <a:prstDash val="solid"/>
          </a:ln>
        </p:spPr>
      </p:sp>
      <p:sp>
        <p:nvSpPr>
          <p:cNvPr id="225" name=""/>
          <p:cNvSpPr>
            <a:spLocks noGrp="1"/>
          </p:cNvSpPr>
          <p:nvPr/>
        </p:nvSpPr>
        <p:spPr>
          <a:xfrm>
            <a:off x="6348730" y="42974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I&amp;C, DCS and fiber — integration with the existing station and ERCOT SCADA</a:t>
            </a:r>
          </a:p>
        </p:txBody>
      </p:sp>
      <p:sp>
        <p:nvSpPr>
          <p:cNvPr id="226" name=""/>
          <p:cNvSpPr>
            <a:spLocks noGrp="1"/>
          </p:cNvSpPr>
          <p:nvPr/>
        </p:nvSpPr>
        <p:spPr>
          <a:xfrm>
            <a:off x="6120130" y="4813640"/>
            <a:ext cx="91440" cy="91440"/>
          </a:xfrm>
          <a:prstGeom prst="rect">
            <a:avLst/>
          </a:prstGeom>
          <a:solidFill>
            <a:srgbClr val="C9783E"/>
          </a:solidFill>
          <a:ln w="0">
            <a:noFill/>
            <a:prstDash val="solid"/>
          </a:ln>
        </p:spPr>
      </p:sp>
      <p:sp>
        <p:nvSpPr>
          <p:cNvPr id="227" name=""/>
          <p:cNvSpPr>
            <a:spLocks noGrp="1"/>
          </p:cNvSpPr>
          <p:nvPr/>
        </p:nvSpPr>
        <p:spPr>
          <a:xfrm>
            <a:off x="6348730" y="47546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Grounding-grid extension into the heritage plant grid</a:t>
            </a:r>
          </a:p>
        </p:txBody>
      </p:sp>
      <p:sp>
        <p:nvSpPr>
          <p:cNvPr id="228" name=""/>
          <p:cNvSpPr>
            <a:spLocks noGrp="1"/>
          </p:cNvSpPr>
          <p:nvPr/>
        </p:nvSpPr>
        <p:spPr>
          <a:xfrm>
            <a:off x="6120130" y="5270840"/>
            <a:ext cx="91440" cy="91440"/>
          </a:xfrm>
          <a:prstGeom prst="rect">
            <a:avLst/>
          </a:prstGeom>
          <a:solidFill>
            <a:srgbClr val="C9783E"/>
          </a:solidFill>
          <a:ln w="0">
            <a:noFill/>
            <a:prstDash val="solid"/>
          </a:ln>
        </p:spPr>
      </p:sp>
      <p:sp>
        <p:nvSpPr>
          <p:cNvPr id="229" name=""/>
          <p:cNvSpPr>
            <a:spLocks noGrp="1"/>
          </p:cNvSpPr>
          <p:nvPr/>
        </p:nvSpPr>
        <p:spPr>
          <a:xfrm>
            <a:off x="6348730" y="52118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Sequenced reels, cut lengths and kits against 2026–2028 procurement windows</a:t>
            </a:r>
          </a:p>
        </p:txBody>
      </p:sp>
      <p:sp>
        <p:nvSpPr>
          <p:cNvPr id="230" name=""/>
          <p:cNvSpPr>
            <a:spLocks noGrp="1"/>
          </p:cNvSpPr>
          <p:nvPr/>
        </p:nvSpPr>
        <p:spPr>
          <a:xfrm>
            <a:off x="6120130" y="5728040"/>
            <a:ext cx="91440" cy="91440"/>
          </a:xfrm>
          <a:prstGeom prst="rect">
            <a:avLst/>
          </a:prstGeom>
          <a:solidFill>
            <a:srgbClr val="C9783E"/>
          </a:solidFill>
          <a:ln w="0">
            <a:noFill/>
            <a:prstDash val="solid"/>
          </a:ln>
        </p:spPr>
      </p:sp>
      <p:sp>
        <p:nvSpPr>
          <p:cNvPr id="231" name=""/>
          <p:cNvSpPr>
            <a:spLocks noGrp="1"/>
          </p:cNvSpPr>
          <p:nvPr/>
        </p:nvSpPr>
        <p:spPr>
          <a:xfrm>
            <a:off x="6348730" y="5669040"/>
            <a:ext cx="5124132" cy="4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Post-COD continuity — records, spares and MRO carried into the operating fleet</a:t>
            </a:r>
          </a:p>
        </p:txBody>
      </p:sp>
      <p:sp>
        <p:nvSpPr>
          <p:cNvPr id="232" name=""/>
          <p:cNvSpPr>
            <a:spLocks noGrp="1"/>
          </p:cNvSpPr>
          <p:nvPr/>
        </p:nvSpPr>
        <p:spPr>
          <a:xfrm>
            <a:off x="719138" y="6032500"/>
            <a:ext cx="10753724" cy="200000"/>
          </a:xfrm>
          <a:prstGeom prst="rect">
            <a:avLst/>
          </a:prstGeom>
          <a:noFill/>
          <a:ln w="0">
            <a:noFill/>
            <a:prstDash val="solid"/>
          </a:ln>
        </p:spPr>
        <p:txBody>
          <a:bodyPr wrap="square" lIns="0" tIns="0" rIns="0" bIns="0" anchor="t">
            <a:normAutofit fontScale="100000"/>
          </a:bodyPr>
          <a:lstStyle/>
          <a:p>
            <a:pPr algn="l">
              <a:lnSpc>
                <a:spcPct val="100000"/>
              </a:lnSpc>
              <a:buNone/>
            </a:pPr>
            <a:r>
              <a:rPr sz="825" b="0" i="1">
                <a:solidFill>
                  <a:srgbClr val="6A6F73"/>
                </a:solidFill>
                <a:latin typeface="Arial"/>
                <a:ea typeface="Arial"/>
                <a:cs typeface="Arial"/>
              </a:rPr>
              <a:t>Validated against public sources, Aug 2026: PUCT / Texas Energy Fund announcements, Utility Dive, NRG investor materials. Capacity reported 689–721 MW across sources; 721 MW per the PUCT loan announcement.</a:t>
            </a:r>
          </a:p>
        </p:txBody>
      </p:sp>
      <p:sp>
        <p:nvSpPr>
          <p:cNvPr id="233" name=""/>
          <p:cNvSpPr>
            <a:spLocks noGrp="1"/>
          </p:cNvSpPr>
          <p:nvPr/>
        </p:nvSpPr>
        <p:spPr>
          <a:xfrm>
            <a:off x="719138" y="6315000"/>
            <a:ext cx="10753724" cy="400000"/>
          </a:xfrm>
          <a:prstGeom prst="rect">
            <a:avLst/>
          </a:prstGeom>
          <a:solidFill>
            <a:srgbClr val="17191C"/>
          </a:solidFill>
          <a:ln w="0">
            <a:noFill/>
            <a:prstDash val="solid"/>
          </a:ln>
        </p:spPr>
      </p:sp>
      <p:sp>
        <p:nvSpPr>
          <p:cNvPr id="234"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1050" b="1" i="0">
                <a:solidFill>
                  <a:srgbClr val="FFFFFF"/>
                </a:solidFill>
                <a:latin typeface="Arial Narrow"/>
                <a:ea typeface="Arial Narrow"/>
                <a:cs typeface="Arial Narrow"/>
              </a:rPr>
              <a:t>IN ACTIVE PROCUREMENT — INCLUDED AS A WORKED EXAMPLE; NRG SELECTS THE STARTING SCOPE (SEE SLIDE 8).</a:t>
            </a:r>
          </a:p>
        </p:txBody>
      </p:sp>
    </p:spTree>
  </p:cSld>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401" name=""/>
          <p:cNvSpPr>
            <a:spLocks noGrp="1"/>
          </p:cNvSpPr>
          <p:nvPr/>
        </p:nvSpPr>
        <p:spPr>
          <a:xfrm>
            <a:off x="0" y="0"/>
            <a:ext cx="12192000" cy="57150"/>
          </a:xfrm>
          <a:prstGeom prst="rect">
            <a:avLst/>
          </a:prstGeom>
          <a:solidFill>
            <a:srgbClr val="C9783E"/>
          </a:solidFill>
          <a:ln w="0">
            <a:noFill/>
            <a:prstDash val="solid"/>
          </a:ln>
        </p:spPr>
      </p:sp>
      <p:pic>
        <p:nvPicPr>
          <p:cNvPr id="402" name=""/>
          <p:cNvPicPr>
            <a:picLocks noChangeAspect="1"/>
          </p:cNvPicPr>
          <p:nvPr/>
        </p:nvPicPr>
        <p:blipFill>
          <a:blip r:embed="R48e2a3d3733b4264"/>
          <a:stretch/>
        </p:blipFill>
        <p:spPr>
          <a:xfrm>
            <a:off x="719138" y="200025"/>
            <a:ext cx="2066925" cy="590550"/>
          </a:xfrm>
          <a:prstGeom prst="rect">
            <a:avLst/>
          </a:prstGeom>
        </p:spPr>
      </p:pic>
      <p:sp>
        <p:nvSpPr>
          <p:cNvPr id="403" name=""/>
          <p:cNvSpPr>
            <a:spLocks noGrp="1"/>
          </p:cNvSpPr>
          <p:nvPr/>
        </p:nvSpPr>
        <p:spPr>
          <a:xfrm>
            <a:off x="7325360" y="323850"/>
            <a:ext cx="3857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9D4E24"/>
                </a:solidFill>
                <a:latin typeface="Arial Narrow"/>
                <a:ea typeface="Arial Narrow"/>
                <a:cs typeface="Arial Narrow"/>
              </a:rPr>
              <a:t>APPENDIX A10 · FINANCE + ESG</a:t>
            </a:r>
          </a:p>
        </p:txBody>
      </p:sp>
      <p:sp>
        <p:nvSpPr>
          <p:cNvPr id="404" name=""/>
          <p:cNvSpPr>
            <a:spLocks noGrp="1"/>
          </p:cNvSpPr>
          <p:nvPr/>
        </p:nvSpPr>
        <p:spPr>
          <a:xfrm>
            <a:off x="11334750" y="323850"/>
            <a:ext cx="32385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8B9094"/>
                </a:solidFill>
                <a:latin typeface="Arial Narrow"/>
                <a:ea typeface="Arial Narrow"/>
                <a:cs typeface="Arial Narrow"/>
              </a:rPr>
              <a:t>19</a:t>
            </a:r>
          </a:p>
        </p:txBody>
      </p:sp>
      <p:sp>
        <p:nvSpPr>
          <p:cNvPr id="405" name=""/>
          <p:cNvSpPr>
            <a:spLocks noGrp="1"/>
          </p:cNvSpPr>
          <p:nvPr/>
        </p:nvSpPr>
        <p:spPr>
          <a:xfrm>
            <a:off x="719138" y="1005840"/>
            <a:ext cx="85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C9783E"/>
                </a:solidFill>
                <a:latin typeface="Arial Narrow"/>
                <a:ea typeface="Arial Narrow"/>
                <a:cs typeface="Arial Narrow"/>
              </a:rPr>
              <a:t>EARLY ENGAGEMENT, UNDERWRITING-GRADE DOCUMENTATION</a:t>
            </a:r>
          </a:p>
        </p:txBody>
      </p:sp>
      <p:sp>
        <p:nvSpPr>
          <p:cNvPr id="406" name=""/>
          <p:cNvSpPr>
            <a:spLocks noGrp="1"/>
          </p:cNvSpPr>
          <p:nvPr/>
        </p:nvSpPr>
        <p:spPr>
          <a:xfrm>
            <a:off x="719138" y="1280160"/>
            <a:ext cx="10753724" cy="5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What early engagement includes — and what finance gets out of it.</a:t>
            </a:r>
          </a:p>
        </p:txBody>
      </p:sp>
      <p:sp>
        <p:nvSpPr>
          <p:cNvPr id="407" name=""/>
          <p:cNvSpPr>
            <a:spLocks noGrp="1"/>
          </p:cNvSpPr>
          <p:nvPr/>
        </p:nvSpPr>
        <p:spPr>
          <a:xfrm>
            <a:off x="719138" y="195072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Technical readiness converts into underwriting inputs: cost, schedule, sourcing and carbon visibility before the EPC bid hardens contingency.</a:t>
            </a:r>
          </a:p>
        </p:txBody>
      </p:sp>
      <p:sp>
        <p:nvSpPr>
          <p:cNvPr id="408" name=""/>
          <p:cNvSpPr>
            <a:spLocks noGrp="1"/>
          </p:cNvSpPr>
          <p:nvPr/>
        </p:nvSpPr>
        <p:spPr>
          <a:xfrm>
            <a:off x="719138" y="2515235"/>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PRE-EPC OFFERINGS</a:t>
            </a:r>
          </a:p>
        </p:txBody>
      </p:sp>
      <p:sp>
        <p:nvSpPr>
          <p:cNvPr id="409" name=""/>
          <p:cNvSpPr>
            <a:spLocks noGrp="1"/>
          </p:cNvSpPr>
          <p:nvPr/>
        </p:nvSpPr>
        <p:spPr>
          <a:xfrm>
            <a:off x="719138" y="2894035"/>
            <a:ext cx="91440" cy="91440"/>
          </a:xfrm>
          <a:prstGeom prst="rect">
            <a:avLst/>
          </a:prstGeom>
          <a:solidFill>
            <a:srgbClr val="C9783E"/>
          </a:solidFill>
          <a:ln w="0">
            <a:noFill/>
            <a:prstDash val="solid"/>
          </a:ln>
        </p:spPr>
      </p:sp>
      <p:sp>
        <p:nvSpPr>
          <p:cNvPr id="410" name=""/>
          <p:cNvSpPr>
            <a:spLocks noGrp="1"/>
          </p:cNvSpPr>
          <p:nvPr/>
        </p:nvSpPr>
        <p:spPr>
          <a:xfrm>
            <a:off x="947738" y="2835035"/>
            <a:ext cx="4671400"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Master planning workshop — conceptual design and interface mapping for complex sites</a:t>
            </a:r>
          </a:p>
        </p:txBody>
      </p:sp>
      <p:sp>
        <p:nvSpPr>
          <p:cNvPr id="411" name=""/>
          <p:cNvSpPr>
            <a:spLocks noGrp="1"/>
          </p:cNvSpPr>
          <p:nvPr/>
        </p:nvSpPr>
        <p:spPr>
          <a:xfrm>
            <a:off x="719138" y="3488395"/>
            <a:ext cx="91440" cy="91440"/>
          </a:xfrm>
          <a:prstGeom prst="rect">
            <a:avLst/>
          </a:prstGeom>
          <a:solidFill>
            <a:srgbClr val="C9783E"/>
          </a:solidFill>
          <a:ln w="0">
            <a:noFill/>
            <a:prstDash val="solid"/>
          </a:ln>
        </p:spPr>
      </p:sp>
      <p:sp>
        <p:nvSpPr>
          <p:cNvPr id="412" name=""/>
          <p:cNvSpPr>
            <a:spLocks noGrp="1"/>
          </p:cNvSpPr>
          <p:nvPr/>
        </p:nvSpPr>
        <p:spPr>
          <a:xfrm>
            <a:off x="947738" y="3429395"/>
            <a:ext cx="4671400"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Conceptual cable solution design and electrical spine architecture</a:t>
            </a:r>
          </a:p>
        </p:txBody>
      </p:sp>
      <p:sp>
        <p:nvSpPr>
          <p:cNvPr id="413" name=""/>
          <p:cNvSpPr>
            <a:spLocks noGrp="1"/>
          </p:cNvSpPr>
          <p:nvPr/>
        </p:nvSpPr>
        <p:spPr>
          <a:xfrm>
            <a:off x="719138" y="4082755"/>
            <a:ext cx="91440" cy="91440"/>
          </a:xfrm>
          <a:prstGeom prst="rect">
            <a:avLst/>
          </a:prstGeom>
          <a:solidFill>
            <a:srgbClr val="C9783E"/>
          </a:solidFill>
          <a:ln w="0">
            <a:noFill/>
            <a:prstDash val="solid"/>
          </a:ln>
        </p:spPr>
      </p:sp>
      <p:sp>
        <p:nvSpPr>
          <p:cNvPr id="414" name=""/>
          <p:cNvSpPr>
            <a:spLocks noGrp="1"/>
          </p:cNvSpPr>
          <p:nvPr/>
        </p:nvSpPr>
        <p:spPr>
          <a:xfrm>
            <a:off x="947738" y="4023755"/>
            <a:ext cx="4671400"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Procurement risk register and schedule visibility</a:t>
            </a:r>
          </a:p>
        </p:txBody>
      </p:sp>
      <p:sp>
        <p:nvSpPr>
          <p:cNvPr id="415" name=""/>
          <p:cNvSpPr>
            <a:spLocks noGrp="1"/>
          </p:cNvSpPr>
          <p:nvPr/>
        </p:nvSpPr>
        <p:spPr>
          <a:xfrm>
            <a:off x="719138" y="4677115"/>
            <a:ext cx="91440" cy="91440"/>
          </a:xfrm>
          <a:prstGeom prst="rect">
            <a:avLst/>
          </a:prstGeom>
          <a:solidFill>
            <a:srgbClr val="C9783E"/>
          </a:solidFill>
          <a:ln w="0">
            <a:noFill/>
            <a:prstDash val="solid"/>
          </a:ln>
        </p:spPr>
      </p:sp>
      <p:sp>
        <p:nvSpPr>
          <p:cNvPr id="416" name=""/>
          <p:cNvSpPr>
            <a:spLocks noGrp="1"/>
          </p:cNvSpPr>
          <p:nvPr/>
        </p:nvSpPr>
        <p:spPr>
          <a:xfrm>
            <a:off x="947738" y="4618115"/>
            <a:ext cx="4671400"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Capacity allocation and commodity (Cu/Al) exposure hedging support</a:t>
            </a:r>
          </a:p>
        </p:txBody>
      </p:sp>
      <p:sp>
        <p:nvSpPr>
          <p:cNvPr id="417" name=""/>
          <p:cNvSpPr>
            <a:spLocks noGrp="1"/>
          </p:cNvSpPr>
          <p:nvPr/>
        </p:nvSpPr>
        <p:spPr>
          <a:xfrm>
            <a:off x="719138" y="5271475"/>
            <a:ext cx="91440" cy="91440"/>
          </a:xfrm>
          <a:prstGeom prst="rect">
            <a:avLst/>
          </a:prstGeom>
          <a:solidFill>
            <a:srgbClr val="C9783E"/>
          </a:solidFill>
          <a:ln w="0">
            <a:noFill/>
            <a:prstDash val="solid"/>
          </a:ln>
        </p:spPr>
      </p:sp>
      <p:sp>
        <p:nvSpPr>
          <p:cNvPr id="418" name=""/>
          <p:cNvSpPr>
            <a:spLocks noGrp="1"/>
          </p:cNvSpPr>
          <p:nvPr/>
        </p:nvSpPr>
        <p:spPr>
          <a:xfrm>
            <a:off x="947738" y="5212475"/>
            <a:ext cx="4671400"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Domestic supply strategy — U.S.-made resilience for TEF and local-content goals</a:t>
            </a:r>
          </a:p>
        </p:txBody>
      </p:sp>
      <p:sp>
        <p:nvSpPr>
          <p:cNvPr id="419" name=""/>
          <p:cNvSpPr>
            <a:spLocks noGrp="1"/>
          </p:cNvSpPr>
          <p:nvPr/>
        </p:nvSpPr>
        <p:spPr>
          <a:xfrm>
            <a:off x="6120130" y="2515235"/>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DOCUMENTATION FOR FINANCE + ESG</a:t>
            </a:r>
          </a:p>
        </p:txBody>
      </p:sp>
      <p:sp>
        <p:nvSpPr>
          <p:cNvPr id="420" name=""/>
          <p:cNvSpPr>
            <a:spLocks noGrp="1"/>
          </p:cNvSpPr>
          <p:nvPr/>
        </p:nvSpPr>
        <p:spPr>
          <a:xfrm>
            <a:off x="6120130" y="2894035"/>
            <a:ext cx="91440" cy="91440"/>
          </a:xfrm>
          <a:prstGeom prst="rect">
            <a:avLst/>
          </a:prstGeom>
          <a:solidFill>
            <a:srgbClr val="C9783E"/>
          </a:solidFill>
          <a:ln w="0">
            <a:noFill/>
            <a:prstDash val="solid"/>
          </a:ln>
        </p:spPr>
      </p:sp>
      <p:sp>
        <p:nvSpPr>
          <p:cNvPr id="421" name=""/>
          <p:cNvSpPr>
            <a:spLocks noGrp="1"/>
          </p:cNvSpPr>
          <p:nvPr/>
        </p:nvSpPr>
        <p:spPr>
          <a:xfrm>
            <a:off x="6348730" y="2835035"/>
            <a:ext cx="5124132"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Transparent BOMs and cost-allocation records supporting asset classification and depreciation — tax treatment confirmed per project</a:t>
            </a:r>
          </a:p>
        </p:txBody>
      </p:sp>
      <p:sp>
        <p:nvSpPr>
          <p:cNvPr id="422" name=""/>
          <p:cNvSpPr>
            <a:spLocks noGrp="1"/>
          </p:cNvSpPr>
          <p:nvPr/>
        </p:nvSpPr>
        <p:spPr>
          <a:xfrm>
            <a:off x="6120130" y="3488395"/>
            <a:ext cx="91440" cy="91440"/>
          </a:xfrm>
          <a:prstGeom prst="rect">
            <a:avLst/>
          </a:prstGeom>
          <a:solidFill>
            <a:srgbClr val="C9783E"/>
          </a:solidFill>
          <a:ln w="0">
            <a:noFill/>
            <a:prstDash val="solid"/>
          </a:ln>
        </p:spPr>
      </p:sp>
      <p:sp>
        <p:nvSpPr>
          <p:cNvPr id="423" name=""/>
          <p:cNvSpPr>
            <a:spLocks noGrp="1"/>
          </p:cNvSpPr>
          <p:nvPr/>
        </p:nvSpPr>
        <p:spPr>
          <a:xfrm>
            <a:off x="6348730" y="3429395"/>
            <a:ext cx="5124132"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Verified EPDs for low-embodied-carbon procurement</a:t>
            </a:r>
          </a:p>
        </p:txBody>
      </p:sp>
      <p:sp>
        <p:nvSpPr>
          <p:cNvPr id="424" name=""/>
          <p:cNvSpPr>
            <a:spLocks noGrp="1"/>
          </p:cNvSpPr>
          <p:nvPr/>
        </p:nvSpPr>
        <p:spPr>
          <a:xfrm>
            <a:off x="6120130" y="4082755"/>
            <a:ext cx="91440" cy="91440"/>
          </a:xfrm>
          <a:prstGeom prst="rect">
            <a:avLst/>
          </a:prstGeom>
          <a:solidFill>
            <a:srgbClr val="C9783E"/>
          </a:solidFill>
          <a:ln w="0">
            <a:noFill/>
            <a:prstDash val="solid"/>
          </a:ln>
        </p:spPr>
      </p:sp>
      <p:sp>
        <p:nvSpPr>
          <p:cNvPr id="425" name=""/>
          <p:cNvSpPr>
            <a:spLocks noGrp="1"/>
          </p:cNvSpPr>
          <p:nvPr/>
        </p:nvSpPr>
        <p:spPr>
          <a:xfrm>
            <a:off x="6348730" y="4023755"/>
            <a:ext cx="5124132"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Scope 3 cradle-to-gate carbon data for ESG-linked financing and hyperscaler offtaker requirements</a:t>
            </a:r>
          </a:p>
        </p:txBody>
      </p:sp>
      <p:sp>
        <p:nvSpPr>
          <p:cNvPr id="426" name=""/>
          <p:cNvSpPr>
            <a:spLocks noGrp="1"/>
          </p:cNvSpPr>
          <p:nvPr/>
        </p:nvSpPr>
        <p:spPr>
          <a:xfrm>
            <a:off x="6120130" y="4677115"/>
            <a:ext cx="91440" cy="91440"/>
          </a:xfrm>
          <a:prstGeom prst="rect">
            <a:avLst/>
          </a:prstGeom>
          <a:solidFill>
            <a:srgbClr val="C9783E"/>
          </a:solidFill>
          <a:ln w="0">
            <a:noFill/>
            <a:prstDash val="solid"/>
          </a:ln>
        </p:spPr>
      </p:sp>
      <p:sp>
        <p:nvSpPr>
          <p:cNvPr id="427" name=""/>
          <p:cNvSpPr>
            <a:spLocks noGrp="1"/>
          </p:cNvSpPr>
          <p:nvPr/>
        </p:nvSpPr>
        <p:spPr>
          <a:xfrm>
            <a:off x="6348730" y="4618115"/>
            <a:ext cx="5124132"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Recycled-content integration and optimized logistics (circular economy)</a:t>
            </a:r>
          </a:p>
        </p:txBody>
      </p:sp>
      <p:sp>
        <p:nvSpPr>
          <p:cNvPr id="428" name=""/>
          <p:cNvSpPr>
            <a:spLocks noGrp="1"/>
          </p:cNvSpPr>
          <p:nvPr/>
        </p:nvSpPr>
        <p:spPr>
          <a:xfrm>
            <a:off x="6120130" y="5271475"/>
            <a:ext cx="91440" cy="91440"/>
          </a:xfrm>
          <a:prstGeom prst="rect">
            <a:avLst/>
          </a:prstGeom>
          <a:solidFill>
            <a:srgbClr val="C9783E"/>
          </a:solidFill>
          <a:ln w="0">
            <a:noFill/>
            <a:prstDash val="solid"/>
          </a:ln>
        </p:spPr>
      </p:sp>
      <p:sp>
        <p:nvSpPr>
          <p:cNvPr id="429" name=""/>
          <p:cNvSpPr>
            <a:spLocks noGrp="1"/>
          </p:cNvSpPr>
          <p:nvPr/>
        </p:nvSpPr>
        <p:spPr>
          <a:xfrm>
            <a:off x="6348730" y="5212475"/>
            <a:ext cx="5124132" cy="52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Auditable domestic-content documentation for TEF and investor reporting</a:t>
            </a:r>
          </a:p>
        </p:txBody>
      </p:sp>
      <p:sp>
        <p:nvSpPr>
          <p:cNvPr id="430" name=""/>
          <p:cNvSpPr>
            <a:spLocks noGrp="1"/>
          </p:cNvSpPr>
          <p:nvPr/>
        </p:nvSpPr>
        <p:spPr>
          <a:xfrm>
            <a:off x="719138" y="6032500"/>
            <a:ext cx="10753724" cy="200000"/>
          </a:xfrm>
          <a:prstGeom prst="rect">
            <a:avLst/>
          </a:prstGeom>
          <a:noFill/>
          <a:ln w="0">
            <a:noFill/>
            <a:prstDash val="solid"/>
          </a:ln>
        </p:spPr>
        <p:txBody>
          <a:bodyPr wrap="square" lIns="0" tIns="0" rIns="0" bIns="0" anchor="t">
            <a:normAutofit fontScale="100000"/>
          </a:bodyPr>
          <a:lstStyle/>
          <a:p>
            <a:pPr algn="l">
              <a:lnSpc>
                <a:spcPct val="100000"/>
              </a:lnSpc>
              <a:buNone/>
            </a:pPr>
            <a:r>
              <a:rPr sz="825" b="0" i="1">
                <a:solidFill>
                  <a:srgbClr val="6A6F73"/>
                </a:solidFill>
                <a:latin typeface="Arial"/>
                <a:ea typeface="Arial"/>
                <a:cs typeface="Arial"/>
              </a:rPr>
              <a:t>Conceptual commercial positioning — offerings, documentation and tax applicability are scoped and confirmed per project.</a:t>
            </a:r>
          </a:p>
        </p:txBody>
      </p:sp>
      <p:sp>
        <p:nvSpPr>
          <p:cNvPr id="431" name=""/>
          <p:cNvSpPr>
            <a:spLocks noGrp="1"/>
          </p:cNvSpPr>
          <p:nvPr/>
        </p:nvSpPr>
        <p:spPr>
          <a:xfrm>
            <a:off x="719138" y="6315000"/>
            <a:ext cx="10753724" cy="400000"/>
          </a:xfrm>
          <a:prstGeom prst="rect">
            <a:avLst/>
          </a:prstGeom>
          <a:solidFill>
            <a:srgbClr val="17191C"/>
          </a:solidFill>
          <a:ln w="0">
            <a:noFill/>
            <a:prstDash val="solid"/>
          </a:ln>
        </p:spPr>
      </p:sp>
      <p:sp>
        <p:nvSpPr>
          <p:cNvPr id="432"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1050" b="1" i="0">
                <a:solidFill>
                  <a:srgbClr val="FFFFFF"/>
                </a:solidFill>
                <a:latin typeface="Arial Narrow"/>
                <a:ea typeface="Arial Narrow"/>
                <a:cs typeface="Arial Narrow"/>
              </a:rPr>
              <a:t>COST, SCHEDULE, SOURCING AND CARBON VISIBILITY — BEFORE THE EPC BID PRICES THE UNCERTAINTY AS CONTINGENCY.</a:t>
            </a:r>
          </a:p>
        </p:txBody>
      </p:sp>
    </p:spTree>
  </p:cSld>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501" name=""/>
          <p:cNvSpPr>
            <a:spLocks noGrp="1"/>
          </p:cNvSpPr>
          <p:nvPr/>
        </p:nvSpPr>
        <p:spPr>
          <a:xfrm>
            <a:off x="0" y="0"/>
            <a:ext cx="12192000" cy="57150"/>
          </a:xfrm>
          <a:prstGeom prst="rect">
            <a:avLst/>
          </a:prstGeom>
          <a:solidFill>
            <a:srgbClr val="C9783E"/>
          </a:solidFill>
          <a:ln w="0">
            <a:noFill/>
            <a:prstDash val="solid"/>
          </a:ln>
        </p:spPr>
      </p:sp>
      <p:pic>
        <p:nvPicPr>
          <p:cNvPr id="502" name=""/>
          <p:cNvPicPr>
            <a:picLocks noChangeAspect="1"/>
          </p:cNvPicPr>
          <p:nvPr/>
        </p:nvPicPr>
        <p:blipFill>
          <a:blip r:embed="R48e2a3d3733b4264"/>
          <a:stretch/>
        </p:blipFill>
        <p:spPr>
          <a:xfrm>
            <a:off x="719138" y="200025"/>
            <a:ext cx="2066925" cy="590550"/>
          </a:xfrm>
          <a:prstGeom prst="rect">
            <a:avLst/>
          </a:prstGeom>
        </p:spPr>
      </p:pic>
      <p:sp>
        <p:nvSpPr>
          <p:cNvPr id="503" name=""/>
          <p:cNvSpPr>
            <a:spLocks noGrp="1"/>
          </p:cNvSpPr>
          <p:nvPr/>
        </p:nvSpPr>
        <p:spPr>
          <a:xfrm>
            <a:off x="7325360" y="323850"/>
            <a:ext cx="3857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9D4E24"/>
                </a:solidFill>
                <a:latin typeface="Arial Narrow"/>
                <a:ea typeface="Arial Narrow"/>
                <a:cs typeface="Arial Narrow"/>
              </a:rPr>
              <a:t>APPENDIX A11 · CABLE PLATFORM</a:t>
            </a:r>
          </a:p>
        </p:txBody>
      </p:sp>
      <p:sp>
        <p:nvSpPr>
          <p:cNvPr id="504" name=""/>
          <p:cNvSpPr>
            <a:spLocks noGrp="1"/>
          </p:cNvSpPr>
          <p:nvPr/>
        </p:nvSpPr>
        <p:spPr>
          <a:xfrm>
            <a:off x="11334750" y="323850"/>
            <a:ext cx="32385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8B9094"/>
                </a:solidFill>
                <a:latin typeface="Arial Narrow"/>
                <a:ea typeface="Arial Narrow"/>
                <a:cs typeface="Arial Narrow"/>
              </a:rPr>
              <a:t>20</a:t>
            </a:r>
          </a:p>
        </p:txBody>
      </p:sp>
      <p:sp>
        <p:nvSpPr>
          <p:cNvPr id="505" name=""/>
          <p:cNvSpPr>
            <a:spLocks noGrp="1"/>
          </p:cNvSpPr>
          <p:nvPr/>
        </p:nvSpPr>
        <p:spPr>
          <a:xfrm>
            <a:off x="719138" y="1005840"/>
            <a:ext cx="90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C9783E"/>
                </a:solidFill>
                <a:latin typeface="Arial Narrow"/>
                <a:ea typeface="Arial Narrow"/>
                <a:cs typeface="Arial Narrow"/>
              </a:rPr>
              <a:t>ONE PLATFORM — PLANT SCOPE AND PACKAGED SCOPE</a:t>
            </a:r>
          </a:p>
        </p:txBody>
      </p:sp>
      <p:sp>
        <p:nvSpPr>
          <p:cNvPr id="506" name=""/>
          <p:cNvSpPr>
            <a:spLocks noGrp="1"/>
          </p:cNvSpPr>
          <p:nvPr/>
        </p:nvSpPr>
        <p:spPr>
          <a:xfrm>
            <a:off x="719138" y="1280160"/>
            <a:ext cx="10753724" cy="5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One platform from generator to grid — and inside every package.</a:t>
            </a:r>
          </a:p>
        </p:txBody>
      </p:sp>
      <p:sp>
        <p:nvSpPr>
          <p:cNvPr id="507" name=""/>
          <p:cNvSpPr>
            <a:spLocks noGrp="1"/>
          </p:cNvSpPr>
          <p:nvPr/>
        </p:nvSpPr>
        <p:spPr>
          <a:xfrm>
            <a:off x="719138" y="195072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Every run in the A3 zone map resolves to a named product family — one supplier, one spec basis, domestic manufacture.</a:t>
            </a:r>
          </a:p>
        </p:txBody>
      </p:sp>
      <p:sp>
        <p:nvSpPr>
          <p:cNvPr id="508" name=""/>
          <p:cNvSpPr>
            <a:spLocks noGrp="1"/>
          </p:cNvSpPr>
          <p:nvPr/>
        </p:nvSpPr>
        <p:spPr>
          <a:xfrm>
            <a:off x="719138" y="2515235"/>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PLANT SCOPE — GENERATOR TO GRID</a:t>
            </a:r>
          </a:p>
        </p:txBody>
      </p:sp>
      <p:sp>
        <p:nvSpPr>
          <p:cNvPr id="509" name=""/>
          <p:cNvSpPr>
            <a:spLocks noGrp="1"/>
          </p:cNvSpPr>
          <p:nvPr/>
        </p:nvSpPr>
        <p:spPr>
          <a:xfrm>
            <a:off x="719138" y="2835035"/>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HVUD HIGH-VOLTAGE UNDERGROUND · 69–400 kV</a:t>
            </a:r>
          </a:p>
        </p:txBody>
      </p:sp>
      <p:sp>
        <p:nvSpPr>
          <p:cNvPr id="510" name=""/>
          <p:cNvSpPr>
            <a:spLocks noGrp="1"/>
          </p:cNvSpPr>
          <p:nvPr/>
        </p:nvSpPr>
        <p:spPr>
          <a:xfrm>
            <a:off x="719138" y="3063635"/>
            <a:ext cx="4900000" cy="43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XLPE underground interconnect; HVUD3 (138 kV) and HVUD4 (230 kV) carry gen-tie, behind-the-meter and bulk interconnect duty.</a:t>
            </a:r>
          </a:p>
        </p:txBody>
      </p:sp>
      <p:sp>
        <p:nvSpPr>
          <p:cNvPr id="511" name=""/>
          <p:cNvSpPr>
            <a:spLocks noGrp="1"/>
          </p:cNvSpPr>
          <p:nvPr/>
        </p:nvSpPr>
        <p:spPr>
          <a:xfrm>
            <a:off x="719138" y="3520835"/>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MV-105 · NL-EPR · 5–35 kV</a:t>
            </a:r>
          </a:p>
        </p:txBody>
      </p:sp>
      <p:sp>
        <p:nvSpPr>
          <p:cNvPr id="512" name=""/>
          <p:cNvSpPr>
            <a:spLocks noGrp="1"/>
          </p:cNvSpPr>
          <p:nvPr/>
        </p:nvSpPr>
        <p:spPr>
          <a:xfrm>
            <a:off x="719138" y="3749435"/>
            <a:ext cx="4900000" cy="43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The plant collection and auxiliary backbone — 105°C rated, low-friction jacket, tray and duct-bank installation economics.</a:t>
            </a:r>
          </a:p>
        </p:txBody>
      </p:sp>
      <p:sp>
        <p:nvSpPr>
          <p:cNvPr id="513" name=""/>
          <p:cNvSpPr>
            <a:spLocks noGrp="1"/>
          </p:cNvSpPr>
          <p:nvPr/>
        </p:nvSpPr>
        <p:spPr>
          <a:xfrm>
            <a:off x="719138" y="4206635"/>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LV 600 V POWER, CONTROL &amp; BUILDING WIRE</a:t>
            </a:r>
          </a:p>
        </p:txBody>
      </p:sp>
      <p:sp>
        <p:nvSpPr>
          <p:cNvPr id="514" name=""/>
          <p:cNvSpPr>
            <a:spLocks noGrp="1"/>
          </p:cNvSpPr>
          <p:nvPr/>
        </p:nvSpPr>
        <p:spPr>
          <a:xfrm>
            <a:off x="719138" y="4435235"/>
            <a:ext cx="4900000" cy="43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Feeders, motor circuits and unit auxiliary distribution across the plant.</a:t>
            </a:r>
          </a:p>
        </p:txBody>
      </p:sp>
      <p:sp>
        <p:nvSpPr>
          <p:cNvPr id="515" name=""/>
          <p:cNvSpPr>
            <a:spLocks noGrp="1"/>
          </p:cNvSpPr>
          <p:nvPr/>
        </p:nvSpPr>
        <p:spPr>
          <a:xfrm>
            <a:off x="719138" y="4892435"/>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I&amp;C, COMMS &amp; TRANSMISSION CONDUCTOR</a:t>
            </a:r>
          </a:p>
        </p:txBody>
      </p:sp>
      <p:sp>
        <p:nvSpPr>
          <p:cNvPr id="516" name=""/>
          <p:cNvSpPr>
            <a:spLocks noGrp="1"/>
          </p:cNvSpPr>
          <p:nvPr/>
        </p:nvSpPr>
        <p:spPr>
          <a:xfrm>
            <a:off x="719138" y="5121035"/>
            <a:ext cx="4900000" cy="43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DCS, protection and metering cable; industrial Ethernet and fiber; ACSR / ACSS / OPGW where overhead is the route.</a:t>
            </a:r>
          </a:p>
        </p:txBody>
      </p:sp>
      <p:sp>
        <p:nvSpPr>
          <p:cNvPr id="517" name=""/>
          <p:cNvSpPr>
            <a:spLocks noGrp="1"/>
          </p:cNvSpPr>
          <p:nvPr/>
        </p:nvSpPr>
        <p:spPr>
          <a:xfrm>
            <a:off x="719138" y="5578235"/>
            <a:ext cx="49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GROUNDING &amp; BONDING</a:t>
            </a:r>
          </a:p>
        </p:txBody>
      </p:sp>
      <p:sp>
        <p:nvSpPr>
          <p:cNvPr id="518" name=""/>
          <p:cNvSpPr>
            <a:spLocks noGrp="1"/>
          </p:cNvSpPr>
          <p:nvPr/>
        </p:nvSpPr>
        <p:spPr>
          <a:xfrm>
            <a:off x="719138" y="5806835"/>
            <a:ext cx="4900000" cy="43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Bare copper and bonding conductor — the grid that ties the whole electrical system to earth.</a:t>
            </a:r>
          </a:p>
        </p:txBody>
      </p:sp>
      <p:sp>
        <p:nvSpPr>
          <p:cNvPr id="519" name=""/>
          <p:cNvSpPr>
            <a:spLocks noGrp="1"/>
          </p:cNvSpPr>
          <p:nvPr/>
        </p:nvSpPr>
        <p:spPr>
          <a:xfrm>
            <a:off x="6120130" y="2515235"/>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PACKAGED &amp; MODULAR SCOPE — 8 APPLICATION FAMILIES</a:t>
            </a:r>
          </a:p>
        </p:txBody>
      </p:sp>
      <p:sp>
        <p:nvSpPr>
          <p:cNvPr id="520" name=""/>
          <p:cNvSpPr>
            <a:spLocks noGrp="1"/>
          </p:cNvSpPr>
          <p:nvPr/>
        </p:nvSpPr>
        <p:spPr>
          <a:xfrm>
            <a:off x="6120130" y="2835035"/>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2.4–35 kV AND 600 V–2 kV · BUY AMERICA</a:t>
            </a:r>
          </a:p>
        </p:txBody>
      </p:sp>
      <p:sp>
        <p:nvSpPr>
          <p:cNvPr id="521" name=""/>
          <p:cNvSpPr>
            <a:spLocks noGrp="1"/>
          </p:cNvSpPr>
          <p:nvPr/>
        </p:nvSpPr>
        <p:spPr>
          <a:xfrm>
            <a:off x="6120130" y="3063635"/>
            <a:ext cx="5352732" cy="43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Every wire and cable application that lives inside — or connects — factory-built power packages, kitted to build sequence.</a:t>
            </a:r>
          </a:p>
        </p:txBody>
      </p:sp>
      <p:sp>
        <p:nvSpPr>
          <p:cNvPr id="522" name=""/>
          <p:cNvSpPr>
            <a:spLocks noGrp="1"/>
          </p:cNvSpPr>
          <p:nvPr/>
        </p:nvSpPr>
        <p:spPr>
          <a:xfrm>
            <a:off x="6120130" y="3520835"/>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E-HOUSES · CONTAINERIZED SUBSTATIONS · SWITCHGEAR</a:t>
            </a:r>
          </a:p>
        </p:txBody>
      </p:sp>
      <p:sp>
        <p:nvSpPr>
          <p:cNvPr id="523" name=""/>
          <p:cNvSpPr>
            <a:spLocks noGrp="1"/>
          </p:cNvSpPr>
          <p:nvPr/>
        </p:nvSpPr>
        <p:spPr>
          <a:xfrm>
            <a:off x="6120130" y="3749435"/>
            <a:ext cx="5352732" cy="43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Power control rooms, MV switchgear lineups, LV switchboard and MCC packages.</a:t>
            </a:r>
          </a:p>
        </p:txBody>
      </p:sp>
      <p:sp>
        <p:nvSpPr>
          <p:cNvPr id="524" name=""/>
          <p:cNvSpPr>
            <a:spLocks noGrp="1"/>
          </p:cNvSpPr>
          <p:nvPr/>
        </p:nvSpPr>
        <p:spPr>
          <a:xfrm>
            <a:off x="6120130" y="4206635"/>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TRANSFORMER · BESS · GENSET · PROCESS SKIDS</a:t>
            </a:r>
          </a:p>
        </p:txBody>
      </p:sp>
      <p:sp>
        <p:nvSpPr>
          <p:cNvPr id="525" name=""/>
          <p:cNvSpPr>
            <a:spLocks noGrp="1"/>
          </p:cNvSpPr>
          <p:nvPr/>
        </p:nvSpPr>
        <p:spPr>
          <a:xfrm>
            <a:off x="6120130" y="4435235"/>
            <a:ext cx="5352732" cy="43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Transformer packages, BESS containers, generator packages and process / pump skids.</a:t>
            </a:r>
          </a:p>
        </p:txBody>
      </p:sp>
      <p:sp>
        <p:nvSpPr>
          <p:cNvPr id="526" name=""/>
          <p:cNvSpPr>
            <a:spLocks noGrp="1"/>
          </p:cNvSpPr>
          <p:nvPr/>
        </p:nvSpPr>
        <p:spPr>
          <a:xfrm>
            <a:off x="6120130" y="4892435"/>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SIMPULL, PRE-CUTS &amp; KITTING</a:t>
            </a:r>
          </a:p>
        </p:txBody>
      </p:sp>
      <p:sp>
        <p:nvSpPr>
          <p:cNvPr id="527" name=""/>
          <p:cNvSpPr>
            <a:spLocks noGrp="1"/>
          </p:cNvSpPr>
          <p:nvPr/>
        </p:nvSpPr>
        <p:spPr>
          <a:xfrm>
            <a:off x="6120130" y="5121035"/>
            <a:ext cx="5352732" cy="43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Low-friction pulling technology, cut-to-length labeled reels and staged kits — energization-ready, less field labor.</a:t>
            </a:r>
          </a:p>
        </p:txBody>
      </p:sp>
      <p:sp>
        <p:nvSpPr>
          <p:cNvPr id="528" name=""/>
          <p:cNvSpPr>
            <a:spLocks noGrp="1"/>
          </p:cNvSpPr>
          <p:nvPr/>
        </p:nvSpPr>
        <p:spPr>
          <a:xfrm>
            <a:off x="6120130" y="5578235"/>
            <a:ext cx="535273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ONE SUPPLIER, WHOLE PACKAGE</a:t>
            </a:r>
          </a:p>
        </p:txBody>
      </p:sp>
      <p:sp>
        <p:nvSpPr>
          <p:cNvPr id="529" name=""/>
          <p:cNvSpPr>
            <a:spLocks noGrp="1"/>
          </p:cNvSpPr>
          <p:nvPr/>
        </p:nvSpPr>
        <p:spPr>
          <a:xfrm>
            <a:off x="6120130" y="5806835"/>
            <a:ext cx="5352732" cy="430000"/>
          </a:xfrm>
          <a:prstGeom prst="rect">
            <a:avLst/>
          </a:prstGeom>
          <a:noFill/>
          <a:ln w="0">
            <a:noFill/>
            <a:prstDash val="solid"/>
          </a:ln>
        </p:spPr>
        <p:txBody>
          <a:bodyPr wrap="square" lIns="0" tIns="0" rIns="0" bIns="0" anchor="t">
            <a:normAutofit fontScale="100000"/>
          </a:bodyPr>
          <a:lstStyle/>
          <a:p>
            <a:pPr algn="l">
              <a:lnSpc>
                <a:spcPct val="105000"/>
              </a:lnSpc>
              <a:buNone/>
            </a:pPr>
            <a:r>
              <a:rPr sz="975" b="0" i="0">
                <a:solidFill>
                  <a:srgbClr val="6A6F73"/>
                </a:solidFill>
                <a:latin typeface="Arial"/>
                <a:ea typeface="Arial"/>
                <a:cs typeface="Arial"/>
              </a:rPr>
              <a:t>MV, LV, control, VFD, grounding, data and DC from a single domestic source — one procurement line item per package.</a:t>
            </a:r>
          </a:p>
        </p:txBody>
      </p:sp>
      <p:sp>
        <p:nvSpPr>
          <p:cNvPr id="530" name=""/>
          <p:cNvSpPr>
            <a:spLocks noGrp="1"/>
          </p:cNvSpPr>
          <p:nvPr/>
        </p:nvSpPr>
        <p:spPr>
          <a:xfrm>
            <a:off x="719138" y="6315000"/>
            <a:ext cx="10753724" cy="400000"/>
          </a:xfrm>
          <a:prstGeom prst="rect">
            <a:avLst/>
          </a:prstGeom>
          <a:solidFill>
            <a:srgbClr val="17191C"/>
          </a:solidFill>
          <a:ln w="0">
            <a:noFill/>
            <a:prstDash val="solid"/>
          </a:ln>
        </p:spPr>
      </p:sp>
      <p:sp>
        <p:nvSpPr>
          <p:cNvPr id="531"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1050" b="1" i="0">
                <a:solidFill>
                  <a:srgbClr val="FFFFFF"/>
                </a:solidFill>
                <a:latin typeface="Arial Narrow"/>
                <a:ea typeface="Arial Narrow"/>
                <a:cs typeface="Arial Narrow"/>
              </a:rPr>
              <a:t>TWO LEAVE-BEHIND CATALOGUES ACCOMPANY THIS DECK — IPP CABLE CATALOGUE (PLANT) · PACKAGED POWER E-CATALOGUE (SKIDS).</a:t>
            </a:r>
          </a:p>
        </p:txBody>
      </p:sp>
    </p:spTree>
  </p:cSld>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532" name=""/>
          <p:cNvSpPr>
            <a:spLocks noGrp="1"/>
          </p:cNvSpPr>
          <p:nvPr/>
        </p:nvSpPr>
        <p:spPr>
          <a:xfrm>
            <a:off x="0" y="0"/>
            <a:ext cx="12192000" cy="57150"/>
          </a:xfrm>
          <a:prstGeom prst="rect">
            <a:avLst/>
          </a:prstGeom>
          <a:solidFill>
            <a:srgbClr val="C9783E"/>
          </a:solidFill>
          <a:ln w="0">
            <a:noFill/>
            <a:prstDash val="solid"/>
          </a:ln>
        </p:spPr>
      </p:sp>
      <p:pic>
        <p:nvPicPr>
          <p:cNvPr id="533" name=""/>
          <p:cNvPicPr>
            <a:picLocks noChangeAspect="1"/>
          </p:cNvPicPr>
          <p:nvPr/>
        </p:nvPicPr>
        <p:blipFill>
          <a:blip r:embed="R48e2a3d3733b4264"/>
          <a:stretch/>
        </p:blipFill>
        <p:spPr>
          <a:xfrm>
            <a:off x="719138" y="200025"/>
            <a:ext cx="2066925" cy="590550"/>
          </a:xfrm>
          <a:prstGeom prst="rect">
            <a:avLst/>
          </a:prstGeom>
        </p:spPr>
      </p:pic>
      <p:sp>
        <p:nvSpPr>
          <p:cNvPr id="534" name=""/>
          <p:cNvSpPr>
            <a:spLocks noGrp="1"/>
          </p:cNvSpPr>
          <p:nvPr/>
        </p:nvSpPr>
        <p:spPr>
          <a:xfrm>
            <a:off x="7325360" y="323850"/>
            <a:ext cx="3857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9D4E24"/>
                </a:solidFill>
                <a:latin typeface="Arial Narrow"/>
                <a:ea typeface="Arial Narrow"/>
                <a:cs typeface="Arial Narrow"/>
              </a:rPr>
              <a:t>APPENDIX A12 · OPERATING FLEET</a:t>
            </a:r>
          </a:p>
        </p:txBody>
      </p:sp>
      <p:sp>
        <p:nvSpPr>
          <p:cNvPr id="535" name=""/>
          <p:cNvSpPr>
            <a:spLocks noGrp="1"/>
          </p:cNvSpPr>
          <p:nvPr/>
        </p:nvSpPr>
        <p:spPr>
          <a:xfrm>
            <a:off x="11334750" y="323850"/>
            <a:ext cx="32385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8B9094"/>
                </a:solidFill>
                <a:latin typeface="Arial Narrow"/>
                <a:ea typeface="Arial Narrow"/>
                <a:cs typeface="Arial Narrow"/>
              </a:rPr>
              <a:t>21</a:t>
            </a:r>
          </a:p>
        </p:txBody>
      </p:sp>
      <p:sp>
        <p:nvSpPr>
          <p:cNvPr id="536" name=""/>
          <p:cNvSpPr>
            <a:spLocks noGrp="1"/>
          </p:cNvSpPr>
          <p:nvPr/>
        </p:nvSpPr>
        <p:spPr>
          <a:xfrm>
            <a:off x="719138" y="1005840"/>
            <a:ext cx="90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C9783E"/>
                </a:solidFill>
                <a:latin typeface="Arial Narrow"/>
                <a:ea typeface="Arial Narrow"/>
                <a:cs typeface="Arial Narrow"/>
              </a:rPr>
              <a:t>REJUVENATION, BROWNFIELD &amp; SERVICE — FOR THE 25.8 GW FLEET</a:t>
            </a:r>
          </a:p>
        </p:txBody>
      </p:sp>
      <p:sp>
        <p:nvSpPr>
          <p:cNvPr id="537" name=""/>
          <p:cNvSpPr>
            <a:spLocks noGrp="1"/>
          </p:cNvSpPr>
          <p:nvPr/>
        </p:nvSpPr>
        <p:spPr>
          <a:xfrm>
            <a:off x="719138" y="1280160"/>
            <a:ext cx="10753724" cy="5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Extend asset life without a greenfield rebuild.</a:t>
            </a:r>
          </a:p>
        </p:txBody>
      </p:sp>
      <p:sp>
        <p:nvSpPr>
          <p:cNvPr id="538" name=""/>
          <p:cNvSpPr>
            <a:spLocks noGrp="1"/>
          </p:cNvSpPr>
          <p:nvPr/>
        </p:nvSpPr>
        <p:spPr>
          <a:xfrm>
            <a:off x="719138" y="195072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Aging cable systems, upgrades and modular additions across an operating fleet — planned around outage schedules, while the plant stays available.</a:t>
            </a:r>
          </a:p>
        </p:txBody>
      </p:sp>
      <p:sp>
        <p:nvSpPr>
          <p:cNvPr id="539" name=""/>
          <p:cNvSpPr>
            <a:spLocks noGrp="1"/>
          </p:cNvSpPr>
          <p:nvPr/>
        </p:nvSpPr>
        <p:spPr>
          <a:xfrm>
            <a:off x="719138" y="2560320"/>
            <a:ext cx="5237862" cy="1005840"/>
          </a:xfrm>
          <a:prstGeom prst="rect">
            <a:avLst/>
          </a:prstGeom>
          <a:solidFill>
            <a:srgbClr val="FFFFFF"/>
          </a:solidFill>
          <a:ln w="9525">
            <a:solidFill>
              <a:srgbClr val="D8D1C8"/>
            </a:solidFill>
            <a:prstDash val="solid"/>
          </a:ln>
        </p:spPr>
      </p:sp>
      <p:sp>
        <p:nvSpPr>
          <p:cNvPr id="540" name=""/>
          <p:cNvSpPr>
            <a:spLocks noGrp="1"/>
          </p:cNvSpPr>
          <p:nvPr/>
        </p:nvSpPr>
        <p:spPr>
          <a:xfrm>
            <a:off x="947738" y="2674620"/>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ELECTRICAL SPINE REJUVENATION</a:t>
            </a:r>
          </a:p>
        </p:txBody>
      </p:sp>
      <p:sp>
        <p:nvSpPr>
          <p:cNvPr id="541" name=""/>
          <p:cNvSpPr>
            <a:spLocks noGrp="1"/>
          </p:cNvSpPr>
          <p:nvPr/>
        </p:nvSpPr>
        <p:spPr>
          <a:xfrm>
            <a:off x="947738" y="2948940"/>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Assessment, planning and phased replacement of aging MV / LV cable, grounding, tray and fiber — while the plant remains operational.</a:t>
            </a:r>
          </a:p>
        </p:txBody>
      </p:sp>
      <p:sp>
        <p:nvSpPr>
          <p:cNvPr id="542" name=""/>
          <p:cNvSpPr>
            <a:spLocks noGrp="1"/>
          </p:cNvSpPr>
          <p:nvPr/>
        </p:nvSpPr>
        <p:spPr>
          <a:xfrm>
            <a:off x="6235130" y="2560320"/>
            <a:ext cx="5237862" cy="1005840"/>
          </a:xfrm>
          <a:prstGeom prst="rect">
            <a:avLst/>
          </a:prstGeom>
          <a:solidFill>
            <a:srgbClr val="FFFFFF"/>
          </a:solidFill>
          <a:ln w="9525">
            <a:solidFill>
              <a:srgbClr val="D8D1C8"/>
            </a:solidFill>
            <a:prstDash val="solid"/>
          </a:ln>
        </p:spPr>
      </p:sp>
      <p:sp>
        <p:nvSpPr>
          <p:cNvPr id="543" name=""/>
          <p:cNvSpPr>
            <a:spLocks noGrp="1"/>
          </p:cNvSpPr>
          <p:nvPr/>
        </p:nvSpPr>
        <p:spPr>
          <a:xfrm>
            <a:off x="6463730" y="2674620"/>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CABLE REPLACEMENT PROGRAMS</a:t>
            </a:r>
          </a:p>
        </p:txBody>
      </p:sp>
      <p:sp>
        <p:nvSpPr>
          <p:cNvPr id="544" name=""/>
          <p:cNvSpPr>
            <a:spLocks noGrp="1"/>
          </p:cNvSpPr>
          <p:nvPr/>
        </p:nvSpPr>
        <p:spPr>
          <a:xfrm>
            <a:off x="6463730" y="2948940"/>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Fast-track domestic supply of power, control and instrumentation cable for planned outages or emergency replacement.</a:t>
            </a:r>
          </a:p>
        </p:txBody>
      </p:sp>
      <p:sp>
        <p:nvSpPr>
          <p:cNvPr id="545" name=""/>
          <p:cNvSpPr>
            <a:spLocks noGrp="1"/>
          </p:cNvSpPr>
          <p:nvPr/>
        </p:nvSpPr>
        <p:spPr>
          <a:xfrm>
            <a:off x="719138" y="3739896"/>
            <a:ext cx="5237862" cy="1005840"/>
          </a:xfrm>
          <a:prstGeom prst="rect">
            <a:avLst/>
          </a:prstGeom>
          <a:solidFill>
            <a:srgbClr val="FFFFFF"/>
          </a:solidFill>
          <a:ln w="9525">
            <a:solidFill>
              <a:srgbClr val="D8D1C8"/>
            </a:solidFill>
            <a:prstDash val="solid"/>
          </a:ln>
        </p:spPr>
      </p:sp>
      <p:sp>
        <p:nvSpPr>
          <p:cNvPr id="546" name=""/>
          <p:cNvSpPr>
            <a:spLocks noGrp="1"/>
          </p:cNvSpPr>
          <p:nvPr/>
        </p:nvSpPr>
        <p:spPr>
          <a:xfrm>
            <a:off x="947738" y="3854196"/>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BROWNFIELD UPGRADES &amp; REPOWER</a:t>
            </a:r>
          </a:p>
        </p:txBody>
      </p:sp>
      <p:sp>
        <p:nvSpPr>
          <p:cNvPr id="547" name=""/>
          <p:cNvSpPr>
            <a:spLocks noGrp="1"/>
          </p:cNvSpPr>
          <p:nvPr/>
        </p:nvSpPr>
        <p:spPr>
          <a:xfrm>
            <a:off x="947738" y="4128516"/>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Electrical scope for turbine upgrades, generator replacements, emissions retrofits and balance-of-plant modernization.</a:t>
            </a:r>
          </a:p>
        </p:txBody>
      </p:sp>
      <p:sp>
        <p:nvSpPr>
          <p:cNvPr id="548" name=""/>
          <p:cNvSpPr>
            <a:spLocks noGrp="1"/>
          </p:cNvSpPr>
          <p:nvPr/>
        </p:nvSpPr>
        <p:spPr>
          <a:xfrm>
            <a:off x="6235130" y="3739896"/>
            <a:ext cx="5237862" cy="1005840"/>
          </a:xfrm>
          <a:prstGeom prst="rect">
            <a:avLst/>
          </a:prstGeom>
          <a:solidFill>
            <a:srgbClr val="FFFFFF"/>
          </a:solidFill>
          <a:ln w="9525">
            <a:solidFill>
              <a:srgbClr val="D8D1C8"/>
            </a:solidFill>
            <a:prstDash val="solid"/>
          </a:ln>
        </p:spPr>
      </p:sp>
      <p:sp>
        <p:nvSpPr>
          <p:cNvPr id="549" name=""/>
          <p:cNvSpPr>
            <a:spLocks noGrp="1"/>
          </p:cNvSpPr>
          <p:nvPr/>
        </p:nvSpPr>
        <p:spPr>
          <a:xfrm>
            <a:off x="6463730" y="3854196"/>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MODULAR POWER ADDITIONS</a:t>
            </a:r>
          </a:p>
        </p:txBody>
      </p:sp>
      <p:sp>
        <p:nvSpPr>
          <p:cNvPr id="550" name=""/>
          <p:cNvSpPr>
            <a:spLocks noGrp="1"/>
          </p:cNvSpPr>
          <p:nvPr/>
        </p:nvSpPr>
        <p:spPr>
          <a:xfrm>
            <a:off x="6463730" y="4128516"/>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E-houses, skids, switchgear, UPS and black-start capability — auxiliary loads or new behind-the-meter offtakers.</a:t>
            </a:r>
          </a:p>
        </p:txBody>
      </p:sp>
      <p:sp>
        <p:nvSpPr>
          <p:cNvPr id="551" name=""/>
          <p:cNvSpPr>
            <a:spLocks noGrp="1"/>
          </p:cNvSpPr>
          <p:nvPr/>
        </p:nvSpPr>
        <p:spPr>
          <a:xfrm>
            <a:off x="719138" y="4919472"/>
            <a:ext cx="5237862" cy="1005840"/>
          </a:xfrm>
          <a:prstGeom prst="rect">
            <a:avLst/>
          </a:prstGeom>
          <a:solidFill>
            <a:srgbClr val="FFFFFF"/>
          </a:solidFill>
          <a:ln w="9525">
            <a:solidFill>
              <a:srgbClr val="D8D1C8"/>
            </a:solidFill>
            <a:prstDash val="solid"/>
          </a:ln>
        </p:spPr>
      </p:sp>
      <p:sp>
        <p:nvSpPr>
          <p:cNvPr id="552" name=""/>
          <p:cNvSpPr>
            <a:spLocks noGrp="1"/>
          </p:cNvSpPr>
          <p:nvPr/>
        </p:nvSpPr>
        <p:spPr>
          <a:xfrm>
            <a:off x="947738" y="5033772"/>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RELIABILITY &amp; CONDITION SUPPORT</a:t>
            </a:r>
          </a:p>
        </p:txBody>
      </p:sp>
      <p:sp>
        <p:nvSpPr>
          <p:cNvPr id="553" name=""/>
          <p:cNvSpPr>
            <a:spLocks noGrp="1"/>
          </p:cNvSpPr>
          <p:nvPr/>
        </p:nvSpPr>
        <p:spPr>
          <a:xfrm>
            <a:off x="947738" y="5308092"/>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System assessments, thermal-imaging coordination, failure analysis and prioritized replacement planning.</a:t>
            </a:r>
          </a:p>
        </p:txBody>
      </p:sp>
      <p:sp>
        <p:nvSpPr>
          <p:cNvPr id="554" name=""/>
          <p:cNvSpPr>
            <a:spLocks noGrp="1"/>
          </p:cNvSpPr>
          <p:nvPr/>
        </p:nvSpPr>
        <p:spPr>
          <a:xfrm>
            <a:off x="6235130" y="4919472"/>
            <a:ext cx="5237862" cy="1005840"/>
          </a:xfrm>
          <a:prstGeom prst="rect">
            <a:avLst/>
          </a:prstGeom>
          <a:solidFill>
            <a:srgbClr val="FFFFFF"/>
          </a:solidFill>
          <a:ln w="9525">
            <a:solidFill>
              <a:srgbClr val="D8D1C8"/>
            </a:solidFill>
            <a:prstDash val="solid"/>
          </a:ln>
        </p:spPr>
      </p:sp>
      <p:sp>
        <p:nvSpPr>
          <p:cNvPr id="555" name=""/>
          <p:cNvSpPr>
            <a:spLocks noGrp="1"/>
          </p:cNvSpPr>
          <p:nvPr/>
        </p:nvSpPr>
        <p:spPr>
          <a:xfrm>
            <a:off x="6463730" y="5033772"/>
            <a:ext cx="47806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9D4E24"/>
                </a:solidFill>
                <a:latin typeface="Arial Narrow"/>
                <a:ea typeface="Arial Narrow"/>
                <a:cs typeface="Arial Narrow"/>
              </a:rPr>
              <a:t>SERVICE &amp; LONG-TERM AGREEMENTS</a:t>
            </a:r>
          </a:p>
        </p:txBody>
      </p:sp>
      <p:sp>
        <p:nvSpPr>
          <p:cNvPr id="556" name=""/>
          <p:cNvSpPr>
            <a:spLocks noGrp="1"/>
          </p:cNvSpPr>
          <p:nvPr/>
        </p:nvSpPr>
        <p:spPr>
          <a:xfrm>
            <a:off x="6463730" y="5308092"/>
            <a:ext cx="4780662" cy="540000"/>
          </a:xfrm>
          <a:prstGeom prst="rect">
            <a:avLst/>
          </a:prstGeom>
          <a:noFill/>
          <a:ln w="0">
            <a:noFill/>
            <a:prstDash val="solid"/>
          </a:ln>
        </p:spPr>
        <p:txBody>
          <a:bodyPr wrap="square" lIns="0" tIns="0" rIns="0" bIns="0" anchor="t">
            <a:normAutofit fontScale="100000"/>
          </a:bodyPr>
          <a:lstStyle/>
          <a:p>
            <a:pPr algn="l">
              <a:lnSpc>
                <a:spcPct val="106000"/>
              </a:lnSpc>
              <a:buNone/>
            </a:pPr>
            <a:r>
              <a:rPr sz="975" b="0" i="0">
                <a:solidFill>
                  <a:srgbClr val="6A6F73"/>
                </a:solidFill>
                <a:latin typeface="Arial"/>
                <a:ea typeface="Arial"/>
                <a:cs typeface="Arial"/>
              </a:rPr>
              <a:t>Support contracts, inventory programs and rapid-response replacement capability for operating fleets.</a:t>
            </a:r>
          </a:p>
        </p:txBody>
      </p:sp>
      <p:sp>
        <p:nvSpPr>
          <p:cNvPr id="557" name=""/>
          <p:cNvSpPr>
            <a:spLocks noGrp="1"/>
          </p:cNvSpPr>
          <p:nvPr/>
        </p:nvSpPr>
        <p:spPr>
          <a:xfrm>
            <a:off x="719138" y="6032500"/>
            <a:ext cx="10753724" cy="200000"/>
          </a:xfrm>
          <a:prstGeom prst="rect">
            <a:avLst/>
          </a:prstGeom>
          <a:noFill/>
          <a:ln w="0">
            <a:noFill/>
            <a:prstDash val="solid"/>
          </a:ln>
        </p:spPr>
        <p:txBody>
          <a:bodyPr wrap="square" lIns="0" tIns="0" rIns="0" bIns="0" anchor="t">
            <a:normAutofit fontScale="100000"/>
          </a:bodyPr>
          <a:lstStyle/>
          <a:p>
            <a:pPr algn="l">
              <a:lnSpc>
                <a:spcPct val="100000"/>
              </a:lnSpc>
              <a:buNone/>
            </a:pPr>
            <a:r>
              <a:rPr sz="825" b="0" i="1">
                <a:solidFill>
                  <a:srgbClr val="6A6F73"/>
                </a:solidFill>
                <a:latin typeface="Arial"/>
                <a:ea typeface="Arial"/>
                <a:cs typeface="Arial"/>
              </a:rPr>
              <a:t>Engagements begin with one focused 60–90 minute session across the fleet, then tailored proposals per plant — phased to outage schedules.</a:t>
            </a:r>
          </a:p>
        </p:txBody>
      </p:sp>
      <p:sp>
        <p:nvSpPr>
          <p:cNvPr id="558" name=""/>
          <p:cNvSpPr>
            <a:spLocks noGrp="1"/>
          </p:cNvSpPr>
          <p:nvPr/>
        </p:nvSpPr>
        <p:spPr>
          <a:xfrm>
            <a:off x="719138" y="6315000"/>
            <a:ext cx="10753724" cy="400000"/>
          </a:xfrm>
          <a:prstGeom prst="rect">
            <a:avLst/>
          </a:prstGeom>
          <a:solidFill>
            <a:srgbClr val="17191C"/>
          </a:solidFill>
          <a:ln w="0">
            <a:noFill/>
            <a:prstDash val="solid"/>
          </a:ln>
        </p:spPr>
      </p:sp>
      <p:sp>
        <p:nvSpPr>
          <p:cNvPr id="559"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1050" b="1" i="0">
                <a:solidFill>
                  <a:srgbClr val="FFFFFF"/>
                </a:solidFill>
                <a:latin typeface="Arial Narrow"/>
                <a:ea typeface="Arial Narrow"/>
                <a:cs typeface="Arial Narrow"/>
              </a:rPr>
              <a:t>MINIMIZED DOWNTIME · EXTENDED ASSET LIFE · LOWER TOTAL COST THAN FULL REPLACEMENT — PHASED TO OUTAGE SCHEDULES.</a:t>
            </a:r>
          </a:p>
        </p:txBody>
      </p:sp>
    </p:spTree>
  </p:cSld>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701" name=""/>
          <p:cNvSpPr>
            <a:spLocks noGrp="1"/>
          </p:cNvSpPr>
          <p:nvPr/>
        </p:nvSpPr>
        <p:spPr>
          <a:xfrm>
            <a:off x="0" y="0"/>
            <a:ext cx="12192000" cy="57150"/>
          </a:xfrm>
          <a:prstGeom prst="rect">
            <a:avLst/>
          </a:prstGeom>
          <a:solidFill>
            <a:srgbClr val="C9783E"/>
          </a:solidFill>
          <a:ln w="0">
            <a:noFill/>
            <a:prstDash val="solid"/>
          </a:ln>
        </p:spPr>
      </p:sp>
      <p:pic>
        <p:nvPicPr>
          <p:cNvPr id="702" name=""/>
          <p:cNvPicPr>
            <a:picLocks noChangeAspect="1"/>
          </p:cNvPicPr>
          <p:nvPr/>
        </p:nvPicPr>
        <p:blipFill>
          <a:blip r:embed="R48e2a3d3733b4264"/>
          <a:stretch/>
        </p:blipFill>
        <p:spPr>
          <a:xfrm>
            <a:off x="719138" y="200025"/>
            <a:ext cx="2066925" cy="590550"/>
          </a:xfrm>
          <a:prstGeom prst="rect">
            <a:avLst/>
          </a:prstGeom>
        </p:spPr>
      </p:pic>
      <p:sp>
        <p:nvSpPr>
          <p:cNvPr id="703" name=""/>
          <p:cNvSpPr>
            <a:spLocks noGrp="1"/>
          </p:cNvSpPr>
          <p:nvPr/>
        </p:nvSpPr>
        <p:spPr>
          <a:xfrm>
            <a:off x="7325360" y="323850"/>
            <a:ext cx="3857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9D4E24"/>
                </a:solidFill>
                <a:latin typeface="Arial Narrow"/>
                <a:ea typeface="Arial Narrow"/>
                <a:cs typeface="Arial Narrow"/>
              </a:rPr>
              <a:t>APPENDIX A13 · BENCHMARK MATH</a:t>
            </a:r>
          </a:p>
        </p:txBody>
      </p:sp>
      <p:sp>
        <p:nvSpPr>
          <p:cNvPr id="704" name=""/>
          <p:cNvSpPr>
            <a:spLocks noGrp="1"/>
          </p:cNvSpPr>
          <p:nvPr/>
        </p:nvSpPr>
        <p:spPr>
          <a:xfrm>
            <a:off x="11334750" y="323850"/>
            <a:ext cx="32385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8B9094"/>
                </a:solidFill>
                <a:latin typeface="Arial Narrow"/>
                <a:ea typeface="Arial Narrow"/>
                <a:cs typeface="Arial Narrow"/>
              </a:rPr>
              <a:t>22</a:t>
            </a:r>
          </a:p>
        </p:txBody>
      </p:sp>
      <p:sp>
        <p:nvSpPr>
          <p:cNvPr id="705" name=""/>
          <p:cNvSpPr>
            <a:spLocks noGrp="1"/>
          </p:cNvSpPr>
          <p:nvPr/>
        </p:nvSpPr>
        <p:spPr>
          <a:xfrm>
            <a:off x="719138" y="1005840"/>
            <a:ext cx="90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C9783E"/>
                </a:solidFill>
                <a:latin typeface="Arial Narrow"/>
                <a:ea typeface="Arial Narrow"/>
                <a:cs typeface="Arial Narrow"/>
              </a:rPr>
              <a:t>GROSS FIELD-LABOR MATH — PER CENTRAL SPINE</a:t>
            </a:r>
          </a:p>
        </p:txBody>
      </p:sp>
      <p:sp>
        <p:nvSpPr>
          <p:cNvPr id="706" name=""/>
          <p:cNvSpPr>
            <a:spLocks noGrp="1"/>
          </p:cNvSpPr>
          <p:nvPr/>
        </p:nvSpPr>
        <p:spPr>
          <a:xfrm>
            <a:off x="719138" y="1280160"/>
            <a:ext cx="10753724" cy="5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What the 4,400 → 880 hours are worth, before net.</a:t>
            </a:r>
          </a:p>
        </p:txBody>
      </p:sp>
      <p:sp>
        <p:nvSpPr>
          <p:cNvPr id="707" name=""/>
          <p:cNvSpPr>
            <a:spLocks noGrp="1"/>
          </p:cNvSpPr>
          <p:nvPr/>
        </p:nvSpPr>
        <p:spPr>
          <a:xfrm>
            <a:off x="719138" y="195072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The arithmetic behind slide 7, at a $95/hr fully burdened field-labor rate. This is the template A5 requires to be rebuilt with NRG inputs — not a result.</a:t>
            </a:r>
          </a:p>
        </p:txBody>
      </p:sp>
      <p:sp>
        <p:nvSpPr>
          <p:cNvPr id="708" name=""/>
          <p:cNvSpPr>
            <a:spLocks noGrp="1"/>
          </p:cNvSpPr>
          <p:nvPr/>
        </p:nvSpPr>
        <p:spPr>
          <a:xfrm>
            <a:off x="719138" y="2560320"/>
            <a:ext cx="3378908" cy="2606040"/>
          </a:xfrm>
          <a:prstGeom prst="rect">
            <a:avLst/>
          </a:prstGeom>
          <a:solidFill>
            <a:srgbClr val="FFFFFF"/>
          </a:solidFill>
          <a:ln w="9525">
            <a:solidFill>
              <a:srgbClr val="D8D1C8"/>
            </a:solidFill>
            <a:prstDash val="solid"/>
          </a:ln>
        </p:spPr>
      </p:sp>
      <p:sp>
        <p:nvSpPr>
          <p:cNvPr id="709" name=""/>
          <p:cNvSpPr>
            <a:spLocks noGrp="1"/>
          </p:cNvSpPr>
          <p:nvPr/>
        </p:nvSpPr>
        <p:spPr>
          <a:xfrm>
            <a:off x="947738" y="27889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TODAY · FIELD-BUILT</a:t>
            </a:r>
          </a:p>
        </p:txBody>
      </p:sp>
      <p:sp>
        <p:nvSpPr>
          <p:cNvPr id="710" name=""/>
          <p:cNvSpPr>
            <a:spLocks noGrp="1"/>
          </p:cNvSpPr>
          <p:nvPr/>
        </p:nvSpPr>
        <p:spPr>
          <a:xfrm>
            <a:off x="947738" y="3108960"/>
            <a:ext cx="2921708" cy="640080"/>
          </a:xfrm>
          <a:prstGeom prst="rect">
            <a:avLst/>
          </a:prstGeom>
          <a:noFill/>
          <a:ln w="0">
            <a:noFill/>
            <a:prstDash val="solid"/>
          </a:ln>
        </p:spPr>
        <p:txBody>
          <a:bodyPr wrap="square" lIns="0" tIns="0" rIns="0" bIns="0" anchor="t">
            <a:normAutofit fontScale="100000"/>
          </a:bodyPr>
          <a:lstStyle/>
          <a:p>
            <a:pPr algn="l">
              <a:lnSpc>
                <a:spcPct val="100000"/>
              </a:lnSpc>
              <a:buNone/>
            </a:pPr>
            <a:r>
              <a:rPr sz="3400" b="1" i="0">
                <a:solidFill>
                  <a:srgbClr val="17191C"/>
                </a:solidFill>
                <a:latin typeface="Arial"/>
                <a:ea typeface="Arial"/>
                <a:cs typeface="Arial"/>
              </a:rPr>
              <a:t>$418,000</a:t>
            </a:r>
          </a:p>
        </p:txBody>
      </p:sp>
      <p:sp>
        <p:nvSpPr>
          <p:cNvPr id="711" name=""/>
          <p:cNvSpPr>
            <a:spLocks noGrp="1"/>
          </p:cNvSpPr>
          <p:nvPr/>
        </p:nvSpPr>
        <p:spPr>
          <a:xfrm>
            <a:off x="947738" y="374904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0" i="0">
                <a:solidFill>
                  <a:srgbClr val="6A6F73"/>
                </a:solidFill>
                <a:latin typeface="Arial"/>
                <a:ea typeface="Arial"/>
                <a:cs typeface="Arial"/>
              </a:rPr>
              <a:t>field labor per spine</a:t>
            </a:r>
          </a:p>
        </p:txBody>
      </p:sp>
      <p:sp>
        <p:nvSpPr>
          <p:cNvPr id="712" name=""/>
          <p:cNvSpPr>
            <a:spLocks noGrp="1"/>
          </p:cNvSpPr>
          <p:nvPr/>
        </p:nvSpPr>
        <p:spPr>
          <a:xfrm>
            <a:off x="947738" y="416052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4,400 man-hours × $95/hr</a:t>
            </a:r>
          </a:p>
        </p:txBody>
      </p:sp>
      <p:sp>
        <p:nvSpPr>
          <p:cNvPr id="713" name=""/>
          <p:cNvSpPr>
            <a:spLocks noGrp="1"/>
          </p:cNvSpPr>
          <p:nvPr/>
        </p:nvSpPr>
        <p:spPr>
          <a:xfrm>
            <a:off x="947738" y="443484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27 installers × 2 shifts × 2 weeks</a:t>
            </a:r>
          </a:p>
        </p:txBody>
      </p:sp>
      <p:sp>
        <p:nvSpPr>
          <p:cNvPr id="714" name=""/>
          <p:cNvSpPr>
            <a:spLocks noGrp="1"/>
          </p:cNvSpPr>
          <p:nvPr/>
        </p:nvSpPr>
        <p:spPr>
          <a:xfrm>
            <a:off x="947738" y="470916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6A6F73"/>
                </a:solidFill>
                <a:latin typeface="Arial"/>
                <a:ea typeface="Arial"/>
                <a:cs typeface="Arial"/>
              </a:rPr>
              <a:t>High variability, rework risk</a:t>
            </a:r>
          </a:p>
        </p:txBody>
      </p:sp>
      <p:sp>
        <p:nvSpPr>
          <p:cNvPr id="715" name=""/>
          <p:cNvSpPr>
            <a:spLocks noGrp="1"/>
          </p:cNvSpPr>
          <p:nvPr/>
        </p:nvSpPr>
        <p:spPr>
          <a:xfrm>
            <a:off x="4406546" y="2560320"/>
            <a:ext cx="3378908" cy="2606040"/>
          </a:xfrm>
          <a:prstGeom prst="rect">
            <a:avLst/>
          </a:prstGeom>
          <a:solidFill>
            <a:srgbClr val="FFFFFF"/>
          </a:solidFill>
          <a:ln w="9525">
            <a:solidFill>
              <a:srgbClr val="D8D1C8"/>
            </a:solidFill>
            <a:prstDash val="solid"/>
          </a:ln>
        </p:spPr>
      </p:sp>
      <p:sp>
        <p:nvSpPr>
          <p:cNvPr id="716" name=""/>
          <p:cNvSpPr>
            <a:spLocks noGrp="1"/>
          </p:cNvSpPr>
          <p:nvPr/>
        </p:nvSpPr>
        <p:spPr>
          <a:xfrm>
            <a:off x="4635146" y="27889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WITH CONNECTORIZED ASSEMBLY</a:t>
            </a:r>
          </a:p>
        </p:txBody>
      </p:sp>
      <p:sp>
        <p:nvSpPr>
          <p:cNvPr id="717" name=""/>
          <p:cNvSpPr>
            <a:spLocks noGrp="1"/>
          </p:cNvSpPr>
          <p:nvPr/>
        </p:nvSpPr>
        <p:spPr>
          <a:xfrm>
            <a:off x="4635146" y="3108960"/>
            <a:ext cx="2921708" cy="640080"/>
          </a:xfrm>
          <a:prstGeom prst="rect">
            <a:avLst/>
          </a:prstGeom>
          <a:noFill/>
          <a:ln w="0">
            <a:noFill/>
            <a:prstDash val="solid"/>
          </a:ln>
        </p:spPr>
        <p:txBody>
          <a:bodyPr wrap="square" lIns="0" tIns="0" rIns="0" bIns="0" anchor="t">
            <a:normAutofit fontScale="100000"/>
          </a:bodyPr>
          <a:lstStyle/>
          <a:p>
            <a:pPr algn="l">
              <a:lnSpc>
                <a:spcPct val="100000"/>
              </a:lnSpc>
              <a:buNone/>
            </a:pPr>
            <a:r>
              <a:rPr sz="3400" b="1" i="0">
                <a:solidFill>
                  <a:srgbClr val="9D4E24"/>
                </a:solidFill>
                <a:latin typeface="Arial"/>
                <a:ea typeface="Arial"/>
                <a:cs typeface="Arial"/>
              </a:rPr>
              <a:t>$83,600</a:t>
            </a:r>
          </a:p>
        </p:txBody>
      </p:sp>
      <p:sp>
        <p:nvSpPr>
          <p:cNvPr id="718" name=""/>
          <p:cNvSpPr>
            <a:spLocks noGrp="1"/>
          </p:cNvSpPr>
          <p:nvPr/>
        </p:nvSpPr>
        <p:spPr>
          <a:xfrm>
            <a:off x="4635146" y="374904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0" i="0">
                <a:solidFill>
                  <a:srgbClr val="6A6F73"/>
                </a:solidFill>
                <a:latin typeface="Arial"/>
                <a:ea typeface="Arial"/>
                <a:cs typeface="Arial"/>
              </a:rPr>
              <a:t>field labor per spine</a:t>
            </a:r>
          </a:p>
        </p:txBody>
      </p:sp>
      <p:sp>
        <p:nvSpPr>
          <p:cNvPr id="719" name=""/>
          <p:cNvSpPr>
            <a:spLocks noGrp="1"/>
          </p:cNvSpPr>
          <p:nvPr/>
        </p:nvSpPr>
        <p:spPr>
          <a:xfrm>
            <a:off x="4635146" y="416052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~880 man-hours × $95/hr</a:t>
            </a:r>
          </a:p>
        </p:txBody>
      </p:sp>
      <p:sp>
        <p:nvSpPr>
          <p:cNvPr id="720" name=""/>
          <p:cNvSpPr>
            <a:spLocks noGrp="1"/>
          </p:cNvSpPr>
          <p:nvPr/>
        </p:nvSpPr>
        <p:spPr>
          <a:xfrm>
            <a:off x="4635146" y="443484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~6 installers × 1 shift × ~3 days</a:t>
            </a:r>
          </a:p>
        </p:txBody>
      </p:sp>
      <p:sp>
        <p:nvSpPr>
          <p:cNvPr id="721" name=""/>
          <p:cNvSpPr>
            <a:spLocks noGrp="1"/>
          </p:cNvSpPr>
          <p:nvPr/>
        </p:nvSpPr>
        <p:spPr>
          <a:xfrm>
            <a:off x="4635146" y="470916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6A6F73"/>
                </a:solidFill>
                <a:latin typeface="Arial"/>
                <a:ea typeface="Arial"/>
                <a:cs typeface="Arial"/>
              </a:rPr>
              <a:t>Factory-validated, plug-and-play</a:t>
            </a:r>
          </a:p>
        </p:txBody>
      </p:sp>
      <p:sp>
        <p:nvSpPr>
          <p:cNvPr id="722" name=""/>
          <p:cNvSpPr>
            <a:spLocks noGrp="1"/>
          </p:cNvSpPr>
          <p:nvPr/>
        </p:nvSpPr>
        <p:spPr>
          <a:xfrm>
            <a:off x="8093954" y="2560320"/>
            <a:ext cx="3378908" cy="2606040"/>
          </a:xfrm>
          <a:prstGeom prst="rect">
            <a:avLst/>
          </a:prstGeom>
          <a:solidFill>
            <a:srgbClr val="C9783E"/>
          </a:solidFill>
          <a:ln w="0">
            <a:noFill/>
            <a:prstDash val="solid"/>
          </a:ln>
        </p:spPr>
      </p:sp>
      <p:sp>
        <p:nvSpPr>
          <p:cNvPr id="723" name=""/>
          <p:cNvSpPr>
            <a:spLocks noGrp="1"/>
          </p:cNvSpPr>
          <p:nvPr/>
        </p:nvSpPr>
        <p:spPr>
          <a:xfrm>
            <a:off x="8322554" y="27889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FFFFFF"/>
                </a:solidFill>
                <a:latin typeface="Arial Narrow"/>
                <a:ea typeface="Arial Narrow"/>
                <a:cs typeface="Arial Narrow"/>
              </a:rPr>
              <a:t>GROSS DELTA PER SPINE</a:t>
            </a:r>
          </a:p>
        </p:txBody>
      </p:sp>
      <p:sp>
        <p:nvSpPr>
          <p:cNvPr id="724" name=""/>
          <p:cNvSpPr>
            <a:spLocks noGrp="1"/>
          </p:cNvSpPr>
          <p:nvPr/>
        </p:nvSpPr>
        <p:spPr>
          <a:xfrm>
            <a:off x="8322554" y="3108960"/>
            <a:ext cx="2921708" cy="640080"/>
          </a:xfrm>
          <a:prstGeom prst="rect">
            <a:avLst/>
          </a:prstGeom>
          <a:noFill/>
          <a:ln w="0">
            <a:noFill/>
            <a:prstDash val="solid"/>
          </a:ln>
        </p:spPr>
        <p:txBody>
          <a:bodyPr wrap="square" lIns="0" tIns="0" rIns="0" bIns="0" anchor="t">
            <a:normAutofit fontScale="100000"/>
          </a:bodyPr>
          <a:lstStyle/>
          <a:p>
            <a:pPr algn="l">
              <a:lnSpc>
                <a:spcPct val="100000"/>
              </a:lnSpc>
              <a:buNone/>
            </a:pPr>
            <a:r>
              <a:rPr sz="3400" b="1" i="0">
                <a:solidFill>
                  <a:srgbClr val="FFFFFF"/>
                </a:solidFill>
                <a:latin typeface="Arial"/>
                <a:ea typeface="Arial"/>
                <a:cs typeface="Arial"/>
              </a:rPr>
              <a:t>$334K</a:t>
            </a:r>
          </a:p>
        </p:txBody>
      </p:sp>
      <p:sp>
        <p:nvSpPr>
          <p:cNvPr id="725" name=""/>
          <p:cNvSpPr>
            <a:spLocks noGrp="1"/>
          </p:cNvSpPr>
          <p:nvPr/>
        </p:nvSpPr>
        <p:spPr>
          <a:xfrm>
            <a:off x="8322554" y="374904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0" i="0">
                <a:solidFill>
                  <a:srgbClr val="FFFFFF"/>
                </a:solidFill>
                <a:latin typeface="Arial"/>
                <a:ea typeface="Arial"/>
                <a:cs typeface="Arial"/>
              </a:rPr>
              <a:t>~80% of field-labor cost</a:t>
            </a:r>
          </a:p>
        </p:txBody>
      </p:sp>
      <p:sp>
        <p:nvSpPr>
          <p:cNvPr id="726" name=""/>
          <p:cNvSpPr>
            <a:spLocks noGrp="1"/>
          </p:cNvSpPr>
          <p:nvPr/>
        </p:nvSpPr>
        <p:spPr>
          <a:xfrm>
            <a:off x="8322554" y="411480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00" b="1" i="0">
                <a:solidFill>
                  <a:srgbClr val="FFFFFF"/>
                </a:solidFill>
                <a:latin typeface="Arial Narrow"/>
                <a:ea typeface="Arial Narrow"/>
                <a:cs typeface="Arial Narrow"/>
              </a:rPr>
              <a:t>IF IT REPEATS (GROSS, ILLUSTRATIVE)</a:t>
            </a:r>
          </a:p>
        </p:txBody>
      </p:sp>
      <p:sp>
        <p:nvSpPr>
          <p:cNvPr id="727" name=""/>
          <p:cNvSpPr>
            <a:spLocks noGrp="1"/>
          </p:cNvSpPr>
          <p:nvPr/>
        </p:nvSpPr>
        <p:spPr>
          <a:xfrm>
            <a:off x="8322554" y="43891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FFFFFF"/>
                </a:solidFill>
                <a:latin typeface="Arial"/>
                <a:ea typeface="Arial"/>
                <a:cs typeface="Arial"/>
              </a:rPr>
              <a:t>10 spines  →  $3.3M</a:t>
            </a:r>
          </a:p>
        </p:txBody>
      </p:sp>
      <p:sp>
        <p:nvSpPr>
          <p:cNvPr id="728" name=""/>
          <p:cNvSpPr>
            <a:spLocks noGrp="1"/>
          </p:cNvSpPr>
          <p:nvPr/>
        </p:nvSpPr>
        <p:spPr>
          <a:xfrm>
            <a:off x="8322554" y="46177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FFFFFF"/>
                </a:solidFill>
                <a:latin typeface="Arial"/>
                <a:ea typeface="Arial"/>
                <a:cs typeface="Arial"/>
              </a:rPr>
              <a:t>50 spines  →  $16.7M</a:t>
            </a:r>
          </a:p>
        </p:txBody>
      </p:sp>
      <p:sp>
        <p:nvSpPr>
          <p:cNvPr id="729" name=""/>
          <p:cNvSpPr>
            <a:spLocks noGrp="1"/>
          </p:cNvSpPr>
          <p:nvPr/>
        </p:nvSpPr>
        <p:spPr>
          <a:xfrm>
            <a:off x="8322554" y="48463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FFFFFF"/>
                </a:solidFill>
                <a:latin typeface="Arial"/>
                <a:ea typeface="Arial"/>
                <a:cs typeface="Arial"/>
              </a:rPr>
              <a:t>100 spines  →  $33.4M</a:t>
            </a:r>
          </a:p>
        </p:txBody>
      </p:sp>
      <p:sp>
        <p:nvSpPr>
          <p:cNvPr id="730" name=""/>
          <p:cNvSpPr>
            <a:spLocks noGrp="1"/>
          </p:cNvSpPr>
          <p:nvPr/>
        </p:nvSpPr>
        <p:spPr>
          <a:xfrm>
            <a:off x="719138" y="5349240"/>
            <a:ext cx="10753724" cy="300000"/>
          </a:xfrm>
          <a:prstGeom prst="rect">
            <a:avLst/>
          </a:prstGeom>
          <a:noFill/>
          <a:ln w="0">
            <a:noFill/>
            <a:prstDash val="solid"/>
          </a:ln>
        </p:spPr>
        <p:txBody>
          <a:bodyPr wrap="square" lIns="0" tIns="0" rIns="0" bIns="0" anchor="t">
            <a:normAutofit fontScale="100000"/>
          </a:bodyPr>
          <a:lstStyle/>
          <a:p>
            <a:pPr algn="l">
              <a:lnSpc>
                <a:spcPct val="106000"/>
              </a:lnSpc>
              <a:buNone/>
            </a:pPr>
            <a:r>
              <a:rPr sz="900" b="0" i="1">
                <a:solidFill>
                  <a:srgbClr val="6A6F73"/>
                </a:solidFill>
                <a:latin typeface="Arial"/>
                <a:ea typeface="Arial"/>
                <a:cs typeface="Arial"/>
              </a:rPr>
              <a:t>ASSUMPTIONS  ·  $95/hr fully burdened (wage + benefits + overtime + supervision)  ·  4,400 hours observed on one site-built spine in an adjacent market, May 2026  ·  ~80% field-labor reduction typical for prefabricated interconnect  ·  one spine = one central electrical spine serving repeated generation modules.</a:t>
            </a:r>
          </a:p>
        </p:txBody>
      </p:sp>
      <p:sp>
        <p:nvSpPr>
          <p:cNvPr id="731" name=""/>
          <p:cNvSpPr>
            <a:spLocks noGrp="1"/>
          </p:cNvSpPr>
          <p:nvPr/>
        </p:nvSpPr>
        <p:spPr>
          <a:xfrm>
            <a:off x="719138" y="5852160"/>
            <a:ext cx="10753724" cy="300000"/>
          </a:xfrm>
          <a:prstGeom prst="rect">
            <a:avLst/>
          </a:prstGeom>
          <a:noFill/>
          <a:ln w="0">
            <a:noFill/>
            <a:prstDash val="solid"/>
          </a:ln>
        </p:spPr>
        <p:txBody>
          <a:bodyPr wrap="square" lIns="0" tIns="0" rIns="0" bIns="0" anchor="t">
            <a:normAutofit fontScale="100000"/>
          </a:bodyPr>
          <a:lstStyle/>
          <a:p>
            <a:pPr algn="l">
              <a:lnSpc>
                <a:spcPct val="106000"/>
              </a:lnSpc>
              <a:buNone/>
            </a:pPr>
            <a:r>
              <a:rPr sz="975" b="1" i="0">
                <a:solidFill>
                  <a:srgbClr val="17191C"/>
                </a:solidFill>
                <a:latin typeface="Arial"/>
                <a:ea typeface="Arial"/>
                <a:cs typeface="Arial"/>
              </a:rPr>
              <a:t>NOT NET.  Subtract the assembly premium, engineering, factory labor, freight, factory acceptance and commissioning — and prefabrication does not automatically remove an activity from the critical path.</a:t>
            </a:r>
          </a:p>
        </p:txBody>
      </p:sp>
      <p:sp>
        <p:nvSpPr>
          <p:cNvPr id="732" name=""/>
          <p:cNvSpPr>
            <a:spLocks noGrp="1"/>
          </p:cNvSpPr>
          <p:nvPr/>
        </p:nvSpPr>
        <p:spPr>
          <a:xfrm>
            <a:off x="719138" y="6315000"/>
            <a:ext cx="10753724" cy="400000"/>
          </a:xfrm>
          <a:prstGeom prst="rect">
            <a:avLst/>
          </a:prstGeom>
          <a:solidFill>
            <a:srgbClr val="17191C"/>
          </a:solidFill>
          <a:ln w="0">
            <a:noFill/>
            <a:prstDash val="solid"/>
          </a:ln>
        </p:spPr>
      </p:sp>
      <p:sp>
        <p:nvSpPr>
          <p:cNvPr id="733"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1050" b="1" i="0">
                <a:solidFill>
                  <a:srgbClr val="FFFFFF"/>
                </a:solidFill>
                <a:latin typeface="Arial Narrow"/>
                <a:ea typeface="Arial Narrow"/>
                <a:cs typeface="Arial Narrow"/>
              </a:rPr>
              <a:t>GROSS TEMPLATE ONLY — REBUILD WITH NRG SCOPE, LABOR RATES AND SCHEDULE LOGIC BEFORE ANY CLAIM (SEE A5).</a:t>
            </a:r>
          </a:p>
        </p:txBody>
      </p:sp>
    </p:spTree>
  </p:cSld>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901" name=""/>
          <p:cNvSpPr>
            <a:spLocks noGrp="1"/>
          </p:cNvSpPr>
          <p:nvPr/>
        </p:nvSpPr>
        <p:spPr>
          <a:xfrm>
            <a:off x="0" y="0"/>
            <a:ext cx="12192000" cy="57150"/>
          </a:xfrm>
          <a:prstGeom prst="rect">
            <a:avLst/>
          </a:prstGeom>
          <a:solidFill>
            <a:srgbClr val="C9783E"/>
          </a:solidFill>
          <a:ln w="0">
            <a:noFill/>
            <a:prstDash val="solid"/>
          </a:ln>
        </p:spPr>
      </p:sp>
      <p:pic>
        <p:nvPicPr>
          <p:cNvPr id="902" name=""/>
          <p:cNvPicPr>
            <a:picLocks noChangeAspect="1"/>
          </p:cNvPicPr>
          <p:nvPr/>
        </p:nvPicPr>
        <p:blipFill>
          <a:blip r:embed="R48e2a3d3733b4264"/>
          <a:stretch/>
        </p:blipFill>
        <p:spPr>
          <a:xfrm>
            <a:off x="719138" y="200025"/>
            <a:ext cx="2066925" cy="590550"/>
          </a:xfrm>
          <a:prstGeom prst="rect">
            <a:avLst/>
          </a:prstGeom>
        </p:spPr>
      </p:pic>
      <p:sp>
        <p:nvSpPr>
          <p:cNvPr id="903" name=""/>
          <p:cNvSpPr>
            <a:spLocks noGrp="1"/>
          </p:cNvSpPr>
          <p:nvPr/>
        </p:nvSpPr>
        <p:spPr>
          <a:xfrm>
            <a:off x="7325360" y="323850"/>
            <a:ext cx="3857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9D4E24"/>
                </a:solidFill>
                <a:latin typeface="Arial Narrow"/>
                <a:ea typeface="Arial Narrow"/>
                <a:cs typeface="Arial Narrow"/>
              </a:rPr>
              <a:t>APPENDIX A14 · MODULAR ECONOMICS</a:t>
            </a:r>
          </a:p>
        </p:txBody>
      </p:sp>
      <p:sp>
        <p:nvSpPr>
          <p:cNvPr id="904" name=""/>
          <p:cNvSpPr>
            <a:spLocks noGrp="1"/>
          </p:cNvSpPr>
          <p:nvPr/>
        </p:nvSpPr>
        <p:spPr>
          <a:xfrm>
            <a:off x="11334750" y="323850"/>
            <a:ext cx="32385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8B9094"/>
                </a:solidFill>
                <a:latin typeface="Arial Narrow"/>
                <a:ea typeface="Arial Narrow"/>
                <a:cs typeface="Arial Narrow"/>
              </a:rPr>
              <a:t>23</a:t>
            </a:r>
          </a:p>
        </p:txBody>
      </p:sp>
      <p:sp>
        <p:nvSpPr>
          <p:cNvPr id="905" name=""/>
          <p:cNvSpPr>
            <a:spLocks noGrp="1"/>
          </p:cNvSpPr>
          <p:nvPr/>
        </p:nvSpPr>
        <p:spPr>
          <a:xfrm>
            <a:off x="719138" y="1005840"/>
            <a:ext cx="90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C9783E"/>
                </a:solidFill>
                <a:latin typeface="Arial Narrow"/>
                <a:ea typeface="Arial Narrow"/>
                <a:cs typeface="Arial Narrow"/>
              </a:rPr>
              <a:t>SECOND CASE — DEPLOYMENT-BLOCK SCALE</a:t>
            </a:r>
          </a:p>
        </p:txBody>
      </p:sp>
      <p:sp>
        <p:nvSpPr>
          <p:cNvPr id="906" name=""/>
          <p:cNvSpPr>
            <a:spLocks noGrp="1"/>
          </p:cNvSpPr>
          <p:nvPr/>
        </p:nvSpPr>
        <p:spPr>
          <a:xfrm>
            <a:off x="719138" y="1280160"/>
            <a:ext cx="10753724" cy="5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The same mechanism at package scale, from a different market.</a:t>
            </a:r>
          </a:p>
        </p:txBody>
      </p:sp>
      <p:sp>
        <p:nvSpPr>
          <p:cNvPr id="907" name=""/>
          <p:cNvSpPr>
            <a:spLocks noGrp="1"/>
          </p:cNvSpPr>
          <p:nvPr/>
        </p:nvSpPr>
        <p:spPr>
          <a:xfrm>
            <a:off x="719138" y="195072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An illustrative 50 MW distribution-skid deployment block, modeled independently of A13. Two cases, two markets, one mechanism: onsite hours moved into the factory.</a:t>
            </a:r>
          </a:p>
        </p:txBody>
      </p:sp>
      <p:sp>
        <p:nvSpPr>
          <p:cNvPr id="908" name=""/>
          <p:cNvSpPr>
            <a:spLocks noGrp="1"/>
          </p:cNvSpPr>
          <p:nvPr/>
        </p:nvSpPr>
        <p:spPr>
          <a:xfrm>
            <a:off x="719138" y="2377440"/>
            <a:ext cx="3378908" cy="2469540"/>
          </a:xfrm>
          <a:prstGeom prst="rect">
            <a:avLst/>
          </a:prstGeom>
          <a:solidFill>
            <a:srgbClr val="FFFFFF"/>
          </a:solidFill>
          <a:ln w="9525">
            <a:solidFill>
              <a:srgbClr val="D8D1C8"/>
            </a:solidFill>
            <a:prstDash val="solid"/>
          </a:ln>
        </p:spPr>
      </p:sp>
      <p:sp>
        <p:nvSpPr>
          <p:cNvPr id="909" name=""/>
          <p:cNvSpPr>
            <a:spLocks noGrp="1"/>
          </p:cNvSpPr>
          <p:nvPr/>
        </p:nvSpPr>
        <p:spPr>
          <a:xfrm>
            <a:off x="947738" y="260604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TRADITIONAL FIELD BUILD</a:t>
            </a:r>
          </a:p>
        </p:txBody>
      </p:sp>
      <p:sp>
        <p:nvSpPr>
          <p:cNvPr id="910" name=""/>
          <p:cNvSpPr>
            <a:spLocks noGrp="1"/>
          </p:cNvSpPr>
          <p:nvPr/>
        </p:nvSpPr>
        <p:spPr>
          <a:xfrm>
            <a:off x="947738" y="2880360"/>
            <a:ext cx="2921708" cy="594360"/>
          </a:xfrm>
          <a:prstGeom prst="rect">
            <a:avLst/>
          </a:prstGeom>
          <a:noFill/>
          <a:ln w="0">
            <a:noFill/>
            <a:prstDash val="solid"/>
          </a:ln>
        </p:spPr>
        <p:txBody>
          <a:bodyPr wrap="square" lIns="0" tIns="0" rIns="0" bIns="0" anchor="t">
            <a:normAutofit fontScale="100000"/>
          </a:bodyPr>
          <a:lstStyle/>
          <a:p>
            <a:pPr algn="l">
              <a:lnSpc>
                <a:spcPct val="100000"/>
              </a:lnSpc>
              <a:buNone/>
            </a:pPr>
            <a:r>
              <a:rPr sz="3200" b="1" i="0">
                <a:solidFill>
                  <a:srgbClr val="17191C"/>
                </a:solidFill>
                <a:latin typeface="Arial"/>
                <a:ea typeface="Arial"/>
                <a:cs typeface="Arial"/>
              </a:rPr>
              <a:t>8–12 wks</a:t>
            </a:r>
          </a:p>
        </p:txBody>
      </p:sp>
      <p:sp>
        <p:nvSpPr>
          <p:cNvPr id="911" name=""/>
          <p:cNvSpPr>
            <a:spLocks noGrp="1"/>
          </p:cNvSpPr>
          <p:nvPr/>
        </p:nvSpPr>
        <p:spPr>
          <a:xfrm>
            <a:off x="947738" y="34747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0" i="0">
                <a:solidFill>
                  <a:srgbClr val="6A6F73"/>
                </a:solidFill>
                <a:latin typeface="Arial"/>
                <a:ea typeface="Arial"/>
                <a:cs typeface="Arial"/>
              </a:rPr>
              <a:t>install + commissioning</a:t>
            </a:r>
          </a:p>
        </p:txBody>
      </p:sp>
      <p:sp>
        <p:nvSpPr>
          <p:cNvPr id="912" name=""/>
          <p:cNvSpPr>
            <a:spLocks noGrp="1"/>
          </p:cNvSpPr>
          <p:nvPr/>
        </p:nvSpPr>
        <p:spPr>
          <a:xfrm>
            <a:off x="947738" y="379476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15 electricians × 10 weeks</a:t>
            </a:r>
          </a:p>
        </p:txBody>
      </p:sp>
      <p:sp>
        <p:nvSpPr>
          <p:cNvPr id="913" name=""/>
          <p:cNvSpPr>
            <a:spLocks noGrp="1"/>
          </p:cNvSpPr>
          <p:nvPr/>
        </p:nvSpPr>
        <p:spPr>
          <a:xfrm>
            <a:off x="947738" y="406908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~$1.1M–$1.5M field labor</a:t>
            </a:r>
          </a:p>
        </p:txBody>
      </p:sp>
      <p:sp>
        <p:nvSpPr>
          <p:cNvPr id="914" name=""/>
          <p:cNvSpPr>
            <a:spLocks noGrp="1"/>
          </p:cNvSpPr>
          <p:nvPr/>
        </p:nvSpPr>
        <p:spPr>
          <a:xfrm>
            <a:off x="947738" y="434340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6A6F73"/>
                </a:solidFill>
                <a:latin typeface="Arial"/>
                <a:ea typeface="Arial"/>
                <a:cs typeface="Arial"/>
              </a:rPr>
              <a:t>Weather, rework, multi-trade risk</a:t>
            </a:r>
          </a:p>
        </p:txBody>
      </p:sp>
      <p:sp>
        <p:nvSpPr>
          <p:cNvPr id="915" name=""/>
          <p:cNvSpPr>
            <a:spLocks noGrp="1"/>
          </p:cNvSpPr>
          <p:nvPr/>
        </p:nvSpPr>
        <p:spPr>
          <a:xfrm>
            <a:off x="4406546" y="2377440"/>
            <a:ext cx="3378908" cy="2469540"/>
          </a:xfrm>
          <a:prstGeom prst="rect">
            <a:avLst/>
          </a:prstGeom>
          <a:solidFill>
            <a:srgbClr val="FFFFFF"/>
          </a:solidFill>
          <a:ln w="9525">
            <a:solidFill>
              <a:srgbClr val="D8D1C8"/>
            </a:solidFill>
            <a:prstDash val="solid"/>
          </a:ln>
        </p:spPr>
      </p:sp>
      <p:sp>
        <p:nvSpPr>
          <p:cNvPr id="916" name=""/>
          <p:cNvSpPr>
            <a:spLocks noGrp="1"/>
          </p:cNvSpPr>
          <p:nvPr/>
        </p:nvSpPr>
        <p:spPr>
          <a:xfrm>
            <a:off x="4635146" y="260604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WITH PREFABRICATED CABLE</a:t>
            </a:r>
          </a:p>
        </p:txBody>
      </p:sp>
      <p:sp>
        <p:nvSpPr>
          <p:cNvPr id="917" name=""/>
          <p:cNvSpPr>
            <a:spLocks noGrp="1"/>
          </p:cNvSpPr>
          <p:nvPr/>
        </p:nvSpPr>
        <p:spPr>
          <a:xfrm>
            <a:off x="4635146" y="2880360"/>
            <a:ext cx="2921708" cy="594360"/>
          </a:xfrm>
          <a:prstGeom prst="rect">
            <a:avLst/>
          </a:prstGeom>
          <a:noFill/>
          <a:ln w="0">
            <a:noFill/>
            <a:prstDash val="solid"/>
          </a:ln>
        </p:spPr>
        <p:txBody>
          <a:bodyPr wrap="square" lIns="0" tIns="0" rIns="0" bIns="0" anchor="t">
            <a:normAutofit fontScale="100000"/>
          </a:bodyPr>
          <a:lstStyle/>
          <a:p>
            <a:pPr algn="l">
              <a:lnSpc>
                <a:spcPct val="100000"/>
              </a:lnSpc>
              <a:buNone/>
            </a:pPr>
            <a:r>
              <a:rPr sz="3200" b="1" i="0">
                <a:solidFill>
                  <a:srgbClr val="9D4E24"/>
                </a:solidFill>
                <a:latin typeface="Arial"/>
                <a:ea typeface="Arial"/>
                <a:cs typeface="Arial"/>
              </a:rPr>
              <a:t>2–4 wks</a:t>
            </a:r>
          </a:p>
        </p:txBody>
      </p:sp>
      <p:sp>
        <p:nvSpPr>
          <p:cNvPr id="918" name=""/>
          <p:cNvSpPr>
            <a:spLocks noGrp="1"/>
          </p:cNvSpPr>
          <p:nvPr/>
        </p:nvSpPr>
        <p:spPr>
          <a:xfrm>
            <a:off x="4635146" y="34747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0" i="0">
                <a:solidFill>
                  <a:srgbClr val="6A6F73"/>
                </a:solidFill>
                <a:latin typeface="Arial"/>
                <a:ea typeface="Arial"/>
                <a:cs typeface="Arial"/>
              </a:rPr>
              <a:t>install + commissioning</a:t>
            </a:r>
          </a:p>
        </p:txBody>
      </p:sp>
      <p:sp>
        <p:nvSpPr>
          <p:cNvPr id="919" name=""/>
          <p:cNvSpPr>
            <a:spLocks noGrp="1"/>
          </p:cNvSpPr>
          <p:nvPr/>
        </p:nvSpPr>
        <p:spPr>
          <a:xfrm>
            <a:off x="4635146" y="379476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40–60% fewer onsite labor hours</a:t>
            </a:r>
          </a:p>
        </p:txBody>
      </p:sp>
      <p:sp>
        <p:nvSpPr>
          <p:cNvPr id="920" name=""/>
          <p:cNvSpPr>
            <a:spLocks noGrp="1"/>
          </p:cNvSpPr>
          <p:nvPr/>
        </p:nvSpPr>
        <p:spPr>
          <a:xfrm>
            <a:off x="4635146" y="406908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0" i="0">
                <a:solidFill>
                  <a:srgbClr val="17191C"/>
                </a:solidFill>
                <a:latin typeface="Arial"/>
                <a:ea typeface="Arial"/>
                <a:cs typeface="Arial"/>
              </a:rPr>
              <a:t>Pre-tested, pre-labeled harnesses</a:t>
            </a:r>
          </a:p>
        </p:txBody>
      </p:sp>
      <p:sp>
        <p:nvSpPr>
          <p:cNvPr id="921" name=""/>
          <p:cNvSpPr>
            <a:spLocks noGrp="1"/>
          </p:cNvSpPr>
          <p:nvPr/>
        </p:nvSpPr>
        <p:spPr>
          <a:xfrm>
            <a:off x="4635146" y="4343400"/>
            <a:ext cx="2921708" cy="27432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6A6F73"/>
                </a:solidFill>
                <a:latin typeface="Arial"/>
                <a:ea typeface="Arial"/>
                <a:cs typeface="Arial"/>
              </a:rPr>
              <a:t>Plug-and-play modular connections</a:t>
            </a:r>
          </a:p>
        </p:txBody>
      </p:sp>
      <p:sp>
        <p:nvSpPr>
          <p:cNvPr id="922" name=""/>
          <p:cNvSpPr>
            <a:spLocks noGrp="1"/>
          </p:cNvSpPr>
          <p:nvPr/>
        </p:nvSpPr>
        <p:spPr>
          <a:xfrm>
            <a:off x="8093954" y="2377440"/>
            <a:ext cx="3378908" cy="2469540"/>
          </a:xfrm>
          <a:prstGeom prst="rect">
            <a:avLst/>
          </a:prstGeom>
          <a:solidFill>
            <a:srgbClr val="C9783E"/>
          </a:solidFill>
          <a:ln w="0">
            <a:noFill/>
            <a:prstDash val="solid"/>
          </a:ln>
        </p:spPr>
      </p:sp>
      <p:sp>
        <p:nvSpPr>
          <p:cNvPr id="923" name=""/>
          <p:cNvSpPr>
            <a:spLocks noGrp="1"/>
          </p:cNvSpPr>
          <p:nvPr/>
        </p:nvSpPr>
        <p:spPr>
          <a:xfrm>
            <a:off x="8322554" y="260604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FFFFFF"/>
                </a:solidFill>
                <a:latin typeface="Arial Narrow"/>
                <a:ea typeface="Arial Narrow"/>
                <a:cs typeface="Arial Narrow"/>
              </a:rPr>
              <a:t>GAIN PER DEPLOYMENT BLOCK</a:t>
            </a:r>
          </a:p>
        </p:txBody>
      </p:sp>
      <p:sp>
        <p:nvSpPr>
          <p:cNvPr id="924" name=""/>
          <p:cNvSpPr>
            <a:spLocks noGrp="1"/>
          </p:cNvSpPr>
          <p:nvPr/>
        </p:nvSpPr>
        <p:spPr>
          <a:xfrm>
            <a:off x="8322554" y="2880360"/>
            <a:ext cx="2921708" cy="594360"/>
          </a:xfrm>
          <a:prstGeom prst="rect">
            <a:avLst/>
          </a:prstGeom>
          <a:noFill/>
          <a:ln w="0">
            <a:noFill/>
            <a:prstDash val="solid"/>
          </a:ln>
        </p:spPr>
        <p:txBody>
          <a:bodyPr wrap="square" lIns="0" tIns="0" rIns="0" bIns="0" anchor="t">
            <a:normAutofit fontScale="100000"/>
          </a:bodyPr>
          <a:lstStyle/>
          <a:p>
            <a:pPr algn="l">
              <a:lnSpc>
                <a:spcPct val="100000"/>
              </a:lnSpc>
              <a:buNone/>
            </a:pPr>
            <a:r>
              <a:rPr sz="3200" b="1" i="0">
                <a:solidFill>
                  <a:srgbClr val="FFFFFF"/>
                </a:solidFill>
                <a:latin typeface="Arial"/>
                <a:ea typeface="Arial"/>
                <a:cs typeface="Arial"/>
              </a:rPr>
              <a:t>6–8 wks</a:t>
            </a:r>
          </a:p>
        </p:txBody>
      </p:sp>
      <p:sp>
        <p:nvSpPr>
          <p:cNvPr id="925" name=""/>
          <p:cNvSpPr>
            <a:spLocks noGrp="1"/>
          </p:cNvSpPr>
          <p:nvPr/>
        </p:nvSpPr>
        <p:spPr>
          <a:xfrm>
            <a:off x="8322554" y="347472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0" i="0">
                <a:solidFill>
                  <a:srgbClr val="FFFFFF"/>
                </a:solidFill>
                <a:latin typeface="Arial"/>
                <a:ea typeface="Arial"/>
                <a:cs typeface="Arial"/>
              </a:rPr>
              <a:t>faster to energization</a:t>
            </a:r>
          </a:p>
        </p:txBody>
      </p:sp>
      <p:sp>
        <p:nvSpPr>
          <p:cNvPr id="926" name=""/>
          <p:cNvSpPr>
            <a:spLocks noGrp="1"/>
          </p:cNvSpPr>
          <p:nvPr/>
        </p:nvSpPr>
        <p:spPr>
          <a:xfrm>
            <a:off x="8322554" y="3794760"/>
            <a:ext cx="2921708" cy="320040"/>
          </a:xfrm>
          <a:prstGeom prst="rect">
            <a:avLst/>
          </a:prstGeom>
          <a:noFill/>
          <a:ln w="0">
            <a:noFill/>
            <a:prstDash val="solid"/>
          </a:ln>
        </p:spPr>
        <p:txBody>
          <a:bodyPr wrap="square" lIns="0" tIns="0" rIns="0" bIns="0" anchor="t">
            <a:normAutofit fontScale="100000"/>
          </a:bodyPr>
          <a:lstStyle/>
          <a:p>
            <a:pPr algn="l">
              <a:lnSpc>
                <a:spcPct val="100000"/>
              </a:lnSpc>
              <a:buNone/>
            </a:pPr>
            <a:r>
              <a:rPr sz="1800" b="1" i="0">
                <a:solidFill>
                  <a:srgbClr val="FFFFFF"/>
                </a:solidFill>
                <a:latin typeface="Arial"/>
                <a:ea typeface="Arial"/>
                <a:cs typeface="Arial"/>
              </a:rPr>
              <a:t>$500K–$800K</a:t>
            </a:r>
          </a:p>
        </p:txBody>
      </p:sp>
      <p:sp>
        <p:nvSpPr>
          <p:cNvPr id="927" name=""/>
          <p:cNvSpPr>
            <a:spLocks noGrp="1"/>
          </p:cNvSpPr>
          <p:nvPr/>
        </p:nvSpPr>
        <p:spPr>
          <a:xfrm>
            <a:off x="8322554" y="411480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00" b="0" i="0">
                <a:solidFill>
                  <a:srgbClr val="FFFFFF"/>
                </a:solidFill>
                <a:latin typeface="Arial"/>
                <a:ea typeface="Arial"/>
                <a:cs typeface="Arial"/>
              </a:rPr>
              <a:t>gross field-labor savings</a:t>
            </a:r>
          </a:p>
        </p:txBody>
      </p:sp>
      <p:sp>
        <p:nvSpPr>
          <p:cNvPr id="928" name=""/>
          <p:cNvSpPr>
            <a:spLocks noGrp="1"/>
          </p:cNvSpPr>
          <p:nvPr/>
        </p:nvSpPr>
        <p:spPr>
          <a:xfrm>
            <a:off x="8322554" y="4343400"/>
            <a:ext cx="2921708" cy="440000"/>
          </a:xfrm>
          <a:prstGeom prst="rect">
            <a:avLst/>
          </a:prstGeom>
          <a:noFill/>
          <a:ln w="0">
            <a:noFill/>
            <a:prstDash val="solid"/>
          </a:ln>
        </p:spPr>
        <p:txBody>
          <a:bodyPr wrap="square" lIns="0" tIns="0" rIns="0" bIns="0" anchor="t">
            <a:normAutofit fontScale="100000"/>
          </a:bodyPr>
          <a:lstStyle/>
          <a:p>
            <a:pPr algn="l">
              <a:lnSpc>
                <a:spcPct val="104000"/>
              </a:lnSpc>
              <a:buNone/>
            </a:pPr>
            <a:r>
              <a:rPr sz="900" b="0" i="0">
                <a:solidFill>
                  <a:srgbClr val="FFFFFF"/>
                </a:solidFill>
                <a:latin typeface="Arial"/>
                <a:ea typeface="Arial"/>
                <a:cs typeface="Arial"/>
              </a:rPr>
              <a:t>Plus lower rework, earlier revenue recognition and reduced LD exposure.</a:t>
            </a:r>
          </a:p>
        </p:txBody>
      </p:sp>
      <p:sp>
        <p:nvSpPr>
          <p:cNvPr id="929" name=""/>
          <p:cNvSpPr>
            <a:spLocks noGrp="1"/>
          </p:cNvSpPr>
          <p:nvPr/>
        </p:nvSpPr>
        <p:spPr>
          <a:xfrm>
            <a:off x="719138" y="5029200"/>
            <a:ext cx="10753724"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WHERE THIS LANDS IN NRG'S PROGRAM</a:t>
            </a:r>
          </a:p>
        </p:txBody>
      </p:sp>
      <p:sp>
        <p:nvSpPr>
          <p:cNvPr id="930" name=""/>
          <p:cNvSpPr>
            <a:spLocks noGrp="1"/>
          </p:cNvSpPr>
          <p:nvPr/>
        </p:nvSpPr>
        <p:spPr>
          <a:xfrm>
            <a:off x="719138" y="5303520"/>
            <a:ext cx="10753724" cy="460000"/>
          </a:xfrm>
          <a:prstGeom prst="rect">
            <a:avLst/>
          </a:prstGeom>
          <a:noFill/>
          <a:ln w="0">
            <a:noFill/>
            <a:prstDash val="solid"/>
          </a:ln>
        </p:spPr>
        <p:txBody>
          <a:bodyPr wrap="square" lIns="0" tIns="0" rIns="0" bIns="0" anchor="t">
            <a:normAutofit fontScale="100000"/>
          </a:bodyPr>
          <a:lstStyle/>
          <a:p>
            <a:pPr algn="l">
              <a:lnSpc>
                <a:spcPct val="106000"/>
              </a:lnSpc>
              <a:buNone/>
            </a:pPr>
            <a:r>
              <a:rPr sz="1050" b="0" i="0">
                <a:solidFill>
                  <a:srgbClr val="6A6F73"/>
                </a:solidFill>
                <a:latin typeface="Arial"/>
                <a:ea typeface="Arial"/>
                <a:cs typeface="Arial"/>
              </a:rPr>
              <a:t>Modular power yard and black-start packages  ·  behind-the-meter and colocation skids  ·  e-houses, containerized substations and BESS  ·  any unit that repeats across the fleet.</a:t>
            </a:r>
          </a:p>
        </p:txBody>
      </p:sp>
      <p:sp>
        <p:nvSpPr>
          <p:cNvPr id="931" name=""/>
          <p:cNvSpPr>
            <a:spLocks noGrp="1"/>
          </p:cNvSpPr>
          <p:nvPr/>
        </p:nvSpPr>
        <p:spPr>
          <a:xfrm>
            <a:off x="719138" y="5806440"/>
            <a:ext cx="10753724" cy="440000"/>
          </a:xfrm>
          <a:prstGeom prst="rect">
            <a:avLst/>
          </a:prstGeom>
          <a:noFill/>
          <a:ln w="0">
            <a:noFill/>
            <a:prstDash val="solid"/>
          </a:ln>
        </p:spPr>
        <p:txBody>
          <a:bodyPr wrap="square" lIns="0" tIns="0" rIns="0" bIns="0" anchor="t">
            <a:normAutofit fontScale="100000"/>
          </a:bodyPr>
          <a:lstStyle/>
          <a:p>
            <a:pPr algn="l">
              <a:lnSpc>
                <a:spcPct val="106000"/>
              </a:lnSpc>
              <a:buNone/>
            </a:pPr>
            <a:r>
              <a:rPr sz="900" b="0" i="1">
                <a:solidFill>
                  <a:srgbClr val="17191C"/>
                </a:solidFill>
                <a:latin typeface="Arial"/>
                <a:ea typeface="Arial"/>
                <a:cs typeface="Arial"/>
              </a:rPr>
              <a:t>WHY THE TWO CASES USE DIFFERENT RATES:  A13 models $95/hr fully burdened for an industrial electrician on a two-shift site; this case models $180/hr loaded for multi-trade work in the data-center market. Different markets and burden bases — both are gross field labor, and both need NRG's own rates before either number is used.</a:t>
            </a:r>
          </a:p>
        </p:txBody>
      </p:sp>
      <p:sp>
        <p:nvSpPr>
          <p:cNvPr id="932" name=""/>
          <p:cNvSpPr>
            <a:spLocks noGrp="1"/>
          </p:cNvSpPr>
          <p:nvPr/>
        </p:nvSpPr>
        <p:spPr>
          <a:xfrm>
            <a:off x="719138" y="6315000"/>
            <a:ext cx="10753724" cy="400000"/>
          </a:xfrm>
          <a:prstGeom prst="rect">
            <a:avLst/>
          </a:prstGeom>
          <a:solidFill>
            <a:srgbClr val="17191C"/>
          </a:solidFill>
          <a:ln w="0">
            <a:noFill/>
            <a:prstDash val="solid"/>
          </a:ln>
        </p:spPr>
      </p:sp>
      <p:sp>
        <p:nvSpPr>
          <p:cNvPr id="933"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1050" b="1" i="0">
                <a:solidFill>
                  <a:srgbClr val="FFFFFF"/>
                </a:solidFill>
                <a:latin typeface="Arial Narrow"/>
                <a:ea typeface="Arial Narrow"/>
                <a:cs typeface="Arial Narrow"/>
              </a:rPr>
              <a:t>DIRECTIONAL FIGURES — VALIDATE AGAINST PARTNER AND NRG LABOR DATA BEFORE USE (SEE A5).</a:t>
            </a:r>
          </a:p>
        </p:txBody>
      </p:sp>
    </p:spTree>
  </p:cSld>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6F3EE"/>
        </a:solidFill>
      </p:bgPr>
    </p:bg>
    <p:spTree>
      <p:nvGrpSpPr>
        <p:cNvPr id="1" name=""/>
        <p:cNvGrpSpPr/>
        <p:nvPr/>
      </p:nvGrpSpPr>
      <p:grpSpPr>
        <a:xfrm/>
      </p:grpSpPr>
      <p:sp>
        <p:nvSpPr>
          <p:cNvPr id="1101" name=""/>
          <p:cNvSpPr>
            <a:spLocks noGrp="1"/>
          </p:cNvSpPr>
          <p:nvPr/>
        </p:nvSpPr>
        <p:spPr>
          <a:xfrm>
            <a:off x="0" y="0"/>
            <a:ext cx="12192000" cy="57150"/>
          </a:xfrm>
          <a:prstGeom prst="rect">
            <a:avLst/>
          </a:prstGeom>
          <a:solidFill>
            <a:srgbClr val="C9783E"/>
          </a:solidFill>
          <a:ln w="0">
            <a:noFill/>
            <a:prstDash val="solid"/>
          </a:ln>
        </p:spPr>
      </p:sp>
      <p:pic>
        <p:nvPicPr>
          <p:cNvPr id="1102" name=""/>
          <p:cNvPicPr>
            <a:picLocks noChangeAspect="1"/>
          </p:cNvPicPr>
          <p:nvPr/>
        </p:nvPicPr>
        <p:blipFill>
          <a:blip r:embed="R48e2a3d3733b4264"/>
          <a:stretch/>
        </p:blipFill>
        <p:spPr>
          <a:xfrm>
            <a:off x="719138" y="200025"/>
            <a:ext cx="2066925" cy="590550"/>
          </a:xfrm>
          <a:prstGeom prst="rect">
            <a:avLst/>
          </a:prstGeom>
        </p:spPr>
      </p:pic>
      <p:sp>
        <p:nvSpPr>
          <p:cNvPr id="1103" name=""/>
          <p:cNvSpPr>
            <a:spLocks noGrp="1"/>
          </p:cNvSpPr>
          <p:nvPr/>
        </p:nvSpPr>
        <p:spPr>
          <a:xfrm>
            <a:off x="7325360" y="323850"/>
            <a:ext cx="385700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9D4E24"/>
                </a:solidFill>
                <a:latin typeface="Arial Narrow"/>
                <a:ea typeface="Arial Narrow"/>
                <a:cs typeface="Arial Narrow"/>
              </a:rPr>
              <a:t>APPENDIX A15 · INTERCONNECTION TIMING</a:t>
            </a:r>
          </a:p>
        </p:txBody>
      </p:sp>
      <p:sp>
        <p:nvSpPr>
          <p:cNvPr id="1104" name=""/>
          <p:cNvSpPr>
            <a:spLocks noGrp="1"/>
          </p:cNvSpPr>
          <p:nvPr/>
        </p:nvSpPr>
        <p:spPr>
          <a:xfrm>
            <a:off x="11334750" y="323850"/>
            <a:ext cx="323850" cy="228600"/>
          </a:xfrm>
          <a:prstGeom prst="rect">
            <a:avLst/>
          </a:prstGeom>
          <a:noFill/>
          <a:ln w="0">
            <a:noFill/>
            <a:prstDash val="solid"/>
          </a:ln>
        </p:spPr>
        <p:txBody>
          <a:bodyPr wrap="square" lIns="0" tIns="0" rIns="0" bIns="0" anchor="t">
            <a:normAutofit fontScale="100000"/>
          </a:bodyPr>
          <a:lstStyle/>
          <a:p>
            <a:pPr algn="r">
              <a:lnSpc>
                <a:spcPct val="100000"/>
              </a:lnSpc>
              <a:buNone/>
            </a:pPr>
            <a:r>
              <a:rPr sz="975" b="1" i="0">
                <a:solidFill>
                  <a:srgbClr val="8B9094"/>
                </a:solidFill>
                <a:latin typeface="Arial Narrow"/>
                <a:ea typeface="Arial Narrow"/>
                <a:cs typeface="Arial Narrow"/>
              </a:rPr>
              <a:t>24</a:t>
            </a:r>
          </a:p>
        </p:txBody>
      </p:sp>
      <p:sp>
        <p:nvSpPr>
          <p:cNvPr id="1105" name=""/>
          <p:cNvSpPr>
            <a:spLocks noGrp="1"/>
          </p:cNvSpPr>
          <p:nvPr/>
        </p:nvSpPr>
        <p:spPr>
          <a:xfrm>
            <a:off x="719138" y="1005840"/>
            <a:ext cx="9000000"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C9783E"/>
                </a:solidFill>
                <a:latin typeface="Arial Narrow"/>
                <a:ea typeface="Arial Narrow"/>
                <a:cs typeface="Arial Narrow"/>
              </a:rPr>
              <a:t>WHEN THE UPGRADE IS ON THE CRITICAL PATH</a:t>
            </a:r>
          </a:p>
        </p:txBody>
      </p:sp>
      <p:sp>
        <p:nvSpPr>
          <p:cNvPr id="1106" name=""/>
          <p:cNvSpPr>
            <a:spLocks noGrp="1"/>
          </p:cNvSpPr>
          <p:nvPr/>
        </p:nvSpPr>
        <p:spPr>
          <a:xfrm>
            <a:off x="719138" y="1280160"/>
            <a:ext cx="10753724" cy="500000"/>
          </a:xfrm>
          <a:prstGeom prst="rect">
            <a:avLst/>
          </a:prstGeom>
          <a:noFill/>
          <a:ln w="0">
            <a:noFill/>
            <a:prstDash val="solid"/>
          </a:ln>
        </p:spPr>
        <p:txBody>
          <a:bodyPr wrap="square" lIns="0" tIns="0" rIns="0" bIns="0" anchor="t">
            <a:normAutofit fontScale="100000"/>
          </a:bodyPr>
          <a:lstStyle/>
          <a:p>
            <a:pPr algn="l">
              <a:lnSpc>
                <a:spcPct val="104000"/>
              </a:lnSpc>
              <a:buNone/>
            </a:pPr>
            <a:r>
              <a:rPr sz="2850" b="1" i="0">
                <a:solidFill>
                  <a:srgbClr val="17191C"/>
                </a:solidFill>
                <a:latin typeface="Arial"/>
                <a:ea typeface="Arial"/>
                <a:cs typeface="Arial"/>
              </a:rPr>
              <a:t>Reconductor instead of a new line — and the date moves years left.</a:t>
            </a:r>
          </a:p>
        </p:txBody>
      </p:sp>
      <p:sp>
        <p:nvSpPr>
          <p:cNvPr id="1107" name=""/>
          <p:cNvSpPr>
            <a:spLocks noGrp="1"/>
          </p:cNvSpPr>
          <p:nvPr/>
        </p:nvSpPr>
        <p:spPr>
          <a:xfrm>
            <a:off x="719138" y="1950720"/>
            <a:ext cx="10753724" cy="300000"/>
          </a:xfrm>
          <a:prstGeom prst="rect">
            <a:avLst/>
          </a:prstGeom>
          <a:noFill/>
          <a:ln w="0">
            <a:noFill/>
            <a:prstDash val="solid"/>
          </a:ln>
        </p:spPr>
        <p:txBody>
          <a:bodyPr wrap="square" lIns="0" tIns="0" rIns="0" bIns="0" anchor="t">
            <a:normAutofit fontScale="100000"/>
          </a:bodyPr>
          <a:lstStyle/>
          <a:p>
            <a:pPr algn="l">
              <a:lnSpc>
                <a:spcPct val="108000"/>
              </a:lnSpc>
              <a:buNone/>
            </a:pPr>
            <a:r>
              <a:rPr sz="1050" b="0" i="0">
                <a:solidFill>
                  <a:srgbClr val="6A6F73"/>
                </a:solidFill>
                <a:latin typeface="Arial"/>
                <a:ea typeface="Arial"/>
                <a:cs typeface="Arial"/>
              </a:rPr>
              <a:t>Advanced conductor on structures and right-of-way that already exist. Illustrative 25-mile corridor, 300 MVA baseline, C7 at 2.5x capacity, versus a traditional new build.</a:t>
            </a:r>
          </a:p>
        </p:txBody>
      </p:sp>
      <p:sp>
        <p:nvSpPr>
          <p:cNvPr id="1108" name=""/>
          <p:cNvSpPr>
            <a:spLocks noGrp="1"/>
          </p:cNvSpPr>
          <p:nvPr/>
        </p:nvSpPr>
        <p:spPr>
          <a:xfrm>
            <a:off x="719138" y="2377440"/>
            <a:ext cx="3378908" cy="1188720"/>
          </a:xfrm>
          <a:prstGeom prst="rect">
            <a:avLst/>
          </a:prstGeom>
          <a:solidFill>
            <a:srgbClr val="FFFFFF"/>
          </a:solidFill>
          <a:ln w="9525">
            <a:solidFill>
              <a:srgbClr val="D8D1C8"/>
            </a:solidFill>
            <a:prstDash val="solid"/>
          </a:ln>
        </p:spPr>
      </p:sp>
      <p:sp>
        <p:nvSpPr>
          <p:cNvPr id="1109" name=""/>
          <p:cNvSpPr>
            <a:spLocks noGrp="1"/>
          </p:cNvSpPr>
          <p:nvPr/>
        </p:nvSpPr>
        <p:spPr>
          <a:xfrm>
            <a:off x="947738" y="2514600"/>
            <a:ext cx="2921708" cy="594360"/>
          </a:xfrm>
          <a:prstGeom prst="rect">
            <a:avLst/>
          </a:prstGeom>
          <a:noFill/>
          <a:ln w="0">
            <a:noFill/>
            <a:prstDash val="solid"/>
          </a:ln>
        </p:spPr>
        <p:txBody>
          <a:bodyPr wrap="square" lIns="0" tIns="0" rIns="0" bIns="0" anchor="t">
            <a:normAutofit fontScale="100000"/>
          </a:bodyPr>
          <a:lstStyle/>
          <a:p>
            <a:pPr algn="l">
              <a:lnSpc>
                <a:spcPct val="100000"/>
              </a:lnSpc>
              <a:buNone/>
            </a:pPr>
            <a:r>
              <a:rPr sz="3200" b="1" i="0">
                <a:solidFill>
                  <a:srgbClr val="9D4E24"/>
                </a:solidFill>
                <a:latin typeface="Arial"/>
                <a:ea typeface="Arial"/>
                <a:cs typeface="Arial"/>
              </a:rPr>
              <a:t>6 YEARS</a:t>
            </a:r>
          </a:p>
        </p:txBody>
      </p:sp>
      <p:sp>
        <p:nvSpPr>
          <p:cNvPr id="1110" name=""/>
          <p:cNvSpPr>
            <a:spLocks noGrp="1"/>
          </p:cNvSpPr>
          <p:nvPr/>
        </p:nvSpPr>
        <p:spPr>
          <a:xfrm>
            <a:off x="947738" y="310896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17191C"/>
                </a:solidFill>
                <a:latin typeface="Arial"/>
                <a:ea typeface="Arial"/>
                <a:cs typeface="Arial"/>
              </a:rPr>
              <a:t>earlier to capacity</a:t>
            </a:r>
          </a:p>
        </p:txBody>
      </p:sp>
      <p:sp>
        <p:nvSpPr>
          <p:cNvPr id="1111" name=""/>
          <p:cNvSpPr>
            <a:spLocks noGrp="1"/>
          </p:cNvSpPr>
          <p:nvPr/>
        </p:nvSpPr>
        <p:spPr>
          <a:xfrm>
            <a:off x="947738" y="333756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00" b="0" i="0">
                <a:solidFill>
                  <a:srgbClr val="6A6F73"/>
                </a:solidFill>
                <a:latin typeface="Arial"/>
                <a:ea typeface="Arial"/>
                <a:cs typeface="Arial"/>
              </a:rPr>
              <a:t>~2 years to reconductor vs ~8 for a new build</a:t>
            </a:r>
          </a:p>
        </p:txBody>
      </p:sp>
      <p:sp>
        <p:nvSpPr>
          <p:cNvPr id="1112" name=""/>
          <p:cNvSpPr>
            <a:spLocks noGrp="1"/>
          </p:cNvSpPr>
          <p:nvPr/>
        </p:nvSpPr>
        <p:spPr>
          <a:xfrm>
            <a:off x="4406546" y="2377440"/>
            <a:ext cx="3378908" cy="1188720"/>
          </a:xfrm>
          <a:prstGeom prst="rect">
            <a:avLst/>
          </a:prstGeom>
          <a:solidFill>
            <a:srgbClr val="FFFFFF"/>
          </a:solidFill>
          <a:ln w="9525">
            <a:solidFill>
              <a:srgbClr val="D8D1C8"/>
            </a:solidFill>
            <a:prstDash val="solid"/>
          </a:ln>
        </p:spPr>
      </p:sp>
      <p:sp>
        <p:nvSpPr>
          <p:cNvPr id="1113" name=""/>
          <p:cNvSpPr>
            <a:spLocks noGrp="1"/>
          </p:cNvSpPr>
          <p:nvPr/>
        </p:nvSpPr>
        <p:spPr>
          <a:xfrm>
            <a:off x="4635146" y="2514600"/>
            <a:ext cx="2921708" cy="594360"/>
          </a:xfrm>
          <a:prstGeom prst="rect">
            <a:avLst/>
          </a:prstGeom>
          <a:noFill/>
          <a:ln w="0">
            <a:noFill/>
            <a:prstDash val="solid"/>
          </a:ln>
        </p:spPr>
        <p:txBody>
          <a:bodyPr wrap="square" lIns="0" tIns="0" rIns="0" bIns="0" anchor="t">
            <a:normAutofit fontScale="100000"/>
          </a:bodyPr>
          <a:lstStyle/>
          <a:p>
            <a:pPr algn="l">
              <a:lnSpc>
                <a:spcPct val="100000"/>
              </a:lnSpc>
              <a:buNone/>
            </a:pPr>
            <a:r>
              <a:rPr sz="3200" b="1" i="0">
                <a:solidFill>
                  <a:srgbClr val="9D4E24"/>
                </a:solidFill>
                <a:latin typeface="Arial"/>
                <a:ea typeface="Arial"/>
                <a:cs typeface="Arial"/>
              </a:rPr>
              <a:t>+450 MVA</a:t>
            </a:r>
          </a:p>
        </p:txBody>
      </p:sp>
      <p:sp>
        <p:nvSpPr>
          <p:cNvPr id="1114" name=""/>
          <p:cNvSpPr>
            <a:spLocks noGrp="1"/>
          </p:cNvSpPr>
          <p:nvPr/>
        </p:nvSpPr>
        <p:spPr>
          <a:xfrm>
            <a:off x="4635146" y="310896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17191C"/>
                </a:solidFill>
                <a:latin typeface="Arial"/>
                <a:ea typeface="Arial"/>
                <a:cs typeface="Arial"/>
              </a:rPr>
              <a:t>on the same corridor</a:t>
            </a:r>
          </a:p>
        </p:txBody>
      </p:sp>
      <p:sp>
        <p:nvSpPr>
          <p:cNvPr id="1115" name=""/>
          <p:cNvSpPr>
            <a:spLocks noGrp="1"/>
          </p:cNvSpPr>
          <p:nvPr/>
        </p:nvSpPr>
        <p:spPr>
          <a:xfrm>
            <a:off x="4635146" y="333756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00" b="0" i="0">
                <a:solidFill>
                  <a:srgbClr val="6A6F73"/>
                </a:solidFill>
                <a:latin typeface="Arial"/>
                <a:ea typeface="Arial"/>
                <a:cs typeface="Arial"/>
              </a:rPr>
              <a:t>300 → 750 MVA at 2.5x conductor capacity</a:t>
            </a:r>
          </a:p>
        </p:txBody>
      </p:sp>
      <p:sp>
        <p:nvSpPr>
          <p:cNvPr id="1116" name=""/>
          <p:cNvSpPr>
            <a:spLocks noGrp="1"/>
          </p:cNvSpPr>
          <p:nvPr/>
        </p:nvSpPr>
        <p:spPr>
          <a:xfrm>
            <a:off x="8093954" y="2377440"/>
            <a:ext cx="3378908" cy="1188720"/>
          </a:xfrm>
          <a:prstGeom prst="rect">
            <a:avLst/>
          </a:prstGeom>
          <a:solidFill>
            <a:srgbClr val="FFFFFF"/>
          </a:solidFill>
          <a:ln w="9525">
            <a:solidFill>
              <a:srgbClr val="D8D1C8"/>
            </a:solidFill>
            <a:prstDash val="solid"/>
          </a:ln>
        </p:spPr>
      </p:sp>
      <p:sp>
        <p:nvSpPr>
          <p:cNvPr id="1117" name=""/>
          <p:cNvSpPr>
            <a:spLocks noGrp="1"/>
          </p:cNvSpPr>
          <p:nvPr/>
        </p:nvSpPr>
        <p:spPr>
          <a:xfrm>
            <a:off x="8322554" y="2514600"/>
            <a:ext cx="2921708" cy="594360"/>
          </a:xfrm>
          <a:prstGeom prst="rect">
            <a:avLst/>
          </a:prstGeom>
          <a:noFill/>
          <a:ln w="0">
            <a:noFill/>
            <a:prstDash val="solid"/>
          </a:ln>
        </p:spPr>
        <p:txBody>
          <a:bodyPr wrap="square" lIns="0" tIns="0" rIns="0" bIns="0" anchor="t">
            <a:normAutofit fontScale="100000"/>
          </a:bodyPr>
          <a:lstStyle/>
          <a:p>
            <a:pPr algn="l">
              <a:lnSpc>
                <a:spcPct val="100000"/>
              </a:lnSpc>
              <a:buNone/>
            </a:pPr>
            <a:r>
              <a:rPr sz="3200" b="1" i="0">
                <a:solidFill>
                  <a:srgbClr val="9D4E24"/>
                </a:solidFill>
                <a:latin typeface="Arial"/>
                <a:ea typeface="Arial"/>
                <a:cs typeface="Arial"/>
              </a:rPr>
              <a:t>~$57.5M</a:t>
            </a:r>
          </a:p>
        </p:txBody>
      </p:sp>
      <p:sp>
        <p:nvSpPr>
          <p:cNvPr id="1118" name=""/>
          <p:cNvSpPr>
            <a:spLocks noGrp="1"/>
          </p:cNvSpPr>
          <p:nvPr/>
        </p:nvSpPr>
        <p:spPr>
          <a:xfrm>
            <a:off x="8322554" y="310896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1050" b="1" i="0">
                <a:solidFill>
                  <a:srgbClr val="17191C"/>
                </a:solidFill>
                <a:latin typeface="Arial"/>
                <a:ea typeface="Arial"/>
                <a:cs typeface="Arial"/>
              </a:rPr>
              <a:t>lower upgrade cost</a:t>
            </a:r>
          </a:p>
        </p:txBody>
      </p:sp>
      <p:sp>
        <p:nvSpPr>
          <p:cNvPr id="1119" name=""/>
          <p:cNvSpPr>
            <a:spLocks noGrp="1"/>
          </p:cNvSpPr>
          <p:nvPr/>
        </p:nvSpPr>
        <p:spPr>
          <a:xfrm>
            <a:off x="8322554" y="3337560"/>
            <a:ext cx="2921708"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00" b="0" i="0">
                <a:solidFill>
                  <a:srgbClr val="6A6F73"/>
                </a:solidFill>
                <a:latin typeface="Arial"/>
                <a:ea typeface="Arial"/>
                <a:cs typeface="Arial"/>
              </a:rPr>
              <a:t>$87.5M new build → $30.0M reconductor</a:t>
            </a:r>
          </a:p>
        </p:txBody>
      </p:sp>
      <p:sp>
        <p:nvSpPr>
          <p:cNvPr id="1120" name=""/>
          <p:cNvSpPr>
            <a:spLocks noGrp="1"/>
          </p:cNvSpPr>
          <p:nvPr/>
        </p:nvSpPr>
        <p:spPr>
          <a:xfrm>
            <a:off x="719138" y="3794760"/>
            <a:ext cx="52378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WHERE THE $57.5M COMES FROM</a:t>
            </a:r>
          </a:p>
        </p:txBody>
      </p:sp>
      <p:sp>
        <p:nvSpPr>
          <p:cNvPr id="1121" name=""/>
          <p:cNvSpPr>
            <a:spLocks noGrp="1"/>
          </p:cNvSpPr>
          <p:nvPr/>
        </p:nvSpPr>
        <p:spPr>
          <a:xfrm>
            <a:off x="719138" y="4069080"/>
            <a:ext cx="5237862" cy="34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1" i="0">
                <a:solidFill>
                  <a:srgbClr val="17191C"/>
                </a:solidFill>
                <a:latin typeface="Arial"/>
                <a:ea typeface="Arial"/>
                <a:cs typeface="Arial"/>
              </a:rPr>
              <a:t>$30.0M</a:t>
            </a:r>
            <a:r>
              <a:rPr sz="1050" b="0" i="0">
                <a:solidFill>
                  <a:srgbClr val="6A6F73"/>
                </a:solidFill>
                <a:latin typeface="Arial"/>
                <a:ea typeface="Arial"/>
                <a:cs typeface="Arial"/>
              </a:rPr>
              <a:t> structures and foundations — the existing towers are reused.</a:t>
            </a:r>
          </a:p>
        </p:txBody>
      </p:sp>
      <p:sp>
        <p:nvSpPr>
          <p:cNvPr id="1122" name=""/>
          <p:cNvSpPr>
            <a:spLocks noGrp="1"/>
          </p:cNvSpPr>
          <p:nvPr/>
        </p:nvSpPr>
        <p:spPr>
          <a:xfrm>
            <a:off x="719138" y="4480560"/>
            <a:ext cx="5237862" cy="34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1" i="0">
                <a:solidFill>
                  <a:srgbClr val="17191C"/>
                </a:solidFill>
                <a:latin typeface="Arial"/>
                <a:ea typeface="Arial"/>
                <a:cs typeface="Arial"/>
              </a:rPr>
              <a:t>$15.0M</a:t>
            </a:r>
            <a:r>
              <a:rPr sz="1050" b="0" i="0">
                <a:solidFill>
                  <a:srgbClr val="6A6F73"/>
                </a:solidFill>
                <a:latin typeface="Arial"/>
                <a:ea typeface="Arial"/>
                <a:cs typeface="Arial"/>
              </a:rPr>
              <a:t> right-of-way, permitting and legal — no new corridor to acquire.</a:t>
            </a:r>
          </a:p>
        </p:txBody>
      </p:sp>
      <p:sp>
        <p:nvSpPr>
          <p:cNvPr id="1123" name=""/>
          <p:cNvSpPr>
            <a:spLocks noGrp="1"/>
          </p:cNvSpPr>
          <p:nvPr/>
        </p:nvSpPr>
        <p:spPr>
          <a:xfrm>
            <a:off x="719138" y="4892040"/>
            <a:ext cx="5237862" cy="34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1" i="0">
                <a:solidFill>
                  <a:srgbClr val="17191C"/>
                </a:solidFill>
                <a:latin typeface="Arial"/>
                <a:ea typeface="Arial"/>
                <a:cs typeface="Arial"/>
              </a:rPr>
              <a:t>$12.5M</a:t>
            </a:r>
            <a:r>
              <a:rPr sz="1050" b="0" i="0">
                <a:solidFill>
                  <a:srgbClr val="6A6F73"/>
                </a:solidFill>
                <a:latin typeface="Arial"/>
                <a:ea typeface="Arial"/>
                <a:cs typeface="Arial"/>
              </a:rPr>
              <a:t> materials efficiency and construction labor — smaller crews, faster install.</a:t>
            </a:r>
          </a:p>
        </p:txBody>
      </p:sp>
      <p:sp>
        <p:nvSpPr>
          <p:cNvPr id="1124" name=""/>
          <p:cNvSpPr>
            <a:spLocks noGrp="1"/>
          </p:cNvSpPr>
          <p:nvPr/>
        </p:nvSpPr>
        <p:spPr>
          <a:xfrm>
            <a:off x="6234000" y="3794760"/>
            <a:ext cx="5238862" cy="228600"/>
          </a:xfrm>
          <a:prstGeom prst="rect">
            <a:avLst/>
          </a:prstGeom>
          <a:noFill/>
          <a:ln w="0">
            <a:noFill/>
            <a:prstDash val="solid"/>
          </a:ln>
        </p:spPr>
        <p:txBody>
          <a:bodyPr wrap="square" lIns="0" tIns="0" rIns="0" bIns="0" anchor="t">
            <a:normAutofit fontScale="100000"/>
          </a:bodyPr>
          <a:lstStyle/>
          <a:p>
            <a:pPr algn="l">
              <a:lnSpc>
                <a:spcPct val="100000"/>
              </a:lnSpc>
              <a:buNone/>
            </a:pPr>
            <a:r>
              <a:rPr sz="975" b="1" i="0">
                <a:solidFill>
                  <a:srgbClr val="9D4E24"/>
                </a:solidFill>
                <a:latin typeface="Arial Narrow"/>
                <a:ea typeface="Arial Narrow"/>
                <a:cs typeface="Arial Narrow"/>
              </a:rPr>
              <a:t>WHY THIS IS AN IPP LEVER, NOT ONLY A UTILITY ONE</a:t>
            </a:r>
          </a:p>
        </p:txBody>
      </p:sp>
      <p:sp>
        <p:nvSpPr>
          <p:cNvPr id="1125" name=""/>
          <p:cNvSpPr>
            <a:spLocks noGrp="1"/>
          </p:cNvSpPr>
          <p:nvPr/>
        </p:nvSpPr>
        <p:spPr>
          <a:xfrm>
            <a:off x="6234000" y="4128080"/>
            <a:ext cx="91440" cy="91440"/>
          </a:xfrm>
          <a:prstGeom prst="rect">
            <a:avLst/>
          </a:prstGeom>
          <a:solidFill>
            <a:srgbClr val="C9783E"/>
          </a:solidFill>
          <a:ln w="0">
            <a:noFill/>
            <a:prstDash val="solid"/>
          </a:ln>
        </p:spPr>
      </p:sp>
      <p:sp>
        <p:nvSpPr>
          <p:cNvPr id="1126" name=""/>
          <p:cNvSpPr>
            <a:spLocks noGrp="1"/>
          </p:cNvSpPr>
          <p:nvPr/>
        </p:nvSpPr>
        <p:spPr>
          <a:xfrm>
            <a:off x="6462600" y="4069080"/>
            <a:ext cx="5010262" cy="34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COD moves left — and revenue that starts years earlier is the IRR lever on A6.</a:t>
            </a:r>
          </a:p>
        </p:txBody>
      </p:sp>
      <p:sp>
        <p:nvSpPr>
          <p:cNvPr id="1127" name=""/>
          <p:cNvSpPr>
            <a:spLocks noGrp="1"/>
          </p:cNvSpPr>
          <p:nvPr/>
        </p:nvSpPr>
        <p:spPr>
          <a:xfrm>
            <a:off x="6234000" y="4539560"/>
            <a:ext cx="91440" cy="91440"/>
          </a:xfrm>
          <a:prstGeom prst="rect">
            <a:avLst/>
          </a:prstGeom>
          <a:solidFill>
            <a:srgbClr val="C9783E"/>
          </a:solidFill>
          <a:ln w="0">
            <a:noFill/>
            <a:prstDash val="solid"/>
          </a:ln>
        </p:spPr>
      </p:sp>
      <p:sp>
        <p:nvSpPr>
          <p:cNvPr id="1128" name=""/>
          <p:cNvSpPr>
            <a:spLocks noGrp="1"/>
          </p:cNvSpPr>
          <p:nvPr/>
        </p:nvSpPr>
        <p:spPr>
          <a:xfrm>
            <a:off x="6462600" y="4480560"/>
            <a:ext cx="5010262" cy="34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Where the interconnection customer funds the network upgrade, the assigned cost falls with it.</a:t>
            </a:r>
          </a:p>
        </p:txBody>
      </p:sp>
      <p:sp>
        <p:nvSpPr>
          <p:cNvPr id="1129" name=""/>
          <p:cNvSpPr>
            <a:spLocks noGrp="1"/>
          </p:cNvSpPr>
          <p:nvPr/>
        </p:nvSpPr>
        <p:spPr>
          <a:xfrm>
            <a:off x="6234000" y="4951040"/>
            <a:ext cx="91440" cy="91440"/>
          </a:xfrm>
          <a:prstGeom prst="rect">
            <a:avLst/>
          </a:prstGeom>
          <a:solidFill>
            <a:srgbClr val="C9783E"/>
          </a:solidFill>
          <a:ln w="0">
            <a:noFill/>
            <a:prstDash val="solid"/>
          </a:ln>
        </p:spPr>
      </p:sp>
      <p:sp>
        <p:nvSpPr>
          <p:cNvPr id="1130" name=""/>
          <p:cNvSpPr>
            <a:spLocks noGrp="1"/>
          </p:cNvSpPr>
          <p:nvPr/>
        </p:nvSpPr>
        <p:spPr>
          <a:xfrm>
            <a:off x="6462600" y="4892040"/>
            <a:ext cx="5010262" cy="34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Gen-tie thermal limits cleared on uprates without rebuilding structures.</a:t>
            </a:r>
          </a:p>
        </p:txBody>
      </p:sp>
      <p:sp>
        <p:nvSpPr>
          <p:cNvPr id="1131" name=""/>
          <p:cNvSpPr>
            <a:spLocks noGrp="1"/>
          </p:cNvSpPr>
          <p:nvPr/>
        </p:nvSpPr>
        <p:spPr>
          <a:xfrm>
            <a:off x="6234000" y="5362520"/>
            <a:ext cx="91440" cy="91440"/>
          </a:xfrm>
          <a:prstGeom prst="rect">
            <a:avLst/>
          </a:prstGeom>
          <a:solidFill>
            <a:srgbClr val="C9783E"/>
          </a:solidFill>
          <a:ln w="0">
            <a:noFill/>
            <a:prstDash val="solid"/>
          </a:ln>
        </p:spPr>
      </p:sp>
      <p:sp>
        <p:nvSpPr>
          <p:cNvPr id="1132" name=""/>
          <p:cNvSpPr>
            <a:spLocks noGrp="1"/>
          </p:cNvSpPr>
          <p:nvPr/>
        </p:nvSpPr>
        <p:spPr>
          <a:xfrm>
            <a:off x="6462600" y="5303520"/>
            <a:ext cx="5010262" cy="340000"/>
          </a:xfrm>
          <a:prstGeom prst="rect">
            <a:avLst/>
          </a:prstGeom>
          <a:noFill/>
          <a:ln w="0">
            <a:noFill/>
            <a:prstDash val="solid"/>
          </a:ln>
        </p:spPr>
        <p:txBody>
          <a:bodyPr wrap="square" lIns="0" tIns="0" rIns="0" bIns="0" anchor="t">
            <a:normAutofit fontScale="100000"/>
          </a:bodyPr>
          <a:lstStyle/>
          <a:p>
            <a:pPr algn="l">
              <a:lnSpc>
                <a:spcPct val="104000"/>
              </a:lnSpc>
              <a:buNone/>
            </a:pPr>
            <a:r>
              <a:rPr sz="1050" b="0" i="0">
                <a:solidFill>
                  <a:srgbClr val="6A6F73"/>
                </a:solidFill>
                <a:latin typeface="Arial"/>
                <a:ea typeface="Arial"/>
                <a:cs typeface="Arial"/>
              </a:rPr>
              <a:t>Capacity out of a corridor already in service, instead of another position in the queue.</a:t>
            </a:r>
          </a:p>
        </p:txBody>
      </p:sp>
      <p:sp>
        <p:nvSpPr>
          <p:cNvPr id="1133" name=""/>
          <p:cNvSpPr>
            <a:spLocks noGrp="1"/>
          </p:cNvSpPr>
          <p:nvPr/>
        </p:nvSpPr>
        <p:spPr>
          <a:xfrm>
            <a:off x="719138" y="5623560"/>
            <a:ext cx="10753724" cy="460000"/>
          </a:xfrm>
          <a:prstGeom prst="rect">
            <a:avLst/>
          </a:prstGeom>
          <a:noFill/>
          <a:ln w="0">
            <a:noFill/>
            <a:prstDash val="solid"/>
          </a:ln>
        </p:spPr>
        <p:txBody>
          <a:bodyPr wrap="square" lIns="0" tIns="0" rIns="0" bIns="0" anchor="t">
            <a:normAutofit fontScale="100000"/>
          </a:bodyPr>
          <a:lstStyle/>
          <a:p>
            <a:pPr algn="l">
              <a:lnSpc>
                <a:spcPct val="106000"/>
              </a:lnSpc>
              <a:buNone/>
            </a:pPr>
            <a:r>
              <a:rPr sz="900" b="0" i="1">
                <a:solidFill>
                  <a:srgbClr val="17191C"/>
                </a:solidFill>
                <a:latin typeface="Arial"/>
                <a:ea typeface="Arial"/>
                <a:cs typeface="Arial"/>
              </a:rPr>
              <a:t>HOW IT ACTUALLY HAPPENS:  the network line belongs to the transmission owner, not the generator. A reconductor is proposed and funded through the interconnection study process and needs the TO and the ISO to agree. What Southwire supplies is the conductor and the engineering that makes the alternative credible enough to be studied — plus the gen-tie itself, which the generator does own.</a:t>
            </a:r>
          </a:p>
        </p:txBody>
      </p:sp>
      <p:sp>
        <p:nvSpPr>
          <p:cNvPr id="1134" name=""/>
          <p:cNvSpPr>
            <a:spLocks noGrp="1"/>
          </p:cNvSpPr>
          <p:nvPr/>
        </p:nvSpPr>
        <p:spPr>
          <a:xfrm>
            <a:off x="719138" y="6315000"/>
            <a:ext cx="10753724" cy="400000"/>
          </a:xfrm>
          <a:prstGeom prst="rect">
            <a:avLst/>
          </a:prstGeom>
          <a:solidFill>
            <a:srgbClr val="17191C"/>
          </a:solidFill>
          <a:ln w="0">
            <a:noFill/>
            <a:prstDash val="solid"/>
          </a:ln>
        </p:spPr>
      </p:sp>
      <p:sp>
        <p:nvSpPr>
          <p:cNvPr id="1135" name=""/>
          <p:cNvSpPr>
            <a:spLocks noGrp="1"/>
          </p:cNvSpPr>
          <p:nvPr/>
        </p:nvSpPr>
        <p:spPr>
          <a:xfrm>
            <a:off x="719138" y="6315000"/>
            <a:ext cx="10753724" cy="400000"/>
          </a:xfrm>
          <a:prstGeom prst="rect">
            <a:avLst/>
          </a:prstGeom>
          <a:noFill/>
          <a:ln w="0">
            <a:noFill/>
            <a:prstDash val="solid"/>
          </a:ln>
        </p:spPr>
        <p:txBody>
          <a:bodyPr wrap="square" lIns="0" tIns="0" rIns="0" bIns="0" anchor="ctr">
            <a:normAutofit fontScale="100000"/>
          </a:bodyPr>
          <a:lstStyle/>
          <a:p>
            <a:pPr algn="ctr">
              <a:lnSpc>
                <a:spcPct val="100000"/>
              </a:lnSpc>
              <a:buNone/>
            </a:pPr>
            <a:r>
              <a:rPr sz="1050" b="1" i="0">
                <a:solidFill>
                  <a:srgbClr val="FFFFFF"/>
                </a:solidFill>
                <a:latin typeface="Arial Narrow"/>
                <a:ea typeface="Arial Narrow"/>
                <a:cs typeface="Arial Narrow"/>
              </a:rPr>
              <a:t>ILLUSTRATIVE 25-MILE CASE — STRUCTURE AND ROW REUSE ASSUMED; COST AND SCHEDULE FIGURES ARE MODELED, NOT QUOTED.</a:t>
            </a:r>
          </a:p>
        </p:txBody>
      </p:sp>
    </p:spTree>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2026-08-13T22:16:15.7530000Z</dcterms:created>
  <dcterms:modified xsi:type="dcterms:W3CDTF">2026-08-13T22:16:15.7530000Z</dcterms:modified>
</coreProperties>
</file>