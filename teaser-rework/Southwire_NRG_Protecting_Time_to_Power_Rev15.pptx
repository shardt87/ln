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31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  <Relationship Id="rId31" Type="http://schemas.openxmlformats.org/officeDocument/2006/relationships/slide" Target="slides/slide25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value levers, condensed from the fuller Owner's-Math treatment. The four cards map electrical delivery to the outcomes an owner prices: COD, installed cost, capital certainty, availability. The dollar arithmetic behind the adjacent-experience benchmark lives in Appendix A14, behind the A4 release gate — go there only if the room asks what the hours are worth.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image" Target="../media/image-1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image" Target="../media/image-2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image" Target="../media/image-3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image" Target="../media/image-4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image" Target="../media/image-5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image" Target="../media/image-6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image" Target="../media/image-7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image" Target="../media/image-9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image" Target="../media/image-10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image" Target="../media/image-11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image" Target="../media/image-12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-13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3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image" Target="../media/image-14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image" Target="../media/image-15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6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image" Target="../media/image-17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7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image" Target="../media/image-18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8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image" Target="../media/image-19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19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image" Target="../media/image-20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image" Target="../media/image-22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2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image" Target="../media/image-23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image" Target="../media/image-24-1.png" /><Relationship Id="rId3" Type="http://schemas.openxmlformats.org/officeDocument/2006/relationships/slideLayout" Target="../slideLayouts/slideLayout2.xml" /><Relationship Id="rId4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logo-lockup.png" /><Relationship Id="rId3" Type="http://schemas.openxmlformats.org/officeDocument/2006/relationships/slideLayout" Target="../slideLayouts/slideLayout2.xml" /></Relationships>
</file>

<file path=ppt/slides/slide1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2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NRG'S AMBITION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02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3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3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EXECUTION CHALLENGE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03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4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4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E3A06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STRATEGIC INSIGHT</a:t>
            </a:r>
            <a:pPr algn="r" indent="0" marL="0">
              <a:buNone/>
            </a:pPr>
            <a:r>
              <a:rPr lang="en-US" sz="930" b="1" dirty="0">
                <a:solidFill>
                  <a:srgbClr val="A6A8A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04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5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2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PLANT-WIDE COVERAGE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05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6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5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INTEGRATED ELECTRICAL DELIVERY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06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7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6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VALUE TO NRG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07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1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02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03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OWNER VALUE LEVERS</a:t>
            </a:r>
          </a:p>
        </p:txBody>
      </p:sp>
      <p:sp>
        <p:nvSpPr>
          <p:cNvPr id="104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sp>
        <p:nvSpPr>
          <p:cNvPr id="105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OWNER ECONOMICS</a:t>
            </a:r>
          </a:p>
        </p:txBody>
      </p:sp>
      <p:sp>
        <p:nvSpPr>
          <p:cNvPr id="106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Cable is a small cost category with outsized execution consequences.</a:t>
            </a:r>
          </a:p>
        </p:txBody>
      </p:sp>
      <p:sp>
        <p:nvSpPr>
          <p:cNvPr id="107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The owner case is not unit price alone; it is how electrical decisions influence COD readiness, installed effort, capital certainty and lifecycle continuity.</a:t>
            </a:r>
          </a:p>
        </p:txBody>
      </p:sp>
      <p:sp>
        <p:nvSpPr>
          <p:cNvPr id="108" name=""/>
          <p:cNvSpPr>
            <a:spLocks noGrp="1"/>
          </p:cNvSpPr>
          <p:nvPr/>
        </p:nvSpPr>
        <p:spPr>
          <a:xfrm>
            <a:off x="719138" y="26060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09" name=""/>
          <p:cNvSpPr>
            <a:spLocks noGrp="1"/>
          </p:cNvSpPr>
          <p:nvPr/>
        </p:nvSpPr>
        <p:spPr>
          <a:xfrm>
            <a:off x="947738" y="27889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0" name=""/>
          <p:cNvSpPr>
            <a:spLocks noGrp="1"/>
          </p:cNvSpPr>
          <p:nvPr/>
        </p:nvSpPr>
        <p:spPr>
          <a:xfrm>
            <a:off x="947738" y="28803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111" name=""/>
          <p:cNvSpPr>
            <a:spLocks noGrp="1"/>
          </p:cNvSpPr>
          <p:nvPr/>
        </p:nvSpPr>
        <p:spPr>
          <a:xfrm>
            <a:off x="1587818" y="28803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COD / REVENUE START</a:t>
            </a:r>
          </a:p>
        </p:txBody>
      </p:sp>
      <p:sp>
        <p:nvSpPr>
          <p:cNvPr id="112" name=""/>
          <p:cNvSpPr>
            <a:spLocks noGrp="1"/>
          </p:cNvSpPr>
          <p:nvPr/>
        </p:nvSpPr>
        <p:spPr>
          <a:xfrm>
            <a:off x="947738" y="32004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Capacity visibility, release timing and installation readiness can influence energization milestones.</a:t>
            </a:r>
          </a:p>
        </p:txBody>
      </p:sp>
      <p:sp>
        <p:nvSpPr>
          <p:cNvPr id="113" name=""/>
          <p:cNvSpPr>
            <a:spLocks noGrp="1"/>
          </p:cNvSpPr>
          <p:nvPr/>
        </p:nvSpPr>
        <p:spPr>
          <a:xfrm>
            <a:off x="6235130" y="26060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14" name=""/>
          <p:cNvSpPr>
            <a:spLocks noGrp="1"/>
          </p:cNvSpPr>
          <p:nvPr/>
        </p:nvSpPr>
        <p:spPr>
          <a:xfrm>
            <a:off x="6463730" y="27889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15" name=""/>
          <p:cNvSpPr>
            <a:spLocks noGrp="1"/>
          </p:cNvSpPr>
          <p:nvPr/>
        </p:nvSpPr>
        <p:spPr>
          <a:xfrm>
            <a:off x="6463730" y="28803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16" name=""/>
          <p:cNvSpPr>
            <a:spLocks noGrp="1"/>
          </p:cNvSpPr>
          <p:nvPr/>
        </p:nvSpPr>
        <p:spPr>
          <a:xfrm>
            <a:off x="7103810" y="28803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INSTALLED COST</a:t>
            </a:r>
          </a:p>
        </p:txBody>
      </p:sp>
      <p:sp>
        <p:nvSpPr>
          <p:cNvPr id="117" name=""/>
          <p:cNvSpPr>
            <a:spLocks noGrp="1"/>
          </p:cNvSpPr>
          <p:nvPr/>
        </p:nvSpPr>
        <p:spPr>
          <a:xfrm>
            <a:off x="6463730" y="32004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Routes, reels, cuts, pulls, congestion and rework often matter more than purchase price alone.</a:t>
            </a:r>
          </a:p>
        </p:txBody>
      </p:sp>
      <p:sp>
        <p:nvSpPr>
          <p:cNvPr id="118" name=""/>
          <p:cNvSpPr>
            <a:spLocks noGrp="1"/>
          </p:cNvSpPr>
          <p:nvPr/>
        </p:nvSpPr>
        <p:spPr>
          <a:xfrm>
            <a:off x="719138" y="44348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19" name=""/>
          <p:cNvSpPr>
            <a:spLocks noGrp="1"/>
          </p:cNvSpPr>
          <p:nvPr/>
        </p:nvSpPr>
        <p:spPr>
          <a:xfrm>
            <a:off x="947738" y="4617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20" name=""/>
          <p:cNvSpPr>
            <a:spLocks noGrp="1"/>
          </p:cNvSpPr>
          <p:nvPr/>
        </p:nvSpPr>
        <p:spPr>
          <a:xfrm>
            <a:off x="947738" y="47091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21" name=""/>
          <p:cNvSpPr>
            <a:spLocks noGrp="1"/>
          </p:cNvSpPr>
          <p:nvPr/>
        </p:nvSpPr>
        <p:spPr>
          <a:xfrm>
            <a:off x="1587818" y="47091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CAPITAL CERTAINTY</a:t>
            </a:r>
          </a:p>
        </p:txBody>
      </p:sp>
      <p:sp>
        <p:nvSpPr>
          <p:cNvPr id="122" name=""/>
          <p:cNvSpPr>
            <a:spLocks noGrp="1"/>
          </p:cNvSpPr>
          <p:nvPr/>
        </p:nvSpPr>
        <p:spPr>
          <a:xfrm>
            <a:off x="947738" y="50292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Earlier scope visibility supports commodity planning, material allocation and contingency discipline.</a:t>
            </a:r>
          </a:p>
        </p:txBody>
      </p:sp>
      <p:sp>
        <p:nvSpPr>
          <p:cNvPr id="123" name=""/>
          <p:cNvSpPr>
            <a:spLocks noGrp="1"/>
          </p:cNvSpPr>
          <p:nvPr/>
        </p:nvSpPr>
        <p:spPr>
          <a:xfrm>
            <a:off x="6235130" y="4434840"/>
            <a:ext cx="5237862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24" name=""/>
          <p:cNvSpPr>
            <a:spLocks noGrp="1"/>
          </p:cNvSpPr>
          <p:nvPr/>
        </p:nvSpPr>
        <p:spPr>
          <a:xfrm>
            <a:off x="6463730" y="4617720"/>
            <a:ext cx="594360" cy="27432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25" name=""/>
          <p:cNvSpPr>
            <a:spLocks noGrp="1"/>
          </p:cNvSpPr>
          <p:nvPr/>
        </p:nvSpPr>
        <p:spPr>
          <a:xfrm>
            <a:off x="6463730" y="4709160"/>
            <a:ext cx="5943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126" name=""/>
          <p:cNvSpPr>
            <a:spLocks noGrp="1"/>
          </p:cNvSpPr>
          <p:nvPr/>
        </p:nvSpPr>
        <p:spPr>
          <a:xfrm>
            <a:off x="7103810" y="4709160"/>
            <a:ext cx="414058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AVAILABILITY / LIFECYCLE</a:t>
            </a:r>
          </a:p>
        </p:txBody>
      </p:sp>
      <p:sp>
        <p:nvSpPr>
          <p:cNvPr id="127" name=""/>
          <p:cNvSpPr>
            <a:spLocks noGrp="1"/>
          </p:cNvSpPr>
          <p:nvPr/>
        </p:nvSpPr>
        <p:spPr>
          <a:xfrm>
            <a:off x="6463730" y="5029200"/>
            <a:ext cx="4780662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10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Turnover records, spares, condition screens and replacement planning support long-term continuity.</a:t>
            </a:r>
          </a:p>
        </p:txBody>
      </p:sp>
      <p:sp>
        <p:nvSpPr>
          <p:cNvPr id="12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29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VALIDATE THE VALUE ON ONE LIVE NRG SCOPE </a:t>
            </a: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— DO NOT ASSUME SAVINGS.</a:t>
            </a:r>
          </a:p>
        </p:txBody>
      </p:sp>
    </p:spTree>
  </p:cSld>
</p:sld>
</file>

<file path=ppt/slides/slide9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9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7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E3A06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ADJACENT EXPERIENCE</a:t>
            </a:r>
            <a:pPr algn="r" indent="0" marL="0">
              <a:buNone/>
            </a:pPr>
            <a:r>
              <a:rPr lang="en-US" sz="930" b="1" dirty="0">
                <a:solidFill>
                  <a:srgbClr val="A6A8A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09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0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8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VALIDATION PATH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10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1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9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E3A06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ASK</a:t>
            </a:r>
            <a:pPr algn="r" indent="0" marL="0">
              <a:buNone/>
            </a:pPr>
            <a:r>
              <a:rPr lang="en-US" sz="930" b="1" dirty="0">
                <a:solidFill>
                  <a:srgbClr val="A6A8A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11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0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A1 · NRG CONTEXT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12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3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1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A2 · GOVERNANCE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13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4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3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A3 · SOUTHWIRE SUPPORT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14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5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5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4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A4 · EVIDENCE DISCIPLINE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15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0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31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32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A5 · SITE-MODEL BASIS</a:t>
            </a:r>
          </a:p>
        </p:txBody>
      </p:sp>
      <p:sp>
        <p:nvSpPr>
          <p:cNvPr id="133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16</a:t>
            </a:r>
          </a:p>
        </p:txBody>
      </p:sp>
      <p:sp>
        <p:nvSpPr>
          <p:cNvPr id="134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The plant-zone map is grounded in a routed 3×1 reference model.</a:t>
            </a:r>
          </a:p>
        </p:txBody>
      </p:sp>
      <p:sp>
        <p:nvSpPr>
          <p:cNvPr id="135" name=""/>
          <p:cNvSpPr>
            <a:spLocks noGrp="1"/>
          </p:cNvSpPr>
          <p:nvPr/>
        </p:nvSpPr>
        <p:spPr>
          <a:xfrm>
            <a:off x="719138" y="228600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Every figure below comes from the routed Rev 89 geometry — built before any RFQ existed.</a:t>
            </a:r>
          </a:p>
        </p:txBody>
      </p:sp>
      <p:sp>
        <p:nvSpPr>
          <p:cNvPr id="136" name=""/>
          <p:cNvSpPr>
            <a:spLocks noGrp="1"/>
          </p:cNvSpPr>
          <p:nvPr/>
        </p:nvSpPr>
        <p:spPr>
          <a:xfrm>
            <a:off x="719138" y="260604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96 SCHEDULE RECORDS</a:t>
            </a:r>
          </a:p>
        </p:txBody>
      </p:sp>
      <p:sp>
        <p:nvSpPr>
          <p:cNvPr id="137" name=""/>
          <p:cNvSpPr>
            <a:spLocks noGrp="1"/>
          </p:cNvSpPr>
          <p:nvPr/>
        </p:nvSpPr>
        <p:spPr>
          <a:xfrm>
            <a:off x="4645660" y="262890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NGCC master cable schedule Rev M21 — geometry-governed quantities, not factored estimates.</a:t>
            </a:r>
          </a:p>
        </p:txBody>
      </p:sp>
      <p:sp>
        <p:nvSpPr>
          <p:cNvPr id="138" name=""/>
          <p:cNvSpPr>
            <a:spLocks noGrp="1"/>
          </p:cNvSpPr>
          <p:nvPr/>
        </p:nvSpPr>
        <p:spPr>
          <a:xfrm>
            <a:off x="719138" y="320040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39" name=""/>
          <p:cNvSpPr>
            <a:spLocks noGrp="1"/>
          </p:cNvSpPr>
          <p:nvPr/>
        </p:nvSpPr>
        <p:spPr>
          <a:xfrm>
            <a:off x="719138" y="333756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1,784 CIRCUITS ROUTED</a:t>
            </a:r>
          </a:p>
        </p:txBody>
      </p:sp>
      <p:sp>
        <p:nvSpPr>
          <p:cNvPr id="140" name=""/>
          <p:cNvSpPr>
            <a:spLocks noGrp="1"/>
          </p:cNvSpPr>
          <p:nvPr/>
        </p:nvSpPr>
        <p:spPr>
          <a:xfrm>
            <a:off x="4645660" y="336042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2,478 physical runs routed through the Rev 89 site geometry, across every plant zone in slide 5.</a:t>
            </a:r>
          </a:p>
        </p:txBody>
      </p:sp>
      <p:sp>
        <p:nvSpPr>
          <p:cNvPr id="141" name=""/>
          <p:cNvSpPr>
            <a:spLocks noGrp="1"/>
          </p:cNvSpPr>
          <p:nvPr/>
        </p:nvSpPr>
        <p:spPr>
          <a:xfrm>
            <a:off x="719138" y="393192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42" name=""/>
          <p:cNvSpPr>
            <a:spLocks noGrp="1"/>
          </p:cNvSpPr>
          <p:nvPr/>
        </p:nvSpPr>
        <p:spPr>
          <a:xfrm>
            <a:off x="719138" y="406908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1,136,255 PROCUREMENT FT</a:t>
            </a:r>
          </a:p>
        </p:txBody>
      </p:sp>
      <p:sp>
        <p:nvSpPr>
          <p:cNvPr id="143" name=""/>
          <p:cNvSpPr>
            <a:spLocks noGrp="1"/>
          </p:cNvSpPr>
          <p:nvPr/>
        </p:nvSpPr>
        <p:spPr>
          <a:xfrm>
            <a:off x="4645660" y="409194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Approximately 1.14M ft of cable derived from routed lengths plus engineering allowances.</a:t>
            </a:r>
          </a:p>
        </p:txBody>
      </p:sp>
      <p:sp>
        <p:nvSpPr>
          <p:cNvPr id="144" name=""/>
          <p:cNvSpPr>
            <a:spLocks noGrp="1"/>
          </p:cNvSpPr>
          <p:nvPr/>
        </p:nvSpPr>
        <p:spPr>
          <a:xfrm>
            <a:off x="719138" y="4663440"/>
            <a:ext cx="10753724" cy="9525"/>
          </a:xfrm>
          <a:prstGeom prst="rect">
            <a:avLst/>
          </a:prstGeom>
          <a:solidFill>
            <a:srgbClr val="D8D1C8"/>
          </a:solidFill>
          <a:ln w="0">
            <a:noFill/>
            <a:prstDash val="solid"/>
          </a:ln>
        </p:spPr>
      </p:sp>
      <p:sp>
        <p:nvSpPr>
          <p:cNvPr id="145" name=""/>
          <p:cNvSpPr>
            <a:spLocks noGrp="1"/>
          </p:cNvSpPr>
          <p:nvPr/>
        </p:nvSpPr>
        <p:spPr>
          <a:xfrm>
            <a:off x="719138" y="4800600"/>
            <a:ext cx="370332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3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563,091 LB COPPER</a:t>
            </a:r>
          </a:p>
        </p:txBody>
      </p:sp>
      <p:sp>
        <p:nvSpPr>
          <p:cNvPr id="146" name=""/>
          <p:cNvSpPr>
            <a:spLocks noGrp="1"/>
          </p:cNvSpPr>
          <p:nvPr/>
        </p:nvSpPr>
        <p:spPr>
          <a:xfrm>
            <a:off x="4645660" y="4823460"/>
            <a:ext cx="6827202" cy="48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About 0.50 lb of copper per foot on average — commodity exposure quantified before procurement.</a:t>
            </a:r>
          </a:p>
        </p:txBody>
      </p:sp>
      <p:sp>
        <p:nvSpPr>
          <p:cNvPr id="147" name=""/>
          <p:cNvSpPr>
            <a:spLocks noGrp="1"/>
          </p:cNvSpPr>
          <p:nvPr/>
        </p:nvSpPr>
        <p:spPr>
          <a:xfrm>
            <a:off x="719138" y="5623560"/>
            <a:ext cx="10753724" cy="25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"/>
                <a:ea typeface="Arial"/>
                <a:cs typeface="Arial"/>
              </a:rPr>
              <a:t>Published Southwire record: 15M+ ft of HV underground cable with zero in-service failures.</a:t>
            </a:r>
          </a:p>
        </p:txBody>
      </p:sp>
      <p:sp>
        <p:nvSpPr>
          <p:cNvPr id="148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49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THE MODEL BEHIND SLIDE 5 — CONCEPT, NOT FOR CONSTRUCTION; STOCK NUMBERS REQUIRE CONDUCTOR SIZING.</a:t>
            </a:r>
          </a:p>
        </p:txBody>
      </p:sp>
    </p:spTree>
  </p:cSld>
</p:sld>
</file>

<file path=ppt/slides/slide17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7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0_p17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A6 · SK-120 REFERENCE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17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8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8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5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E3A06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A7 · SKID SCENARIO</a:t>
            </a:r>
            <a:pPr algn="r" indent="0" marL="0">
              <a:buNone/>
            </a:pPr>
            <a:r>
              <a:rPr lang="en-US" sz="930" b="1" dirty="0">
                <a:solidFill>
                  <a:srgbClr val="A6A8A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18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19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6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17191C"/>
          </a:solidFill>
          <a:ln w="12700">
            <a:solidFill>
              <a:srgbClr val="17191C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E3A06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A8 · ADVANCED CONDUCTOR</a:t>
            </a:r>
            <a:pPr algn="r" indent="0" marL="0">
              <a:buNone/>
            </a:pPr>
            <a:r>
              <a:rPr lang="en-US" sz="930" b="1" dirty="0">
                <a:solidFill>
                  <a:srgbClr val="A6A8A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19</a:t>
            </a:r>
            <a:endParaRPr lang="en-US" sz="930" dirty="0"/>
          </a:p>
        </ns0:txBody>
      </ns0:sp>
      <ns0:sp>
        <ns0:nvSpPr>
          <ns0:cNvPr id="900" name=""/>
          <ns0:cNvSpPr>
            <a:spLocks noGrp="1"/>
          </ns0:cNvSpPr>
          <ns0:nvPr/>
        </ns0:nvSpPr>
        <ns0:spPr>
          <a:xfrm>
            <a:off x="719138" y="5852160"/>
            <a:ext cx="10753724" cy="26000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9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WHY AN IPP CARES: GENERATOR-FUNDED NETWORK UPGRADES · THE GEN-TIE THE GENERATOR OWNS · UPRATE THERMAL LIMITS · IN-SERVICE CORRIDOR HEADROOM VS. A NEW QUEUE POSITION.</a:t>
            </a:r>
          </a:p>
        </ns0:txBody>
      </ns0:sp>
    </ns0:spTree>
  </ns0:cSld>
  <ns0:clrMapOvr>
    <a:masterClrMapping/>
  </ns0:clrMapOvr>
</ns0:sld>
</file>

<file path=ppt/slides/slide20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20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3_p17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A9 · DEPLOYMENT MODES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20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0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51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52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A10 · PROJECT OF INTEREST</a:t>
            </a:r>
          </a:p>
        </p:txBody>
      </p:sp>
      <p:sp>
        <p:nvSpPr>
          <p:cNvPr id="153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21</a:t>
            </a:r>
          </a:p>
        </p:txBody>
      </p:sp>
      <p:sp>
        <p:nvSpPr>
          <p:cNvPr id="154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CEDAR BAYOU UNIT 5 · BAYTOWN, TEXAS (CHAMBERS COUNTY)</a:t>
            </a:r>
          </a:p>
        </p:txBody>
      </p:sp>
      <p:sp>
        <p:nvSpPr>
          <p:cNvPr id="155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Cedar Bayou Unit 5 is one potential live-scope candidate.</a:t>
            </a:r>
          </a:p>
        </p:txBody>
      </p:sp>
      <p:sp>
        <p:nvSpPr>
          <p:cNvPr id="156" name=""/>
          <p:cNvSpPr>
            <a:spLocks noGrp="1"/>
          </p:cNvSpPr>
          <p:nvPr/>
        </p:nvSpPr>
        <p:spPr>
          <a:xfrm>
            <a:off x="719138" y="1950720"/>
            <a:ext cx="10753724" cy="5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A 721 MW combined-cycle brownfield expansion at NRG's existing Cedar Bayou station — the anchor TEF unit in the NRG / GE Vernova / Kiewit framework, in active construction toward a mid-2028 COD.</a:t>
            </a:r>
          </a:p>
        </p:txBody>
      </p:sp>
      <p:sp>
        <p:nvSpPr>
          <p:cNvPr id="157" name=""/>
          <p:cNvSpPr>
            <a:spLocks noGrp="1"/>
          </p:cNvSpPr>
          <p:nvPr/>
        </p:nvSpPr>
        <p:spPr>
          <a:xfrm>
            <a:off x="719138" y="26060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PROJECT FACTS — VALIDATED AUG 2026</a:t>
            </a:r>
          </a:p>
        </p:txBody>
      </p:sp>
      <p:sp>
        <p:nvSpPr>
          <p:cNvPr id="158" name=""/>
          <p:cNvSpPr>
            <a:spLocks noGrp="1"/>
          </p:cNvSpPr>
          <p:nvPr/>
        </p:nvSpPr>
        <p:spPr>
          <a:xfrm>
            <a:off x="719138" y="29258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721 MW CCGT · BROWNFIELD</a:t>
            </a:r>
          </a:p>
        </p:txBody>
      </p:sp>
      <p:sp>
        <p:nvSpPr>
          <p:cNvPr id="159" name=""/>
          <p:cNvSpPr>
            <a:spLocks noGrp="1"/>
          </p:cNvSpPr>
          <p:nvPr/>
        </p:nvSpPr>
        <p:spPr>
          <a:xfrm>
            <a:off x="719138" y="31544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GE Vernova H-class train at the existing station; ERCOT Houston Load Zone; existing 345 kV switchyard, cooling water and site infrastructure.</a:t>
            </a:r>
          </a:p>
        </p:txBody>
      </p:sp>
      <p:sp>
        <p:nvSpPr>
          <p:cNvPr id="160" name=""/>
          <p:cNvSpPr>
            <a:spLocks noGrp="1"/>
          </p:cNvSpPr>
          <p:nvPr/>
        </p:nvSpPr>
        <p:spPr>
          <a:xfrm>
            <a:off x="719138" y="37259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$562M TEF LOAN · 3% · 20-YEAR</a:t>
            </a:r>
          </a:p>
        </p:txBody>
      </p:sp>
      <p:sp>
        <p:nvSpPr>
          <p:cNvPr id="161" name=""/>
          <p:cNvSpPr>
            <a:spLocks noGrp="1"/>
          </p:cNvSpPr>
          <p:nvPr/>
        </p:nvSpPr>
        <p:spPr>
          <a:xfrm>
            <a:off x="719138" y="39545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Signed September 2025 — 60% of the $936M project cost; part of $1.15B TEF financing plus $66M tax abatements across the three-unit program.</a:t>
            </a:r>
          </a:p>
        </p:txBody>
      </p:sp>
      <p:sp>
        <p:nvSpPr>
          <p:cNvPr id="162" name=""/>
          <p:cNvSpPr>
            <a:spLocks noGrp="1"/>
          </p:cNvSpPr>
          <p:nvPr/>
        </p:nvSpPr>
        <p:spPr>
          <a:xfrm>
            <a:off x="719138" y="45260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COD TARGET MID-2028</a:t>
            </a:r>
          </a:p>
        </p:txBody>
      </p:sp>
      <p:sp>
        <p:nvSpPr>
          <p:cNvPr id="163" name=""/>
          <p:cNvSpPr>
            <a:spLocks noGrp="1"/>
          </p:cNvSpPr>
          <p:nvPr/>
        </p:nvSpPr>
        <p:spPr>
          <a:xfrm>
            <a:off x="719138" y="47546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First TEF unit to advance construction; T.H. Wharton (415 MW) completes mid-2026, Greens Bayou 6 follows in 2028.</a:t>
            </a:r>
          </a:p>
        </p:txBody>
      </p:sp>
      <p:sp>
        <p:nvSpPr>
          <p:cNvPr id="164" name=""/>
          <p:cNvSpPr>
            <a:spLocks noGrp="1"/>
          </p:cNvSpPr>
          <p:nvPr/>
        </p:nvSpPr>
        <p:spPr>
          <a:xfrm>
            <a:off x="719138" y="5326140"/>
            <a:ext cx="49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EPC: TIC / KIEWIT · OEM: GE VERNOVA</a:t>
            </a:r>
          </a:p>
        </p:txBody>
      </p:sp>
      <p:sp>
        <p:nvSpPr>
          <p:cNvPr id="165" name=""/>
          <p:cNvSpPr>
            <a:spLocks noGrp="1"/>
          </p:cNvSpPr>
          <p:nvPr/>
        </p:nvSpPr>
        <p:spPr>
          <a:xfrm>
            <a:off x="719138" y="5554740"/>
            <a:ext cx="4900000" cy="56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Delivered under the 5.4 GW development framework — 1.2 GW in service by 2029, 1.2 GW by 2030, 3 GW more through 2032.</a:t>
            </a:r>
          </a:p>
        </p:txBody>
      </p:sp>
      <p:sp>
        <p:nvSpPr>
          <p:cNvPr id="166" name=""/>
          <p:cNvSpPr>
            <a:spLocks noGrp="1"/>
          </p:cNvSpPr>
          <p:nvPr/>
        </p:nvSpPr>
        <p:spPr>
          <a:xfrm>
            <a:off x="6120130" y="2606040"/>
            <a:ext cx="535273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SCOPE THAT WOULD BE IN PLAY</a:t>
            </a:r>
          </a:p>
        </p:txBody>
      </p:sp>
      <p:sp>
        <p:nvSpPr>
          <p:cNvPr id="167" name=""/>
          <p:cNvSpPr>
            <a:spLocks noGrp="1"/>
          </p:cNvSpPr>
          <p:nvPr/>
        </p:nvSpPr>
        <p:spPr>
          <a:xfrm>
            <a:off x="6120130" y="29848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68" name=""/>
          <p:cNvSpPr>
            <a:spLocks noGrp="1"/>
          </p:cNvSpPr>
          <p:nvPr/>
        </p:nvSpPr>
        <p:spPr>
          <a:xfrm>
            <a:off x="6348730" y="29258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HV generator leads and brownfield 345 kV switchyard tie-in for the H-class train</a:t>
            </a:r>
          </a:p>
        </p:txBody>
      </p:sp>
      <p:sp>
        <p:nvSpPr>
          <p:cNvPr id="169" name=""/>
          <p:cNvSpPr>
            <a:spLocks noGrp="1"/>
          </p:cNvSpPr>
          <p:nvPr/>
        </p:nvSpPr>
        <p:spPr>
          <a:xfrm>
            <a:off x="6120130" y="34420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0" name=""/>
          <p:cNvSpPr>
            <a:spLocks noGrp="1"/>
          </p:cNvSpPr>
          <p:nvPr/>
        </p:nvSpPr>
        <p:spPr>
          <a:xfrm>
            <a:off x="6348730" y="33830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MV plant auxiliary distribution, 5–35 kV, across the new unit and interfaces</a:t>
            </a:r>
          </a:p>
        </p:txBody>
      </p:sp>
      <p:sp>
        <p:nvSpPr>
          <p:cNvPr id="171" name=""/>
          <p:cNvSpPr>
            <a:spLocks noGrp="1"/>
          </p:cNvSpPr>
          <p:nvPr/>
        </p:nvSpPr>
        <p:spPr>
          <a:xfrm>
            <a:off x="6120130" y="38992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2" name=""/>
          <p:cNvSpPr>
            <a:spLocks noGrp="1"/>
          </p:cNvSpPr>
          <p:nvPr/>
        </p:nvSpPr>
        <p:spPr>
          <a:xfrm>
            <a:off x="6348730" y="38402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LV 600 V power and control — turbine hall, HRSG and balance of plant</a:t>
            </a:r>
          </a:p>
        </p:txBody>
      </p:sp>
      <p:sp>
        <p:nvSpPr>
          <p:cNvPr id="173" name=""/>
          <p:cNvSpPr>
            <a:spLocks noGrp="1"/>
          </p:cNvSpPr>
          <p:nvPr/>
        </p:nvSpPr>
        <p:spPr>
          <a:xfrm>
            <a:off x="6120130" y="43564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4" name=""/>
          <p:cNvSpPr>
            <a:spLocks noGrp="1"/>
          </p:cNvSpPr>
          <p:nvPr/>
        </p:nvSpPr>
        <p:spPr>
          <a:xfrm>
            <a:off x="6348730" y="42974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I&amp;C, DCS and fiber — integration with the existing station and ERCOT SCADA</a:t>
            </a:r>
          </a:p>
        </p:txBody>
      </p:sp>
      <p:sp>
        <p:nvSpPr>
          <p:cNvPr id="175" name=""/>
          <p:cNvSpPr>
            <a:spLocks noGrp="1"/>
          </p:cNvSpPr>
          <p:nvPr/>
        </p:nvSpPr>
        <p:spPr>
          <a:xfrm>
            <a:off x="6120130" y="48136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6" name=""/>
          <p:cNvSpPr>
            <a:spLocks noGrp="1"/>
          </p:cNvSpPr>
          <p:nvPr/>
        </p:nvSpPr>
        <p:spPr>
          <a:xfrm>
            <a:off x="6348730" y="47546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Grounding-grid extension into the heritage plant grid</a:t>
            </a:r>
          </a:p>
        </p:txBody>
      </p:sp>
      <p:sp>
        <p:nvSpPr>
          <p:cNvPr id="177" name=""/>
          <p:cNvSpPr>
            <a:spLocks noGrp="1"/>
          </p:cNvSpPr>
          <p:nvPr/>
        </p:nvSpPr>
        <p:spPr>
          <a:xfrm>
            <a:off x="6120130" y="52708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78" name=""/>
          <p:cNvSpPr>
            <a:spLocks noGrp="1"/>
          </p:cNvSpPr>
          <p:nvPr/>
        </p:nvSpPr>
        <p:spPr>
          <a:xfrm>
            <a:off x="6348730" y="52118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Sequenced reels, cut lengths and kits against 2026–2028 procurement windows</a:t>
            </a:r>
          </a:p>
        </p:txBody>
      </p:sp>
      <p:sp>
        <p:nvSpPr>
          <p:cNvPr id="179" name=""/>
          <p:cNvSpPr>
            <a:spLocks noGrp="1"/>
          </p:cNvSpPr>
          <p:nvPr/>
        </p:nvSpPr>
        <p:spPr>
          <a:xfrm>
            <a:off x="6120130" y="5728040"/>
            <a:ext cx="91440" cy="914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180" name=""/>
          <p:cNvSpPr>
            <a:spLocks noGrp="1"/>
          </p:cNvSpPr>
          <p:nvPr/>
        </p:nvSpPr>
        <p:spPr>
          <a:xfrm>
            <a:off x="6348730" y="5669040"/>
            <a:ext cx="5124132" cy="4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Post-COD continuity — records, spares and MRO carried into the operating fleet</a:t>
            </a:r>
          </a:p>
        </p:txBody>
      </p:sp>
      <p:sp>
        <p:nvSpPr>
          <p:cNvPr id="181" name=""/>
          <p:cNvSpPr>
            <a:spLocks noGrp="1"/>
          </p:cNvSpPr>
          <p:nvPr/>
        </p:nvSpPr>
        <p:spPr>
          <a:xfrm>
            <a:off x="719138" y="6032500"/>
            <a:ext cx="10753724" cy="2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825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Validated against public sources, Aug 2026: PUCT / Texas Energy Fund announcements, Utility Dive, NRG investor materials. Capacity reported 689–721 MW across sources; 721 MW per the PUCT loan announcement.</a:t>
            </a:r>
          </a:p>
        </p:txBody>
      </p:sp>
      <p:sp>
        <p:nvSpPr>
          <p:cNvPr id="182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183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ILLUSTRATIVE CANDIDATE ONLY </a:t>
            </a: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— NRG SELECTS THE STARTING SCOPE.</a:t>
            </a:r>
          </a:p>
        </p:txBody>
      </p:sp>
    </p:spTree>
  </p:cSld>
</p:sld>
</file>

<file path=ppt/slides/slide22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2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0_p19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A11 · FINANCE + ESG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22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23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23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0_p20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A12 · CABLE PLATFORM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23</a:t>
            </a:r>
            <a:endParaRPr lang="en-US" sz="930" dirty="0"/>
          </a:p>
        </ns0:txBody>
      </ns0:sp>
      <ns0:sp>
        <ns0:nvSpPr>
          <ns0:cNvPr id="5" name="Shape 2"/>
          <ns0:cNvSpPr/>
          <ns0:nvPr/>
        </ns0:nvSpPr>
        <ns0:spPr>
          <a:xfrm>
            <a:off x="384048" y="1810512"/>
            <a:ext cx="11338560" cy="384048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6" name="Text 3"/>
          <ns0:cNvSpPr/>
          <ns0:nvPr/>
        </ns0:nvSpPr>
        <ns0:spPr>
          <a:xfrm>
            <a:off x="548640" y="1901952"/>
            <a:ext cx="10972800" cy="219456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Every run in the plant-zone map resolves to a named product family - one supplier, one spec basis, domestic manufacture.</a:t>
            </a:r>
            <a:endParaRPr lang="en-US" sz="1280" dirty="0"/>
          </a:p>
        </ns0:txBody>
      </ns0:sp>
    </ns0:spTree>
  </ns0:cSld>
  <ns0:clrMapOvr>
    <a:masterClrMapping/>
  </ns0:clrMapOvr>
</ns0:sld>
</file>

<file path=ppt/slides/slide24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24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pic>
        <ns0:nvPicPr>
          <ns0:cNvPr id="2" name="Image 0" descr="/mnt/data/_nrg_combine/svg/r10_p21.svg">    </ns0:cNvPr>
          <ns0:cNvPicPr>
            <a:picLocks noChangeAspect="1"/>
          </ns0:cNvPicPr>
          <ns0:nvPr/>
        </ns0:nvPicPr>
        <ns0:blipFill>
          <a:blip r:embed="rId1"> </a:blip>
          <a:stretch>
            <a:fillRect/>
          </a:stretch>
        </ns0:blipFill>
        <ns0:spPr>
          <a:xfrm>
            <a:off x="0" y="0"/>
            <a:ext cx="12191695" cy="6858000"/>
          </a:xfrm>
          <a:prstGeom prst="rect">
            <a:avLst/>
          </a:prstGeom>
        </ns0:spPr>
      </ns0:pic>
      <ns0:sp>
        <ns0:nvSpPr>
          <ns0:cNvPr id="3" name="Shape 0"/>
          <ns0:cNvSpPr/>
          <ns0:nvPr/>
        </ns0:nvSpPr>
        <ns0:spPr>
          <a:xfrm>
            <a:off x="8275320" y="128016"/>
            <a:ext cx="3685032" cy="438912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ns0:spPr>
      </ns0:sp>
      <ns0:sp>
        <ns0:nvSpPr>
          <ns0:cNvPr id="4" name="Text 1"/>
          <ns0:cNvSpPr/>
          <ns0:nvPr/>
        </ns0:nvSpPr>
        <ns0:spPr>
          <a:xfrm>
            <a:off x="8183880" y="237744"/>
            <a:ext cx="3520440" cy="201168"/>
          </a:xfrm>
          <a:prstGeom prst="rect">
            <a:avLst/>
          </a:prstGeom>
          <a:noFill/>
          <a:ln/>
        </ns0:spPr>
        <ns0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9D4E2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APPENDIX A13 · OPERATING FLEET</a:t>
            </a:r>
            <a:pPr algn="r" indent="0" marL="0">
              <a:buNone/>
            </a:pPr>
            <a:r>
              <a:rPr lang="en-US" sz="930" b="1" dirty="0">
                <a:solidFill>
                  <a:srgbClr val="6A6F7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24</a:t>
            </a:r>
            <a:endParaRPr lang="en-US" sz="930" dirty="0"/>
          </a:p>
        </ns0:txBody>
      </ns0:sp>
    </ns0:spTree>
  </ns0:cSld>
  <ns0:clrMapOvr>
    <a:masterClrMapping/>
  </ns0:clrMapOvr>
</ns0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4" name="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pic>
        <p:nvPicPr>
          <p:cNvPr id="185" name="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719138" y="200025"/>
            <a:ext cx="2066925" cy="590550"/>
          </a:xfrm>
          <a:prstGeom prst="rect">
            <a:avLst/>
          </a:prstGeom>
        </p:spPr>
      </p:pic>
      <p:sp>
        <p:nvSpPr>
          <p:cNvPr id="186" name=""/>
          <p:cNvSpPr>
            <a:spLocks noGrp="1"/>
          </p:cNvSpPr>
          <p:nvPr/>
        </p:nvSpPr>
        <p:spPr>
          <a:xfrm>
            <a:off x="7325360" y="323850"/>
            <a:ext cx="3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APPENDIX A14 · BENCHMARK MATH</a:t>
            </a:r>
          </a:p>
        </p:txBody>
      </p:sp>
      <p:sp>
        <p:nvSpPr>
          <p:cNvPr id="187" name=""/>
          <p:cNvSpPr>
            <a:spLocks noGrp="1"/>
          </p:cNvSpPr>
          <p:nvPr/>
        </p:nvSpPr>
        <p:spPr>
          <a:xfrm>
            <a:off x="11060000" y="323850"/>
            <a:ext cx="6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lnSpc>
                <a:spcPct val="100000"/>
              </a:lnSpc>
              <a:buNone/>
            </a:pPr>
            <a:r>
              <a:rPr sz="975" b="1" i="0">
                <a:solidFill>
                  <a:srgbClr val="8B9094"/>
                </a:solidFill>
                <a:latin typeface="Arial Narrow"/>
                <a:ea typeface="Arial Narrow"/>
                <a:cs typeface="Arial Narrow"/>
              </a:rPr>
              <a:t>25</a:t>
            </a:r>
          </a:p>
        </p:txBody>
      </p:sp>
      <p:sp>
        <p:nvSpPr>
          <p:cNvPr id="188" name=""/>
          <p:cNvSpPr>
            <a:spLocks noGrp="1"/>
          </p:cNvSpPr>
          <p:nvPr/>
        </p:nvSpPr>
        <p:spPr>
          <a:xfrm>
            <a:off x="719138" y="1005840"/>
            <a:ext cx="8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C9783E"/>
                </a:solidFill>
                <a:latin typeface="Arial Narrow"/>
                <a:ea typeface="Arial Narrow"/>
                <a:cs typeface="Arial Narrow"/>
              </a:rPr>
              <a:t>GROSS FIELD-LABOR MATH — PER CENTRAL SPINE</a:t>
            </a:r>
          </a:p>
        </p:txBody>
      </p:sp>
      <p:sp>
        <p:nvSpPr>
          <p:cNvPr id="189" name=""/>
          <p:cNvSpPr>
            <a:spLocks noGrp="1"/>
          </p:cNvSpPr>
          <p:nvPr/>
        </p:nvSpPr>
        <p:spPr>
          <a:xfrm>
            <a:off x="719138" y="1280160"/>
            <a:ext cx="10753724" cy="8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4000"/>
              </a:lnSpc>
              <a:buNone/>
            </a:pPr>
            <a:r>
              <a:rPr sz="285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What the 4,400 → 880 hours are worth, before net.</a:t>
            </a:r>
          </a:p>
        </p:txBody>
      </p:sp>
      <p:sp>
        <p:nvSpPr>
          <p:cNvPr id="190" name=""/>
          <p:cNvSpPr>
            <a:spLocks noGrp="1"/>
          </p:cNvSpPr>
          <p:nvPr/>
        </p:nvSpPr>
        <p:spPr>
          <a:xfrm>
            <a:off x="719138" y="201168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</a:pPr>
            <a:r>
              <a:rPr sz="1050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The arithmetic behind slide 9, at a $95/hr fully burdened field-labor rate. This is the template A4 requires to be rebuilt with NRG inputs — not a result.</a:t>
            </a:r>
          </a:p>
        </p:txBody>
      </p:sp>
      <p:sp>
        <p:nvSpPr>
          <p:cNvPr id="191" name=""/>
          <p:cNvSpPr>
            <a:spLocks noGrp="1"/>
          </p:cNvSpPr>
          <p:nvPr/>
        </p:nvSpPr>
        <p:spPr>
          <a:xfrm>
            <a:off x="719138" y="2560320"/>
            <a:ext cx="33789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92" name=""/>
          <p:cNvSpPr>
            <a:spLocks noGrp="1"/>
          </p:cNvSpPr>
          <p:nvPr/>
        </p:nvSpPr>
        <p:spPr>
          <a:xfrm>
            <a:off x="947738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TODAY · FIELD-BUILT</a:t>
            </a:r>
          </a:p>
        </p:txBody>
      </p:sp>
      <p:sp>
        <p:nvSpPr>
          <p:cNvPr id="193" name=""/>
          <p:cNvSpPr>
            <a:spLocks noGrp="1"/>
          </p:cNvSpPr>
          <p:nvPr/>
        </p:nvSpPr>
        <p:spPr>
          <a:xfrm>
            <a:off x="947738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$418,000</a:t>
            </a:r>
          </a:p>
        </p:txBody>
      </p:sp>
      <p:sp>
        <p:nvSpPr>
          <p:cNvPr id="194" name=""/>
          <p:cNvSpPr>
            <a:spLocks noGrp="1"/>
          </p:cNvSpPr>
          <p:nvPr/>
        </p:nvSpPr>
        <p:spPr>
          <a:xfrm>
            <a:off x="947738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field labor per spine</a:t>
            </a:r>
          </a:p>
        </p:txBody>
      </p:sp>
      <p:sp>
        <p:nvSpPr>
          <p:cNvPr id="195" name=""/>
          <p:cNvSpPr>
            <a:spLocks noGrp="1"/>
          </p:cNvSpPr>
          <p:nvPr/>
        </p:nvSpPr>
        <p:spPr>
          <a:xfrm>
            <a:off x="947738" y="416052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4,400 man-hours × $95/hr</a:t>
            </a:r>
          </a:p>
        </p:txBody>
      </p:sp>
      <p:sp>
        <p:nvSpPr>
          <p:cNvPr id="196" name=""/>
          <p:cNvSpPr>
            <a:spLocks noGrp="1"/>
          </p:cNvSpPr>
          <p:nvPr/>
        </p:nvSpPr>
        <p:spPr>
          <a:xfrm>
            <a:off x="947738" y="443484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27 installers × 2 shifts × 2 weeks</a:t>
            </a:r>
          </a:p>
        </p:txBody>
      </p:sp>
      <p:sp>
        <p:nvSpPr>
          <p:cNvPr id="197" name=""/>
          <p:cNvSpPr>
            <a:spLocks noGrp="1"/>
          </p:cNvSpPr>
          <p:nvPr/>
        </p:nvSpPr>
        <p:spPr>
          <a:xfrm>
            <a:off x="947738" y="470916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High variability, rework risk</a:t>
            </a:r>
          </a:p>
        </p:txBody>
      </p:sp>
      <p:sp>
        <p:nvSpPr>
          <p:cNvPr id="198" name=""/>
          <p:cNvSpPr>
            <a:spLocks noGrp="1"/>
          </p:cNvSpPr>
          <p:nvPr/>
        </p:nvSpPr>
        <p:spPr>
          <a:xfrm>
            <a:off x="4406546" y="2560320"/>
            <a:ext cx="33789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99" name=""/>
          <p:cNvSpPr>
            <a:spLocks noGrp="1"/>
          </p:cNvSpPr>
          <p:nvPr/>
        </p:nvSpPr>
        <p:spPr>
          <a:xfrm>
            <a:off x="4635146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9D4E24"/>
                </a:solidFill>
                <a:latin typeface="Arial Narrow"/>
                <a:ea typeface="Arial Narrow"/>
                <a:cs typeface="Arial Narrow"/>
              </a:rPr>
              <a:t>WITH CONNECTORIZED ASSEMBLY</a:t>
            </a:r>
          </a:p>
        </p:txBody>
      </p:sp>
      <p:sp>
        <p:nvSpPr>
          <p:cNvPr id="200" name=""/>
          <p:cNvSpPr>
            <a:spLocks noGrp="1"/>
          </p:cNvSpPr>
          <p:nvPr/>
        </p:nvSpPr>
        <p:spPr>
          <a:xfrm>
            <a:off x="4635146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9D4E24"/>
                </a:solidFill>
                <a:latin typeface="Arial"/>
                <a:ea typeface="Arial"/>
                <a:cs typeface="Arial"/>
              </a:rPr>
              <a:t>$83,600</a:t>
            </a:r>
          </a:p>
        </p:txBody>
      </p:sp>
      <p:sp>
        <p:nvSpPr>
          <p:cNvPr id="201" name=""/>
          <p:cNvSpPr>
            <a:spLocks noGrp="1"/>
          </p:cNvSpPr>
          <p:nvPr/>
        </p:nvSpPr>
        <p:spPr>
          <a:xfrm>
            <a:off x="4635146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field labor per spine</a:t>
            </a:r>
          </a:p>
        </p:txBody>
      </p:sp>
      <p:sp>
        <p:nvSpPr>
          <p:cNvPr id="202" name=""/>
          <p:cNvSpPr>
            <a:spLocks noGrp="1"/>
          </p:cNvSpPr>
          <p:nvPr/>
        </p:nvSpPr>
        <p:spPr>
          <a:xfrm>
            <a:off x="4635146" y="416052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~880 man-hours × $95/hr</a:t>
            </a:r>
          </a:p>
        </p:txBody>
      </p:sp>
      <p:sp>
        <p:nvSpPr>
          <p:cNvPr id="203" name=""/>
          <p:cNvSpPr>
            <a:spLocks noGrp="1"/>
          </p:cNvSpPr>
          <p:nvPr/>
        </p:nvSpPr>
        <p:spPr>
          <a:xfrm>
            <a:off x="4635146" y="443484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~6 installers × 1 shift × ~3 days</a:t>
            </a:r>
          </a:p>
        </p:txBody>
      </p:sp>
      <p:sp>
        <p:nvSpPr>
          <p:cNvPr id="204" name=""/>
          <p:cNvSpPr>
            <a:spLocks noGrp="1"/>
          </p:cNvSpPr>
          <p:nvPr/>
        </p:nvSpPr>
        <p:spPr>
          <a:xfrm>
            <a:off x="4635146" y="4709160"/>
            <a:ext cx="2921708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6A6F73"/>
                </a:solidFill>
                <a:latin typeface="Arial"/>
                <a:ea typeface="Arial"/>
                <a:cs typeface="Arial"/>
              </a:rPr>
              <a:t>Factory-validated, plug-and-play</a:t>
            </a:r>
          </a:p>
        </p:txBody>
      </p:sp>
      <p:sp>
        <p:nvSpPr>
          <p:cNvPr id="205" name=""/>
          <p:cNvSpPr>
            <a:spLocks noGrp="1"/>
          </p:cNvSpPr>
          <p:nvPr/>
        </p:nvSpPr>
        <p:spPr>
          <a:xfrm>
            <a:off x="8093954" y="2560320"/>
            <a:ext cx="3378908" cy="2606040"/>
          </a:xfrm>
          <a:prstGeom prst="rect">
            <a:avLst/>
          </a:prstGeom>
          <a:solidFill>
            <a:srgbClr val="C9783E"/>
          </a:solidFill>
          <a:ln w="0">
            <a:noFill/>
            <a:prstDash val="solid"/>
          </a:ln>
        </p:spPr>
      </p:sp>
      <p:sp>
        <p:nvSpPr>
          <p:cNvPr id="206" name=""/>
          <p:cNvSpPr>
            <a:spLocks noGrp="1"/>
          </p:cNvSpPr>
          <p:nvPr/>
        </p:nvSpPr>
        <p:spPr>
          <a:xfrm>
            <a:off x="8322554" y="27889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GROSS DELTA PER SPINE</a:t>
            </a:r>
          </a:p>
        </p:txBody>
      </p:sp>
      <p:sp>
        <p:nvSpPr>
          <p:cNvPr id="207" name=""/>
          <p:cNvSpPr>
            <a:spLocks noGrp="1"/>
          </p:cNvSpPr>
          <p:nvPr/>
        </p:nvSpPr>
        <p:spPr>
          <a:xfrm>
            <a:off x="8322554" y="3108960"/>
            <a:ext cx="2921708" cy="640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$334K</a:t>
            </a:r>
          </a:p>
        </p:txBody>
      </p:sp>
      <p:sp>
        <p:nvSpPr>
          <p:cNvPr id="208" name=""/>
          <p:cNvSpPr>
            <a:spLocks noGrp="1"/>
          </p:cNvSpPr>
          <p:nvPr/>
        </p:nvSpPr>
        <p:spPr>
          <a:xfrm>
            <a:off x="8322554" y="374904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~80% of field-labor cost</a:t>
            </a:r>
          </a:p>
        </p:txBody>
      </p:sp>
      <p:sp>
        <p:nvSpPr>
          <p:cNvPr id="209" name=""/>
          <p:cNvSpPr>
            <a:spLocks noGrp="1"/>
          </p:cNvSpPr>
          <p:nvPr/>
        </p:nvSpPr>
        <p:spPr>
          <a:xfrm>
            <a:off x="8322554" y="411480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90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IF IT REPEATS (GROSS, ILLUSTRATIVE)</a:t>
            </a:r>
          </a:p>
        </p:txBody>
      </p:sp>
      <p:sp>
        <p:nvSpPr>
          <p:cNvPr id="210" name=""/>
          <p:cNvSpPr>
            <a:spLocks noGrp="1"/>
          </p:cNvSpPr>
          <p:nvPr/>
        </p:nvSpPr>
        <p:spPr>
          <a:xfrm>
            <a:off x="8322554" y="43891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spines  →  $3.3M</a:t>
            </a:r>
          </a:p>
        </p:txBody>
      </p:sp>
      <p:sp>
        <p:nvSpPr>
          <p:cNvPr id="211" name=""/>
          <p:cNvSpPr>
            <a:spLocks noGrp="1"/>
          </p:cNvSpPr>
          <p:nvPr/>
        </p:nvSpPr>
        <p:spPr>
          <a:xfrm>
            <a:off x="8322554" y="46177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spines  →  $16.7M</a:t>
            </a:r>
          </a:p>
        </p:txBody>
      </p:sp>
      <p:sp>
        <p:nvSpPr>
          <p:cNvPr id="212" name=""/>
          <p:cNvSpPr>
            <a:spLocks noGrp="1"/>
          </p:cNvSpPr>
          <p:nvPr/>
        </p:nvSpPr>
        <p:spPr>
          <a:xfrm>
            <a:off x="8322554" y="4846320"/>
            <a:ext cx="292170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spines  →  $33.4M</a:t>
            </a:r>
          </a:p>
        </p:txBody>
      </p:sp>
      <p:sp>
        <p:nvSpPr>
          <p:cNvPr id="213" name=""/>
          <p:cNvSpPr>
            <a:spLocks noGrp="1"/>
          </p:cNvSpPr>
          <p:nvPr/>
        </p:nvSpPr>
        <p:spPr>
          <a:xfrm>
            <a:off x="719138" y="534924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00" b="0" i="1">
                <a:solidFill>
                  <a:srgbClr val="6A6F73"/>
                </a:solidFill>
                <a:latin typeface="Arial"/>
                <a:ea typeface="Arial"/>
                <a:cs typeface="Arial"/>
              </a:rPr>
              <a:t>ASSUMPTIONS  ·  $95/hr fully burdened (wage + benefits + overtime + supervision)  ·  4,400 hours observed on one site-built spine in an adjacent market, May 2026  ·  ~80% field-labor reduction typical for prefabricated interconnect  ·  one spine = one central electrical spine serving repeated generation modules.</a:t>
            </a:r>
          </a:p>
        </p:txBody>
      </p:sp>
      <p:sp>
        <p:nvSpPr>
          <p:cNvPr id="214" name=""/>
          <p:cNvSpPr>
            <a:spLocks noGrp="1"/>
          </p:cNvSpPr>
          <p:nvPr/>
        </p:nvSpPr>
        <p:spPr>
          <a:xfrm>
            <a:off x="719138" y="5852160"/>
            <a:ext cx="10753724" cy="3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lnSpc>
                <a:spcPct val="106000"/>
              </a:lnSpc>
              <a:buNone/>
            </a:pPr>
            <a:r>
              <a:rPr sz="975" b="1" i="0">
                <a:solidFill>
                  <a:srgbClr val="17191C"/>
                </a:solidFill>
                <a:latin typeface="Arial"/>
                <a:ea typeface="Arial"/>
                <a:cs typeface="Arial"/>
              </a:rPr>
              <a:t>NOT NET.  Subtract the assembly premium, engineering, factory labor, freight, factory acceptance and commissioning — and prefabrication does not automatically remove an activity from the critical path.</a:t>
            </a:r>
          </a:p>
        </p:txBody>
      </p:sp>
      <p:sp>
        <p:nvSpPr>
          <p:cNvPr id="215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solidFill>
            <a:srgbClr val="17191C"/>
          </a:solidFill>
          <a:ln w="0">
            <a:noFill/>
            <a:prstDash val="solid"/>
          </a:ln>
        </p:spPr>
      </p:sp>
      <p:sp>
        <p:nvSpPr>
          <p:cNvPr id="216" name=""/>
          <p:cNvSpPr>
            <a:spLocks noGrp="1"/>
          </p:cNvSpPr>
          <p:nvPr/>
        </p:nvSpPr>
        <p:spPr>
          <a:xfrm>
            <a:off x="719138" y="6315000"/>
            <a:ext cx="10753724" cy="4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GROSS TEMPLATE ONLY — REBUILD WITH NRG SCOPE, LABOR RATES AND SCHEDULE LOGIC BEFORE ANY CLAIM (SEE A4).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Southwire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Time to Power - Combined Rev14</dc:title>
  <dc:subject>NRG executive working discussion - combined Rev13 narrative and Rev10 evidence</dc:subject>
  <dc:creator>Stephan Hardt | Southwire</dc:creator>
  <cp:lastModifiedBy>Stephan Hardt | Southwire</cp:lastModifiedBy>
  <cp:revision>1</cp:revision>
  <dcterms:created xsi:type="dcterms:W3CDTF">2026-08-14T01:31:56Z</dcterms:created>
  <dcterms:modified xsi:type="dcterms:W3CDTF">2026-08-14T01:31:56Z</dcterms:modified>
</cp:coreProperties>
</file>