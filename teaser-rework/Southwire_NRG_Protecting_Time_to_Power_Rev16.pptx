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31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  <Relationship Id="rId31" Type="http://schemas.openxmlformats.org/officeDocument/2006/relationships/slide" Target="slides/slide25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 value levers, condensed from the fuller Owner's-Math treatment. The four cards map electrical delivery to the outcomes an owner prices: COD, installed cost, capital certainty, availability. The dollar arithmetic behind the adjacent-experience benchmark lives in Appendix A14, behind the A4 release gate — go there only if the room asks what the hours are worth.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WIDE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 /><Relationship Type="http://schemas.openxmlformats.org/officeDocument/2006/relationships/image" Target="../media/r9-image.jpeg" Id="R0f6abb0571bc450c" /><Relationship Type="http://schemas.openxmlformats.org/officeDocument/2006/relationships/image" Target="../media/r9-image2.jpeg" Id="Re8f8611cb8914760" /><Relationship Id="rId4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 /><Relationship Type="http://schemas.openxmlformats.org/officeDocument/2006/relationships/image" Target="../media/r9-image3.jpeg" Id="Rc876737220024471" /><Relationship Id="rId4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 /><Relationship Type="http://schemas.openxmlformats.org/officeDocument/2006/relationships/image" Target="../media/r9-image4.jpeg" Id="Rfc1affae7cb74e1e" /><Relationship Id="rId4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 /><Relationship Type="http://schemas.openxmlformats.org/officeDocument/2006/relationships/image" Target="../media/r9-image5.jpeg" Id="R4defc997f92c418d" /><Relationship Id="rId4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 /><Relationship Type="http://schemas.openxmlformats.org/officeDocument/2006/relationships/image" Target="../media/r9-image13.jpeg" Id="R9278081788d04e04" /><Relationship Type="http://schemas.openxmlformats.org/officeDocument/2006/relationships/image" Target="../media/r9-image14.jpeg" Id="R9ba0958dc14b4dd2" /><Relationship Id="rId4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 /><Relationship Type="http://schemas.openxmlformats.org/officeDocument/2006/relationships/image" Target="../media/r9-image6.jpeg" Id="Re9945691857c4426" /><Relationship Id="rId4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 /><Relationship Type="http://schemas.openxmlformats.org/officeDocument/2006/relationships/image" Target="../media/r9-image7.jpeg" Id="Re541a94199674e25" /><Relationship Id="rId4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 /><Relationship Type="http://schemas.openxmlformats.org/officeDocument/2006/relationships/image" Target="../media/r9-image8.jpeg" Id="R7ee1c5f2262e4319" /><Relationship Id="rId4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 /><Relationship Type="http://schemas.openxmlformats.org/officeDocument/2006/relationships/image" Target="../media/r9-image9.jpeg" Id="Raf48650a3c4a4d07" /><Relationship Id="rId4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 /><Relationship Type="http://schemas.openxmlformats.org/officeDocument/2006/relationships/image" Target="../media/r9-image10.jpeg" Id="R3d7090369bf04fb9" /><Relationship Id="rId4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 /><Relationship Type="http://schemas.openxmlformats.org/officeDocument/2006/relationships/image" Target="../media/r9-image11.jpeg" Id="R48e2a3d3733b4264" /><Relationship Id="rId4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 /><Relationship Type="http://schemas.openxmlformats.org/officeDocument/2006/relationships/image" Target="../media/r9-image12.jpeg" Id="R0d68d762455049bf" /><Relationship Id="rId4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Relationship Id="Rsk120" Type="http://schemas.openxmlformats.org/officeDocument/2006/relationships/image" Target="../media/sk120-art.png" /><Relationship Id="rId4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 /><Relationship Type="http://schemas.openxmlformats.org/officeDocument/2006/relationships/image" Target="../media/r9-image8.jpeg" Id="R7ee1c5f2262e4319" /><Relationship Id="rId4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 /><Relationship Type="http://schemas.openxmlformats.org/officeDocument/2006/relationships/image" Target="../media/r9-image8.jpeg" Id="R7ee1c5f2262e4319" /><Relationship Id="rId4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2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5EF59-13FD-4D9A-9878-74A258A1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abb0571bc450c"/>
          <a:srcRect xmlns:a="http://schemas.openxmlformats.org/drawingml/2006/main" l="23047" t="0" r="230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C488C-3A54-4952-8BC9-B7C7596F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8611cb8914760"/>
          <a:srcRect xmlns:a="http://schemas.openxmlformats.org/drawingml/2006/main" l="8984" t="0" r="89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400050"/>
            <a:ext cx="3667125" cy="628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C8ACA-EC8A-4169-9061-AF45BA88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PREPARED FOR NRG  |  EXECUTIVE WORKING DISCUSSION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8E28E-9D85-4F4F-9279-A2B2509B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19275"/>
            <a:ext cx="4495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43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43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PROTECTING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43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43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TIME TO POWER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C4DD4-571A-4425-8F57-4DD0B73A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78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BD95E-78E0-414E-88E1-9AD4DFDA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4333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D4D6D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D4D6D8"/>
                </a:solidFill>
                <a:latin typeface="Arial"/>
                <a:ea typeface="Arial"/>
                <a:cs typeface="Arial"/>
              </a:rPr>
              <a:t>A working model for integrated electrical delivery across NRG's generation buildout.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C325A-3DD2-4CE5-8C5A-4371B632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436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42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PRESERVE UPSTREAM CERTAINTY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42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THROUGH THE ELECTRICAL DELIVERY CHAIN.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E29E2-F0A4-4ED8-ABF9-D68C5DE4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B9094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B9094"/>
                </a:solidFill>
                <a:latin typeface="Arial"/>
                <a:ea typeface="Arial"/>
                <a:cs typeface="Arial"/>
              </a:rPr>
              <a:t>Stephan Hardt  |  Director, Power Generation Solutions  |  Southwire</a:t>
            </a:r>
          </a:p>
        </p:txBody>
      </p:sp>
    </p:spTree>
    <p:extLst>
      <p:ext uri="{BB962C8B-B14F-4D97-AF65-F5344CB8AC3E}">
        <p14:creationId xmlns:p14="http://schemas.microsoft.com/office/powerpoint/2010/main" val="1121985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E4675-5951-4B04-9434-499810F1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6737220024471"/>
          <a:stretch xmlns:a="http://schemas.openxmlformats.org/drawingml/2006/main"/>
        </p:blipFill>
        <p:spPr>
          <a:xfrm xmlns:a="http://schemas.openxmlformats.org/drawingml/2006/main">
            <a:off x="719138" y="200025"/>
            <a:ext cx="2066925" cy="590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6B4B8-1504-4592-AA89-370627FC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NRG'S AMBITION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83341-83F3-46B5-8D72-14A3CBA8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7850D-07DD-495F-8213-AA2ACF9C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WHY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8A040-B911-4DF8-B72F-385313FC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NRG's growth agenda creates three distinct electrical-delivery environments.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E8570-5C5C-4B3D-9D49-CC264D46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321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8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38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1.5 GW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15914-1A5A-47FF-8097-D6EB9E4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7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TEF PORTFOLIO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42725-D677-4F0E-B596-4D4ACAAD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051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One project operating; two targeting mid-2028.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FF9E3-510C-4692-A02F-E3428EDB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2E6A1-300D-4C60-8794-03A189E7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95525"/>
            <a:ext cx="0" cy="2200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C63B9-A54E-4F34-B90F-101BBBE1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52650"/>
            <a:ext cx="321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8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38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5.4 GW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31A44-BB0F-400C-9475-083A791E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67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NEWBUILD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750CE-3881-40C1-B74E-35447A1C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051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Turbine and EPC access supports a runway through 2032.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3BEB2-048A-4133-A906-55D0EE96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196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78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FF0A4-4D7B-4A87-991E-9BC0D59E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95525"/>
            <a:ext cx="0" cy="2200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19BED-A9F1-4C79-B716-1ADD5042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321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8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38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25.8 GW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E091B-9B90-4C14-9D65-A21C07AF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67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OPERATING FLEET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1CC97-064A-408F-8742-A2ED5BF8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051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Approximately 1-2 GW of upgrades under evaluation.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3D1F-659E-49F6-8754-8492FDDB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196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10F29-0D04-4BA6-811D-E54CA110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867275"/>
            <a:ext cx="12192000" cy="1990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8E600-E2AE-42B9-9E01-5DDDF55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DIFFERENT ASSET STATES. ONE REQUIREMENT.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E2BB2-5CB2-485C-8D5A-86374E30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14975"/>
            <a:ext cx="857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Preserve schedule certainty through energization.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480BB5-0579-4420-A454-EC2D8BFE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 i="0">
                <a:solidFill>
                  <a:srgbClr val="D4D6D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4D6D8"/>
                </a:solidFill>
                <a:latin typeface="Arial"/>
                <a:ea typeface="Arial"/>
                <a:cs typeface="Arial"/>
              </a:rPr>
              <a:t>Specifications, capacity, releases, reels, package interfaces and field readiness still have to converge on COD.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9A9E5B-D592-4C2E-99CD-C027B128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19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B9094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B9094"/>
                </a:solidFill>
                <a:latin typeface="Arial"/>
                <a:ea typeface="Arial"/>
                <a:cs typeface="Arial"/>
              </a:rPr>
              <a:t>Source: NRG 2Q26, Aug. 4, 2026</a:t>
            </a:r>
          </a:p>
        </p:txBody>
      </p:sp>
    </p:spTree>
    <p:extLst>
      <p:ext uri="{BB962C8B-B14F-4D97-AF65-F5344CB8AC3E}">
        <p14:creationId xmlns:p14="http://schemas.microsoft.com/office/powerpoint/2010/main" val="17747154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87C382-684C-41EA-AD7B-090994DE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affae7cb74e1e"/>
          <a:stretch xmlns:a="http://schemas.openxmlformats.org/drawingml/2006/main"/>
        </p:blipFill>
        <p:spPr>
          <a:xfrm xmlns:a="http://schemas.openxmlformats.org/drawingml/2006/main">
            <a:off x="719138" y="200025"/>
            <a:ext cx="2066925" cy="590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2E9C2-EC75-4805-B37B-7F8E5EFE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THE EXECUTION CHALLENGE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5D9A4-4A86-47B2-BECD-3611783C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85CF9-7B4A-4498-A4FF-A1FEE411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THREE RISKS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E7682-C0E3-4EE9-82E6-03DD1466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Three execution risks can erode certainty between design and energization.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A3E3F-D6CA-4014-9838-F928AA69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E7DBA-AF47-4FA9-B00A-EA1DEB27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819400"/>
            <a:ext cx="333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24AB8-20D4-4A42-A131-C79D4418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2600325"/>
            <a:ext cx="3333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1DE06-9BEB-4B12-B551-12303209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2305050"/>
            <a:ext cx="333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AF7DC-6BC1-4284-A854-7D681DB6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B909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26175-42E4-4549-A3A7-DD08F77F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382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LABOR PRESSURE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3D31A-1F21-41A3-AFF2-83E8DEC6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Long pulls, dense terminations and compressed turnover windows concentrate labor when flexibility is lowest.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84559-460B-4C41-BD5D-67A4BAAD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5265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D61B0-6A32-4760-8474-5392F72F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145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54509-AB0B-46F7-AB99-185C4BCA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717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3D8"/>
          </a:solidFill>
          <a:ln xmlns:a="http://schemas.openxmlformats.org/drawingml/2006/main" w="9525">
            <a:solidFill>
              <a:srgbClr val="C978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69E25-DEEC-4F02-9229-32C78EAB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71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9525">
            <a:solidFill>
              <a:srgbClr val="C978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CCA50-2808-443C-8C30-07C35CF8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9527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978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10710-442E-4753-A109-3FB7DF4D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C0643-D9D8-4050-B6DB-6DA9D564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3382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MATERIAL + INSTALLATION FIT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03671-035A-4B87-BCB4-680AA1CB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7197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Ratings, routes, reel lengths, accessories and releases must match the workface—not only the BOM.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3528B-F44A-4DC1-B4B2-6DF9E31D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5265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3B0D1-03CC-4D8F-A5AB-1E78494A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145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317186-219B-4214-8435-451A3D31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14625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783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73C3D6-9905-4497-BBF0-1840198F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14625"/>
            <a:ext cx="5143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783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40198B-9679-4166-A010-6B152C3A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14625"/>
            <a:ext cx="5143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1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D94A1D-FF55-40C0-AEFC-5636A569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62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E4AD4F-4E0A-47E0-A7D2-E8C9ED7C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62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AEF168-A049-4FA6-B8A8-3DEFF654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81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3AC2D5-98BC-49E7-B6B9-BFB818FF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62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9525">
            <a:solidFill>
              <a:srgbClr val="8B909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D1C497-7643-4BB7-BC5B-D815A745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3382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FRAGMENTED COORDINATION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4D61C3-4B2A-49FF-A685-25626D93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7197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Civil, electrical, OEM and contractor decisions can converge after routing and procurement choices are locked.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A7EB2C-FB0F-4B6A-8D27-A9FE4230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5495925"/>
            <a:ext cx="11087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820853-0352-4232-9109-367D1EAA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43575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LATE HANDOFFS BECOME SCHEDULE AND COMMISSIONING EXPOSURE.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6D35BF-74D2-4784-980F-6BDF91F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B909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B9094"/>
                </a:solidFill>
                <a:latin typeface="Arial"/>
                <a:ea typeface="Arial"/>
                <a:cs typeface="Arial"/>
              </a:rPr>
              <a:t>Labor availability  |  material readiness  |  decision timing</a:t>
            </a:r>
          </a:p>
        </p:txBody>
      </p:sp>
    </p:spTree>
    <p:extLst>
      <p:ext uri="{BB962C8B-B14F-4D97-AF65-F5344CB8AC3E}">
        <p14:creationId xmlns:p14="http://schemas.microsoft.com/office/powerpoint/2010/main" val="13044986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2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BF3D11-5231-4DDC-BB3A-94D00087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fc997f92c418d"/>
          <a:srcRect xmlns:a="http://schemas.openxmlformats.org/drawingml/2006/main" l="8771" t="0" r="87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9550"/>
            <a:ext cx="245745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144D4-FF7A-4A82-99D7-3D12C1AA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THE STRATEGIC INSIGHT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9070D-6C0F-4266-8945-5BC47DF6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0C359-915D-4200-B24C-8C5DB37F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304925"/>
            <a:ext cx="6667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E8ECB-F97B-4C8B-A969-7459B2AA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47775"/>
            <a:ext cx="100012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6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36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TIME TO POWER IS AN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36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36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ELECTRICAL EXECUTION PROBLEM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36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36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BEFORE IT IS A CABLE-BUYING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ADA97-15E3-44DF-8039-F5322D25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3" y="43386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4F568-5669-432F-A2DA-B31C8C71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276725"/>
            <a:ext cx="9305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5D7D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5D7D9"/>
                </a:solidFill>
                <a:latin typeface="Arial"/>
                <a:ea typeface="Arial"/>
                <a:cs typeface="Arial"/>
              </a:rPr>
              <a:t>Interfaces cross packages, zones, contractors and turnover paths.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4731C-1E44-4801-8550-BCA9CD20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3" y="4814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FEADE-D784-4275-97D0-D439A87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752975"/>
            <a:ext cx="9305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5D7D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5D7D9"/>
                </a:solidFill>
                <a:latin typeface="Arial"/>
                <a:ea typeface="Arial"/>
                <a:cs typeface="Arial"/>
              </a:rPr>
              <a:t>Late material decisions return as handling, rework and commissioning exposure.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F5EDB-6FB9-47B4-90E7-4074EC3A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3" y="52911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1CB84-C4F4-4D9D-BBAE-1F58A6DE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29225"/>
            <a:ext cx="9305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5D7D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5D7D9"/>
                </a:solidFill>
                <a:latin typeface="Arial"/>
                <a:ea typeface="Arial"/>
                <a:cs typeface="Arial"/>
              </a:rPr>
              <a:t>Managing the workstream as a system can protect schedule better than isolated purchase-order optimization.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9ADE3-6C12-4085-889E-8A2423F5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78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9ADDD-D017-45CB-B044-B3CD0F2D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81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83846-430F-43A3-8E35-20253928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341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BEA81-C80A-41ED-B57A-99D5025A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81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E2898-5B19-487D-8F27-1B5CC3DD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3341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MATERIAL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2268D-8BE3-49C1-A1DD-AFEE7005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81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81957-DAAF-4804-A30B-1D879138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3341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WORKFACE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01EE6-526F-44DD-B308-332CEE41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981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4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D04B9-C876-439E-8002-82DC4C68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3341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ENERGIZATION</a:t>
            </a:r>
          </a:p>
        </p:txBody>
      </p:sp>
    </p:spTree>
    <p:extLst>
      <p:ext uri="{BB962C8B-B14F-4D97-AF65-F5344CB8AC3E}">
        <p14:creationId xmlns:p14="http://schemas.microsoft.com/office/powerpoint/2010/main" val="1187526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87CA73-F00F-444D-A144-E7BD3C3F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8081788d04e04"/>
          <a:stretch xmlns:a="http://schemas.openxmlformats.org/drawingml/2006/main"/>
        </p:blipFill>
        <p:spPr>
          <a:xfrm xmlns:a="http://schemas.openxmlformats.org/drawingml/2006/main">
            <a:off x="719138" y="200025"/>
            <a:ext cx="2066925" cy="590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9E82D-DB7C-4D48-AE18-2ADA099A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PLANT-WIDE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6C31F-181F-4DC6-B47C-5324FFC4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27FE3-B5F8-4C6E-9A80-44D35E26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PLANT-ZONE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5A49D-C8FE-4DB7-81A6-02700B1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Six clusters map a routed 3×1 electrical reference model.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0958dc14b4dd2"/>
          <a:stretch xmlns:a="http://schemas.openxmlformats.org/drawingml/2006/main"/>
        </p:blipFill>
        <p:spPr>
          <a:xfrm xmlns:a="http://schemas.openxmlformats.org/drawingml/2006/main">
            <a:off x="3429000" y="1763634"/>
            <a:ext cx="5334000" cy="302593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B9F71-6E26-43C9-9D00-650A9264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714500"/>
            <a:ext cx="800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3D8"/>
          </a:solidFill>
          <a:ln xmlns:a="http://schemas.openxmlformats.org/drawingml/2006/main" w="9525">
            <a:solidFill>
              <a:srgbClr val="F2E3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78D32-47AB-4ACD-B19C-93B637E9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1, 16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E48A4-C583-4DF2-8127-1CE7F33F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GRID + SITE BACKBONE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C49CC-76D8-4AA8-B69E-C48BDA46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1457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Switchyard, GSU/grid tie and MV corridors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HV/EHV · MV · protection/control · fiber · grounding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0BBA6-3815-4064-9996-C4A3431D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019425"/>
            <a:ext cx="800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3D8"/>
          </a:solidFill>
          <a:ln xmlns:a="http://schemas.openxmlformats.org/drawingml/2006/main" w="9525">
            <a:solidFill>
              <a:srgbClr val="F2E3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9FE05-C970-4F5B-867D-EB1533D0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2, 3, 10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9AC1E-8938-4E07-80D5-21A07218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MODULAR + LOGISTICS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E5C80-B10A-4D5A-A046-88EEFCB6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BESS, reel staging, prefab/skids and modular power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DC/MV/LV · controls · fiber · engineered 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ABC6A-621A-4BD5-95E5-7371BC7D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324350"/>
            <a:ext cx="800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3D8"/>
          </a:solidFill>
          <a:ln xmlns:a="http://schemas.openxmlformats.org/drawingml/2006/main" w="9525">
            <a:solidFill>
              <a:srgbClr val="F2E3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3FDD8-E901-490C-B9BE-5C15C617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4, 5, 9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FA7D0-0FFC-494E-BDA6-BA1B7AAD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7725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BUILDINGS + DISTRIBUTION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EEDC0-07DC-4F73-9AB2-7F55D329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Control building, e-house and MCC/VFD/UPS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MV/LV/VFD · essential AC/DC · life safety · BAS/data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B272F-FC68-4F66-ACA2-8AFCA06E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1714500"/>
            <a:ext cx="800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3D8"/>
          </a:solidFill>
          <a:ln xmlns:a="http://schemas.openxmlformats.org/drawingml/2006/main" w="9525">
            <a:solidFill>
              <a:srgbClr val="F2E3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4657C-E45D-44CD-BC71-2E625D9D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335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6, 7, 8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8DDA4-F9FC-4381-8D34-0ADFBFD6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47875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GENERATION ISLAND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0B89B-7A80-490F-AA9E-C7823FBD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1457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HRSG, turbine hall and GT inlet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MV/LV/VFD · I&amp;C · F&amp;G/ESD · CEMS · heat 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4BE2C6-4998-4ADD-B25C-54E9CF5D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3019425"/>
            <a:ext cx="800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3D8"/>
          </a:solidFill>
          <a:ln xmlns:a="http://schemas.openxmlformats.org/drawingml/2006/main" w="9525">
            <a:solidFill>
              <a:srgbClr val="F2E3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FCEB2-9877-47A3-90FC-88FC2002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38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11, 12, 13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2B3B4A-B3CD-4A22-975D-95F37B77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HEAT REJECTION + WATER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31A745-E5D4-48FB-9989-9FBA2FC6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ACC, cooling and water/wastewater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Repeated fan/pump power · VFD · controls · wet runs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A8C467-CE20-456D-BB9F-C83FAC0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4324350"/>
            <a:ext cx="800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3D8"/>
          </a:solidFill>
          <a:ln xmlns:a="http://schemas.openxmlformats.org/drawingml/2006/main" w="9525">
            <a:solidFill>
              <a:srgbClr val="F2E3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B0FB1-1866-4D54-ADE3-77211A8F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434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14, 15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68C929-A254-489D-8D15-705FED3A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57725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OPTIONAL + AUXILIARY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1280B1-D9A6-4726-B19C-3B743B5B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2442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Carbon capture and gas metering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Classified power/control · instrumentation · F&amp;G · fiber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D23566-1B31-4E8D-BE90-45195AD7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5867400"/>
            <a:ext cx="11087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C0C618-FF74-433A-AA0C-C035DF6A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CABLE CLASSES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6C07A0-EA26-445C-8DDE-B768A0A8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029325"/>
            <a:ext cx="897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HV/EHV  |  MV 5-35 kV  |  LV 600 V  |  VFD  |  essential AC/DC  |  I&amp;C  |  fiber/network  |  life safety  |  grounding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ABFA80-5786-41C9-B6AA-A14DD56F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0534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B9094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B9094"/>
                </a:solidFill>
                <a:latin typeface="Arial"/>
                <a:ea typeface="Arial"/>
                <a:cs typeface="Arial"/>
              </a:rPr>
              <a:t>Illustrative—not NRG/IFC. Excludes generator-output bus, OEM wiring and contractor methods.</a:t>
            </a:r>
          </a:p>
        </p:txBody>
      </p:sp>
    </p:spTree>
    <p:extLst>
      <p:ext uri="{BB962C8B-B14F-4D97-AF65-F5344CB8AC3E}">
        <p14:creationId xmlns:p14="http://schemas.microsoft.com/office/powerpoint/2010/main" val="1296255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5DC38F-6AE2-41CB-8F67-FE474A83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45691857c4426"/>
          <a:stretch xmlns:a="http://schemas.openxmlformats.org/drawingml/2006/main"/>
        </p:blipFill>
        <p:spPr>
          <a:xfrm xmlns:a="http://schemas.openxmlformats.org/drawingml/2006/main">
            <a:off x="719138" y="200025"/>
            <a:ext cx="2066925" cy="590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EEA4D-3183-4B6E-8498-78D3FCE2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INTEGRATED ELECTRICAL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28EA1-DF91-47F4-8165-40932299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F5CC8-9D9B-49E1-BEC1-A70BAD83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ONE COORDINATED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0BCAE-551A-42C9-A5AF-140E3EF3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00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A coordinated electrical delivery system aligns decisions from planning through turnover.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1B163-FEC6-4A82-AC0D-BFBC738C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Southwire connects application support, material planning, sequenced logistics and field readiness—without changing project accountability.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834E0-F0DC-4C90-9E61-78A45526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004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783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FDA60-6B1B-4154-9A93-CE3D6973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19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4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B2944-3C32-41A4-B7DE-F11869E7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862CD-7E83-4193-986F-2224FBD6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355282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PLAN + FORECAST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6C620-65F1-4F7A-9A35-D59254D6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0195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Scope and capacity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31DE4-5B9D-450F-9375-80FB29CD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19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1E8D4-DC48-43E5-BDB0-06DCDDB2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442E0-B01E-479C-8535-941AA472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5282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APPLICATION ALIGNMENT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735E2-DA32-4A3F-8C89-53B55832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195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Codes, duty and alternates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4E919-3F74-49E2-9A5E-3B5E2FE3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019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6FFC1-96E5-4C04-8540-32DCBFE3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CE0C7-F215-4467-9632-95BC63F3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55282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MATERIAL + REEL 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431A3-A8C2-4B8A-A59B-A3E229E7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0195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Routes, cuts and reel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F02E7-F294-408E-AE7B-57B98FC7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19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FD49B-FA5A-4A7B-A012-300CD02A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38CFB6-8269-4816-938F-78C2F8E8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5282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RELEASE + LOGISTICS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7E230-1B0B-4F73-8A24-65663B60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195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Sequence by zone and milestone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4B5AF7-4C1D-43FE-8983-E16EF621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019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4CBBF6-3636-4021-9235-7A705BC7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0B3B82-393B-4C25-86A4-24ECEE8A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5282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INSTALLATION READINESS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CFCDD8-3BF8-4990-8197-A9083D24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95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Labels, kits and pull planning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7D65D-B844-43A9-A2EB-E9EF8AA9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19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4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09CD09-1EBC-429B-930F-D50F0A39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521088-E403-43F6-9051-AEE0895D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5282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FIELD SUPPORT + TURNOVER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C15463-1636-4C31-BFCD-F704B9D4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0195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Feedback, testing and records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DCDBBB-418D-4496-B683-1E46A121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85775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3D8"/>
          </a:solidFill>
          <a:ln xmlns:a="http://schemas.openxmlformats.org/drawingml/2006/main" w="9525">
            <a:solidFill>
              <a:srgbClr val="E2C8B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A06570-0838-4403-8C3D-864FB39C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SOUTHWIRE COORDINATION RAIL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384A0D-57CD-4CD1-A4C8-D4802590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38725"/>
            <a:ext cx="7667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Shared data  |  governed handoffs  |  field feedback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9880F5-9D2C-4FC8-96E7-B9006D01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448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NRG governance, EPC/EOR/OEM design authority and contractor means and methods remain intact.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263A00-C9E1-4BDB-B5EE-F25C73D5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81725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FIELD-ENGINEER WHAT IS UNIQUE. PREFABRICATE WHAT REPEATS.</a:t>
            </a:r>
          </a:p>
        </p:txBody>
      </p:sp>
    </p:spTree>
    <p:extLst>
      <p:ext uri="{BB962C8B-B14F-4D97-AF65-F5344CB8AC3E}">
        <p14:creationId xmlns:p14="http://schemas.microsoft.com/office/powerpoint/2010/main" val="19669445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437775-3E93-49D5-913C-6EC2B803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1a94199674e25"/>
          <a:stretch xmlns:a="http://schemas.openxmlformats.org/drawingml/2006/main"/>
        </p:blipFill>
        <p:spPr>
          <a:xfrm xmlns:a="http://schemas.openxmlformats.org/drawingml/2006/main">
            <a:off x="719138" y="200025"/>
            <a:ext cx="2066925" cy="590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C3922-3AF7-4484-BCAC-B9116A3B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VALUE TO NRG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0BC42-5E53-4971-871E-BD3B868E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839EC-62AD-43FB-B350-14025AC6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THE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6F92C-E4CC-426C-AFD2-A06B43E7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4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75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The value to NRG is fewer execution surprises—not more supplier services.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72E7E-7CF0-4FF4-B395-AAF4727B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Three owner lenses matter: schedule exposure, installed effort and lifecycle continuity.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63EC5-AFC3-4CDF-A1E7-75190DCA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ALIGN APPLICATIONS + INTERFACES EARLY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21814-B62E-4AD3-A738-66F0119B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2600325"/>
            <a:ext cx="800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D6904-2C04-4FAD-8B52-649BF856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95550"/>
            <a:ext cx="623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Fewer late changes and handoff failures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5D1D6-7831-450F-9EF0-976D92E0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B2274-C5E4-420A-B9D4-087A8C65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623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GATE CAPACITY + RELEASES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D9CBE-51A7-4E75-989A-CADF649D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3419475"/>
            <a:ext cx="800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3C693-0150-40E6-92D8-4A69BE5B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314700"/>
            <a:ext cx="623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More predictable material availability and sequencing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6F99D-2944-40B1-B07C-0ED784C7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63077-AE25-4178-9491-1261214E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PLAN REELS + REPEATABLE SETS TO THE WORKFACE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0C038-7A77-4059-9A7E-C055825B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4238625"/>
            <a:ext cx="800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86F1B-38F8-481C-BAAD-A6A3BE2A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33850"/>
            <a:ext cx="623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Less handling and avoidable rework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ADE07-9F3C-472D-9C02-0E98D286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D9E0F-899F-465B-9D14-0E8140D9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CARRY FIELD RECORDS THROUGH TURNOVER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4CD7B-2E17-42BA-9028-F64F5CC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5057775"/>
            <a:ext cx="800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4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4DFB31-3CCD-4CDA-A12D-1DC6EE0E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953000"/>
            <a:ext cx="623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Cleaner commissioning and lifecycle continuity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22249-1E5A-4CE7-93D5-B101EE57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5895975"/>
            <a:ext cx="11087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DD42A-983E-4ADF-8EAC-63D34684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62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OUTCOME HYPOTHESES TO VALIDATE ON ONE LIVE NRG SCOPE.</a:t>
            </a:r>
          </a:p>
        </p:txBody>
      </p:sp>
    </p:spTree>
    <p:extLst>
      <p:ext uri="{BB962C8B-B14F-4D97-AF65-F5344CB8AC3E}">
        <p14:creationId xmlns:p14="http://schemas.microsoft.com/office/powerpoint/2010/main" val="492488797"/>
      </p:ext>
    </p:extLst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1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102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103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OWNER VALUE LEVERS</a:t>
            </a:r>
          </a:p>
        </p:txBody>
      </p:sp>
      <p:sp>
        <p:nvSpPr>
          <p:cNvPr id="104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08</a:t>
            </a:r>
          </a:p>
        </p:txBody>
      </p:sp>
      <p:sp>
        <p:nvSpPr>
          <p:cNvPr id="105" name=""/>
          <p:cNvSpPr>
            <a:spLocks noGrp="1"/>
          </p:cNvSpPr>
          <p:nvPr/>
        </p:nvSpPr>
        <p:spPr>
          <a:xfrm>
            <a:off x="719138" y="1005840"/>
            <a:ext cx="85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OWNER ECONOMICS</a:t>
            </a:r>
          </a:p>
        </p:txBody>
      </p:sp>
      <p:sp>
        <p:nvSpPr>
          <p:cNvPr id="106" name=""/>
          <p:cNvSpPr>
            <a:spLocks noGrp="1"/>
          </p:cNvSpPr>
          <p:nvPr/>
        </p:nvSpPr>
        <p:spPr>
          <a:xfrm>
            <a:off x="719138" y="1280160"/>
            <a:ext cx="10753724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Cable is a small cost category with outsized execution consequences.</a:t>
            </a:r>
          </a:p>
        </p:txBody>
      </p:sp>
      <p:sp>
        <p:nvSpPr>
          <p:cNvPr id="107" name=""/>
          <p:cNvSpPr>
            <a:spLocks noGrp="1"/>
          </p:cNvSpPr>
          <p:nvPr/>
        </p:nvSpPr>
        <p:spPr>
          <a:xfrm>
            <a:off x="719138" y="2286000"/>
            <a:ext cx="10753724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8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The owner case is not unit price alone; it is how electrical decisions influence COD readiness, installed effort, capital certainty and lifecycle continuity.</a:t>
            </a:r>
          </a:p>
        </p:txBody>
      </p:sp>
      <p:sp>
        <p:nvSpPr>
          <p:cNvPr id="108" name=""/>
          <p:cNvSpPr>
            <a:spLocks noGrp="1"/>
          </p:cNvSpPr>
          <p:nvPr/>
        </p:nvSpPr>
        <p:spPr>
          <a:xfrm>
            <a:off x="719138" y="2606040"/>
            <a:ext cx="523786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09" name=""/>
          <p:cNvSpPr>
            <a:spLocks noGrp="1"/>
          </p:cNvSpPr>
          <p:nvPr/>
        </p:nvSpPr>
        <p:spPr>
          <a:xfrm>
            <a:off x="947738" y="2788920"/>
            <a:ext cx="594360" cy="27432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10" name=""/>
          <p:cNvSpPr>
            <a:spLocks noGrp="1"/>
          </p:cNvSpPr>
          <p:nvPr/>
        </p:nvSpPr>
        <p:spPr>
          <a:xfrm>
            <a:off x="947738" y="2880360"/>
            <a:ext cx="5943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111" name=""/>
          <p:cNvSpPr>
            <a:spLocks noGrp="1"/>
          </p:cNvSpPr>
          <p:nvPr/>
        </p:nvSpPr>
        <p:spPr>
          <a:xfrm>
            <a:off x="1587818" y="2880360"/>
            <a:ext cx="414058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COD / REVENUE START</a:t>
            </a:r>
          </a:p>
        </p:txBody>
      </p:sp>
      <p:sp>
        <p:nvSpPr>
          <p:cNvPr id="112" name=""/>
          <p:cNvSpPr>
            <a:spLocks noGrp="1"/>
          </p:cNvSpPr>
          <p:nvPr/>
        </p:nvSpPr>
        <p:spPr>
          <a:xfrm>
            <a:off x="947738" y="3200400"/>
            <a:ext cx="4780662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Capacity visibility, release timing and installation readiness can influence energization milestones.</a:t>
            </a:r>
          </a:p>
        </p:txBody>
      </p:sp>
      <p:sp>
        <p:nvSpPr>
          <p:cNvPr id="113" name=""/>
          <p:cNvSpPr>
            <a:spLocks noGrp="1"/>
          </p:cNvSpPr>
          <p:nvPr/>
        </p:nvSpPr>
        <p:spPr>
          <a:xfrm>
            <a:off x="6235130" y="2606040"/>
            <a:ext cx="523786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14" name=""/>
          <p:cNvSpPr>
            <a:spLocks noGrp="1"/>
          </p:cNvSpPr>
          <p:nvPr/>
        </p:nvSpPr>
        <p:spPr>
          <a:xfrm>
            <a:off x="6463730" y="2788920"/>
            <a:ext cx="594360" cy="27432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15" name=""/>
          <p:cNvSpPr>
            <a:spLocks noGrp="1"/>
          </p:cNvSpPr>
          <p:nvPr/>
        </p:nvSpPr>
        <p:spPr>
          <a:xfrm>
            <a:off x="6463730" y="2880360"/>
            <a:ext cx="5943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116" name=""/>
          <p:cNvSpPr>
            <a:spLocks noGrp="1"/>
          </p:cNvSpPr>
          <p:nvPr/>
        </p:nvSpPr>
        <p:spPr>
          <a:xfrm>
            <a:off x="7103810" y="2880360"/>
            <a:ext cx="414058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INSTALLED COST</a:t>
            </a:r>
          </a:p>
        </p:txBody>
      </p:sp>
      <p:sp>
        <p:nvSpPr>
          <p:cNvPr id="117" name=""/>
          <p:cNvSpPr>
            <a:spLocks noGrp="1"/>
          </p:cNvSpPr>
          <p:nvPr/>
        </p:nvSpPr>
        <p:spPr>
          <a:xfrm>
            <a:off x="6463730" y="3200400"/>
            <a:ext cx="4780662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Routes, reels, cuts, pulls, congestion and rework often matter more than purchase price alone.</a:t>
            </a:r>
          </a:p>
        </p:txBody>
      </p:sp>
      <p:sp>
        <p:nvSpPr>
          <p:cNvPr id="118" name=""/>
          <p:cNvSpPr>
            <a:spLocks noGrp="1"/>
          </p:cNvSpPr>
          <p:nvPr/>
        </p:nvSpPr>
        <p:spPr>
          <a:xfrm>
            <a:off x="719138" y="4434840"/>
            <a:ext cx="523786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19" name=""/>
          <p:cNvSpPr>
            <a:spLocks noGrp="1"/>
          </p:cNvSpPr>
          <p:nvPr/>
        </p:nvSpPr>
        <p:spPr>
          <a:xfrm>
            <a:off x="947738" y="4617720"/>
            <a:ext cx="594360" cy="27432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20" name=""/>
          <p:cNvSpPr>
            <a:spLocks noGrp="1"/>
          </p:cNvSpPr>
          <p:nvPr/>
        </p:nvSpPr>
        <p:spPr>
          <a:xfrm>
            <a:off x="947738" y="4709160"/>
            <a:ext cx="5943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121" name=""/>
          <p:cNvSpPr>
            <a:spLocks noGrp="1"/>
          </p:cNvSpPr>
          <p:nvPr/>
        </p:nvSpPr>
        <p:spPr>
          <a:xfrm>
            <a:off x="1587818" y="4709160"/>
            <a:ext cx="414058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CAPITAL CERTAINTY</a:t>
            </a:r>
          </a:p>
        </p:txBody>
      </p:sp>
      <p:sp>
        <p:nvSpPr>
          <p:cNvPr id="122" name=""/>
          <p:cNvSpPr>
            <a:spLocks noGrp="1"/>
          </p:cNvSpPr>
          <p:nvPr/>
        </p:nvSpPr>
        <p:spPr>
          <a:xfrm>
            <a:off x="947738" y="5029200"/>
            <a:ext cx="4780662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Earlier scope visibility supports commodity planning, material allocation and contingency discipline.</a:t>
            </a:r>
          </a:p>
        </p:txBody>
      </p:sp>
      <p:sp>
        <p:nvSpPr>
          <p:cNvPr id="123" name=""/>
          <p:cNvSpPr>
            <a:spLocks noGrp="1"/>
          </p:cNvSpPr>
          <p:nvPr/>
        </p:nvSpPr>
        <p:spPr>
          <a:xfrm>
            <a:off x="6235130" y="4434840"/>
            <a:ext cx="523786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24" name=""/>
          <p:cNvSpPr>
            <a:spLocks noGrp="1"/>
          </p:cNvSpPr>
          <p:nvPr/>
        </p:nvSpPr>
        <p:spPr>
          <a:xfrm>
            <a:off x="6463730" y="4617720"/>
            <a:ext cx="594360" cy="27432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25" name=""/>
          <p:cNvSpPr>
            <a:spLocks noGrp="1"/>
          </p:cNvSpPr>
          <p:nvPr/>
        </p:nvSpPr>
        <p:spPr>
          <a:xfrm>
            <a:off x="6463730" y="4709160"/>
            <a:ext cx="5943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sp>
        <p:nvSpPr>
          <p:cNvPr id="126" name=""/>
          <p:cNvSpPr>
            <a:spLocks noGrp="1"/>
          </p:cNvSpPr>
          <p:nvPr/>
        </p:nvSpPr>
        <p:spPr>
          <a:xfrm>
            <a:off x="7103810" y="4709160"/>
            <a:ext cx="414058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AVAILABILITY / LIFECYCLE</a:t>
            </a:r>
          </a:p>
        </p:txBody>
      </p:sp>
      <p:sp>
        <p:nvSpPr>
          <p:cNvPr id="127" name=""/>
          <p:cNvSpPr>
            <a:spLocks noGrp="1"/>
          </p:cNvSpPr>
          <p:nvPr/>
        </p:nvSpPr>
        <p:spPr>
          <a:xfrm>
            <a:off x="6463730" y="5029200"/>
            <a:ext cx="4780662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Turnover records, spares, condition screens and replacement planning support long-term continuity.</a:t>
            </a:r>
          </a:p>
        </p:txBody>
      </p:sp>
      <p:sp>
        <p:nvSpPr>
          <p:cNvPr id="128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solidFill>
            <a:srgbClr val="17191C"/>
          </a:solidFill>
          <a:ln w="0">
            <a:noFill/>
            <a:prstDash val="solid"/>
          </a:ln>
        </p:spPr>
      </p:sp>
      <p:sp>
        <p:nvSpPr>
          <p:cNvPr id="129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VALIDATE THE VALUE ON ONE LIVE NRG SCOPE </a:t>
            </a: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— DO NOT ASSUME SAVINGS.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2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8162B-F601-4993-98BE-8D3BBB69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1c5f2262e4319"/>
          <a:srcRect xmlns:a="http://schemas.openxmlformats.org/drawingml/2006/main" l="8771" t="0" r="87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9550"/>
            <a:ext cx="245745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D36E9-20DA-46F1-ACA1-252C5BC6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ADJACENT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4AB5C-7EC8-420D-B720-AC3E8A2F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8909B-CBB8-472D-9EB7-45D22A31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ILLUSTRATIVE ADJACENT-MARKET BENCHMARK  |  NOT AN NRG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CB839-CF33-46DF-BEAB-0097A59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Adjacent experience indicates where to test—not what NRG will save.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3E3EC-1859-40FD-913D-354070C7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C8CBC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CBCE"/>
                </a:solidFill>
                <a:latin typeface="Arial"/>
                <a:ea typeface="Arial"/>
                <a:cs typeface="Arial"/>
              </a:rPr>
              <a:t>Field hours per electrical spine in one repetitive modular-generation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04A89-F9F2-44AE-A653-9601C86D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7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57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4,400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8F05E-D3A7-4725-AF7B-22D702CB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OBSERVED FIELD HOURS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SITE-BUILT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F02CA-DBD3-4859-AF3F-1D044E92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933700"/>
            <a:ext cx="2095500" cy="466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FB9DE-7765-4137-85DE-D711A325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003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7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57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~880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E448B-AC8F-4D77-A10F-EB3D44F6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MODELED FIELD HOURS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WITH FACTORY-BUILT ASSEMBLY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91E57-1617-48F4-B221-E3DE343A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219575"/>
            <a:ext cx="5257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32"/>
          </a:solidFill>
          <a:ln xmlns:a="http://schemas.openxmlformats.org/drawingml/2006/main" w="9525">
            <a:solidFill>
              <a:srgbClr val="4145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90F3D-24E2-43A3-BC80-0B27D9B2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WHAT IT SUGGESTS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17E22-8AA6-4ADE-B06E-95252889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Stable, repeatable interfaces may be candidates for offsite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81D7F-D168-416D-9DD9-FF7CA804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4219575"/>
            <a:ext cx="5581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32"/>
          </a:solidFill>
          <a:ln xmlns:a="http://schemas.openxmlformats.org/drawingml/2006/main" w="9525">
            <a:solidFill>
              <a:srgbClr val="4145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C47E8-FE43-444A-BF93-C7020872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WHAT IT DOES NOT 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0DF4B-9080-43AC-805A-3D9F6E0B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67275"/>
            <a:ext cx="495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Net NRG savings, schedule reduction or critical-path removal.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D27FB-5F84-48E5-842F-1B2511CC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43625"/>
            <a:ext cx="1108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1">
                <a:solidFill>
                  <a:srgbClr val="8B9094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8B9094"/>
                </a:solidFill>
                <a:latin typeface="Arial"/>
                <a:ea typeface="Arial"/>
                <a:cs typeface="Arial"/>
              </a:rPr>
              <a:t>Rebuild the case with NRG scope, labor rates, schedule logic and acceptance criteria.</a:t>
            </a:r>
          </a:p>
        </p:txBody>
      </p:sp>
    </p:spTree>
    <p:extLst>
      <p:ext uri="{BB962C8B-B14F-4D97-AF65-F5344CB8AC3E}">
        <p14:creationId xmlns:p14="http://schemas.microsoft.com/office/powerpoint/2010/main" val="17223488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13ECD5-341F-415E-84A3-47C83FA7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8650a3c4a4d07"/>
          <a:stretch xmlns:a="http://schemas.openxmlformats.org/drawingml/2006/main"/>
        </p:blipFill>
        <p:spPr>
          <a:xfrm xmlns:a="http://schemas.openxmlformats.org/drawingml/2006/main">
            <a:off x="719138" y="200025"/>
            <a:ext cx="2066925" cy="590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BAE97-A482-4C51-AB8A-4FC957C2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VALIDATION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9B8D4-7A2F-45E6-82B8-D279976E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2B7DA-FF50-4999-9E1F-7DC40D90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ONE LIVE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BED4F-19E1-4982-A1D1-521AEF1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2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One live scope can prove—or disprove—the case before NRG expands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67C56-AE84-4523-8A09-974155F9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NRG selects the starting scope: one live package, conversion/uprate screen or planned-outage replacement.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8CD6F-FAD1-4542-9104-F794B20E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33725"/>
            <a:ext cx="874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783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B7608-3F72-4762-A223-E4CD655D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43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424C8-E27E-4777-98E6-33313A9F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00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C0D98-DE4B-45ED-9FE2-02949D37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SELECT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D6648-3D0D-4368-B77F-F895BB12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One active electrical package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68B23-D7A4-4665-89C6-2CED9881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43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1213F-6B30-4A83-B799-2D99FAC7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00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0F5A5-7842-491B-8D20-9FD737DB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WALK THE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D1B96-AD35-4D5F-BCE9-C6955AB8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433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People closest to 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4852D-62CD-40A0-8594-6B48D1BB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43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C0776-D7F7-4A88-B5A2-B555EE43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00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59F52-B2A9-4422-BCEC-BDC6CB36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MAP THE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3704E-D542-4DA0-B5E5-CDA2450C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Interfaces, releases, constraints + repetition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26CA3-82E9-421A-AD1E-457B574C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43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4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977B31-4638-490D-831C-B42F263F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00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83C44C-4ECF-4BBC-8052-84B63F67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43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DECIDE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CFB66-F8CA-46AE-B743-9928828F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433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Stop, standardize or pilot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27BF63-4301-4D2E-AB17-9762F762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829175"/>
            <a:ext cx="11087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3D8"/>
          </a:solidFill>
          <a:ln xmlns:a="http://schemas.openxmlformats.org/drawingml/2006/main" w="9525">
            <a:solidFill>
              <a:srgbClr val="E0C4B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05F57C-E518-493A-A640-19DF682E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WRITTEN READ-BACK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835A7-613D-4054-BAAA-7005CBA5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0387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Milestone exposure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461B3C-2622-4929-8DE8-6495088A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4387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Route, reel + release constraints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3261F5-966B-44FA-9121-0D3FF6B2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387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Repeatable-interface candidates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CFA833-7555-4885-B8FA-6895A39A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387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Decision gaps + recommendation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D444A0-F72B-4A5B-A1B7-8DF5519C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981575"/>
            <a:ext cx="1600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STOP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5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STANDARDIZE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5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D9FD6F-F406-496E-99AE-88486C2F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1">
                <a:solidFill>
                  <a:srgbClr val="8B9094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8B9094"/>
                </a:solidFill>
                <a:latin typeface="Arial"/>
                <a:ea typeface="Arial"/>
                <a:cs typeface="Arial"/>
              </a:rPr>
              <a:t>No presumption that the answer is prefab—or that Southwire belongs in the solution.</a:t>
            </a:r>
          </a:p>
        </p:txBody>
      </p:sp>
    </p:spTree>
    <p:extLst>
      <p:ext uri="{BB962C8B-B14F-4D97-AF65-F5344CB8AC3E}">
        <p14:creationId xmlns:p14="http://schemas.microsoft.com/office/powerpoint/2010/main" val="19271667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090369bf04fb9"/>
          <a:srcRect xmlns:a="http://schemas.openxmlformats.org/drawingml/2006/main" l="0" t="11345" r="0" b="11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003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86577-7FD6-4E7A-9F78-F874D9D6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7F0EE-5C22-46A5-8FF3-6F8A5001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38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26A6B-604E-4302-BED6-FAC03183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066800"/>
            <a:ext cx="78105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38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38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ONE SITE WALK.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38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38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ONE HOUR.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38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38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NO SALES PRESENTATION.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2C868-8A71-436C-9D9F-382247C5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86100"/>
            <a:ext cx="136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783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2F160-C0E0-4544-AED1-110B326F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43275"/>
            <a:ext cx="766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D4D6D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4D6D8"/>
                </a:solidFill>
                <a:latin typeface="Arial"/>
                <a:ea typeface="Arial"/>
                <a:cs typeface="Arial"/>
              </a:rPr>
              <a:t>Choose one live electrical scope and bring the people closest to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779A2-3811-4864-A788-4CE9F98F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052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8B2CE-326E-4BE2-9F47-54E879EF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67175"/>
            <a:ext cx="617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live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374F9-5B03-4021-96B6-6CCD936A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76750"/>
            <a:ext cx="776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4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F6D94-AF4F-4255-AB7C-1618C029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244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90F82-14BA-4C45-81C4-D787E23F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686300"/>
            <a:ext cx="617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Written execution-risk read-back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44146-E575-42D6-AFC2-87956055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95875"/>
            <a:ext cx="776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48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DC995-35FC-47B8-98FE-36C2EA79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3435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9760F-7F0F-4A25-AF32-24A9073E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305425"/>
            <a:ext cx="617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Stop, standardize or define a bounded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17B67-3E80-460C-A9F3-61D1AF3A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01980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NO PRICING EXERCISE. NO BROAD COMMERCIAL COMMITMENT.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8E470-C0A2-46EA-B882-4B0BC7C7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38900"/>
            <a:ext cx="509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8B909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B9094"/>
                </a:solidFill>
                <a:latin typeface="Arial"/>
                <a:ea typeface="Arial"/>
                <a:cs typeface="Arial"/>
              </a:rPr>
              <a:t>Stephan Hardt  |  Director, Power Generation Solutions  |  Southwire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632DE-BA61-449A-8837-ADD3F559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6429375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E3A06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3A06D"/>
                </a:solidFill>
                <a:latin typeface="Arial"/>
                <a:ea typeface="Arial"/>
                <a:cs typeface="Arial"/>
              </a:rPr>
              <a:t>stephan.hardt@southwire.com  |  +1 470-439-8488</a:t>
            </a:r>
          </a:p>
        </p:txBody>
      </p:sp>
    </p:spTree>
    <p:extLst>
      <p:ext uri="{BB962C8B-B14F-4D97-AF65-F5344CB8AC3E}">
        <p14:creationId xmlns:p14="http://schemas.microsoft.com/office/powerpoint/2010/main" val="7756952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587E2-FC4F-49CD-8D8C-2765E1B4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2a3d3733b4264"/>
          <a:stretch xmlns:a="http://schemas.openxmlformats.org/drawingml/2006/main"/>
        </p:blipFill>
        <p:spPr>
          <a:xfrm xmlns:a="http://schemas.openxmlformats.org/drawingml/2006/main">
            <a:off x="719138" y="200025"/>
            <a:ext cx="2066925" cy="590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195BE-0FB3-4DE7-ABCC-05436F18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A1 · NRG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56087-0A66-405A-A4F3-CDF61851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093D7-ADC1-4FE9-A40B-33BEC937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SOURCE DISCIPLINE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207A7-6AEC-4825-9F58-39F1286C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NRG context is current, attributed and non-additive.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16E89-BB6B-40C9-9ECA-2D2F1880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1.5 GW TEF PORTFOLIO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D732F-8F8C-42CD-BB3E-99D66F58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43125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One operating project and two projects targeting mid-2028. Do not describe the entire portfolio as under construction.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E8360-D312-4F77-88B6-E9B3EF86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ACF0F-C1F1-4A27-AE2C-15DCA21F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5.4 GW NEWBUILD 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A11E4-2A04-4FF3-A8C6-38790EA4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57525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Turbine and EPC access supports a runway through 2032. Do not call all 5.4 GW committed or under construction.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C59DB-E4C9-4F83-84BA-B7353780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43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9D277-4CE5-412D-8148-23D11769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25.8 GW OPERATING FLEET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E60A5-AADA-4FDD-8EEA-34C3D7B8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71925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NRG's reported operating-generation fleet after the LS Power acquisition.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9E2F5-416D-4FE5-BB98-305C4DD7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77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90A40-1E7F-4931-88D1-11C009FD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~1-2 GW UPGRADE POTENTIAL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068D0-216E-4F21-80F4-A3B9FE8A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86325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CT-to-CCGT conversions and traditional uprates are under evaluation—not a committed pipeline.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BDA737-8704-4892-9648-12DB532E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5924550"/>
            <a:ext cx="11087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731F1-869B-4C24-AFCD-4F786F88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DO NOT SUM THESE FIGURES: THEY REPRESENT DIFFERENT ASSET STATES AND OVERLAP CONCEPTUALLY.</a:t>
            </a:r>
          </a:p>
        </p:txBody>
      </p:sp>
    </p:spTree>
    <p:extLst>
      <p:ext uri="{BB962C8B-B14F-4D97-AF65-F5344CB8AC3E}">
        <p14:creationId xmlns:p14="http://schemas.microsoft.com/office/powerpoint/2010/main" val="4264285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AA0B0E-59C2-46D9-A3F7-F12A81E2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8d762455049bf"/>
          <a:stretch xmlns:a="http://schemas.openxmlformats.org/drawingml/2006/main"/>
        </p:blipFill>
        <p:spPr>
          <a:xfrm xmlns:a="http://schemas.openxmlformats.org/drawingml/2006/main">
            <a:off x="719138" y="200025"/>
            <a:ext cx="2066925" cy="590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60F8C-2940-4770-BB54-3D37F8DB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A2 ·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FACD4-68DC-4EF1-9FCA-95986C82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10EC3-F27F-4555-A478-23E2A2B7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DECISION RIGHTS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FE768-4C48-4B66-90B8-34DFA5EF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Clear decision rights preserve existing project accountability.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67E82-F478-4A19-AABA-6870A061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59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NRG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2584E-74E8-4A11-9334-BAD4F039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57400"/>
            <a:ext cx="8048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Owner priorities, portfolio standards, risk tolerances, acceptance criteria and investment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5152D-AE6B-4CFF-9823-A36CFFDB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76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3904B-3A5E-4436-A518-492FA59F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70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EPC / EOR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64D90-A700-4C42-A98A-DBA5C4E0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38450"/>
            <a:ext cx="8048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Design authority, calculations, specifications, routing basis and approved technical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45614-EB8E-4048-A939-67C7767C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57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A83C9-3782-4EA9-9E17-34D1AF6E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480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OEM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CF575-A7FB-42D9-BD59-7BA97BBC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19500"/>
            <a:ext cx="8048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Equipment-package interfaces, internal wiring, approved terminations and warranty boundaries.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89F75-CE4A-4F40-A349-8BF0A2F3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BA4CB-84F0-4E0C-9235-103696CE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29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 i="0">
                <a:solidFill>
                  <a:srgbClr val="17191C"/>
                </a:solidFill>
                <a:latin typeface="Arial Narrow"/>
                <a:ea typeface="Arial Narrow"/>
                <a:cs typeface="Arial Narrow"/>
              </a:rPr>
              <a:t>ELECTRICAL CONTRACTOR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8495E-E93E-4A34-8A5B-D1282962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00550"/>
            <a:ext cx="8048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Installation means and methods, pull planning, workface execution, testing support and field feedback.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8ABAD-D706-4EE3-9D2D-E4372C44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07B80-13F4-4DF0-85A7-646CA6AC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" y="5124450"/>
            <a:ext cx="11172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3D8"/>
          </a:solidFill>
          <a:ln xmlns:a="http://schemas.openxmlformats.org/drawingml/2006/main" w="9525">
            <a:solidFill>
              <a:srgbClr val="E1C6B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A8BEA-C6C7-4EFA-BFA9-19FBBB07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01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SOUTHWIRE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3C22D-18C8-4935-808D-8D44760E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8048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 i="0">
                <a:solidFill>
                  <a:srgbClr val="6A6F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Application support, material and capacity visibility, engineered reel strategy, sequenced delivery and selected field support.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EF3DC-EDC0-4D4A-9FCF-D58A0E5F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6076950"/>
            <a:ext cx="11087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B36D7-111A-4429-8309-B99F2DAB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9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Southwire connects selected decisions; it does not replace owner, EPC, OEM or contractor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654748704"/>
      </p:ext>
    </p:extLst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2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103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104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A3 · SOUTHWIRE SUPPORT</a:t>
            </a:r>
          </a:p>
        </p:txBody>
      </p:sp>
      <p:sp>
        <p:nvSpPr>
          <p:cNvPr id="105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14</a:t>
            </a:r>
          </a:p>
        </p:txBody>
      </p:sp>
      <p:sp>
        <p:nvSpPr>
          <p:cNvPr id="106" name=""/>
          <p:cNvSpPr>
            <a:spLocks noGrp="1"/>
          </p:cNvSpPr>
          <p:nvPr/>
        </p:nvSpPr>
        <p:spPr>
          <a:xfrm>
            <a:off x="719138" y="1005840"/>
            <a:ext cx="85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DEFINED SUPPORT</a:t>
            </a:r>
          </a:p>
        </p:txBody>
      </p:sp>
      <p:sp>
        <p:nvSpPr>
          <p:cNvPr id="107" name=""/>
          <p:cNvSpPr>
            <a:spLocks noGrp="1"/>
          </p:cNvSpPr>
          <p:nvPr/>
        </p:nvSpPr>
        <p:spPr>
          <a:xfrm>
            <a:off x="719138" y="1280160"/>
            <a:ext cx="10753724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Southwire can support selected delivery stages without taking design authority.</a:t>
            </a:r>
          </a:p>
        </p:txBody>
      </p:sp>
      <p:sp>
        <p:nvSpPr>
          <p:cNvPr id="108" name=""/>
          <p:cNvSpPr>
            <a:spLocks noGrp="1"/>
          </p:cNvSpPr>
          <p:nvPr/>
        </p:nvSpPr>
        <p:spPr>
          <a:xfrm>
            <a:off x="719138" y="2331720"/>
            <a:ext cx="594360" cy="27432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09" name=""/>
          <p:cNvSpPr>
            <a:spLocks noGrp="1"/>
          </p:cNvSpPr>
          <p:nvPr/>
        </p:nvSpPr>
        <p:spPr>
          <a:xfrm>
            <a:off x="719138" y="2468880"/>
            <a:ext cx="3300000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50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ALIGN</a:t>
            </a:r>
          </a:p>
        </p:txBody>
      </p:sp>
      <p:sp>
        <p:nvSpPr>
          <p:cNvPr id="110" name=""/>
          <p:cNvSpPr>
            <a:spLocks noGrp="1"/>
          </p:cNvSpPr>
          <p:nvPr/>
        </p:nvSpPr>
        <p:spPr>
          <a:xfrm>
            <a:off x="719138" y="2926080"/>
            <a:ext cx="3300000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Application and BOM review</a:t>
            </a:r>
          </a:p>
        </p:txBody>
      </p:sp>
      <p:sp>
        <p:nvSpPr>
          <p:cNvPr id="111" name=""/>
          <p:cNvSpPr>
            <a:spLocks noGrp="1"/>
          </p:cNvSpPr>
          <p:nvPr/>
        </p:nvSpPr>
        <p:spPr>
          <a:xfrm>
            <a:off x="719138" y="3429000"/>
            <a:ext cx="3300000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Alternative-construction evaluation</a:t>
            </a:r>
          </a:p>
        </p:txBody>
      </p:sp>
      <p:sp>
        <p:nvSpPr>
          <p:cNvPr id="112" name=""/>
          <p:cNvSpPr>
            <a:spLocks noGrp="1"/>
          </p:cNvSpPr>
          <p:nvPr/>
        </p:nvSpPr>
        <p:spPr>
          <a:xfrm>
            <a:off x="719138" y="3931920"/>
            <a:ext cx="3300000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Multidisciplinary cable support</a:t>
            </a:r>
          </a:p>
        </p:txBody>
      </p:sp>
      <p:sp>
        <p:nvSpPr>
          <p:cNvPr id="113" name=""/>
          <p:cNvSpPr>
            <a:spLocks noGrp="1"/>
          </p:cNvSpPr>
          <p:nvPr/>
        </p:nvSpPr>
        <p:spPr>
          <a:xfrm>
            <a:off x="4446000" y="2331720"/>
            <a:ext cx="594360" cy="27432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14" name=""/>
          <p:cNvSpPr>
            <a:spLocks noGrp="1"/>
          </p:cNvSpPr>
          <p:nvPr/>
        </p:nvSpPr>
        <p:spPr>
          <a:xfrm>
            <a:off x="4446000" y="2468880"/>
            <a:ext cx="3300000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50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COORDINATE</a:t>
            </a:r>
          </a:p>
        </p:txBody>
      </p:sp>
      <p:sp>
        <p:nvSpPr>
          <p:cNvPr id="115" name=""/>
          <p:cNvSpPr>
            <a:spLocks noGrp="1"/>
          </p:cNvSpPr>
          <p:nvPr/>
        </p:nvSpPr>
        <p:spPr>
          <a:xfrm>
            <a:off x="4446000" y="2926080"/>
            <a:ext cx="3300000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Project cable management</a:t>
            </a:r>
          </a:p>
        </p:txBody>
      </p:sp>
      <p:sp>
        <p:nvSpPr>
          <p:cNvPr id="116" name=""/>
          <p:cNvSpPr>
            <a:spLocks noGrp="1"/>
          </p:cNvSpPr>
          <p:nvPr/>
        </p:nvSpPr>
        <p:spPr>
          <a:xfrm>
            <a:off x="4446000" y="3429000"/>
            <a:ext cx="3300000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Inventory and release coordination</a:t>
            </a:r>
          </a:p>
        </p:txBody>
      </p:sp>
      <p:sp>
        <p:nvSpPr>
          <p:cNvPr id="117" name=""/>
          <p:cNvSpPr>
            <a:spLocks noGrp="1"/>
          </p:cNvSpPr>
          <p:nvPr/>
        </p:nvSpPr>
        <p:spPr>
          <a:xfrm>
            <a:off x="4446000" y="3931920"/>
            <a:ext cx="3300000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Reel, cut and sequence planning</a:t>
            </a:r>
          </a:p>
        </p:txBody>
      </p:sp>
      <p:sp>
        <p:nvSpPr>
          <p:cNvPr id="118" name=""/>
          <p:cNvSpPr>
            <a:spLocks noGrp="1"/>
          </p:cNvSpPr>
          <p:nvPr/>
        </p:nvSpPr>
        <p:spPr>
          <a:xfrm>
            <a:off x="8172862" y="2331720"/>
            <a:ext cx="594360" cy="27432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19" name=""/>
          <p:cNvSpPr>
            <a:spLocks noGrp="1"/>
          </p:cNvSpPr>
          <p:nvPr/>
        </p:nvSpPr>
        <p:spPr>
          <a:xfrm>
            <a:off x="8172862" y="2468880"/>
            <a:ext cx="3300000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50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PREPARE + SUPPORT</a:t>
            </a:r>
          </a:p>
        </p:txBody>
      </p:sp>
      <p:sp>
        <p:nvSpPr>
          <p:cNvPr id="120" name=""/>
          <p:cNvSpPr>
            <a:spLocks noGrp="1"/>
          </p:cNvSpPr>
          <p:nvPr/>
        </p:nvSpPr>
        <p:spPr>
          <a:xfrm>
            <a:off x="8172862" y="2926080"/>
            <a:ext cx="3300000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Cut-to-length, striping and labeling</a:t>
            </a:r>
          </a:p>
        </p:txBody>
      </p:sp>
      <p:sp>
        <p:nvSpPr>
          <p:cNvPr id="121" name=""/>
          <p:cNvSpPr>
            <a:spLocks noGrp="1"/>
          </p:cNvSpPr>
          <p:nvPr/>
        </p:nvSpPr>
        <p:spPr>
          <a:xfrm>
            <a:off x="8172862" y="3429000"/>
            <a:ext cx="3300000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Kitting by package or work sequence</a:t>
            </a:r>
          </a:p>
        </p:txBody>
      </p:sp>
      <p:sp>
        <p:nvSpPr>
          <p:cNvPr id="122" name=""/>
          <p:cNvSpPr>
            <a:spLocks noGrp="1"/>
          </p:cNvSpPr>
          <p:nvPr/>
        </p:nvSpPr>
        <p:spPr>
          <a:xfrm>
            <a:off x="8172862" y="3931920"/>
            <a:ext cx="3300000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Selected cable-in-conduit, pulling + field support</a:t>
            </a:r>
          </a:p>
        </p:txBody>
      </p:sp>
      <p:sp>
        <p:nvSpPr>
          <p:cNvPr id="123" name=""/>
          <p:cNvSpPr>
            <a:spLocks noGrp="1"/>
          </p:cNvSpPr>
          <p:nvPr/>
        </p:nvSpPr>
        <p:spPr>
          <a:xfrm>
            <a:off x="719138" y="5486400"/>
            <a:ext cx="10753724" cy="685800"/>
          </a:xfrm>
          <a:prstGeom prst="rect">
            <a:avLst/>
          </a:prstGeom>
          <a:solidFill>
            <a:srgbClr val="17191C"/>
          </a:solidFill>
          <a:ln w="0">
            <a:noFill/>
            <a:prstDash val="solid"/>
          </a:ln>
        </p:spPr>
      </p:sp>
      <p:sp>
        <p:nvSpPr>
          <p:cNvPr id="124" name=""/>
          <p:cNvSpPr>
            <a:spLocks noGrp="1"/>
          </p:cNvSpPr>
          <p:nvPr/>
        </p:nvSpPr>
        <p:spPr>
          <a:xfrm>
            <a:off x="1005840" y="5486400"/>
            <a:ext cx="2971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PROCUREMENT + SUSTAINABILITY SUPPORT</a:t>
            </a:r>
          </a:p>
        </p:txBody>
      </p:sp>
      <p:sp>
        <p:nvSpPr>
          <p:cNvPr id="125" name=""/>
          <p:cNvSpPr>
            <a:spLocks noGrp="1"/>
          </p:cNvSpPr>
          <p:nvPr/>
        </p:nvSpPr>
        <p:spPr>
          <a:xfrm>
            <a:off x="4206240" y="5486400"/>
            <a:ext cx="6981222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Product-level EPDs and responsible-production evidence can support procurement where applicable to the selected product and manufacturing site.</a:t>
            </a:r>
          </a:p>
        </p:txBody>
      </p:sp>
      <p:sp>
        <p:nvSpPr>
          <p:cNvPr id="126" name=""/>
          <p:cNvSpPr>
            <a:spLocks noGrp="1"/>
          </p:cNvSpPr>
          <p:nvPr/>
        </p:nvSpPr>
        <p:spPr>
          <a:xfrm>
            <a:off x="719138" y="6355080"/>
            <a:ext cx="10753724" cy="2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 b="0" i="1">
                <a:solidFill>
                  <a:srgbClr val="6A6F73"/>
                </a:solidFill>
                <a:latin typeface="Arial"/>
                <a:ea typeface="Arial"/>
                <a:cs typeface="Arial"/>
              </a:rPr>
              <a:t>Capability does not equal outcome. Availability, geography, contractual scope and technical fit must be confirmed for each project.</a:t>
            </a:r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7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128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129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A4 · EVIDENCE DISCIPLINE</a:t>
            </a:r>
          </a:p>
        </p:txBody>
      </p:sp>
      <p:sp>
        <p:nvSpPr>
          <p:cNvPr id="130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15</a:t>
            </a:r>
          </a:p>
        </p:txBody>
      </p:sp>
      <p:sp>
        <p:nvSpPr>
          <p:cNvPr id="131" name=""/>
          <p:cNvSpPr>
            <a:spLocks noGrp="1"/>
          </p:cNvSpPr>
          <p:nvPr/>
        </p:nvSpPr>
        <p:spPr>
          <a:xfrm>
            <a:off x="719138" y="1005840"/>
            <a:ext cx="85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OBSERVED, MODELED, VALIDATED</a:t>
            </a:r>
          </a:p>
        </p:txBody>
      </p:sp>
      <p:sp>
        <p:nvSpPr>
          <p:cNvPr id="132" name=""/>
          <p:cNvSpPr>
            <a:spLocks noGrp="1"/>
          </p:cNvSpPr>
          <p:nvPr/>
        </p:nvSpPr>
        <p:spPr>
          <a:xfrm>
            <a:off x="719138" y="1280160"/>
            <a:ext cx="10753724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Evidence is credible only when its boundaries stay visible.</a:t>
            </a:r>
          </a:p>
        </p:txBody>
      </p:sp>
      <p:sp>
        <p:nvSpPr>
          <p:cNvPr id="133" name=""/>
          <p:cNvSpPr>
            <a:spLocks noGrp="1"/>
          </p:cNvSpPr>
          <p:nvPr/>
        </p:nvSpPr>
        <p:spPr>
          <a:xfrm>
            <a:off x="719138" y="2240280"/>
            <a:ext cx="5237862" cy="31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34" name=""/>
          <p:cNvSpPr>
            <a:spLocks noGrp="1"/>
          </p:cNvSpPr>
          <p:nvPr/>
        </p:nvSpPr>
        <p:spPr>
          <a:xfrm>
            <a:off x="993458" y="2514600"/>
            <a:ext cx="4689222" cy="2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OBSERVED + PUBLISHED</a:t>
            </a:r>
          </a:p>
        </p:txBody>
      </p:sp>
      <p:sp>
        <p:nvSpPr>
          <p:cNvPr id="135" name=""/>
          <p:cNvSpPr>
            <a:spLocks noGrp="1"/>
          </p:cNvSpPr>
          <p:nvPr/>
        </p:nvSpPr>
        <p:spPr>
          <a:xfrm>
            <a:off x="993458" y="299442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36" name=""/>
          <p:cNvSpPr>
            <a:spLocks noGrp="1"/>
          </p:cNvSpPr>
          <p:nvPr/>
        </p:nvSpPr>
        <p:spPr>
          <a:xfrm>
            <a:off x="1222058" y="2925840"/>
            <a:ext cx="4460622" cy="7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Name the scope, source, permission and unit of measure.</a:t>
            </a:r>
          </a:p>
        </p:txBody>
      </p:sp>
      <p:sp>
        <p:nvSpPr>
          <p:cNvPr id="137" name=""/>
          <p:cNvSpPr>
            <a:spLocks noGrp="1"/>
          </p:cNvSpPr>
          <p:nvPr/>
        </p:nvSpPr>
        <p:spPr>
          <a:xfrm>
            <a:off x="993458" y="37259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38" name=""/>
          <p:cNvSpPr>
            <a:spLocks noGrp="1"/>
          </p:cNvSpPr>
          <p:nvPr/>
        </p:nvSpPr>
        <p:spPr>
          <a:xfrm>
            <a:off x="1222058" y="3657360"/>
            <a:ext cx="4460622" cy="7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Separate measured performance from arithmetic and inference.</a:t>
            </a:r>
          </a:p>
        </p:txBody>
      </p:sp>
      <p:sp>
        <p:nvSpPr>
          <p:cNvPr id="139" name=""/>
          <p:cNvSpPr>
            <a:spLocks noGrp="1"/>
          </p:cNvSpPr>
          <p:nvPr/>
        </p:nvSpPr>
        <p:spPr>
          <a:xfrm>
            <a:off x="993458" y="445746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40" name=""/>
          <p:cNvSpPr>
            <a:spLocks noGrp="1"/>
          </p:cNvSpPr>
          <p:nvPr/>
        </p:nvSpPr>
        <p:spPr>
          <a:xfrm>
            <a:off x="1222058" y="4388880"/>
            <a:ext cx="4460622" cy="7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Keep customer- and line-specific conditions attached to each result.</a:t>
            </a:r>
          </a:p>
        </p:txBody>
      </p:sp>
      <p:sp>
        <p:nvSpPr>
          <p:cNvPr id="141" name=""/>
          <p:cNvSpPr>
            <a:spLocks noGrp="1"/>
          </p:cNvSpPr>
          <p:nvPr/>
        </p:nvSpPr>
        <p:spPr>
          <a:xfrm>
            <a:off x="6235130" y="2240280"/>
            <a:ext cx="5237862" cy="31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42" name=""/>
          <p:cNvSpPr>
            <a:spLocks noGrp="1"/>
          </p:cNvSpPr>
          <p:nvPr/>
        </p:nvSpPr>
        <p:spPr>
          <a:xfrm>
            <a:off x="6509450" y="2514600"/>
            <a:ext cx="4689222" cy="2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MODELED + DIRECTIONAL</a:t>
            </a:r>
          </a:p>
        </p:txBody>
      </p:sp>
      <p:sp>
        <p:nvSpPr>
          <p:cNvPr id="143" name=""/>
          <p:cNvSpPr>
            <a:spLocks noGrp="1"/>
          </p:cNvSpPr>
          <p:nvPr/>
        </p:nvSpPr>
        <p:spPr>
          <a:xfrm>
            <a:off x="6509450" y="299442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44" name=""/>
          <p:cNvSpPr>
            <a:spLocks noGrp="1"/>
          </p:cNvSpPr>
          <p:nvPr/>
        </p:nvSpPr>
        <p:spPr>
          <a:xfrm>
            <a:off x="6738050" y="2925840"/>
            <a:ext cx="4460622" cy="7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State every input, exclusion and scope-equivalence assumption.</a:t>
            </a:r>
          </a:p>
        </p:txBody>
      </p:sp>
      <p:sp>
        <p:nvSpPr>
          <p:cNvPr id="145" name=""/>
          <p:cNvSpPr>
            <a:spLocks noGrp="1"/>
          </p:cNvSpPr>
          <p:nvPr/>
        </p:nvSpPr>
        <p:spPr>
          <a:xfrm>
            <a:off x="6509450" y="37259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46" name=""/>
          <p:cNvSpPr>
            <a:spLocks noGrp="1"/>
          </p:cNvSpPr>
          <p:nvPr/>
        </p:nvSpPr>
        <p:spPr>
          <a:xfrm>
            <a:off x="6738050" y="3657360"/>
            <a:ext cx="4460622" cy="7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Include engineering, factory work, freight, FAT and residual field work.</a:t>
            </a:r>
          </a:p>
        </p:txBody>
      </p:sp>
      <p:sp>
        <p:nvSpPr>
          <p:cNvPr id="147" name=""/>
          <p:cNvSpPr>
            <a:spLocks noGrp="1"/>
          </p:cNvSpPr>
          <p:nvPr/>
        </p:nvSpPr>
        <p:spPr>
          <a:xfrm>
            <a:off x="6509450" y="445746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48" name=""/>
          <p:cNvSpPr>
            <a:spLocks noGrp="1"/>
          </p:cNvSpPr>
          <p:nvPr/>
        </p:nvSpPr>
        <p:spPr>
          <a:xfrm>
            <a:off x="6738050" y="4388880"/>
            <a:ext cx="4460622" cy="7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Test whether the activity leaves the critical path before treating elapsed-time compression as schedule impact.</a:t>
            </a:r>
          </a:p>
        </p:txBody>
      </p:sp>
      <p:sp>
        <p:nvSpPr>
          <p:cNvPr id="149" name=""/>
          <p:cNvSpPr>
            <a:spLocks noGrp="1"/>
          </p:cNvSpPr>
          <p:nvPr/>
        </p:nvSpPr>
        <p:spPr>
          <a:xfrm>
            <a:off x="719138" y="5760720"/>
            <a:ext cx="10753724" cy="400000"/>
          </a:xfrm>
          <a:prstGeom prst="rect">
            <a:avLst/>
          </a:prstGeom>
          <a:solidFill>
            <a:srgbClr val="17191C"/>
          </a:solidFill>
          <a:ln w="0">
            <a:noFill/>
            <a:prstDash val="solid"/>
          </a:ln>
        </p:spPr>
      </p:sp>
      <p:sp>
        <p:nvSpPr>
          <p:cNvPr id="150" name=""/>
          <p:cNvSpPr>
            <a:spLocks noGrp="1"/>
          </p:cNvSpPr>
          <p:nvPr/>
        </p:nvSpPr>
        <p:spPr>
          <a:xfrm>
            <a:off x="719138" y="5760720"/>
            <a:ext cx="10753724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DO NOT TURN A SCREENING MODEL INTO AN NRG OUTCOME.</a:t>
            </a:r>
          </a:p>
        </p:txBody>
      </p:sp>
      <p:sp>
        <p:nvSpPr>
          <p:cNvPr id="151" name=""/>
          <p:cNvSpPr>
            <a:spLocks noGrp="1"/>
          </p:cNvSpPr>
          <p:nvPr/>
        </p:nvSpPr>
        <p:spPr>
          <a:xfrm>
            <a:off x="719138" y="6355080"/>
            <a:ext cx="10753724" cy="2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 b="0" i="1">
                <a:solidFill>
                  <a:srgbClr val="6A6F73"/>
                </a:solidFill>
                <a:latin typeface="Arial"/>
                <a:ea typeface="Arial"/>
                <a:cs typeface="Arial"/>
              </a:rPr>
              <a:t>Release gate: source permission, scope equivalence and NRG-specific validation approved.</a:t>
            </a:r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0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131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132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A5 · SITE-MODEL BASIS</a:t>
            </a:r>
          </a:p>
        </p:txBody>
      </p:sp>
      <p:sp>
        <p:nvSpPr>
          <p:cNvPr id="133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16</a:t>
            </a:r>
          </a:p>
        </p:txBody>
      </p:sp>
      <p:sp>
        <p:nvSpPr>
          <p:cNvPr id="134" name=""/>
          <p:cNvSpPr>
            <a:spLocks noGrp="1"/>
          </p:cNvSpPr>
          <p:nvPr/>
        </p:nvSpPr>
        <p:spPr>
          <a:xfrm>
            <a:off x="719138" y="1280160"/>
            <a:ext cx="10753724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The plant-zone map is grounded in a routed 3×1 reference model.</a:t>
            </a:r>
          </a:p>
        </p:txBody>
      </p:sp>
      <p:sp>
        <p:nvSpPr>
          <p:cNvPr id="135" name=""/>
          <p:cNvSpPr>
            <a:spLocks noGrp="1"/>
          </p:cNvSpPr>
          <p:nvPr/>
        </p:nvSpPr>
        <p:spPr>
          <a:xfrm>
            <a:off x="719138" y="2286000"/>
            <a:ext cx="10753724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8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Every figure below comes from the routed Rev 89 geometry — built before any RFQ existed.</a:t>
            </a:r>
          </a:p>
        </p:txBody>
      </p:sp>
      <p:sp>
        <p:nvSpPr>
          <p:cNvPr id="136" name=""/>
          <p:cNvSpPr>
            <a:spLocks noGrp="1"/>
          </p:cNvSpPr>
          <p:nvPr/>
        </p:nvSpPr>
        <p:spPr>
          <a:xfrm>
            <a:off x="719138" y="2606040"/>
            <a:ext cx="370332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96 SCHEDULE RECORDS</a:t>
            </a:r>
          </a:p>
        </p:txBody>
      </p:sp>
      <p:sp>
        <p:nvSpPr>
          <p:cNvPr id="137" name=""/>
          <p:cNvSpPr>
            <a:spLocks noGrp="1"/>
          </p:cNvSpPr>
          <p:nvPr/>
        </p:nvSpPr>
        <p:spPr>
          <a:xfrm>
            <a:off x="4645660" y="2628900"/>
            <a:ext cx="6827202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NGCC master cable schedule Rev M21 — geometry-governed quantities, not factored estimates.</a:t>
            </a:r>
          </a:p>
        </p:txBody>
      </p:sp>
      <p:sp>
        <p:nvSpPr>
          <p:cNvPr id="138" name=""/>
          <p:cNvSpPr>
            <a:spLocks noGrp="1"/>
          </p:cNvSpPr>
          <p:nvPr/>
        </p:nvSpPr>
        <p:spPr>
          <a:xfrm>
            <a:off x="719138" y="3200400"/>
            <a:ext cx="10753724" cy="9525"/>
          </a:xfrm>
          <a:prstGeom prst="rect">
            <a:avLst/>
          </a:prstGeom>
          <a:solidFill>
            <a:srgbClr val="D8D1C8"/>
          </a:solidFill>
          <a:ln w="0">
            <a:noFill/>
            <a:prstDash val="solid"/>
          </a:ln>
        </p:spPr>
      </p:sp>
      <p:sp>
        <p:nvSpPr>
          <p:cNvPr id="139" name=""/>
          <p:cNvSpPr>
            <a:spLocks noGrp="1"/>
          </p:cNvSpPr>
          <p:nvPr/>
        </p:nvSpPr>
        <p:spPr>
          <a:xfrm>
            <a:off x="719138" y="3337560"/>
            <a:ext cx="370332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1,784 CIRCUITS ROUTED</a:t>
            </a:r>
          </a:p>
        </p:txBody>
      </p:sp>
      <p:sp>
        <p:nvSpPr>
          <p:cNvPr id="140" name=""/>
          <p:cNvSpPr>
            <a:spLocks noGrp="1"/>
          </p:cNvSpPr>
          <p:nvPr/>
        </p:nvSpPr>
        <p:spPr>
          <a:xfrm>
            <a:off x="4645660" y="3360420"/>
            <a:ext cx="6827202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2,478 physical runs routed through the Rev 89 site geometry, across every plant zone in slide 5.</a:t>
            </a:r>
          </a:p>
        </p:txBody>
      </p:sp>
      <p:sp>
        <p:nvSpPr>
          <p:cNvPr id="141" name=""/>
          <p:cNvSpPr>
            <a:spLocks noGrp="1"/>
          </p:cNvSpPr>
          <p:nvPr/>
        </p:nvSpPr>
        <p:spPr>
          <a:xfrm>
            <a:off x="719138" y="3931920"/>
            <a:ext cx="10753724" cy="9525"/>
          </a:xfrm>
          <a:prstGeom prst="rect">
            <a:avLst/>
          </a:prstGeom>
          <a:solidFill>
            <a:srgbClr val="D8D1C8"/>
          </a:solidFill>
          <a:ln w="0">
            <a:noFill/>
            <a:prstDash val="solid"/>
          </a:ln>
        </p:spPr>
      </p:sp>
      <p:sp>
        <p:nvSpPr>
          <p:cNvPr id="142" name=""/>
          <p:cNvSpPr>
            <a:spLocks noGrp="1"/>
          </p:cNvSpPr>
          <p:nvPr/>
        </p:nvSpPr>
        <p:spPr>
          <a:xfrm>
            <a:off x="719138" y="4069080"/>
            <a:ext cx="370332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1,136,255 PROCUREMENT FT</a:t>
            </a:r>
          </a:p>
        </p:txBody>
      </p:sp>
      <p:sp>
        <p:nvSpPr>
          <p:cNvPr id="143" name=""/>
          <p:cNvSpPr>
            <a:spLocks noGrp="1"/>
          </p:cNvSpPr>
          <p:nvPr/>
        </p:nvSpPr>
        <p:spPr>
          <a:xfrm>
            <a:off x="4645660" y="4091940"/>
            <a:ext cx="6827202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Approximately 1.14M ft of cable derived from routed lengths plus engineering allowances.</a:t>
            </a:r>
          </a:p>
        </p:txBody>
      </p:sp>
      <p:sp>
        <p:nvSpPr>
          <p:cNvPr id="144" name=""/>
          <p:cNvSpPr>
            <a:spLocks noGrp="1"/>
          </p:cNvSpPr>
          <p:nvPr/>
        </p:nvSpPr>
        <p:spPr>
          <a:xfrm>
            <a:off x="719138" y="4663440"/>
            <a:ext cx="10753724" cy="9525"/>
          </a:xfrm>
          <a:prstGeom prst="rect">
            <a:avLst/>
          </a:prstGeom>
          <a:solidFill>
            <a:srgbClr val="D8D1C8"/>
          </a:solidFill>
          <a:ln w="0">
            <a:noFill/>
            <a:prstDash val="solid"/>
          </a:ln>
        </p:spPr>
      </p:sp>
      <p:sp>
        <p:nvSpPr>
          <p:cNvPr id="145" name=""/>
          <p:cNvSpPr>
            <a:spLocks noGrp="1"/>
          </p:cNvSpPr>
          <p:nvPr/>
        </p:nvSpPr>
        <p:spPr>
          <a:xfrm>
            <a:off x="719138" y="4800600"/>
            <a:ext cx="370332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563,091 LB COPPER</a:t>
            </a:r>
          </a:p>
        </p:txBody>
      </p:sp>
      <p:sp>
        <p:nvSpPr>
          <p:cNvPr id="146" name=""/>
          <p:cNvSpPr>
            <a:spLocks noGrp="1"/>
          </p:cNvSpPr>
          <p:nvPr/>
        </p:nvSpPr>
        <p:spPr>
          <a:xfrm>
            <a:off x="4645660" y="4823460"/>
            <a:ext cx="6827202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About 0.50 lb of copper per foot on average — commodity exposure quantified before procurement.</a:t>
            </a:r>
          </a:p>
        </p:txBody>
      </p:sp>
      <p:sp>
        <p:nvSpPr>
          <p:cNvPr id="147" name=""/>
          <p:cNvSpPr>
            <a:spLocks noGrp="1"/>
          </p:cNvSpPr>
          <p:nvPr/>
        </p:nvSpPr>
        <p:spPr>
          <a:xfrm>
            <a:off x="719138" y="5623560"/>
            <a:ext cx="10753724" cy="2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"/>
                <a:ea typeface="Arial"/>
                <a:cs typeface="Arial"/>
              </a:rPr>
              <a:t>Published Southwire record: 15M+ ft of HV underground cable with zero in-service failures.</a:t>
            </a:r>
          </a:p>
        </p:txBody>
      </p:sp>
      <p:sp>
        <p:nvSpPr>
          <p:cNvPr id="148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solidFill>
            <a:srgbClr val="17191C"/>
          </a:solidFill>
          <a:ln w="0">
            <a:noFill/>
            <a:prstDash val="solid"/>
          </a:ln>
        </p:spPr>
      </p:sp>
      <p:sp>
        <p:nvSpPr>
          <p:cNvPr id="149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THE MODEL BEHIND SLIDE 5 — CONCEPT, NOT FOR CONSTRUCTION; STOCK NUMBERS REQUIRE CONDUCTOR SIZING.</a:t>
            </a:r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2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153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154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A6 · SK-120 REFERENCE</a:t>
            </a:r>
          </a:p>
        </p:txBody>
      </p:sp>
      <p:sp>
        <p:nvSpPr>
          <p:cNvPr id="155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17</a:t>
            </a:r>
          </a:p>
        </p:txBody>
      </p:sp>
      <p:pic>
        <p:nvPicPr>
          <p:cNvPr id="156" name=""/>
          <p:cNvPicPr>
            <a:picLocks noChangeAspect="1"/>
          </p:cNvPicPr>
          <p:nvPr/>
        </p:nvPicPr>
        <p:blipFill>
          <a:blip r:embed="Rsk120"/>
          <a:stretch/>
        </p:blipFill>
        <p:spPr>
          <a:xfrm>
            <a:off x="1011152" y="950000"/>
            <a:ext cx="10169696" cy="5570220"/>
          </a:xfrm>
          <a:prstGeom prst="rect">
            <a:avLst/>
          </a:prstGeom>
        </p:spPr>
      </p:pic>
      <p:sp>
        <p:nvSpPr>
          <p:cNvPr id="157" name=""/>
          <p:cNvSpPr>
            <a:spLocks noGrp="1"/>
          </p:cNvSpPr>
          <p:nvPr/>
        </p:nvSpPr>
        <p:spPr>
          <a:xfrm>
            <a:off x="719138" y="6640000"/>
            <a:ext cx="10753724" cy="2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 b="0" i="1">
                <a:solidFill>
                  <a:srgbClr val="6A6F73"/>
                </a:solidFill>
                <a:latin typeface="Arial"/>
                <a:ea typeface="Arial"/>
                <a:cs typeface="Arial"/>
              </a:rPr>
              <a:t>SK-120 · 3×1 NGCC · Rev 89 site model · 16 zones with per-zone cable applications · concept, not for construction · print at 34″ for site-walk use.</a:t>
            </a:r>
          </a:p>
        </p:txBody>
      </p:sp>
    </p:spTree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22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8162B-F601-4993-98BE-8D3BBB69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1c5f2262e4319"/>
          <a:srcRect xmlns:a="http://schemas.openxmlformats.org/drawingml/2006/main" l="8771" t="0" r="87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9550"/>
            <a:ext cx="245745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D36E9-20DA-46F1-ACA1-252C5BC6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APPENDIX A7 · SKID SCENARIO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4AB5C-7EC8-420D-B720-AC3E8A2F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8909B-CBB8-472D-9EB7-45D22A31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INTERNAL ILLUSTRATIVE MODEL  |  NOT A CUSTOMER OR NRG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CB839-CF33-46DF-BEAB-0097A59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Repeatable skid interfaces are a prefabrication candidate—not a promised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3E3EC-1859-40FD-913D-354070C7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C8CBC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CBCE"/>
                </a:solidFill>
                <a:latin typeface="Arial"/>
                <a:ea typeface="Arial"/>
                <a:cs typeface="Arial"/>
              </a:rPr>
              <a:t>Supplied 50 MW power-distribution skid scenario | timing is directional and unvalidated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04A89-F9F2-44AE-A653-9601C86D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7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57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8–12 wks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8F05E-D3A7-4725-AF7B-22D702CB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SUPPLIED FIELD-BUILD MODEL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INSTALL + COMMISSION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F02CA-DBD3-4859-AF3F-1D044E92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933700"/>
            <a:ext cx="2095500" cy="466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FB9DE-7765-4137-85DE-D711A325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003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7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57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2–4 wks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E448B-AC8F-4D77-A10F-EB3D44F6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SUPPLIED PREFAB MODEL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INSTALL + COMMISSION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91E57-1617-48F4-B221-E3DE343A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219575"/>
            <a:ext cx="5257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32"/>
          </a:solidFill>
          <a:ln xmlns:a="http://schemas.openxmlformats.org/drawingml/2006/main" w="9525">
            <a:solidFill>
              <a:srgbClr val="4145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90F3D-24E2-43A3-BC80-0B27D9B2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WHAT IT SUGGESTS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17E22-8AA6-4ADE-B06E-95252889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Pretested, prelabeled harnesses may reduce onsite interfaces and congestion.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81D7F-D168-416D-9DD9-FF7CA804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4219575"/>
            <a:ext cx="5581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32"/>
          </a:solidFill>
          <a:ln xmlns:a="http://schemas.openxmlformats.org/drawingml/2006/main" w="9525">
            <a:solidFill>
              <a:srgbClr val="4145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C47E8-FE43-444A-BF93-C7020872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WHAT IT DOES NOT 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0DF4B-9080-43AC-805A-3D9F6E0B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67275"/>
            <a:ext cx="495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Net savings, a six-to-eight-week gain or lower commissioning risk.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D27FB-5F84-48E5-842F-1B2511CC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43625"/>
            <a:ext cx="1108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1">
                <a:solidFill>
                  <a:srgbClr val="8B9094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8B9094"/>
                </a:solidFill>
                <a:latin typeface="Arial"/>
                <a:ea typeface="Arial"/>
                <a:cs typeface="Arial"/>
              </a:rPr>
              <a:t>Validate scope, crew plan, factory cost, freight, work rules, commissioning and schedule logic.</a:t>
            </a:r>
          </a:p>
        </p:txBody>
      </p:sp>
    </p:spTree>
    <p:extLst>
      <p:ext uri="{BB962C8B-B14F-4D97-AF65-F5344CB8AC3E}">
        <p14:creationId xmlns:p14="http://schemas.microsoft.com/office/powerpoint/2010/main" val="1722348828"/>
      </p:ext>
    </p:extLst>
  </p:cSld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22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8162B-F601-4993-98BE-8D3BBB69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1c5f2262e4319"/>
          <a:srcRect xmlns:a="http://schemas.openxmlformats.org/drawingml/2006/main" l="8771" t="0" r="87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9550"/>
            <a:ext cx="245745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D36E9-20DA-46F1-ACA1-252C5BC6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APPENDIX A8 · ADVANCED CONDUCTOR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4AB5C-7EC8-420D-B720-AC3E8A2F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8909B-CBB8-472D-9EB7-45D22A31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PUBLISHED ADJACENT CASE  |  ANONYMOUS UTILITY  |  NOT AN NRG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CB839-CF33-46DF-BEAB-0097A59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138-kV crossing case shows where a conductor screen can change the rebuild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3E3EC-1859-40FD-913D-354070C7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C8CBC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CBCE"/>
                </a:solidFill>
                <a:latin typeface="Arial"/>
                <a:ea typeface="Arial"/>
                <a:cs typeface="Arial"/>
              </a:rPr>
              <a:t>Published Southwire river-crossing comparison under specific engineering assumptions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04A89-F9F2-44AE-A653-9601C86D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7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57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730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8F05E-D3A7-4725-AF7B-22D702CB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EXISTING 795 KCMIL DRAKE ACSR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98.0 FT CALCULATED FINAL SAG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F02CA-DBD3-4859-AF3F-1D044E92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933700"/>
            <a:ext cx="2095500" cy="466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FB9DE-7765-4137-85DE-D711A325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003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7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57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1,050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E448B-AC8F-4D77-A10F-EB3D44F6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477 KCMIL C7 SOLUTION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33.5 FT CALCULATED FINAL SAG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91E57-1617-48F4-B221-E3DE343A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219575"/>
            <a:ext cx="5257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32"/>
          </a:solidFill>
          <a:ln xmlns:a="http://schemas.openxmlformats.org/drawingml/2006/main" w="9525">
            <a:solidFill>
              <a:srgbClr val="4145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90F3D-24E2-43A3-BC80-0B27D9B2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WHAT IT SUGGESTS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17E22-8AA6-4ADE-B06E-95252889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Advanced conductor may avoid a full rebuild where line conditions permit.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81D7F-D168-416D-9DD9-FF7CA804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4219575"/>
            <a:ext cx="5581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32"/>
          </a:solidFill>
          <a:ln xmlns:a="http://schemas.openxmlformats.org/drawingml/2006/main" w="9525">
            <a:solidFill>
              <a:srgbClr val="4145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C47E8-FE43-444A-BF93-C7020872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 i="0">
                <a:solidFill>
                  <a:srgbClr val="E3A06D"/>
                </a:solidFill>
                <a:latin typeface="Arial Narrow"/>
                <a:ea typeface="Arial Narrow"/>
                <a:cs typeface="Arial Narrow"/>
              </a:rPr>
              <a:t>WHAT IT DOES NOT 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0DF4B-9080-43AC-805A-3D9F6E0B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67275"/>
            <a:ext cx="495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NRG transfer capability, corridor fit, cost or schedule.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D27FB-5F84-48E5-842F-1B2511CC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43625"/>
            <a:ext cx="1108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1">
                <a:solidFill>
                  <a:srgbClr val="8B9094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8B9094"/>
                </a:solidFill>
                <a:latin typeface="Arial"/>
                <a:ea typeface="Arial"/>
                <a:cs typeface="Arial"/>
              </a:rPr>
              <a:t>Require transmission-owner power-flow, structure, clearance, terminal, outage and permit validation.</a:t>
            </a:r>
          </a:p>
        </p:txBody>
      </p:sp>
      <p:sp>
        <p:nvSpPr>
          <p:cNvPr id="101" name=""/>
          <p:cNvSpPr>
            <a:spLocks noGrp="1"/>
          </p:cNvSpPr>
          <p:nvPr/>
        </p:nvSpPr>
        <p:spPr>
          <a:xfrm>
            <a:off x="719138" y="5852160"/>
            <a:ext cx="10753724" cy="2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9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WHY AN IPP CARES: GENERATOR-FUNDED NETWORK UPGRADES · THE GEN-TIE THE GENERATOR OWNS · UPRATE THERMAL LIMITS · IN-SERVICE CORRIDOR HEADROOM VS. A NEW QUEUE POSITION.</a:t>
            </a:r>
          </a:p>
        </p:txBody>
      </p:sp>
    </p:spTree>
    <p:extLst>
      <p:ext uri="{BB962C8B-B14F-4D97-AF65-F5344CB8AC3E}">
        <p14:creationId xmlns:p14="http://schemas.microsoft.com/office/powerpoint/2010/main" val="1722348828"/>
      </p:ext>
    </p:extLst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8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159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160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A9 · DEPLOYMENT MODES</a:t>
            </a:r>
          </a:p>
        </p:txBody>
      </p:sp>
      <p:sp>
        <p:nvSpPr>
          <p:cNvPr id="161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20</a:t>
            </a:r>
          </a:p>
        </p:txBody>
      </p:sp>
      <p:sp>
        <p:nvSpPr>
          <p:cNvPr id="162" name=""/>
          <p:cNvSpPr>
            <a:spLocks noGrp="1"/>
          </p:cNvSpPr>
          <p:nvPr/>
        </p:nvSpPr>
        <p:spPr>
          <a:xfrm>
            <a:off x="719138" y="1005840"/>
            <a:ext cx="85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ONE SYSTEM · THREE ASSET STATES</a:t>
            </a:r>
          </a:p>
        </p:txBody>
      </p:sp>
      <p:sp>
        <p:nvSpPr>
          <p:cNvPr id="163" name=""/>
          <p:cNvSpPr>
            <a:spLocks noGrp="1"/>
          </p:cNvSpPr>
          <p:nvPr/>
        </p:nvSpPr>
        <p:spPr>
          <a:xfrm>
            <a:off x="719138" y="1280160"/>
            <a:ext cx="10753724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The governance model stays constant; the deployment path changes by asset state.</a:t>
            </a:r>
          </a:p>
        </p:txBody>
      </p:sp>
      <p:sp>
        <p:nvSpPr>
          <p:cNvPr id="164" name=""/>
          <p:cNvSpPr>
            <a:spLocks noGrp="1"/>
          </p:cNvSpPr>
          <p:nvPr/>
        </p:nvSpPr>
        <p:spPr>
          <a:xfrm>
            <a:off x="719138" y="2331720"/>
            <a:ext cx="3200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NEW BUILD</a:t>
            </a:r>
          </a:p>
        </p:txBody>
      </p:sp>
      <p:sp>
        <p:nvSpPr>
          <p:cNvPr id="165" name=""/>
          <p:cNvSpPr>
            <a:spLocks noGrp="1"/>
          </p:cNvSpPr>
          <p:nvPr/>
        </p:nvSpPr>
        <p:spPr>
          <a:xfrm>
            <a:off x="4114800" y="2343150"/>
            <a:ext cx="7358062" cy="5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Standardize package interfaces, reserve capacity and sequence releases by workface.</a:t>
            </a:r>
          </a:p>
        </p:txBody>
      </p:sp>
      <p:sp>
        <p:nvSpPr>
          <p:cNvPr id="166" name=""/>
          <p:cNvSpPr>
            <a:spLocks noGrp="1"/>
          </p:cNvSpPr>
          <p:nvPr/>
        </p:nvSpPr>
        <p:spPr>
          <a:xfrm>
            <a:off x="719138" y="2960370"/>
            <a:ext cx="10753724" cy="9525"/>
          </a:xfrm>
          <a:prstGeom prst="rect">
            <a:avLst/>
          </a:prstGeom>
          <a:solidFill>
            <a:srgbClr val="D8D1C8"/>
          </a:solidFill>
          <a:ln w="0">
            <a:noFill/>
            <a:prstDash val="solid"/>
          </a:ln>
        </p:spPr>
      </p:sp>
      <p:sp>
        <p:nvSpPr>
          <p:cNvPr id="167" name=""/>
          <p:cNvSpPr>
            <a:spLocks noGrp="1"/>
          </p:cNvSpPr>
          <p:nvPr/>
        </p:nvSpPr>
        <p:spPr>
          <a:xfrm>
            <a:off x="719138" y="3131820"/>
            <a:ext cx="3200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CONVERSION / UPRATE</a:t>
            </a:r>
          </a:p>
        </p:txBody>
      </p:sp>
      <p:sp>
        <p:nvSpPr>
          <p:cNvPr id="168" name=""/>
          <p:cNvSpPr>
            <a:spLocks noGrp="1"/>
          </p:cNvSpPr>
          <p:nvPr/>
        </p:nvSpPr>
        <p:spPr>
          <a:xfrm>
            <a:off x="4114800" y="3143250"/>
            <a:ext cx="7358062" cy="5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Revalidate duty, routes and terminals; map brownfield interfaces; stage work around outage constraints.</a:t>
            </a:r>
          </a:p>
        </p:txBody>
      </p:sp>
      <p:sp>
        <p:nvSpPr>
          <p:cNvPr id="169" name=""/>
          <p:cNvSpPr>
            <a:spLocks noGrp="1"/>
          </p:cNvSpPr>
          <p:nvPr/>
        </p:nvSpPr>
        <p:spPr>
          <a:xfrm>
            <a:off x="719138" y="3760470"/>
            <a:ext cx="10753724" cy="9525"/>
          </a:xfrm>
          <a:prstGeom prst="rect">
            <a:avLst/>
          </a:prstGeom>
          <a:solidFill>
            <a:srgbClr val="D8D1C8"/>
          </a:solidFill>
          <a:ln w="0">
            <a:noFill/>
            <a:prstDash val="solid"/>
          </a:ln>
        </p:spPr>
      </p:sp>
      <p:sp>
        <p:nvSpPr>
          <p:cNvPr id="170" name=""/>
          <p:cNvSpPr>
            <a:spLocks noGrp="1"/>
          </p:cNvSpPr>
          <p:nvPr/>
        </p:nvSpPr>
        <p:spPr>
          <a:xfrm>
            <a:off x="719138" y="3931920"/>
            <a:ext cx="3200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OPERATING FLEET / OUTAGE</a:t>
            </a:r>
          </a:p>
        </p:txBody>
      </p:sp>
      <p:sp>
        <p:nvSpPr>
          <p:cNvPr id="171" name=""/>
          <p:cNvSpPr>
            <a:spLocks noGrp="1"/>
          </p:cNvSpPr>
          <p:nvPr/>
        </p:nvSpPr>
        <p:spPr>
          <a:xfrm>
            <a:off x="4114800" y="3943350"/>
            <a:ext cx="7358062" cy="5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Screen condition and criticality; evaluate replacement, eligible rejuvenation or outage spares; align material to outage windows.</a:t>
            </a:r>
          </a:p>
        </p:txBody>
      </p:sp>
      <p:sp>
        <p:nvSpPr>
          <p:cNvPr id="172" name=""/>
          <p:cNvSpPr>
            <a:spLocks noGrp="1"/>
          </p:cNvSpPr>
          <p:nvPr/>
        </p:nvSpPr>
        <p:spPr>
          <a:xfrm>
            <a:off x="719138" y="4560570"/>
            <a:ext cx="10753724" cy="9525"/>
          </a:xfrm>
          <a:prstGeom prst="rect">
            <a:avLst/>
          </a:prstGeom>
          <a:solidFill>
            <a:srgbClr val="D8D1C8"/>
          </a:solidFill>
          <a:ln w="0">
            <a:noFill/>
            <a:prstDash val="solid"/>
          </a:ln>
        </p:spPr>
      </p:sp>
      <p:sp>
        <p:nvSpPr>
          <p:cNvPr id="173" name=""/>
          <p:cNvSpPr>
            <a:spLocks noGrp="1"/>
          </p:cNvSpPr>
          <p:nvPr/>
        </p:nvSpPr>
        <p:spPr>
          <a:xfrm>
            <a:off x="719138" y="4732020"/>
            <a:ext cx="3200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COMMON GOVERNANCE RAIL</a:t>
            </a:r>
          </a:p>
        </p:txBody>
      </p:sp>
      <p:sp>
        <p:nvSpPr>
          <p:cNvPr id="174" name=""/>
          <p:cNvSpPr>
            <a:spLocks noGrp="1"/>
          </p:cNvSpPr>
          <p:nvPr/>
        </p:nvSpPr>
        <p:spPr>
          <a:xfrm>
            <a:off x="4114800" y="4743450"/>
            <a:ext cx="7358062" cy="5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Owner priorities, EPC/EOR design authority, OEM interfaces and contractor means and methods remain intact.</a:t>
            </a:r>
          </a:p>
        </p:txBody>
      </p:sp>
      <p:sp>
        <p:nvSpPr>
          <p:cNvPr id="175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solidFill>
            <a:srgbClr val="17191C"/>
          </a:solidFill>
          <a:ln w="0">
            <a:noFill/>
            <a:prstDash val="solid"/>
          </a:ln>
        </p:spPr>
      </p:sp>
      <p:sp>
        <p:nvSpPr>
          <p:cNvPr id="176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SAME COORDINATION RAIL. DIFFERENT ENGINEERING BASIS, RISK GATES AND OWNERS.</a:t>
            </a:r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0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151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152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A10 · PROJECT OF INTEREST</a:t>
            </a:r>
          </a:p>
        </p:txBody>
      </p:sp>
      <p:sp>
        <p:nvSpPr>
          <p:cNvPr id="153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21</a:t>
            </a:r>
          </a:p>
        </p:txBody>
      </p:sp>
      <p:sp>
        <p:nvSpPr>
          <p:cNvPr id="154" name=""/>
          <p:cNvSpPr>
            <a:spLocks noGrp="1"/>
          </p:cNvSpPr>
          <p:nvPr/>
        </p:nvSpPr>
        <p:spPr>
          <a:xfrm>
            <a:off x="719138" y="1005840"/>
            <a:ext cx="85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CEDAR BAYOU UNIT 5 · BAYTOWN, TEXAS (CHAMBERS COUNTY)</a:t>
            </a:r>
          </a:p>
        </p:txBody>
      </p:sp>
      <p:sp>
        <p:nvSpPr>
          <p:cNvPr id="155" name=""/>
          <p:cNvSpPr>
            <a:spLocks noGrp="1"/>
          </p:cNvSpPr>
          <p:nvPr/>
        </p:nvSpPr>
        <p:spPr>
          <a:xfrm>
            <a:off x="719138" y="1280160"/>
            <a:ext cx="10753724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Cedar Bayou Unit 5 is one potential live-scope candidate.</a:t>
            </a:r>
          </a:p>
        </p:txBody>
      </p:sp>
      <p:sp>
        <p:nvSpPr>
          <p:cNvPr id="156" name=""/>
          <p:cNvSpPr>
            <a:spLocks noGrp="1"/>
          </p:cNvSpPr>
          <p:nvPr/>
        </p:nvSpPr>
        <p:spPr>
          <a:xfrm>
            <a:off x="719138" y="1950720"/>
            <a:ext cx="10753724" cy="5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8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A 721 MW combined-cycle brownfield expansion at NRG's existing Cedar Bayou station — the anchor TEF unit in the NRG / GE Vernova / Kiewit framework, in active construction toward a mid-2028 COD.</a:t>
            </a:r>
          </a:p>
        </p:txBody>
      </p:sp>
      <p:sp>
        <p:nvSpPr>
          <p:cNvPr id="157" name=""/>
          <p:cNvSpPr>
            <a:spLocks noGrp="1"/>
          </p:cNvSpPr>
          <p:nvPr/>
        </p:nvSpPr>
        <p:spPr>
          <a:xfrm>
            <a:off x="719138" y="260604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PROJECT FACTS — VALIDATED AUG 2026</a:t>
            </a:r>
          </a:p>
        </p:txBody>
      </p:sp>
      <p:sp>
        <p:nvSpPr>
          <p:cNvPr id="158" name=""/>
          <p:cNvSpPr>
            <a:spLocks noGrp="1"/>
          </p:cNvSpPr>
          <p:nvPr/>
        </p:nvSpPr>
        <p:spPr>
          <a:xfrm>
            <a:off x="719138" y="292584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721 MW CCGT · BROWNFIELD</a:t>
            </a:r>
          </a:p>
        </p:txBody>
      </p:sp>
      <p:sp>
        <p:nvSpPr>
          <p:cNvPr id="159" name=""/>
          <p:cNvSpPr>
            <a:spLocks noGrp="1"/>
          </p:cNvSpPr>
          <p:nvPr/>
        </p:nvSpPr>
        <p:spPr>
          <a:xfrm>
            <a:off x="719138" y="3154440"/>
            <a:ext cx="4900000" cy="5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GE Vernova H-class train at the existing station; ERCOT Houston Load Zone; existing 345 kV switchyard, cooling water and site infrastructure.</a:t>
            </a:r>
          </a:p>
        </p:txBody>
      </p:sp>
      <p:sp>
        <p:nvSpPr>
          <p:cNvPr id="160" name=""/>
          <p:cNvSpPr>
            <a:spLocks noGrp="1"/>
          </p:cNvSpPr>
          <p:nvPr/>
        </p:nvSpPr>
        <p:spPr>
          <a:xfrm>
            <a:off x="719138" y="372594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$562M TEF LOAN · 3% · 20-YEAR</a:t>
            </a:r>
          </a:p>
        </p:txBody>
      </p:sp>
      <p:sp>
        <p:nvSpPr>
          <p:cNvPr id="161" name=""/>
          <p:cNvSpPr>
            <a:spLocks noGrp="1"/>
          </p:cNvSpPr>
          <p:nvPr/>
        </p:nvSpPr>
        <p:spPr>
          <a:xfrm>
            <a:off x="719138" y="3954540"/>
            <a:ext cx="4900000" cy="5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Signed September 2025 — 60% of the $936M project cost; part of $1.15B TEF financing plus $66M tax abatements across the three-unit program.</a:t>
            </a:r>
          </a:p>
        </p:txBody>
      </p:sp>
      <p:sp>
        <p:nvSpPr>
          <p:cNvPr id="162" name=""/>
          <p:cNvSpPr>
            <a:spLocks noGrp="1"/>
          </p:cNvSpPr>
          <p:nvPr/>
        </p:nvSpPr>
        <p:spPr>
          <a:xfrm>
            <a:off x="719138" y="452604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COD TARGET MID-2028</a:t>
            </a:r>
          </a:p>
        </p:txBody>
      </p:sp>
      <p:sp>
        <p:nvSpPr>
          <p:cNvPr id="163" name=""/>
          <p:cNvSpPr>
            <a:spLocks noGrp="1"/>
          </p:cNvSpPr>
          <p:nvPr/>
        </p:nvSpPr>
        <p:spPr>
          <a:xfrm>
            <a:off x="719138" y="4754640"/>
            <a:ext cx="4900000" cy="5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First TEF unit to advance construction; T.H. Wharton (415 MW) completes mid-2026, Greens Bayou 6 follows in 2028.</a:t>
            </a:r>
          </a:p>
        </p:txBody>
      </p:sp>
      <p:sp>
        <p:nvSpPr>
          <p:cNvPr id="164" name=""/>
          <p:cNvSpPr>
            <a:spLocks noGrp="1"/>
          </p:cNvSpPr>
          <p:nvPr/>
        </p:nvSpPr>
        <p:spPr>
          <a:xfrm>
            <a:off x="719138" y="532614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EPC: TIC / KIEWIT · OEM: GE VERNOVA</a:t>
            </a:r>
          </a:p>
        </p:txBody>
      </p:sp>
      <p:sp>
        <p:nvSpPr>
          <p:cNvPr id="165" name=""/>
          <p:cNvSpPr>
            <a:spLocks noGrp="1"/>
          </p:cNvSpPr>
          <p:nvPr/>
        </p:nvSpPr>
        <p:spPr>
          <a:xfrm>
            <a:off x="719138" y="5554740"/>
            <a:ext cx="4900000" cy="5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Delivered under the 5.4 GW development framework — 1.2 GW in service by 2029, 1.2 GW by 2030, 3 GW more through 2032.</a:t>
            </a:r>
          </a:p>
        </p:txBody>
      </p:sp>
      <p:sp>
        <p:nvSpPr>
          <p:cNvPr id="166" name=""/>
          <p:cNvSpPr>
            <a:spLocks noGrp="1"/>
          </p:cNvSpPr>
          <p:nvPr/>
        </p:nvSpPr>
        <p:spPr>
          <a:xfrm>
            <a:off x="6120130" y="2606040"/>
            <a:ext cx="535273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SCOPE THAT WOULD BE IN PLAY</a:t>
            </a:r>
          </a:p>
        </p:txBody>
      </p:sp>
      <p:sp>
        <p:nvSpPr>
          <p:cNvPr id="167" name=""/>
          <p:cNvSpPr>
            <a:spLocks noGrp="1"/>
          </p:cNvSpPr>
          <p:nvPr/>
        </p:nvSpPr>
        <p:spPr>
          <a:xfrm>
            <a:off x="6120130" y="29848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68" name=""/>
          <p:cNvSpPr>
            <a:spLocks noGrp="1"/>
          </p:cNvSpPr>
          <p:nvPr/>
        </p:nvSpPr>
        <p:spPr>
          <a:xfrm>
            <a:off x="6348730" y="2925840"/>
            <a:ext cx="5124132" cy="4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HV generator leads and brownfield 345 kV switchyard tie-in for the H-class train</a:t>
            </a:r>
          </a:p>
        </p:txBody>
      </p:sp>
      <p:sp>
        <p:nvSpPr>
          <p:cNvPr id="169" name=""/>
          <p:cNvSpPr>
            <a:spLocks noGrp="1"/>
          </p:cNvSpPr>
          <p:nvPr/>
        </p:nvSpPr>
        <p:spPr>
          <a:xfrm>
            <a:off x="6120130" y="34420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70" name=""/>
          <p:cNvSpPr>
            <a:spLocks noGrp="1"/>
          </p:cNvSpPr>
          <p:nvPr/>
        </p:nvSpPr>
        <p:spPr>
          <a:xfrm>
            <a:off x="6348730" y="3383040"/>
            <a:ext cx="5124132" cy="4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MV plant auxiliary distribution, 5–35 kV, across the new unit and interfaces</a:t>
            </a:r>
          </a:p>
        </p:txBody>
      </p:sp>
      <p:sp>
        <p:nvSpPr>
          <p:cNvPr id="171" name=""/>
          <p:cNvSpPr>
            <a:spLocks noGrp="1"/>
          </p:cNvSpPr>
          <p:nvPr/>
        </p:nvSpPr>
        <p:spPr>
          <a:xfrm>
            <a:off x="6120130" y="38992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72" name=""/>
          <p:cNvSpPr>
            <a:spLocks noGrp="1"/>
          </p:cNvSpPr>
          <p:nvPr/>
        </p:nvSpPr>
        <p:spPr>
          <a:xfrm>
            <a:off x="6348730" y="3840240"/>
            <a:ext cx="5124132" cy="4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LV 600 V power and control — turbine hall, HRSG and balance of plant</a:t>
            </a:r>
          </a:p>
        </p:txBody>
      </p:sp>
      <p:sp>
        <p:nvSpPr>
          <p:cNvPr id="173" name=""/>
          <p:cNvSpPr>
            <a:spLocks noGrp="1"/>
          </p:cNvSpPr>
          <p:nvPr/>
        </p:nvSpPr>
        <p:spPr>
          <a:xfrm>
            <a:off x="6120130" y="43564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74" name=""/>
          <p:cNvSpPr>
            <a:spLocks noGrp="1"/>
          </p:cNvSpPr>
          <p:nvPr/>
        </p:nvSpPr>
        <p:spPr>
          <a:xfrm>
            <a:off x="6348730" y="4297440"/>
            <a:ext cx="5124132" cy="4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I&amp;C, DCS and fiber — integration with the existing station and ERCOT SCADA</a:t>
            </a:r>
          </a:p>
        </p:txBody>
      </p:sp>
      <p:sp>
        <p:nvSpPr>
          <p:cNvPr id="175" name=""/>
          <p:cNvSpPr>
            <a:spLocks noGrp="1"/>
          </p:cNvSpPr>
          <p:nvPr/>
        </p:nvSpPr>
        <p:spPr>
          <a:xfrm>
            <a:off x="6120130" y="48136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76" name=""/>
          <p:cNvSpPr>
            <a:spLocks noGrp="1"/>
          </p:cNvSpPr>
          <p:nvPr/>
        </p:nvSpPr>
        <p:spPr>
          <a:xfrm>
            <a:off x="6348730" y="4754640"/>
            <a:ext cx="5124132" cy="4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Grounding-grid extension into the heritage plant grid</a:t>
            </a:r>
          </a:p>
        </p:txBody>
      </p:sp>
      <p:sp>
        <p:nvSpPr>
          <p:cNvPr id="177" name=""/>
          <p:cNvSpPr>
            <a:spLocks noGrp="1"/>
          </p:cNvSpPr>
          <p:nvPr/>
        </p:nvSpPr>
        <p:spPr>
          <a:xfrm>
            <a:off x="6120130" y="52708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78" name=""/>
          <p:cNvSpPr>
            <a:spLocks noGrp="1"/>
          </p:cNvSpPr>
          <p:nvPr/>
        </p:nvSpPr>
        <p:spPr>
          <a:xfrm>
            <a:off x="6348730" y="5211840"/>
            <a:ext cx="5124132" cy="4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Sequenced reels, cut lengths and kits against 2026–2028 procurement windows</a:t>
            </a:r>
          </a:p>
        </p:txBody>
      </p:sp>
      <p:sp>
        <p:nvSpPr>
          <p:cNvPr id="179" name=""/>
          <p:cNvSpPr>
            <a:spLocks noGrp="1"/>
          </p:cNvSpPr>
          <p:nvPr/>
        </p:nvSpPr>
        <p:spPr>
          <a:xfrm>
            <a:off x="6120130" y="57280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80" name=""/>
          <p:cNvSpPr>
            <a:spLocks noGrp="1"/>
          </p:cNvSpPr>
          <p:nvPr/>
        </p:nvSpPr>
        <p:spPr>
          <a:xfrm>
            <a:off x="6348730" y="5669040"/>
            <a:ext cx="5124132" cy="4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Post-COD continuity — records, spares and MRO carried into the operating fleet</a:t>
            </a:r>
          </a:p>
        </p:txBody>
      </p:sp>
      <p:sp>
        <p:nvSpPr>
          <p:cNvPr id="181" name=""/>
          <p:cNvSpPr>
            <a:spLocks noGrp="1"/>
          </p:cNvSpPr>
          <p:nvPr/>
        </p:nvSpPr>
        <p:spPr>
          <a:xfrm>
            <a:off x="719138" y="6032500"/>
            <a:ext cx="10753724" cy="2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825" b="0" i="1">
                <a:solidFill>
                  <a:srgbClr val="6A6F73"/>
                </a:solidFill>
                <a:latin typeface="Arial"/>
                <a:ea typeface="Arial"/>
                <a:cs typeface="Arial"/>
              </a:rPr>
              <a:t>Validated against public sources, Aug 2026: PUCT / Texas Energy Fund announcements, Utility Dive, NRG investor materials. Capacity reported 689–721 MW across sources; 721 MW per the PUCT loan announcement.</a:t>
            </a:r>
          </a:p>
        </p:txBody>
      </p:sp>
      <p:sp>
        <p:nvSpPr>
          <p:cNvPr id="182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solidFill>
            <a:srgbClr val="17191C"/>
          </a:solidFill>
          <a:ln w="0">
            <a:noFill/>
            <a:prstDash val="solid"/>
          </a:ln>
        </p:spPr>
      </p:sp>
      <p:sp>
        <p:nvSpPr>
          <p:cNvPr id="183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ILLUSTRATIVE CANDIDATE ONLY </a:t>
            </a: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— NRG SELECTS THE STARTING SCOPE.</a:t>
            </a:r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7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178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179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A11 · FINANCE + ESG</a:t>
            </a:r>
          </a:p>
        </p:txBody>
      </p:sp>
      <p:sp>
        <p:nvSpPr>
          <p:cNvPr id="180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22</a:t>
            </a:r>
          </a:p>
        </p:txBody>
      </p:sp>
      <p:sp>
        <p:nvSpPr>
          <p:cNvPr id="181" name=""/>
          <p:cNvSpPr>
            <a:spLocks noGrp="1"/>
          </p:cNvSpPr>
          <p:nvPr/>
        </p:nvSpPr>
        <p:spPr>
          <a:xfrm>
            <a:off x="719138" y="1005840"/>
            <a:ext cx="85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EARLY ENGAGEMENT, UNDERWRITING-GRADE DOCUMENTATION</a:t>
            </a:r>
          </a:p>
        </p:txBody>
      </p:sp>
      <p:sp>
        <p:nvSpPr>
          <p:cNvPr id="182" name=""/>
          <p:cNvSpPr>
            <a:spLocks noGrp="1"/>
          </p:cNvSpPr>
          <p:nvPr/>
        </p:nvSpPr>
        <p:spPr>
          <a:xfrm>
            <a:off x="719138" y="1280160"/>
            <a:ext cx="10753724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What early engagement includes — and what finance gets out of it.</a:t>
            </a:r>
          </a:p>
        </p:txBody>
      </p:sp>
      <p:sp>
        <p:nvSpPr>
          <p:cNvPr id="183" name=""/>
          <p:cNvSpPr>
            <a:spLocks noGrp="1"/>
          </p:cNvSpPr>
          <p:nvPr/>
        </p:nvSpPr>
        <p:spPr>
          <a:xfrm>
            <a:off x="719138" y="2286000"/>
            <a:ext cx="10753724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8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Technical readiness converts into underwriting inputs: cost, schedule, sourcing and carbon visibility before the EPC bid hardens contingency.</a:t>
            </a:r>
          </a:p>
        </p:txBody>
      </p:sp>
      <p:sp>
        <p:nvSpPr>
          <p:cNvPr id="184" name=""/>
          <p:cNvSpPr>
            <a:spLocks noGrp="1"/>
          </p:cNvSpPr>
          <p:nvPr/>
        </p:nvSpPr>
        <p:spPr>
          <a:xfrm>
            <a:off x="719138" y="269748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PRE-EPC OFFERINGS</a:t>
            </a:r>
          </a:p>
        </p:txBody>
      </p:sp>
      <p:sp>
        <p:nvSpPr>
          <p:cNvPr id="185" name=""/>
          <p:cNvSpPr>
            <a:spLocks noGrp="1"/>
          </p:cNvSpPr>
          <p:nvPr/>
        </p:nvSpPr>
        <p:spPr>
          <a:xfrm>
            <a:off x="719138" y="307628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86" name=""/>
          <p:cNvSpPr>
            <a:spLocks noGrp="1"/>
          </p:cNvSpPr>
          <p:nvPr/>
        </p:nvSpPr>
        <p:spPr>
          <a:xfrm>
            <a:off x="947738" y="3017280"/>
            <a:ext cx="4671400" cy="5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Master planning workshop — conceptual design and interface mapping for complex sites</a:t>
            </a:r>
          </a:p>
        </p:txBody>
      </p:sp>
      <p:sp>
        <p:nvSpPr>
          <p:cNvPr id="187" name=""/>
          <p:cNvSpPr>
            <a:spLocks noGrp="1"/>
          </p:cNvSpPr>
          <p:nvPr/>
        </p:nvSpPr>
        <p:spPr>
          <a:xfrm>
            <a:off x="719138" y="36706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88" name=""/>
          <p:cNvSpPr>
            <a:spLocks noGrp="1"/>
          </p:cNvSpPr>
          <p:nvPr/>
        </p:nvSpPr>
        <p:spPr>
          <a:xfrm>
            <a:off x="947738" y="3611640"/>
            <a:ext cx="4671400" cy="5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Conceptual cable solution design and electrical spine architecture</a:t>
            </a:r>
          </a:p>
        </p:txBody>
      </p:sp>
      <p:sp>
        <p:nvSpPr>
          <p:cNvPr id="189" name=""/>
          <p:cNvSpPr>
            <a:spLocks noGrp="1"/>
          </p:cNvSpPr>
          <p:nvPr/>
        </p:nvSpPr>
        <p:spPr>
          <a:xfrm>
            <a:off x="719138" y="426500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90" name=""/>
          <p:cNvSpPr>
            <a:spLocks noGrp="1"/>
          </p:cNvSpPr>
          <p:nvPr/>
        </p:nvSpPr>
        <p:spPr>
          <a:xfrm>
            <a:off x="947738" y="4206000"/>
            <a:ext cx="4671400" cy="5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Procurement risk register and schedule visibility</a:t>
            </a:r>
          </a:p>
        </p:txBody>
      </p:sp>
      <p:sp>
        <p:nvSpPr>
          <p:cNvPr id="191" name=""/>
          <p:cNvSpPr>
            <a:spLocks noGrp="1"/>
          </p:cNvSpPr>
          <p:nvPr/>
        </p:nvSpPr>
        <p:spPr>
          <a:xfrm>
            <a:off x="719138" y="485936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92" name=""/>
          <p:cNvSpPr>
            <a:spLocks noGrp="1"/>
          </p:cNvSpPr>
          <p:nvPr/>
        </p:nvSpPr>
        <p:spPr>
          <a:xfrm>
            <a:off x="947738" y="4800360"/>
            <a:ext cx="4671400" cy="5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Capacity allocation and commodity (Cu/Al) exposure hedging support</a:t>
            </a:r>
          </a:p>
        </p:txBody>
      </p:sp>
      <p:sp>
        <p:nvSpPr>
          <p:cNvPr id="193" name=""/>
          <p:cNvSpPr>
            <a:spLocks noGrp="1"/>
          </p:cNvSpPr>
          <p:nvPr/>
        </p:nvSpPr>
        <p:spPr>
          <a:xfrm>
            <a:off x="719138" y="545372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94" name=""/>
          <p:cNvSpPr>
            <a:spLocks noGrp="1"/>
          </p:cNvSpPr>
          <p:nvPr/>
        </p:nvSpPr>
        <p:spPr>
          <a:xfrm>
            <a:off x="947738" y="5394720"/>
            <a:ext cx="4671400" cy="5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Domestic supply strategy — U.S.-made resilience for TEF and local-content goals</a:t>
            </a:r>
          </a:p>
        </p:txBody>
      </p:sp>
      <p:sp>
        <p:nvSpPr>
          <p:cNvPr id="195" name=""/>
          <p:cNvSpPr>
            <a:spLocks noGrp="1"/>
          </p:cNvSpPr>
          <p:nvPr/>
        </p:nvSpPr>
        <p:spPr>
          <a:xfrm>
            <a:off x="6120130" y="2697480"/>
            <a:ext cx="535273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DOCUMENTATION FOR FINANCE + ESG</a:t>
            </a:r>
          </a:p>
        </p:txBody>
      </p:sp>
      <p:sp>
        <p:nvSpPr>
          <p:cNvPr id="196" name=""/>
          <p:cNvSpPr>
            <a:spLocks noGrp="1"/>
          </p:cNvSpPr>
          <p:nvPr/>
        </p:nvSpPr>
        <p:spPr>
          <a:xfrm>
            <a:off x="6120130" y="307628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97" name=""/>
          <p:cNvSpPr>
            <a:spLocks noGrp="1"/>
          </p:cNvSpPr>
          <p:nvPr/>
        </p:nvSpPr>
        <p:spPr>
          <a:xfrm>
            <a:off x="6348730" y="3017280"/>
            <a:ext cx="5124132" cy="5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Transparent BOMs and cost-allocation records supporting asset classification and depreciation — tax treatment confirmed per project</a:t>
            </a:r>
          </a:p>
        </p:txBody>
      </p:sp>
      <p:sp>
        <p:nvSpPr>
          <p:cNvPr id="198" name=""/>
          <p:cNvSpPr>
            <a:spLocks noGrp="1"/>
          </p:cNvSpPr>
          <p:nvPr/>
        </p:nvSpPr>
        <p:spPr>
          <a:xfrm>
            <a:off x="6120130" y="36706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99" name=""/>
          <p:cNvSpPr>
            <a:spLocks noGrp="1"/>
          </p:cNvSpPr>
          <p:nvPr/>
        </p:nvSpPr>
        <p:spPr>
          <a:xfrm>
            <a:off x="6348730" y="3611640"/>
            <a:ext cx="5124132" cy="5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Verified EPDs for low-embodied-carbon procurement</a:t>
            </a:r>
          </a:p>
        </p:txBody>
      </p:sp>
      <p:sp>
        <p:nvSpPr>
          <p:cNvPr id="200" name=""/>
          <p:cNvSpPr>
            <a:spLocks noGrp="1"/>
          </p:cNvSpPr>
          <p:nvPr/>
        </p:nvSpPr>
        <p:spPr>
          <a:xfrm>
            <a:off x="6120130" y="426500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201" name=""/>
          <p:cNvSpPr>
            <a:spLocks noGrp="1"/>
          </p:cNvSpPr>
          <p:nvPr/>
        </p:nvSpPr>
        <p:spPr>
          <a:xfrm>
            <a:off x="6348730" y="4206000"/>
            <a:ext cx="5124132" cy="5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Scope 3 cradle-to-gate carbon data for ESG-linked financing and hyperscaler offtaker requirements</a:t>
            </a:r>
          </a:p>
        </p:txBody>
      </p:sp>
      <p:sp>
        <p:nvSpPr>
          <p:cNvPr id="202" name=""/>
          <p:cNvSpPr>
            <a:spLocks noGrp="1"/>
          </p:cNvSpPr>
          <p:nvPr/>
        </p:nvSpPr>
        <p:spPr>
          <a:xfrm>
            <a:off x="6120130" y="485936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203" name=""/>
          <p:cNvSpPr>
            <a:spLocks noGrp="1"/>
          </p:cNvSpPr>
          <p:nvPr/>
        </p:nvSpPr>
        <p:spPr>
          <a:xfrm>
            <a:off x="6348730" y="4800360"/>
            <a:ext cx="5124132" cy="5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Recycled-content integration and optimized logistics (circular economy)</a:t>
            </a:r>
          </a:p>
        </p:txBody>
      </p:sp>
      <p:sp>
        <p:nvSpPr>
          <p:cNvPr id="204" name=""/>
          <p:cNvSpPr>
            <a:spLocks noGrp="1"/>
          </p:cNvSpPr>
          <p:nvPr/>
        </p:nvSpPr>
        <p:spPr>
          <a:xfrm>
            <a:off x="6120130" y="545372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205" name=""/>
          <p:cNvSpPr>
            <a:spLocks noGrp="1"/>
          </p:cNvSpPr>
          <p:nvPr/>
        </p:nvSpPr>
        <p:spPr>
          <a:xfrm>
            <a:off x="6348730" y="5394720"/>
            <a:ext cx="5124132" cy="5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Auditable domestic-content documentation for TEF and investor reporting</a:t>
            </a:r>
          </a:p>
        </p:txBody>
      </p:sp>
      <p:sp>
        <p:nvSpPr>
          <p:cNvPr id="206" name=""/>
          <p:cNvSpPr>
            <a:spLocks noGrp="1"/>
          </p:cNvSpPr>
          <p:nvPr/>
        </p:nvSpPr>
        <p:spPr>
          <a:xfrm>
            <a:off x="719138" y="6032500"/>
            <a:ext cx="10753724" cy="2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825" b="0" i="1">
                <a:solidFill>
                  <a:srgbClr val="6A6F73"/>
                </a:solidFill>
                <a:latin typeface="Arial"/>
                <a:ea typeface="Arial"/>
                <a:cs typeface="Arial"/>
              </a:rPr>
              <a:t>Conceptual commercial positioning — offerings, documentation and tax applicability are scoped and confirmed per project.</a:t>
            </a:r>
          </a:p>
        </p:txBody>
      </p:sp>
      <p:sp>
        <p:nvSpPr>
          <p:cNvPr id="207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solidFill>
            <a:srgbClr val="17191C"/>
          </a:solidFill>
          <a:ln w="0">
            <a:noFill/>
            <a:prstDash val="solid"/>
          </a:ln>
        </p:spPr>
      </p:sp>
      <p:sp>
        <p:nvSpPr>
          <p:cNvPr id="208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COST, SCHEDULE, SOURCING AND CARBON VISIBILITY — BEFORE THE EPC BID PRICES THE UNCERTAINTY AS CONTINGENCY.</a:t>
            </a:r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9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210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211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A12 · CABLE PLATFORM</a:t>
            </a:r>
          </a:p>
        </p:txBody>
      </p:sp>
      <p:sp>
        <p:nvSpPr>
          <p:cNvPr id="212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23</a:t>
            </a:r>
          </a:p>
        </p:txBody>
      </p:sp>
      <p:sp>
        <p:nvSpPr>
          <p:cNvPr id="213" name=""/>
          <p:cNvSpPr>
            <a:spLocks noGrp="1"/>
          </p:cNvSpPr>
          <p:nvPr/>
        </p:nvSpPr>
        <p:spPr>
          <a:xfrm>
            <a:off x="719138" y="1005840"/>
            <a:ext cx="85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ONE PLATFORM — PLANT SCOPE AND PACKAGED SCOPE</a:t>
            </a:r>
          </a:p>
        </p:txBody>
      </p:sp>
      <p:sp>
        <p:nvSpPr>
          <p:cNvPr id="214" name=""/>
          <p:cNvSpPr>
            <a:spLocks noGrp="1"/>
          </p:cNvSpPr>
          <p:nvPr/>
        </p:nvSpPr>
        <p:spPr>
          <a:xfrm>
            <a:off x="719138" y="1280160"/>
            <a:ext cx="10753724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One platform from generator to grid — and inside every package.</a:t>
            </a:r>
          </a:p>
        </p:txBody>
      </p:sp>
      <p:sp>
        <p:nvSpPr>
          <p:cNvPr id="215" name=""/>
          <p:cNvSpPr>
            <a:spLocks noGrp="1"/>
          </p:cNvSpPr>
          <p:nvPr/>
        </p:nvSpPr>
        <p:spPr>
          <a:xfrm>
            <a:off x="719138" y="2286000"/>
            <a:ext cx="10753724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8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Every run in the plant-zone map resolves to a named product family — one supplier, one spec basis, domestic manufacture.</a:t>
            </a:r>
          </a:p>
        </p:txBody>
      </p:sp>
      <p:sp>
        <p:nvSpPr>
          <p:cNvPr id="216" name=""/>
          <p:cNvSpPr>
            <a:spLocks noGrp="1"/>
          </p:cNvSpPr>
          <p:nvPr/>
        </p:nvSpPr>
        <p:spPr>
          <a:xfrm>
            <a:off x="719138" y="269748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PLANT SCOPE — GENERATOR TO GRID</a:t>
            </a:r>
          </a:p>
        </p:txBody>
      </p:sp>
      <p:sp>
        <p:nvSpPr>
          <p:cNvPr id="217" name=""/>
          <p:cNvSpPr>
            <a:spLocks noGrp="1"/>
          </p:cNvSpPr>
          <p:nvPr/>
        </p:nvSpPr>
        <p:spPr>
          <a:xfrm>
            <a:off x="719138" y="301728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HVUD HIGH-VOLTAGE UNDERGROUND · 69–400 kV</a:t>
            </a:r>
          </a:p>
        </p:txBody>
      </p:sp>
      <p:sp>
        <p:nvSpPr>
          <p:cNvPr id="218" name=""/>
          <p:cNvSpPr>
            <a:spLocks noGrp="1"/>
          </p:cNvSpPr>
          <p:nvPr/>
        </p:nvSpPr>
        <p:spPr>
          <a:xfrm>
            <a:off x="719138" y="3245880"/>
            <a:ext cx="4900000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5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XLPE underground interconnect; HVUD3 (138 kV) and HVUD4 (230 kV) carry gen-tie, behind-the-meter and bulk interconnect duty.</a:t>
            </a:r>
          </a:p>
        </p:txBody>
      </p:sp>
      <p:sp>
        <p:nvSpPr>
          <p:cNvPr id="219" name=""/>
          <p:cNvSpPr>
            <a:spLocks noGrp="1"/>
          </p:cNvSpPr>
          <p:nvPr/>
        </p:nvSpPr>
        <p:spPr>
          <a:xfrm>
            <a:off x="719138" y="365736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MV-105 · NL-EPR · 5–35 kV</a:t>
            </a:r>
          </a:p>
        </p:txBody>
      </p:sp>
      <p:sp>
        <p:nvSpPr>
          <p:cNvPr id="220" name=""/>
          <p:cNvSpPr>
            <a:spLocks noGrp="1"/>
          </p:cNvSpPr>
          <p:nvPr/>
        </p:nvSpPr>
        <p:spPr>
          <a:xfrm>
            <a:off x="719138" y="3885960"/>
            <a:ext cx="4900000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5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The plant collection and auxiliary backbone — 105°C rated, low-friction jacket, tray and duct-bank installation economics.</a:t>
            </a:r>
          </a:p>
        </p:txBody>
      </p:sp>
      <p:sp>
        <p:nvSpPr>
          <p:cNvPr id="221" name=""/>
          <p:cNvSpPr>
            <a:spLocks noGrp="1"/>
          </p:cNvSpPr>
          <p:nvPr/>
        </p:nvSpPr>
        <p:spPr>
          <a:xfrm>
            <a:off x="719138" y="429744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LV 600 V POWER, CONTROL &amp; BUILDING WIRE</a:t>
            </a:r>
          </a:p>
        </p:txBody>
      </p:sp>
      <p:sp>
        <p:nvSpPr>
          <p:cNvPr id="222" name=""/>
          <p:cNvSpPr>
            <a:spLocks noGrp="1"/>
          </p:cNvSpPr>
          <p:nvPr/>
        </p:nvSpPr>
        <p:spPr>
          <a:xfrm>
            <a:off x="719138" y="4526040"/>
            <a:ext cx="4900000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5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Feeders, motor circuits and unit auxiliary distribution across the plant.</a:t>
            </a:r>
          </a:p>
        </p:txBody>
      </p:sp>
      <p:sp>
        <p:nvSpPr>
          <p:cNvPr id="223" name=""/>
          <p:cNvSpPr>
            <a:spLocks noGrp="1"/>
          </p:cNvSpPr>
          <p:nvPr/>
        </p:nvSpPr>
        <p:spPr>
          <a:xfrm>
            <a:off x="719138" y="493752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I&amp;C, COMMS &amp; TRANSMISSION CONDUCTOR</a:t>
            </a:r>
          </a:p>
        </p:txBody>
      </p:sp>
      <p:sp>
        <p:nvSpPr>
          <p:cNvPr id="224" name=""/>
          <p:cNvSpPr>
            <a:spLocks noGrp="1"/>
          </p:cNvSpPr>
          <p:nvPr/>
        </p:nvSpPr>
        <p:spPr>
          <a:xfrm>
            <a:off x="719138" y="5166120"/>
            <a:ext cx="4900000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5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DCS, protection and metering cable; industrial Ethernet and fiber; ACSR / ACSS / OPGW where overhead is the route.</a:t>
            </a:r>
          </a:p>
        </p:txBody>
      </p:sp>
      <p:sp>
        <p:nvSpPr>
          <p:cNvPr id="225" name=""/>
          <p:cNvSpPr>
            <a:spLocks noGrp="1"/>
          </p:cNvSpPr>
          <p:nvPr/>
        </p:nvSpPr>
        <p:spPr>
          <a:xfrm>
            <a:off x="719138" y="557760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GROUNDING &amp; BONDING</a:t>
            </a:r>
          </a:p>
        </p:txBody>
      </p:sp>
      <p:sp>
        <p:nvSpPr>
          <p:cNvPr id="226" name=""/>
          <p:cNvSpPr>
            <a:spLocks noGrp="1"/>
          </p:cNvSpPr>
          <p:nvPr/>
        </p:nvSpPr>
        <p:spPr>
          <a:xfrm>
            <a:off x="719138" y="5806200"/>
            <a:ext cx="4900000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5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Bare copper and bonding conductor — the grid that ties the whole electrical system to earth.</a:t>
            </a:r>
          </a:p>
        </p:txBody>
      </p:sp>
      <p:sp>
        <p:nvSpPr>
          <p:cNvPr id="227" name=""/>
          <p:cNvSpPr>
            <a:spLocks noGrp="1"/>
          </p:cNvSpPr>
          <p:nvPr/>
        </p:nvSpPr>
        <p:spPr>
          <a:xfrm>
            <a:off x="6120130" y="2697480"/>
            <a:ext cx="535273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PACKAGED &amp; MODULAR SCOPE — 8 APPLICATION FAMILIES</a:t>
            </a:r>
          </a:p>
        </p:txBody>
      </p:sp>
      <p:sp>
        <p:nvSpPr>
          <p:cNvPr id="228" name=""/>
          <p:cNvSpPr>
            <a:spLocks noGrp="1"/>
          </p:cNvSpPr>
          <p:nvPr/>
        </p:nvSpPr>
        <p:spPr>
          <a:xfrm>
            <a:off x="6120130" y="3017280"/>
            <a:ext cx="535273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2.4–35 kV AND 600 V–2 kV · BUY AMERICA</a:t>
            </a:r>
          </a:p>
        </p:txBody>
      </p:sp>
      <p:sp>
        <p:nvSpPr>
          <p:cNvPr id="229" name=""/>
          <p:cNvSpPr>
            <a:spLocks noGrp="1"/>
          </p:cNvSpPr>
          <p:nvPr/>
        </p:nvSpPr>
        <p:spPr>
          <a:xfrm>
            <a:off x="6120130" y="3245880"/>
            <a:ext cx="5352732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5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Every wire and cable application that lives inside — or connects — factory-built power packages, kitted to build sequence.</a:t>
            </a:r>
          </a:p>
        </p:txBody>
      </p:sp>
      <p:sp>
        <p:nvSpPr>
          <p:cNvPr id="230" name=""/>
          <p:cNvSpPr>
            <a:spLocks noGrp="1"/>
          </p:cNvSpPr>
          <p:nvPr/>
        </p:nvSpPr>
        <p:spPr>
          <a:xfrm>
            <a:off x="6120130" y="3657360"/>
            <a:ext cx="535273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E-HOUSES · CONTAINERIZED SUBSTATIONS · SWITCHGEAR</a:t>
            </a:r>
          </a:p>
        </p:txBody>
      </p:sp>
      <p:sp>
        <p:nvSpPr>
          <p:cNvPr id="231" name=""/>
          <p:cNvSpPr>
            <a:spLocks noGrp="1"/>
          </p:cNvSpPr>
          <p:nvPr/>
        </p:nvSpPr>
        <p:spPr>
          <a:xfrm>
            <a:off x="6120130" y="3885960"/>
            <a:ext cx="5352732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5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Power control rooms, MV switchgear lineups, LV switchboard and MCC packages.</a:t>
            </a:r>
          </a:p>
        </p:txBody>
      </p:sp>
      <p:sp>
        <p:nvSpPr>
          <p:cNvPr id="232" name=""/>
          <p:cNvSpPr>
            <a:spLocks noGrp="1"/>
          </p:cNvSpPr>
          <p:nvPr/>
        </p:nvSpPr>
        <p:spPr>
          <a:xfrm>
            <a:off x="6120130" y="4297440"/>
            <a:ext cx="535273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TRANSFORMER · BESS · GENSET · PROCESS SKIDS</a:t>
            </a:r>
          </a:p>
        </p:txBody>
      </p:sp>
      <p:sp>
        <p:nvSpPr>
          <p:cNvPr id="233" name=""/>
          <p:cNvSpPr>
            <a:spLocks noGrp="1"/>
          </p:cNvSpPr>
          <p:nvPr/>
        </p:nvSpPr>
        <p:spPr>
          <a:xfrm>
            <a:off x="6120130" y="4526040"/>
            <a:ext cx="5352732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5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Transformer packages, BESS containers, generator packages and process / pump skids.</a:t>
            </a:r>
          </a:p>
        </p:txBody>
      </p:sp>
      <p:sp>
        <p:nvSpPr>
          <p:cNvPr id="234" name=""/>
          <p:cNvSpPr>
            <a:spLocks noGrp="1"/>
          </p:cNvSpPr>
          <p:nvPr/>
        </p:nvSpPr>
        <p:spPr>
          <a:xfrm>
            <a:off x="6120130" y="4937520"/>
            <a:ext cx="535273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SIMPULL, PRE-CUTS &amp; KITTING</a:t>
            </a:r>
          </a:p>
        </p:txBody>
      </p:sp>
      <p:sp>
        <p:nvSpPr>
          <p:cNvPr id="235" name=""/>
          <p:cNvSpPr>
            <a:spLocks noGrp="1"/>
          </p:cNvSpPr>
          <p:nvPr/>
        </p:nvSpPr>
        <p:spPr>
          <a:xfrm>
            <a:off x="6120130" y="5166120"/>
            <a:ext cx="5352732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5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Low-friction pulling technology, cut-to-length labeled reels and staged kits — energization-ready, less field labor.</a:t>
            </a:r>
          </a:p>
        </p:txBody>
      </p:sp>
      <p:sp>
        <p:nvSpPr>
          <p:cNvPr id="236" name=""/>
          <p:cNvSpPr>
            <a:spLocks noGrp="1"/>
          </p:cNvSpPr>
          <p:nvPr/>
        </p:nvSpPr>
        <p:spPr>
          <a:xfrm>
            <a:off x="6120130" y="5577600"/>
            <a:ext cx="535273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ONE SUPPLIER, WHOLE PACKAGE</a:t>
            </a:r>
          </a:p>
        </p:txBody>
      </p:sp>
      <p:sp>
        <p:nvSpPr>
          <p:cNvPr id="237" name=""/>
          <p:cNvSpPr>
            <a:spLocks noGrp="1"/>
          </p:cNvSpPr>
          <p:nvPr/>
        </p:nvSpPr>
        <p:spPr>
          <a:xfrm>
            <a:off x="6120130" y="5806200"/>
            <a:ext cx="5352732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5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MV, LV, control, VFD, grounding, data and DC from a single domestic source — one procurement line item per package.</a:t>
            </a:r>
          </a:p>
        </p:txBody>
      </p:sp>
      <p:sp>
        <p:nvSpPr>
          <p:cNvPr id="238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solidFill>
            <a:srgbClr val="17191C"/>
          </a:solidFill>
          <a:ln w="0">
            <a:noFill/>
            <a:prstDash val="solid"/>
          </a:ln>
        </p:spPr>
      </p:sp>
      <p:sp>
        <p:nvSpPr>
          <p:cNvPr id="239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TWO LEAVE-BEHIND CATALOGUES ACCOMPANY THIS DECK — IPP CABLE CATALOGUE (PLANT) · PACKAGED POWER E-CATALOGUE (SKIDS).</a:t>
            </a:r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40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241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242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A13 · OPERATING FLEET</a:t>
            </a:r>
          </a:p>
        </p:txBody>
      </p:sp>
      <p:sp>
        <p:nvSpPr>
          <p:cNvPr id="243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24</a:t>
            </a:r>
          </a:p>
        </p:txBody>
      </p:sp>
      <p:sp>
        <p:nvSpPr>
          <p:cNvPr id="244" name=""/>
          <p:cNvSpPr>
            <a:spLocks noGrp="1"/>
          </p:cNvSpPr>
          <p:nvPr/>
        </p:nvSpPr>
        <p:spPr>
          <a:xfrm>
            <a:off x="719138" y="1005840"/>
            <a:ext cx="85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REJUVENATION, BROWNFIELD &amp; SERVICE — FOR THE 25.8 GW FLEET</a:t>
            </a:r>
          </a:p>
        </p:txBody>
      </p:sp>
      <p:sp>
        <p:nvSpPr>
          <p:cNvPr id="245" name=""/>
          <p:cNvSpPr>
            <a:spLocks noGrp="1"/>
          </p:cNvSpPr>
          <p:nvPr/>
        </p:nvSpPr>
        <p:spPr>
          <a:xfrm>
            <a:off x="719138" y="1280160"/>
            <a:ext cx="10753724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Extend asset life without a greenfield rebuild.</a:t>
            </a:r>
          </a:p>
        </p:txBody>
      </p:sp>
      <p:sp>
        <p:nvSpPr>
          <p:cNvPr id="246" name=""/>
          <p:cNvSpPr>
            <a:spLocks noGrp="1"/>
          </p:cNvSpPr>
          <p:nvPr/>
        </p:nvSpPr>
        <p:spPr>
          <a:xfrm>
            <a:off x="719138" y="2286000"/>
            <a:ext cx="10753724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8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Aging cable systems, upgrades and modular additions across an operating fleet — planned around outage schedules, while the plant stays available.</a:t>
            </a:r>
          </a:p>
        </p:txBody>
      </p:sp>
      <p:sp>
        <p:nvSpPr>
          <p:cNvPr id="247" name=""/>
          <p:cNvSpPr>
            <a:spLocks noGrp="1"/>
          </p:cNvSpPr>
          <p:nvPr/>
        </p:nvSpPr>
        <p:spPr>
          <a:xfrm>
            <a:off x="719138" y="2697480"/>
            <a:ext cx="523786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248" name=""/>
          <p:cNvSpPr>
            <a:spLocks noGrp="1"/>
          </p:cNvSpPr>
          <p:nvPr/>
        </p:nvSpPr>
        <p:spPr>
          <a:xfrm>
            <a:off x="947738" y="2811780"/>
            <a:ext cx="478066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ELECTRICAL SPINE REJUVENATION</a:t>
            </a:r>
          </a:p>
        </p:txBody>
      </p:sp>
      <p:sp>
        <p:nvSpPr>
          <p:cNvPr id="249" name=""/>
          <p:cNvSpPr>
            <a:spLocks noGrp="1"/>
          </p:cNvSpPr>
          <p:nvPr/>
        </p:nvSpPr>
        <p:spPr>
          <a:xfrm>
            <a:off x="947738" y="3086100"/>
            <a:ext cx="4780662" cy="54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Assessment, planning and phased replacement of aging MV / LV cable, grounding, tray and fiber — while the plant remains operational.</a:t>
            </a:r>
          </a:p>
        </p:txBody>
      </p:sp>
      <p:sp>
        <p:nvSpPr>
          <p:cNvPr id="250" name=""/>
          <p:cNvSpPr>
            <a:spLocks noGrp="1"/>
          </p:cNvSpPr>
          <p:nvPr/>
        </p:nvSpPr>
        <p:spPr>
          <a:xfrm>
            <a:off x="6235130" y="2697480"/>
            <a:ext cx="523786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251" name=""/>
          <p:cNvSpPr>
            <a:spLocks noGrp="1"/>
          </p:cNvSpPr>
          <p:nvPr/>
        </p:nvSpPr>
        <p:spPr>
          <a:xfrm>
            <a:off x="6463730" y="2811780"/>
            <a:ext cx="478066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CABLE REPLACEMENT PROGRAMS</a:t>
            </a:r>
          </a:p>
        </p:txBody>
      </p:sp>
      <p:sp>
        <p:nvSpPr>
          <p:cNvPr id="252" name=""/>
          <p:cNvSpPr>
            <a:spLocks noGrp="1"/>
          </p:cNvSpPr>
          <p:nvPr/>
        </p:nvSpPr>
        <p:spPr>
          <a:xfrm>
            <a:off x="6463730" y="3086100"/>
            <a:ext cx="4780662" cy="54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Fast-track domestic supply of power, control and instrumentation cable for planned outages or emergency replacement.</a:t>
            </a:r>
          </a:p>
        </p:txBody>
      </p:sp>
      <p:sp>
        <p:nvSpPr>
          <p:cNvPr id="253" name=""/>
          <p:cNvSpPr>
            <a:spLocks noGrp="1"/>
          </p:cNvSpPr>
          <p:nvPr/>
        </p:nvSpPr>
        <p:spPr>
          <a:xfrm>
            <a:off x="719138" y="3877056"/>
            <a:ext cx="523786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254" name=""/>
          <p:cNvSpPr>
            <a:spLocks noGrp="1"/>
          </p:cNvSpPr>
          <p:nvPr/>
        </p:nvSpPr>
        <p:spPr>
          <a:xfrm>
            <a:off x="947738" y="3991356"/>
            <a:ext cx="478066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BROWNFIELD UPGRADES &amp; REPOWER</a:t>
            </a:r>
          </a:p>
        </p:txBody>
      </p:sp>
      <p:sp>
        <p:nvSpPr>
          <p:cNvPr id="255" name=""/>
          <p:cNvSpPr>
            <a:spLocks noGrp="1"/>
          </p:cNvSpPr>
          <p:nvPr/>
        </p:nvSpPr>
        <p:spPr>
          <a:xfrm>
            <a:off x="947738" y="4265676"/>
            <a:ext cx="4780662" cy="54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Electrical scope for turbine upgrades, generator replacements, emissions retrofits and balance-of-plant modernization.</a:t>
            </a:r>
          </a:p>
        </p:txBody>
      </p:sp>
      <p:sp>
        <p:nvSpPr>
          <p:cNvPr id="256" name=""/>
          <p:cNvSpPr>
            <a:spLocks noGrp="1"/>
          </p:cNvSpPr>
          <p:nvPr/>
        </p:nvSpPr>
        <p:spPr>
          <a:xfrm>
            <a:off x="6235130" y="3877056"/>
            <a:ext cx="523786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257" name=""/>
          <p:cNvSpPr>
            <a:spLocks noGrp="1"/>
          </p:cNvSpPr>
          <p:nvPr/>
        </p:nvSpPr>
        <p:spPr>
          <a:xfrm>
            <a:off x="6463730" y="3991356"/>
            <a:ext cx="478066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MODULAR POWER ADDITIONS</a:t>
            </a:r>
          </a:p>
        </p:txBody>
      </p:sp>
      <p:sp>
        <p:nvSpPr>
          <p:cNvPr id="258" name=""/>
          <p:cNvSpPr>
            <a:spLocks noGrp="1"/>
          </p:cNvSpPr>
          <p:nvPr/>
        </p:nvSpPr>
        <p:spPr>
          <a:xfrm>
            <a:off x="6463730" y="4265676"/>
            <a:ext cx="4780662" cy="54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E-houses, skids, switchgear, UPS and black-start capability — auxiliary loads or new behind-the-meter offtakers.</a:t>
            </a:r>
          </a:p>
        </p:txBody>
      </p:sp>
      <p:sp>
        <p:nvSpPr>
          <p:cNvPr id="259" name=""/>
          <p:cNvSpPr>
            <a:spLocks noGrp="1"/>
          </p:cNvSpPr>
          <p:nvPr/>
        </p:nvSpPr>
        <p:spPr>
          <a:xfrm>
            <a:off x="719138" y="5056632"/>
            <a:ext cx="523786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260" name=""/>
          <p:cNvSpPr>
            <a:spLocks noGrp="1"/>
          </p:cNvSpPr>
          <p:nvPr/>
        </p:nvSpPr>
        <p:spPr>
          <a:xfrm>
            <a:off x="947738" y="5170932"/>
            <a:ext cx="478066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RELIABILITY &amp; CONDITION SUPPORT</a:t>
            </a:r>
          </a:p>
        </p:txBody>
      </p:sp>
      <p:sp>
        <p:nvSpPr>
          <p:cNvPr id="261" name=""/>
          <p:cNvSpPr>
            <a:spLocks noGrp="1"/>
          </p:cNvSpPr>
          <p:nvPr/>
        </p:nvSpPr>
        <p:spPr>
          <a:xfrm>
            <a:off x="947738" y="5445252"/>
            <a:ext cx="4780662" cy="54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System assessments, thermal-imaging coordination, failure analysis and prioritized replacement planning.</a:t>
            </a:r>
          </a:p>
        </p:txBody>
      </p:sp>
      <p:sp>
        <p:nvSpPr>
          <p:cNvPr id="262" name=""/>
          <p:cNvSpPr>
            <a:spLocks noGrp="1"/>
          </p:cNvSpPr>
          <p:nvPr/>
        </p:nvSpPr>
        <p:spPr>
          <a:xfrm>
            <a:off x="6235130" y="5056632"/>
            <a:ext cx="523786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263" name=""/>
          <p:cNvSpPr>
            <a:spLocks noGrp="1"/>
          </p:cNvSpPr>
          <p:nvPr/>
        </p:nvSpPr>
        <p:spPr>
          <a:xfrm>
            <a:off x="6463730" y="5170932"/>
            <a:ext cx="478066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SERVICE &amp; LONG-TERM AGREEMENTS</a:t>
            </a:r>
          </a:p>
        </p:txBody>
      </p:sp>
      <p:sp>
        <p:nvSpPr>
          <p:cNvPr id="264" name=""/>
          <p:cNvSpPr>
            <a:spLocks noGrp="1"/>
          </p:cNvSpPr>
          <p:nvPr/>
        </p:nvSpPr>
        <p:spPr>
          <a:xfrm>
            <a:off x="6463730" y="5445252"/>
            <a:ext cx="4780662" cy="54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Support contracts, inventory programs and rapid-response replacement capability for operating fleets.</a:t>
            </a:r>
          </a:p>
        </p:txBody>
      </p:sp>
      <p:sp>
        <p:nvSpPr>
          <p:cNvPr id="265" name=""/>
          <p:cNvSpPr>
            <a:spLocks noGrp="1"/>
          </p:cNvSpPr>
          <p:nvPr/>
        </p:nvSpPr>
        <p:spPr>
          <a:xfrm>
            <a:off x="719138" y="6110000"/>
            <a:ext cx="10753724" cy="2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825" b="0" i="1">
                <a:solidFill>
                  <a:srgbClr val="6A6F73"/>
                </a:solidFill>
                <a:latin typeface="Arial"/>
                <a:ea typeface="Arial"/>
                <a:cs typeface="Arial"/>
              </a:rPr>
              <a:t>Engagements begin with one focused 60–90 minute session across the fleet, then tailored proposals per plant — phased to outage schedules.</a:t>
            </a:r>
          </a:p>
        </p:txBody>
      </p:sp>
      <p:sp>
        <p:nvSpPr>
          <p:cNvPr id="266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solidFill>
            <a:srgbClr val="17191C"/>
          </a:solidFill>
          <a:ln w="0">
            <a:noFill/>
            <a:prstDash val="solid"/>
          </a:ln>
        </p:spPr>
      </p:sp>
      <p:sp>
        <p:nvSpPr>
          <p:cNvPr id="267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MINIMIZED DOWNTIME · EXTENDED ASSET LIFE · LOWER TOTAL COST THAN FULL REPLACEMENT — PHASED TO OUTAGE SCHEDULES.</a:t>
            </a:r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4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185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186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A14 · BENCHMARK MATH</a:t>
            </a:r>
          </a:p>
        </p:txBody>
      </p:sp>
      <p:sp>
        <p:nvSpPr>
          <p:cNvPr id="187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25</a:t>
            </a:r>
          </a:p>
        </p:txBody>
      </p:sp>
      <p:sp>
        <p:nvSpPr>
          <p:cNvPr id="188" name=""/>
          <p:cNvSpPr>
            <a:spLocks noGrp="1"/>
          </p:cNvSpPr>
          <p:nvPr/>
        </p:nvSpPr>
        <p:spPr>
          <a:xfrm>
            <a:off x="719138" y="1005840"/>
            <a:ext cx="85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GROSS FIELD-LABOR MATH — PER CENTRAL SPINE</a:t>
            </a:r>
          </a:p>
        </p:txBody>
      </p:sp>
      <p:sp>
        <p:nvSpPr>
          <p:cNvPr id="189" name=""/>
          <p:cNvSpPr>
            <a:spLocks noGrp="1"/>
          </p:cNvSpPr>
          <p:nvPr/>
        </p:nvSpPr>
        <p:spPr>
          <a:xfrm>
            <a:off x="719138" y="1280160"/>
            <a:ext cx="10753724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What the 4,400 → 880 hours are worth, before net.</a:t>
            </a:r>
          </a:p>
        </p:txBody>
      </p:sp>
      <p:sp>
        <p:nvSpPr>
          <p:cNvPr id="190" name=""/>
          <p:cNvSpPr>
            <a:spLocks noGrp="1"/>
          </p:cNvSpPr>
          <p:nvPr/>
        </p:nvSpPr>
        <p:spPr>
          <a:xfrm>
            <a:off x="719138" y="2011680"/>
            <a:ext cx="10753724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8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The arithmetic behind slide 9, at a $95/hr fully burdened field-labor rate. This is the template A4 requires to be rebuilt with NRG inputs — not a result.</a:t>
            </a:r>
          </a:p>
        </p:txBody>
      </p:sp>
      <p:sp>
        <p:nvSpPr>
          <p:cNvPr id="191" name=""/>
          <p:cNvSpPr>
            <a:spLocks noGrp="1"/>
          </p:cNvSpPr>
          <p:nvPr/>
        </p:nvSpPr>
        <p:spPr>
          <a:xfrm>
            <a:off x="719138" y="2560320"/>
            <a:ext cx="337890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92" name=""/>
          <p:cNvSpPr>
            <a:spLocks noGrp="1"/>
          </p:cNvSpPr>
          <p:nvPr/>
        </p:nvSpPr>
        <p:spPr>
          <a:xfrm>
            <a:off x="947738" y="278892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TODAY · FIELD-BUILT</a:t>
            </a:r>
          </a:p>
        </p:txBody>
      </p:sp>
      <p:sp>
        <p:nvSpPr>
          <p:cNvPr id="193" name=""/>
          <p:cNvSpPr>
            <a:spLocks noGrp="1"/>
          </p:cNvSpPr>
          <p:nvPr/>
        </p:nvSpPr>
        <p:spPr>
          <a:xfrm>
            <a:off x="947738" y="3108960"/>
            <a:ext cx="2921708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340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$418,000</a:t>
            </a:r>
          </a:p>
        </p:txBody>
      </p:sp>
      <p:sp>
        <p:nvSpPr>
          <p:cNvPr id="194" name=""/>
          <p:cNvSpPr>
            <a:spLocks noGrp="1"/>
          </p:cNvSpPr>
          <p:nvPr/>
        </p:nvSpPr>
        <p:spPr>
          <a:xfrm>
            <a:off x="947738" y="374904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field labor per spine</a:t>
            </a:r>
          </a:p>
        </p:txBody>
      </p:sp>
      <p:sp>
        <p:nvSpPr>
          <p:cNvPr id="195" name=""/>
          <p:cNvSpPr>
            <a:spLocks noGrp="1"/>
          </p:cNvSpPr>
          <p:nvPr/>
        </p:nvSpPr>
        <p:spPr>
          <a:xfrm>
            <a:off x="947738" y="4160520"/>
            <a:ext cx="292170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4,400 man-hours × $95/hr</a:t>
            </a:r>
          </a:p>
        </p:txBody>
      </p:sp>
      <p:sp>
        <p:nvSpPr>
          <p:cNvPr id="196" name=""/>
          <p:cNvSpPr>
            <a:spLocks noGrp="1"/>
          </p:cNvSpPr>
          <p:nvPr/>
        </p:nvSpPr>
        <p:spPr>
          <a:xfrm>
            <a:off x="947738" y="4434840"/>
            <a:ext cx="292170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27 installers × 2 shifts × 2 weeks</a:t>
            </a:r>
          </a:p>
        </p:txBody>
      </p:sp>
      <p:sp>
        <p:nvSpPr>
          <p:cNvPr id="197" name=""/>
          <p:cNvSpPr>
            <a:spLocks noGrp="1"/>
          </p:cNvSpPr>
          <p:nvPr/>
        </p:nvSpPr>
        <p:spPr>
          <a:xfrm>
            <a:off x="947738" y="4709160"/>
            <a:ext cx="292170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High variability, rework risk</a:t>
            </a:r>
          </a:p>
        </p:txBody>
      </p:sp>
      <p:sp>
        <p:nvSpPr>
          <p:cNvPr id="198" name=""/>
          <p:cNvSpPr>
            <a:spLocks noGrp="1"/>
          </p:cNvSpPr>
          <p:nvPr/>
        </p:nvSpPr>
        <p:spPr>
          <a:xfrm>
            <a:off x="4406546" y="2560320"/>
            <a:ext cx="337890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99" name=""/>
          <p:cNvSpPr>
            <a:spLocks noGrp="1"/>
          </p:cNvSpPr>
          <p:nvPr/>
        </p:nvSpPr>
        <p:spPr>
          <a:xfrm>
            <a:off x="4635146" y="278892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WITH CONNECTORIZED ASSEMBLY</a:t>
            </a:r>
          </a:p>
        </p:txBody>
      </p:sp>
      <p:sp>
        <p:nvSpPr>
          <p:cNvPr id="200" name=""/>
          <p:cNvSpPr>
            <a:spLocks noGrp="1"/>
          </p:cNvSpPr>
          <p:nvPr/>
        </p:nvSpPr>
        <p:spPr>
          <a:xfrm>
            <a:off x="4635146" y="3108960"/>
            <a:ext cx="2921708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3400" b="1" i="0">
                <a:solidFill>
                  <a:srgbClr val="9D4E24"/>
                </a:solidFill>
                <a:latin typeface="Arial"/>
                <a:ea typeface="Arial"/>
                <a:cs typeface="Arial"/>
              </a:rPr>
              <a:t>$83,600</a:t>
            </a:r>
          </a:p>
        </p:txBody>
      </p:sp>
      <p:sp>
        <p:nvSpPr>
          <p:cNvPr id="201" name=""/>
          <p:cNvSpPr>
            <a:spLocks noGrp="1"/>
          </p:cNvSpPr>
          <p:nvPr/>
        </p:nvSpPr>
        <p:spPr>
          <a:xfrm>
            <a:off x="4635146" y="374904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field labor per spine</a:t>
            </a:r>
          </a:p>
        </p:txBody>
      </p:sp>
      <p:sp>
        <p:nvSpPr>
          <p:cNvPr id="202" name=""/>
          <p:cNvSpPr>
            <a:spLocks noGrp="1"/>
          </p:cNvSpPr>
          <p:nvPr/>
        </p:nvSpPr>
        <p:spPr>
          <a:xfrm>
            <a:off x="4635146" y="4160520"/>
            <a:ext cx="292170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~880 man-hours × $95/hr</a:t>
            </a:r>
          </a:p>
        </p:txBody>
      </p:sp>
      <p:sp>
        <p:nvSpPr>
          <p:cNvPr id="203" name=""/>
          <p:cNvSpPr>
            <a:spLocks noGrp="1"/>
          </p:cNvSpPr>
          <p:nvPr/>
        </p:nvSpPr>
        <p:spPr>
          <a:xfrm>
            <a:off x="4635146" y="4434840"/>
            <a:ext cx="292170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~6 installers × 1 shift × ~3 days</a:t>
            </a:r>
          </a:p>
        </p:txBody>
      </p:sp>
      <p:sp>
        <p:nvSpPr>
          <p:cNvPr id="204" name=""/>
          <p:cNvSpPr>
            <a:spLocks noGrp="1"/>
          </p:cNvSpPr>
          <p:nvPr/>
        </p:nvSpPr>
        <p:spPr>
          <a:xfrm>
            <a:off x="4635146" y="4709160"/>
            <a:ext cx="292170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Factory-validated, plug-and-play</a:t>
            </a:r>
          </a:p>
        </p:txBody>
      </p:sp>
      <p:sp>
        <p:nvSpPr>
          <p:cNvPr id="205" name=""/>
          <p:cNvSpPr>
            <a:spLocks noGrp="1"/>
          </p:cNvSpPr>
          <p:nvPr/>
        </p:nvSpPr>
        <p:spPr>
          <a:xfrm>
            <a:off x="8093954" y="2560320"/>
            <a:ext cx="3378908" cy="26060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206" name=""/>
          <p:cNvSpPr>
            <a:spLocks noGrp="1"/>
          </p:cNvSpPr>
          <p:nvPr/>
        </p:nvSpPr>
        <p:spPr>
          <a:xfrm>
            <a:off x="8322554" y="278892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GROSS DELTA PER SPINE</a:t>
            </a:r>
          </a:p>
        </p:txBody>
      </p:sp>
      <p:sp>
        <p:nvSpPr>
          <p:cNvPr id="207" name=""/>
          <p:cNvSpPr>
            <a:spLocks noGrp="1"/>
          </p:cNvSpPr>
          <p:nvPr/>
        </p:nvSpPr>
        <p:spPr>
          <a:xfrm>
            <a:off x="8322554" y="3108960"/>
            <a:ext cx="2921708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3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$334K</a:t>
            </a:r>
          </a:p>
        </p:txBody>
      </p:sp>
      <p:sp>
        <p:nvSpPr>
          <p:cNvPr id="208" name=""/>
          <p:cNvSpPr>
            <a:spLocks noGrp="1"/>
          </p:cNvSpPr>
          <p:nvPr/>
        </p:nvSpPr>
        <p:spPr>
          <a:xfrm>
            <a:off x="8322554" y="374904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~80% of field-labor cost</a:t>
            </a:r>
          </a:p>
        </p:txBody>
      </p:sp>
      <p:sp>
        <p:nvSpPr>
          <p:cNvPr id="209" name=""/>
          <p:cNvSpPr>
            <a:spLocks noGrp="1"/>
          </p:cNvSpPr>
          <p:nvPr/>
        </p:nvSpPr>
        <p:spPr>
          <a:xfrm>
            <a:off x="8322554" y="411480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IF IT REPEATS (GROSS, ILLUSTRATIVE)</a:t>
            </a:r>
          </a:p>
        </p:txBody>
      </p:sp>
      <p:sp>
        <p:nvSpPr>
          <p:cNvPr id="210" name=""/>
          <p:cNvSpPr>
            <a:spLocks noGrp="1"/>
          </p:cNvSpPr>
          <p:nvPr/>
        </p:nvSpPr>
        <p:spPr>
          <a:xfrm>
            <a:off x="8322554" y="438912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spines  →  $3.3M</a:t>
            </a:r>
          </a:p>
        </p:txBody>
      </p:sp>
      <p:sp>
        <p:nvSpPr>
          <p:cNvPr id="211" name=""/>
          <p:cNvSpPr>
            <a:spLocks noGrp="1"/>
          </p:cNvSpPr>
          <p:nvPr/>
        </p:nvSpPr>
        <p:spPr>
          <a:xfrm>
            <a:off x="8322554" y="461772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50 spines  →  $16.7M</a:t>
            </a:r>
          </a:p>
        </p:txBody>
      </p:sp>
      <p:sp>
        <p:nvSpPr>
          <p:cNvPr id="212" name=""/>
          <p:cNvSpPr>
            <a:spLocks noGrp="1"/>
          </p:cNvSpPr>
          <p:nvPr/>
        </p:nvSpPr>
        <p:spPr>
          <a:xfrm>
            <a:off x="8322554" y="484632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100 spines  →  $33.4M</a:t>
            </a:r>
          </a:p>
        </p:txBody>
      </p:sp>
      <p:sp>
        <p:nvSpPr>
          <p:cNvPr id="213" name=""/>
          <p:cNvSpPr>
            <a:spLocks noGrp="1"/>
          </p:cNvSpPr>
          <p:nvPr/>
        </p:nvSpPr>
        <p:spPr>
          <a:xfrm>
            <a:off x="719138" y="5349240"/>
            <a:ext cx="10753724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00" b="0" i="1">
                <a:solidFill>
                  <a:srgbClr val="6A6F73"/>
                </a:solidFill>
                <a:latin typeface="Arial"/>
                <a:ea typeface="Arial"/>
                <a:cs typeface="Arial"/>
              </a:rPr>
              <a:t>ASSUMPTIONS  ·  $95/hr fully burdened (wage + benefits + overtime + supervision)  ·  4,400 hours observed on one site-built spine in an adjacent market, May 2026  ·  ~80% field-labor reduction typical for prefabricated interconnect  ·  one spine = one central electrical spine serving repeated generation modules.</a:t>
            </a:r>
          </a:p>
        </p:txBody>
      </p:sp>
      <p:sp>
        <p:nvSpPr>
          <p:cNvPr id="214" name=""/>
          <p:cNvSpPr>
            <a:spLocks noGrp="1"/>
          </p:cNvSpPr>
          <p:nvPr/>
        </p:nvSpPr>
        <p:spPr>
          <a:xfrm>
            <a:off x="719138" y="5852160"/>
            <a:ext cx="10753724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NOT NET.  Subtract the assembly premium, engineering, factory labor, freight, factory acceptance and commissioning — and prefabrication does not automatically remove an activity from the critical path.</a:t>
            </a:r>
          </a:p>
        </p:txBody>
      </p:sp>
      <p:sp>
        <p:nvSpPr>
          <p:cNvPr id="215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solidFill>
            <a:srgbClr val="17191C"/>
          </a:solidFill>
          <a:ln w="0">
            <a:noFill/>
            <a:prstDash val="solid"/>
          </a:ln>
        </p:spPr>
      </p:sp>
      <p:sp>
        <p:nvSpPr>
          <p:cNvPr id="216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GROSS TEMPLATE ONLY — REBUILD WITH NRG SCOPE, LABOR RATES AND SCHEDULE LOGIC BEFORE ANY CLAIM (SEE A4).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 Condense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Southwire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Protecting Time to Power - Combined Rev14</dc:title>
  <dc:subject>NRG executive working discussion - combined Rev13 narrative and Rev10 evidence</dc:subject>
  <dc:creator>Stephan Hardt | Southwire</dc:creator>
  <cp:lastModifiedBy>Stephan Hardt | Southwire</cp:lastModifiedBy>
  <cp:revision>1</cp:revision>
  <dcterms:created xsi:type="dcterms:W3CDTF">2026-08-14T01:31:56Z</dcterms:created>
  <dcterms:modified xsi:type="dcterms:W3CDTF">2026-08-14T01:31:56Z</dcterms:modified>
</cp:coreProperties>
</file>