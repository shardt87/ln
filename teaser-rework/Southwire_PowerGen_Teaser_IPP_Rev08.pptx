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kept from Rev 07 — strongest page in the original file. Full-bleed brand art with tagline and direct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page 3 of Rev 07 — promoted to slide 2. All four program moves are public record; the right column translates each into a cable decision with a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page 4 of Rev 07. Fixed: grammar in the headline ('push the date and influences IRR/LCOE'), and removed the cropped LCOE screenshot — that content is rebuilt natively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Imported from the VP deck (page 2) — the best IPP-language slide in either file, rebuilt natively. Lever order corrected to a clean 1–5 (Rev 03 numbered them 3,1,2,4,1).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page 6 of Rev 07. Typeface unified with the rest of the deck (Rev 07 used a different font family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page 7 of Rev 07. Fixed: the disclaimer paragraph ran off the right edge of the page mid-word; it is now fully visible — and framed as a feature, since the honesty is the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page 9 of Rev 07, which shrank the full 34-inch SK-120 poster onto one slide (illegible). The six headline stats are now native tiles; the poster itself is Appendix A at full bleed.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the generic 'One Proposition. Four Use Cases.' page (Rev 07 p10, imported from the internal VP deck with a wrong kicker). Each use case is now mapped to a specific element of NRG's public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page 13 of Rev 07 (which carried a wrong kicker and squeezed all content into the top-left). Condensed to what an IPP cares about; lender-diligence line promoted.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page 11 of Rev 07 — kept nearly verbatim; it was one of the strongest pages. Now numbered correctly in the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page 14 of Rev 07 — kept nearly verbatim. The de-risked, no-pitch ask is the right close for an IPP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SK-120 poster at full page width — legible on screen when zoomed, and flagged for 34-inch print. In Rev 07 this was shrunk onto a content slide and unreadable.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F10"/>
        </a:solidFill>
      </p:bgPr>
    </p:bg>
    <p:spTree>
      <p:nvGrpSpPr>
        <p:cNvPr id="1" name=""/>
        <p:cNvGrpSpPr/>
        <p:nvPr/>
      </p:nvGrpSpPr>
      <p:grpSpPr>
        <a:xfrm>
          <a:off x="0" y="0"/>
          <a:ext cx="0" cy="0"/>
          <a:chOff x="0" y="0"/>
          <a:chExt cx="0" cy="0"/>
        </a:xfrm>
      </p:grpSpPr>
      <p:pic>
        <p:nvPicPr>
          <p:cNvPr id="2" name="Image 0" descr="/tmp/claude-0/-home-user-ln/3a853198-1696-51f8-a2af-2c6b2d875703/scratchpad/assets/cover_art.png">    </p:cNvPr>
          <p:cNvPicPr>
            <a:picLocks noChangeAspect="1"/>
          </p:cNvPicPr>
          <p:nvPr/>
        </p:nvPicPr>
        <p:blipFill>
          <a:blip r:embed="rId1"/>
          <a:stretch>
            <a:fillRect/>
          </a:stretch>
        </p:blipFill>
        <p:spPr>
          <a:xfrm>
            <a:off x="0" y="0"/>
            <a:ext cx="12191695" cy="68625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WHY NOW   ·   THE PROGRAM NRG IS RUNNING</a:t>
            </a:r>
            <a:endParaRPr lang="en-US" sz="1050" dirty="0"/>
          </a:p>
        </p:txBody>
      </p:sp>
      <p:sp>
        <p:nvSpPr>
          <p:cNvPr id="3" name="Text 1"/>
          <p:cNvSpPr/>
          <p:nvPr/>
        </p:nvSpPr>
        <p:spPr>
          <a:xfrm>
            <a:off x="7863840" y="384048"/>
            <a:ext cx="3840480" cy="274320"/>
          </a:xfrm>
          <a:prstGeom prst="rect">
            <a:avLst/>
          </a:prstGeom>
          <a:noFill/>
          <a:ln/>
        </p:spPr>
        <p:txBody>
          <a:bodyPr wrap="square" lIns="0" tIns="0" rIns="0" bIns="0" rtlCol="0" anchor="ctr"/>
          <a:lstStyle/>
          <a:p>
            <a:pPr algn="r" indent="0" marL="0">
              <a:buNone/>
            </a:pPr>
            <a:r>
              <a:rPr lang="en-US" sz="850" i="1" dirty="0">
                <a:solidFill>
                  <a:srgbClr val="797065"/>
                </a:solidFill>
                <a:latin typeface="Arial" pitchFamily="34" charset="0"/>
                <a:ea typeface="Arial" pitchFamily="34" charset="-122"/>
                <a:cs typeface="Arial" pitchFamily="34" charset="-120"/>
              </a:rPr>
              <a:t>Public record, Feb 2025 – Jan 2026. Nothing here is confidential.</a:t>
            </a:r>
            <a:endParaRPr lang="en-US" sz="850" dirty="0"/>
          </a:p>
        </p:txBody>
      </p:sp>
      <p:sp>
        <p:nvSpPr>
          <p:cNvPr id="4" name="Text 2"/>
          <p:cNvSpPr/>
          <p:nvPr/>
        </p:nvSpPr>
        <p:spPr>
          <a:xfrm>
            <a:off x="502920" y="676656"/>
            <a:ext cx="10607040" cy="868680"/>
          </a:xfrm>
          <a:prstGeom prst="rect">
            <a:avLst/>
          </a:prstGeom>
          <a:noFill/>
          <a:ln/>
        </p:spPr>
        <p:txBody>
          <a:bodyPr wrap="square" lIns="0" tIns="0" rIns="0" bIns="0" rtlCol="0" anchor="t"/>
          <a:lstStyle/>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Doubling down on generation means buying a lot of electrical scope, soon.</a:t>
            </a:r>
            <a:endParaRPr lang="en-US" sz="2600" dirty="0"/>
          </a:p>
        </p:txBody>
      </p:sp>
      <p:sp>
        <p:nvSpPr>
          <p:cNvPr id="5" name="Text 3"/>
          <p:cNvSpPr/>
          <p:nvPr/>
        </p:nvSpPr>
        <p:spPr>
          <a:xfrm>
            <a:off x="1170432" y="1481328"/>
            <a:ext cx="5120640" cy="219456"/>
          </a:xfrm>
          <a:prstGeom prst="rect">
            <a:avLst/>
          </a:prstGeom>
          <a:noFill/>
          <a:ln/>
        </p:spPr>
        <p:txBody>
          <a:bodyPr wrap="square" lIns="0" tIns="0" rIns="0" bIns="0" rtlCol="0" anchor="ctr"/>
          <a:lstStyle/>
          <a:p>
            <a:pPr indent="0" marL="0">
              <a:buNone/>
            </a:pPr>
            <a:r>
              <a:rPr lang="en-US" sz="850" b="1" spc="200" kern="0" dirty="0">
                <a:solidFill>
                  <a:srgbClr val="797065"/>
                </a:solidFill>
                <a:latin typeface="Arial" pitchFamily="34" charset="0"/>
                <a:ea typeface="Arial" pitchFamily="34" charset="-122"/>
                <a:cs typeface="Arial" pitchFamily="34" charset="-120"/>
              </a:rPr>
              <a:t>THE MOVE</a:t>
            </a:r>
            <a:endParaRPr lang="en-US" sz="850" dirty="0"/>
          </a:p>
        </p:txBody>
      </p:sp>
      <p:sp>
        <p:nvSpPr>
          <p:cNvPr id="6" name="Text 4"/>
          <p:cNvSpPr/>
          <p:nvPr/>
        </p:nvSpPr>
        <p:spPr>
          <a:xfrm>
            <a:off x="6720840" y="1481328"/>
            <a:ext cx="4937760" cy="219456"/>
          </a:xfrm>
          <a:prstGeom prst="rect">
            <a:avLst/>
          </a:prstGeom>
          <a:noFill/>
          <a:ln/>
        </p:spPr>
        <p:txBody>
          <a:bodyPr wrap="square" lIns="0" tIns="0" rIns="0" bIns="0" rtlCol="0" anchor="ctr"/>
          <a:lstStyle/>
          <a:p>
            <a:pPr indent="0" marL="0">
              <a:buNone/>
            </a:pPr>
            <a:r>
              <a:rPr lang="en-US" sz="850" b="1" spc="200" kern="0" dirty="0">
                <a:solidFill>
                  <a:srgbClr val="8F5527"/>
                </a:solidFill>
                <a:latin typeface="Arial" pitchFamily="34" charset="0"/>
                <a:ea typeface="Arial" pitchFamily="34" charset="-122"/>
                <a:cs typeface="Arial" pitchFamily="34" charset="-120"/>
              </a:rPr>
              <a:t>WHERE CABLE DECIDES</a:t>
            </a:r>
            <a:endParaRPr lang="en-US" sz="850" dirty="0"/>
          </a:p>
        </p:txBody>
      </p:sp>
      <p:sp>
        <p:nvSpPr>
          <p:cNvPr id="7" name="Shape 5"/>
          <p:cNvSpPr/>
          <p:nvPr/>
        </p:nvSpPr>
        <p:spPr>
          <a:xfrm>
            <a:off x="502920" y="1801368"/>
            <a:ext cx="384048" cy="345643"/>
          </a:xfrm>
          <a:prstGeom prst="hexagon">
            <a:avLst/>
          </a:prstGeom>
          <a:solidFill>
            <a:srgbClr val="B4713D"/>
          </a:solidFill>
          <a:ln/>
        </p:spPr>
      </p:sp>
      <p:sp>
        <p:nvSpPr>
          <p:cNvPr id="8" name="Text 6"/>
          <p:cNvSpPr/>
          <p:nvPr/>
        </p:nvSpPr>
        <p:spPr>
          <a:xfrm>
            <a:off x="502920" y="1801368"/>
            <a:ext cx="384048" cy="345643"/>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1170432" y="1783080"/>
            <a:ext cx="5257800" cy="274320"/>
          </a:xfrm>
          <a:prstGeom prst="rect">
            <a:avLst/>
          </a:prstGeom>
          <a:noFill/>
          <a:ln/>
        </p:spPr>
        <p:txBody>
          <a:bodyPr wrap="square" lIns="0" tIns="0" rIns="0" bIns="0" rtlCol="0" anchor="t"/>
          <a:lstStyle/>
          <a:p>
            <a:pPr indent="0" marL="0">
              <a:buNone/>
            </a:pPr>
            <a:r>
              <a:rPr lang="en-US" sz="1050" b="1" dirty="0">
                <a:solidFill>
                  <a:srgbClr val="201D1A"/>
                </a:solidFill>
                <a:latin typeface="Arial" pitchFamily="34" charset="0"/>
                <a:ea typeface="Arial" pitchFamily="34" charset="-122"/>
                <a:cs typeface="Arial" pitchFamily="34" charset="-120"/>
              </a:rPr>
              <a:t>NEWBUILD  ·  5.4 GW WITH GE VERNOVA AND KIEWIT-TIC</a:t>
            </a:r>
            <a:endParaRPr lang="en-US" sz="1050" dirty="0"/>
          </a:p>
        </p:txBody>
      </p:sp>
      <p:sp>
        <p:nvSpPr>
          <p:cNvPr id="10" name="Text 8"/>
          <p:cNvSpPr/>
          <p:nvPr/>
        </p:nvSpPr>
        <p:spPr>
          <a:xfrm>
            <a:off x="1170432" y="2039112"/>
            <a:ext cx="5257800" cy="749808"/>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Four combined-cycle projects for ERCOT and PJM; first unit ~1.2 GW with a 2029 COD, the balance through 2032. Turbine and EPC capacity already secured.</a:t>
            </a:r>
            <a:endParaRPr lang="en-US" sz="950" dirty="0"/>
          </a:p>
        </p:txBody>
      </p:sp>
      <p:sp>
        <p:nvSpPr>
          <p:cNvPr id="11" name="Text 9"/>
          <p:cNvSpPr/>
          <p:nvPr/>
        </p:nvSpPr>
        <p:spPr>
          <a:xfrm>
            <a:off x="6720840" y="1783080"/>
            <a:ext cx="4937760" cy="1005840"/>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A 2029 COD freezes its cable specification in the next 12–24 months. Insulation system, jacket latitude, raceway segregation and flame rating are still decisions today — by award, they are history.</a:t>
            </a:r>
            <a:endParaRPr lang="en-US" sz="950" dirty="0"/>
          </a:p>
        </p:txBody>
      </p:sp>
      <p:sp>
        <p:nvSpPr>
          <p:cNvPr id="12" name="Shape 10"/>
          <p:cNvSpPr/>
          <p:nvPr/>
        </p:nvSpPr>
        <p:spPr>
          <a:xfrm>
            <a:off x="1170432" y="2843784"/>
            <a:ext cx="10488168" cy="0"/>
          </a:xfrm>
          <a:prstGeom prst="line">
            <a:avLst/>
          </a:prstGeom>
          <a:noFill/>
          <a:ln w="9525">
            <a:solidFill>
              <a:srgbClr val="E3DACE"/>
            </a:solidFill>
            <a:prstDash val="solid"/>
          </a:ln>
        </p:spPr>
      </p:sp>
      <p:sp>
        <p:nvSpPr>
          <p:cNvPr id="13" name="Shape 11"/>
          <p:cNvSpPr/>
          <p:nvPr/>
        </p:nvSpPr>
        <p:spPr>
          <a:xfrm>
            <a:off x="502920" y="2971800"/>
            <a:ext cx="384048" cy="345643"/>
          </a:xfrm>
          <a:prstGeom prst="hexagon">
            <a:avLst/>
          </a:prstGeom>
          <a:solidFill>
            <a:srgbClr val="B4713D"/>
          </a:solidFill>
          <a:ln/>
        </p:spPr>
      </p:sp>
      <p:sp>
        <p:nvSpPr>
          <p:cNvPr id="14" name="Text 12"/>
          <p:cNvSpPr/>
          <p:nvPr/>
        </p:nvSpPr>
        <p:spPr>
          <a:xfrm>
            <a:off x="502920" y="2971800"/>
            <a:ext cx="384048" cy="345643"/>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1170432" y="2953512"/>
            <a:ext cx="5257800" cy="274320"/>
          </a:xfrm>
          <a:prstGeom prst="rect">
            <a:avLst/>
          </a:prstGeom>
          <a:noFill/>
          <a:ln/>
        </p:spPr>
        <p:txBody>
          <a:bodyPr wrap="square" lIns="0" tIns="0" rIns="0" bIns="0" rtlCol="0" anchor="t"/>
          <a:lstStyle/>
          <a:p>
            <a:pPr indent="0" marL="0">
              <a:buNone/>
            </a:pPr>
            <a:r>
              <a:rPr lang="en-US" sz="1050" b="1" dirty="0">
                <a:solidFill>
                  <a:srgbClr val="201D1A"/>
                </a:solidFill>
                <a:latin typeface="Arial" pitchFamily="34" charset="0"/>
                <a:ea typeface="Arial" pitchFamily="34" charset="-122"/>
                <a:cs typeface="Arial" pitchFamily="34" charset="-120"/>
              </a:rPr>
              <a:t>ACQUIRED FLEET  ·  13 GW FROM LS POWER, CLOSED JAN 30, 2026</a:t>
            </a:r>
            <a:endParaRPr lang="en-US" sz="1050" dirty="0"/>
          </a:p>
        </p:txBody>
      </p:sp>
      <p:sp>
        <p:nvSpPr>
          <p:cNvPr id="16" name="Text 14"/>
          <p:cNvSpPr/>
          <p:nvPr/>
        </p:nvSpPr>
        <p:spPr>
          <a:xfrm>
            <a:off x="1170432" y="3209544"/>
            <a:ext cx="5257800" cy="749808"/>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Eighteen gas plants across nine states, doubling the fleet to ~25 GW — eighteen sets of as-builts and aging cable systems inherited on one balance sheet.</a:t>
            </a:r>
            <a:endParaRPr lang="en-US" sz="950" dirty="0"/>
          </a:p>
        </p:txBody>
      </p:sp>
      <p:sp>
        <p:nvSpPr>
          <p:cNvPr id="17" name="Text 15"/>
          <p:cNvSpPr/>
          <p:nvPr/>
        </p:nvSpPr>
        <p:spPr>
          <a:xfrm>
            <a:off x="6720840" y="2953512"/>
            <a:ext cx="4937760" cy="1005840"/>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Fleet-wide cable condition is measurable: field assessment, rejuvenation (150M+ ft on record) and one governed cable standard across eighteen sites instead of eighteen inherited ones.</a:t>
            </a:r>
            <a:endParaRPr lang="en-US" sz="950" dirty="0"/>
          </a:p>
        </p:txBody>
      </p:sp>
      <p:sp>
        <p:nvSpPr>
          <p:cNvPr id="18" name="Shape 16"/>
          <p:cNvSpPr/>
          <p:nvPr/>
        </p:nvSpPr>
        <p:spPr>
          <a:xfrm>
            <a:off x="1170432" y="4014216"/>
            <a:ext cx="10488168" cy="0"/>
          </a:xfrm>
          <a:prstGeom prst="line">
            <a:avLst/>
          </a:prstGeom>
          <a:noFill/>
          <a:ln w="9525">
            <a:solidFill>
              <a:srgbClr val="E3DACE"/>
            </a:solidFill>
            <a:prstDash val="solid"/>
          </a:ln>
        </p:spPr>
      </p:sp>
      <p:sp>
        <p:nvSpPr>
          <p:cNvPr id="19" name="Shape 17"/>
          <p:cNvSpPr/>
          <p:nvPr/>
        </p:nvSpPr>
        <p:spPr>
          <a:xfrm>
            <a:off x="502920" y="4142232"/>
            <a:ext cx="384048" cy="345643"/>
          </a:xfrm>
          <a:prstGeom prst="hexagon">
            <a:avLst/>
          </a:prstGeom>
          <a:solidFill>
            <a:srgbClr val="B4713D"/>
          </a:solidFill>
          <a:ln/>
        </p:spPr>
      </p:sp>
      <p:sp>
        <p:nvSpPr>
          <p:cNvPr id="20" name="Text 18"/>
          <p:cNvSpPr/>
          <p:nvPr/>
        </p:nvSpPr>
        <p:spPr>
          <a:xfrm>
            <a:off x="502920" y="4142232"/>
            <a:ext cx="384048" cy="345643"/>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1" name="Text 19"/>
          <p:cNvSpPr/>
          <p:nvPr/>
        </p:nvSpPr>
        <p:spPr>
          <a:xfrm>
            <a:off x="1170432" y="4123944"/>
            <a:ext cx="5257800" cy="274320"/>
          </a:xfrm>
          <a:prstGeom prst="rect">
            <a:avLst/>
          </a:prstGeom>
          <a:noFill/>
          <a:ln/>
        </p:spPr>
        <p:txBody>
          <a:bodyPr wrap="square" lIns="0" tIns="0" rIns="0" bIns="0" rtlCol="0" anchor="t"/>
          <a:lstStyle/>
          <a:p>
            <a:pPr indent="0" marL="0">
              <a:buNone/>
            </a:pPr>
            <a:r>
              <a:rPr lang="en-US" sz="1050" b="1" dirty="0">
                <a:solidFill>
                  <a:srgbClr val="201D1A"/>
                </a:solidFill>
                <a:latin typeface="Arial" pitchFamily="34" charset="0"/>
                <a:ea typeface="Arial" pitchFamily="34" charset="-122"/>
                <a:cs typeface="Arial" pitchFamily="34" charset="-120"/>
              </a:rPr>
              <a:t>BROWNFIELD ADDS  ·  TEXAS ENERGY FUND AND PJM UPRATES</a:t>
            </a:r>
            <a:endParaRPr lang="en-US" sz="1050" dirty="0"/>
          </a:p>
        </p:txBody>
      </p:sp>
      <p:sp>
        <p:nvSpPr>
          <p:cNvPr id="22" name="Text 20"/>
          <p:cNvSpPr/>
          <p:nvPr/>
        </p:nvSpPr>
        <p:spPr>
          <a:xfrm>
            <a:off x="1170432" y="4379976"/>
            <a:ext cx="5257800" cy="749808"/>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TEF-backed units at existing sites — Greens Bayou 443 MW, Cedar Bayou — plus ~2 GW of CT-to-combined-cycle conversion potential identified in PJM.</a:t>
            </a:r>
            <a:endParaRPr lang="en-US" sz="950" dirty="0"/>
          </a:p>
        </p:txBody>
      </p:sp>
      <p:sp>
        <p:nvSpPr>
          <p:cNvPr id="23" name="Text 21"/>
          <p:cNvSpPr/>
          <p:nvPr/>
        </p:nvSpPr>
        <p:spPr>
          <a:xfrm>
            <a:off x="6720840" y="4123944"/>
            <a:ext cx="4937760" cy="1005840"/>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Constrained brownfield without spare corridors is exactly where HV underground and factory-built modular power earn their place — capacity added inside a fence line you already own.</a:t>
            </a:r>
            <a:endParaRPr lang="en-US" sz="950" dirty="0"/>
          </a:p>
        </p:txBody>
      </p:sp>
      <p:sp>
        <p:nvSpPr>
          <p:cNvPr id="24" name="Shape 22"/>
          <p:cNvSpPr/>
          <p:nvPr/>
        </p:nvSpPr>
        <p:spPr>
          <a:xfrm>
            <a:off x="1170432" y="5184648"/>
            <a:ext cx="10488168" cy="0"/>
          </a:xfrm>
          <a:prstGeom prst="line">
            <a:avLst/>
          </a:prstGeom>
          <a:noFill/>
          <a:ln w="9525">
            <a:solidFill>
              <a:srgbClr val="E3DACE"/>
            </a:solidFill>
            <a:prstDash val="solid"/>
          </a:ln>
        </p:spPr>
      </p:sp>
      <p:sp>
        <p:nvSpPr>
          <p:cNvPr id="25" name="Shape 23"/>
          <p:cNvSpPr/>
          <p:nvPr/>
        </p:nvSpPr>
        <p:spPr>
          <a:xfrm>
            <a:off x="502920" y="5312664"/>
            <a:ext cx="384048" cy="345643"/>
          </a:xfrm>
          <a:prstGeom prst="hexagon">
            <a:avLst/>
          </a:prstGeom>
          <a:solidFill>
            <a:srgbClr val="B4713D"/>
          </a:solidFill>
          <a:ln/>
        </p:spPr>
      </p:sp>
      <p:sp>
        <p:nvSpPr>
          <p:cNvPr id="26" name="Text 24"/>
          <p:cNvSpPr/>
          <p:nvPr/>
        </p:nvSpPr>
        <p:spPr>
          <a:xfrm>
            <a:off x="502920" y="5312664"/>
            <a:ext cx="384048" cy="345643"/>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7" name="Text 25"/>
          <p:cNvSpPr/>
          <p:nvPr/>
        </p:nvSpPr>
        <p:spPr>
          <a:xfrm>
            <a:off x="1170432" y="5294376"/>
            <a:ext cx="5257800" cy="274320"/>
          </a:xfrm>
          <a:prstGeom prst="rect">
            <a:avLst/>
          </a:prstGeom>
          <a:noFill/>
          <a:ln/>
        </p:spPr>
        <p:txBody>
          <a:bodyPr wrap="square" lIns="0" tIns="0" rIns="0" bIns="0" rtlCol="0" anchor="t"/>
          <a:lstStyle/>
          <a:p>
            <a:pPr indent="0" marL="0">
              <a:buNone/>
            </a:pPr>
            <a:r>
              <a:rPr lang="en-US" sz="1050" b="1" dirty="0">
                <a:solidFill>
                  <a:srgbClr val="201D1A"/>
                </a:solidFill>
                <a:latin typeface="Arial" pitchFamily="34" charset="0"/>
                <a:ea typeface="Arial" pitchFamily="34" charset="-122"/>
                <a:cs typeface="Arial" pitchFamily="34" charset="-120"/>
              </a:rPr>
              <a:t>DATA CENTER COLOCATION  ·  LOIs SIGNED, ~7.5 GW IN NEGOTIATION</a:t>
            </a:r>
            <a:endParaRPr lang="en-US" sz="1050" dirty="0"/>
          </a:p>
        </p:txBody>
      </p:sp>
      <p:sp>
        <p:nvSpPr>
          <p:cNvPr id="28" name="Text 26"/>
          <p:cNvSpPr/>
          <p:nvPr/>
        </p:nvSpPr>
        <p:spPr>
          <a:xfrm>
            <a:off x="1170432" y="5550408"/>
            <a:ext cx="5257800" cy="749808"/>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Letters of intent with data-center developers, an agreement expected to be announced in 2026, and behind-the-meter configurations on the table.</a:t>
            </a:r>
            <a:endParaRPr lang="en-US" sz="950" dirty="0"/>
          </a:p>
        </p:txBody>
      </p:sp>
      <p:sp>
        <p:nvSpPr>
          <p:cNvPr id="29" name="Text 27"/>
          <p:cNvSpPr/>
          <p:nvPr/>
        </p:nvSpPr>
        <p:spPr>
          <a:xfrm>
            <a:off x="6720840" y="5294376"/>
            <a:ext cx="4937760" cy="1005840"/>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The same circuit schedule serves both sides of the meter: modular gas power on one side, UL-listed data center cable assemblies on the other. Both are existing Southwire lines.</a:t>
            </a:r>
            <a:endParaRPr lang="en-US" sz="950" dirty="0"/>
          </a:p>
        </p:txBody>
      </p:sp>
      <p:sp>
        <p:nvSpPr>
          <p:cNvPr id="31" name="Text 28"/>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797065"/>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32" name="Text 29"/>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THE PROBLEM</a:t>
            </a:r>
            <a:endParaRPr lang="en-US" sz="1050" dirty="0"/>
          </a:p>
        </p:txBody>
      </p:sp>
      <p:sp>
        <p:nvSpPr>
          <p:cNvPr id="3" name="Text 1"/>
          <p:cNvSpPr/>
          <p:nvPr/>
        </p:nvSpPr>
        <p:spPr>
          <a:xfrm>
            <a:off x="502920" y="676656"/>
            <a:ext cx="10789920" cy="1051560"/>
          </a:xfrm>
          <a:prstGeom prst="rect">
            <a:avLst/>
          </a:prstGeom>
          <a:noFill/>
          <a:ln/>
        </p:spPr>
        <p:txBody>
          <a:bodyPr wrap="square" lIns="0" tIns="0" rIns="0" bIns="0" rtlCol="0" anchor="t"/>
          <a:lstStyle/>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On paper, electrical scope rarely sets the schedule.</a:t>
            </a:r>
            <a:endParaRPr lang="en-US" sz="2600" dirty="0"/>
          </a:p>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In the field, it routinely does.</a:t>
            </a:r>
            <a:endParaRPr lang="en-US" sz="2600" dirty="0"/>
          </a:p>
        </p:txBody>
      </p:sp>
      <p:sp>
        <p:nvSpPr>
          <p:cNvPr id="4" name="Shape 2"/>
          <p:cNvSpPr/>
          <p:nvPr/>
        </p:nvSpPr>
        <p:spPr>
          <a:xfrm>
            <a:off x="502920" y="2057400"/>
            <a:ext cx="3602736" cy="2286000"/>
          </a:xfrm>
          <a:prstGeom prst="roundRect">
            <a:avLst>
              <a:gd name="adj" fmla="val 2400"/>
            </a:avLst>
          </a:prstGeom>
          <a:solidFill>
            <a:srgbClr val="F5F1EC"/>
          </a:solidFill>
          <a:ln w="12700">
            <a:solidFill>
              <a:srgbClr val="E3DACE"/>
            </a:solidFill>
            <a:prstDash val="solid"/>
          </a:ln>
        </p:spPr>
      </p:sp>
      <p:sp>
        <p:nvSpPr>
          <p:cNvPr id="5" name="Shape 3"/>
          <p:cNvSpPr/>
          <p:nvPr/>
        </p:nvSpPr>
        <p:spPr>
          <a:xfrm>
            <a:off x="758952" y="2331720"/>
            <a:ext cx="402336" cy="362102"/>
          </a:xfrm>
          <a:prstGeom prst="hexagon">
            <a:avLst/>
          </a:prstGeom>
          <a:solidFill>
            <a:srgbClr val="B4713D"/>
          </a:solidFill>
          <a:ln/>
        </p:spPr>
      </p:sp>
      <p:sp>
        <p:nvSpPr>
          <p:cNvPr id="6" name="Text 4"/>
          <p:cNvSpPr/>
          <p:nvPr/>
        </p:nvSpPr>
        <p:spPr>
          <a:xfrm>
            <a:off x="758952" y="2331720"/>
            <a:ext cx="402336" cy="36210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758952" y="2852928"/>
            <a:ext cx="3090672" cy="320040"/>
          </a:xfrm>
          <a:prstGeom prst="rect">
            <a:avLst/>
          </a:prstGeom>
          <a:noFill/>
          <a:ln/>
        </p:spPr>
        <p:txBody>
          <a:bodyPr wrap="square" lIns="0" tIns="0" rIns="0" bIns="0" rtlCol="0" anchor="ctr"/>
          <a:lstStyle/>
          <a:p>
            <a:pPr indent="0" marL="0">
              <a:buNone/>
            </a:pPr>
            <a:r>
              <a:rPr lang="en-US" sz="1500" b="1" dirty="0">
                <a:solidFill>
                  <a:srgbClr val="201D1A"/>
                </a:solidFill>
                <a:latin typeface="Arial" pitchFamily="34" charset="0"/>
                <a:ea typeface="Arial" pitchFamily="34" charset="-122"/>
                <a:cs typeface="Arial" pitchFamily="34" charset="-120"/>
              </a:rPr>
              <a:t>Field labor</a:t>
            </a:r>
            <a:endParaRPr lang="en-US" sz="1500" dirty="0"/>
          </a:p>
        </p:txBody>
      </p:sp>
      <p:sp>
        <p:nvSpPr>
          <p:cNvPr id="8" name="Text 6"/>
          <p:cNvSpPr/>
          <p:nvPr/>
        </p:nvSpPr>
        <p:spPr>
          <a:xfrm>
            <a:off x="758952" y="3200400"/>
            <a:ext cx="3090672" cy="1005840"/>
          </a:xfrm>
          <a:prstGeom prst="rect">
            <a:avLst/>
          </a:prstGeom>
          <a:noFill/>
          <a:ln/>
        </p:spPr>
        <p:txBody>
          <a:bodyPr wrap="square" lIns="0" tIns="0" rIns="0" bIns="0" rtlCol="0" anchor="t"/>
          <a:lstStyle/>
          <a:p>
            <a:pPr indent="0" marL="0">
              <a:lnSpc>
                <a:spcPct val="112000"/>
              </a:lnSpc>
              <a:buNone/>
            </a:pPr>
            <a:r>
              <a:rPr lang="en-US" sz="1050" dirty="0">
                <a:solidFill>
                  <a:srgbClr val="3D3833"/>
                </a:solidFill>
                <a:latin typeface="Arial" pitchFamily="34" charset="0"/>
                <a:ea typeface="Arial" pitchFamily="34" charset="-122"/>
                <a:cs typeface="Arial" pitchFamily="34" charset="-120"/>
              </a:rPr>
              <a:t>Terminations and pulls land in the same weeks as commissioning — absorbed as overtime and re-pulls, not as a line item anyone approved.</a:t>
            </a:r>
            <a:endParaRPr lang="en-US" sz="1050" dirty="0"/>
          </a:p>
        </p:txBody>
      </p:sp>
      <p:sp>
        <p:nvSpPr>
          <p:cNvPr id="9" name="Shape 7"/>
          <p:cNvSpPr/>
          <p:nvPr/>
        </p:nvSpPr>
        <p:spPr>
          <a:xfrm>
            <a:off x="4398264" y="2057400"/>
            <a:ext cx="3602736" cy="2286000"/>
          </a:xfrm>
          <a:prstGeom prst="roundRect">
            <a:avLst>
              <a:gd name="adj" fmla="val 2400"/>
            </a:avLst>
          </a:prstGeom>
          <a:solidFill>
            <a:srgbClr val="F5F1EC"/>
          </a:solidFill>
          <a:ln w="12700">
            <a:solidFill>
              <a:srgbClr val="E3DACE"/>
            </a:solidFill>
            <a:prstDash val="solid"/>
          </a:ln>
        </p:spPr>
      </p:sp>
      <p:sp>
        <p:nvSpPr>
          <p:cNvPr id="10" name="Shape 8"/>
          <p:cNvSpPr/>
          <p:nvPr/>
        </p:nvSpPr>
        <p:spPr>
          <a:xfrm>
            <a:off x="4654296" y="2331720"/>
            <a:ext cx="402336" cy="362102"/>
          </a:xfrm>
          <a:prstGeom prst="hexagon">
            <a:avLst/>
          </a:prstGeom>
          <a:solidFill>
            <a:srgbClr val="B4713D"/>
          </a:solidFill>
          <a:ln/>
        </p:spPr>
      </p:sp>
      <p:sp>
        <p:nvSpPr>
          <p:cNvPr id="11" name="Text 9"/>
          <p:cNvSpPr/>
          <p:nvPr/>
        </p:nvSpPr>
        <p:spPr>
          <a:xfrm>
            <a:off x="4654296" y="2331720"/>
            <a:ext cx="402336" cy="36210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4654296" y="2852928"/>
            <a:ext cx="3090672" cy="320040"/>
          </a:xfrm>
          <a:prstGeom prst="rect">
            <a:avLst/>
          </a:prstGeom>
          <a:noFill/>
          <a:ln/>
        </p:spPr>
        <p:txBody>
          <a:bodyPr wrap="square" lIns="0" tIns="0" rIns="0" bIns="0" rtlCol="0" anchor="ctr"/>
          <a:lstStyle/>
          <a:p>
            <a:pPr indent="0" marL="0">
              <a:buNone/>
            </a:pPr>
            <a:r>
              <a:rPr lang="en-US" sz="1500" b="1" dirty="0">
                <a:solidFill>
                  <a:srgbClr val="201D1A"/>
                </a:solidFill>
                <a:latin typeface="Arial" pitchFamily="34" charset="0"/>
                <a:ea typeface="Arial" pitchFamily="34" charset="-122"/>
                <a:cs typeface="Arial" pitchFamily="34" charset="-120"/>
              </a:rPr>
              <a:t>Supply window</a:t>
            </a:r>
            <a:endParaRPr lang="en-US" sz="1500" dirty="0"/>
          </a:p>
        </p:txBody>
      </p:sp>
      <p:sp>
        <p:nvSpPr>
          <p:cNvPr id="13" name="Text 11"/>
          <p:cNvSpPr/>
          <p:nvPr/>
        </p:nvSpPr>
        <p:spPr>
          <a:xfrm>
            <a:off x="4654296" y="3200400"/>
            <a:ext cx="3090672" cy="1005840"/>
          </a:xfrm>
          <a:prstGeom prst="rect">
            <a:avLst/>
          </a:prstGeom>
          <a:noFill/>
          <a:ln/>
        </p:spPr>
        <p:txBody>
          <a:bodyPr wrap="square" lIns="0" tIns="0" rIns="0" bIns="0" rtlCol="0" anchor="t"/>
          <a:lstStyle/>
          <a:p>
            <a:pPr indent="0" marL="0">
              <a:lnSpc>
                <a:spcPct val="112000"/>
              </a:lnSpc>
              <a:buNone/>
            </a:pPr>
            <a:r>
              <a:rPr lang="en-US" sz="1050" dirty="0">
                <a:solidFill>
                  <a:srgbClr val="3D3833"/>
                </a:solidFill>
                <a:latin typeface="Arial" pitchFamily="34" charset="0"/>
                <a:ea typeface="Arial" pitchFamily="34" charset="-122"/>
                <a:cs typeface="Arial" pitchFamily="34" charset="-120"/>
              </a:rPr>
              <a:t>The cable specification is written 12–24 months before anyone buys or reserves capacity. The market moves; the spec does not.</a:t>
            </a:r>
            <a:endParaRPr lang="en-US" sz="1050" dirty="0"/>
          </a:p>
        </p:txBody>
      </p:sp>
      <p:sp>
        <p:nvSpPr>
          <p:cNvPr id="14" name="Shape 12"/>
          <p:cNvSpPr/>
          <p:nvPr/>
        </p:nvSpPr>
        <p:spPr>
          <a:xfrm>
            <a:off x="8293608" y="2057400"/>
            <a:ext cx="3602736" cy="2286000"/>
          </a:xfrm>
          <a:prstGeom prst="roundRect">
            <a:avLst>
              <a:gd name="adj" fmla="val 2400"/>
            </a:avLst>
          </a:prstGeom>
          <a:solidFill>
            <a:srgbClr val="F5F1EC"/>
          </a:solidFill>
          <a:ln w="12700">
            <a:solidFill>
              <a:srgbClr val="E3DACE"/>
            </a:solidFill>
            <a:prstDash val="solid"/>
          </a:ln>
        </p:spPr>
      </p:sp>
      <p:sp>
        <p:nvSpPr>
          <p:cNvPr id="15" name="Shape 13"/>
          <p:cNvSpPr/>
          <p:nvPr/>
        </p:nvSpPr>
        <p:spPr>
          <a:xfrm>
            <a:off x="8549640" y="2331720"/>
            <a:ext cx="402336" cy="362102"/>
          </a:xfrm>
          <a:prstGeom prst="hexagon">
            <a:avLst/>
          </a:prstGeom>
          <a:solidFill>
            <a:srgbClr val="B4713D"/>
          </a:solidFill>
          <a:ln/>
        </p:spPr>
      </p:sp>
      <p:sp>
        <p:nvSpPr>
          <p:cNvPr id="16" name="Text 14"/>
          <p:cNvSpPr/>
          <p:nvPr/>
        </p:nvSpPr>
        <p:spPr>
          <a:xfrm>
            <a:off x="8549640" y="2331720"/>
            <a:ext cx="402336" cy="36210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8549640" y="2852928"/>
            <a:ext cx="3090672" cy="320040"/>
          </a:xfrm>
          <a:prstGeom prst="rect">
            <a:avLst/>
          </a:prstGeom>
          <a:noFill/>
          <a:ln/>
        </p:spPr>
        <p:txBody>
          <a:bodyPr wrap="square" lIns="0" tIns="0" rIns="0" bIns="0" rtlCol="0" anchor="ctr"/>
          <a:lstStyle/>
          <a:p>
            <a:pPr indent="0" marL="0">
              <a:buNone/>
            </a:pPr>
            <a:r>
              <a:rPr lang="en-US" sz="1500" b="1" dirty="0">
                <a:solidFill>
                  <a:srgbClr val="201D1A"/>
                </a:solidFill>
                <a:latin typeface="Arial" pitchFamily="34" charset="0"/>
                <a:ea typeface="Arial" pitchFamily="34" charset="-122"/>
                <a:cs typeface="Arial" pitchFamily="34" charset="-120"/>
              </a:rPr>
              <a:t>System risk</a:t>
            </a:r>
            <a:endParaRPr lang="en-US" sz="1500" dirty="0"/>
          </a:p>
        </p:txBody>
      </p:sp>
      <p:sp>
        <p:nvSpPr>
          <p:cNvPr id="18" name="Text 16"/>
          <p:cNvSpPr/>
          <p:nvPr/>
        </p:nvSpPr>
        <p:spPr>
          <a:xfrm>
            <a:off x="8549640" y="3200400"/>
            <a:ext cx="3090672" cy="1005840"/>
          </a:xfrm>
          <a:prstGeom prst="rect">
            <a:avLst/>
          </a:prstGeom>
          <a:noFill/>
          <a:ln/>
        </p:spPr>
        <p:txBody>
          <a:bodyPr wrap="square" lIns="0" tIns="0" rIns="0" bIns="0" rtlCol="0" anchor="t"/>
          <a:lstStyle/>
          <a:p>
            <a:pPr indent="0" marL="0">
              <a:lnSpc>
                <a:spcPct val="112000"/>
              </a:lnSpc>
              <a:buNone/>
            </a:pPr>
            <a:r>
              <a:rPr lang="en-US" sz="1050" dirty="0">
                <a:solidFill>
                  <a:srgbClr val="3D3833"/>
                </a:solidFill>
                <a:latin typeface="Arial" pitchFamily="34" charset="0"/>
                <a:ea typeface="Arial" pitchFamily="34" charset="-122"/>
                <a:cs typeface="Arial" pitchFamily="34" charset="-120"/>
              </a:rPr>
              <a:t>Cable sized for the drawing, not the installed geometry, fails in year eight — on an asset you still own and still owe.</a:t>
            </a:r>
            <a:endParaRPr lang="en-US" sz="1050" dirty="0"/>
          </a:p>
        </p:txBody>
      </p:sp>
      <p:sp>
        <p:nvSpPr>
          <p:cNvPr id="19" name="Text 17"/>
          <p:cNvSpPr/>
          <p:nvPr/>
        </p:nvSpPr>
        <p:spPr>
          <a:xfrm>
            <a:off x="502920" y="4709160"/>
            <a:ext cx="11155680" cy="548640"/>
          </a:xfrm>
          <a:prstGeom prst="rect">
            <a:avLst/>
          </a:prstGeom>
          <a:noFill/>
          <a:ln/>
        </p:spPr>
        <p:txBody>
          <a:bodyPr wrap="square" lIns="0" tIns="0" rIns="0" bIns="0" rtlCol="0" anchor="t"/>
          <a:lstStyle/>
          <a:p>
            <a:pPr indent="0" marL="0">
              <a:lnSpc>
                <a:spcPct val="110000"/>
              </a:lnSpc>
              <a:buNone/>
            </a:pPr>
            <a:r>
              <a:rPr lang="en-US" sz="1300" b="1" dirty="0">
                <a:solidFill>
                  <a:srgbClr val="201D1A"/>
                </a:solidFill>
                <a:latin typeface="Arial" pitchFamily="34" charset="0"/>
                <a:ea typeface="Arial" pitchFamily="34" charset="-122"/>
                <a:cs typeface="Arial" pitchFamily="34" charset="-120"/>
              </a:rPr>
              <a:t>Each of the three lands directly in the owner's math. </a:t>
            </a:r>
            <a:pPr indent="0" marL="0">
              <a:lnSpc>
                <a:spcPct val="110000"/>
              </a:lnSpc>
              <a:buNone/>
            </a:pPr>
            <a:r>
              <a:rPr lang="en-US" sz="1300" dirty="0">
                <a:solidFill>
                  <a:srgbClr val="3D3833"/>
                </a:solidFill>
                <a:latin typeface="Arial" pitchFamily="34" charset="0"/>
                <a:ea typeface="Arial" pitchFamily="34" charset="-122"/>
                <a:cs typeface="Arial" pitchFamily="34" charset="-120"/>
              </a:rPr>
              <a:t>A late electrical scope does not show up as a cable problem — it shows up as COD slip, contingency burn and lost IRR.</a:t>
            </a:r>
            <a:endParaRPr lang="en-US" sz="1300" dirty="0"/>
          </a:p>
        </p:txBody>
      </p:sp>
      <p:sp>
        <p:nvSpPr>
          <p:cNvPr id="20" name="Text 18"/>
          <p:cNvSpPr/>
          <p:nvPr/>
        </p:nvSpPr>
        <p:spPr>
          <a:xfrm>
            <a:off x="502920" y="5440680"/>
            <a:ext cx="11155680" cy="274320"/>
          </a:xfrm>
          <a:prstGeom prst="rect">
            <a:avLst/>
          </a:prstGeom>
          <a:noFill/>
          <a:ln/>
        </p:spPr>
        <p:txBody>
          <a:bodyPr wrap="square" lIns="0" tIns="0" rIns="0" bIns="0" rtlCol="0" anchor="ctr"/>
          <a:lstStyle/>
          <a:p>
            <a:pPr indent="0" marL="0">
              <a:buNone/>
            </a:pPr>
            <a:r>
              <a:rPr lang="en-US" sz="1000" i="1" dirty="0">
                <a:solidFill>
                  <a:srgbClr val="797065"/>
                </a:solidFill>
                <a:latin typeface="Arial" pitchFamily="34" charset="0"/>
                <a:ea typeface="Arial" pitchFamily="34" charset="-122"/>
                <a:cs typeface="Arial" pitchFamily="34" charset="-120"/>
              </a:rPr>
              <a:t>Next page: where cable actually moves LCOE and IRR — and where it does not.</a:t>
            </a:r>
            <a:endParaRPr lang="en-US" sz="1000" dirty="0"/>
          </a:p>
        </p:txBody>
      </p:sp>
      <p:sp>
        <p:nvSpPr>
          <p:cNvPr id="22" name="Text 19"/>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797065"/>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23" name="Text 20"/>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THE OWNER’S EQUATION</a:t>
            </a:r>
            <a:endParaRPr lang="en-US" sz="1050" dirty="0"/>
          </a:p>
        </p:txBody>
      </p:sp>
      <p:sp>
        <p:nvSpPr>
          <p:cNvPr id="3" name="Text 1"/>
          <p:cNvSpPr/>
          <p:nvPr/>
        </p:nvSpPr>
        <p:spPr>
          <a:xfrm>
            <a:off x="502920" y="676656"/>
            <a:ext cx="10515600" cy="868680"/>
          </a:xfrm>
          <a:prstGeom prst="rect">
            <a:avLst/>
          </a:prstGeom>
          <a:noFill/>
          <a:ln/>
        </p:spPr>
        <p:txBody>
          <a:bodyPr wrap="square" lIns="0" tIns="0" rIns="0" bIns="0" rtlCol="0" anchor="t"/>
          <a:lstStyle/>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Cable is a small line item with large coefficients.</a:t>
            </a:r>
            <a:endParaRPr lang="en-US" sz="2600" dirty="0"/>
          </a:p>
        </p:txBody>
      </p:sp>
      <p:sp>
        <p:nvSpPr>
          <p:cNvPr id="4" name="Text 2"/>
          <p:cNvSpPr/>
          <p:nvPr/>
        </p:nvSpPr>
        <p:spPr>
          <a:xfrm>
            <a:off x="502920" y="1298448"/>
            <a:ext cx="10515600" cy="274320"/>
          </a:xfrm>
          <a:prstGeom prst="rect">
            <a:avLst/>
          </a:prstGeom>
          <a:noFill/>
          <a:ln/>
        </p:spPr>
        <p:txBody>
          <a:bodyPr wrap="square" lIns="0" tIns="0" rIns="0" bIns="0" rtlCol="0" anchor="ctr"/>
          <a:lstStyle/>
          <a:p>
            <a:pPr indent="0" marL="0">
              <a:buNone/>
            </a:pPr>
            <a:r>
              <a:rPr lang="en-US" sz="1100" dirty="0">
                <a:solidFill>
                  <a:srgbClr val="3D3833"/>
                </a:solidFill>
                <a:latin typeface="Arial" pitchFamily="34" charset="0"/>
                <a:ea typeface="Arial" pitchFamily="34" charset="-122"/>
                <a:cs typeface="Arial" pitchFamily="34" charset="-120"/>
              </a:rPr>
              <a:t>LCOE and IRR decide every project. Five variables actually move — none of them is the purchase price.</a:t>
            </a:r>
            <a:endParaRPr lang="en-US" sz="1100" dirty="0"/>
          </a:p>
        </p:txBody>
      </p:sp>
      <p:sp>
        <p:nvSpPr>
          <p:cNvPr id="5" name="Shape 3"/>
          <p:cNvSpPr/>
          <p:nvPr/>
        </p:nvSpPr>
        <p:spPr>
          <a:xfrm>
            <a:off x="502920" y="1783080"/>
            <a:ext cx="3383280" cy="2011680"/>
          </a:xfrm>
          <a:prstGeom prst="roundRect">
            <a:avLst>
              <a:gd name="adj" fmla="val 2727"/>
            </a:avLst>
          </a:prstGeom>
          <a:solidFill>
            <a:srgbClr val="F5F1EC"/>
          </a:solidFill>
          <a:ln w="12700">
            <a:solidFill>
              <a:srgbClr val="E3DACE"/>
            </a:solidFill>
            <a:prstDash val="solid"/>
          </a:ln>
        </p:spPr>
      </p:sp>
      <p:sp>
        <p:nvSpPr>
          <p:cNvPr id="6" name="Text 4"/>
          <p:cNvSpPr/>
          <p:nvPr/>
        </p:nvSpPr>
        <p:spPr>
          <a:xfrm>
            <a:off x="777240" y="1965960"/>
            <a:ext cx="2926080" cy="228600"/>
          </a:xfrm>
          <a:prstGeom prst="rect">
            <a:avLst/>
          </a:prstGeom>
          <a:noFill/>
          <a:ln/>
        </p:spPr>
        <p:txBody>
          <a:bodyPr wrap="square" lIns="0" tIns="0" rIns="0" bIns="0" rtlCol="0" anchor="ctr"/>
          <a:lstStyle/>
          <a:p>
            <a:pPr indent="0" marL="0">
              <a:buNone/>
            </a:pPr>
            <a:r>
              <a:rPr lang="en-US" sz="950" b="1" spc="150" kern="0" dirty="0">
                <a:solidFill>
                  <a:srgbClr val="8F5527"/>
                </a:solidFill>
                <a:latin typeface="Arial" pitchFamily="34" charset="0"/>
                <a:ea typeface="Arial" pitchFamily="34" charset="-122"/>
                <a:cs typeface="Arial" pitchFamily="34" charset="-120"/>
              </a:rPr>
              <a:t>LCOE  —  COST PER MWh</a:t>
            </a:r>
            <a:endParaRPr lang="en-US" sz="950" dirty="0"/>
          </a:p>
        </p:txBody>
      </p:sp>
      <p:sp>
        <p:nvSpPr>
          <p:cNvPr id="7" name="Text 5"/>
          <p:cNvSpPr/>
          <p:nvPr/>
        </p:nvSpPr>
        <p:spPr>
          <a:xfrm>
            <a:off x="777240" y="2267712"/>
            <a:ext cx="2834640" cy="548640"/>
          </a:xfrm>
          <a:prstGeom prst="rect">
            <a:avLst/>
          </a:prstGeom>
          <a:noFill/>
          <a:ln/>
        </p:spPr>
        <p:txBody>
          <a:bodyPr wrap="square" lIns="0" tIns="0" rIns="0" bIns="0" rtlCol="0" anchor="ctr"/>
          <a:lstStyle/>
          <a:p>
            <a:pPr algn="ctr" indent="0" marL="0">
              <a:buNone/>
            </a:pPr>
            <a:r>
              <a:rPr lang="en-US" sz="1150" b="1" dirty="0">
                <a:solidFill>
                  <a:srgbClr val="201D1A"/>
                </a:solidFill>
                <a:latin typeface="Arial" pitchFamily="34" charset="0"/>
                <a:ea typeface="Arial" pitchFamily="34" charset="-122"/>
                <a:cs typeface="Arial" pitchFamily="34" charset="-120"/>
              </a:rPr>
              <a:t>CAPEX + O&amp;M + Fuel</a:t>
            </a:r>
            <a:endParaRPr lang="en-US" sz="1150" dirty="0"/>
          </a:p>
          <a:p>
            <a:pPr algn="ctr" indent="0" marL="0">
              <a:buNone/>
            </a:pPr>
            <a:r>
              <a:rPr lang="en-US" sz="1150" b="1" dirty="0">
                <a:solidFill>
                  <a:srgbClr val="201D1A"/>
                </a:solidFill>
                <a:latin typeface="Arial" pitchFamily="34" charset="0"/>
                <a:ea typeface="Arial" pitchFamily="34" charset="-122"/>
                <a:cs typeface="Arial" pitchFamily="34" charset="-120"/>
              </a:rPr>
              <a:t>(lifetime, discounted)</a:t>
            </a:r>
            <a:endParaRPr lang="en-US" sz="1150" dirty="0"/>
          </a:p>
        </p:txBody>
      </p:sp>
      <p:sp>
        <p:nvSpPr>
          <p:cNvPr id="8" name="Shape 6"/>
          <p:cNvSpPr/>
          <p:nvPr/>
        </p:nvSpPr>
        <p:spPr>
          <a:xfrm>
            <a:off x="1051560" y="2871216"/>
            <a:ext cx="2286000" cy="0"/>
          </a:xfrm>
          <a:prstGeom prst="line">
            <a:avLst/>
          </a:prstGeom>
          <a:noFill/>
          <a:ln w="15875">
            <a:solidFill>
              <a:srgbClr val="201D1A"/>
            </a:solidFill>
            <a:prstDash val="solid"/>
          </a:ln>
        </p:spPr>
      </p:sp>
      <p:sp>
        <p:nvSpPr>
          <p:cNvPr id="9" name="Text 7"/>
          <p:cNvSpPr/>
          <p:nvPr/>
        </p:nvSpPr>
        <p:spPr>
          <a:xfrm>
            <a:off x="777240" y="2926080"/>
            <a:ext cx="2834640" cy="274320"/>
          </a:xfrm>
          <a:prstGeom prst="rect">
            <a:avLst/>
          </a:prstGeom>
          <a:noFill/>
          <a:ln/>
        </p:spPr>
        <p:txBody>
          <a:bodyPr wrap="square" lIns="0" tIns="0" rIns="0" bIns="0" rtlCol="0" anchor="ctr"/>
          <a:lstStyle/>
          <a:p>
            <a:pPr algn="ctr" indent="0" marL="0">
              <a:buNone/>
            </a:pPr>
            <a:r>
              <a:rPr lang="en-US" sz="1050" b="1" dirty="0">
                <a:solidFill>
                  <a:srgbClr val="201D1A"/>
                </a:solidFill>
                <a:latin typeface="Arial" pitchFamily="34" charset="0"/>
                <a:ea typeface="Arial" pitchFamily="34" charset="-122"/>
                <a:cs typeface="Arial" pitchFamily="34" charset="-120"/>
              </a:rPr>
              <a:t>Lifetime MWh delivered (discounted)</a:t>
            </a:r>
            <a:endParaRPr lang="en-US" sz="1050" dirty="0"/>
          </a:p>
        </p:txBody>
      </p:sp>
      <p:sp>
        <p:nvSpPr>
          <p:cNvPr id="10" name="Text 8"/>
          <p:cNvSpPr/>
          <p:nvPr/>
        </p:nvSpPr>
        <p:spPr>
          <a:xfrm>
            <a:off x="777240" y="3291840"/>
            <a:ext cx="2834640" cy="411480"/>
          </a:xfrm>
          <a:prstGeom prst="rect">
            <a:avLst/>
          </a:prstGeom>
          <a:noFill/>
          <a:ln/>
        </p:spPr>
        <p:txBody>
          <a:bodyPr wrap="square" lIns="0" tIns="0" rIns="0" bIns="0" rtlCol="0" anchor="ctr"/>
          <a:lstStyle/>
          <a:p>
            <a:pPr indent="0" marL="0">
              <a:buNone/>
            </a:pPr>
            <a:r>
              <a:rPr lang="en-US" sz="900" i="1" dirty="0">
                <a:solidFill>
                  <a:srgbClr val="797065"/>
                </a:solidFill>
                <a:latin typeface="Arial" pitchFamily="34" charset="0"/>
                <a:ea typeface="Arial" pitchFamily="34" charset="-122"/>
                <a:cs typeface="Arial" pitchFamily="34" charset="-120"/>
              </a:rPr>
              <a:t>Lower the top. Grow the bottom. De-risk the rate that discounts both.</a:t>
            </a:r>
            <a:endParaRPr lang="en-US" sz="900" dirty="0"/>
          </a:p>
        </p:txBody>
      </p:sp>
      <p:sp>
        <p:nvSpPr>
          <p:cNvPr id="11" name="Shape 9"/>
          <p:cNvSpPr/>
          <p:nvPr/>
        </p:nvSpPr>
        <p:spPr>
          <a:xfrm>
            <a:off x="502920" y="3977640"/>
            <a:ext cx="3383280" cy="1783080"/>
          </a:xfrm>
          <a:prstGeom prst="roundRect">
            <a:avLst>
              <a:gd name="adj" fmla="val 3077"/>
            </a:avLst>
          </a:prstGeom>
          <a:solidFill>
            <a:srgbClr val="F5F1EC"/>
          </a:solidFill>
          <a:ln w="12700">
            <a:solidFill>
              <a:srgbClr val="E3DACE"/>
            </a:solidFill>
            <a:prstDash val="solid"/>
          </a:ln>
        </p:spPr>
      </p:sp>
      <p:sp>
        <p:nvSpPr>
          <p:cNvPr id="12" name="Text 10"/>
          <p:cNvSpPr/>
          <p:nvPr/>
        </p:nvSpPr>
        <p:spPr>
          <a:xfrm>
            <a:off x="777240" y="4160520"/>
            <a:ext cx="2926080" cy="228600"/>
          </a:xfrm>
          <a:prstGeom prst="rect">
            <a:avLst/>
          </a:prstGeom>
          <a:noFill/>
          <a:ln/>
        </p:spPr>
        <p:txBody>
          <a:bodyPr wrap="square" lIns="0" tIns="0" rIns="0" bIns="0" rtlCol="0" anchor="ctr"/>
          <a:lstStyle/>
          <a:p>
            <a:pPr indent="0" marL="0">
              <a:buNone/>
            </a:pPr>
            <a:r>
              <a:rPr lang="en-US" sz="950" b="1" spc="150" kern="0" dirty="0">
                <a:solidFill>
                  <a:srgbClr val="8F5527"/>
                </a:solidFill>
                <a:latin typeface="Arial" pitchFamily="34" charset="0"/>
                <a:ea typeface="Arial" pitchFamily="34" charset="-122"/>
                <a:cs typeface="Arial" pitchFamily="34" charset="-120"/>
              </a:rPr>
              <a:t>IRR  —  RETURN ON THE PROJECT</a:t>
            </a:r>
            <a:endParaRPr lang="en-US" sz="950" dirty="0"/>
          </a:p>
        </p:txBody>
      </p:sp>
      <p:sp>
        <p:nvSpPr>
          <p:cNvPr id="13" name="Text 11"/>
          <p:cNvSpPr/>
          <p:nvPr/>
        </p:nvSpPr>
        <p:spPr>
          <a:xfrm>
            <a:off x="777240" y="4480560"/>
            <a:ext cx="2834640" cy="320040"/>
          </a:xfrm>
          <a:prstGeom prst="rect">
            <a:avLst/>
          </a:prstGeom>
          <a:noFill/>
          <a:ln/>
        </p:spPr>
        <p:txBody>
          <a:bodyPr wrap="square" lIns="0" tIns="0" rIns="0" bIns="0" rtlCol="0" anchor="ctr"/>
          <a:lstStyle/>
          <a:p>
            <a:pPr algn="ctr" indent="0" marL="0">
              <a:buNone/>
            </a:pPr>
            <a:r>
              <a:rPr lang="en-US" sz="1200" b="1" dirty="0">
                <a:solidFill>
                  <a:srgbClr val="201D1A"/>
                </a:solidFill>
                <a:latin typeface="Arial" pitchFamily="34" charset="0"/>
                <a:ea typeface="Arial" pitchFamily="34" charset="-122"/>
                <a:cs typeface="Arial" pitchFamily="34" charset="-120"/>
              </a:rPr>
              <a:t>NPV = Σ CFₜ ÷ (1 + IRR)ᵗ = 0</a:t>
            </a:r>
            <a:endParaRPr lang="en-US" sz="1200" dirty="0"/>
          </a:p>
        </p:txBody>
      </p:sp>
      <p:sp>
        <p:nvSpPr>
          <p:cNvPr id="14" name="Text 12"/>
          <p:cNvSpPr/>
          <p:nvPr/>
        </p:nvSpPr>
        <p:spPr>
          <a:xfrm>
            <a:off x="777240" y="4892040"/>
            <a:ext cx="2834640" cy="731520"/>
          </a:xfrm>
          <a:prstGeom prst="rect">
            <a:avLst/>
          </a:prstGeom>
          <a:noFill/>
          <a:ln/>
        </p:spPr>
        <p:txBody>
          <a:bodyPr wrap="square" lIns="0" tIns="0" rIns="0" bIns="0" rtlCol="0" anchor="ctr"/>
          <a:lstStyle/>
          <a:p>
            <a:pPr indent="0" marL="0">
              <a:lnSpc>
                <a:spcPct val="110000"/>
              </a:lnSpc>
              <a:buNone/>
            </a:pPr>
            <a:r>
              <a:rPr lang="en-US" sz="900" i="1" dirty="0">
                <a:solidFill>
                  <a:srgbClr val="797065"/>
                </a:solidFill>
                <a:latin typeface="Arial" pitchFamily="34" charset="0"/>
                <a:ea typeface="Arial" pitchFamily="34" charset="-122"/>
                <a:cs typeface="Arial" pitchFamily="34" charset="-120"/>
              </a:rPr>
              <a:t>Most sensitive to COD date, capex certainty and availability — revenue that starts late is IRR you never get back.</a:t>
            </a:r>
            <a:endParaRPr lang="en-US" sz="900" dirty="0"/>
          </a:p>
        </p:txBody>
      </p:sp>
      <p:sp>
        <p:nvSpPr>
          <p:cNvPr id="15" name="Shape 13"/>
          <p:cNvSpPr/>
          <p:nvPr/>
        </p:nvSpPr>
        <p:spPr>
          <a:xfrm>
            <a:off x="4224528" y="1837944"/>
            <a:ext cx="329184" cy="296266"/>
          </a:xfrm>
          <a:prstGeom prst="hexagon">
            <a:avLst/>
          </a:prstGeom>
          <a:solidFill>
            <a:srgbClr val="B4713D"/>
          </a:solidFill>
          <a:ln/>
        </p:spPr>
      </p:sp>
      <p:sp>
        <p:nvSpPr>
          <p:cNvPr id="16" name="Text 14"/>
          <p:cNvSpPr/>
          <p:nvPr/>
        </p:nvSpPr>
        <p:spPr>
          <a:xfrm>
            <a:off x="4224528" y="1837944"/>
            <a:ext cx="329184" cy="29626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17" name="Text 15"/>
          <p:cNvSpPr/>
          <p:nvPr/>
        </p:nvSpPr>
        <p:spPr>
          <a:xfrm>
            <a:off x="4736592" y="1783080"/>
            <a:ext cx="6949440" cy="219456"/>
          </a:xfrm>
          <a:prstGeom prst="rect">
            <a:avLst/>
          </a:prstGeom>
          <a:noFill/>
          <a:ln/>
        </p:spPr>
        <p:txBody>
          <a:bodyPr wrap="square" lIns="0" tIns="0" rIns="0" bIns="0" rtlCol="0" anchor="ctr"/>
          <a:lstStyle/>
          <a:p>
            <a:pPr indent="0" marL="0">
              <a:buNone/>
            </a:pPr>
            <a:r>
              <a:rPr lang="en-US" sz="1050" b="1" spc="80" kern="0" dirty="0">
                <a:solidFill>
                  <a:srgbClr val="8F5527"/>
                </a:solidFill>
                <a:latin typeface="Arial" pitchFamily="34" charset="0"/>
                <a:ea typeface="Arial" pitchFamily="34" charset="-122"/>
                <a:cs typeface="Arial" pitchFamily="34" charset="-120"/>
              </a:rPr>
              <a:t>SCHEDULE → COD</a:t>
            </a:r>
            <a:endParaRPr lang="en-US" sz="1050" dirty="0"/>
          </a:p>
        </p:txBody>
      </p:sp>
      <p:sp>
        <p:nvSpPr>
          <p:cNvPr id="18" name="Text 16"/>
          <p:cNvSpPr/>
          <p:nvPr/>
        </p:nvSpPr>
        <p:spPr>
          <a:xfrm>
            <a:off x="4736592" y="2002536"/>
            <a:ext cx="6949440" cy="512064"/>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Cable sits on the energization critical path. Supply certainty and delivery sequencing protect the revenue start date — the largest single IRR lever.</a:t>
            </a:r>
            <a:endParaRPr lang="en-US" sz="950" dirty="0"/>
          </a:p>
        </p:txBody>
      </p:sp>
      <p:sp>
        <p:nvSpPr>
          <p:cNvPr id="19" name="Shape 17"/>
          <p:cNvSpPr/>
          <p:nvPr/>
        </p:nvSpPr>
        <p:spPr>
          <a:xfrm>
            <a:off x="4224528" y="2642616"/>
            <a:ext cx="329184" cy="296266"/>
          </a:xfrm>
          <a:prstGeom prst="hexagon">
            <a:avLst/>
          </a:prstGeom>
          <a:solidFill>
            <a:srgbClr val="B4713D"/>
          </a:solidFill>
          <a:ln/>
        </p:spPr>
      </p:sp>
      <p:sp>
        <p:nvSpPr>
          <p:cNvPr id="20" name="Text 18"/>
          <p:cNvSpPr/>
          <p:nvPr/>
        </p:nvSpPr>
        <p:spPr>
          <a:xfrm>
            <a:off x="4224528" y="2642616"/>
            <a:ext cx="329184" cy="29626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21" name="Text 19"/>
          <p:cNvSpPr/>
          <p:nvPr/>
        </p:nvSpPr>
        <p:spPr>
          <a:xfrm>
            <a:off x="4736592" y="2587752"/>
            <a:ext cx="6949440" cy="219456"/>
          </a:xfrm>
          <a:prstGeom prst="rect">
            <a:avLst/>
          </a:prstGeom>
          <a:noFill/>
          <a:ln/>
        </p:spPr>
        <p:txBody>
          <a:bodyPr wrap="square" lIns="0" tIns="0" rIns="0" bIns="0" rtlCol="0" anchor="ctr"/>
          <a:lstStyle/>
          <a:p>
            <a:pPr indent="0" marL="0">
              <a:buNone/>
            </a:pPr>
            <a:r>
              <a:rPr lang="en-US" sz="1050" b="1" spc="80" kern="0" dirty="0">
                <a:solidFill>
                  <a:srgbClr val="8F5527"/>
                </a:solidFill>
                <a:latin typeface="Arial" pitchFamily="34" charset="0"/>
                <a:ea typeface="Arial" pitchFamily="34" charset="-122"/>
                <a:cs typeface="Arial" pitchFamily="34" charset="-120"/>
              </a:rPr>
              <a:t>RISK → DISCOUNT RATE</a:t>
            </a:r>
            <a:endParaRPr lang="en-US" sz="1050" dirty="0"/>
          </a:p>
        </p:txBody>
      </p:sp>
      <p:sp>
        <p:nvSpPr>
          <p:cNvPr id="22" name="Text 20"/>
          <p:cNvSpPr/>
          <p:nvPr/>
        </p:nvSpPr>
        <p:spPr>
          <a:xfrm>
            <a:off x="4736592" y="2807208"/>
            <a:ext cx="6949440" cy="512064"/>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Evidence-based scope lowers contingency and financing risk: an estimate within 4% on footage was 26% off on copper — right in total, wrong where the money is.</a:t>
            </a:r>
            <a:endParaRPr lang="en-US" sz="950" dirty="0"/>
          </a:p>
        </p:txBody>
      </p:sp>
      <p:sp>
        <p:nvSpPr>
          <p:cNvPr id="23" name="Shape 21"/>
          <p:cNvSpPr/>
          <p:nvPr/>
        </p:nvSpPr>
        <p:spPr>
          <a:xfrm>
            <a:off x="4224528" y="3447288"/>
            <a:ext cx="329184" cy="296266"/>
          </a:xfrm>
          <a:prstGeom prst="hexagon">
            <a:avLst/>
          </a:prstGeom>
          <a:solidFill>
            <a:srgbClr val="B4713D"/>
          </a:solidFill>
          <a:ln/>
        </p:spPr>
      </p:sp>
      <p:sp>
        <p:nvSpPr>
          <p:cNvPr id="24" name="Text 22"/>
          <p:cNvSpPr/>
          <p:nvPr/>
        </p:nvSpPr>
        <p:spPr>
          <a:xfrm>
            <a:off x="4224528" y="3447288"/>
            <a:ext cx="329184" cy="29626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25" name="Text 23"/>
          <p:cNvSpPr/>
          <p:nvPr/>
        </p:nvSpPr>
        <p:spPr>
          <a:xfrm>
            <a:off x="4736592" y="3392424"/>
            <a:ext cx="6949440" cy="219456"/>
          </a:xfrm>
          <a:prstGeom prst="rect">
            <a:avLst/>
          </a:prstGeom>
          <a:noFill/>
          <a:ln/>
        </p:spPr>
        <p:txBody>
          <a:bodyPr wrap="square" lIns="0" tIns="0" rIns="0" bIns="0" rtlCol="0" anchor="ctr"/>
          <a:lstStyle/>
          <a:p>
            <a:pPr indent="0" marL="0">
              <a:buNone/>
            </a:pPr>
            <a:r>
              <a:rPr lang="en-US" sz="1050" b="1" spc="80" kern="0" dirty="0">
                <a:solidFill>
                  <a:srgbClr val="8F5527"/>
                </a:solidFill>
                <a:latin typeface="Arial" pitchFamily="34" charset="0"/>
                <a:ea typeface="Arial" pitchFamily="34" charset="-122"/>
                <a:cs typeface="Arial" pitchFamily="34" charset="-120"/>
              </a:rPr>
              <a:t>CAPEX — THE NUMERATOR</a:t>
            </a:r>
            <a:endParaRPr lang="en-US" sz="1050" dirty="0"/>
          </a:p>
        </p:txBody>
      </p:sp>
      <p:sp>
        <p:nvSpPr>
          <p:cNvPr id="26" name="Text 24"/>
          <p:cNvSpPr/>
          <p:nvPr/>
        </p:nvSpPr>
        <p:spPr>
          <a:xfrm>
            <a:off x="4736592" y="3611880"/>
            <a:ext cx="6949440" cy="512064"/>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Cable is under 2% of plant capex — purchase price barely moves the top line. Installed cost does: routing, reels, pulls, rework.</a:t>
            </a:r>
            <a:endParaRPr lang="en-US" sz="950" dirty="0"/>
          </a:p>
        </p:txBody>
      </p:sp>
      <p:sp>
        <p:nvSpPr>
          <p:cNvPr id="27" name="Shape 25"/>
          <p:cNvSpPr/>
          <p:nvPr/>
        </p:nvSpPr>
        <p:spPr>
          <a:xfrm>
            <a:off x="4224528" y="4251960"/>
            <a:ext cx="329184" cy="296266"/>
          </a:xfrm>
          <a:prstGeom prst="hexagon">
            <a:avLst/>
          </a:prstGeom>
          <a:solidFill>
            <a:srgbClr val="B4713D"/>
          </a:solidFill>
          <a:ln/>
        </p:spPr>
      </p:sp>
      <p:sp>
        <p:nvSpPr>
          <p:cNvPr id="28" name="Text 26"/>
          <p:cNvSpPr/>
          <p:nvPr/>
        </p:nvSpPr>
        <p:spPr>
          <a:xfrm>
            <a:off x="4224528" y="4251960"/>
            <a:ext cx="329184" cy="29626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4</a:t>
            </a:r>
            <a:endParaRPr lang="en-US" sz="1050" dirty="0"/>
          </a:p>
        </p:txBody>
      </p:sp>
      <p:sp>
        <p:nvSpPr>
          <p:cNvPr id="29" name="Text 27"/>
          <p:cNvSpPr/>
          <p:nvPr/>
        </p:nvSpPr>
        <p:spPr>
          <a:xfrm>
            <a:off x="4736592" y="4197096"/>
            <a:ext cx="6949440" cy="219456"/>
          </a:xfrm>
          <a:prstGeom prst="rect">
            <a:avLst/>
          </a:prstGeom>
          <a:noFill/>
          <a:ln/>
        </p:spPr>
        <p:txBody>
          <a:bodyPr wrap="square" lIns="0" tIns="0" rIns="0" bIns="0" rtlCol="0" anchor="ctr"/>
          <a:lstStyle/>
          <a:p>
            <a:pPr indent="0" marL="0">
              <a:buNone/>
            </a:pPr>
            <a:r>
              <a:rPr lang="en-US" sz="1050" b="1" spc="80" kern="0" dirty="0">
                <a:solidFill>
                  <a:srgbClr val="8F5527"/>
                </a:solidFill>
                <a:latin typeface="Arial" pitchFamily="34" charset="0"/>
                <a:ea typeface="Arial" pitchFamily="34" charset="-122"/>
                <a:cs typeface="Arial" pitchFamily="34" charset="-120"/>
              </a:rPr>
              <a:t>MWh — THE DENOMINATOR</a:t>
            </a:r>
            <a:endParaRPr lang="en-US" sz="1050" dirty="0"/>
          </a:p>
        </p:txBody>
      </p:sp>
      <p:sp>
        <p:nvSpPr>
          <p:cNvPr id="30" name="Text 28"/>
          <p:cNvSpPr/>
          <p:nvPr/>
        </p:nvSpPr>
        <p:spPr>
          <a:xfrm>
            <a:off x="4736592" y="4416552"/>
            <a:ext cx="6949440" cy="512064"/>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Availability and asset life grow the bottom of the equation: cable health, rejuvenation and life extension keep MWh flowing.</a:t>
            </a:r>
            <a:endParaRPr lang="en-US" sz="950" dirty="0"/>
          </a:p>
        </p:txBody>
      </p:sp>
      <p:sp>
        <p:nvSpPr>
          <p:cNvPr id="31" name="Shape 29"/>
          <p:cNvSpPr/>
          <p:nvPr/>
        </p:nvSpPr>
        <p:spPr>
          <a:xfrm>
            <a:off x="4224528" y="5056632"/>
            <a:ext cx="329184" cy="296266"/>
          </a:xfrm>
          <a:prstGeom prst="hexagon">
            <a:avLst/>
          </a:prstGeom>
          <a:solidFill>
            <a:srgbClr val="B4713D"/>
          </a:solidFill>
          <a:ln/>
        </p:spPr>
      </p:sp>
      <p:sp>
        <p:nvSpPr>
          <p:cNvPr id="32" name="Text 30"/>
          <p:cNvSpPr/>
          <p:nvPr/>
        </p:nvSpPr>
        <p:spPr>
          <a:xfrm>
            <a:off x="4224528" y="5056632"/>
            <a:ext cx="329184" cy="29626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5</a:t>
            </a:r>
            <a:endParaRPr lang="en-US" sz="1050" dirty="0"/>
          </a:p>
        </p:txBody>
      </p:sp>
      <p:sp>
        <p:nvSpPr>
          <p:cNvPr id="33" name="Text 31"/>
          <p:cNvSpPr/>
          <p:nvPr/>
        </p:nvSpPr>
        <p:spPr>
          <a:xfrm>
            <a:off x="4736592" y="5001768"/>
            <a:ext cx="6949440" cy="219456"/>
          </a:xfrm>
          <a:prstGeom prst="rect">
            <a:avLst/>
          </a:prstGeom>
          <a:noFill/>
          <a:ln/>
        </p:spPr>
        <p:txBody>
          <a:bodyPr wrap="square" lIns="0" tIns="0" rIns="0" bIns="0" rtlCol="0" anchor="ctr"/>
          <a:lstStyle/>
          <a:p>
            <a:pPr indent="0" marL="0">
              <a:buNone/>
            </a:pPr>
            <a:r>
              <a:rPr lang="en-US" sz="1050" b="1" spc="80" kern="0" dirty="0">
                <a:solidFill>
                  <a:srgbClr val="8F5527"/>
                </a:solidFill>
                <a:latin typeface="Arial" pitchFamily="34" charset="0"/>
                <a:ea typeface="Arial" pitchFamily="34" charset="-122"/>
                <a:cs typeface="Arial" pitchFamily="34" charset="-120"/>
              </a:rPr>
              <a:t>COMMODITY VOLATILITY</a:t>
            </a:r>
            <a:endParaRPr lang="en-US" sz="1050" dirty="0"/>
          </a:p>
        </p:txBody>
      </p:sp>
      <p:sp>
        <p:nvSpPr>
          <p:cNvPr id="34" name="Text 32"/>
          <p:cNvSpPr/>
          <p:nvPr/>
        </p:nvSpPr>
        <p:spPr>
          <a:xfrm>
            <a:off x="4736592" y="5221224"/>
            <a:ext cx="6949440" cy="512064"/>
          </a:xfrm>
          <a:prstGeom prst="rect">
            <a:avLst/>
          </a:prstGeom>
          <a:noFill/>
          <a:ln/>
        </p:spPr>
        <p:txBody>
          <a:bodyPr wrap="square" lIns="0" tIns="0" rIns="0" bIns="0" rtlCol="0" anchor="t"/>
          <a:lstStyle/>
          <a:p>
            <a:pPr indent="0" marL="0">
              <a:lnSpc>
                <a:spcPct val="105000"/>
              </a:lnSpc>
              <a:buNone/>
            </a:pPr>
            <a:r>
              <a:rPr lang="en-US" sz="950" dirty="0">
                <a:solidFill>
                  <a:srgbClr val="3D3833"/>
                </a:solidFill>
                <a:latin typeface="Arial" pitchFamily="34" charset="0"/>
                <a:ea typeface="Arial" pitchFamily="34" charset="-122"/>
                <a:cs typeface="Arial" pitchFamily="34" charset="-120"/>
              </a:rPr>
              <a:t>Copper and aluminum exposure managed through supply strategy and hedging — capex certainty that lenders can underwrite.</a:t>
            </a:r>
            <a:endParaRPr lang="en-US" sz="950" dirty="0"/>
          </a:p>
        </p:txBody>
      </p:sp>
      <p:sp>
        <p:nvSpPr>
          <p:cNvPr id="35" name="Shape 33"/>
          <p:cNvSpPr/>
          <p:nvPr/>
        </p:nvSpPr>
        <p:spPr>
          <a:xfrm>
            <a:off x="502920" y="5943600"/>
            <a:ext cx="11183112" cy="457200"/>
          </a:xfrm>
          <a:prstGeom prst="roundRect">
            <a:avLst>
              <a:gd name="adj" fmla="val 10000"/>
            </a:avLst>
          </a:prstGeom>
          <a:solidFill>
            <a:srgbClr val="201D1A"/>
          </a:solidFill>
          <a:ln/>
        </p:spPr>
      </p:sp>
      <p:sp>
        <p:nvSpPr>
          <p:cNvPr id="36" name="Text 34"/>
          <p:cNvSpPr/>
          <p:nvPr/>
        </p:nvSpPr>
        <p:spPr>
          <a:xfrm>
            <a:off x="685800" y="5943600"/>
            <a:ext cx="108813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Cable barely moves the numerator — it moves COD, risk and availability, where LCOE and IRR are decided.</a:t>
            </a:r>
            <a:endParaRPr lang="en-US" sz="1150" dirty="0"/>
          </a:p>
        </p:txBody>
      </p:sp>
      <p:sp>
        <p:nvSpPr>
          <p:cNvPr id="38" name="Text 35"/>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797065"/>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39" name="Text 36"/>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THE ANSWER   ·   SOUTHWIRE WORKING MODEL, FOR NRG VALIDATION</a:t>
            </a:r>
            <a:endParaRPr lang="en-US" sz="1050" dirty="0"/>
          </a:p>
        </p:txBody>
      </p:sp>
      <p:sp>
        <p:nvSpPr>
          <p:cNvPr id="3" name="Text 1"/>
          <p:cNvSpPr/>
          <p:nvPr/>
        </p:nvSpPr>
        <p:spPr>
          <a:xfrm>
            <a:off x="502920" y="676656"/>
            <a:ext cx="10789920" cy="868680"/>
          </a:xfrm>
          <a:prstGeom prst="rect">
            <a:avLst/>
          </a:prstGeom>
          <a:noFill/>
          <a:ln/>
        </p:spPr>
        <p:txBody>
          <a:bodyPr wrap="square" lIns="0" tIns="0" rIns="0" bIns="0" rtlCol="0" anchor="t"/>
          <a:lstStyle/>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Move cable from late procurement to a governed delivery system.</a:t>
            </a:r>
            <a:endParaRPr lang="en-US" sz="2600" dirty="0"/>
          </a:p>
        </p:txBody>
      </p:sp>
      <p:sp>
        <p:nvSpPr>
          <p:cNvPr id="4" name="Text 2"/>
          <p:cNvSpPr/>
          <p:nvPr/>
        </p:nvSpPr>
        <p:spPr>
          <a:xfrm>
            <a:off x="502920" y="1298448"/>
            <a:ext cx="10789920" cy="274320"/>
          </a:xfrm>
          <a:prstGeom prst="rect">
            <a:avLst/>
          </a:prstGeom>
          <a:noFill/>
          <a:ln/>
        </p:spPr>
        <p:txBody>
          <a:bodyPr wrap="square" lIns="0" tIns="0" rIns="0" bIns="0" rtlCol="0" anchor="ctr"/>
          <a:lstStyle/>
          <a:p>
            <a:pPr indent="0" marL="0">
              <a:buNone/>
            </a:pPr>
            <a:r>
              <a:rPr lang="en-US" sz="1100" dirty="0">
                <a:solidFill>
                  <a:srgbClr val="3D3833"/>
                </a:solidFill>
                <a:latin typeface="Arial" pitchFamily="34" charset="0"/>
                <a:ea typeface="Arial" pitchFamily="34" charset="-122"/>
                <a:cs typeface="Arial" pitchFamily="34" charset="-120"/>
              </a:rPr>
              <a:t>One owner basis travels from specification through turnover — while repeatable package interfaces become prefab / skid spines.</a:t>
            </a:r>
            <a:endParaRPr lang="en-US" sz="1100" dirty="0"/>
          </a:p>
        </p:txBody>
      </p:sp>
      <p:sp>
        <p:nvSpPr>
          <p:cNvPr id="5" name="Shape 3"/>
          <p:cNvSpPr/>
          <p:nvPr/>
        </p:nvSpPr>
        <p:spPr>
          <a:xfrm>
            <a:off x="1014984" y="2157984"/>
            <a:ext cx="10177272" cy="0"/>
          </a:xfrm>
          <a:prstGeom prst="line">
            <a:avLst/>
          </a:prstGeom>
          <a:noFill/>
          <a:ln w="19050">
            <a:solidFill>
              <a:srgbClr val="E3DACE"/>
            </a:solidFill>
            <a:prstDash val="solid"/>
          </a:ln>
        </p:spPr>
      </p:sp>
      <p:sp>
        <p:nvSpPr>
          <p:cNvPr id="6" name="Shape 4"/>
          <p:cNvSpPr/>
          <p:nvPr/>
        </p:nvSpPr>
        <p:spPr>
          <a:xfrm>
            <a:off x="777240" y="1947672"/>
            <a:ext cx="475488" cy="427939"/>
          </a:xfrm>
          <a:prstGeom prst="hexagon">
            <a:avLst/>
          </a:prstGeom>
          <a:solidFill>
            <a:srgbClr val="8F5527"/>
          </a:solidFill>
          <a:ln/>
        </p:spPr>
      </p:sp>
      <p:sp>
        <p:nvSpPr>
          <p:cNvPr id="7" name="Text 5"/>
          <p:cNvSpPr/>
          <p:nvPr/>
        </p:nvSpPr>
        <p:spPr>
          <a:xfrm>
            <a:off x="777240" y="1947672"/>
            <a:ext cx="475488" cy="427939"/>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274320" y="2432304"/>
            <a:ext cx="1481328" cy="219456"/>
          </a:xfrm>
          <a:prstGeom prst="rect">
            <a:avLst/>
          </a:prstGeom>
          <a:noFill/>
          <a:ln/>
        </p:spPr>
        <p:txBody>
          <a:bodyPr wrap="square" lIns="0" tIns="0" rIns="0" bIns="0" rtlCol="0" anchor="ctr"/>
          <a:lstStyle/>
          <a:p>
            <a:pPr algn="ctr" indent="0" marL="0">
              <a:buNone/>
            </a:pPr>
            <a:r>
              <a:rPr lang="en-US" sz="900" b="1" spc="100" kern="0" dirty="0">
                <a:solidFill>
                  <a:srgbClr val="3D3833"/>
                </a:solidFill>
                <a:latin typeface="Arial" pitchFamily="34" charset="0"/>
                <a:ea typeface="Arial" pitchFamily="34" charset="-122"/>
                <a:cs typeface="Arial" pitchFamily="34" charset="-120"/>
              </a:rPr>
              <a:t>SPECIFY</a:t>
            </a:r>
            <a:endParaRPr lang="en-US" sz="900" dirty="0"/>
          </a:p>
        </p:txBody>
      </p:sp>
      <p:sp>
        <p:nvSpPr>
          <p:cNvPr id="9" name="Shape 7"/>
          <p:cNvSpPr/>
          <p:nvPr/>
        </p:nvSpPr>
        <p:spPr>
          <a:xfrm>
            <a:off x="2473452" y="1947672"/>
            <a:ext cx="475488" cy="427939"/>
          </a:xfrm>
          <a:prstGeom prst="hexagon">
            <a:avLst/>
          </a:prstGeom>
          <a:solidFill>
            <a:srgbClr val="B4713D"/>
          </a:solidFill>
          <a:ln/>
        </p:spPr>
      </p:sp>
      <p:sp>
        <p:nvSpPr>
          <p:cNvPr id="10" name="Text 8"/>
          <p:cNvSpPr/>
          <p:nvPr/>
        </p:nvSpPr>
        <p:spPr>
          <a:xfrm>
            <a:off x="2473452" y="1947672"/>
            <a:ext cx="475488" cy="427939"/>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970532" y="2432304"/>
            <a:ext cx="1481328" cy="219456"/>
          </a:xfrm>
          <a:prstGeom prst="rect">
            <a:avLst/>
          </a:prstGeom>
          <a:noFill/>
          <a:ln/>
        </p:spPr>
        <p:txBody>
          <a:bodyPr wrap="square" lIns="0" tIns="0" rIns="0" bIns="0" rtlCol="0" anchor="ctr"/>
          <a:lstStyle/>
          <a:p>
            <a:pPr algn="ctr" indent="0" marL="0">
              <a:buNone/>
            </a:pPr>
            <a:r>
              <a:rPr lang="en-US" sz="900" b="1" spc="100" kern="0" dirty="0">
                <a:solidFill>
                  <a:srgbClr val="3D3833"/>
                </a:solidFill>
                <a:latin typeface="Arial" pitchFamily="34" charset="0"/>
                <a:ea typeface="Arial" pitchFamily="34" charset="-122"/>
                <a:cs typeface="Arial" pitchFamily="34" charset="-120"/>
              </a:rPr>
              <a:t>FORECAST</a:t>
            </a:r>
            <a:endParaRPr lang="en-US" sz="900" dirty="0"/>
          </a:p>
        </p:txBody>
      </p:sp>
      <p:sp>
        <p:nvSpPr>
          <p:cNvPr id="12" name="Shape 10"/>
          <p:cNvSpPr/>
          <p:nvPr/>
        </p:nvSpPr>
        <p:spPr>
          <a:xfrm>
            <a:off x="4169664" y="1947672"/>
            <a:ext cx="475488" cy="427939"/>
          </a:xfrm>
          <a:prstGeom prst="hexagon">
            <a:avLst/>
          </a:prstGeom>
          <a:solidFill>
            <a:srgbClr val="B4713D"/>
          </a:solidFill>
          <a:ln/>
        </p:spPr>
      </p:sp>
      <p:sp>
        <p:nvSpPr>
          <p:cNvPr id="13" name="Text 11"/>
          <p:cNvSpPr/>
          <p:nvPr/>
        </p:nvSpPr>
        <p:spPr>
          <a:xfrm>
            <a:off x="4169664" y="1947672"/>
            <a:ext cx="475488" cy="427939"/>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3666744" y="2432304"/>
            <a:ext cx="1481328" cy="219456"/>
          </a:xfrm>
          <a:prstGeom prst="rect">
            <a:avLst/>
          </a:prstGeom>
          <a:noFill/>
          <a:ln/>
        </p:spPr>
        <p:txBody>
          <a:bodyPr wrap="square" lIns="0" tIns="0" rIns="0" bIns="0" rtlCol="0" anchor="ctr"/>
          <a:lstStyle/>
          <a:p>
            <a:pPr algn="ctr" indent="0" marL="0">
              <a:buNone/>
            </a:pPr>
            <a:r>
              <a:rPr lang="en-US" sz="900" b="1" spc="100" kern="0" dirty="0">
                <a:solidFill>
                  <a:srgbClr val="3D3833"/>
                </a:solidFill>
                <a:latin typeface="Arial" pitchFamily="34" charset="0"/>
                <a:ea typeface="Arial" pitchFamily="34" charset="-122"/>
                <a:cs typeface="Arial" pitchFamily="34" charset="-120"/>
              </a:rPr>
              <a:t>RESERVE</a:t>
            </a:r>
            <a:endParaRPr lang="en-US" sz="900" dirty="0"/>
          </a:p>
        </p:txBody>
      </p:sp>
      <p:sp>
        <p:nvSpPr>
          <p:cNvPr id="15" name="Shape 13"/>
          <p:cNvSpPr/>
          <p:nvPr/>
        </p:nvSpPr>
        <p:spPr>
          <a:xfrm>
            <a:off x="5865876" y="1947672"/>
            <a:ext cx="475488" cy="427939"/>
          </a:xfrm>
          <a:prstGeom prst="hexagon">
            <a:avLst/>
          </a:prstGeom>
          <a:solidFill>
            <a:srgbClr val="B4713D"/>
          </a:solidFill>
          <a:ln/>
        </p:spPr>
      </p:sp>
      <p:sp>
        <p:nvSpPr>
          <p:cNvPr id="16" name="Text 14"/>
          <p:cNvSpPr/>
          <p:nvPr/>
        </p:nvSpPr>
        <p:spPr>
          <a:xfrm>
            <a:off x="5865876" y="1947672"/>
            <a:ext cx="475488" cy="427939"/>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5362956" y="2432304"/>
            <a:ext cx="1481328" cy="219456"/>
          </a:xfrm>
          <a:prstGeom prst="rect">
            <a:avLst/>
          </a:prstGeom>
          <a:noFill/>
          <a:ln/>
        </p:spPr>
        <p:txBody>
          <a:bodyPr wrap="square" lIns="0" tIns="0" rIns="0" bIns="0" rtlCol="0" anchor="ctr"/>
          <a:lstStyle/>
          <a:p>
            <a:pPr algn="ctr" indent="0" marL="0">
              <a:buNone/>
            </a:pPr>
            <a:r>
              <a:rPr lang="en-US" sz="900" b="1" spc="100" kern="0" dirty="0">
                <a:solidFill>
                  <a:srgbClr val="3D3833"/>
                </a:solidFill>
                <a:latin typeface="Arial" pitchFamily="34" charset="0"/>
                <a:ea typeface="Arial" pitchFamily="34" charset="-122"/>
                <a:cs typeface="Arial" pitchFamily="34" charset="-120"/>
              </a:rPr>
              <a:t>RELEASE</a:t>
            </a:r>
            <a:endParaRPr lang="en-US" sz="900" dirty="0"/>
          </a:p>
        </p:txBody>
      </p:sp>
      <p:sp>
        <p:nvSpPr>
          <p:cNvPr id="18" name="Shape 16"/>
          <p:cNvSpPr/>
          <p:nvPr/>
        </p:nvSpPr>
        <p:spPr>
          <a:xfrm>
            <a:off x="7562088" y="1947672"/>
            <a:ext cx="475488" cy="427939"/>
          </a:xfrm>
          <a:prstGeom prst="hexagon">
            <a:avLst/>
          </a:prstGeom>
          <a:solidFill>
            <a:srgbClr val="B4713D"/>
          </a:solidFill>
          <a:ln/>
        </p:spPr>
      </p:sp>
      <p:sp>
        <p:nvSpPr>
          <p:cNvPr id="19" name="Text 17"/>
          <p:cNvSpPr/>
          <p:nvPr/>
        </p:nvSpPr>
        <p:spPr>
          <a:xfrm>
            <a:off x="7562088" y="1947672"/>
            <a:ext cx="475488" cy="427939"/>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0" name="Text 18"/>
          <p:cNvSpPr/>
          <p:nvPr/>
        </p:nvSpPr>
        <p:spPr>
          <a:xfrm>
            <a:off x="7059168" y="2432304"/>
            <a:ext cx="1481328" cy="219456"/>
          </a:xfrm>
          <a:prstGeom prst="rect">
            <a:avLst/>
          </a:prstGeom>
          <a:noFill/>
          <a:ln/>
        </p:spPr>
        <p:txBody>
          <a:bodyPr wrap="square" lIns="0" tIns="0" rIns="0" bIns="0" rtlCol="0" anchor="ctr"/>
          <a:lstStyle/>
          <a:p>
            <a:pPr algn="ctr" indent="0" marL="0">
              <a:buNone/>
            </a:pPr>
            <a:r>
              <a:rPr lang="en-US" sz="900" b="1" spc="100" kern="0" dirty="0">
                <a:solidFill>
                  <a:srgbClr val="3D3833"/>
                </a:solidFill>
                <a:latin typeface="Arial" pitchFamily="34" charset="0"/>
                <a:ea typeface="Arial" pitchFamily="34" charset="-122"/>
                <a:cs typeface="Arial" pitchFamily="34" charset="-120"/>
              </a:rPr>
              <a:t>DELIVER</a:t>
            </a:r>
            <a:endParaRPr lang="en-US" sz="900" dirty="0"/>
          </a:p>
        </p:txBody>
      </p:sp>
      <p:sp>
        <p:nvSpPr>
          <p:cNvPr id="21" name="Shape 19"/>
          <p:cNvSpPr/>
          <p:nvPr/>
        </p:nvSpPr>
        <p:spPr>
          <a:xfrm>
            <a:off x="9258300" y="1947672"/>
            <a:ext cx="475488" cy="427939"/>
          </a:xfrm>
          <a:prstGeom prst="hexagon">
            <a:avLst/>
          </a:prstGeom>
          <a:solidFill>
            <a:srgbClr val="B4713D"/>
          </a:solidFill>
          <a:ln/>
        </p:spPr>
      </p:sp>
      <p:sp>
        <p:nvSpPr>
          <p:cNvPr id="22" name="Text 20"/>
          <p:cNvSpPr/>
          <p:nvPr/>
        </p:nvSpPr>
        <p:spPr>
          <a:xfrm>
            <a:off x="9258300" y="1947672"/>
            <a:ext cx="475488" cy="427939"/>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3" name="Text 21"/>
          <p:cNvSpPr/>
          <p:nvPr/>
        </p:nvSpPr>
        <p:spPr>
          <a:xfrm>
            <a:off x="8755380" y="2432304"/>
            <a:ext cx="1481328" cy="219456"/>
          </a:xfrm>
          <a:prstGeom prst="rect">
            <a:avLst/>
          </a:prstGeom>
          <a:noFill/>
          <a:ln/>
        </p:spPr>
        <p:txBody>
          <a:bodyPr wrap="square" lIns="0" tIns="0" rIns="0" bIns="0" rtlCol="0" anchor="ctr"/>
          <a:lstStyle/>
          <a:p>
            <a:pPr algn="ctr" indent="0" marL="0">
              <a:buNone/>
            </a:pPr>
            <a:r>
              <a:rPr lang="en-US" sz="900" b="1" spc="100" kern="0" dirty="0">
                <a:solidFill>
                  <a:srgbClr val="3D3833"/>
                </a:solidFill>
                <a:latin typeface="Arial" pitchFamily="34" charset="0"/>
                <a:ea typeface="Arial" pitchFamily="34" charset="-122"/>
                <a:cs typeface="Arial" pitchFamily="34" charset="-120"/>
              </a:rPr>
              <a:t>INSTALL</a:t>
            </a:r>
            <a:endParaRPr lang="en-US" sz="900" dirty="0"/>
          </a:p>
        </p:txBody>
      </p:sp>
      <p:sp>
        <p:nvSpPr>
          <p:cNvPr id="24" name="Shape 22"/>
          <p:cNvSpPr/>
          <p:nvPr/>
        </p:nvSpPr>
        <p:spPr>
          <a:xfrm>
            <a:off x="10954512" y="1947672"/>
            <a:ext cx="475488" cy="427939"/>
          </a:xfrm>
          <a:prstGeom prst="hexagon">
            <a:avLst/>
          </a:prstGeom>
          <a:solidFill>
            <a:srgbClr val="8F5527"/>
          </a:solidFill>
          <a:ln/>
        </p:spPr>
      </p:sp>
      <p:sp>
        <p:nvSpPr>
          <p:cNvPr id="25" name="Text 23"/>
          <p:cNvSpPr/>
          <p:nvPr/>
        </p:nvSpPr>
        <p:spPr>
          <a:xfrm>
            <a:off x="10954512" y="1947672"/>
            <a:ext cx="475488" cy="427939"/>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6" name="Text 24"/>
          <p:cNvSpPr/>
          <p:nvPr/>
        </p:nvSpPr>
        <p:spPr>
          <a:xfrm>
            <a:off x="10451592" y="2432304"/>
            <a:ext cx="1481328" cy="219456"/>
          </a:xfrm>
          <a:prstGeom prst="rect">
            <a:avLst/>
          </a:prstGeom>
          <a:noFill/>
          <a:ln/>
        </p:spPr>
        <p:txBody>
          <a:bodyPr wrap="square" lIns="0" tIns="0" rIns="0" bIns="0" rtlCol="0" anchor="ctr"/>
          <a:lstStyle/>
          <a:p>
            <a:pPr algn="ctr" indent="0" marL="0">
              <a:buNone/>
            </a:pPr>
            <a:r>
              <a:rPr lang="en-US" sz="900" b="1" spc="100" kern="0" dirty="0">
                <a:solidFill>
                  <a:srgbClr val="3D3833"/>
                </a:solidFill>
                <a:latin typeface="Arial" pitchFamily="34" charset="0"/>
                <a:ea typeface="Arial" pitchFamily="34" charset="-122"/>
                <a:cs typeface="Arial" pitchFamily="34" charset="-120"/>
              </a:rPr>
              <a:t>TURN OVER</a:t>
            </a:r>
            <a:endParaRPr lang="en-US" sz="900" dirty="0"/>
          </a:p>
        </p:txBody>
      </p:sp>
      <p:sp>
        <p:nvSpPr>
          <p:cNvPr id="27" name="Shape 25"/>
          <p:cNvSpPr/>
          <p:nvPr/>
        </p:nvSpPr>
        <p:spPr>
          <a:xfrm>
            <a:off x="502920" y="3063240"/>
            <a:ext cx="3602736" cy="1783080"/>
          </a:xfrm>
          <a:prstGeom prst="roundRect">
            <a:avLst>
              <a:gd name="adj" fmla="val 3077"/>
            </a:avLst>
          </a:prstGeom>
          <a:solidFill>
            <a:srgbClr val="F5F1EC"/>
          </a:solidFill>
          <a:ln w="12700">
            <a:solidFill>
              <a:srgbClr val="E3DACE"/>
            </a:solidFill>
            <a:prstDash val="solid"/>
          </a:ln>
        </p:spPr>
      </p:sp>
      <p:sp>
        <p:nvSpPr>
          <p:cNvPr id="28" name="Text 26"/>
          <p:cNvSpPr/>
          <p:nvPr/>
        </p:nvSpPr>
        <p:spPr>
          <a:xfrm>
            <a:off x="758952" y="3310128"/>
            <a:ext cx="3090672" cy="274320"/>
          </a:xfrm>
          <a:prstGeom prst="rect">
            <a:avLst/>
          </a:prstGeom>
          <a:noFill/>
          <a:ln/>
        </p:spPr>
        <p:txBody>
          <a:bodyPr wrap="square" lIns="0" tIns="0" rIns="0" bIns="0" rtlCol="0" anchor="ctr"/>
          <a:lstStyle/>
          <a:p>
            <a:pPr indent="0" marL="0">
              <a:buNone/>
            </a:pPr>
            <a:r>
              <a:rPr lang="en-US" sz="1150" b="1" spc="60" kern="0" dirty="0">
                <a:solidFill>
                  <a:srgbClr val="201D1A"/>
                </a:solidFill>
                <a:latin typeface="Arial" pitchFamily="34" charset="0"/>
                <a:ea typeface="Arial" pitchFamily="34" charset="-122"/>
                <a:cs typeface="Arial" pitchFamily="34" charset="-120"/>
              </a:rPr>
              <a:t>OWNER APPLICATION BASIS</a:t>
            </a:r>
            <a:endParaRPr lang="en-US" sz="1150" dirty="0"/>
          </a:p>
        </p:txBody>
      </p:sp>
      <p:sp>
        <p:nvSpPr>
          <p:cNvPr id="29" name="Text 27"/>
          <p:cNvSpPr/>
          <p:nvPr/>
        </p:nvSpPr>
        <p:spPr>
          <a:xfrm>
            <a:off x="758952" y="3639312"/>
            <a:ext cx="3090672" cy="1005840"/>
          </a:xfrm>
          <a:prstGeom prst="rect">
            <a:avLst/>
          </a:prstGeom>
          <a:noFill/>
          <a:ln/>
        </p:spPr>
        <p:txBody>
          <a:bodyPr wrap="square" lIns="0" tIns="0" rIns="0" bIns="0" rtlCol="0" anchor="t"/>
          <a:lstStyle/>
          <a:p>
            <a:pPr indent="0" marL="0">
              <a:lnSpc>
                <a:spcPct val="112000"/>
              </a:lnSpc>
              <a:buNone/>
            </a:pPr>
            <a:r>
              <a:rPr lang="en-US" sz="1050" dirty="0">
                <a:solidFill>
                  <a:srgbClr val="3D3833"/>
                </a:solidFill>
                <a:latin typeface="Arial" pitchFamily="34" charset="0"/>
                <a:ea typeface="Arial" pitchFamily="34" charset="-122"/>
                <a:cs typeface="Arial" pitchFamily="34" charset="-120"/>
              </a:rPr>
              <a:t>Cable codes, duty, compliance and approved alternates — one basis, owned by NRG, honored by every EPC.</a:t>
            </a:r>
            <a:endParaRPr lang="en-US" sz="1050" dirty="0"/>
          </a:p>
        </p:txBody>
      </p:sp>
      <p:sp>
        <p:nvSpPr>
          <p:cNvPr id="30" name="Shape 28"/>
          <p:cNvSpPr/>
          <p:nvPr/>
        </p:nvSpPr>
        <p:spPr>
          <a:xfrm>
            <a:off x="4398264" y="3063240"/>
            <a:ext cx="3602736" cy="1783080"/>
          </a:xfrm>
          <a:prstGeom prst="roundRect">
            <a:avLst>
              <a:gd name="adj" fmla="val 3077"/>
            </a:avLst>
          </a:prstGeom>
          <a:solidFill>
            <a:srgbClr val="F5F1EC"/>
          </a:solidFill>
          <a:ln w="12700">
            <a:solidFill>
              <a:srgbClr val="E3DACE"/>
            </a:solidFill>
            <a:prstDash val="solid"/>
          </a:ln>
        </p:spPr>
      </p:sp>
      <p:sp>
        <p:nvSpPr>
          <p:cNvPr id="31" name="Text 29"/>
          <p:cNvSpPr/>
          <p:nvPr/>
        </p:nvSpPr>
        <p:spPr>
          <a:xfrm>
            <a:off x="4654296" y="3310128"/>
            <a:ext cx="3090672" cy="274320"/>
          </a:xfrm>
          <a:prstGeom prst="rect">
            <a:avLst/>
          </a:prstGeom>
          <a:noFill/>
          <a:ln/>
        </p:spPr>
        <p:txBody>
          <a:bodyPr wrap="square" lIns="0" tIns="0" rIns="0" bIns="0" rtlCol="0" anchor="ctr"/>
          <a:lstStyle/>
          <a:p>
            <a:pPr indent="0" marL="0">
              <a:buNone/>
            </a:pPr>
            <a:r>
              <a:rPr lang="en-US" sz="1150" b="1" spc="60" kern="0" dirty="0">
                <a:solidFill>
                  <a:srgbClr val="201D1A"/>
                </a:solidFill>
                <a:latin typeface="Arial" pitchFamily="34" charset="0"/>
                <a:ea typeface="Arial" pitchFamily="34" charset="-122"/>
                <a:cs typeface="Arial" pitchFamily="34" charset="-120"/>
              </a:rPr>
              <a:t>RELEASE + REEL STRATEGY</a:t>
            </a:r>
            <a:endParaRPr lang="en-US" sz="1150" dirty="0"/>
          </a:p>
        </p:txBody>
      </p:sp>
      <p:sp>
        <p:nvSpPr>
          <p:cNvPr id="32" name="Text 30"/>
          <p:cNvSpPr/>
          <p:nvPr/>
        </p:nvSpPr>
        <p:spPr>
          <a:xfrm>
            <a:off x="4654296" y="3639312"/>
            <a:ext cx="3090672" cy="1005840"/>
          </a:xfrm>
          <a:prstGeom prst="rect">
            <a:avLst/>
          </a:prstGeom>
          <a:noFill/>
          <a:ln/>
        </p:spPr>
        <p:txBody>
          <a:bodyPr wrap="square" lIns="0" tIns="0" rIns="0" bIns="0" rtlCol="0" anchor="t"/>
          <a:lstStyle/>
          <a:p>
            <a:pPr indent="0" marL="0">
              <a:lnSpc>
                <a:spcPct val="112000"/>
              </a:lnSpc>
              <a:buNone/>
            </a:pPr>
            <a:r>
              <a:rPr lang="en-US" sz="1050" dirty="0">
                <a:solidFill>
                  <a:srgbClr val="3D3833"/>
                </a:solidFill>
                <a:latin typeface="Arial" pitchFamily="34" charset="0"/>
                <a:ea typeface="Arial" pitchFamily="34" charset="-122"/>
                <a:cs typeface="Arial" pitchFamily="34" charset="-120"/>
              </a:rPr>
              <a:t>Material sequenced to energization, turnover and installation zones — not to a purchase-order date.</a:t>
            </a:r>
            <a:endParaRPr lang="en-US" sz="1050" dirty="0"/>
          </a:p>
        </p:txBody>
      </p:sp>
      <p:sp>
        <p:nvSpPr>
          <p:cNvPr id="33" name="Shape 31"/>
          <p:cNvSpPr/>
          <p:nvPr/>
        </p:nvSpPr>
        <p:spPr>
          <a:xfrm>
            <a:off x="8293608" y="3063240"/>
            <a:ext cx="3602736" cy="1783080"/>
          </a:xfrm>
          <a:prstGeom prst="roundRect">
            <a:avLst>
              <a:gd name="adj" fmla="val 3077"/>
            </a:avLst>
          </a:prstGeom>
          <a:solidFill>
            <a:srgbClr val="F0DFCE"/>
          </a:solidFill>
          <a:ln w="12700">
            <a:solidFill>
              <a:srgbClr val="B4713D"/>
            </a:solidFill>
            <a:prstDash val="solid"/>
          </a:ln>
        </p:spPr>
      </p:sp>
      <p:sp>
        <p:nvSpPr>
          <p:cNvPr id="34" name="Text 32"/>
          <p:cNvSpPr/>
          <p:nvPr/>
        </p:nvSpPr>
        <p:spPr>
          <a:xfrm>
            <a:off x="8549640" y="3310128"/>
            <a:ext cx="3090672" cy="274320"/>
          </a:xfrm>
          <a:prstGeom prst="rect">
            <a:avLst/>
          </a:prstGeom>
          <a:noFill/>
          <a:ln/>
        </p:spPr>
        <p:txBody>
          <a:bodyPr wrap="square" lIns="0" tIns="0" rIns="0" bIns="0" rtlCol="0" anchor="ctr"/>
          <a:lstStyle/>
          <a:p>
            <a:pPr indent="0" marL="0">
              <a:buNone/>
            </a:pPr>
            <a:r>
              <a:rPr lang="en-US" sz="1150" b="1" spc="60" kern="0" dirty="0">
                <a:solidFill>
                  <a:srgbClr val="8F5527"/>
                </a:solidFill>
                <a:latin typeface="Arial" pitchFamily="34" charset="0"/>
                <a:ea typeface="Arial" pitchFamily="34" charset="-122"/>
                <a:cs typeface="Arial" pitchFamily="34" charset="-120"/>
              </a:rPr>
              <a:t>PREFAB / SKID SPINES</a:t>
            </a:r>
            <a:endParaRPr lang="en-US" sz="1150" dirty="0"/>
          </a:p>
        </p:txBody>
      </p:sp>
      <p:sp>
        <p:nvSpPr>
          <p:cNvPr id="35" name="Text 33"/>
          <p:cNvSpPr/>
          <p:nvPr/>
        </p:nvSpPr>
        <p:spPr>
          <a:xfrm>
            <a:off x="8549640" y="3639312"/>
            <a:ext cx="3090672" cy="1005840"/>
          </a:xfrm>
          <a:prstGeom prst="rect">
            <a:avLst/>
          </a:prstGeom>
          <a:noFill/>
          <a:ln/>
        </p:spPr>
        <p:txBody>
          <a:bodyPr wrap="square" lIns="0" tIns="0" rIns="0" bIns="0" rtlCol="0" anchor="t"/>
          <a:lstStyle/>
          <a:p>
            <a:pPr indent="0" marL="0">
              <a:lnSpc>
                <a:spcPct val="112000"/>
              </a:lnSpc>
              <a:buNone/>
            </a:pPr>
            <a:r>
              <a:rPr lang="en-US" sz="1050" dirty="0">
                <a:solidFill>
                  <a:srgbClr val="3D3833"/>
                </a:solidFill>
                <a:latin typeface="Arial" pitchFamily="34" charset="0"/>
                <a:ea typeface="Arial" pitchFamily="34" charset="-122"/>
                <a:cs typeface="Arial" pitchFamily="34" charset="-120"/>
              </a:rPr>
              <a:t>Pre-engineered power, control, instrumentation and fiber wherever package interfaces repeat.</a:t>
            </a:r>
            <a:endParaRPr lang="en-US" sz="1050" dirty="0"/>
          </a:p>
        </p:txBody>
      </p:sp>
      <p:sp>
        <p:nvSpPr>
          <p:cNvPr id="36" name="Text 34"/>
          <p:cNvSpPr/>
          <p:nvPr/>
        </p:nvSpPr>
        <p:spPr>
          <a:xfrm>
            <a:off x="502920" y="5257800"/>
            <a:ext cx="11183112" cy="502920"/>
          </a:xfrm>
          <a:prstGeom prst="rect">
            <a:avLst/>
          </a:prstGeom>
          <a:noFill/>
          <a:ln/>
        </p:spPr>
        <p:txBody>
          <a:bodyPr wrap="square" lIns="0" tIns="0" rIns="0" bIns="0" rtlCol="0" anchor="ctr"/>
          <a:lstStyle/>
          <a:p>
            <a:pPr algn="ctr" indent="0" marL="0">
              <a:buNone/>
            </a:pPr>
            <a:r>
              <a:rPr lang="en-US" sz="1900" b="1" dirty="0">
                <a:solidFill>
                  <a:srgbClr val="8F5527"/>
                </a:solidFill>
                <a:latin typeface="Arial" pitchFamily="34" charset="0"/>
                <a:ea typeface="Arial" pitchFamily="34" charset="-122"/>
                <a:cs typeface="Arial" pitchFamily="34" charset="-120"/>
              </a:rPr>
              <a:t>Field-engineer what is unique.  Prefabricate what repeats.</a:t>
            </a:r>
            <a:endParaRPr lang="en-US" sz="1900" dirty="0"/>
          </a:p>
        </p:txBody>
      </p:sp>
      <p:sp>
        <p:nvSpPr>
          <p:cNvPr id="38" name="Text 35"/>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797065"/>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39" name="Text 36"/>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PROOF, FROM AN ADJACENT MARKET   ·   MODULAR POWER DEVELOPER</a:t>
            </a:r>
            <a:endParaRPr lang="en-US" sz="1050" dirty="0"/>
          </a:p>
        </p:txBody>
      </p:sp>
      <p:sp>
        <p:nvSpPr>
          <p:cNvPr id="3" name="Text 1"/>
          <p:cNvSpPr/>
          <p:nvPr/>
        </p:nvSpPr>
        <p:spPr>
          <a:xfrm>
            <a:off x="502920" y="676656"/>
            <a:ext cx="10515600" cy="868680"/>
          </a:xfrm>
          <a:prstGeom prst="rect">
            <a:avLst/>
          </a:prstGeom>
          <a:noFill/>
          <a:ln/>
        </p:spPr>
        <p:txBody>
          <a:bodyPr wrap="square" lIns="0" tIns="0" rIns="0" bIns="0" rtlCol="0" anchor="t"/>
          <a:lstStyle/>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We moved the field build into the factory.</a:t>
            </a:r>
            <a:endParaRPr lang="en-US" sz="2600" dirty="0"/>
          </a:p>
        </p:txBody>
      </p:sp>
      <p:sp>
        <p:nvSpPr>
          <p:cNvPr id="4" name="Text 2"/>
          <p:cNvSpPr/>
          <p:nvPr/>
        </p:nvSpPr>
        <p:spPr>
          <a:xfrm>
            <a:off x="502920" y="1353312"/>
            <a:ext cx="10515600" cy="274320"/>
          </a:xfrm>
          <a:prstGeom prst="rect">
            <a:avLst/>
          </a:prstGeom>
          <a:noFill/>
          <a:ln/>
        </p:spPr>
        <p:txBody>
          <a:bodyPr wrap="square" lIns="0" tIns="0" rIns="0" bIns="0" rtlCol="0" anchor="ctr"/>
          <a:lstStyle/>
          <a:p>
            <a:pPr indent="0" marL="0">
              <a:buNone/>
            </a:pPr>
            <a:r>
              <a:rPr lang="en-US" sz="1200" dirty="0">
                <a:solidFill>
                  <a:srgbClr val="3D3833"/>
                </a:solidFill>
                <a:latin typeface="Arial" pitchFamily="34" charset="0"/>
                <a:ea typeface="Arial" pitchFamily="34" charset="-122"/>
                <a:cs typeface="Arial" pitchFamily="34" charset="-120"/>
              </a:rPr>
              <a:t>One factory-built cable spine; the generation modules plug into it. Field man-hours per spine:</a:t>
            </a:r>
            <a:endParaRPr lang="en-US" sz="1200" dirty="0"/>
          </a:p>
        </p:txBody>
      </p:sp>
      <p:sp>
        <p:nvSpPr>
          <p:cNvPr id="5" name="Text 3"/>
          <p:cNvSpPr/>
          <p:nvPr/>
        </p:nvSpPr>
        <p:spPr>
          <a:xfrm>
            <a:off x="502920" y="1965960"/>
            <a:ext cx="4206240" cy="1417320"/>
          </a:xfrm>
          <a:prstGeom prst="rect">
            <a:avLst/>
          </a:prstGeom>
          <a:noFill/>
          <a:ln/>
        </p:spPr>
        <p:txBody>
          <a:bodyPr wrap="square" lIns="0" tIns="0" rIns="0" bIns="0" rtlCol="0" anchor="ctr"/>
          <a:lstStyle/>
          <a:p>
            <a:pPr indent="0" marL="0">
              <a:buNone/>
            </a:pPr>
            <a:r>
              <a:rPr lang="en-US" sz="8800" b="1" dirty="0">
                <a:solidFill>
                  <a:srgbClr val="201D1A"/>
                </a:solidFill>
                <a:latin typeface="Arial" pitchFamily="34" charset="0"/>
                <a:ea typeface="Arial" pitchFamily="34" charset="-122"/>
                <a:cs typeface="Arial" pitchFamily="34" charset="-120"/>
              </a:rPr>
              <a:t>4,400</a:t>
            </a:r>
            <a:endParaRPr lang="en-US" sz="8800" dirty="0"/>
          </a:p>
        </p:txBody>
      </p:sp>
      <p:sp>
        <p:nvSpPr>
          <p:cNvPr id="6" name="Text 4"/>
          <p:cNvSpPr/>
          <p:nvPr/>
        </p:nvSpPr>
        <p:spPr>
          <a:xfrm>
            <a:off x="566928" y="3401568"/>
            <a:ext cx="3840480" cy="256032"/>
          </a:xfrm>
          <a:prstGeom prst="rect">
            <a:avLst/>
          </a:prstGeom>
          <a:noFill/>
          <a:ln/>
        </p:spPr>
        <p:txBody>
          <a:bodyPr wrap="square" lIns="0" tIns="0" rIns="0" bIns="0" rtlCol="0" anchor="ctr"/>
          <a:lstStyle/>
          <a:p>
            <a:pPr indent="0" marL="0">
              <a:buNone/>
            </a:pPr>
            <a:r>
              <a:rPr lang="en-US" sz="1100" dirty="0">
                <a:solidFill>
                  <a:srgbClr val="797065"/>
                </a:solidFill>
                <a:latin typeface="Arial" pitchFamily="34" charset="0"/>
                <a:ea typeface="Arial" pitchFamily="34" charset="-122"/>
                <a:cs typeface="Arial" pitchFamily="34" charset="-120"/>
              </a:rPr>
              <a:t>observed, site-built</a:t>
            </a:r>
            <a:endParaRPr lang="en-US" sz="1100" dirty="0"/>
          </a:p>
        </p:txBody>
      </p:sp>
      <p:sp>
        <p:nvSpPr>
          <p:cNvPr id="7" name="Shape 5"/>
          <p:cNvSpPr/>
          <p:nvPr/>
        </p:nvSpPr>
        <p:spPr>
          <a:xfrm>
            <a:off x="5029200" y="2395728"/>
            <a:ext cx="1554480" cy="566928"/>
          </a:xfrm>
          <a:prstGeom prst="rightArrow">
            <a:avLst/>
          </a:prstGeom>
          <a:solidFill>
            <a:srgbClr val="B4713D"/>
          </a:solidFill>
          <a:ln/>
        </p:spPr>
      </p:sp>
      <p:sp>
        <p:nvSpPr>
          <p:cNvPr id="8" name="Text 6"/>
          <p:cNvSpPr/>
          <p:nvPr/>
        </p:nvSpPr>
        <p:spPr>
          <a:xfrm>
            <a:off x="6995160" y="1965960"/>
            <a:ext cx="4023360" cy="1417320"/>
          </a:xfrm>
          <a:prstGeom prst="rect">
            <a:avLst/>
          </a:prstGeom>
          <a:noFill/>
          <a:ln/>
        </p:spPr>
        <p:txBody>
          <a:bodyPr wrap="square" lIns="0" tIns="0" rIns="0" bIns="0" rtlCol="0" anchor="ctr"/>
          <a:lstStyle/>
          <a:p>
            <a:pPr indent="0" marL="0">
              <a:buNone/>
            </a:pPr>
            <a:r>
              <a:rPr lang="en-US" sz="8800" b="1" dirty="0">
                <a:solidFill>
                  <a:srgbClr val="B4713D"/>
                </a:solidFill>
                <a:latin typeface="Arial" pitchFamily="34" charset="0"/>
                <a:ea typeface="Arial" pitchFamily="34" charset="-122"/>
                <a:cs typeface="Arial" pitchFamily="34" charset="-120"/>
              </a:rPr>
              <a:t>~880</a:t>
            </a:r>
            <a:endParaRPr lang="en-US" sz="8800" dirty="0"/>
          </a:p>
        </p:txBody>
      </p:sp>
      <p:sp>
        <p:nvSpPr>
          <p:cNvPr id="9" name="Text 7"/>
          <p:cNvSpPr/>
          <p:nvPr/>
        </p:nvSpPr>
        <p:spPr>
          <a:xfrm>
            <a:off x="7059168" y="3401568"/>
            <a:ext cx="3840480" cy="256032"/>
          </a:xfrm>
          <a:prstGeom prst="rect">
            <a:avLst/>
          </a:prstGeom>
          <a:noFill/>
          <a:ln/>
        </p:spPr>
        <p:txBody>
          <a:bodyPr wrap="square" lIns="0" tIns="0" rIns="0" bIns="0" rtlCol="0" anchor="ctr"/>
          <a:lstStyle/>
          <a:p>
            <a:pPr indent="0" marL="0">
              <a:buNone/>
            </a:pPr>
            <a:r>
              <a:rPr lang="en-US" sz="1100" dirty="0">
                <a:solidFill>
                  <a:srgbClr val="797065"/>
                </a:solidFill>
                <a:latin typeface="Arial" pitchFamily="34" charset="0"/>
                <a:ea typeface="Arial" pitchFamily="34" charset="-122"/>
                <a:cs typeface="Arial" pitchFamily="34" charset="-120"/>
              </a:rPr>
              <a:t>modeled, factory-built</a:t>
            </a:r>
            <a:endParaRPr lang="en-US" sz="1100" dirty="0"/>
          </a:p>
        </p:txBody>
      </p:sp>
      <p:sp>
        <p:nvSpPr>
          <p:cNvPr id="10" name="Text 8"/>
          <p:cNvSpPr/>
          <p:nvPr/>
        </p:nvSpPr>
        <p:spPr>
          <a:xfrm>
            <a:off x="502920" y="3931920"/>
            <a:ext cx="11155680" cy="320040"/>
          </a:xfrm>
          <a:prstGeom prst="rect">
            <a:avLst/>
          </a:prstGeom>
          <a:noFill/>
          <a:ln/>
        </p:spPr>
        <p:txBody>
          <a:bodyPr wrap="square" lIns="0" tIns="0" rIns="0" bIns="0" rtlCol="0" anchor="ctr"/>
          <a:lstStyle/>
          <a:p>
            <a:pPr indent="0" marL="0">
              <a:buNone/>
            </a:pPr>
            <a:r>
              <a:rPr lang="en-US" sz="1400" b="1" dirty="0">
                <a:solidFill>
                  <a:srgbClr val="201D1A"/>
                </a:solidFill>
                <a:latin typeface="Arial" pitchFamily="34" charset="0"/>
                <a:ea typeface="Arial" pitchFamily="34" charset="-122"/>
                <a:cs typeface="Arial" pitchFamily="34" charset="-120"/>
              </a:rPr>
              <a:t>~80% of field labor hours and ~50% of schedule, modeled — roughly $334K gross per spine at $95/hr.</a:t>
            </a:r>
            <a:endParaRPr lang="en-US" sz="1400" dirty="0"/>
          </a:p>
        </p:txBody>
      </p:sp>
      <p:sp>
        <p:nvSpPr>
          <p:cNvPr id="11" name="Shape 9"/>
          <p:cNvSpPr/>
          <p:nvPr/>
        </p:nvSpPr>
        <p:spPr>
          <a:xfrm>
            <a:off x="502920" y="4434840"/>
            <a:ext cx="11183112" cy="1325880"/>
          </a:xfrm>
          <a:prstGeom prst="roundRect">
            <a:avLst>
              <a:gd name="adj" fmla="val 4138"/>
            </a:avLst>
          </a:prstGeom>
          <a:solidFill>
            <a:srgbClr val="F5F1EC"/>
          </a:solidFill>
          <a:ln w="12700">
            <a:solidFill>
              <a:srgbClr val="E3DACE"/>
            </a:solidFill>
            <a:prstDash val="solid"/>
          </a:ln>
        </p:spPr>
      </p:sp>
      <p:sp>
        <p:nvSpPr>
          <p:cNvPr id="12" name="Text 10"/>
          <p:cNvSpPr/>
          <p:nvPr/>
        </p:nvSpPr>
        <p:spPr>
          <a:xfrm>
            <a:off x="777240" y="4590288"/>
            <a:ext cx="5486400" cy="219456"/>
          </a:xfrm>
          <a:prstGeom prst="rect">
            <a:avLst/>
          </a:prstGeom>
          <a:noFill/>
          <a:ln/>
        </p:spPr>
        <p:txBody>
          <a:bodyPr wrap="square" lIns="0" tIns="0" rIns="0" bIns="0" rtlCol="0" anchor="ctr"/>
          <a:lstStyle/>
          <a:p>
            <a:pPr indent="0" marL="0">
              <a:buNone/>
            </a:pPr>
            <a:r>
              <a:rPr lang="en-US" sz="850" b="1" spc="200" kern="0" dirty="0">
                <a:solidFill>
                  <a:srgbClr val="8F5527"/>
                </a:solidFill>
                <a:latin typeface="Arial" pitchFamily="34" charset="0"/>
                <a:ea typeface="Arial" pitchFamily="34" charset="-122"/>
                <a:cs typeface="Arial" pitchFamily="34" charset="-120"/>
              </a:rPr>
              <a:t>READ THE FINE PRINT — WE MEAN IT</a:t>
            </a:r>
            <a:endParaRPr lang="en-US" sz="850" dirty="0"/>
          </a:p>
        </p:txBody>
      </p:sp>
      <p:sp>
        <p:nvSpPr>
          <p:cNvPr id="13" name="Text 11"/>
          <p:cNvSpPr/>
          <p:nvPr/>
        </p:nvSpPr>
        <p:spPr>
          <a:xfrm>
            <a:off x="777240" y="4846320"/>
            <a:ext cx="10607040" cy="1097280"/>
          </a:xfrm>
          <a:prstGeom prst="rect">
            <a:avLst/>
          </a:prstGeom>
          <a:noFill/>
          <a:ln/>
        </p:spPr>
        <p:txBody>
          <a:bodyPr wrap="square" lIns="0" tIns="0" rIns="0" bIns="0" rtlCol="0" anchor="t"/>
          <a:lstStyle/>
          <a:p>
            <a:pPr indent="0" marL="0">
              <a:lnSpc>
                <a:spcPct val="115000"/>
              </a:lnSpc>
              <a:buNone/>
            </a:pPr>
            <a:r>
              <a:rPr lang="en-US" sz="950" i="1" dirty="0">
                <a:solidFill>
                  <a:srgbClr val="3D3833"/>
                </a:solidFill>
                <a:latin typeface="Arial" pitchFamily="34" charset="0"/>
                <a:ea typeface="Arial" pitchFamily="34" charset="-122"/>
                <a:cs typeface="Arial" pitchFamily="34" charset="-120"/>
              </a:rPr>
              <a:t>The prefabricated assembly costs more than site-built tray and strut. The argument is total cost of ownership over a forty-year asset life, not first cost. Gross labor avoided is not net savings — subtract the prefab premium, engineering, factory labor, freight, factory acceptance and commissioning. Prefabrication does not automatically remove an activity from the critical path. Every figure on this page comes from an adjacent market and stays illustrative until validated against your labor data.</a:t>
            </a:r>
            <a:endParaRPr lang="en-US" sz="950" dirty="0"/>
          </a:p>
        </p:txBody>
      </p:sp>
      <p:sp>
        <p:nvSpPr>
          <p:cNvPr id="15" name="Text 12"/>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797065"/>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16" name="Text 13"/>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PROOF   ·   ROUTED 3×1 NGCC SITE MODEL, REV 89</a:t>
            </a:r>
            <a:endParaRPr lang="en-US" sz="1050" dirty="0"/>
          </a:p>
        </p:txBody>
      </p:sp>
      <p:sp>
        <p:nvSpPr>
          <p:cNvPr id="3" name="Text 1"/>
          <p:cNvSpPr/>
          <p:nvPr/>
        </p:nvSpPr>
        <p:spPr>
          <a:xfrm>
            <a:off x="502920" y="676656"/>
            <a:ext cx="6949440" cy="1188720"/>
          </a:xfrm>
          <a:prstGeom prst="rect">
            <a:avLst/>
          </a:prstGeom>
          <a:noFill/>
          <a:ln/>
        </p:spPr>
        <p:txBody>
          <a:bodyPr wrap="square" lIns="0" tIns="0" rIns="0" bIns="0" rtlCol="0" anchor="t"/>
          <a:lstStyle/>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We routed the entire plant before anyone asked for a quote.</a:t>
            </a:r>
            <a:endParaRPr lang="en-US" sz="2600" dirty="0"/>
          </a:p>
        </p:txBody>
      </p:sp>
      <p:pic>
        <p:nvPicPr>
          <p:cNvPr id="4" name="Image 0" descr="/tmp/claude-0/-home-user-ln/3a853198-1696-51f8-a2af-2c6b2d875703/scratchpad/assets/vp-006.png">    </p:cNvPr>
          <p:cNvPicPr>
            <a:picLocks noChangeAspect="1"/>
          </p:cNvPicPr>
          <p:nvPr/>
        </p:nvPicPr>
        <p:blipFill>
          <a:blip r:embed="rId1"/>
          <a:stretch>
            <a:fillRect/>
          </a:stretch>
        </p:blipFill>
        <p:spPr>
          <a:xfrm>
            <a:off x="7635240" y="457200"/>
            <a:ext cx="4160520" cy="3346704"/>
          </a:xfrm>
          <a:prstGeom prst="rect">
            <a:avLst/>
          </a:prstGeom>
        </p:spPr>
      </p:pic>
      <p:sp>
        <p:nvSpPr>
          <p:cNvPr id="5" name="Text 2"/>
          <p:cNvSpPr/>
          <p:nvPr/>
        </p:nvSpPr>
        <p:spPr>
          <a:xfrm>
            <a:off x="7635240" y="3840480"/>
            <a:ext cx="4160520" cy="411480"/>
          </a:xfrm>
          <a:prstGeom prst="rect">
            <a:avLst/>
          </a:prstGeom>
          <a:noFill/>
          <a:ln/>
        </p:spPr>
        <p:txBody>
          <a:bodyPr wrap="square" lIns="0" tIns="0" rIns="0" bIns="0" rtlCol="0" anchor="ctr"/>
          <a:lstStyle/>
          <a:p>
            <a:pPr algn="ctr" indent="0" marL="0">
              <a:lnSpc>
                <a:spcPct val="110000"/>
              </a:lnSpc>
              <a:buNone/>
            </a:pPr>
            <a:r>
              <a:rPr lang="en-US" sz="850" i="1" dirty="0">
                <a:solidFill>
                  <a:srgbClr val="797065"/>
                </a:solidFill>
                <a:latin typeface="Arial" pitchFamily="34" charset="0"/>
                <a:ea typeface="Arial" pitchFamily="34" charset="-122"/>
                <a:cs typeface="Arial" pitchFamily="34" charset="-120"/>
              </a:rPr>
              <a:t>Routed 3D site model: plant zones → equipment duty → cable systems → application pages</a:t>
            </a:r>
            <a:endParaRPr lang="en-US" sz="850" dirty="0"/>
          </a:p>
        </p:txBody>
      </p:sp>
      <p:sp>
        <p:nvSpPr>
          <p:cNvPr id="6" name="Shape 3"/>
          <p:cNvSpPr/>
          <p:nvPr/>
        </p:nvSpPr>
        <p:spPr>
          <a:xfrm>
            <a:off x="502920" y="1874520"/>
            <a:ext cx="2212848" cy="1078992"/>
          </a:xfrm>
          <a:prstGeom prst="roundRect">
            <a:avLst>
              <a:gd name="adj" fmla="val 4237"/>
            </a:avLst>
          </a:prstGeom>
          <a:solidFill>
            <a:srgbClr val="F5F1EC"/>
          </a:solidFill>
          <a:ln w="12700">
            <a:solidFill>
              <a:srgbClr val="E3DACE"/>
            </a:solidFill>
            <a:prstDash val="solid"/>
          </a:ln>
        </p:spPr>
      </p:sp>
      <p:sp>
        <p:nvSpPr>
          <p:cNvPr id="7" name="Text 4"/>
          <p:cNvSpPr/>
          <p:nvPr/>
        </p:nvSpPr>
        <p:spPr>
          <a:xfrm>
            <a:off x="640080" y="1984248"/>
            <a:ext cx="1938528" cy="566928"/>
          </a:xfrm>
          <a:prstGeom prst="rect">
            <a:avLst/>
          </a:prstGeom>
          <a:noFill/>
          <a:ln/>
        </p:spPr>
        <p:txBody>
          <a:bodyPr wrap="square" lIns="0" tIns="0" rIns="0" bIns="0" rtlCol="0" anchor="ctr"/>
          <a:lstStyle/>
          <a:p>
            <a:pPr algn="ctr" indent="0" marL="0">
              <a:buNone/>
            </a:pPr>
            <a:r>
              <a:rPr lang="en-US" sz="2700" b="1" dirty="0">
                <a:solidFill>
                  <a:srgbClr val="8F5527"/>
                </a:solidFill>
                <a:latin typeface="Arial" pitchFamily="34" charset="0"/>
                <a:ea typeface="Arial" pitchFamily="34" charset="-122"/>
                <a:cs typeface="Arial" pitchFamily="34" charset="-120"/>
              </a:rPr>
              <a:t>96</a:t>
            </a:r>
            <a:endParaRPr lang="en-US" sz="2700" dirty="0"/>
          </a:p>
        </p:txBody>
      </p:sp>
      <p:sp>
        <p:nvSpPr>
          <p:cNvPr id="8" name="Text 5"/>
          <p:cNvSpPr/>
          <p:nvPr/>
        </p:nvSpPr>
        <p:spPr>
          <a:xfrm>
            <a:off x="594360" y="2587752"/>
            <a:ext cx="2029968" cy="256032"/>
          </a:xfrm>
          <a:prstGeom prst="rect">
            <a:avLst/>
          </a:prstGeom>
          <a:noFill/>
          <a:ln/>
        </p:spPr>
        <p:txBody>
          <a:bodyPr wrap="square" lIns="0" tIns="0" rIns="0" bIns="0" rtlCol="0" anchor="ctr"/>
          <a:lstStyle/>
          <a:p>
            <a:pPr algn="ctr" indent="0" marL="0">
              <a:buNone/>
            </a:pPr>
            <a:r>
              <a:rPr lang="en-US" sz="850" b="1" spc="120" kern="0" dirty="0">
                <a:solidFill>
                  <a:srgbClr val="797065"/>
                </a:solidFill>
                <a:latin typeface="Arial" pitchFamily="34" charset="0"/>
                <a:ea typeface="Arial" pitchFamily="34" charset="-122"/>
                <a:cs typeface="Arial" pitchFamily="34" charset="-120"/>
              </a:rPr>
              <a:t>SCHEDULE RECORDS</a:t>
            </a:r>
            <a:endParaRPr lang="en-US" sz="850" dirty="0"/>
          </a:p>
        </p:txBody>
      </p:sp>
      <p:sp>
        <p:nvSpPr>
          <p:cNvPr id="9" name="Shape 6"/>
          <p:cNvSpPr/>
          <p:nvPr/>
        </p:nvSpPr>
        <p:spPr>
          <a:xfrm>
            <a:off x="2916936" y="1874520"/>
            <a:ext cx="2212848" cy="1078992"/>
          </a:xfrm>
          <a:prstGeom prst="roundRect">
            <a:avLst>
              <a:gd name="adj" fmla="val 4237"/>
            </a:avLst>
          </a:prstGeom>
          <a:solidFill>
            <a:srgbClr val="F5F1EC"/>
          </a:solidFill>
          <a:ln w="12700">
            <a:solidFill>
              <a:srgbClr val="E3DACE"/>
            </a:solidFill>
            <a:prstDash val="solid"/>
          </a:ln>
        </p:spPr>
      </p:sp>
      <p:sp>
        <p:nvSpPr>
          <p:cNvPr id="10" name="Text 7"/>
          <p:cNvSpPr/>
          <p:nvPr/>
        </p:nvSpPr>
        <p:spPr>
          <a:xfrm>
            <a:off x="3054096" y="1984248"/>
            <a:ext cx="1938528" cy="566928"/>
          </a:xfrm>
          <a:prstGeom prst="rect">
            <a:avLst/>
          </a:prstGeom>
          <a:noFill/>
          <a:ln/>
        </p:spPr>
        <p:txBody>
          <a:bodyPr wrap="square" lIns="0" tIns="0" rIns="0" bIns="0" rtlCol="0" anchor="ctr"/>
          <a:lstStyle/>
          <a:p>
            <a:pPr algn="ctr" indent="0" marL="0">
              <a:buNone/>
            </a:pPr>
            <a:r>
              <a:rPr lang="en-US" sz="2700" b="1" dirty="0">
                <a:solidFill>
                  <a:srgbClr val="8F5527"/>
                </a:solidFill>
                <a:latin typeface="Arial" pitchFamily="34" charset="0"/>
                <a:ea typeface="Arial" pitchFamily="34" charset="-122"/>
                <a:cs typeface="Arial" pitchFamily="34" charset="-120"/>
              </a:rPr>
              <a:t>1,784</a:t>
            </a:r>
            <a:endParaRPr lang="en-US" sz="2700" dirty="0"/>
          </a:p>
        </p:txBody>
      </p:sp>
      <p:sp>
        <p:nvSpPr>
          <p:cNvPr id="11" name="Text 8"/>
          <p:cNvSpPr/>
          <p:nvPr/>
        </p:nvSpPr>
        <p:spPr>
          <a:xfrm>
            <a:off x="3008376" y="2587752"/>
            <a:ext cx="2029968" cy="256032"/>
          </a:xfrm>
          <a:prstGeom prst="rect">
            <a:avLst/>
          </a:prstGeom>
          <a:noFill/>
          <a:ln/>
        </p:spPr>
        <p:txBody>
          <a:bodyPr wrap="square" lIns="0" tIns="0" rIns="0" bIns="0" rtlCol="0" anchor="ctr"/>
          <a:lstStyle/>
          <a:p>
            <a:pPr algn="ctr" indent="0" marL="0">
              <a:buNone/>
            </a:pPr>
            <a:r>
              <a:rPr lang="en-US" sz="850" b="1" spc="120" kern="0" dirty="0">
                <a:solidFill>
                  <a:srgbClr val="797065"/>
                </a:solidFill>
                <a:latin typeface="Arial" pitchFamily="34" charset="0"/>
                <a:ea typeface="Arial" pitchFamily="34" charset="-122"/>
                <a:cs typeface="Arial" pitchFamily="34" charset="-120"/>
              </a:rPr>
              <a:t>CIRCUITS ROUTED</a:t>
            </a:r>
            <a:endParaRPr lang="en-US" sz="850" dirty="0"/>
          </a:p>
        </p:txBody>
      </p:sp>
      <p:sp>
        <p:nvSpPr>
          <p:cNvPr id="12" name="Shape 9"/>
          <p:cNvSpPr/>
          <p:nvPr/>
        </p:nvSpPr>
        <p:spPr>
          <a:xfrm>
            <a:off x="5330952" y="1874520"/>
            <a:ext cx="2212848" cy="1078992"/>
          </a:xfrm>
          <a:prstGeom prst="roundRect">
            <a:avLst>
              <a:gd name="adj" fmla="val 4237"/>
            </a:avLst>
          </a:prstGeom>
          <a:solidFill>
            <a:srgbClr val="F5F1EC"/>
          </a:solidFill>
          <a:ln w="12700">
            <a:solidFill>
              <a:srgbClr val="E3DACE"/>
            </a:solidFill>
            <a:prstDash val="solid"/>
          </a:ln>
        </p:spPr>
      </p:sp>
      <p:sp>
        <p:nvSpPr>
          <p:cNvPr id="13" name="Text 10"/>
          <p:cNvSpPr/>
          <p:nvPr/>
        </p:nvSpPr>
        <p:spPr>
          <a:xfrm>
            <a:off x="5468112" y="1984248"/>
            <a:ext cx="1938528" cy="566928"/>
          </a:xfrm>
          <a:prstGeom prst="rect">
            <a:avLst/>
          </a:prstGeom>
          <a:noFill/>
          <a:ln/>
        </p:spPr>
        <p:txBody>
          <a:bodyPr wrap="square" lIns="0" tIns="0" rIns="0" bIns="0" rtlCol="0" anchor="ctr"/>
          <a:lstStyle/>
          <a:p>
            <a:pPr algn="ctr" indent="0" marL="0">
              <a:buNone/>
            </a:pPr>
            <a:r>
              <a:rPr lang="en-US" sz="2700" b="1" dirty="0">
                <a:solidFill>
                  <a:srgbClr val="8F5527"/>
                </a:solidFill>
                <a:latin typeface="Arial" pitchFamily="34" charset="0"/>
                <a:ea typeface="Arial" pitchFamily="34" charset="-122"/>
                <a:cs typeface="Arial" pitchFamily="34" charset="-120"/>
              </a:rPr>
              <a:t>2,478</a:t>
            </a:r>
            <a:endParaRPr lang="en-US" sz="2700" dirty="0"/>
          </a:p>
        </p:txBody>
      </p:sp>
      <p:sp>
        <p:nvSpPr>
          <p:cNvPr id="14" name="Text 11"/>
          <p:cNvSpPr/>
          <p:nvPr/>
        </p:nvSpPr>
        <p:spPr>
          <a:xfrm>
            <a:off x="5422392" y="2587752"/>
            <a:ext cx="2029968" cy="256032"/>
          </a:xfrm>
          <a:prstGeom prst="rect">
            <a:avLst/>
          </a:prstGeom>
          <a:noFill/>
          <a:ln/>
        </p:spPr>
        <p:txBody>
          <a:bodyPr wrap="square" lIns="0" tIns="0" rIns="0" bIns="0" rtlCol="0" anchor="ctr"/>
          <a:lstStyle/>
          <a:p>
            <a:pPr algn="ctr" indent="0" marL="0">
              <a:buNone/>
            </a:pPr>
            <a:r>
              <a:rPr lang="en-US" sz="850" b="1" spc="120" kern="0" dirty="0">
                <a:solidFill>
                  <a:srgbClr val="797065"/>
                </a:solidFill>
                <a:latin typeface="Arial" pitchFamily="34" charset="0"/>
                <a:ea typeface="Arial" pitchFamily="34" charset="-122"/>
                <a:cs typeface="Arial" pitchFamily="34" charset="-120"/>
              </a:rPr>
              <a:t>PHYSICAL RUNS</a:t>
            </a:r>
            <a:endParaRPr lang="en-US" sz="850" dirty="0"/>
          </a:p>
        </p:txBody>
      </p:sp>
      <p:sp>
        <p:nvSpPr>
          <p:cNvPr id="15" name="Shape 12"/>
          <p:cNvSpPr/>
          <p:nvPr/>
        </p:nvSpPr>
        <p:spPr>
          <a:xfrm>
            <a:off x="502920" y="3172968"/>
            <a:ext cx="2212848" cy="1078992"/>
          </a:xfrm>
          <a:prstGeom prst="roundRect">
            <a:avLst>
              <a:gd name="adj" fmla="val 4237"/>
            </a:avLst>
          </a:prstGeom>
          <a:solidFill>
            <a:srgbClr val="F5F1EC"/>
          </a:solidFill>
          <a:ln w="12700">
            <a:solidFill>
              <a:srgbClr val="E3DACE"/>
            </a:solidFill>
            <a:prstDash val="solid"/>
          </a:ln>
        </p:spPr>
      </p:sp>
      <p:sp>
        <p:nvSpPr>
          <p:cNvPr id="16" name="Text 13"/>
          <p:cNvSpPr/>
          <p:nvPr/>
        </p:nvSpPr>
        <p:spPr>
          <a:xfrm>
            <a:off x="640080" y="3282696"/>
            <a:ext cx="1938528" cy="566928"/>
          </a:xfrm>
          <a:prstGeom prst="rect">
            <a:avLst/>
          </a:prstGeom>
          <a:noFill/>
          <a:ln/>
        </p:spPr>
        <p:txBody>
          <a:bodyPr wrap="square" lIns="0" tIns="0" rIns="0" bIns="0" rtlCol="0" anchor="ctr"/>
          <a:lstStyle/>
          <a:p>
            <a:pPr algn="ctr" indent="0" marL="0">
              <a:buNone/>
            </a:pPr>
            <a:r>
              <a:rPr lang="en-US" sz="2700" b="1" dirty="0">
                <a:solidFill>
                  <a:srgbClr val="8F5527"/>
                </a:solidFill>
                <a:latin typeface="Arial" pitchFamily="34" charset="0"/>
                <a:ea typeface="Arial" pitchFamily="34" charset="-122"/>
                <a:cs typeface="Arial" pitchFamily="34" charset="-120"/>
              </a:rPr>
              <a:t>1.14M</a:t>
            </a:r>
            <a:endParaRPr lang="en-US" sz="2700" dirty="0"/>
          </a:p>
        </p:txBody>
      </p:sp>
      <p:sp>
        <p:nvSpPr>
          <p:cNvPr id="17" name="Text 14"/>
          <p:cNvSpPr/>
          <p:nvPr/>
        </p:nvSpPr>
        <p:spPr>
          <a:xfrm>
            <a:off x="594360" y="3886200"/>
            <a:ext cx="2029968" cy="256032"/>
          </a:xfrm>
          <a:prstGeom prst="rect">
            <a:avLst/>
          </a:prstGeom>
          <a:noFill/>
          <a:ln/>
        </p:spPr>
        <p:txBody>
          <a:bodyPr wrap="square" lIns="0" tIns="0" rIns="0" bIns="0" rtlCol="0" anchor="ctr"/>
          <a:lstStyle/>
          <a:p>
            <a:pPr algn="ctr" indent="0" marL="0">
              <a:buNone/>
            </a:pPr>
            <a:r>
              <a:rPr lang="en-US" sz="850" b="1" spc="120" kern="0" dirty="0">
                <a:solidFill>
                  <a:srgbClr val="797065"/>
                </a:solidFill>
                <a:latin typeface="Arial" pitchFamily="34" charset="0"/>
                <a:ea typeface="Arial" pitchFamily="34" charset="-122"/>
                <a:cs typeface="Arial" pitchFamily="34" charset="-120"/>
              </a:rPr>
              <a:t>PROCUREMENT FT</a:t>
            </a:r>
            <a:endParaRPr lang="en-US" sz="850" dirty="0"/>
          </a:p>
        </p:txBody>
      </p:sp>
      <p:sp>
        <p:nvSpPr>
          <p:cNvPr id="18" name="Shape 15"/>
          <p:cNvSpPr/>
          <p:nvPr/>
        </p:nvSpPr>
        <p:spPr>
          <a:xfrm>
            <a:off x="2916936" y="3172968"/>
            <a:ext cx="2212848" cy="1078992"/>
          </a:xfrm>
          <a:prstGeom prst="roundRect">
            <a:avLst>
              <a:gd name="adj" fmla="val 4237"/>
            </a:avLst>
          </a:prstGeom>
          <a:solidFill>
            <a:srgbClr val="F5F1EC"/>
          </a:solidFill>
          <a:ln w="12700">
            <a:solidFill>
              <a:srgbClr val="E3DACE"/>
            </a:solidFill>
            <a:prstDash val="solid"/>
          </a:ln>
        </p:spPr>
      </p:sp>
      <p:sp>
        <p:nvSpPr>
          <p:cNvPr id="19" name="Text 16"/>
          <p:cNvSpPr/>
          <p:nvPr/>
        </p:nvSpPr>
        <p:spPr>
          <a:xfrm>
            <a:off x="3054096" y="3282696"/>
            <a:ext cx="1938528" cy="566928"/>
          </a:xfrm>
          <a:prstGeom prst="rect">
            <a:avLst/>
          </a:prstGeom>
          <a:noFill/>
          <a:ln/>
        </p:spPr>
        <p:txBody>
          <a:bodyPr wrap="square" lIns="0" tIns="0" rIns="0" bIns="0" rtlCol="0" anchor="ctr"/>
          <a:lstStyle/>
          <a:p>
            <a:pPr algn="ctr" indent="0" marL="0">
              <a:buNone/>
            </a:pPr>
            <a:r>
              <a:rPr lang="en-US" sz="2700" b="1" dirty="0">
                <a:solidFill>
                  <a:srgbClr val="8F5527"/>
                </a:solidFill>
                <a:latin typeface="Arial" pitchFamily="34" charset="0"/>
                <a:ea typeface="Arial" pitchFamily="34" charset="-122"/>
                <a:cs typeface="Arial" pitchFamily="34" charset="-120"/>
              </a:rPr>
              <a:t>563,091</a:t>
            </a:r>
            <a:endParaRPr lang="en-US" sz="2700" dirty="0"/>
          </a:p>
        </p:txBody>
      </p:sp>
      <p:sp>
        <p:nvSpPr>
          <p:cNvPr id="20" name="Text 17"/>
          <p:cNvSpPr/>
          <p:nvPr/>
        </p:nvSpPr>
        <p:spPr>
          <a:xfrm>
            <a:off x="3008376" y="3886200"/>
            <a:ext cx="2029968" cy="256032"/>
          </a:xfrm>
          <a:prstGeom prst="rect">
            <a:avLst/>
          </a:prstGeom>
          <a:noFill/>
          <a:ln/>
        </p:spPr>
        <p:txBody>
          <a:bodyPr wrap="square" lIns="0" tIns="0" rIns="0" bIns="0" rtlCol="0" anchor="ctr"/>
          <a:lstStyle/>
          <a:p>
            <a:pPr algn="ctr" indent="0" marL="0">
              <a:buNone/>
            </a:pPr>
            <a:r>
              <a:rPr lang="en-US" sz="850" b="1" spc="120" kern="0" dirty="0">
                <a:solidFill>
                  <a:srgbClr val="797065"/>
                </a:solidFill>
                <a:latin typeface="Arial" pitchFamily="34" charset="0"/>
                <a:ea typeface="Arial" pitchFamily="34" charset="-122"/>
                <a:cs typeface="Arial" pitchFamily="34" charset="-120"/>
              </a:rPr>
              <a:t>LB COPPER</a:t>
            </a:r>
            <a:endParaRPr lang="en-US" sz="850" dirty="0"/>
          </a:p>
        </p:txBody>
      </p:sp>
      <p:sp>
        <p:nvSpPr>
          <p:cNvPr id="21" name="Shape 18"/>
          <p:cNvSpPr/>
          <p:nvPr/>
        </p:nvSpPr>
        <p:spPr>
          <a:xfrm>
            <a:off x="5330952" y="3172968"/>
            <a:ext cx="2212848" cy="1078992"/>
          </a:xfrm>
          <a:prstGeom prst="roundRect">
            <a:avLst>
              <a:gd name="adj" fmla="val 4237"/>
            </a:avLst>
          </a:prstGeom>
          <a:solidFill>
            <a:srgbClr val="F5F1EC"/>
          </a:solidFill>
          <a:ln w="12700">
            <a:solidFill>
              <a:srgbClr val="E3DACE"/>
            </a:solidFill>
            <a:prstDash val="solid"/>
          </a:ln>
        </p:spPr>
      </p:sp>
      <p:sp>
        <p:nvSpPr>
          <p:cNvPr id="22" name="Text 19"/>
          <p:cNvSpPr/>
          <p:nvPr/>
        </p:nvSpPr>
        <p:spPr>
          <a:xfrm>
            <a:off x="5468112" y="3282696"/>
            <a:ext cx="1938528" cy="566928"/>
          </a:xfrm>
          <a:prstGeom prst="rect">
            <a:avLst/>
          </a:prstGeom>
          <a:noFill/>
          <a:ln/>
        </p:spPr>
        <p:txBody>
          <a:bodyPr wrap="square" lIns="0" tIns="0" rIns="0" bIns="0" rtlCol="0" anchor="ctr"/>
          <a:lstStyle/>
          <a:p>
            <a:pPr algn="ctr" indent="0" marL="0">
              <a:buNone/>
            </a:pPr>
            <a:r>
              <a:rPr lang="en-US" sz="2700" b="1" dirty="0">
                <a:solidFill>
                  <a:srgbClr val="8F5527"/>
                </a:solidFill>
                <a:latin typeface="Arial" pitchFamily="34" charset="0"/>
                <a:ea typeface="Arial" pitchFamily="34" charset="-122"/>
                <a:cs typeface="Arial" pitchFamily="34" charset="-120"/>
              </a:rPr>
              <a:t>~0.50</a:t>
            </a:r>
            <a:endParaRPr lang="en-US" sz="2700" dirty="0"/>
          </a:p>
        </p:txBody>
      </p:sp>
      <p:sp>
        <p:nvSpPr>
          <p:cNvPr id="23" name="Text 20"/>
          <p:cNvSpPr/>
          <p:nvPr/>
        </p:nvSpPr>
        <p:spPr>
          <a:xfrm>
            <a:off x="5422392" y="3886200"/>
            <a:ext cx="2029968" cy="256032"/>
          </a:xfrm>
          <a:prstGeom prst="rect">
            <a:avLst/>
          </a:prstGeom>
          <a:noFill/>
          <a:ln/>
        </p:spPr>
        <p:txBody>
          <a:bodyPr wrap="square" lIns="0" tIns="0" rIns="0" bIns="0" rtlCol="0" anchor="ctr"/>
          <a:lstStyle/>
          <a:p>
            <a:pPr algn="ctr" indent="0" marL="0">
              <a:buNone/>
            </a:pPr>
            <a:r>
              <a:rPr lang="en-US" sz="850" b="1" spc="120" kern="0" dirty="0">
                <a:solidFill>
                  <a:srgbClr val="797065"/>
                </a:solidFill>
                <a:latin typeface="Arial" pitchFamily="34" charset="0"/>
                <a:ea typeface="Arial" pitchFamily="34" charset="-122"/>
                <a:cs typeface="Arial" pitchFamily="34" charset="-120"/>
              </a:rPr>
              <a:t>LB CU / FT AVG</a:t>
            </a:r>
            <a:endParaRPr lang="en-US" sz="850" dirty="0"/>
          </a:p>
        </p:txBody>
      </p:sp>
      <p:sp>
        <p:nvSpPr>
          <p:cNvPr id="24" name="Text 21"/>
          <p:cNvSpPr/>
          <p:nvPr/>
        </p:nvSpPr>
        <p:spPr>
          <a:xfrm>
            <a:off x="502920" y="4617720"/>
            <a:ext cx="6949440" cy="685800"/>
          </a:xfrm>
          <a:prstGeom prst="rect">
            <a:avLst/>
          </a:prstGeom>
          <a:noFill/>
          <a:ln/>
        </p:spPr>
        <p:txBody>
          <a:bodyPr wrap="square" lIns="0" tIns="0" rIns="0" bIns="0" rtlCol="0" anchor="t"/>
          <a:lstStyle/>
          <a:p>
            <a:pPr indent="0" marL="0">
              <a:lnSpc>
                <a:spcPct val="112000"/>
              </a:lnSpc>
              <a:buNone/>
            </a:pPr>
            <a:r>
              <a:rPr lang="en-US" sz="950" b="1" dirty="0">
                <a:solidFill>
                  <a:srgbClr val="201D1A"/>
                </a:solidFill>
                <a:latin typeface="Arial" pitchFamily="34" charset="0"/>
                <a:ea typeface="Arial" pitchFamily="34" charset="-122"/>
                <a:cs typeface="Arial" pitchFamily="34" charset="-120"/>
              </a:rPr>
              <a:t>Basis: </a:t>
            </a:r>
            <a:pPr indent="0" marL="0">
              <a:lnSpc>
                <a:spcPct val="112000"/>
              </a:lnSpc>
              <a:buNone/>
            </a:pPr>
            <a:r>
              <a:rPr lang="en-US" sz="950" dirty="0">
                <a:solidFill>
                  <a:srgbClr val="3D3833"/>
                </a:solidFill>
                <a:latin typeface="Arial" pitchFamily="34" charset="0"/>
                <a:ea typeface="Arial" pitchFamily="34" charset="-122"/>
                <a:cs typeface="Arial" pitchFamily="34" charset="-120"/>
              </a:rPr>
              <a:t>NGCC master cable schedule Rev M21, geometry-governed. Specification numbers are Southwire family references — a stock number requires conductor sizing and is deliberately not shown. Concept, not for construction.</a:t>
            </a:r>
            <a:endParaRPr lang="en-US" sz="950" dirty="0"/>
          </a:p>
        </p:txBody>
      </p:sp>
      <p:sp>
        <p:nvSpPr>
          <p:cNvPr id="25" name="Text 22"/>
          <p:cNvSpPr/>
          <p:nvPr/>
        </p:nvSpPr>
        <p:spPr>
          <a:xfrm>
            <a:off x="502920" y="5349240"/>
            <a:ext cx="11155680" cy="457200"/>
          </a:xfrm>
          <a:prstGeom prst="rect">
            <a:avLst/>
          </a:prstGeom>
          <a:noFill/>
          <a:ln/>
        </p:spPr>
        <p:txBody>
          <a:bodyPr wrap="square" lIns="0" tIns="0" rIns="0" bIns="0" rtlCol="0" anchor="t"/>
          <a:lstStyle/>
          <a:p>
            <a:pPr indent="0" marL="0">
              <a:lnSpc>
                <a:spcPct val="115000"/>
              </a:lnSpc>
              <a:buNone/>
            </a:pPr>
            <a:r>
              <a:rPr lang="en-US" sz="1050" b="1" dirty="0">
                <a:solidFill>
                  <a:srgbClr val="201D1A"/>
                </a:solidFill>
                <a:latin typeface="Arial" pitchFamily="34" charset="0"/>
                <a:ea typeface="Arial" pitchFamily="34" charset="-122"/>
                <a:cs typeface="Arial" pitchFamily="34" charset="-120"/>
              </a:rPr>
              <a:t>HV underground 69–500 kV · MV EPR 133% 5 / 15 / 25 / 35 kV · duct bank, direct buried and tray.  </a:t>
            </a:r>
            <a:pPr indent="0" marL="0">
              <a:lnSpc>
                <a:spcPct val="115000"/>
              </a:lnSpc>
              <a:buNone/>
            </a:pPr>
            <a:r>
              <a:rPr lang="en-US" sz="1050" b="1" dirty="0">
                <a:solidFill>
                  <a:srgbClr val="8F5527"/>
                </a:solidFill>
                <a:latin typeface="Arial" pitchFamily="34" charset="0"/>
                <a:ea typeface="Arial" pitchFamily="34" charset="-122"/>
                <a:cs typeface="Arial" pitchFamily="34" charset="-120"/>
              </a:rPr>
              <a:t>Published Southwire record: 15M+ ft HV underground, zero in-service failures.</a:t>
            </a:r>
            <a:endParaRPr lang="en-US" sz="1050" dirty="0"/>
          </a:p>
        </p:txBody>
      </p:sp>
      <p:sp>
        <p:nvSpPr>
          <p:cNvPr id="26" name="Text 23"/>
          <p:cNvSpPr/>
          <p:nvPr/>
        </p:nvSpPr>
        <p:spPr>
          <a:xfrm>
            <a:off x="502920" y="5897880"/>
            <a:ext cx="11155680" cy="256032"/>
          </a:xfrm>
          <a:prstGeom prst="rect">
            <a:avLst/>
          </a:prstGeom>
          <a:noFill/>
          <a:ln/>
        </p:spPr>
        <p:txBody>
          <a:bodyPr wrap="square" lIns="0" tIns="0" rIns="0" bIns="0" rtlCol="0" anchor="ctr"/>
          <a:lstStyle/>
          <a:p>
            <a:pPr indent="0" marL="0">
              <a:buNone/>
            </a:pPr>
            <a:r>
              <a:rPr lang="en-US" sz="950" i="1" dirty="0">
                <a:solidFill>
                  <a:srgbClr val="797065"/>
                </a:solidFill>
                <a:latin typeface="Arial" pitchFamily="34" charset="0"/>
                <a:ea typeface="Arial" pitchFamily="34" charset="-122"/>
                <a:cs typeface="Arial" pitchFamily="34" charset="-120"/>
              </a:rPr>
              <a:t>Full plant-zone map with per-zone cable applications: Appendix A (SK-120).</a:t>
            </a:r>
            <a:endParaRPr lang="en-US" sz="950" dirty="0"/>
          </a:p>
        </p:txBody>
      </p:sp>
      <p:sp>
        <p:nvSpPr>
          <p:cNvPr id="28" name="Text 24"/>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797065"/>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29" name="Text 25"/>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ONE PROPOSITION   ·   FOUR PLACES IT LANDS IN YOUR PROGRAM</a:t>
            </a:r>
            <a:endParaRPr lang="en-US" sz="1050" dirty="0"/>
          </a:p>
        </p:txBody>
      </p:sp>
      <p:sp>
        <p:nvSpPr>
          <p:cNvPr id="3" name="Text 1"/>
          <p:cNvSpPr/>
          <p:nvPr/>
        </p:nvSpPr>
        <p:spPr>
          <a:xfrm>
            <a:off x="502920" y="676656"/>
            <a:ext cx="10789920" cy="868680"/>
          </a:xfrm>
          <a:prstGeom prst="rect">
            <a:avLst/>
          </a:prstGeom>
          <a:noFill/>
          <a:ln/>
        </p:spPr>
        <p:txBody>
          <a:bodyPr wrap="square" lIns="0" tIns="0" rIns="0" bIns="0" rtlCol="0" anchor="t"/>
          <a:lstStyle/>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The same platform, in the language of each part of the program.</a:t>
            </a:r>
            <a:endParaRPr lang="en-US" sz="2600" dirty="0"/>
          </a:p>
        </p:txBody>
      </p:sp>
      <p:sp>
        <p:nvSpPr>
          <p:cNvPr id="4" name="Shape 2"/>
          <p:cNvSpPr/>
          <p:nvPr/>
        </p:nvSpPr>
        <p:spPr>
          <a:xfrm>
            <a:off x="502920" y="1600200"/>
            <a:ext cx="5486400" cy="1993392"/>
          </a:xfrm>
          <a:prstGeom prst="roundRect">
            <a:avLst>
              <a:gd name="adj" fmla="val 2752"/>
            </a:avLst>
          </a:prstGeom>
          <a:solidFill>
            <a:srgbClr val="F5F1EC"/>
          </a:solidFill>
          <a:ln w="12700">
            <a:solidFill>
              <a:srgbClr val="E3DACE"/>
            </a:solidFill>
            <a:prstDash val="solid"/>
          </a:ln>
        </p:spPr>
      </p:sp>
      <p:sp>
        <p:nvSpPr>
          <p:cNvPr id="5" name="Shape 3"/>
          <p:cNvSpPr/>
          <p:nvPr/>
        </p:nvSpPr>
        <p:spPr>
          <a:xfrm>
            <a:off x="740664" y="1837944"/>
            <a:ext cx="365760" cy="329184"/>
          </a:xfrm>
          <a:prstGeom prst="hexagon">
            <a:avLst/>
          </a:prstGeom>
          <a:solidFill>
            <a:srgbClr val="B4713D"/>
          </a:solidFill>
          <a:ln/>
        </p:spPr>
      </p:sp>
      <p:sp>
        <p:nvSpPr>
          <p:cNvPr id="6" name="Text 4"/>
          <p:cNvSpPr/>
          <p:nvPr/>
        </p:nvSpPr>
        <p:spPr>
          <a:xfrm>
            <a:off x="740664" y="1837944"/>
            <a:ext cx="3657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252728" y="1856232"/>
            <a:ext cx="4526280" cy="219456"/>
          </a:xfrm>
          <a:prstGeom prst="rect">
            <a:avLst/>
          </a:prstGeom>
          <a:noFill/>
          <a:ln/>
        </p:spPr>
        <p:txBody>
          <a:bodyPr wrap="square" lIns="0" tIns="0" rIns="0" bIns="0" rtlCol="0" anchor="ctr"/>
          <a:lstStyle/>
          <a:p>
            <a:pPr indent="0" marL="0">
              <a:buNone/>
            </a:pPr>
            <a:r>
              <a:rPr lang="en-US" sz="850" b="1" spc="150" kern="0" dirty="0">
                <a:solidFill>
                  <a:srgbClr val="8F5527"/>
                </a:solidFill>
                <a:latin typeface="Arial" pitchFamily="34" charset="0"/>
                <a:ea typeface="Arial" pitchFamily="34" charset="-122"/>
                <a:cs typeface="Arial" pitchFamily="34" charset="-120"/>
              </a:rPr>
              <a:t>NEWBUILD · 5.4 GW, FIRST COD 2029</a:t>
            </a:r>
            <a:endParaRPr lang="en-US" sz="850" dirty="0"/>
          </a:p>
        </p:txBody>
      </p:sp>
      <p:sp>
        <p:nvSpPr>
          <p:cNvPr id="8" name="Text 6"/>
          <p:cNvSpPr/>
          <p:nvPr/>
        </p:nvSpPr>
        <p:spPr>
          <a:xfrm>
            <a:off x="1252728" y="2093976"/>
            <a:ext cx="4526280" cy="566928"/>
          </a:xfrm>
          <a:prstGeom prst="rect">
            <a:avLst/>
          </a:prstGeom>
          <a:noFill/>
          <a:ln/>
        </p:spPr>
        <p:txBody>
          <a:bodyPr wrap="square" lIns="0" tIns="0" rIns="0" bIns="0" rtlCol="0" anchor="t"/>
          <a:lstStyle/>
          <a:p>
            <a:pPr indent="0" marL="0">
              <a:lnSpc>
                <a:spcPct val="102000"/>
              </a:lnSpc>
              <a:buNone/>
            </a:pPr>
            <a:r>
              <a:rPr lang="en-US" sz="1450" b="1" dirty="0">
                <a:solidFill>
                  <a:srgbClr val="201D1A"/>
                </a:solidFill>
                <a:latin typeface="Arial" pitchFamily="34" charset="0"/>
                <a:ea typeface="Arial" pitchFamily="34" charset="-122"/>
                <a:cs typeface="Arial" pitchFamily="34" charset="-120"/>
              </a:rPr>
              <a:t>Protect COD and capital certainty.</a:t>
            </a:r>
            <a:endParaRPr lang="en-US" sz="1450" dirty="0"/>
          </a:p>
        </p:txBody>
      </p:sp>
      <p:sp>
        <p:nvSpPr>
          <p:cNvPr id="9" name="Text 7"/>
          <p:cNvSpPr/>
          <p:nvPr/>
        </p:nvSpPr>
        <p:spPr>
          <a:xfrm>
            <a:off x="1252728" y="2624328"/>
            <a:ext cx="4526280" cy="841248"/>
          </a:xfrm>
          <a:prstGeom prst="rect">
            <a:avLst/>
          </a:prstGeom>
          <a:noFill/>
          <a:ln/>
        </p:spPr>
        <p:txBody>
          <a:bodyPr wrap="square" lIns="0" tIns="0" rIns="0" bIns="0" rtlCol="0" anchor="t"/>
          <a:lstStyle/>
          <a:p>
            <a:pPr indent="0" marL="0">
              <a:lnSpc>
                <a:spcPct val="110000"/>
              </a:lnSpc>
              <a:buNone/>
            </a:pPr>
            <a:r>
              <a:rPr lang="en-US" sz="1000" dirty="0">
                <a:solidFill>
                  <a:srgbClr val="3D3833"/>
                </a:solidFill>
                <a:latin typeface="Arial" pitchFamily="34" charset="0"/>
                <a:ea typeface="Arial" pitchFamily="34" charset="-122"/>
                <a:cs typeface="Arial" pitchFamily="34" charset="-120"/>
              </a:rPr>
              <a:t>Clarify electrical scope, interfaces and supply exposure before EPC decisions harden — while insulation, jacket and raceway are still choices, not history.</a:t>
            </a:r>
            <a:endParaRPr lang="en-US" sz="1000" dirty="0"/>
          </a:p>
        </p:txBody>
      </p:sp>
      <p:sp>
        <p:nvSpPr>
          <p:cNvPr id="10" name="Shape 8"/>
          <p:cNvSpPr/>
          <p:nvPr/>
        </p:nvSpPr>
        <p:spPr>
          <a:xfrm>
            <a:off x="6281928" y="1600200"/>
            <a:ext cx="5486400" cy="1993392"/>
          </a:xfrm>
          <a:prstGeom prst="roundRect">
            <a:avLst>
              <a:gd name="adj" fmla="val 2752"/>
            </a:avLst>
          </a:prstGeom>
          <a:solidFill>
            <a:srgbClr val="F5F1EC"/>
          </a:solidFill>
          <a:ln w="12700">
            <a:solidFill>
              <a:srgbClr val="E3DACE"/>
            </a:solidFill>
            <a:prstDash val="solid"/>
          </a:ln>
        </p:spPr>
      </p:sp>
      <p:sp>
        <p:nvSpPr>
          <p:cNvPr id="11" name="Shape 9"/>
          <p:cNvSpPr/>
          <p:nvPr/>
        </p:nvSpPr>
        <p:spPr>
          <a:xfrm>
            <a:off x="6519672" y="1837944"/>
            <a:ext cx="365760" cy="329184"/>
          </a:xfrm>
          <a:prstGeom prst="hexagon">
            <a:avLst/>
          </a:prstGeom>
          <a:solidFill>
            <a:srgbClr val="B4713D"/>
          </a:solidFill>
          <a:ln/>
        </p:spPr>
      </p:sp>
      <p:sp>
        <p:nvSpPr>
          <p:cNvPr id="12" name="Text 10"/>
          <p:cNvSpPr/>
          <p:nvPr/>
        </p:nvSpPr>
        <p:spPr>
          <a:xfrm>
            <a:off x="6519672" y="1837944"/>
            <a:ext cx="3657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7031736" y="1856232"/>
            <a:ext cx="4526280" cy="219456"/>
          </a:xfrm>
          <a:prstGeom prst="rect">
            <a:avLst/>
          </a:prstGeom>
          <a:noFill/>
          <a:ln/>
        </p:spPr>
        <p:txBody>
          <a:bodyPr wrap="square" lIns="0" tIns="0" rIns="0" bIns="0" rtlCol="0" anchor="ctr"/>
          <a:lstStyle/>
          <a:p>
            <a:pPr indent="0" marL="0">
              <a:buNone/>
            </a:pPr>
            <a:r>
              <a:rPr lang="en-US" sz="850" b="1" spc="150" kern="0" dirty="0">
                <a:solidFill>
                  <a:srgbClr val="8F5527"/>
                </a:solidFill>
                <a:latin typeface="Arial" pitchFamily="34" charset="0"/>
                <a:ea typeface="Arial" pitchFamily="34" charset="-122"/>
                <a:cs typeface="Arial" pitchFamily="34" charset="-120"/>
              </a:rPr>
              <a:t>ACQUIRED FLEET · 18 PLANTS, 13 GW</a:t>
            </a:r>
            <a:endParaRPr lang="en-US" sz="850" dirty="0"/>
          </a:p>
        </p:txBody>
      </p:sp>
      <p:sp>
        <p:nvSpPr>
          <p:cNvPr id="14" name="Text 12"/>
          <p:cNvSpPr/>
          <p:nvPr/>
        </p:nvSpPr>
        <p:spPr>
          <a:xfrm>
            <a:off x="7031736" y="2093976"/>
            <a:ext cx="4526280" cy="566928"/>
          </a:xfrm>
          <a:prstGeom prst="rect">
            <a:avLst/>
          </a:prstGeom>
          <a:noFill/>
          <a:ln/>
        </p:spPr>
        <p:txBody>
          <a:bodyPr wrap="square" lIns="0" tIns="0" rIns="0" bIns="0" rtlCol="0" anchor="t"/>
          <a:lstStyle/>
          <a:p>
            <a:pPr indent="0" marL="0">
              <a:lnSpc>
                <a:spcPct val="102000"/>
              </a:lnSpc>
              <a:buNone/>
            </a:pPr>
            <a:r>
              <a:rPr lang="en-US" sz="1450" b="1" dirty="0">
                <a:solidFill>
                  <a:srgbClr val="201D1A"/>
                </a:solidFill>
                <a:latin typeface="Arial" pitchFamily="34" charset="0"/>
                <a:ea typeface="Arial" pitchFamily="34" charset="-122"/>
                <a:cs typeface="Arial" pitchFamily="34" charset="-120"/>
              </a:rPr>
              <a:t>One governed standard, not eighteen inherited ones.</a:t>
            </a:r>
            <a:endParaRPr lang="en-US" sz="1450" dirty="0"/>
          </a:p>
        </p:txBody>
      </p:sp>
      <p:sp>
        <p:nvSpPr>
          <p:cNvPr id="15" name="Text 13"/>
          <p:cNvSpPr/>
          <p:nvPr/>
        </p:nvSpPr>
        <p:spPr>
          <a:xfrm>
            <a:off x="7031736" y="2624328"/>
            <a:ext cx="4526280" cy="841248"/>
          </a:xfrm>
          <a:prstGeom prst="rect">
            <a:avLst/>
          </a:prstGeom>
          <a:noFill/>
          <a:ln/>
        </p:spPr>
        <p:txBody>
          <a:bodyPr wrap="square" lIns="0" tIns="0" rIns="0" bIns="0" rtlCol="0" anchor="t"/>
          <a:lstStyle/>
          <a:p>
            <a:pPr indent="0" marL="0">
              <a:lnSpc>
                <a:spcPct val="110000"/>
              </a:lnSpc>
              <a:buNone/>
            </a:pPr>
            <a:r>
              <a:rPr lang="en-US" sz="1000" dirty="0">
                <a:solidFill>
                  <a:srgbClr val="3D3833"/>
                </a:solidFill>
                <a:latin typeface="Arial" pitchFamily="34" charset="0"/>
                <a:ea typeface="Arial" pitchFamily="34" charset="-122"/>
                <a:cs typeface="Arial" pitchFamily="34" charset="-120"/>
              </a:rPr>
              <a:t>Field assessment, rejuvenation and a fleet cable basis turn eighteen sets of as-builts into one measurable, fundable condition baseline.</a:t>
            </a:r>
            <a:endParaRPr lang="en-US" sz="1000" dirty="0"/>
          </a:p>
        </p:txBody>
      </p:sp>
      <p:sp>
        <p:nvSpPr>
          <p:cNvPr id="16" name="Shape 14"/>
          <p:cNvSpPr/>
          <p:nvPr/>
        </p:nvSpPr>
        <p:spPr>
          <a:xfrm>
            <a:off x="502920" y="3831336"/>
            <a:ext cx="5486400" cy="1993392"/>
          </a:xfrm>
          <a:prstGeom prst="roundRect">
            <a:avLst>
              <a:gd name="adj" fmla="val 2752"/>
            </a:avLst>
          </a:prstGeom>
          <a:solidFill>
            <a:srgbClr val="F5F1EC"/>
          </a:solidFill>
          <a:ln w="12700">
            <a:solidFill>
              <a:srgbClr val="E3DACE"/>
            </a:solidFill>
            <a:prstDash val="solid"/>
          </a:ln>
        </p:spPr>
      </p:sp>
      <p:sp>
        <p:nvSpPr>
          <p:cNvPr id="17" name="Shape 15"/>
          <p:cNvSpPr/>
          <p:nvPr/>
        </p:nvSpPr>
        <p:spPr>
          <a:xfrm>
            <a:off x="740664" y="4069080"/>
            <a:ext cx="365760" cy="329184"/>
          </a:xfrm>
          <a:prstGeom prst="hexagon">
            <a:avLst/>
          </a:prstGeom>
          <a:solidFill>
            <a:srgbClr val="B4713D"/>
          </a:solidFill>
          <a:ln/>
        </p:spPr>
      </p:sp>
      <p:sp>
        <p:nvSpPr>
          <p:cNvPr id="18" name="Text 16"/>
          <p:cNvSpPr/>
          <p:nvPr/>
        </p:nvSpPr>
        <p:spPr>
          <a:xfrm>
            <a:off x="740664" y="4069080"/>
            <a:ext cx="3657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7"/>
          <p:cNvSpPr/>
          <p:nvPr/>
        </p:nvSpPr>
        <p:spPr>
          <a:xfrm>
            <a:off x="1252728" y="4087368"/>
            <a:ext cx="4526280" cy="219456"/>
          </a:xfrm>
          <a:prstGeom prst="rect">
            <a:avLst/>
          </a:prstGeom>
          <a:noFill/>
          <a:ln/>
        </p:spPr>
        <p:txBody>
          <a:bodyPr wrap="square" lIns="0" tIns="0" rIns="0" bIns="0" rtlCol="0" anchor="ctr"/>
          <a:lstStyle/>
          <a:p>
            <a:pPr indent="0" marL="0">
              <a:buNone/>
            </a:pPr>
            <a:r>
              <a:rPr lang="en-US" sz="850" b="1" spc="150" kern="0" dirty="0">
                <a:solidFill>
                  <a:srgbClr val="8F5527"/>
                </a:solidFill>
                <a:latin typeface="Arial" pitchFamily="34" charset="0"/>
                <a:ea typeface="Arial" pitchFamily="34" charset="-122"/>
                <a:cs typeface="Arial" pitchFamily="34" charset="-120"/>
              </a:rPr>
              <a:t>BROWNFIELD · TEF UNITS + PJM UPRATES</a:t>
            </a:r>
            <a:endParaRPr lang="en-US" sz="850" dirty="0"/>
          </a:p>
        </p:txBody>
      </p:sp>
      <p:sp>
        <p:nvSpPr>
          <p:cNvPr id="20" name="Text 18"/>
          <p:cNvSpPr/>
          <p:nvPr/>
        </p:nvSpPr>
        <p:spPr>
          <a:xfrm>
            <a:off x="1252728" y="4325112"/>
            <a:ext cx="4526280" cy="566928"/>
          </a:xfrm>
          <a:prstGeom prst="rect">
            <a:avLst/>
          </a:prstGeom>
          <a:noFill/>
          <a:ln/>
        </p:spPr>
        <p:txBody>
          <a:bodyPr wrap="square" lIns="0" tIns="0" rIns="0" bIns="0" rtlCol="0" anchor="t"/>
          <a:lstStyle/>
          <a:p>
            <a:pPr indent="0" marL="0">
              <a:lnSpc>
                <a:spcPct val="102000"/>
              </a:lnSpc>
              <a:buNone/>
            </a:pPr>
            <a:r>
              <a:rPr lang="en-US" sz="1450" b="1" dirty="0">
                <a:solidFill>
                  <a:srgbClr val="201D1A"/>
                </a:solidFill>
                <a:latin typeface="Arial" pitchFamily="34" charset="0"/>
                <a:ea typeface="Arial" pitchFamily="34" charset="-122"/>
                <a:cs typeface="Arial" pitchFamily="34" charset="-120"/>
              </a:rPr>
              <a:t>Capacity inside the fence line.</a:t>
            </a:r>
            <a:endParaRPr lang="en-US" sz="1450" dirty="0"/>
          </a:p>
        </p:txBody>
      </p:sp>
      <p:sp>
        <p:nvSpPr>
          <p:cNvPr id="21" name="Text 19"/>
          <p:cNvSpPr/>
          <p:nvPr/>
        </p:nvSpPr>
        <p:spPr>
          <a:xfrm>
            <a:off x="1252728" y="4855464"/>
            <a:ext cx="4526280" cy="841248"/>
          </a:xfrm>
          <a:prstGeom prst="rect">
            <a:avLst/>
          </a:prstGeom>
          <a:noFill/>
          <a:ln/>
        </p:spPr>
        <p:txBody>
          <a:bodyPr wrap="square" lIns="0" tIns="0" rIns="0" bIns="0" rtlCol="0" anchor="t"/>
          <a:lstStyle/>
          <a:p>
            <a:pPr indent="0" marL="0">
              <a:lnSpc>
                <a:spcPct val="110000"/>
              </a:lnSpc>
              <a:buNone/>
            </a:pPr>
            <a:r>
              <a:rPr lang="en-US" sz="1000" dirty="0">
                <a:solidFill>
                  <a:srgbClr val="3D3833"/>
                </a:solidFill>
                <a:latin typeface="Arial" pitchFamily="34" charset="0"/>
                <a:ea typeface="Arial" pitchFamily="34" charset="-122"/>
                <a:cs typeface="Arial" pitchFamily="34" charset="-120"/>
              </a:rPr>
              <a:t>HV underground and factory-built modular spines add megawatts where corridors are full — designed for installed cost, not purchase price.</a:t>
            </a:r>
            <a:endParaRPr lang="en-US" sz="1000" dirty="0"/>
          </a:p>
        </p:txBody>
      </p:sp>
      <p:sp>
        <p:nvSpPr>
          <p:cNvPr id="22" name="Shape 20"/>
          <p:cNvSpPr/>
          <p:nvPr/>
        </p:nvSpPr>
        <p:spPr>
          <a:xfrm>
            <a:off x="6281928" y="3831336"/>
            <a:ext cx="5486400" cy="1993392"/>
          </a:xfrm>
          <a:prstGeom prst="roundRect">
            <a:avLst>
              <a:gd name="adj" fmla="val 2752"/>
            </a:avLst>
          </a:prstGeom>
          <a:solidFill>
            <a:srgbClr val="F5F1EC"/>
          </a:solidFill>
          <a:ln w="12700">
            <a:solidFill>
              <a:srgbClr val="E3DACE"/>
            </a:solidFill>
            <a:prstDash val="solid"/>
          </a:ln>
        </p:spPr>
      </p:sp>
      <p:sp>
        <p:nvSpPr>
          <p:cNvPr id="23" name="Shape 21"/>
          <p:cNvSpPr/>
          <p:nvPr/>
        </p:nvSpPr>
        <p:spPr>
          <a:xfrm>
            <a:off x="6519672" y="4069080"/>
            <a:ext cx="365760" cy="329184"/>
          </a:xfrm>
          <a:prstGeom prst="hexagon">
            <a:avLst/>
          </a:prstGeom>
          <a:solidFill>
            <a:srgbClr val="B4713D"/>
          </a:solidFill>
          <a:ln/>
        </p:spPr>
      </p:sp>
      <p:sp>
        <p:nvSpPr>
          <p:cNvPr id="24" name="Text 22"/>
          <p:cNvSpPr/>
          <p:nvPr/>
        </p:nvSpPr>
        <p:spPr>
          <a:xfrm>
            <a:off x="6519672" y="4069080"/>
            <a:ext cx="3657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5" name="Text 23"/>
          <p:cNvSpPr/>
          <p:nvPr/>
        </p:nvSpPr>
        <p:spPr>
          <a:xfrm>
            <a:off x="7031736" y="4087368"/>
            <a:ext cx="4526280" cy="219456"/>
          </a:xfrm>
          <a:prstGeom prst="rect">
            <a:avLst/>
          </a:prstGeom>
          <a:noFill/>
          <a:ln/>
        </p:spPr>
        <p:txBody>
          <a:bodyPr wrap="square" lIns="0" tIns="0" rIns="0" bIns="0" rtlCol="0" anchor="ctr"/>
          <a:lstStyle/>
          <a:p>
            <a:pPr indent="0" marL="0">
              <a:buNone/>
            </a:pPr>
            <a:r>
              <a:rPr lang="en-US" sz="850" b="1" spc="150" kern="0" dirty="0">
                <a:solidFill>
                  <a:srgbClr val="8F5527"/>
                </a:solidFill>
                <a:latin typeface="Arial" pitchFamily="34" charset="0"/>
                <a:ea typeface="Arial" pitchFamily="34" charset="-122"/>
                <a:cs typeface="Arial" pitchFamily="34" charset="-120"/>
              </a:rPr>
              <a:t>COLOCATION · ~7.5 GW IN NEGOTIATION</a:t>
            </a:r>
            <a:endParaRPr lang="en-US" sz="850" dirty="0"/>
          </a:p>
        </p:txBody>
      </p:sp>
      <p:sp>
        <p:nvSpPr>
          <p:cNvPr id="26" name="Text 24"/>
          <p:cNvSpPr/>
          <p:nvPr/>
        </p:nvSpPr>
        <p:spPr>
          <a:xfrm>
            <a:off x="7031736" y="4325112"/>
            <a:ext cx="4526280" cy="566928"/>
          </a:xfrm>
          <a:prstGeom prst="rect">
            <a:avLst/>
          </a:prstGeom>
          <a:noFill/>
          <a:ln/>
        </p:spPr>
        <p:txBody>
          <a:bodyPr wrap="square" lIns="0" tIns="0" rIns="0" bIns="0" rtlCol="0" anchor="t"/>
          <a:lstStyle/>
          <a:p>
            <a:pPr indent="0" marL="0">
              <a:lnSpc>
                <a:spcPct val="102000"/>
              </a:lnSpc>
              <a:buNone/>
            </a:pPr>
            <a:r>
              <a:rPr lang="en-US" sz="1450" b="1" dirty="0">
                <a:solidFill>
                  <a:srgbClr val="201D1A"/>
                </a:solidFill>
                <a:latin typeface="Arial" pitchFamily="34" charset="0"/>
                <a:ea typeface="Arial" pitchFamily="34" charset="-122"/>
                <a:cs typeface="Arial" pitchFamily="34" charset="-120"/>
              </a:rPr>
              <a:t>Both sides of the meter, one schedule.</a:t>
            </a:r>
            <a:endParaRPr lang="en-US" sz="1450" dirty="0"/>
          </a:p>
        </p:txBody>
      </p:sp>
      <p:sp>
        <p:nvSpPr>
          <p:cNvPr id="27" name="Text 25"/>
          <p:cNvSpPr/>
          <p:nvPr/>
        </p:nvSpPr>
        <p:spPr>
          <a:xfrm>
            <a:off x="7031736" y="4855464"/>
            <a:ext cx="4526280" cy="841248"/>
          </a:xfrm>
          <a:prstGeom prst="rect">
            <a:avLst/>
          </a:prstGeom>
          <a:noFill/>
          <a:ln/>
        </p:spPr>
        <p:txBody>
          <a:bodyPr wrap="square" lIns="0" tIns="0" rIns="0" bIns="0" rtlCol="0" anchor="t"/>
          <a:lstStyle/>
          <a:p>
            <a:pPr indent="0" marL="0">
              <a:lnSpc>
                <a:spcPct val="110000"/>
              </a:lnSpc>
              <a:buNone/>
            </a:pPr>
            <a:r>
              <a:rPr lang="en-US" sz="1000" dirty="0">
                <a:solidFill>
                  <a:srgbClr val="3D3833"/>
                </a:solidFill>
                <a:latin typeface="Arial" pitchFamily="34" charset="0"/>
                <a:ea typeface="Arial" pitchFamily="34" charset="-122"/>
                <a:cs typeface="Arial" pitchFamily="34" charset="-120"/>
              </a:rPr>
              <a:t>Modular gas power on one side, UL-listed data center assemblies on the other — existing Southwire lines, one circuit schedule, one delivery system.</a:t>
            </a:r>
            <a:endParaRPr lang="en-US" sz="1000" dirty="0"/>
          </a:p>
        </p:txBody>
      </p:sp>
      <p:sp>
        <p:nvSpPr>
          <p:cNvPr id="28" name="Text 26"/>
          <p:cNvSpPr/>
          <p:nvPr/>
        </p:nvSpPr>
        <p:spPr>
          <a:xfrm>
            <a:off x="502920" y="6053328"/>
            <a:ext cx="11183112" cy="274320"/>
          </a:xfrm>
          <a:prstGeom prst="rect">
            <a:avLst/>
          </a:prstGeom>
          <a:noFill/>
          <a:ln/>
        </p:spPr>
        <p:txBody>
          <a:bodyPr wrap="square" lIns="0" tIns="0" rIns="0" bIns="0" rtlCol="0" anchor="ctr"/>
          <a:lstStyle/>
          <a:p>
            <a:pPr algn="ctr" indent="0" marL="0">
              <a:buNone/>
            </a:pPr>
            <a:r>
              <a:rPr lang="en-US" sz="1000" b="1" dirty="0">
                <a:solidFill>
                  <a:srgbClr val="797065"/>
                </a:solidFill>
                <a:latin typeface="Arial" pitchFamily="34" charset="0"/>
                <a:ea typeface="Arial" pitchFamily="34" charset="-122"/>
                <a:cs typeface="Arial" pitchFamily="34" charset="-120"/>
              </a:rPr>
              <a:t>Delivering value across the lifecycle:  Develop → Design → Specify → Procure → Build → Commission → Operate → Maintain → Extend</a:t>
            </a:r>
            <a:endParaRPr lang="en-US" sz="1000" dirty="0"/>
          </a:p>
        </p:txBody>
      </p:sp>
      <p:sp>
        <p:nvSpPr>
          <p:cNvPr id="30" name="Text 27"/>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797065"/>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31" name="Text 28"/>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SOUTHWIRE COMPANY</a:t>
            </a:r>
            <a:endParaRPr lang="en-US" sz="1050" dirty="0"/>
          </a:p>
        </p:txBody>
      </p:sp>
      <p:sp>
        <p:nvSpPr>
          <p:cNvPr id="3" name="Text 1"/>
          <p:cNvSpPr/>
          <p:nvPr/>
        </p:nvSpPr>
        <p:spPr>
          <a:xfrm>
            <a:off x="502920" y="676656"/>
            <a:ext cx="10515600" cy="868680"/>
          </a:xfrm>
          <a:prstGeom prst="rect">
            <a:avLst/>
          </a:prstGeom>
          <a:noFill/>
          <a:ln/>
        </p:spPr>
        <p:txBody>
          <a:bodyPr wrap="square" lIns="0" tIns="0" rIns="0" bIns="0" rtlCol="0" anchor="t"/>
          <a:lstStyle/>
          <a:p>
            <a:pPr indent="0" marL="0">
              <a:lnSpc>
                <a:spcPct val="104000"/>
              </a:lnSpc>
              <a:buNone/>
            </a:pPr>
            <a:r>
              <a:rPr lang="en-US" sz="2600" b="1" dirty="0">
                <a:solidFill>
                  <a:srgbClr val="201D1A"/>
                </a:solidFill>
                <a:latin typeface="Arial" pitchFamily="34" charset="0"/>
                <a:ea typeface="Arial" pitchFamily="34" charset="-122"/>
                <a:cs typeface="Arial" pitchFamily="34" charset="-120"/>
              </a:rPr>
              <a:t>A family-held American manufacturer, founded in 1950.</a:t>
            </a:r>
            <a:endParaRPr lang="en-US" sz="2600" dirty="0"/>
          </a:p>
        </p:txBody>
      </p:sp>
      <p:sp>
        <p:nvSpPr>
          <p:cNvPr id="4" name="Text 2"/>
          <p:cNvSpPr/>
          <p:nvPr/>
        </p:nvSpPr>
        <p:spPr>
          <a:xfrm>
            <a:off x="502920" y="1554480"/>
            <a:ext cx="3657600" cy="237744"/>
          </a:xfrm>
          <a:prstGeom prst="rect">
            <a:avLst/>
          </a:prstGeom>
          <a:noFill/>
          <a:ln/>
        </p:spPr>
        <p:txBody>
          <a:bodyPr wrap="square" lIns="0" tIns="0" rIns="0" bIns="0" rtlCol="0" anchor="ctr"/>
          <a:lstStyle/>
          <a:p>
            <a:pPr indent="0" marL="0">
              <a:buNone/>
            </a:pPr>
            <a:r>
              <a:rPr lang="en-US" sz="950" b="1" spc="200" kern="0" dirty="0">
                <a:solidFill>
                  <a:srgbClr val="8F5527"/>
                </a:solidFill>
                <a:latin typeface="Arial" pitchFamily="34" charset="0"/>
                <a:ea typeface="Arial" pitchFamily="34" charset="-122"/>
                <a:cs typeface="Arial" pitchFamily="34" charset="-120"/>
              </a:rPr>
              <a:t>WHAT WE MAKE</a:t>
            </a:r>
            <a:endParaRPr lang="en-US" sz="950" dirty="0"/>
          </a:p>
        </p:txBody>
      </p:sp>
      <p:sp>
        <p:nvSpPr>
          <p:cNvPr id="5" name="Text 3"/>
          <p:cNvSpPr/>
          <p:nvPr/>
        </p:nvSpPr>
        <p:spPr>
          <a:xfrm>
            <a:off x="502920" y="1847088"/>
            <a:ext cx="5577840" cy="475488"/>
          </a:xfrm>
          <a:prstGeom prst="rect">
            <a:avLst/>
          </a:prstGeom>
          <a:noFill/>
          <a:ln/>
        </p:spPr>
        <p:txBody>
          <a:bodyPr wrap="square" lIns="0" tIns="0" rIns="0" bIns="0" rtlCol="0" anchor="t"/>
          <a:lstStyle/>
          <a:p>
            <a:pPr indent="0" marL="0">
              <a:lnSpc>
                <a:spcPct val="105000"/>
              </a:lnSpc>
              <a:buNone/>
            </a:pPr>
            <a:r>
              <a:rPr lang="en-US" sz="950" b="1" dirty="0">
                <a:solidFill>
                  <a:srgbClr val="201D1A"/>
                </a:solidFill>
                <a:latin typeface="Arial" pitchFamily="34" charset="0"/>
                <a:ea typeface="Arial" pitchFamily="34" charset="-122"/>
                <a:cs typeface="Arial" pitchFamily="34" charset="-120"/>
              </a:rPr>
              <a:t>High-voltage underground</a:t>
            </a:r>
            <a:pPr indent="0" marL="0">
              <a:lnSpc>
                <a:spcPct val="105000"/>
              </a:lnSpc>
              <a:buNone/>
            </a:pPr>
            <a:r>
              <a:rPr lang="en-US" sz="950" dirty="0">
                <a:solidFill>
                  <a:srgbClr val="3D3833"/>
                </a:solidFill>
                <a:latin typeface="Arial" pitchFamily="34" charset="0"/>
                <a:ea typeface="Arial" pitchFamily="34" charset="-122"/>
                <a:cs typeface="Arial" pitchFamily="34" charset="-120"/>
              </a:rPr>
              <a:t> — 69–500 kV cable, accessories, installation engineering and field testing.</a:t>
            </a:r>
            <a:endParaRPr lang="en-US" sz="950" dirty="0"/>
          </a:p>
        </p:txBody>
      </p:sp>
      <p:sp>
        <p:nvSpPr>
          <p:cNvPr id="6" name="Text 4"/>
          <p:cNvSpPr/>
          <p:nvPr/>
        </p:nvSpPr>
        <p:spPr>
          <a:xfrm>
            <a:off x="502920" y="2359152"/>
            <a:ext cx="5577840" cy="475488"/>
          </a:xfrm>
          <a:prstGeom prst="rect">
            <a:avLst/>
          </a:prstGeom>
          <a:noFill/>
          <a:ln/>
        </p:spPr>
        <p:txBody>
          <a:bodyPr wrap="square" lIns="0" tIns="0" rIns="0" bIns="0" rtlCol="0" anchor="t"/>
          <a:lstStyle/>
          <a:p>
            <a:pPr indent="0" marL="0">
              <a:lnSpc>
                <a:spcPct val="105000"/>
              </a:lnSpc>
              <a:buNone/>
            </a:pPr>
            <a:r>
              <a:rPr lang="en-US" sz="950" b="1" dirty="0">
                <a:solidFill>
                  <a:srgbClr val="201D1A"/>
                </a:solidFill>
                <a:latin typeface="Arial" pitchFamily="34" charset="0"/>
                <a:ea typeface="Arial" pitchFamily="34" charset="-122"/>
                <a:cs typeface="Arial" pitchFamily="34" charset="-120"/>
              </a:rPr>
              <a:t>Medium &amp; low voltage</a:t>
            </a:r>
            <a:pPr indent="0" marL="0">
              <a:lnSpc>
                <a:spcPct val="105000"/>
              </a:lnSpc>
              <a:buNone/>
            </a:pPr>
            <a:r>
              <a:rPr lang="en-US" sz="950" dirty="0">
                <a:solidFill>
                  <a:srgbClr val="3D3833"/>
                </a:solidFill>
                <a:latin typeface="Arial" pitchFamily="34" charset="0"/>
                <a:ea typeface="Arial" pitchFamily="34" charset="-122"/>
                <a:cs typeface="Arial" pitchFamily="34" charset="-120"/>
              </a:rPr>
              <a:t> — 5–35 kV EPR and XLPE; 600 V power and control; tray-rated TC-ER.</a:t>
            </a:r>
            <a:endParaRPr lang="en-US" sz="950" dirty="0"/>
          </a:p>
        </p:txBody>
      </p:sp>
      <p:sp>
        <p:nvSpPr>
          <p:cNvPr id="7" name="Text 5"/>
          <p:cNvSpPr/>
          <p:nvPr/>
        </p:nvSpPr>
        <p:spPr>
          <a:xfrm>
            <a:off x="502920" y="2871216"/>
            <a:ext cx="5577840" cy="475488"/>
          </a:xfrm>
          <a:prstGeom prst="rect">
            <a:avLst/>
          </a:prstGeom>
          <a:noFill/>
          <a:ln/>
        </p:spPr>
        <p:txBody>
          <a:bodyPr wrap="square" lIns="0" tIns="0" rIns="0" bIns="0" rtlCol="0" anchor="t"/>
          <a:lstStyle/>
          <a:p>
            <a:pPr indent="0" marL="0">
              <a:lnSpc>
                <a:spcPct val="105000"/>
              </a:lnSpc>
              <a:buNone/>
            </a:pPr>
            <a:r>
              <a:rPr lang="en-US" sz="950" b="1" dirty="0">
                <a:solidFill>
                  <a:srgbClr val="201D1A"/>
                </a:solidFill>
                <a:latin typeface="Arial" pitchFamily="34" charset="0"/>
                <a:ea typeface="Arial" pitchFamily="34" charset="-122"/>
                <a:cs typeface="Arial" pitchFamily="34" charset="-120"/>
              </a:rPr>
              <a:t>Instrumentation &amp; comms</a:t>
            </a:r>
            <a:pPr indent="0" marL="0">
              <a:lnSpc>
                <a:spcPct val="105000"/>
              </a:lnSpc>
              <a:buNone/>
            </a:pPr>
            <a:r>
              <a:rPr lang="en-US" sz="950" dirty="0">
                <a:solidFill>
                  <a:srgbClr val="3D3833"/>
                </a:solidFill>
                <a:latin typeface="Arial" pitchFamily="34" charset="0"/>
                <a:ea typeface="Arial" pitchFamily="34" charset="-122"/>
                <a:cs typeface="Arial" pitchFamily="34" charset="-120"/>
              </a:rPr>
              <a:t> — shielded pairs and triads, thermocouple, industrial Ethernet and fiber.</a:t>
            </a:r>
            <a:endParaRPr lang="en-US" sz="950" dirty="0"/>
          </a:p>
        </p:txBody>
      </p:sp>
      <p:sp>
        <p:nvSpPr>
          <p:cNvPr id="8" name="Text 6"/>
          <p:cNvSpPr/>
          <p:nvPr/>
        </p:nvSpPr>
        <p:spPr>
          <a:xfrm>
            <a:off x="502920" y="3383280"/>
            <a:ext cx="5577840" cy="475488"/>
          </a:xfrm>
          <a:prstGeom prst="rect">
            <a:avLst/>
          </a:prstGeom>
          <a:noFill/>
          <a:ln/>
        </p:spPr>
        <p:txBody>
          <a:bodyPr wrap="square" lIns="0" tIns="0" rIns="0" bIns="0" rtlCol="0" anchor="t"/>
          <a:lstStyle/>
          <a:p>
            <a:pPr indent="0" marL="0">
              <a:lnSpc>
                <a:spcPct val="105000"/>
              </a:lnSpc>
              <a:buNone/>
            </a:pPr>
            <a:r>
              <a:rPr lang="en-US" sz="950" b="1" dirty="0">
                <a:solidFill>
                  <a:srgbClr val="201D1A"/>
                </a:solidFill>
                <a:latin typeface="Arial" pitchFamily="34" charset="0"/>
                <a:ea typeface="Arial" pitchFamily="34" charset="-122"/>
                <a:cs typeface="Arial" pitchFamily="34" charset="-120"/>
              </a:rPr>
              <a:t>Classified areas &amp; circuit integrity</a:t>
            </a:r>
            <a:pPr indent="0" marL="0">
              <a:lnSpc>
                <a:spcPct val="105000"/>
              </a:lnSpc>
              <a:buNone/>
            </a:pPr>
            <a:r>
              <a:rPr lang="en-US" sz="950" dirty="0">
                <a:solidFill>
                  <a:srgbClr val="3D3833"/>
                </a:solidFill>
                <a:latin typeface="Arial" pitchFamily="34" charset="0"/>
                <a:ea typeface="Arial" pitchFamily="34" charset="-122"/>
                <a:cs typeface="Arial" pitchFamily="34" charset="-120"/>
              </a:rPr>
              <a:t> — hazardous-location methods, MC-HL, two-hour rated cable, splice kits.</a:t>
            </a:r>
            <a:endParaRPr lang="en-US" sz="950" dirty="0"/>
          </a:p>
        </p:txBody>
      </p:sp>
      <p:sp>
        <p:nvSpPr>
          <p:cNvPr id="9" name="Text 7"/>
          <p:cNvSpPr/>
          <p:nvPr/>
        </p:nvSpPr>
        <p:spPr>
          <a:xfrm>
            <a:off x="502920" y="3895344"/>
            <a:ext cx="5577840" cy="475488"/>
          </a:xfrm>
          <a:prstGeom prst="rect">
            <a:avLst/>
          </a:prstGeom>
          <a:noFill/>
          <a:ln/>
        </p:spPr>
        <p:txBody>
          <a:bodyPr wrap="square" lIns="0" tIns="0" rIns="0" bIns="0" rtlCol="0" anchor="t"/>
          <a:lstStyle/>
          <a:p>
            <a:pPr indent="0" marL="0">
              <a:lnSpc>
                <a:spcPct val="105000"/>
              </a:lnSpc>
              <a:buNone/>
            </a:pPr>
            <a:r>
              <a:rPr lang="en-US" sz="950" b="1" dirty="0">
                <a:solidFill>
                  <a:srgbClr val="201D1A"/>
                </a:solidFill>
                <a:latin typeface="Arial" pitchFamily="34" charset="0"/>
                <a:ea typeface="Arial" pitchFamily="34" charset="-122"/>
                <a:cs typeface="Arial" pitchFamily="34" charset="-120"/>
              </a:rPr>
              <a:t>Modular &amp; factory-built power</a:t>
            </a:r>
            <a:pPr indent="0" marL="0">
              <a:lnSpc>
                <a:spcPct val="105000"/>
              </a:lnSpc>
              <a:buNone/>
            </a:pPr>
            <a:r>
              <a:rPr lang="en-US" sz="950" dirty="0">
                <a:solidFill>
                  <a:srgbClr val="3D3833"/>
                </a:solidFill>
                <a:latin typeface="Arial" pitchFamily="34" charset="0"/>
                <a:ea typeface="Arial" pitchFamily="34" charset="-122"/>
                <a:cs typeface="Arial" pitchFamily="34" charset="-120"/>
              </a:rPr>
              <a:t> — fine-strand flexible, VFD and tray cable; whips and job kits per module.</a:t>
            </a:r>
            <a:endParaRPr lang="en-US" sz="950" dirty="0"/>
          </a:p>
        </p:txBody>
      </p:sp>
      <p:sp>
        <p:nvSpPr>
          <p:cNvPr id="10" name="Text 8"/>
          <p:cNvSpPr/>
          <p:nvPr/>
        </p:nvSpPr>
        <p:spPr>
          <a:xfrm>
            <a:off x="502920" y="4407408"/>
            <a:ext cx="5577840" cy="475488"/>
          </a:xfrm>
          <a:prstGeom prst="rect">
            <a:avLst/>
          </a:prstGeom>
          <a:noFill/>
          <a:ln/>
        </p:spPr>
        <p:txBody>
          <a:bodyPr wrap="square" lIns="0" tIns="0" rIns="0" bIns="0" rtlCol="0" anchor="t"/>
          <a:lstStyle/>
          <a:p>
            <a:pPr indent="0" marL="0">
              <a:lnSpc>
                <a:spcPct val="105000"/>
              </a:lnSpc>
              <a:buNone/>
            </a:pPr>
            <a:r>
              <a:rPr lang="en-US" sz="950" b="1" dirty="0">
                <a:solidFill>
                  <a:srgbClr val="201D1A"/>
                </a:solidFill>
                <a:latin typeface="Arial" pitchFamily="34" charset="0"/>
                <a:ea typeface="Arial" pitchFamily="34" charset="-122"/>
                <a:cs typeface="Arial" pitchFamily="34" charset="-120"/>
              </a:rPr>
              <a:t>Data center assemblies</a:t>
            </a:r>
            <a:pPr indent="0" marL="0">
              <a:lnSpc>
                <a:spcPct val="105000"/>
              </a:lnSpc>
              <a:buNone/>
            </a:pPr>
            <a:r>
              <a:rPr lang="en-US" sz="950" dirty="0">
                <a:solidFill>
                  <a:srgbClr val="3D3833"/>
                </a:solidFill>
                <a:latin typeface="Arial" pitchFamily="34" charset="0"/>
                <a:ea typeface="Arial" pitchFamily="34" charset="-122"/>
                <a:cs typeface="Arial" pitchFamily="34" charset="-120"/>
              </a:rPr>
              <a:t> — UL-listed, built, labeled, tested and drum-packed to your schedule.</a:t>
            </a:r>
            <a:endParaRPr lang="en-US" sz="950" dirty="0"/>
          </a:p>
        </p:txBody>
      </p:sp>
      <p:sp>
        <p:nvSpPr>
          <p:cNvPr id="11" name="Text 9"/>
          <p:cNvSpPr/>
          <p:nvPr/>
        </p:nvSpPr>
        <p:spPr>
          <a:xfrm>
            <a:off x="6446520" y="1554480"/>
            <a:ext cx="3657600" cy="237744"/>
          </a:xfrm>
          <a:prstGeom prst="rect">
            <a:avLst/>
          </a:prstGeom>
          <a:noFill/>
          <a:ln/>
        </p:spPr>
        <p:txBody>
          <a:bodyPr wrap="square" lIns="0" tIns="0" rIns="0" bIns="0" rtlCol="0" anchor="ctr"/>
          <a:lstStyle/>
          <a:p>
            <a:pPr indent="0" marL="0">
              <a:buNone/>
            </a:pPr>
            <a:r>
              <a:rPr lang="en-US" sz="950" b="1" spc="200" kern="0" dirty="0">
                <a:solidFill>
                  <a:srgbClr val="8F5527"/>
                </a:solidFill>
                <a:latin typeface="Arial" pitchFamily="34" charset="0"/>
                <a:ea typeface="Arial" pitchFamily="34" charset="-122"/>
                <a:cs typeface="Arial" pitchFamily="34" charset="-120"/>
              </a:rPr>
              <a:t>WHAT WE DO</a:t>
            </a:r>
            <a:endParaRPr lang="en-US" sz="950" dirty="0"/>
          </a:p>
        </p:txBody>
      </p:sp>
      <p:sp>
        <p:nvSpPr>
          <p:cNvPr id="12" name="Text 10"/>
          <p:cNvSpPr/>
          <p:nvPr/>
        </p:nvSpPr>
        <p:spPr>
          <a:xfrm>
            <a:off x="6446520" y="1847088"/>
            <a:ext cx="3657600" cy="3108960"/>
          </a:xfrm>
          <a:prstGeom prst="rect">
            <a:avLst/>
          </a:prstGeom>
          <a:noFill/>
          <a:ln/>
        </p:spPr>
        <p:txBody>
          <a:bodyPr wrap="square" lIns="0" tIns="0" rIns="0" bIns="0" rtlCol="0" anchor="t"/>
          <a:lstStyle/>
          <a:p>
            <a:pPr marL="152400" indent="-152400">
              <a:spcAft>
                <a:spcPts val="600"/>
              </a:spcAft>
              <a:buSzPct val="100000"/>
              <a:buChar char="•"/>
            </a:pPr>
            <a:r>
              <a:rPr lang="en-US" sz="950" dirty="0">
                <a:solidFill>
                  <a:srgbClr val="3D3833"/>
                </a:solidFill>
                <a:latin typeface="Arial" pitchFamily="34" charset="0"/>
                <a:ea typeface="Arial" pitchFamily="34" charset="-122"/>
                <a:cs typeface="Arial" pitchFamily="34" charset="-120"/>
              </a:rPr>
              <a:t>High-voltage underground transmission services</a:t>
            </a:r>
            <a:endParaRPr lang="en-US" sz="950" dirty="0"/>
          </a:p>
          <a:p>
            <a:pPr marL="152400" indent="-152400">
              <a:spcAft>
                <a:spcPts val="600"/>
              </a:spcAft>
              <a:buSzPct val="100000"/>
              <a:buChar char="•"/>
            </a:pPr>
            <a:r>
              <a:rPr lang="en-US" sz="950" dirty="0">
                <a:solidFill>
                  <a:srgbClr val="3D3833"/>
                </a:solidFill>
                <a:latin typeface="Arial" pitchFamily="34" charset="0"/>
                <a:ea typeface="Arial" pitchFamily="34" charset="-122"/>
                <a:cs typeface="Arial" pitchFamily="34" charset="-120"/>
              </a:rPr>
              <a:t>Field assessment services</a:t>
            </a:r>
            <a:endParaRPr lang="en-US" sz="950" dirty="0"/>
          </a:p>
          <a:p>
            <a:pPr marL="152400" indent="-152400">
              <a:spcAft>
                <a:spcPts val="600"/>
              </a:spcAft>
              <a:buSzPct val="100000"/>
              <a:buChar char="•"/>
            </a:pPr>
            <a:r>
              <a:rPr lang="en-US" sz="950" dirty="0">
                <a:solidFill>
                  <a:srgbClr val="3D3833"/>
                </a:solidFill>
                <a:latin typeface="Arial" pitchFamily="34" charset="0"/>
                <a:ea typeface="Arial" pitchFamily="34" charset="-122"/>
                <a:cs typeface="Arial" pitchFamily="34" charset="-120"/>
              </a:rPr>
              <a:t>Cable rejuvenation — 150M+ ft on record</a:t>
            </a:r>
            <a:endParaRPr lang="en-US" sz="950" dirty="0"/>
          </a:p>
          <a:p>
            <a:pPr marL="152400" indent="-152400">
              <a:spcAft>
                <a:spcPts val="600"/>
              </a:spcAft>
              <a:buSzPct val="100000"/>
              <a:buChar char="•"/>
            </a:pPr>
            <a:r>
              <a:rPr lang="en-US" sz="950" dirty="0">
                <a:solidFill>
                  <a:srgbClr val="3D3833"/>
                </a:solidFill>
                <a:latin typeface="Arial" pitchFamily="34" charset="0"/>
                <a:ea typeface="Arial" pitchFamily="34" charset="-122"/>
                <a:cs typeface="Arial" pitchFamily="34" charset="-120"/>
              </a:rPr>
              <a:t>SPEED services &amp; storm activation team</a:t>
            </a:r>
            <a:endParaRPr lang="en-US" sz="950" dirty="0"/>
          </a:p>
          <a:p>
            <a:pPr marL="152400" indent="-152400">
              <a:spcAft>
                <a:spcPts val="600"/>
              </a:spcAft>
              <a:buSzPct val="100000"/>
              <a:buChar char="•"/>
            </a:pPr>
            <a:r>
              <a:rPr lang="en-US" sz="950" dirty="0">
                <a:solidFill>
                  <a:srgbClr val="3D3833"/>
                </a:solidFill>
                <a:latin typeface="Arial" pitchFamily="34" charset="0"/>
                <a:ea typeface="Arial" pitchFamily="34" charset="-122"/>
                <a:cs typeface="Arial" pitchFamily="34" charset="-120"/>
              </a:rPr>
              <a:t>Contractor solutions professionals</a:t>
            </a:r>
            <a:endParaRPr lang="en-US" sz="950" dirty="0"/>
          </a:p>
          <a:p>
            <a:pPr marL="152400" indent="-152400">
              <a:spcAft>
                <a:spcPts val="600"/>
              </a:spcAft>
              <a:buSzPct val="100000"/>
              <a:buChar char="•"/>
            </a:pPr>
            <a:r>
              <a:rPr lang="en-US" sz="950" dirty="0">
                <a:solidFill>
                  <a:srgbClr val="3D3833"/>
                </a:solidFill>
                <a:latin typeface="Arial" pitchFamily="34" charset="0"/>
                <a:ea typeface="Arial" pitchFamily="34" charset="-122"/>
                <a:cs typeface="Arial" pitchFamily="34" charset="-120"/>
              </a:rPr>
              <a:t>CableTechSupport™ services</a:t>
            </a:r>
            <a:endParaRPr lang="en-US" sz="950" dirty="0"/>
          </a:p>
          <a:p>
            <a:pPr marL="152400" indent="-152400">
              <a:spcAft>
                <a:spcPts val="600"/>
              </a:spcAft>
              <a:buSzPct val="100000"/>
              <a:buChar char="•"/>
            </a:pPr>
            <a:r>
              <a:rPr lang="en-US" sz="950" dirty="0">
                <a:solidFill>
                  <a:srgbClr val="3D3833"/>
                </a:solidFill>
                <a:latin typeface="Arial" pitchFamily="34" charset="0"/>
                <a:ea typeface="Arial" pitchFamily="34" charset="-122"/>
                <a:cs typeface="Arial" pitchFamily="34" charset="-120"/>
              </a:rPr>
              <a:t>Reel tracking system</a:t>
            </a:r>
            <a:endParaRPr lang="en-US" sz="950" dirty="0"/>
          </a:p>
          <a:p>
            <a:pPr marL="152400" indent="-152400">
              <a:spcAft>
                <a:spcPts val="600"/>
              </a:spcAft>
              <a:buSzPct val="100000"/>
              <a:buChar char="•"/>
            </a:pPr>
            <a:r>
              <a:rPr lang="en-US" sz="950" dirty="0">
                <a:solidFill>
                  <a:srgbClr val="3D3833"/>
                </a:solidFill>
                <a:latin typeface="Arial" pitchFamily="34" charset="0"/>
                <a:ea typeface="Arial" pitchFamily="34" charset="-122"/>
                <a:cs typeface="Arial" pitchFamily="34" charset="-120"/>
              </a:rPr>
              <a:t>Solutions University &amp; project services</a:t>
            </a:r>
            <a:endParaRPr lang="en-US" sz="950" dirty="0"/>
          </a:p>
        </p:txBody>
      </p:sp>
      <p:pic>
        <p:nvPicPr>
          <p:cNvPr id="13" name="Image 0" descr="/tmp/claude-0/-home-user-ln/3a853198-1696-51f8-a2af-2c6b2d875703/scratchpad/assets/teaser-026.png">    </p:cNvPr>
          <p:cNvPicPr>
            <a:picLocks noChangeAspect="1"/>
          </p:cNvPicPr>
          <p:nvPr/>
        </p:nvPicPr>
        <p:blipFill>
          <a:blip r:embed="rId1"/>
          <a:stretch>
            <a:fillRect/>
          </a:stretch>
        </p:blipFill>
        <p:spPr>
          <a:xfrm>
            <a:off x="9189720" y="4160520"/>
            <a:ext cx="2606040" cy="2322576"/>
          </a:xfrm>
          <a:prstGeom prst="rect">
            <a:avLst/>
          </a:prstGeom>
        </p:spPr>
      </p:pic>
      <p:sp>
        <p:nvSpPr>
          <p:cNvPr id="14" name="Text 11"/>
          <p:cNvSpPr/>
          <p:nvPr/>
        </p:nvSpPr>
        <p:spPr>
          <a:xfrm>
            <a:off x="502920" y="5349240"/>
            <a:ext cx="8138160" cy="502920"/>
          </a:xfrm>
          <a:prstGeom prst="rect">
            <a:avLst/>
          </a:prstGeom>
          <a:noFill/>
          <a:ln/>
        </p:spPr>
        <p:txBody>
          <a:bodyPr wrap="square" lIns="0" tIns="0" rIns="0" bIns="0" rtlCol="0" anchor="t"/>
          <a:lstStyle/>
          <a:p>
            <a:pPr indent="0" marL="0">
              <a:buNone/>
            </a:pPr>
            <a:r>
              <a:rPr lang="en-US" sz="1200" b="1" i="1" dirty="0">
                <a:solidFill>
                  <a:srgbClr val="8F5527"/>
                </a:solidFill>
                <a:latin typeface="Arial" pitchFamily="34" charset="0"/>
                <a:ea typeface="Arial" pitchFamily="34" charset="-122"/>
                <a:cs typeface="Arial" pitchFamily="34" charset="-120"/>
              </a:rPr>
              <a:t>Domestic manufacturing and auditable documentation that survives lender diligence.</a:t>
            </a:r>
            <a:endParaRPr lang="en-US" sz="1200" dirty="0"/>
          </a:p>
        </p:txBody>
      </p:sp>
      <p:sp>
        <p:nvSpPr>
          <p:cNvPr id="16" name="Text 12"/>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797065"/>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17" name="Text 13"/>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91B1E"/>
        </a:solidFill>
      </p:bgPr>
    </p:bg>
    <p:spTree>
      <p:nvGrpSpPr>
        <p:cNvPr id="1" name=""/>
        <p:cNvGrpSpPr/>
        <p:nvPr/>
      </p:nvGrpSpPr>
      <p:grpSpPr>
        <a:xfrm>
          <a:off x="0" y="0"/>
          <a:ext cx="0" cy="0"/>
          <a:chOff x="0" y="0"/>
          <a:chExt cx="0" cy="0"/>
        </a:xfrm>
      </p:grpSpPr>
      <p:pic>
        <p:nvPicPr>
          <p:cNvPr id="2" name="Image 0" descr="/tmp/claude-0/-home-user-ln/3a853198-1696-51f8-a2af-2c6b2d875703/scratchpad/assets/teaser-027.png">    </p:cNvPr>
          <p:cNvPicPr>
            <a:picLocks noChangeAspect="1"/>
          </p:cNvPicPr>
          <p:nvPr/>
        </p:nvPicPr>
        <p:blipFill>
          <a:blip r:embed="rId1"/>
          <a:stretch>
            <a:fillRect/>
          </a:stretch>
        </p:blipFill>
        <p:spPr>
          <a:xfrm>
            <a:off x="10335463" y="0"/>
            <a:ext cx="1856232" cy="6858000"/>
          </a:xfrm>
          <a:prstGeom prst="rect">
            <a:avLst/>
          </a:prstGeom>
        </p:spPr>
      </p:pic>
      <p:sp>
        <p:nvSpPr>
          <p:cNvPr id="3" name="Text 0"/>
          <p:cNvSpPr/>
          <p:nvPr/>
        </p:nvSpPr>
        <p:spPr>
          <a:xfrm>
            <a:off x="502920" y="548640"/>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DISCOVERY</a:t>
            </a:r>
            <a:endParaRPr lang="en-US" sz="1050" dirty="0"/>
          </a:p>
        </p:txBody>
      </p:sp>
      <p:sp>
        <p:nvSpPr>
          <p:cNvPr id="4" name="Text 1"/>
          <p:cNvSpPr/>
          <p:nvPr/>
        </p:nvSpPr>
        <p:spPr>
          <a:xfrm>
            <a:off x="502920" y="868680"/>
            <a:ext cx="8686800" cy="777240"/>
          </a:xfrm>
          <a:prstGeom prst="rect">
            <a:avLst/>
          </a:prstGeom>
          <a:noFill/>
          <a:ln/>
        </p:spPr>
        <p:txBody>
          <a:bodyPr wrap="square" lIns="0" tIns="0" rIns="0" bIns="0" rtlCol="0" anchor="ctr"/>
          <a:lstStyle/>
          <a:p>
            <a:pPr indent="0" marL="0">
              <a:buNone/>
            </a:pPr>
            <a:r>
              <a:rPr lang="en-US" sz="3000" b="1" dirty="0">
                <a:solidFill>
                  <a:srgbClr val="F4F2EF"/>
                </a:solidFill>
                <a:latin typeface="Arial" pitchFamily="34" charset="0"/>
                <a:ea typeface="Arial" pitchFamily="34" charset="-122"/>
                <a:cs typeface="Arial" pitchFamily="34" charset="-120"/>
              </a:rPr>
              <a:t>We would rather ask than tell.</a:t>
            </a:r>
            <a:endParaRPr lang="en-US" sz="3000" dirty="0"/>
          </a:p>
        </p:txBody>
      </p:sp>
      <p:sp>
        <p:nvSpPr>
          <p:cNvPr id="5" name="Text 2"/>
          <p:cNvSpPr/>
          <p:nvPr/>
        </p:nvSpPr>
        <p:spPr>
          <a:xfrm>
            <a:off x="502920" y="1965960"/>
            <a:ext cx="502920" cy="365760"/>
          </a:xfrm>
          <a:prstGeom prst="rect">
            <a:avLst/>
          </a:prstGeom>
          <a:noFill/>
          <a:ln/>
        </p:spPr>
        <p:txBody>
          <a:bodyPr wrap="square" lIns="0" tIns="0" rIns="0" bIns="0" rtlCol="0" anchor="t"/>
          <a:lstStyle/>
          <a:p>
            <a:pPr indent="0" marL="0">
              <a:buNone/>
            </a:pPr>
            <a:r>
              <a:rPr lang="en-US" sz="1400" b="1" dirty="0">
                <a:solidFill>
                  <a:srgbClr val="B4713D"/>
                </a:solidFill>
                <a:latin typeface="Arial" pitchFamily="34" charset="0"/>
                <a:ea typeface="Arial" pitchFamily="34" charset="-122"/>
                <a:cs typeface="Arial" pitchFamily="34" charset="-120"/>
              </a:rPr>
              <a:t>01</a:t>
            </a:r>
            <a:endParaRPr lang="en-US" sz="1400" dirty="0"/>
          </a:p>
        </p:txBody>
      </p:sp>
      <p:sp>
        <p:nvSpPr>
          <p:cNvPr id="6" name="Text 3"/>
          <p:cNvSpPr/>
          <p:nvPr/>
        </p:nvSpPr>
        <p:spPr>
          <a:xfrm>
            <a:off x="1143000" y="1965960"/>
            <a:ext cx="8595360" cy="566928"/>
          </a:xfrm>
          <a:prstGeom prst="rect">
            <a:avLst/>
          </a:prstGeom>
          <a:noFill/>
          <a:ln/>
        </p:spPr>
        <p:txBody>
          <a:bodyPr wrap="square" lIns="0" tIns="0" rIns="0" bIns="0" rtlCol="0" anchor="t"/>
          <a:lstStyle/>
          <a:p>
            <a:pPr indent="0" marL="0">
              <a:lnSpc>
                <a:spcPct val="110000"/>
              </a:lnSpc>
              <a:buNone/>
            </a:pPr>
            <a:r>
              <a:rPr lang="en-US" sz="1250" dirty="0">
                <a:solidFill>
                  <a:srgbClr val="F4F2EF"/>
                </a:solidFill>
                <a:latin typeface="Arial" pitchFamily="34" charset="0"/>
                <a:ea typeface="Arial" pitchFamily="34" charset="-122"/>
                <a:cs typeface="Arial" pitchFamily="34" charset="-120"/>
              </a:rPr>
              <a:t>Which electrical activity slipped first on your last build — and what was it waiting on?</a:t>
            </a:r>
            <a:endParaRPr lang="en-US" sz="1250" dirty="0"/>
          </a:p>
        </p:txBody>
      </p:sp>
      <p:sp>
        <p:nvSpPr>
          <p:cNvPr id="7" name="Shape 4"/>
          <p:cNvSpPr/>
          <p:nvPr/>
        </p:nvSpPr>
        <p:spPr>
          <a:xfrm>
            <a:off x="1143000" y="2624328"/>
            <a:ext cx="8595360" cy="0"/>
          </a:xfrm>
          <a:prstGeom prst="line">
            <a:avLst/>
          </a:prstGeom>
          <a:noFill/>
          <a:ln w="9525">
            <a:solidFill>
              <a:srgbClr val="3A3D40"/>
            </a:solidFill>
            <a:prstDash val="solid"/>
          </a:ln>
        </p:spPr>
      </p:sp>
      <p:sp>
        <p:nvSpPr>
          <p:cNvPr id="8" name="Text 5"/>
          <p:cNvSpPr/>
          <p:nvPr/>
        </p:nvSpPr>
        <p:spPr>
          <a:xfrm>
            <a:off x="502920" y="2825496"/>
            <a:ext cx="502920" cy="365760"/>
          </a:xfrm>
          <a:prstGeom prst="rect">
            <a:avLst/>
          </a:prstGeom>
          <a:noFill/>
          <a:ln/>
        </p:spPr>
        <p:txBody>
          <a:bodyPr wrap="square" lIns="0" tIns="0" rIns="0" bIns="0" rtlCol="0" anchor="t"/>
          <a:lstStyle/>
          <a:p>
            <a:pPr indent="0" marL="0">
              <a:buNone/>
            </a:pPr>
            <a:r>
              <a:rPr lang="en-US" sz="1400" b="1" dirty="0">
                <a:solidFill>
                  <a:srgbClr val="B4713D"/>
                </a:solidFill>
                <a:latin typeface="Arial" pitchFamily="34" charset="0"/>
                <a:ea typeface="Arial" pitchFamily="34" charset="-122"/>
                <a:cs typeface="Arial" pitchFamily="34" charset="-120"/>
              </a:rPr>
              <a:t>02</a:t>
            </a:r>
            <a:endParaRPr lang="en-US" sz="1400" dirty="0"/>
          </a:p>
        </p:txBody>
      </p:sp>
      <p:sp>
        <p:nvSpPr>
          <p:cNvPr id="9" name="Text 6"/>
          <p:cNvSpPr/>
          <p:nvPr/>
        </p:nvSpPr>
        <p:spPr>
          <a:xfrm>
            <a:off x="1143000" y="2825496"/>
            <a:ext cx="8595360" cy="566928"/>
          </a:xfrm>
          <a:prstGeom prst="rect">
            <a:avLst/>
          </a:prstGeom>
          <a:noFill/>
          <a:ln/>
        </p:spPr>
        <p:txBody>
          <a:bodyPr wrap="square" lIns="0" tIns="0" rIns="0" bIns="0" rtlCol="0" anchor="t"/>
          <a:lstStyle/>
          <a:p>
            <a:pPr indent="0" marL="0">
              <a:lnSpc>
                <a:spcPct val="110000"/>
              </a:lnSpc>
              <a:buNone/>
            </a:pPr>
            <a:r>
              <a:rPr lang="en-US" sz="1250" dirty="0">
                <a:solidFill>
                  <a:srgbClr val="F4F2EF"/>
                </a:solidFill>
                <a:latin typeface="Arial" pitchFamily="34" charset="0"/>
                <a:ea typeface="Arial" pitchFamily="34" charset="-122"/>
                <a:cs typeface="Arial" pitchFamily="34" charset="-120"/>
              </a:rPr>
              <a:t>What does a week of delayed COD cost, and who owns that number?</a:t>
            </a:r>
            <a:endParaRPr lang="en-US" sz="1250" dirty="0"/>
          </a:p>
        </p:txBody>
      </p:sp>
      <p:sp>
        <p:nvSpPr>
          <p:cNvPr id="10" name="Shape 7"/>
          <p:cNvSpPr/>
          <p:nvPr/>
        </p:nvSpPr>
        <p:spPr>
          <a:xfrm>
            <a:off x="1143000" y="3483864"/>
            <a:ext cx="8595360" cy="0"/>
          </a:xfrm>
          <a:prstGeom prst="line">
            <a:avLst/>
          </a:prstGeom>
          <a:noFill/>
          <a:ln w="9525">
            <a:solidFill>
              <a:srgbClr val="3A3D40"/>
            </a:solidFill>
            <a:prstDash val="solid"/>
          </a:ln>
        </p:spPr>
      </p:sp>
      <p:sp>
        <p:nvSpPr>
          <p:cNvPr id="11" name="Text 8"/>
          <p:cNvSpPr/>
          <p:nvPr/>
        </p:nvSpPr>
        <p:spPr>
          <a:xfrm>
            <a:off x="502920" y="3685032"/>
            <a:ext cx="502920" cy="365760"/>
          </a:xfrm>
          <a:prstGeom prst="rect">
            <a:avLst/>
          </a:prstGeom>
          <a:noFill/>
          <a:ln/>
        </p:spPr>
        <p:txBody>
          <a:bodyPr wrap="square" lIns="0" tIns="0" rIns="0" bIns="0" rtlCol="0" anchor="t"/>
          <a:lstStyle/>
          <a:p>
            <a:pPr indent="0" marL="0">
              <a:buNone/>
            </a:pPr>
            <a:r>
              <a:rPr lang="en-US" sz="1400" b="1" dirty="0">
                <a:solidFill>
                  <a:srgbClr val="B4713D"/>
                </a:solidFill>
                <a:latin typeface="Arial" pitchFamily="34" charset="0"/>
                <a:ea typeface="Arial" pitchFamily="34" charset="-122"/>
                <a:cs typeface="Arial" pitchFamily="34" charset="-120"/>
              </a:rPr>
              <a:t>03</a:t>
            </a:r>
            <a:endParaRPr lang="en-US" sz="1400" dirty="0"/>
          </a:p>
        </p:txBody>
      </p:sp>
      <p:sp>
        <p:nvSpPr>
          <p:cNvPr id="12" name="Text 9"/>
          <p:cNvSpPr/>
          <p:nvPr/>
        </p:nvSpPr>
        <p:spPr>
          <a:xfrm>
            <a:off x="1143000" y="3685032"/>
            <a:ext cx="8595360" cy="566928"/>
          </a:xfrm>
          <a:prstGeom prst="rect">
            <a:avLst/>
          </a:prstGeom>
          <a:noFill/>
          <a:ln/>
        </p:spPr>
        <p:txBody>
          <a:bodyPr wrap="square" lIns="0" tIns="0" rIns="0" bIns="0" rtlCol="0" anchor="t"/>
          <a:lstStyle/>
          <a:p>
            <a:pPr indent="0" marL="0">
              <a:lnSpc>
                <a:spcPct val="110000"/>
              </a:lnSpc>
              <a:buNone/>
            </a:pPr>
            <a:r>
              <a:rPr lang="en-US" sz="1250" dirty="0">
                <a:solidFill>
                  <a:srgbClr val="F4F2EF"/>
                </a:solidFill>
                <a:latin typeface="Arial" pitchFamily="34" charset="0"/>
                <a:ea typeface="Arial" pitchFamily="34" charset="-122"/>
                <a:cs typeface="Arial" pitchFamily="34" charset="-120"/>
              </a:rPr>
              <a:t>Across the four JV newbuilds — is the cable spec per-project, per-EPC, or a fleet standard?</a:t>
            </a:r>
            <a:endParaRPr lang="en-US" sz="1250" dirty="0"/>
          </a:p>
        </p:txBody>
      </p:sp>
      <p:sp>
        <p:nvSpPr>
          <p:cNvPr id="13" name="Shape 10"/>
          <p:cNvSpPr/>
          <p:nvPr/>
        </p:nvSpPr>
        <p:spPr>
          <a:xfrm>
            <a:off x="1143000" y="4343400"/>
            <a:ext cx="8595360" cy="0"/>
          </a:xfrm>
          <a:prstGeom prst="line">
            <a:avLst/>
          </a:prstGeom>
          <a:noFill/>
          <a:ln w="9525">
            <a:solidFill>
              <a:srgbClr val="3A3D40"/>
            </a:solidFill>
            <a:prstDash val="solid"/>
          </a:ln>
        </p:spPr>
      </p:sp>
      <p:sp>
        <p:nvSpPr>
          <p:cNvPr id="14" name="Text 11"/>
          <p:cNvSpPr/>
          <p:nvPr/>
        </p:nvSpPr>
        <p:spPr>
          <a:xfrm>
            <a:off x="502920" y="4544568"/>
            <a:ext cx="502920" cy="365760"/>
          </a:xfrm>
          <a:prstGeom prst="rect">
            <a:avLst/>
          </a:prstGeom>
          <a:noFill/>
          <a:ln/>
        </p:spPr>
        <p:txBody>
          <a:bodyPr wrap="square" lIns="0" tIns="0" rIns="0" bIns="0" rtlCol="0" anchor="t"/>
          <a:lstStyle/>
          <a:p>
            <a:pPr indent="0" marL="0">
              <a:buNone/>
            </a:pPr>
            <a:r>
              <a:rPr lang="en-US" sz="1400" b="1" dirty="0">
                <a:solidFill>
                  <a:srgbClr val="B4713D"/>
                </a:solidFill>
                <a:latin typeface="Arial" pitchFamily="34" charset="0"/>
                <a:ea typeface="Arial" pitchFamily="34" charset="-122"/>
                <a:cs typeface="Arial" pitchFamily="34" charset="-120"/>
              </a:rPr>
              <a:t>04</a:t>
            </a:r>
            <a:endParaRPr lang="en-US" sz="1400" dirty="0"/>
          </a:p>
        </p:txBody>
      </p:sp>
      <p:sp>
        <p:nvSpPr>
          <p:cNvPr id="15" name="Text 12"/>
          <p:cNvSpPr/>
          <p:nvPr/>
        </p:nvSpPr>
        <p:spPr>
          <a:xfrm>
            <a:off x="1143000" y="4544568"/>
            <a:ext cx="8595360" cy="566928"/>
          </a:xfrm>
          <a:prstGeom prst="rect">
            <a:avLst/>
          </a:prstGeom>
          <a:noFill/>
          <a:ln/>
        </p:spPr>
        <p:txBody>
          <a:bodyPr wrap="square" lIns="0" tIns="0" rIns="0" bIns="0" rtlCol="0" anchor="t"/>
          <a:lstStyle/>
          <a:p>
            <a:pPr indent="0" marL="0">
              <a:lnSpc>
                <a:spcPct val="110000"/>
              </a:lnSpc>
              <a:buNone/>
            </a:pPr>
            <a:r>
              <a:rPr lang="en-US" sz="1250" dirty="0">
                <a:solidFill>
                  <a:srgbClr val="F4F2EF"/>
                </a:solidFill>
                <a:latin typeface="Arial" pitchFamily="34" charset="0"/>
                <a:ea typeface="Arial" pitchFamily="34" charset="-122"/>
                <a:cs typeface="Arial" pitchFamily="34" charset="-120"/>
              </a:rPr>
              <a:t>Which of the eighteen acquired plants has an uprate study underway — and who runs the take-offs?</a:t>
            </a:r>
            <a:endParaRPr lang="en-US" sz="1250" dirty="0"/>
          </a:p>
        </p:txBody>
      </p:sp>
      <p:sp>
        <p:nvSpPr>
          <p:cNvPr id="16" name="Text 13"/>
          <p:cNvSpPr/>
          <p:nvPr/>
        </p:nvSpPr>
        <p:spPr>
          <a:xfrm>
            <a:off x="502920" y="5486400"/>
            <a:ext cx="9235440" cy="320040"/>
          </a:xfrm>
          <a:prstGeom prst="rect">
            <a:avLst/>
          </a:prstGeom>
          <a:noFill/>
          <a:ln/>
        </p:spPr>
        <p:txBody>
          <a:bodyPr wrap="square" lIns="0" tIns="0" rIns="0" bIns="0" rtlCol="0" anchor="ctr"/>
          <a:lstStyle/>
          <a:p>
            <a:pPr indent="0" marL="0">
              <a:buNone/>
            </a:pPr>
            <a:r>
              <a:rPr lang="en-US" sz="1050" b="1" dirty="0">
                <a:solidFill>
                  <a:srgbClr val="F4F2EF"/>
                </a:solidFill>
                <a:latin typeface="Arial" pitchFamily="34" charset="0"/>
                <a:ea typeface="Arial" pitchFamily="34" charset="-122"/>
                <a:cs typeface="Arial" pitchFamily="34" charset="-120"/>
              </a:rPr>
              <a:t>Right room: </a:t>
            </a:r>
            <a:pPr indent="0" marL="0">
              <a:buNone/>
            </a:pPr>
            <a:r>
              <a:rPr lang="en-US" sz="1050" dirty="0">
                <a:solidFill>
                  <a:srgbClr val="9AA0A6"/>
                </a:solidFill>
                <a:latin typeface="Arial" pitchFamily="34" charset="0"/>
                <a:ea typeface="Arial" pitchFamily="34" charset="-122"/>
                <a:cs typeface="Arial" pitchFamily="34" charset="-120"/>
              </a:rPr>
              <a:t>construction management, the field electrical superintendent, your EPC’s electrical lead, procurement.</a:t>
            </a:r>
            <a:endParaRPr lang="en-US" sz="1050" dirty="0"/>
          </a:p>
        </p:txBody>
      </p:sp>
      <p:sp>
        <p:nvSpPr>
          <p:cNvPr id="17" name="Text 14"/>
          <p:cNvSpPr/>
          <p:nvPr/>
        </p:nvSpPr>
        <p:spPr>
          <a:xfrm>
            <a:off x="502920" y="5852160"/>
            <a:ext cx="9235440" cy="274320"/>
          </a:xfrm>
          <a:prstGeom prst="rect">
            <a:avLst/>
          </a:prstGeom>
          <a:noFill/>
          <a:ln/>
        </p:spPr>
        <p:txBody>
          <a:bodyPr wrap="square" lIns="0" tIns="0" rIns="0" bIns="0" rtlCol="0" anchor="ctr"/>
          <a:lstStyle/>
          <a:p>
            <a:pPr indent="0" marL="0">
              <a:buNone/>
            </a:pPr>
            <a:r>
              <a:rPr lang="en-US" sz="1050" i="1" dirty="0">
                <a:solidFill>
                  <a:srgbClr val="9AA0A6"/>
                </a:solidFill>
                <a:latin typeface="Arial" pitchFamily="34" charset="0"/>
                <a:ea typeface="Arial" pitchFamily="34" charset="-122"/>
                <a:cs typeface="Arial" pitchFamily="34" charset="-120"/>
              </a:rPr>
              <a:t>If cable is not where your schedule is lost, that is a useful answer and we will say so.</a:t>
            </a:r>
            <a:endParaRPr lang="en-US" sz="1050" dirty="0"/>
          </a:p>
        </p:txBody>
      </p:sp>
      <p:sp>
        <p:nvSpPr>
          <p:cNvPr id="19" name="Text 15"/>
          <p:cNvSpPr/>
          <p:nvPr/>
        </p:nvSpPr>
        <p:spPr>
          <a:xfrm>
            <a:off x="502920" y="6510528"/>
            <a:ext cx="7772400" cy="228600"/>
          </a:xfrm>
          <a:prstGeom prst="rect">
            <a:avLst/>
          </a:prstGeom>
          <a:noFill/>
          <a:ln/>
        </p:spPr>
        <p:txBody>
          <a:bodyPr wrap="square" lIns="0" tIns="0" rIns="0" bIns="0" rtlCol="0" anchor="ctr"/>
          <a:lstStyle/>
          <a:p>
            <a:pPr indent="0" marL="0">
              <a:buNone/>
            </a:pPr>
            <a:r>
              <a:rPr lang="en-US" sz="750" spc="120" kern="0" dirty="0">
                <a:solidFill>
                  <a:srgbClr val="9AA0A6"/>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20" name="Text 16"/>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91B1E"/>
        </a:solidFill>
      </p:bgPr>
    </p:bg>
    <p:spTree>
      <p:nvGrpSpPr>
        <p:cNvPr id="1" name=""/>
        <p:cNvGrpSpPr/>
        <p:nvPr/>
      </p:nvGrpSpPr>
      <p:grpSpPr>
        <a:xfrm>
          <a:off x="0" y="0"/>
          <a:ext cx="0" cy="0"/>
          <a:chOff x="0" y="0"/>
          <a:chExt cx="0" cy="0"/>
        </a:xfrm>
      </p:grpSpPr>
      <p:pic>
        <p:nvPicPr>
          <p:cNvPr id="2" name="Image 0" descr="/tmp/claude-0/-home-user-ln/3a853198-1696-51f8-a2af-2c6b2d875703/scratchpad/assets/teaser-028.png">    </p:cNvPr>
          <p:cNvPicPr>
            <a:picLocks noChangeAspect="1"/>
          </p:cNvPicPr>
          <p:nvPr/>
        </p:nvPicPr>
        <p:blipFill>
          <a:blip r:embed="rId1"/>
          <a:stretch>
            <a:fillRect/>
          </a:stretch>
        </p:blipFill>
        <p:spPr>
          <a:xfrm>
            <a:off x="0" y="0"/>
            <a:ext cx="1856232" cy="6858000"/>
          </a:xfrm>
          <a:prstGeom prst="rect">
            <a:avLst/>
          </a:prstGeom>
        </p:spPr>
      </p:pic>
      <p:sp>
        <p:nvSpPr>
          <p:cNvPr id="3" name="Text 0"/>
          <p:cNvSpPr/>
          <p:nvPr/>
        </p:nvSpPr>
        <p:spPr>
          <a:xfrm>
            <a:off x="2514600" y="777240"/>
            <a:ext cx="8686800" cy="274320"/>
          </a:xfrm>
          <a:prstGeom prst="rect">
            <a:avLst/>
          </a:prstGeom>
          <a:noFill/>
          <a:ln/>
        </p:spPr>
        <p:txBody>
          <a:bodyPr wrap="square" lIns="0" tIns="0" rIns="0" bIns="0" rtlCol="0" anchor="ctr"/>
          <a:lstStyle/>
          <a:p>
            <a:pPr indent="0" marL="0">
              <a:buNone/>
            </a:pPr>
            <a:r>
              <a:rPr lang="en-US" sz="1050" b="1" spc="240" kern="0" dirty="0">
                <a:solidFill>
                  <a:srgbClr val="B4713D"/>
                </a:solidFill>
                <a:latin typeface="Arial" pitchFamily="34" charset="0"/>
                <a:ea typeface="Arial" pitchFamily="34" charset="-122"/>
                <a:cs typeface="Arial" pitchFamily="34" charset="-120"/>
              </a:rPr>
              <a:t>THE ASK</a:t>
            </a:r>
            <a:endParaRPr lang="en-US" sz="1050" dirty="0"/>
          </a:p>
        </p:txBody>
      </p:sp>
      <p:sp>
        <p:nvSpPr>
          <p:cNvPr id="4" name="Text 1"/>
          <p:cNvSpPr/>
          <p:nvPr/>
        </p:nvSpPr>
        <p:spPr>
          <a:xfrm>
            <a:off x="2514600" y="1143000"/>
            <a:ext cx="8686800" cy="1554480"/>
          </a:xfrm>
          <a:prstGeom prst="rect">
            <a:avLst/>
          </a:prstGeom>
          <a:noFill/>
          <a:ln/>
        </p:spPr>
        <p:txBody>
          <a:bodyPr wrap="square" lIns="0" tIns="0" rIns="0" bIns="0" rtlCol="0" anchor="ctr"/>
          <a:lstStyle/>
          <a:p>
            <a:pPr indent="0" marL="0">
              <a:lnSpc>
                <a:spcPct val="102000"/>
              </a:lnSpc>
              <a:buNone/>
            </a:pPr>
            <a:r>
              <a:rPr lang="en-US" sz="4000" b="1" dirty="0">
                <a:solidFill>
                  <a:srgbClr val="F4F2EF"/>
                </a:solidFill>
                <a:latin typeface="Arial" pitchFamily="34" charset="0"/>
                <a:ea typeface="Arial" pitchFamily="34" charset="-122"/>
                <a:cs typeface="Arial" pitchFamily="34" charset="-120"/>
              </a:rPr>
              <a:t>One hour.</a:t>
            </a:r>
            <a:endParaRPr lang="en-US" sz="4000" dirty="0"/>
          </a:p>
          <a:p>
            <a:pPr indent="0" marL="0">
              <a:lnSpc>
                <a:spcPct val="102000"/>
              </a:lnSpc>
              <a:buNone/>
            </a:pPr>
            <a:r>
              <a:rPr lang="en-US" sz="4000" b="1" dirty="0">
                <a:solidFill>
                  <a:srgbClr val="F4F2EF"/>
                </a:solidFill>
                <a:latin typeface="Arial" pitchFamily="34" charset="0"/>
                <a:ea typeface="Arial" pitchFamily="34" charset="-122"/>
                <a:cs typeface="Arial" pitchFamily="34" charset="-120"/>
              </a:rPr>
              <a:t>One site walk.</a:t>
            </a:r>
            <a:endParaRPr lang="en-US" sz="4000" dirty="0"/>
          </a:p>
        </p:txBody>
      </p:sp>
      <p:sp>
        <p:nvSpPr>
          <p:cNvPr id="5" name="Text 2"/>
          <p:cNvSpPr/>
          <p:nvPr/>
        </p:nvSpPr>
        <p:spPr>
          <a:xfrm>
            <a:off x="2514600" y="2926080"/>
            <a:ext cx="8778240" cy="320040"/>
          </a:xfrm>
          <a:prstGeom prst="rect">
            <a:avLst/>
          </a:prstGeom>
          <a:noFill/>
          <a:ln/>
        </p:spPr>
        <p:txBody>
          <a:bodyPr wrap="square" lIns="0" tIns="0" rIns="0" bIns="0" rtlCol="0" anchor="ctr"/>
          <a:lstStyle/>
          <a:p>
            <a:pPr indent="0" marL="0">
              <a:buNone/>
            </a:pPr>
            <a:r>
              <a:rPr lang="en-US" sz="1300" dirty="0">
                <a:solidFill>
                  <a:srgbClr val="F4F2EF"/>
                </a:solidFill>
                <a:latin typeface="Arial" pitchFamily="34" charset="0"/>
                <a:ea typeface="Arial" pitchFamily="34" charset="-122"/>
                <a:cs typeface="Arial" pitchFamily="34" charset="-120"/>
              </a:rPr>
              <a:t>An active build, or an acquired plant with an uprate study. No pricing. No pitch.</a:t>
            </a:r>
            <a:endParaRPr lang="en-US" sz="1300" dirty="0"/>
          </a:p>
        </p:txBody>
      </p:sp>
      <p:sp>
        <p:nvSpPr>
          <p:cNvPr id="6" name="Text 3"/>
          <p:cNvSpPr/>
          <p:nvPr/>
        </p:nvSpPr>
        <p:spPr>
          <a:xfrm>
            <a:off x="2514600" y="3383280"/>
            <a:ext cx="8778240" cy="548640"/>
          </a:xfrm>
          <a:prstGeom prst="rect">
            <a:avLst/>
          </a:prstGeom>
          <a:noFill/>
          <a:ln/>
        </p:spPr>
        <p:txBody>
          <a:bodyPr wrap="square" lIns="0" tIns="0" rIns="0" bIns="0" rtlCol="0" anchor="ctr"/>
          <a:lstStyle/>
          <a:p>
            <a:pPr indent="0" marL="0">
              <a:lnSpc>
                <a:spcPct val="115000"/>
              </a:lnSpc>
              <a:buNone/>
            </a:pPr>
            <a:r>
              <a:rPr lang="en-US" sz="1300" dirty="0">
                <a:solidFill>
                  <a:srgbClr val="F4F2EF"/>
                </a:solidFill>
                <a:latin typeface="Arial" pitchFamily="34" charset="0"/>
                <a:ea typeface="Arial" pitchFamily="34" charset="-122"/>
                <a:cs typeface="Arial" pitchFamily="34" charset="-120"/>
              </a:rPr>
              <a:t>You get a written read-back of where schedule and field labor are being lost on your electrical scope — including where we cannot help.</a:t>
            </a:r>
            <a:endParaRPr lang="en-US" sz="1300" dirty="0"/>
          </a:p>
        </p:txBody>
      </p:sp>
      <p:sp>
        <p:nvSpPr>
          <p:cNvPr id="7" name="Text 4"/>
          <p:cNvSpPr/>
          <p:nvPr/>
        </p:nvSpPr>
        <p:spPr>
          <a:xfrm>
            <a:off x="2514600" y="4069080"/>
            <a:ext cx="8778240" cy="274320"/>
          </a:xfrm>
          <a:prstGeom prst="rect">
            <a:avLst/>
          </a:prstGeom>
          <a:noFill/>
          <a:ln/>
        </p:spPr>
        <p:txBody>
          <a:bodyPr wrap="square" lIns="0" tIns="0" rIns="0" bIns="0" rtlCol="0" anchor="ctr"/>
          <a:lstStyle/>
          <a:p>
            <a:pPr indent="0" marL="0">
              <a:buNone/>
            </a:pPr>
            <a:r>
              <a:rPr lang="en-US" sz="1100" i="1" dirty="0">
                <a:solidFill>
                  <a:srgbClr val="9AA0A6"/>
                </a:solidFill>
                <a:latin typeface="Arial" pitchFamily="34" charset="0"/>
                <a:ea typeface="Arial" pitchFamily="34" charset="-122"/>
                <a:cs typeface="Arial" pitchFamily="34" charset="-120"/>
              </a:rPr>
              <a:t>If the session shows nothing, it costs you an hour and we say thank you.</a:t>
            </a:r>
            <a:endParaRPr lang="en-US" sz="1100" dirty="0"/>
          </a:p>
        </p:txBody>
      </p:sp>
      <p:sp>
        <p:nvSpPr>
          <p:cNvPr id="8" name="Shape 5"/>
          <p:cNvSpPr/>
          <p:nvPr/>
        </p:nvSpPr>
        <p:spPr>
          <a:xfrm>
            <a:off x="2514600" y="4709160"/>
            <a:ext cx="8686800" cy="0"/>
          </a:xfrm>
          <a:prstGeom prst="line">
            <a:avLst/>
          </a:prstGeom>
          <a:noFill/>
          <a:ln w="12700">
            <a:solidFill>
              <a:srgbClr val="3A3D40"/>
            </a:solidFill>
            <a:prstDash val="solid"/>
          </a:ln>
        </p:spPr>
      </p:sp>
      <p:sp>
        <p:nvSpPr>
          <p:cNvPr id="9" name="Text 6"/>
          <p:cNvSpPr/>
          <p:nvPr/>
        </p:nvSpPr>
        <p:spPr>
          <a:xfrm>
            <a:off x="2514600" y="4892040"/>
            <a:ext cx="5029200" cy="320040"/>
          </a:xfrm>
          <a:prstGeom prst="rect">
            <a:avLst/>
          </a:prstGeom>
          <a:noFill/>
          <a:ln/>
        </p:spPr>
        <p:txBody>
          <a:bodyPr wrap="square" lIns="0" tIns="0" rIns="0" bIns="0" rtlCol="0" anchor="ctr"/>
          <a:lstStyle/>
          <a:p>
            <a:pPr indent="0" marL="0">
              <a:buNone/>
            </a:pPr>
            <a:r>
              <a:rPr lang="en-US" sz="1600" b="1" dirty="0">
                <a:solidFill>
                  <a:srgbClr val="F4F2EF"/>
                </a:solidFill>
                <a:latin typeface="Arial" pitchFamily="34" charset="0"/>
                <a:ea typeface="Arial" pitchFamily="34" charset="-122"/>
                <a:cs typeface="Arial" pitchFamily="34" charset="-120"/>
              </a:rPr>
              <a:t>Stephan Hardt</a:t>
            </a:r>
            <a:endParaRPr lang="en-US" sz="1600" dirty="0"/>
          </a:p>
        </p:txBody>
      </p:sp>
      <p:sp>
        <p:nvSpPr>
          <p:cNvPr id="10" name="Text 7"/>
          <p:cNvSpPr/>
          <p:nvPr/>
        </p:nvSpPr>
        <p:spPr>
          <a:xfrm>
            <a:off x="2514600" y="5230368"/>
            <a:ext cx="5943600" cy="256032"/>
          </a:xfrm>
          <a:prstGeom prst="rect">
            <a:avLst/>
          </a:prstGeom>
          <a:noFill/>
          <a:ln/>
        </p:spPr>
        <p:txBody>
          <a:bodyPr wrap="square" lIns="0" tIns="0" rIns="0" bIns="0" rtlCol="0" anchor="ctr"/>
          <a:lstStyle/>
          <a:p>
            <a:pPr indent="0" marL="0">
              <a:buNone/>
            </a:pPr>
            <a:r>
              <a:rPr lang="en-US" sz="1050" dirty="0">
                <a:solidFill>
                  <a:srgbClr val="9AA0A6"/>
                </a:solidFill>
                <a:latin typeface="Arial" pitchFamily="34" charset="0"/>
                <a:ea typeface="Arial" pitchFamily="34" charset="-122"/>
                <a:cs typeface="Arial" pitchFamily="34" charset="-120"/>
              </a:rPr>
              <a:t>Director, Power Generation Solutions  ·  Southwire Company</a:t>
            </a:r>
            <a:endParaRPr lang="en-US" sz="1050" dirty="0"/>
          </a:p>
        </p:txBody>
      </p:sp>
      <p:sp>
        <p:nvSpPr>
          <p:cNvPr id="11" name="Text 8"/>
          <p:cNvSpPr/>
          <p:nvPr/>
        </p:nvSpPr>
        <p:spPr>
          <a:xfrm>
            <a:off x="7589520" y="4892040"/>
            <a:ext cx="3611880" cy="274320"/>
          </a:xfrm>
          <a:prstGeom prst="rect">
            <a:avLst/>
          </a:prstGeom>
          <a:noFill/>
          <a:ln/>
        </p:spPr>
        <p:txBody>
          <a:bodyPr wrap="square" lIns="0" tIns="0" rIns="0" bIns="0" rtlCol="0" anchor="ctr"/>
          <a:lstStyle/>
          <a:p>
            <a:pPr algn="r" indent="0" marL="0">
              <a:buNone/>
            </a:pPr>
            <a:r>
              <a:rPr lang="en-US" sz="1200" b="1" dirty="0">
                <a:solidFill>
                  <a:srgbClr val="B4713D"/>
                </a:solidFill>
                <a:latin typeface="Arial" pitchFamily="34" charset="0"/>
                <a:ea typeface="Arial" pitchFamily="34" charset="-122"/>
                <a:cs typeface="Arial" pitchFamily="34" charset="-120"/>
              </a:rPr>
              <a:t>stephan.hardt@southwire.com</a:t>
            </a:r>
            <a:endParaRPr lang="en-US" sz="1200" dirty="0"/>
          </a:p>
        </p:txBody>
      </p:sp>
      <p:sp>
        <p:nvSpPr>
          <p:cNvPr id="12" name="Text 9"/>
          <p:cNvSpPr/>
          <p:nvPr/>
        </p:nvSpPr>
        <p:spPr>
          <a:xfrm>
            <a:off x="7589520" y="5212080"/>
            <a:ext cx="3611880" cy="256032"/>
          </a:xfrm>
          <a:prstGeom prst="rect">
            <a:avLst/>
          </a:prstGeom>
          <a:noFill/>
          <a:ln/>
        </p:spPr>
        <p:txBody>
          <a:bodyPr wrap="square" lIns="0" tIns="0" rIns="0" bIns="0" rtlCol="0" anchor="ctr"/>
          <a:lstStyle/>
          <a:p>
            <a:pPr algn="r" indent="0" marL="0">
              <a:buNone/>
            </a:pPr>
            <a:r>
              <a:rPr lang="en-US" sz="1100" dirty="0">
                <a:solidFill>
                  <a:srgbClr val="9AA0A6"/>
                </a:solidFill>
                <a:latin typeface="Arial" pitchFamily="34" charset="0"/>
                <a:ea typeface="Arial" pitchFamily="34" charset="-122"/>
                <a:cs typeface="Arial" pitchFamily="34" charset="-120"/>
              </a:rPr>
              <a:t>+1 470-439-8488</a:t>
            </a:r>
            <a:endParaRPr lang="en-US" sz="1100" dirty="0"/>
          </a:p>
        </p:txBody>
      </p:sp>
      <p:sp>
        <p:nvSpPr>
          <p:cNvPr id="13" name="Text 10"/>
          <p:cNvSpPr/>
          <p:nvPr/>
        </p:nvSpPr>
        <p:spPr>
          <a:xfrm>
            <a:off x="2514600" y="5897880"/>
            <a:ext cx="8686800" cy="274320"/>
          </a:xfrm>
          <a:prstGeom prst="rect">
            <a:avLst/>
          </a:prstGeom>
          <a:noFill/>
          <a:ln/>
        </p:spPr>
        <p:txBody>
          <a:bodyPr wrap="square" lIns="0" tIns="0" rIns="0" bIns="0" rtlCol="0" anchor="ctr"/>
          <a:lstStyle/>
          <a:p>
            <a:pPr indent="0" marL="0">
              <a:buNone/>
            </a:pPr>
            <a:r>
              <a:rPr lang="en-US" sz="900" i="1" dirty="0">
                <a:solidFill>
                  <a:srgbClr val="9AA0A6"/>
                </a:solidFill>
                <a:latin typeface="Arial" pitchFamily="34" charset="0"/>
                <a:ea typeface="Arial" pitchFamily="34" charset="-122"/>
                <a:cs typeface="Arial" pitchFamily="34" charset="-120"/>
              </a:rPr>
              <a:t>Figures are illustrative or from adjacent markets, and identified as such. Nothing here commits price, lead time or scope.</a:t>
            </a:r>
            <a:endParaRPr lang="en-US" sz="900" dirty="0"/>
          </a:p>
        </p:txBody>
      </p:sp>
      <p:sp>
        <p:nvSpPr>
          <p:cNvPr id="15" name="Text 11"/>
          <p:cNvSpPr/>
          <p:nvPr/>
        </p:nvSpPr>
        <p:spPr>
          <a:xfrm>
            <a:off x="2514600" y="6510528"/>
            <a:ext cx="7772400" cy="228600"/>
          </a:xfrm>
          <a:prstGeom prst="rect">
            <a:avLst/>
          </a:prstGeom>
          <a:noFill/>
          <a:ln/>
        </p:spPr>
        <p:txBody>
          <a:bodyPr wrap="square" lIns="0" tIns="0" rIns="0" bIns="0" rtlCol="0" anchor="ctr"/>
          <a:lstStyle/>
          <a:p>
            <a:pPr indent="0" marL="0">
              <a:buNone/>
            </a:pPr>
            <a:r>
              <a:rPr lang="en-US" sz="750" spc="120" kern="0" dirty="0">
                <a:solidFill>
                  <a:srgbClr val="9AA0A6"/>
                </a:solidFill>
                <a:latin typeface="Arial" pitchFamily="34" charset="0"/>
                <a:ea typeface="Arial" pitchFamily="34" charset="-122"/>
                <a:cs typeface="Arial" pitchFamily="34" charset="-120"/>
              </a:rPr>
              <a:t>SOUTHWIRE POWER GENERATION SOLUTIONS  ·  DISCUSSION TEASER  ·  REV 08</a:t>
            </a:r>
            <a:endParaRPr lang="en-US" sz="750" dirty="0"/>
          </a:p>
        </p:txBody>
      </p:sp>
      <p:sp>
        <p:nvSpPr>
          <p:cNvPr id="16" name="Text 12"/>
          <p:cNvSpPr/>
          <p:nvPr/>
        </p:nvSpPr>
        <p:spPr>
          <a:xfrm>
            <a:off x="11231575" y="6510528"/>
            <a:ext cx="457200" cy="228600"/>
          </a:xfrm>
          <a:prstGeom prst="rect">
            <a:avLst/>
          </a:prstGeom>
          <a:noFill/>
          <a:ln/>
        </p:spPr>
        <p:txBody>
          <a:bodyPr wrap="square" lIns="0" tIns="0" rIns="0" bIns="0" rtlCol="0" anchor="ctr"/>
          <a:lstStyle/>
          <a:p>
            <a:pPr algn="r" indent="0" marL="0">
              <a:buNone/>
            </a:pPr>
            <a:r>
              <a:rPr lang="en-US" sz="800" b="1" dirty="0">
                <a:solidFill>
                  <a:srgbClr val="B4713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claude-0/-home-user-ln/3a853198-1696-51f8-a2af-2c6b2d875703/scratchpad/assets/sk120_art.png">    </p:cNvPr>
          <p:cNvPicPr>
            <a:picLocks noChangeAspect="1"/>
          </p:cNvPicPr>
          <p:nvPr/>
        </p:nvPicPr>
        <p:blipFill>
          <a:blip r:embed="rId1"/>
          <a:stretch>
            <a:fillRect/>
          </a:stretch>
        </p:blipFill>
        <p:spPr>
          <a:xfrm>
            <a:off x="0" y="91440"/>
            <a:ext cx="12191695" cy="66778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Southwire Power Generation Solutions — IPP Teaser</dc:title>
  <dc:subject>PptxGenJS Presentation</dc:subject>
  <dc:creator>Stephan Hardt</dc:creator>
  <cp:lastModifiedBy>Stephan Hardt</cp:lastModifiedBy>
  <cp:revision>1</cp:revision>
  <dcterms:created xsi:type="dcterms:W3CDTF">2026-08-13T21:54:11Z</dcterms:created>
  <dcterms:modified xsi:type="dcterms:W3CDTF">2026-08-13T21:54:11Z</dcterms:modified>
</cp:coreProperties>
</file>