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25.xml" ContentType="application/vnd.openxmlformats-officedocument.presentationml.slid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31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  <Relationship Id="rId31" Type="http://schemas.openxmlformats.org/officeDocument/2006/relationships/slide" Target="slides/slide25.xml"/>
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Owner value levers, condensed from the fuller Owner's-Math treatment. The four cards map electrical delivery to the outcomes an owner prices: COD, installed cost, capital certainty, availability. The dollar arithmetic behind the adjacent-experience benchmark lives in Appendix A14, behind the A4 release gate — go there only if the room asks what the hours are worth.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_WIDE">
    <p:bg>
      <p:bgPr>
        <a:solidFill>
          <a:srgbClr val="F6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3" Type="http://schemas.openxmlformats.org/officeDocument/2006/relationships/slideLayout" Target="../slideLayouts/slideLayout2.xml" /><Relationship Type="http://schemas.openxmlformats.org/officeDocument/2006/relationships/image" Target="../media/r9-image.jpeg" Id="R0f6abb0571bc450c" /><Relationship Type="http://schemas.openxmlformats.org/officeDocument/2006/relationships/image" Target="../media/r9-image2.jpeg" Id="Re8f8611cb8914760" /><Relationship Id="rId4" Type="http://schemas.openxmlformats.org/officeDocument/2006/relationships/notesSlide" Target="../notesSlides/notesSlide1.xml" /></Relationships>
</file>

<file path=ppt/slides/_rels/slide2.xml.rels><?xml version="1.0" encoding="UTF-8"?><Relationships xmlns="http://schemas.openxmlformats.org/package/2006/relationships"><Relationship Id="rId3" Type="http://schemas.openxmlformats.org/officeDocument/2006/relationships/slideLayout" Target="../slideLayouts/slideLayout2.xml" /><Relationship Type="http://schemas.openxmlformats.org/officeDocument/2006/relationships/image" Target="../media/r9-image3.jpeg" Id="Rc876737220024471" /><Relationship Id="rId4" Type="http://schemas.openxmlformats.org/officeDocument/2006/relationships/notesSlide" Target="../notesSlides/notesSlide2.xml" /></Relationships>
</file>

<file path=ppt/slides/_rels/slide3.xml.rels><?xml version="1.0" encoding="UTF-8"?><Relationships xmlns="http://schemas.openxmlformats.org/package/2006/relationships"><Relationship Id="rId3" Type="http://schemas.openxmlformats.org/officeDocument/2006/relationships/slideLayout" Target="../slideLayouts/slideLayout2.xml" /><Relationship Type="http://schemas.openxmlformats.org/officeDocument/2006/relationships/image" Target="../media/r9-image4.jpeg" Id="Rfc1affae7cb74e1e" /><Relationship Id="rId4" Type="http://schemas.openxmlformats.org/officeDocument/2006/relationships/notesSlide" Target="../notesSlides/notesSlide3.xml" /></Relationships>
</file>

<file path=ppt/slides/_rels/slide4.xml.rels><?xml version="1.0" encoding="UTF-8"?><Relationships xmlns="http://schemas.openxmlformats.org/package/2006/relationships"><Relationship Id="rId3" Type="http://schemas.openxmlformats.org/officeDocument/2006/relationships/slideLayout" Target="../slideLayouts/slideLayout2.xml" /><Relationship Type="http://schemas.openxmlformats.org/officeDocument/2006/relationships/image" Target="../media/r9-image5.jpeg" Id="R4defc997f92c418d" /><Relationship Id="rId4" Type="http://schemas.openxmlformats.org/officeDocument/2006/relationships/notesSlide" Target="../notesSlides/notesSlide4.xml" /></Relationships>
</file>

<file path=ppt/slides/_rels/slide5.xml.rels><?xml version="1.0" encoding="UTF-8"?><Relationships xmlns="http://schemas.openxmlformats.org/package/2006/relationships"><Relationship Id="rId3" Type="http://schemas.openxmlformats.org/officeDocument/2006/relationships/slideLayout" Target="../slideLayouts/slideLayout2.xml" /><Relationship Type="http://schemas.openxmlformats.org/officeDocument/2006/relationships/image" Target="../media/r9-image13.jpeg" Id="R9278081788d04e04" /><Relationship Type="http://schemas.openxmlformats.org/officeDocument/2006/relationships/image" Target="../media/r9-image14.jpeg" Id="R9ba0958dc14b4dd2" /><Relationship Id="rId4" Type="http://schemas.openxmlformats.org/officeDocument/2006/relationships/notesSlide" Target="../notesSlides/notesSlide5.xml" /></Relationships>
</file>

<file path=ppt/slides/_rels/slide6.xml.rels><?xml version="1.0" encoding="UTF-8"?><Relationships xmlns="http://schemas.openxmlformats.org/package/2006/relationships"><Relationship Id="rId3" Type="http://schemas.openxmlformats.org/officeDocument/2006/relationships/slideLayout" Target="../slideLayouts/slideLayout2.xml" /><Relationship Type="http://schemas.openxmlformats.org/officeDocument/2006/relationships/image" Target="../media/r9-image6.jpeg" Id="Re9945691857c4426" /><Relationship Id="rId4" Type="http://schemas.openxmlformats.org/officeDocument/2006/relationships/notesSlide" Target="../notesSlides/notesSlide6.xml" /></Relationships>
</file>

<file path=ppt/slides/_rels/slide7.xml.rels><?xml version="1.0" encoding="UTF-8"?><Relationships xmlns="http://schemas.openxmlformats.org/package/2006/relationships"><Relationship Id="rId3" Type="http://schemas.openxmlformats.org/officeDocument/2006/relationships/slideLayout" Target="../slideLayouts/slideLayout2.xml" /><Relationship Type="http://schemas.openxmlformats.org/officeDocument/2006/relationships/image" Target="../media/r9-image7.jpeg" Id="Re541a94199674e25" /><Relationship Id="rId4" Type="http://schemas.openxmlformats.org/officeDocument/2006/relationships/notesSlide" Target="../notesSlides/notesSlide7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image" Target="../media/logo-lockup.png" /><Relationship Id="rId3" Type="http://schemas.openxmlformats.org/officeDocument/2006/relationships/slideLayout" Target="../slideLayouts/slideLayout2.xml" /><Relationship Id="rId4" Type="http://schemas.openxmlformats.org/officeDocument/2006/relationships/notesSlide" Target="../notesSlides/notesSlide8.xml" /></Relationships>
</file>

<file path=ppt/slides/_rels/slide9.xml.rels><?xml version="1.0" encoding="UTF-8"?><Relationships xmlns="http://schemas.openxmlformats.org/package/2006/relationships"><Relationship Id="rId3" Type="http://schemas.openxmlformats.org/officeDocument/2006/relationships/slideLayout" Target="../slideLayouts/slideLayout2.xml" /><Relationship Type="http://schemas.openxmlformats.org/officeDocument/2006/relationships/image" Target="../media/r9-image8.jpeg" Id="R7ee1c5f2262e4319" /><Relationship Id="rId4" Type="http://schemas.openxmlformats.org/officeDocument/2006/relationships/notesSlide" Target="../notesSlides/notesSlide9.xml" /></Relationships>
</file>

<file path=ppt/slides/_rels/slide10.xml.rels><?xml version="1.0" encoding="UTF-8"?><Relationships xmlns="http://schemas.openxmlformats.org/package/2006/relationships"><Relationship Id="rId3" Type="http://schemas.openxmlformats.org/officeDocument/2006/relationships/slideLayout" Target="../slideLayouts/slideLayout2.xml" /><Relationship Type="http://schemas.openxmlformats.org/officeDocument/2006/relationships/image" Target="../media/r9-image9.jpeg" Id="Raf48650a3c4a4d07" /><Relationship Id="rId4" Type="http://schemas.openxmlformats.org/officeDocument/2006/relationships/notesSlide" Target="../notesSlides/notesSlide10.xml" /></Relationships>
</file>

<file path=ppt/slides/_rels/slide11.xml.rels><?xml version="1.0" encoding="UTF-8"?><Relationships xmlns="http://schemas.openxmlformats.org/package/2006/relationships"><Relationship Id="rId3" Type="http://schemas.openxmlformats.org/officeDocument/2006/relationships/slideLayout" Target="../slideLayouts/slideLayout2.xml" /><Relationship Type="http://schemas.openxmlformats.org/officeDocument/2006/relationships/image" Target="../media/r9-image10.jpeg" Id="R3d7090369bf04fb9" /><Relationship Id="rId4" Type="http://schemas.openxmlformats.org/officeDocument/2006/relationships/notesSlide" Target="../notesSlides/notesSlide11.xml" /></Relationships>
</file>

<file path=ppt/slides/_rels/slide12.xml.rels><?xml version="1.0" encoding="UTF-8"?><Relationships xmlns="http://schemas.openxmlformats.org/package/2006/relationships"><Relationship Id="rId3" Type="http://schemas.openxmlformats.org/officeDocument/2006/relationships/slideLayout" Target="../slideLayouts/slideLayout2.xml" /><Relationship Type="http://schemas.openxmlformats.org/officeDocument/2006/relationships/image" Target="../media/r9-image11.jpeg" Id="R48e2a3d3733b4264" /><Relationship Id="rId4" Type="http://schemas.openxmlformats.org/officeDocument/2006/relationships/notesSlide" Target="../notesSlides/notesSlide12.xml" /></Relationships>
</file>

<file path=ppt/slides/_rels/slide13.xml.rels><?xml version="1.0" encoding="UTF-8"?><Relationships xmlns="http://schemas.openxmlformats.org/package/2006/relationships"><Relationship Id="rId3" Type="http://schemas.openxmlformats.org/officeDocument/2006/relationships/slideLayout" Target="../slideLayouts/slideLayout2.xml" /><Relationship Type="http://schemas.openxmlformats.org/officeDocument/2006/relationships/image" Target="../media/r9-image12.jpeg" Id="R0d68d762455049bf" /><Relationship Id="rId4" Type="http://schemas.openxmlformats.org/officeDocument/2006/relationships/notesSlide" Target="../notesSlides/notesSlide13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image" Target="../media/logo-lockup.png" /><Relationship Id="rId3" Type="http://schemas.openxmlformats.org/officeDocument/2006/relationships/slideLayout" Target="../slideLayouts/slideLayout2.xml" /><Relationship Id="rId4" Type="http://schemas.openxmlformats.org/officeDocument/2006/relationships/notesSlide" Target="../notesSlides/notesSlide1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image" Target="../media/logo-lockup.png" /><Relationship Id="rId3" Type="http://schemas.openxmlformats.org/officeDocument/2006/relationships/slideLayout" Target="../slideLayouts/slideLayout2.xml" /><Relationship Id="rId4" Type="http://schemas.openxmlformats.org/officeDocument/2006/relationships/notesSlide" Target="../notesSlides/notesSlide15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image" Target="../media/logo-lockup.png" /><Relationship Id="rId3" Type="http://schemas.openxmlformats.org/officeDocument/2006/relationships/slideLayout" Target="../slideLayouts/slideLayout2.xml" /><Relationship Id="rId4" Type="http://schemas.openxmlformats.org/officeDocument/2006/relationships/notesSlide" Target="../notesSlides/notesSlide16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image" Target="../media/logo-lockup.png" /><Relationship Id="rId3" Type="http://schemas.openxmlformats.org/officeDocument/2006/relationships/slideLayout" Target="../slideLayouts/slideLayout2.xml" /><Relationship Id="Rsk120" Type="http://schemas.openxmlformats.org/officeDocument/2006/relationships/image" Target="../media/sk120-art.png" /><Relationship Id="rId4" Type="http://schemas.openxmlformats.org/officeDocument/2006/relationships/notesSlide" Target="../notesSlides/notesSlide17.xml" /></Relationships>
</file>

<file path=ppt/slides/_rels/slide18.xml.rels><?xml version="1.0" encoding="UTF-8"?><Relationships xmlns="http://schemas.openxmlformats.org/package/2006/relationships"><Relationship Id="rId3" Type="http://schemas.openxmlformats.org/officeDocument/2006/relationships/slideLayout" Target="../slideLayouts/slideLayout2.xml" /><Relationship Type="http://schemas.openxmlformats.org/officeDocument/2006/relationships/image" Target="../media/r9-image8.jpeg" Id="R7ee1c5f2262e4319" /><Relationship Id="rId4" Type="http://schemas.openxmlformats.org/officeDocument/2006/relationships/notesSlide" Target="../notesSlides/notesSlide18.xml" /></Relationships>
</file>

<file path=ppt/slides/_rels/slide19.xml.rels><?xml version="1.0" encoding="UTF-8"?><Relationships xmlns="http://schemas.openxmlformats.org/package/2006/relationships"><Relationship Id="rId3" Type="http://schemas.openxmlformats.org/officeDocument/2006/relationships/slideLayout" Target="../slideLayouts/slideLayout2.xml" /><Relationship Type="http://schemas.openxmlformats.org/officeDocument/2006/relationships/image" Target="../media/r9-image8.jpeg" Id="R7ee1c5f2262e4319" /><Relationship Id="rId4" Type="http://schemas.openxmlformats.org/officeDocument/2006/relationships/notesSlide" Target="../notesSlides/notesSlide19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image" Target="../media/logo-lockup.png" /><Relationship Id="rId3" Type="http://schemas.openxmlformats.org/officeDocument/2006/relationships/slideLayout" Target="../slideLayouts/slideLayout2.xml" /><Relationship Id="rId4" Type="http://schemas.openxmlformats.org/officeDocument/2006/relationships/notesSlide" Target="../notesSlides/notesSlide20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image" Target="../media/logo-lockup.png" /><Relationship Id="rId3" Type="http://schemas.openxmlformats.org/officeDocument/2006/relationships/slideLayout" Target="../slideLayouts/slideLayout2.xml" /><Relationship Id="rId4" Type="http://schemas.openxmlformats.org/officeDocument/2006/relationships/notesSlide" Target="../notesSlides/notesSlide21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image" Target="../media/logo-lockup.png" /><Relationship Id="rId3" Type="http://schemas.openxmlformats.org/officeDocument/2006/relationships/slideLayout" Target="../slideLayouts/slideLayout2.xml" /><Relationship Id="rId4" Type="http://schemas.openxmlformats.org/officeDocument/2006/relationships/notesSlide" Target="../notesSlides/notesSlide2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image" Target="../media/logo-lockup.png" /><Relationship Id="rId3" Type="http://schemas.openxmlformats.org/officeDocument/2006/relationships/slideLayout" Target="../slideLayouts/slideLayout2.xml" /><Relationship Id="rId4" Type="http://schemas.openxmlformats.org/officeDocument/2006/relationships/notesSlide" Target="../notesSlides/notesSlide23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image" Target="../media/logo-lockup.png" /><Relationship Id="rId3" Type="http://schemas.openxmlformats.org/officeDocument/2006/relationships/slideLayout" Target="../slideLayouts/slideLayout2.xml" /><Relationship Id="rId4" Type="http://schemas.openxmlformats.org/officeDocument/2006/relationships/notesSlide" Target="../notesSlides/notesSlide24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image" Target="../media/logo-lockup.png" /><Relationship Id="rId3" Type="http://schemas.openxmlformats.org/officeDocument/2006/relationships/slideLayout" Target="../slideLayouts/slideLayout2.xml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22252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E35EF59-13FD-4D9A-9878-74A258A173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0" y="0"/>
            <a:ext cx="56197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91C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f6abb0571bc450c"/>
          <a:srcRect xmlns:a="http://schemas.openxmlformats.org/drawingml/2006/main" l="23047" t="0" r="23047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619750" y="0"/>
            <a:ext cx="6572250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19C488C-3A54-4952-8BC9-B7C7596F74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581650" y="0"/>
            <a:ext cx="476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783E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8f8611cb8914760"/>
          <a:srcRect xmlns:a="http://schemas.openxmlformats.org/drawingml/2006/main" l="8984" t="0" r="8984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33400" y="400050"/>
            <a:ext cx="3667125" cy="6286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A5C8ACA-EC8A-4169-9061-AF45BA8899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81125"/>
            <a:ext cx="4476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82" b="1" i="0">
                <a:solidFill>
                  <a:srgbClr val="E3A06D"/>
                </a:solidFill>
                <a:latin typeface="Arial"/>
                <a:ea typeface="Arial"/>
                <a:cs typeface="Arial"/>
              </a:defRPr>
            </a:pPr>
            <a:r>
              <a:rPr sz="882" b="1" i="0">
                <a:solidFill>
                  <a:srgbClr val="E3A06D"/>
                </a:solidFill>
                <a:latin typeface="Arial"/>
                <a:ea typeface="Arial"/>
                <a:cs typeface="Arial"/>
              </a:rPr>
              <a:t>PREPARED FOR NRG  |  EXECUTIVE WORKING DISCUSSION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3D8E28E-9D85-4F4F-9279-A2B2509B4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819275"/>
            <a:ext cx="4495800" cy="148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86000"/>
              </a:lnSpc>
              <a:buNone/>
              <a:defRPr sz="3654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654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PROTECTING</a:t>
            </a:r>
          </a:p>
          <a:p xmlns:a="http://schemas.openxmlformats.org/drawingml/2006/main">
            <a:pPr algn="l">
              <a:lnSpc>
                <a:spcPct val="86000"/>
              </a:lnSpc>
              <a:buNone/>
              <a:defRPr sz="3654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654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TIME TO POWER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6CC4DD4-571A-4425-8F57-4DD0B73AA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38550"/>
            <a:ext cx="1257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C9783E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DCBD95E-78E0-414E-88E1-9AD4DFDA7D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914775"/>
            <a:ext cx="4333875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725" b="0" i="0">
                <a:solidFill>
                  <a:srgbClr val="D4D6D8"/>
                </a:solidFill>
                <a:latin typeface="Arial"/>
                <a:ea typeface="Arial"/>
                <a:cs typeface="Arial"/>
              </a:defRPr>
            </a:pPr>
            <a:r>
              <a:rPr sz="1725" b="0" i="0">
                <a:solidFill>
                  <a:srgbClr val="D4D6D8"/>
                </a:solidFill>
                <a:latin typeface="Arial"/>
                <a:ea typeface="Arial"/>
                <a:cs typeface="Arial"/>
              </a:rPr>
              <a:t>A working model for integrated electrical delivery across NRG's generation buildout.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A0C325A-3DD2-4CE5-8C5A-4371B632F0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238750"/>
            <a:ext cx="4362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1197" b="1" i="0">
                <a:solidFill>
                  <a:srgbClr val="E3A06D"/>
                </a:solidFill>
                <a:latin typeface="Arial"/>
                <a:ea typeface="Arial"/>
                <a:cs typeface="Arial"/>
              </a:defRPr>
            </a:pPr>
            <a:r>
              <a:rPr sz="1197" b="1" i="0">
                <a:solidFill>
                  <a:srgbClr val="E3A06D"/>
                </a:solidFill>
                <a:latin typeface="Arial"/>
                <a:ea typeface="Arial"/>
                <a:cs typeface="Arial"/>
              </a:rPr>
              <a:t>PRESERVE UPSTREAM CERTAINTY</a:t>
            </a:r>
          </a:p>
          <a:p xmlns:a="http://schemas.openxmlformats.org/drawingml/2006/main">
            <a:pPr algn="l">
              <a:lnSpc>
                <a:spcPct val="96000"/>
              </a:lnSpc>
              <a:buNone/>
              <a:defRPr sz="1197" b="1" i="0">
                <a:solidFill>
                  <a:srgbClr val="E3A06D"/>
                </a:solidFill>
                <a:latin typeface="Arial"/>
                <a:ea typeface="Arial"/>
                <a:cs typeface="Arial"/>
              </a:defRPr>
            </a:pPr>
            <a:r>
              <a:rPr sz="1197" b="1" i="0">
                <a:solidFill>
                  <a:srgbClr val="E3A06D"/>
                </a:solidFill>
                <a:latin typeface="Arial"/>
                <a:ea typeface="Arial"/>
                <a:cs typeface="Arial"/>
              </a:rPr>
              <a:t>THROUGH THE ELECTRICAL DELIVERY CHAIN.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6AE29E2-F0A4-4ED8-ABF9-D68C5DE430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334125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0" i="0">
                <a:solidFill>
                  <a:srgbClr val="8B9094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8B9094"/>
                </a:solidFill>
                <a:latin typeface="Arial"/>
                <a:ea typeface="Arial"/>
                <a:cs typeface="Arial"/>
              </a:rPr>
              <a:t>Stephan Hardt  |  Director, Power Generation Solutions  |  Southwire</a:t>
            </a:r>
          </a:p>
        </p:txBody>
      </p:sp>
    </p:spTree>
    <p:extLst>
      <p:ext uri="{BB962C8B-B14F-4D97-AF65-F5344CB8AC3E}">
        <p14:creationId xmlns:p14="http://schemas.microsoft.com/office/powerpoint/2010/main" val="112198524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6F3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66E4675-5951-4B04-9434-499810F119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783E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2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876737220024471"/>
          <a:stretch xmlns:a="http://schemas.openxmlformats.org/drawingml/2006/main"/>
        </p:blipFill>
        <p:spPr>
          <a:xfrm xmlns:a="http://schemas.openxmlformats.org/drawingml/2006/main">
            <a:off x="719138" y="200025"/>
            <a:ext cx="2066925" cy="59055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8A6B4B8-1504-4592-AA89-370627FC7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23850"/>
            <a:ext cx="3086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19" b="1" i="0">
                <a:solidFill>
                  <a:srgbClr val="9D4E24"/>
                </a:solidFill>
                <a:latin typeface="Arial"/>
                <a:ea typeface="Arial"/>
                <a:cs typeface="Arial"/>
              </a:defRPr>
            </a:pPr>
            <a:r>
              <a:rPr sz="819" b="1" i="0">
                <a:solidFill>
                  <a:srgbClr val="9D4E24"/>
                </a:solidFill>
                <a:latin typeface="Arial"/>
                <a:ea typeface="Arial"/>
                <a:cs typeface="Arial"/>
              </a:rPr>
              <a:t>NRG'S AMBITION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B683341-83F3-46B5-8D72-14A3CBA81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323850"/>
            <a:ext cx="323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19" b="1" i="0">
                <a:solidFill>
                  <a:srgbClr val="8B9094"/>
                </a:solidFill>
                <a:latin typeface="Arial"/>
                <a:ea typeface="Arial"/>
                <a:cs typeface="Arial"/>
              </a:defRPr>
            </a:pPr>
            <a:r>
              <a:rPr sz="819" b="1" i="0">
                <a:solidFill>
                  <a:srgbClr val="8B9094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547850D-07DD-495F-8213-AA2ACF9C2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76300"/>
            <a:ext cx="1104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82" b="1" i="0">
                <a:solidFill>
                  <a:srgbClr val="9D4E24"/>
                </a:solidFill>
                <a:latin typeface="Arial"/>
                <a:ea typeface="Arial"/>
                <a:cs typeface="Arial"/>
              </a:defRPr>
            </a:pPr>
            <a:r>
              <a:rPr sz="882" b="1" i="0">
                <a:solidFill>
                  <a:srgbClr val="9D4E24"/>
                </a:solidFill>
                <a:latin typeface="Arial"/>
                <a:ea typeface="Arial"/>
                <a:cs typeface="Arial"/>
              </a:rPr>
              <a:t>WHY NOW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F38A040-B911-4DF8-B72F-385313FCC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181100"/>
            <a:ext cx="11049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0985"/>
          </a:bodyPr>
          <a:lstStyle xmlns:a="http://schemas.openxmlformats.org/drawingml/2006/main"/>
          <a:p xmlns:a="http://schemas.openxmlformats.org/drawingml/2006/main">
            <a:pPr algn="l">
              <a:lnSpc>
                <a:spcPct val="94000"/>
              </a:lnSpc>
              <a:buNone/>
              <a:defRPr sz="2850" b="1" i="0">
                <a:solidFill>
                  <a:srgbClr val="17191C"/>
                </a:solidFill>
                <a:latin typeface="Arial"/>
                <a:ea typeface="Arial"/>
                <a:cs typeface="Arial"/>
              </a:defRPr>
            </a:pPr>
            <a:r>
              <a:rPr sz="2850" b="1" i="0">
                <a:solidFill>
                  <a:srgbClr val="17191C"/>
                </a:solidFill>
                <a:latin typeface="Arial"/>
                <a:ea typeface="Arial"/>
                <a:cs typeface="Arial"/>
              </a:rPr>
              <a:t>NRG's growth agenda creates three distinct electrical-delivery environments.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85E8570-5C5C-4B3D-9D49-CC264D462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152650"/>
            <a:ext cx="32194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213" b="1" i="0">
                <a:solidFill>
                  <a:srgbClr val="17191C"/>
                </a:solidFill>
                <a:latin typeface="Arial"/>
                <a:ea typeface="Arial"/>
                <a:cs typeface="Arial"/>
              </a:defRPr>
            </a:pPr>
            <a:r>
              <a:rPr sz="3213" b="1" i="0">
                <a:solidFill>
                  <a:srgbClr val="17191C"/>
                </a:solidFill>
                <a:latin typeface="Arial"/>
                <a:ea typeface="Arial"/>
                <a:cs typeface="Arial"/>
              </a:rPr>
              <a:t>1.5 GW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0B15914-1A5A-47FF-8097-D6EB9E4B9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867025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71" b="1" i="0">
                <a:solidFill>
                  <a:srgbClr val="9D4E24"/>
                </a:solidFill>
                <a:latin typeface="Arial"/>
                <a:ea typeface="Arial"/>
                <a:cs typeface="Arial"/>
              </a:defRPr>
            </a:pPr>
            <a:r>
              <a:rPr sz="1071" b="1" i="0">
                <a:solidFill>
                  <a:srgbClr val="9D4E24"/>
                </a:solidFill>
                <a:latin typeface="Arial"/>
                <a:ea typeface="Arial"/>
                <a:cs typeface="Arial"/>
              </a:rPr>
              <a:t>TEF PORTFOLIO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2342725-D677-4F0E-B596-4D4ACAADE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305175"/>
            <a:ext cx="31432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One project operating; two targeting mid-2028.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E7FF9E3-510C-4692-A02F-E3428EDB83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419600"/>
            <a:ext cx="247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8D1C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F22E6A1-300D-4C60-8794-03A189E7E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6700" y="2295525"/>
            <a:ext cx="0" cy="22002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D1C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5AC63B9-A54E-4F34-B90F-101BBBE1B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2152650"/>
            <a:ext cx="32194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213" b="1" i="0">
                <a:solidFill>
                  <a:srgbClr val="9D4E24"/>
                </a:solidFill>
                <a:latin typeface="Arial"/>
                <a:ea typeface="Arial"/>
                <a:cs typeface="Arial"/>
              </a:defRPr>
            </a:pPr>
            <a:r>
              <a:rPr sz="3213" b="1" i="0">
                <a:solidFill>
                  <a:srgbClr val="9D4E24"/>
                </a:solidFill>
                <a:latin typeface="Arial"/>
                <a:ea typeface="Arial"/>
                <a:cs typeface="Arial"/>
              </a:rPr>
              <a:t>5.4 GW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7F31A44-BB0F-400C-9475-083A791E8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2867025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71" b="1" i="0">
                <a:solidFill>
                  <a:srgbClr val="9D4E24"/>
                </a:solidFill>
                <a:latin typeface="Arial"/>
                <a:ea typeface="Arial"/>
                <a:cs typeface="Arial"/>
              </a:defRPr>
            </a:pPr>
            <a:r>
              <a:rPr sz="1071" b="1" i="0">
                <a:solidFill>
                  <a:srgbClr val="9D4E24"/>
                </a:solidFill>
                <a:latin typeface="Arial"/>
                <a:ea typeface="Arial"/>
                <a:cs typeface="Arial"/>
              </a:rPr>
              <a:t>NEWBUILD DEVELOPMENT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E9750CE-3881-40C1-B74E-35447A1C5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3305175"/>
            <a:ext cx="31432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Turbine and EPC access supports a runway through 2032.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AB3BEB2-048A-4133-A906-55D0EE96DB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4419600"/>
            <a:ext cx="247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C9783E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0BFF0A4-4D7B-4A87-991E-9BC0D59E5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2295525"/>
            <a:ext cx="0" cy="22002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D1C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F219BED-A9F1-4C79-B716-1ADD50424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2152650"/>
            <a:ext cx="32194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213" b="1" i="0">
                <a:solidFill>
                  <a:srgbClr val="17191C"/>
                </a:solidFill>
                <a:latin typeface="Arial"/>
                <a:ea typeface="Arial"/>
                <a:cs typeface="Arial"/>
              </a:defRPr>
            </a:pPr>
            <a:r>
              <a:rPr sz="3213" b="1" i="0">
                <a:solidFill>
                  <a:srgbClr val="17191C"/>
                </a:solidFill>
                <a:latin typeface="Arial"/>
                <a:ea typeface="Arial"/>
                <a:cs typeface="Arial"/>
              </a:rPr>
              <a:t>25.8 GW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5EE091B-9B90-4C14-9D65-A21C07AF8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2867025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71" b="1" i="0">
                <a:solidFill>
                  <a:srgbClr val="9D4E24"/>
                </a:solidFill>
                <a:latin typeface="Arial"/>
                <a:ea typeface="Arial"/>
                <a:cs typeface="Arial"/>
              </a:defRPr>
            </a:pPr>
            <a:r>
              <a:rPr sz="1071" b="1" i="0">
                <a:solidFill>
                  <a:srgbClr val="9D4E24"/>
                </a:solidFill>
                <a:latin typeface="Arial"/>
                <a:ea typeface="Arial"/>
                <a:cs typeface="Arial"/>
              </a:rPr>
              <a:t>OPERATING FLEET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EB1CC97-064A-408F-8742-A2ED5BF80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3305175"/>
            <a:ext cx="31432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Approximately 1-2 GW of upgrades under evaluation.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B913D1F-659E-49F6-8754-8492FDDBE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4419600"/>
            <a:ext cx="247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8D1C8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E510F29-0D04-4BA6-811D-E54CA110BC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0" y="4867275"/>
            <a:ext cx="12192000" cy="1990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9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9D8E600-E2AE-42B9-9E01-5DDDF55C4A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172075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45" b="1" i="0">
                <a:solidFill>
                  <a:srgbClr val="E3A06D"/>
                </a:solidFill>
                <a:latin typeface="Arial"/>
                <a:ea typeface="Arial"/>
                <a:cs typeface="Arial"/>
              </a:defRPr>
            </a:pPr>
            <a:r>
              <a:rPr sz="945" b="1" i="0">
                <a:solidFill>
                  <a:srgbClr val="E3A06D"/>
                </a:solidFill>
                <a:latin typeface="Arial"/>
                <a:ea typeface="Arial"/>
                <a:cs typeface="Arial"/>
              </a:rPr>
              <a:t>DIFFERENT ASSET STATES. ONE REQUIREMENT.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02E2BB2-5CB2-485C-8D5A-86374E307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514975"/>
            <a:ext cx="85725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2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2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Preserve schedule certainty through energization.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B480BB5-0579-4420-A454-EC2D8BFE7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48375"/>
            <a:ext cx="9982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425" b="0" i="0">
                <a:solidFill>
                  <a:srgbClr val="D4D6D8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D4D6D8"/>
                </a:solidFill>
                <a:latin typeface="Arial"/>
                <a:ea typeface="Arial"/>
                <a:cs typeface="Arial"/>
              </a:rPr>
              <a:t>Specifications, capacity, releases, reels, package interfaces and field readiness still have to converge on COD.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E9A9E5B-D592-4C2E-99CD-C027B1281C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6534150"/>
            <a:ext cx="241935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25" b="0" i="0">
                <a:solidFill>
                  <a:srgbClr val="8B9094"/>
                </a:solidFill>
                <a:latin typeface="Arial"/>
                <a:ea typeface="Arial"/>
                <a:cs typeface="Arial"/>
              </a:defRPr>
            </a:pPr>
            <a:r>
              <a:rPr sz="825" b="0" i="0">
                <a:solidFill>
                  <a:srgbClr val="8B9094"/>
                </a:solidFill>
                <a:latin typeface="Arial"/>
                <a:ea typeface="Arial"/>
                <a:cs typeface="Arial"/>
              </a:rPr>
              <a:t>Source: NRG 2Q26, Aug. 4, 2026</a:t>
            </a:r>
          </a:p>
        </p:txBody>
      </p:sp>
    </p:spTree>
    <p:extLst>
      <p:ext uri="{BB962C8B-B14F-4D97-AF65-F5344CB8AC3E}">
        <p14:creationId xmlns:p14="http://schemas.microsoft.com/office/powerpoint/2010/main" val="177471549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6F3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0387C382-684C-41EA-AD7B-090994DEA5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783E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c1affae7cb74e1e"/>
          <a:stretch xmlns:a="http://schemas.openxmlformats.org/drawingml/2006/main"/>
        </p:blipFill>
        <p:spPr>
          <a:xfrm xmlns:a="http://schemas.openxmlformats.org/drawingml/2006/main">
            <a:off x="719138" y="200025"/>
            <a:ext cx="2066925" cy="59055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D62E9C2-EC75-4805-B37B-7F8E5EFEB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23850"/>
            <a:ext cx="3086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19" b="1" i="0">
                <a:solidFill>
                  <a:srgbClr val="9D4E24"/>
                </a:solidFill>
                <a:latin typeface="Arial"/>
                <a:ea typeface="Arial"/>
                <a:cs typeface="Arial"/>
              </a:defRPr>
            </a:pPr>
            <a:r>
              <a:rPr sz="819" b="1" i="0">
                <a:solidFill>
                  <a:srgbClr val="9D4E24"/>
                </a:solidFill>
                <a:latin typeface="Arial"/>
                <a:ea typeface="Arial"/>
                <a:cs typeface="Arial"/>
              </a:rPr>
              <a:t>THE EXECUTION CHALLENGE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C55D9A4-4A86-47B2-BECD-3611783CD9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323850"/>
            <a:ext cx="323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19" b="1" i="0">
                <a:solidFill>
                  <a:srgbClr val="8B9094"/>
                </a:solidFill>
                <a:latin typeface="Arial"/>
                <a:ea typeface="Arial"/>
                <a:cs typeface="Arial"/>
              </a:defRPr>
            </a:pPr>
            <a:r>
              <a:rPr sz="819" b="1" i="0">
                <a:solidFill>
                  <a:srgbClr val="8B9094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6C85CF9-7B4A-4498-A4FF-A1FEE4116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76300"/>
            <a:ext cx="1104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82" b="1" i="0">
                <a:solidFill>
                  <a:srgbClr val="9D4E24"/>
                </a:solidFill>
                <a:latin typeface="Arial"/>
                <a:ea typeface="Arial"/>
                <a:cs typeface="Arial"/>
              </a:defRPr>
            </a:pPr>
            <a:r>
              <a:rPr sz="882" b="1" i="0">
                <a:solidFill>
                  <a:srgbClr val="9D4E24"/>
                </a:solidFill>
                <a:latin typeface="Arial"/>
                <a:ea typeface="Arial"/>
                <a:cs typeface="Arial"/>
              </a:rPr>
              <a:t>THREE RISKS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54E7682-C0E3-4EE9-82E6-03DD1466A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181100"/>
            <a:ext cx="11049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4785"/>
          </a:bodyPr>
          <a:lstStyle xmlns:a="http://schemas.openxmlformats.org/drawingml/2006/main"/>
          <a:p xmlns:a="http://schemas.openxmlformats.org/drawingml/2006/main">
            <a:pPr algn="l">
              <a:lnSpc>
                <a:spcPct val="94000"/>
              </a:lnSpc>
              <a:buNone/>
              <a:defRPr sz="2850" b="1" i="0">
                <a:solidFill>
                  <a:srgbClr val="17191C"/>
                </a:solidFill>
                <a:latin typeface="Arial"/>
                <a:ea typeface="Arial"/>
                <a:cs typeface="Arial"/>
              </a:defRPr>
            </a:pPr>
            <a:r>
              <a:rPr sz="2850" b="1" i="0">
                <a:solidFill>
                  <a:srgbClr val="17191C"/>
                </a:solidFill>
                <a:latin typeface="Arial"/>
                <a:ea typeface="Arial"/>
                <a:cs typeface="Arial"/>
              </a:rPr>
              <a:t>Three execution risks can erode certainty between design and energization.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E4A3E3F-D6CA-4014-9838-F928AA698E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114550"/>
            <a:ext cx="571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16" b="1" i="0">
                <a:solidFill>
                  <a:srgbClr val="9D4E24"/>
                </a:solidFill>
                <a:latin typeface="Arial"/>
                <a:ea typeface="Arial"/>
                <a:cs typeface="Arial"/>
              </a:defRPr>
            </a:pPr>
            <a:r>
              <a:rPr sz="2016" b="1" i="0">
                <a:solidFill>
                  <a:srgbClr val="9D4E24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6CE7DBA-AF47-4FA9-B00A-EA1DEB27A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71500" y="2819400"/>
            <a:ext cx="333375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DED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FA24AB8-20D4-4A42-A131-C79D44186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19175" y="2600325"/>
            <a:ext cx="333375" cy="923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A0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C41DE06-9BEB-4B12-B551-123032097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466850" y="2305050"/>
            <a:ext cx="333375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78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0EAF7DC-6BC1-4284-A854-7D681DB60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638550"/>
            <a:ext cx="1409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8B9094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8E26175-42E4-4549-A3A7-DD08F77F3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933825"/>
            <a:ext cx="31432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49" b="1" i="0">
                <a:solidFill>
                  <a:srgbClr val="17191C"/>
                </a:solidFill>
                <a:latin typeface="Arial"/>
                <a:ea typeface="Arial"/>
                <a:cs typeface="Arial"/>
              </a:defRPr>
            </a:pPr>
            <a:r>
              <a:rPr sz="1449" b="1" i="0">
                <a:solidFill>
                  <a:srgbClr val="17191C"/>
                </a:solidFill>
                <a:latin typeface="Arial"/>
                <a:ea typeface="Arial"/>
                <a:cs typeface="Arial"/>
              </a:rPr>
              <a:t>LABOR PRESSURE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613D31A-1F21-41A3-AFF2-83E8DEC6D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371975"/>
            <a:ext cx="3143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425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Long pulls, dense terminations and compressed turnover windows concentrate labor when flexibility is lowest.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4F84559-460B-4C41-BD5D-67A4BAADB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6700" y="2152650"/>
            <a:ext cx="0" cy="29527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D1C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26D61B0-6A32-4760-8474-5392F72FC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2114550"/>
            <a:ext cx="571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16" b="1" i="0">
                <a:solidFill>
                  <a:srgbClr val="9D4E24"/>
                </a:solidFill>
                <a:latin typeface="Arial"/>
                <a:ea typeface="Arial"/>
                <a:cs typeface="Arial"/>
              </a:defRPr>
            </a:pPr>
            <a:r>
              <a:rPr sz="2016" b="1" i="0">
                <a:solidFill>
                  <a:srgbClr val="9D4E24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C454509-AB0B-46F7-AB99-185C4BCAEF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2925" y="2371725"/>
            <a:ext cx="1162050" cy="1162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E3D8"/>
          </a:solidFill>
          <a:ln xmlns:a="http://schemas.openxmlformats.org/drawingml/2006/main" w="9525">
            <a:solidFill>
              <a:srgbClr val="C9783E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BD69E25-DEEC-4F02-9229-32C78EABE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2975" y="2771775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6F3EE"/>
          </a:solidFill>
          <a:ln xmlns:a="http://schemas.openxmlformats.org/drawingml/2006/main" w="9525">
            <a:solidFill>
              <a:srgbClr val="C9783E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01CCA50-2808-443C-8C30-07C35CF8F6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14975" y="2952750"/>
            <a:ext cx="5905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25">
            <a:solidFill>
              <a:srgbClr val="C9783E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C510710-442E-4753-A109-3FB7DF4D1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287655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78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E8C0643-D9D8-4050-B6DB-6DA9D5644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3933825"/>
            <a:ext cx="31432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49" b="1" i="0">
                <a:solidFill>
                  <a:srgbClr val="17191C"/>
                </a:solidFill>
                <a:latin typeface="Arial"/>
                <a:ea typeface="Arial"/>
                <a:cs typeface="Arial"/>
              </a:defRPr>
            </a:pPr>
            <a:r>
              <a:rPr sz="1449" b="1" i="0">
                <a:solidFill>
                  <a:srgbClr val="17191C"/>
                </a:solidFill>
                <a:latin typeface="Arial"/>
                <a:ea typeface="Arial"/>
                <a:cs typeface="Arial"/>
              </a:rPr>
              <a:t>MATERIAL + INSTALLATION FIT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7C03671-035A-4B87-BCB4-680AA1CB3B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4371975"/>
            <a:ext cx="3143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425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Ratings, routes, reel lengths, accessories and releases must match the workface—not only the BOM.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6B3528B-F44A-4DC1-B4B2-6DF9E31D1B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2152650"/>
            <a:ext cx="0" cy="29527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D1C8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1D3B0D1-03CC-4D8F-A5AB-1E78494AB3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2114550"/>
            <a:ext cx="571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16" b="1" i="0">
                <a:solidFill>
                  <a:srgbClr val="9D4E24"/>
                </a:solidFill>
                <a:latin typeface="Arial"/>
                <a:ea typeface="Arial"/>
                <a:cs typeface="Arial"/>
              </a:defRPr>
            </a:pPr>
            <a:r>
              <a:rPr sz="2016" b="1" i="0">
                <a:solidFill>
                  <a:srgbClr val="9D4E24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D317186-219B-4214-8435-451A3D31C9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53425" y="2714625"/>
            <a:ext cx="723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C9783E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373C3D6-9905-4497-BBF0-1840198F4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77325" y="2714625"/>
            <a:ext cx="514350" cy="6191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C9783E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940198B-9679-4166-A010-6B152C3A5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91675" y="2714625"/>
            <a:ext cx="514350" cy="6191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8D1C8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7D94A1D-FF55-40C0-AEFC-5636A569E2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562225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78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DE4AD4F-4E0A-47E0-A7D2-E8C9ED7CD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3975" y="2562225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78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9AEF168-A049-4FA6-B8A8-3DEFF654D4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3181350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78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B3AC2D5-98BC-49E7-B6B9-BFB818FF50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2562225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6F3EE"/>
          </a:solidFill>
          <a:ln xmlns:a="http://schemas.openxmlformats.org/drawingml/2006/main" w="9525">
            <a:solidFill>
              <a:srgbClr val="8B9094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5D1C497-7643-4BB7-BC5B-D815A745B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3933825"/>
            <a:ext cx="31432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4837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49" b="1" i="0">
                <a:solidFill>
                  <a:srgbClr val="17191C"/>
                </a:solidFill>
                <a:latin typeface="Arial"/>
                <a:ea typeface="Arial"/>
                <a:cs typeface="Arial"/>
              </a:defRPr>
            </a:pPr>
            <a:r>
              <a:rPr sz="1449" b="1" i="0">
                <a:solidFill>
                  <a:srgbClr val="17191C"/>
                </a:solidFill>
                <a:latin typeface="Arial"/>
                <a:ea typeface="Arial"/>
                <a:cs typeface="Arial"/>
              </a:rPr>
              <a:t>FRAGMENTED COORDINATION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74D61C3-4B2A-49FF-A685-25626D9354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4371975"/>
            <a:ext cx="3143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425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Civil, electrical, OEM and contractor decisions can converge after routing and procurement choices are locked.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4A7EB2C-FB0F-4B6A-8D27-A9FE4230D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52450" y="5495925"/>
            <a:ext cx="110871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9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8820853-0352-4232-9109-367D1EAA3E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743575"/>
            <a:ext cx="10629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449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49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LATE HANDOFFS BECOME SCHEDULE AND COMMISSIONING EXPOSURE.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856D35BF-74D2-4784-980F-6BDF91F15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77000"/>
            <a:ext cx="11087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0" i="0">
                <a:solidFill>
                  <a:srgbClr val="8B9094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8B9094"/>
                </a:solidFill>
                <a:latin typeface="Arial"/>
                <a:ea typeface="Arial"/>
                <a:cs typeface="Arial"/>
              </a:rPr>
              <a:t>Labor availability  |  material readiness  |  decision timing</a:t>
            </a:r>
          </a:p>
        </p:txBody>
      </p:sp>
    </p:spTree>
    <p:extLst>
      <p:ext uri="{BB962C8B-B14F-4D97-AF65-F5344CB8AC3E}">
        <p14:creationId xmlns:p14="http://schemas.microsoft.com/office/powerpoint/2010/main" val="1304498637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22252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5BF3D11-5231-4DDC-BB3A-94D00087E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783E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defc997f92c418d"/>
          <a:srcRect xmlns:a="http://schemas.openxmlformats.org/drawingml/2006/main" l="8771" t="0" r="8771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52450" y="209550"/>
            <a:ext cx="2457450" cy="4191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A4144D4-FF7A-4A82-99D7-3D12C1AA6D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23850"/>
            <a:ext cx="3086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19" b="1" i="0">
                <a:solidFill>
                  <a:srgbClr val="E3A06D"/>
                </a:solidFill>
                <a:latin typeface="Arial"/>
                <a:ea typeface="Arial"/>
                <a:cs typeface="Arial"/>
              </a:defRPr>
            </a:pPr>
            <a:r>
              <a:rPr sz="819" b="1" i="0">
                <a:solidFill>
                  <a:srgbClr val="E3A06D"/>
                </a:solidFill>
                <a:latin typeface="Arial"/>
                <a:ea typeface="Arial"/>
                <a:cs typeface="Arial"/>
              </a:rPr>
              <a:t>THE STRATEGIC INSIGHT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379070D-6C0F-4266-8945-5BC47DF63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323850"/>
            <a:ext cx="323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19" b="1" i="0">
                <a:solidFill>
                  <a:srgbClr val="8B9094"/>
                </a:solidFill>
                <a:latin typeface="Arial"/>
                <a:ea typeface="Arial"/>
                <a:cs typeface="Arial"/>
              </a:defRPr>
            </a:pPr>
            <a:r>
              <a:rPr sz="819" b="1" i="0">
                <a:solidFill>
                  <a:srgbClr val="8B9094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3E0C359-915D-4200-B24C-8C5DB37F28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52450" y="1304925"/>
            <a:ext cx="66675" cy="2743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78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FAE8ECB-F97B-4C8B-A969-7459B2AA0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1247775"/>
            <a:ext cx="10001250" cy="2647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88000"/>
              </a:lnSpc>
              <a:buNone/>
              <a:defRPr sz="3087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087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TIME TO POWER IS AN</a:t>
            </a:r>
          </a:p>
          <a:p xmlns:a="http://schemas.openxmlformats.org/drawingml/2006/main">
            <a:pPr algn="l">
              <a:lnSpc>
                <a:spcPct val="88000"/>
              </a:lnSpc>
              <a:buNone/>
              <a:defRPr sz="3087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087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ELECTRICAL EXECUTION PROBLEM</a:t>
            </a:r>
          </a:p>
          <a:p xmlns:a="http://schemas.openxmlformats.org/drawingml/2006/main">
            <a:pPr algn="l">
              <a:lnSpc>
                <a:spcPct val="88000"/>
              </a:lnSpc>
              <a:buNone/>
              <a:defRPr sz="3087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087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BEFORE IT IS A CABLE-BUYING PROBLEM.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78ADA97-15E3-44DF-8039-F5322D253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3" y="4338638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78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604F568-5669-432F-A2DA-B31C8C71C2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" y="4276725"/>
            <a:ext cx="93059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 i="0">
                <a:solidFill>
                  <a:srgbClr val="D5D7D9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D5D7D9"/>
                </a:solidFill>
                <a:latin typeface="Arial"/>
                <a:ea typeface="Arial"/>
                <a:cs typeface="Arial"/>
              </a:rPr>
              <a:t>Interfaces cross packages, zones, contractors and turnover paths.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8C4731C-1E44-4801-8550-BCA9CD20CA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3" y="4814888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78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29FEADE-D784-4275-97D0-D439A872B6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" y="4752975"/>
            <a:ext cx="93059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 i="0">
                <a:solidFill>
                  <a:srgbClr val="D5D7D9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D5D7D9"/>
                </a:solidFill>
                <a:latin typeface="Arial"/>
                <a:ea typeface="Arial"/>
                <a:cs typeface="Arial"/>
              </a:rPr>
              <a:t>Late material decisions return as handling, rework and commissioning exposure.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BDF5EDB-6FB9-47B4-90E7-4074EC3A1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3" y="5291138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78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F51CB84-C4F4-4D9D-BBAE-1F58A6DE57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" y="5229225"/>
            <a:ext cx="93059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 i="0">
                <a:solidFill>
                  <a:srgbClr val="D5D7D9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D5D7D9"/>
                </a:solidFill>
                <a:latin typeface="Arial"/>
                <a:ea typeface="Arial"/>
                <a:cs typeface="Arial"/>
              </a:rPr>
              <a:t>Managing the workstream as a system can protect schedule better than isolated purchase-order optimization.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549ADE3-6C12-4085-889E-8A2423F57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6096000"/>
            <a:ext cx="8572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C9783E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EB9ADDD-D017-45CB-B044-B3CD0F2D0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5981700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78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2783846-430F-43A3-8E35-20253928B5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334125"/>
            <a:ext cx="1447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882" b="1" i="0">
                <a:solidFill>
                  <a:srgbClr val="8B9094"/>
                </a:solidFill>
                <a:latin typeface="Arial"/>
                <a:ea typeface="Arial"/>
                <a:cs typeface="Arial"/>
              </a:defRPr>
            </a:pPr>
            <a:r>
              <a:rPr sz="882" b="1" i="0">
                <a:solidFill>
                  <a:srgbClr val="8B9094"/>
                </a:solidFill>
                <a:latin typeface="Arial"/>
                <a:ea typeface="Arial"/>
                <a:cs typeface="Arial"/>
              </a:rPr>
              <a:t>DESIGN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0BBEA81-C80A-41ED-B57A-99D5025A0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5981700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78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24E2898-5B19-487D-8F27-1B5CC3DD1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6334125"/>
            <a:ext cx="1447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882" b="1" i="0">
                <a:solidFill>
                  <a:srgbClr val="8B9094"/>
                </a:solidFill>
                <a:latin typeface="Arial"/>
                <a:ea typeface="Arial"/>
                <a:cs typeface="Arial"/>
              </a:defRPr>
            </a:pPr>
            <a:r>
              <a:rPr sz="882" b="1" i="0">
                <a:solidFill>
                  <a:srgbClr val="8B9094"/>
                </a:solidFill>
                <a:latin typeface="Arial"/>
                <a:ea typeface="Arial"/>
                <a:cs typeface="Arial"/>
              </a:rPr>
              <a:t>MATERIAL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392268D-8BE3-49C1-A1DD-AFEE7005E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5981700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78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7E81957-DAAF-4804-A30B-1D8791381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6334125"/>
            <a:ext cx="1447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882" b="1" i="0">
                <a:solidFill>
                  <a:srgbClr val="8B9094"/>
                </a:solidFill>
                <a:latin typeface="Arial"/>
                <a:ea typeface="Arial"/>
                <a:cs typeface="Arial"/>
              </a:defRPr>
            </a:pPr>
            <a:r>
              <a:rPr sz="882" b="1" i="0">
                <a:solidFill>
                  <a:srgbClr val="8B9094"/>
                </a:solidFill>
                <a:latin typeface="Arial"/>
                <a:ea typeface="Arial"/>
                <a:cs typeface="Arial"/>
              </a:rPr>
              <a:t>WORKFACE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8901EE6-526F-44DD-B308-332CEE4102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82200" y="5981700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D4E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48D04B9-C876-439E-8002-82DC4C685F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6334125"/>
            <a:ext cx="1447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882" b="1" i="0">
                <a:solidFill>
                  <a:srgbClr val="E3A06D"/>
                </a:solidFill>
                <a:latin typeface="Arial"/>
                <a:ea typeface="Arial"/>
                <a:cs typeface="Arial"/>
              </a:defRPr>
            </a:pPr>
            <a:r>
              <a:rPr sz="882" b="1" i="0">
                <a:solidFill>
                  <a:srgbClr val="E3A06D"/>
                </a:solidFill>
                <a:latin typeface="Arial"/>
                <a:ea typeface="Arial"/>
                <a:cs typeface="Arial"/>
              </a:rPr>
              <a:t>ENERGIZATION</a:t>
            </a:r>
          </a:p>
        </p:txBody>
      </p:sp>
    </p:spTree>
    <p:extLst>
      <p:ext uri="{BB962C8B-B14F-4D97-AF65-F5344CB8AC3E}">
        <p14:creationId xmlns:p14="http://schemas.microsoft.com/office/powerpoint/2010/main" val="1187526084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6F3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F587CA73-F00F-444D-A144-E7BD3C3F9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783E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278081788d04e04"/>
          <a:stretch xmlns:a="http://schemas.openxmlformats.org/drawingml/2006/main"/>
        </p:blipFill>
        <p:spPr>
          <a:xfrm xmlns:a="http://schemas.openxmlformats.org/drawingml/2006/main">
            <a:off x="719138" y="200025"/>
            <a:ext cx="2066925" cy="59055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419E82D-DB7C-4D48-AE18-2ADA099AB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23850"/>
            <a:ext cx="3086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19" b="1" i="0">
                <a:solidFill>
                  <a:srgbClr val="9D4E24"/>
                </a:solidFill>
                <a:latin typeface="Arial"/>
                <a:ea typeface="Arial"/>
                <a:cs typeface="Arial"/>
              </a:defRPr>
            </a:pPr>
            <a:r>
              <a:rPr sz="819" b="1" i="0">
                <a:solidFill>
                  <a:srgbClr val="9D4E24"/>
                </a:solidFill>
                <a:latin typeface="Arial"/>
                <a:ea typeface="Arial"/>
                <a:cs typeface="Arial"/>
              </a:rPr>
              <a:t>PLANT-WIDE COVERAGE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BB6C31F-181F-4DC6-B47C-5324FFC4F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323850"/>
            <a:ext cx="323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19" b="1" i="0">
                <a:solidFill>
                  <a:srgbClr val="8B9094"/>
                </a:solidFill>
                <a:latin typeface="Arial"/>
                <a:ea typeface="Arial"/>
                <a:cs typeface="Arial"/>
              </a:defRPr>
            </a:pPr>
            <a:r>
              <a:rPr sz="819" b="1" i="0">
                <a:solidFill>
                  <a:srgbClr val="8B9094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7E27FE3-B5F8-4C6E-9A80-44D35E267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76300"/>
            <a:ext cx="1104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82" b="1" i="0">
                <a:solidFill>
                  <a:srgbClr val="9D4E24"/>
                </a:solidFill>
                <a:latin typeface="Arial"/>
                <a:ea typeface="Arial"/>
                <a:cs typeface="Arial"/>
              </a:defRPr>
            </a:pPr>
            <a:r>
              <a:rPr sz="882" b="1" i="0">
                <a:solidFill>
                  <a:srgbClr val="9D4E24"/>
                </a:solidFill>
                <a:latin typeface="Arial"/>
                <a:ea typeface="Arial"/>
                <a:cs typeface="Arial"/>
              </a:rPr>
              <a:t>PLANT-ZONE COVERAGE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D05A49D-C8FE-4DB7-81A6-02700B1A5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181100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4000"/>
              </a:lnSpc>
              <a:buNone/>
              <a:defRPr sz="2925" b="1" i="0">
                <a:solidFill>
                  <a:srgbClr val="17191C"/>
                </a:solidFill>
                <a:latin typeface="Arial"/>
                <a:ea typeface="Arial"/>
                <a:cs typeface="Arial"/>
              </a:defRPr>
            </a:pPr>
            <a:r>
              <a:rPr sz="2925" b="1" i="0">
                <a:solidFill>
                  <a:srgbClr val="17191C"/>
                </a:solidFill>
                <a:latin typeface="Arial"/>
                <a:ea typeface="Arial"/>
                <a:cs typeface="Arial"/>
              </a:rPr>
              <a:t>Six clusters map a routed 3×1 electrical reference model.</a:t>
            </a:r>
          </a:p>
        </p:txBody>
      </p:sp>
      <p:pic>
        <p:nvPicPr>
          <p:cNvPr id="4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ba0958dc14b4dd2"/>
          <a:stretch xmlns:a="http://schemas.openxmlformats.org/drawingml/2006/main"/>
        </p:blipFill>
        <p:spPr>
          <a:xfrm xmlns:a="http://schemas.openxmlformats.org/drawingml/2006/main">
            <a:off x="3429000" y="1763634"/>
            <a:ext cx="5334000" cy="3025932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3DB9F71-6E26-43C9-9D00-650A92648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52450" y="1714500"/>
            <a:ext cx="800100" cy="2381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2E3D8"/>
          </a:solidFill>
          <a:ln xmlns:a="http://schemas.openxmlformats.org/drawingml/2006/main" w="9525">
            <a:solidFill>
              <a:srgbClr val="F2E3D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F178D32-47AB-4ACD-B19C-93B637E95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733550"/>
            <a:ext cx="800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56" b="1" i="0">
                <a:solidFill>
                  <a:srgbClr val="9D4E24"/>
                </a:solidFill>
                <a:latin typeface="Arial"/>
                <a:ea typeface="Arial"/>
                <a:cs typeface="Arial"/>
              </a:defRPr>
            </a:pPr>
            <a:r>
              <a:rPr sz="756" b="1" i="0">
                <a:solidFill>
                  <a:srgbClr val="9D4E24"/>
                </a:solidFill>
                <a:latin typeface="Arial"/>
                <a:ea typeface="Arial"/>
                <a:cs typeface="Arial"/>
              </a:rPr>
              <a:t>1, 16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89E48A4-C583-4DF2-8127-1CE7F33F6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047875"/>
            <a:ext cx="27146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45" b="1" i="0">
                <a:solidFill>
                  <a:srgbClr val="9D4E24"/>
                </a:solidFill>
                <a:latin typeface="Arial"/>
                <a:ea typeface="Arial"/>
                <a:cs typeface="Arial"/>
              </a:defRPr>
            </a:pPr>
            <a:r>
              <a:rPr sz="945" b="1" i="0">
                <a:solidFill>
                  <a:srgbClr val="9D4E24"/>
                </a:solidFill>
                <a:latin typeface="Arial"/>
                <a:ea typeface="Arial"/>
                <a:cs typeface="Arial"/>
              </a:rPr>
              <a:t>GRID + SITE BACKBONE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4FC49CC-76D8-4AA8-B69E-C48BDA46D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314575"/>
            <a:ext cx="27146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3000"/>
              </a:lnSpc>
              <a:buNone/>
              <a:defRPr sz="1050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Switchyard, GSU/grid tie and MV corridors</a:t>
            </a:r>
          </a:p>
          <a:p xmlns:a="http://schemas.openxmlformats.org/drawingml/2006/main">
            <a:pPr algn="l">
              <a:lnSpc>
                <a:spcPct val="103000"/>
              </a:lnSpc>
              <a:buNone/>
              <a:defRPr sz="1050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HV/EHV · MV · protection/control · fiber · grounding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700BBA6-3815-4064-9996-C4A3431D77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52450" y="3019425"/>
            <a:ext cx="800100" cy="2381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2E3D8"/>
          </a:solidFill>
          <a:ln xmlns:a="http://schemas.openxmlformats.org/drawingml/2006/main" w="9525">
            <a:solidFill>
              <a:srgbClr val="F2E3D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ED9FE05-C970-4F5B-867D-EB1533D03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038475"/>
            <a:ext cx="800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56" b="1" i="0">
                <a:solidFill>
                  <a:srgbClr val="9D4E24"/>
                </a:solidFill>
                <a:latin typeface="Arial"/>
                <a:ea typeface="Arial"/>
                <a:cs typeface="Arial"/>
              </a:defRPr>
            </a:pPr>
            <a:r>
              <a:rPr sz="756" b="1" i="0">
                <a:solidFill>
                  <a:srgbClr val="9D4E24"/>
                </a:solidFill>
                <a:latin typeface="Arial"/>
                <a:ea typeface="Arial"/>
                <a:cs typeface="Arial"/>
              </a:rPr>
              <a:t>2, 3, 10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619AC1E-8938-4E07-80D5-21A0721849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352800"/>
            <a:ext cx="27146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45" b="1" i="0">
                <a:solidFill>
                  <a:srgbClr val="9D4E24"/>
                </a:solidFill>
                <a:latin typeface="Arial"/>
                <a:ea typeface="Arial"/>
                <a:cs typeface="Arial"/>
              </a:defRPr>
            </a:pPr>
            <a:r>
              <a:rPr sz="945" b="1" i="0">
                <a:solidFill>
                  <a:srgbClr val="9D4E24"/>
                </a:solidFill>
                <a:latin typeface="Arial"/>
                <a:ea typeface="Arial"/>
                <a:cs typeface="Arial"/>
              </a:rPr>
              <a:t>MODULAR + LOGISTICS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F4E5C80-B10A-4D5A-A046-88EEFCB69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19500"/>
            <a:ext cx="27146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3000"/>
              </a:lnSpc>
              <a:buNone/>
              <a:defRPr sz="1050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BESS, reel staging, prefab/skids and modular power</a:t>
            </a:r>
          </a:p>
          <a:p xmlns:a="http://schemas.openxmlformats.org/drawingml/2006/main">
            <a:pPr algn="l">
              <a:lnSpc>
                <a:spcPct val="103000"/>
              </a:lnSpc>
              <a:buNone/>
              <a:defRPr sz="1050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DC/MV/LV · controls · fiber · engineered sets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49ABC6A-621A-4BD5-95E5-7371BC7DD6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52450" y="4324350"/>
            <a:ext cx="800100" cy="2381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2E3D8"/>
          </a:solidFill>
          <a:ln xmlns:a="http://schemas.openxmlformats.org/drawingml/2006/main" w="9525">
            <a:solidFill>
              <a:srgbClr val="F2E3D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1D3FDD8-E901-490C-B9BE-5C15C6175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343400"/>
            <a:ext cx="800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56" b="1" i="0">
                <a:solidFill>
                  <a:srgbClr val="9D4E24"/>
                </a:solidFill>
                <a:latin typeface="Arial"/>
                <a:ea typeface="Arial"/>
                <a:cs typeface="Arial"/>
              </a:defRPr>
            </a:pPr>
            <a:r>
              <a:rPr sz="756" b="1" i="0">
                <a:solidFill>
                  <a:srgbClr val="9D4E24"/>
                </a:solidFill>
                <a:latin typeface="Arial"/>
                <a:ea typeface="Arial"/>
                <a:cs typeface="Arial"/>
              </a:rPr>
              <a:t>4, 5, 9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7BFA7D0-0FFC-494E-BDA6-BA1B7AADA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657725"/>
            <a:ext cx="27146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45" b="1" i="0">
                <a:solidFill>
                  <a:srgbClr val="9D4E24"/>
                </a:solidFill>
                <a:latin typeface="Arial"/>
                <a:ea typeface="Arial"/>
                <a:cs typeface="Arial"/>
              </a:defRPr>
            </a:pPr>
            <a:r>
              <a:rPr sz="945" b="1" i="0">
                <a:solidFill>
                  <a:srgbClr val="9D4E24"/>
                </a:solidFill>
                <a:latin typeface="Arial"/>
                <a:ea typeface="Arial"/>
                <a:cs typeface="Arial"/>
              </a:rPr>
              <a:t>BUILDINGS + DISTRIBUTION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C4EEDC0-07DC-4F73-9AB2-7F55D3295C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924425"/>
            <a:ext cx="27146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3000"/>
              </a:lnSpc>
              <a:buNone/>
              <a:defRPr sz="1050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Control building, e-house and MCC/VFD/UPS</a:t>
            </a:r>
          </a:p>
          <a:p xmlns:a="http://schemas.openxmlformats.org/drawingml/2006/main">
            <a:pPr algn="l">
              <a:lnSpc>
                <a:spcPct val="103000"/>
              </a:lnSpc>
              <a:buNone/>
              <a:defRPr sz="1050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MV/LV/VFD · essential AC/DC · life safety · BAS/data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48B272F-FC68-4F66-ACA2-8AFCA06E88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934450" y="1714500"/>
            <a:ext cx="800100" cy="2381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2E3D8"/>
          </a:solidFill>
          <a:ln xmlns:a="http://schemas.openxmlformats.org/drawingml/2006/main" w="9525">
            <a:solidFill>
              <a:srgbClr val="F2E3D8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4B4657C-E45D-44CD-BC71-2E625D9D8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1733550"/>
            <a:ext cx="800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56" b="1" i="0">
                <a:solidFill>
                  <a:srgbClr val="9D4E24"/>
                </a:solidFill>
                <a:latin typeface="Arial"/>
                <a:ea typeface="Arial"/>
                <a:cs typeface="Arial"/>
              </a:defRPr>
            </a:pPr>
            <a:r>
              <a:rPr sz="756" b="1" i="0">
                <a:solidFill>
                  <a:srgbClr val="9D4E24"/>
                </a:solidFill>
                <a:latin typeface="Arial"/>
                <a:ea typeface="Arial"/>
                <a:cs typeface="Arial"/>
              </a:rPr>
              <a:t>6, 7, 8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6D8DDA4-F9FC-4381-8D34-0ADFBFD6D7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2047875"/>
            <a:ext cx="27146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45" b="1" i="0">
                <a:solidFill>
                  <a:srgbClr val="9D4E24"/>
                </a:solidFill>
                <a:latin typeface="Arial"/>
                <a:ea typeface="Arial"/>
                <a:cs typeface="Arial"/>
              </a:defRPr>
            </a:pPr>
            <a:r>
              <a:rPr sz="945" b="1" i="0">
                <a:solidFill>
                  <a:srgbClr val="9D4E24"/>
                </a:solidFill>
                <a:latin typeface="Arial"/>
                <a:ea typeface="Arial"/>
                <a:cs typeface="Arial"/>
              </a:rPr>
              <a:t>GENERATION ISLAND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D80B89B-7A80-490F-AA9E-C7823FBD6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2314575"/>
            <a:ext cx="27146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3000"/>
              </a:lnSpc>
              <a:buNone/>
              <a:defRPr sz="1050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HRSG, turbine hall and GT inlet</a:t>
            </a:r>
          </a:p>
          <a:p xmlns:a="http://schemas.openxmlformats.org/drawingml/2006/main">
            <a:pPr algn="l">
              <a:lnSpc>
                <a:spcPct val="103000"/>
              </a:lnSpc>
              <a:buNone/>
              <a:defRPr sz="1050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MV/LV/VFD · I&amp;C · F&amp;G/ESD · CEMS · heat trace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44BE2C6-4998-4ADD-B25C-54E9CF5DE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934450" y="3019425"/>
            <a:ext cx="800100" cy="2381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2E3D8"/>
          </a:solidFill>
          <a:ln xmlns:a="http://schemas.openxmlformats.org/drawingml/2006/main" w="9525">
            <a:solidFill>
              <a:srgbClr val="F2E3D8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8DFCEB2-9877-47A3-90FC-88FC200230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3038475"/>
            <a:ext cx="800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56" b="1" i="0">
                <a:solidFill>
                  <a:srgbClr val="9D4E24"/>
                </a:solidFill>
                <a:latin typeface="Arial"/>
                <a:ea typeface="Arial"/>
                <a:cs typeface="Arial"/>
              </a:defRPr>
            </a:pPr>
            <a:r>
              <a:rPr sz="756" b="1" i="0">
                <a:solidFill>
                  <a:srgbClr val="9D4E24"/>
                </a:solidFill>
                <a:latin typeface="Arial"/>
                <a:ea typeface="Arial"/>
                <a:cs typeface="Arial"/>
              </a:rPr>
              <a:t>11, 12, 13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E2B3B4A-B3CD-4A22-975D-95F37B779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3352800"/>
            <a:ext cx="27146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45" b="1" i="0">
                <a:solidFill>
                  <a:srgbClr val="9D4E24"/>
                </a:solidFill>
                <a:latin typeface="Arial"/>
                <a:ea typeface="Arial"/>
                <a:cs typeface="Arial"/>
              </a:defRPr>
            </a:pPr>
            <a:r>
              <a:rPr sz="945" b="1" i="0">
                <a:solidFill>
                  <a:srgbClr val="9D4E24"/>
                </a:solidFill>
                <a:latin typeface="Arial"/>
                <a:ea typeface="Arial"/>
                <a:cs typeface="Arial"/>
              </a:rPr>
              <a:t>HEAT REJECTION + WATER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631A745-E5D4-48FB-9989-9FBA2FC65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3619500"/>
            <a:ext cx="27146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3000"/>
              </a:lnSpc>
              <a:buNone/>
              <a:defRPr sz="1050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ACC, cooling and water/wastewater</a:t>
            </a:r>
          </a:p>
          <a:p xmlns:a="http://schemas.openxmlformats.org/drawingml/2006/main">
            <a:pPr algn="l">
              <a:lnSpc>
                <a:spcPct val="103000"/>
              </a:lnSpc>
              <a:buNone/>
              <a:defRPr sz="1050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Repeated fan/pump power · VFD · controls · wet runs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5A8C467-CE20-456D-BB9F-C83FAC094D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934450" y="4324350"/>
            <a:ext cx="800100" cy="2381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2E3D8"/>
          </a:solidFill>
          <a:ln xmlns:a="http://schemas.openxmlformats.org/drawingml/2006/main" w="9525">
            <a:solidFill>
              <a:srgbClr val="F2E3D8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9BB0FB1-1866-4D54-ADE3-77211A8F9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4343400"/>
            <a:ext cx="800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56" b="1" i="0">
                <a:solidFill>
                  <a:srgbClr val="9D4E24"/>
                </a:solidFill>
                <a:latin typeface="Arial"/>
                <a:ea typeface="Arial"/>
                <a:cs typeface="Arial"/>
              </a:defRPr>
            </a:pPr>
            <a:r>
              <a:rPr sz="756" b="1" i="0">
                <a:solidFill>
                  <a:srgbClr val="9D4E24"/>
                </a:solidFill>
                <a:latin typeface="Arial"/>
                <a:ea typeface="Arial"/>
                <a:cs typeface="Arial"/>
              </a:rPr>
              <a:t>14, 15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768C929-A254-489D-8D15-705FED3A87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4657725"/>
            <a:ext cx="27146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45" b="1" i="0">
                <a:solidFill>
                  <a:srgbClr val="9D4E24"/>
                </a:solidFill>
                <a:latin typeface="Arial"/>
                <a:ea typeface="Arial"/>
                <a:cs typeface="Arial"/>
              </a:defRPr>
            </a:pPr>
            <a:r>
              <a:rPr sz="945" b="1" i="0">
                <a:solidFill>
                  <a:srgbClr val="9D4E24"/>
                </a:solidFill>
                <a:latin typeface="Arial"/>
                <a:ea typeface="Arial"/>
                <a:cs typeface="Arial"/>
              </a:rPr>
              <a:t>OPTIONAL + AUXILIARY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61280B1-D9A6-4726-B19C-3B743B5B8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4924425"/>
            <a:ext cx="27146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3000"/>
              </a:lnSpc>
              <a:buNone/>
              <a:defRPr sz="1050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Carbon capture and gas metering</a:t>
            </a:r>
          </a:p>
          <a:p xmlns:a="http://schemas.openxmlformats.org/drawingml/2006/main">
            <a:pPr algn="l">
              <a:lnSpc>
                <a:spcPct val="103000"/>
              </a:lnSpc>
              <a:buNone/>
              <a:defRPr sz="1050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Classified power/control · instrumentation · F&amp;G · fiber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5D23566-1B31-4E8D-BE90-45195AD7E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52450" y="5867400"/>
            <a:ext cx="110871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9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BC0C618-FF74-433A-AA0C-C035DF6A66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057900"/>
            <a:ext cx="1524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82" b="1" i="0">
                <a:solidFill>
                  <a:srgbClr val="E3A06D"/>
                </a:solidFill>
                <a:latin typeface="Arial"/>
                <a:ea typeface="Arial"/>
                <a:cs typeface="Arial"/>
              </a:defRPr>
            </a:pPr>
            <a:r>
              <a:rPr sz="882" b="1" i="0">
                <a:solidFill>
                  <a:srgbClr val="E3A06D"/>
                </a:solidFill>
                <a:latin typeface="Arial"/>
                <a:ea typeface="Arial"/>
                <a:cs typeface="Arial"/>
              </a:rPr>
              <a:t>CABLE CLASSES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976C07A0-EA26-445C-8DDE-B768A0A8C8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6029325"/>
            <a:ext cx="8972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HV/EHV  |  MV 5-35 kV  |  LV 600 V  |  VFD  |  essential AC/DC  |  I&amp;C  |  fiber/network  |  life safety  |  grounding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98ABFA80-5786-41C9-B6AA-A14DD56F98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343650"/>
            <a:ext cx="1053465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825" b="0" i="0">
                <a:solidFill>
                  <a:srgbClr val="8B9094"/>
                </a:solidFill>
                <a:latin typeface="Arial"/>
                <a:ea typeface="Arial"/>
                <a:cs typeface="Arial"/>
              </a:defRPr>
            </a:pPr>
            <a:r>
              <a:rPr sz="825" b="0" i="0">
                <a:solidFill>
                  <a:srgbClr val="8B9094"/>
                </a:solidFill>
                <a:latin typeface="Arial"/>
                <a:ea typeface="Arial"/>
                <a:cs typeface="Arial"/>
              </a:rPr>
              <a:t>Illustrative—not NRG/IFC. Excludes generator-output bus, OEM wiring and contractor methods.</a:t>
            </a:r>
          </a:p>
        </p:txBody>
      </p:sp>
    </p:spTree>
    <p:extLst>
      <p:ext uri="{BB962C8B-B14F-4D97-AF65-F5344CB8AC3E}">
        <p14:creationId xmlns:p14="http://schemas.microsoft.com/office/powerpoint/2010/main" val="1296255461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6F3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845DC38F-6AE2-41CB-8F67-FE474A831F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783E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9945691857c4426"/>
          <a:stretch xmlns:a="http://schemas.openxmlformats.org/drawingml/2006/main"/>
        </p:blipFill>
        <p:spPr>
          <a:xfrm xmlns:a="http://schemas.openxmlformats.org/drawingml/2006/main">
            <a:off x="719138" y="200025"/>
            <a:ext cx="2066925" cy="59055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89EEA4D-3183-4B6E-8498-78D3FCE2A4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23850"/>
            <a:ext cx="3086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19" b="1" i="0">
                <a:solidFill>
                  <a:srgbClr val="9D4E24"/>
                </a:solidFill>
                <a:latin typeface="Arial"/>
                <a:ea typeface="Arial"/>
                <a:cs typeface="Arial"/>
              </a:defRPr>
            </a:pPr>
            <a:r>
              <a:rPr sz="819" b="1" i="0">
                <a:solidFill>
                  <a:srgbClr val="9D4E24"/>
                </a:solidFill>
                <a:latin typeface="Arial"/>
                <a:ea typeface="Arial"/>
                <a:cs typeface="Arial"/>
              </a:rPr>
              <a:t>INTEGRATED ELECTRICAL DELIVERY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BF28EA1-DF91-47F4-8165-40932299F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323850"/>
            <a:ext cx="323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19" b="1" i="0">
                <a:solidFill>
                  <a:srgbClr val="8B9094"/>
                </a:solidFill>
                <a:latin typeface="Arial"/>
                <a:ea typeface="Arial"/>
                <a:cs typeface="Arial"/>
              </a:defRPr>
            </a:pPr>
            <a:r>
              <a:rPr sz="819" b="1" i="0">
                <a:solidFill>
                  <a:srgbClr val="8B9094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7AF5CC8-9D9B-49E1-BEC1-A70BAD838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76300"/>
            <a:ext cx="1104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82" b="1" i="0">
                <a:solidFill>
                  <a:srgbClr val="9D4E24"/>
                </a:solidFill>
                <a:latin typeface="Arial"/>
                <a:ea typeface="Arial"/>
                <a:cs typeface="Arial"/>
              </a:defRPr>
            </a:pPr>
            <a:r>
              <a:rPr sz="882" b="1" i="0">
                <a:solidFill>
                  <a:srgbClr val="9D4E24"/>
                </a:solidFill>
                <a:latin typeface="Arial"/>
                <a:ea typeface="Arial"/>
                <a:cs typeface="Arial"/>
              </a:rPr>
              <a:t>ONE COORDINATED FLOW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5C0BCAE-551A-42C9-A5AF-140E3EF352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181100"/>
            <a:ext cx="11049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3727"/>
          </a:bodyPr>
          <a:lstStyle xmlns:a="http://schemas.openxmlformats.org/drawingml/2006/main"/>
          <a:p xmlns:a="http://schemas.openxmlformats.org/drawingml/2006/main">
            <a:pPr algn="l">
              <a:lnSpc>
                <a:spcPct val="94000"/>
              </a:lnSpc>
              <a:buNone/>
              <a:defRPr sz="2700" b="1" i="0">
                <a:solidFill>
                  <a:srgbClr val="17191C"/>
                </a:solidFill>
                <a:latin typeface="Arial"/>
                <a:ea typeface="Arial"/>
                <a:cs typeface="Arial"/>
              </a:defRPr>
            </a:pPr>
            <a:r>
              <a:rPr sz="2700" b="1" i="0">
                <a:solidFill>
                  <a:srgbClr val="17191C"/>
                </a:solidFill>
                <a:latin typeface="Arial"/>
                <a:ea typeface="Arial"/>
                <a:cs typeface="Arial"/>
              </a:rPr>
              <a:t>A coordinated electrical delivery system aligns decisions from planning through turnover.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B11B163-FEC6-4A82-AC0D-BFBC738C42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885950"/>
            <a:ext cx="1047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3834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3000"/>
              </a:lnSpc>
              <a:buNone/>
              <a:defRPr sz="1425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Southwire connects application support, material planning, sequenced logistics and field readiness—without changing project accountability.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A0834E0-F0DC-4C90-9E61-78A4552671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181350"/>
            <a:ext cx="100488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C9783E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B7FDA60-6B1B-4154-9A93-CE3D697397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3019425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D4E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84B2944-3C32-41A4-B7DE-F11869E77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" y="3067050"/>
            <a:ext cx="247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56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6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CE862CD-7E83-4193-986F-2224FBD6F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" y="3552825"/>
            <a:ext cx="1733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45" b="1" i="0">
                <a:solidFill>
                  <a:srgbClr val="17191C"/>
                </a:solidFill>
                <a:latin typeface="Arial"/>
                <a:ea typeface="Arial"/>
                <a:cs typeface="Arial"/>
              </a:defRPr>
            </a:pPr>
            <a:r>
              <a:rPr sz="945" b="1" i="0">
                <a:solidFill>
                  <a:srgbClr val="17191C"/>
                </a:solidFill>
                <a:latin typeface="Arial"/>
                <a:ea typeface="Arial"/>
                <a:cs typeface="Arial"/>
              </a:rPr>
              <a:t>PLAN + FORECAST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F86C620-65F1-4F7A-9A35-D59254D61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" y="4019550"/>
            <a:ext cx="17335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25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125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Scope and capacity visibility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9931DE4-5B9D-450F-9375-80FB29CDC1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3019425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78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9E1E8D4-DC48-43E5-BDB0-06DCDDB20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3067050"/>
            <a:ext cx="247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56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6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58442E0-B01E-479C-8535-941AA472B4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3552825"/>
            <a:ext cx="1733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45" b="1" i="0">
                <a:solidFill>
                  <a:srgbClr val="17191C"/>
                </a:solidFill>
                <a:latin typeface="Arial"/>
                <a:ea typeface="Arial"/>
                <a:cs typeface="Arial"/>
              </a:defRPr>
            </a:pPr>
            <a:r>
              <a:rPr sz="945" b="1" i="0">
                <a:solidFill>
                  <a:srgbClr val="17191C"/>
                </a:solidFill>
                <a:latin typeface="Arial"/>
                <a:ea typeface="Arial"/>
                <a:cs typeface="Arial"/>
              </a:rPr>
              <a:t>APPLICATION ALIGNMENT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14735E2-DA32-4A3F-8C89-53B55832ED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4019550"/>
            <a:ext cx="17335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25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125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Codes, duty and alternates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634E919-3F74-49E2-9A5E-3B5E2FE3A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24425" y="3019425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78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546FFC1-96E5-4C04-8540-32DCBFE37D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62525" y="3067050"/>
            <a:ext cx="247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56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6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F4CE0C7-F215-4467-9632-95BC63F3D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9575" y="3552825"/>
            <a:ext cx="1733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45" b="1" i="0">
                <a:solidFill>
                  <a:srgbClr val="17191C"/>
                </a:solidFill>
                <a:latin typeface="Arial"/>
                <a:ea typeface="Arial"/>
                <a:cs typeface="Arial"/>
              </a:defRPr>
            </a:pPr>
            <a:r>
              <a:rPr sz="945" b="1" i="0">
                <a:solidFill>
                  <a:srgbClr val="17191C"/>
                </a:solidFill>
                <a:latin typeface="Arial"/>
                <a:ea typeface="Arial"/>
                <a:cs typeface="Arial"/>
              </a:rPr>
              <a:t>MATERIAL + REEL STRATEGY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A3431A3-A8C2-4B8A-A59B-A3E229E7F7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9575" y="4019550"/>
            <a:ext cx="17335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25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125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Routes, cuts and reel plan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D6F02E7-F294-408E-AE7B-57B98FC76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3019425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78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71FD49B-FA5A-4A7B-A012-300CD02AA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3067050"/>
            <a:ext cx="247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56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6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438CFB6-8269-4816-938F-78C2F8E88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3552825"/>
            <a:ext cx="1733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45" b="1" i="0">
                <a:solidFill>
                  <a:srgbClr val="17191C"/>
                </a:solidFill>
                <a:latin typeface="Arial"/>
                <a:ea typeface="Arial"/>
                <a:cs typeface="Arial"/>
              </a:defRPr>
            </a:pPr>
            <a:r>
              <a:rPr sz="945" b="1" i="0">
                <a:solidFill>
                  <a:srgbClr val="17191C"/>
                </a:solidFill>
                <a:latin typeface="Arial"/>
                <a:ea typeface="Arial"/>
                <a:cs typeface="Arial"/>
              </a:rPr>
              <a:t>RELEASE + LOGISTICS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C77E230-1B0B-4F73-8A24-65663B601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4019550"/>
            <a:ext cx="17335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25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125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Sequence by zone and milestone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44B5AF7-4C1D-43FE-8983-E16EF6213D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3975" y="3019425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78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94CBBF6-3636-4021-9235-7A705BC79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2075" y="3067050"/>
            <a:ext cx="247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56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6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B0B3B82-393B-4C25-86A4-24ECEE8A2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3552825"/>
            <a:ext cx="1733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45" b="1" i="0">
                <a:solidFill>
                  <a:srgbClr val="17191C"/>
                </a:solidFill>
                <a:latin typeface="Arial"/>
                <a:ea typeface="Arial"/>
                <a:cs typeface="Arial"/>
              </a:defRPr>
            </a:pPr>
            <a:r>
              <a:rPr sz="945" b="1" i="0">
                <a:solidFill>
                  <a:srgbClr val="17191C"/>
                </a:solidFill>
                <a:latin typeface="Arial"/>
                <a:ea typeface="Arial"/>
                <a:cs typeface="Arial"/>
              </a:rPr>
              <a:t>INSTALLATION READINESS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2CFCDD8-3BF8-4990-8197-A9083D247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4019550"/>
            <a:ext cx="17335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25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125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Labels, kits and pull planning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917D65D-B844-43A9-A2EB-E9EF8AA9A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3019425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D4E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F09CD09-1EBC-429B-930F-D50F0A39F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850" y="3067050"/>
            <a:ext cx="247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56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6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A521088-E403-43F6-9051-AEE0895D4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48900" y="3552825"/>
            <a:ext cx="1733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45" b="1" i="0">
                <a:solidFill>
                  <a:srgbClr val="17191C"/>
                </a:solidFill>
                <a:latin typeface="Arial"/>
                <a:ea typeface="Arial"/>
                <a:cs typeface="Arial"/>
              </a:defRPr>
            </a:pPr>
            <a:r>
              <a:rPr sz="945" b="1" i="0">
                <a:solidFill>
                  <a:srgbClr val="17191C"/>
                </a:solidFill>
                <a:latin typeface="Arial"/>
                <a:ea typeface="Arial"/>
                <a:cs typeface="Arial"/>
              </a:rPr>
              <a:t>FIELD SUPPORT + TURNOVER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5C15463-1636-4C31-BFCD-F704B9D4D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48900" y="4019550"/>
            <a:ext cx="17335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25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125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Feedback, testing and records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CDCDBBB-418D-4496-B683-1E46A1218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52450" y="4857750"/>
            <a:ext cx="110871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3D8"/>
          </a:solidFill>
          <a:ln xmlns:a="http://schemas.openxmlformats.org/drawingml/2006/main" w="9525">
            <a:solidFill>
              <a:srgbClr val="E2C8B5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0A06570-0838-4403-8C3D-864FB39CF2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095875"/>
            <a:ext cx="2781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8" b="1" i="0">
                <a:solidFill>
                  <a:srgbClr val="9D4E24"/>
                </a:solidFill>
                <a:latin typeface="Arial"/>
                <a:ea typeface="Arial"/>
                <a:cs typeface="Arial"/>
              </a:defRPr>
            </a:pPr>
            <a:r>
              <a:rPr sz="1008" b="1" i="0">
                <a:solidFill>
                  <a:srgbClr val="9D4E24"/>
                </a:solidFill>
                <a:latin typeface="Arial"/>
                <a:ea typeface="Arial"/>
                <a:cs typeface="Arial"/>
              </a:rPr>
              <a:t>SOUTHWIRE COORDINATION RAIL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D384A0D-57CD-4CD1-A4C8-D480259036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1875" y="5038725"/>
            <a:ext cx="76676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0" i="0">
                <a:solidFill>
                  <a:srgbClr val="17191C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17191C"/>
                </a:solidFill>
                <a:latin typeface="Arial"/>
                <a:ea typeface="Arial"/>
                <a:cs typeface="Arial"/>
              </a:rPr>
              <a:t>Shared data  |  governed handoffs  |  field feedback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189880F5-9D2C-4FC8-96E7-B9006D0198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429250"/>
            <a:ext cx="104489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NRG governance, EPC/EOR/OEM design authority and contractor means and methods remain intact.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3A263A00-C9E1-4BDB-B5EE-F25C73D5A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81725"/>
            <a:ext cx="11087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86" b="1" i="0">
                <a:solidFill>
                  <a:srgbClr val="9D4E24"/>
                </a:solidFill>
                <a:latin typeface="Arial"/>
                <a:ea typeface="Arial"/>
                <a:cs typeface="Arial"/>
              </a:defRPr>
            </a:pPr>
            <a:r>
              <a:rPr sz="1386" b="1" i="0">
                <a:solidFill>
                  <a:srgbClr val="9D4E24"/>
                </a:solidFill>
                <a:latin typeface="Arial"/>
                <a:ea typeface="Arial"/>
                <a:cs typeface="Arial"/>
              </a:rPr>
              <a:t>FIELD-ENGINEER WHAT IS UNIQUE. PREFABRICATE WHAT REPEATS.</a:t>
            </a:r>
          </a:p>
        </p:txBody>
      </p:sp>
    </p:spTree>
    <p:extLst>
      <p:ext uri="{BB962C8B-B14F-4D97-AF65-F5344CB8AC3E}">
        <p14:creationId xmlns:p14="http://schemas.microsoft.com/office/powerpoint/2010/main" val="1966944507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6F3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2437775-3E93-49D5-913C-6EC2B803F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783E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2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541a94199674e25"/>
          <a:stretch xmlns:a="http://schemas.openxmlformats.org/drawingml/2006/main"/>
        </p:blipFill>
        <p:spPr>
          <a:xfrm xmlns:a="http://schemas.openxmlformats.org/drawingml/2006/main">
            <a:off x="719138" y="200025"/>
            <a:ext cx="2066925" cy="59055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64C3922-3AF7-4484-BCAC-B9116A3B1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23850"/>
            <a:ext cx="3086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19" b="1" i="0">
                <a:solidFill>
                  <a:srgbClr val="9D4E24"/>
                </a:solidFill>
                <a:latin typeface="Arial"/>
                <a:ea typeface="Arial"/>
                <a:cs typeface="Arial"/>
              </a:defRPr>
            </a:pPr>
            <a:r>
              <a:rPr sz="819" b="1" i="0">
                <a:solidFill>
                  <a:srgbClr val="9D4E24"/>
                </a:solidFill>
                <a:latin typeface="Arial"/>
                <a:ea typeface="Arial"/>
                <a:cs typeface="Arial"/>
              </a:rPr>
              <a:t>VALUE TO NRG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CD0BC42-5E53-4971-871E-BD3B868EC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323850"/>
            <a:ext cx="323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19" b="1" i="0">
                <a:solidFill>
                  <a:srgbClr val="8B9094"/>
                </a:solidFill>
                <a:latin typeface="Arial"/>
                <a:ea typeface="Arial"/>
                <a:cs typeface="Arial"/>
              </a:defRPr>
            </a:pPr>
            <a:r>
              <a:rPr sz="819" b="1" i="0">
                <a:solidFill>
                  <a:srgbClr val="8B9094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65839EC-62AD-43FB-B350-14025AC617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76300"/>
            <a:ext cx="1104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82" b="1" i="0">
                <a:solidFill>
                  <a:srgbClr val="9D4E24"/>
                </a:solidFill>
                <a:latin typeface="Arial"/>
                <a:ea typeface="Arial"/>
                <a:cs typeface="Arial"/>
              </a:defRPr>
            </a:pPr>
            <a:r>
              <a:rPr sz="882" b="1" i="0">
                <a:solidFill>
                  <a:srgbClr val="9D4E24"/>
                </a:solidFill>
                <a:latin typeface="Arial"/>
                <a:ea typeface="Arial"/>
                <a:cs typeface="Arial"/>
              </a:rPr>
              <a:t>THE OUTCOME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8D6F92C-E4CC-426C-AFD2-A06B43E702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181100"/>
            <a:ext cx="1104900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7034"/>
          </a:bodyPr>
          <a:lstStyle xmlns:a="http://schemas.openxmlformats.org/drawingml/2006/main"/>
          <a:p xmlns:a="http://schemas.openxmlformats.org/drawingml/2006/main">
            <a:pPr algn="l">
              <a:lnSpc>
                <a:spcPct val="94000"/>
              </a:lnSpc>
              <a:buNone/>
              <a:defRPr sz="2775" b="1" i="0">
                <a:solidFill>
                  <a:srgbClr val="17191C"/>
                </a:solidFill>
                <a:latin typeface="Arial"/>
                <a:ea typeface="Arial"/>
                <a:cs typeface="Arial"/>
              </a:defRPr>
            </a:pPr>
            <a:r>
              <a:rPr sz="2775" b="1" i="0">
                <a:solidFill>
                  <a:srgbClr val="17191C"/>
                </a:solidFill>
                <a:latin typeface="Arial"/>
                <a:ea typeface="Arial"/>
                <a:cs typeface="Arial"/>
              </a:rPr>
              <a:t>The value to NRG is fewer execution surprises—not more supplier services.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F172E7E-7CF0-4FF4-B395-AAF4727BC6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885950"/>
            <a:ext cx="876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Three owner lenses matter: schedule exposure, installed effort and lifecycle continuity.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B363EC5-AFC3-4CDF-A1E7-75190DCAD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543175"/>
            <a:ext cx="3143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803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71" b="1" i="0">
                <a:solidFill>
                  <a:srgbClr val="9D4E24"/>
                </a:solidFill>
                <a:latin typeface="Arial"/>
                <a:ea typeface="Arial"/>
                <a:cs typeface="Arial"/>
              </a:defRPr>
            </a:pPr>
            <a:r>
              <a:rPr sz="1071" b="1" i="0">
                <a:solidFill>
                  <a:srgbClr val="9D4E24"/>
                </a:solidFill>
                <a:latin typeface="Arial"/>
                <a:ea typeface="Arial"/>
                <a:cs typeface="Arial"/>
              </a:rPr>
              <a:t>ALIGN APPLICATIONS + INTERFACES EARLY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EF21814-B62E-4AD3-A738-66F0119B2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857625" y="2600325"/>
            <a:ext cx="800100" cy="2095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C978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98D6904-2C04-4FAD-8B52-649BF856D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1575" y="2495550"/>
            <a:ext cx="62388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75" b="1" i="0">
                <a:solidFill>
                  <a:srgbClr val="17191C"/>
                </a:solidFill>
                <a:latin typeface="Arial"/>
                <a:ea typeface="Arial"/>
                <a:cs typeface="Arial"/>
              </a:defRPr>
            </a:pPr>
            <a:r>
              <a:rPr sz="1875" b="1" i="0">
                <a:solidFill>
                  <a:srgbClr val="17191C"/>
                </a:solidFill>
                <a:latin typeface="Arial"/>
                <a:ea typeface="Arial"/>
                <a:cs typeface="Arial"/>
              </a:rPr>
              <a:t>Fewer late changes and handoff failures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505D1D6-7831-450F-9EF0-976D92E0E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00400"/>
            <a:ext cx="11087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D1C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DBB2274-C5E4-420A-B9D4-087A8C65C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362325"/>
            <a:ext cx="3143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71" b="1" i="0">
                <a:solidFill>
                  <a:srgbClr val="9D4E24"/>
                </a:solidFill>
                <a:latin typeface="Arial"/>
                <a:ea typeface="Arial"/>
                <a:cs typeface="Arial"/>
              </a:defRPr>
            </a:pPr>
            <a:r>
              <a:rPr sz="1071" b="1" i="0">
                <a:solidFill>
                  <a:srgbClr val="9D4E24"/>
                </a:solidFill>
                <a:latin typeface="Arial"/>
                <a:ea typeface="Arial"/>
                <a:cs typeface="Arial"/>
              </a:rPr>
              <a:t>GATE CAPACITY + RELEASES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44D9CBE-51A7-4E75-989A-CADF649D0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857625" y="3419475"/>
            <a:ext cx="800100" cy="2095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C978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763C693-0150-40E6-92D8-4A69BE5B9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1575" y="3314700"/>
            <a:ext cx="62388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75" b="1" i="0">
                <a:solidFill>
                  <a:srgbClr val="17191C"/>
                </a:solidFill>
                <a:latin typeface="Arial"/>
                <a:ea typeface="Arial"/>
                <a:cs typeface="Arial"/>
              </a:defRPr>
            </a:pPr>
            <a:r>
              <a:rPr sz="1875" b="1" i="0">
                <a:solidFill>
                  <a:srgbClr val="17191C"/>
                </a:solidFill>
                <a:latin typeface="Arial"/>
                <a:ea typeface="Arial"/>
                <a:cs typeface="Arial"/>
              </a:rPr>
              <a:t>More predictable material availability and sequencing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0D6F99D-2944-40B1-B07C-0ED784C7F1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19550"/>
            <a:ext cx="11087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D1C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F963077-AE25-4178-9491-1261214E2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81475"/>
            <a:ext cx="3143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803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71" b="1" i="0">
                <a:solidFill>
                  <a:srgbClr val="9D4E24"/>
                </a:solidFill>
                <a:latin typeface="Arial"/>
                <a:ea typeface="Arial"/>
                <a:cs typeface="Arial"/>
              </a:defRPr>
            </a:pPr>
            <a:r>
              <a:rPr sz="1071" b="1" i="0">
                <a:solidFill>
                  <a:srgbClr val="9D4E24"/>
                </a:solidFill>
                <a:latin typeface="Arial"/>
                <a:ea typeface="Arial"/>
                <a:cs typeface="Arial"/>
              </a:rPr>
              <a:t>PLAN REELS + REPEATABLE SETS TO THE WORKFACE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CE0C038-7A77-4059-9A7E-C055825B20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857625" y="4238625"/>
            <a:ext cx="800100" cy="2095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C978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CC86F1B-38F8-481C-BAAD-A6A3BE2AC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1575" y="4133850"/>
            <a:ext cx="62388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75" b="1" i="0">
                <a:solidFill>
                  <a:srgbClr val="17191C"/>
                </a:solidFill>
                <a:latin typeface="Arial"/>
                <a:ea typeface="Arial"/>
                <a:cs typeface="Arial"/>
              </a:defRPr>
            </a:pPr>
            <a:r>
              <a:rPr sz="1875" b="1" i="0">
                <a:solidFill>
                  <a:srgbClr val="17191C"/>
                </a:solidFill>
                <a:latin typeface="Arial"/>
                <a:ea typeface="Arial"/>
                <a:cs typeface="Arial"/>
              </a:rPr>
              <a:t>Less handling and avoidable rework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36ADE07-9F3C-472D-9C02-0E98D2863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838700"/>
            <a:ext cx="11087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D1C8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03D9E0F-899F-465B-9D14-0E8140D9C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000625"/>
            <a:ext cx="3143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803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71" b="1" i="0">
                <a:solidFill>
                  <a:srgbClr val="9D4E24"/>
                </a:solidFill>
                <a:latin typeface="Arial"/>
                <a:ea typeface="Arial"/>
                <a:cs typeface="Arial"/>
              </a:defRPr>
            </a:pPr>
            <a:r>
              <a:rPr sz="1071" b="1" i="0">
                <a:solidFill>
                  <a:srgbClr val="9D4E24"/>
                </a:solidFill>
                <a:latin typeface="Arial"/>
                <a:ea typeface="Arial"/>
                <a:cs typeface="Arial"/>
              </a:rPr>
              <a:t>CARRY FIELD RECORDS THROUGH TURNOVER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E24CD7B-2E17-42BA-9028-F64F5CC438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857625" y="5057775"/>
            <a:ext cx="800100" cy="2095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9D4E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A4DFB31-3CCD-4CDA-A12D-1DC6EE0EF1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1575" y="4953000"/>
            <a:ext cx="62388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75" b="1" i="0">
                <a:solidFill>
                  <a:srgbClr val="17191C"/>
                </a:solidFill>
                <a:latin typeface="Arial"/>
                <a:ea typeface="Arial"/>
                <a:cs typeface="Arial"/>
              </a:defRPr>
            </a:pPr>
            <a:r>
              <a:rPr sz="1875" b="1" i="0">
                <a:solidFill>
                  <a:srgbClr val="17191C"/>
                </a:solidFill>
                <a:latin typeface="Arial"/>
                <a:ea typeface="Arial"/>
                <a:cs typeface="Arial"/>
              </a:rPr>
              <a:t>Cleaner commissioning and lifecycle continuity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D622249-1E5A-4CE7-93D5-B101EE577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52450" y="5895975"/>
            <a:ext cx="1108710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9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1EDD42A-983E-4ADF-8EAC-63D346842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6038850"/>
            <a:ext cx="106299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34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34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OUTCOME HYPOTHESES TO VALIDATE ON ONE LIVE NRG SCOPE.</a:t>
            </a:r>
          </a:p>
        </p:txBody>
      </p:sp>
    </p:spTree>
    <p:extLst>
      <p:ext uri="{BB962C8B-B14F-4D97-AF65-F5344CB8AC3E}">
        <p14:creationId xmlns:p14="http://schemas.microsoft.com/office/powerpoint/2010/main" val="492488797"/>
      </p:ext>
    </p:extLst>
  </p:cSld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6F3EE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01" name=""/>
          <p:cNvSpPr>
            <a:spLocks noGrp="1"/>
          </p:cNvSpPr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C9783E"/>
          </a:solidFill>
          <a:ln w="0">
            <a:noFill/>
            <a:prstDash val="solid"/>
          </a:ln>
        </p:spPr>
      </p:sp>
      <p:pic>
        <p:nvPicPr>
          <p:cNvPr id="102" name=""/>
          <p:cNvPicPr>
            <a:picLocks noChangeAspect="1"/>
          </p:cNvPicPr>
          <p:nvPr/>
        </p:nvPicPr>
        <p:blipFill>
          <a:blip r:embed="rId1"/>
          <a:stretch/>
        </p:blipFill>
        <p:spPr>
          <a:xfrm>
            <a:off x="719138" y="200025"/>
            <a:ext cx="2066925" cy="590550"/>
          </a:xfrm>
          <a:prstGeom prst="rect">
            <a:avLst/>
          </a:prstGeom>
        </p:spPr>
      </p:pic>
      <p:sp>
        <p:nvSpPr>
          <p:cNvPr id="103" name=""/>
          <p:cNvSpPr>
            <a:spLocks noGrp="1"/>
          </p:cNvSpPr>
          <p:nvPr/>
        </p:nvSpPr>
        <p:spPr>
          <a:xfrm>
            <a:off x="7325360" y="323850"/>
            <a:ext cx="3600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r">
              <a:lnSpc>
                <a:spcPct val="100000"/>
              </a:lnSpc>
              <a:buNone/>
            </a:pPr>
            <a:r>
              <a:rPr sz="819" b="1" i="0">
                <a:solidFill>
                  <a:srgbClr val="9D4E24"/>
                </a:solidFill>
                <a:latin typeface="Arial"/>
                <a:ea typeface="Arial"/>
                <a:cs typeface="Arial"/>
              </a:rPr>
              <a:t>OWNER VALUE LEVERS</a:t>
            </a:r>
          </a:p>
        </p:txBody>
      </p:sp>
      <p:sp>
        <p:nvSpPr>
          <p:cNvPr id="104" name=""/>
          <p:cNvSpPr>
            <a:spLocks noGrp="1"/>
          </p:cNvSpPr>
          <p:nvPr/>
        </p:nvSpPr>
        <p:spPr>
          <a:xfrm>
            <a:off x="11060000" y="323850"/>
            <a:ext cx="600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r">
              <a:lnSpc>
                <a:spcPct val="100000"/>
              </a:lnSpc>
              <a:buNone/>
            </a:pPr>
            <a:r>
              <a:rPr sz="819" b="1" i="0">
                <a:solidFill>
                  <a:srgbClr val="8B9094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  <p:sp>
        <p:nvSpPr>
          <p:cNvPr id="105" name=""/>
          <p:cNvSpPr>
            <a:spLocks noGrp="1"/>
          </p:cNvSpPr>
          <p:nvPr/>
        </p:nvSpPr>
        <p:spPr>
          <a:xfrm>
            <a:off x="719138" y="1005840"/>
            <a:ext cx="8500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882" b="1" i="0">
                <a:solidFill>
                  <a:srgbClr val="C9783E"/>
                </a:solidFill>
                <a:latin typeface="Arial"/>
                <a:ea typeface="Arial"/>
                <a:cs typeface="Arial"/>
              </a:rPr>
              <a:t>OWNER ECONOMICS</a:t>
            </a:r>
          </a:p>
        </p:txBody>
      </p:sp>
      <p:sp>
        <p:nvSpPr>
          <p:cNvPr id="106" name=""/>
          <p:cNvSpPr>
            <a:spLocks noGrp="1"/>
          </p:cNvSpPr>
          <p:nvPr/>
        </p:nvSpPr>
        <p:spPr>
          <a:xfrm>
            <a:off x="719138" y="1280160"/>
            <a:ext cx="10753724" cy="80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</a:pPr>
            <a:r>
              <a:rPr sz="2850" b="1" i="0">
                <a:solidFill>
                  <a:srgbClr val="17191C"/>
                </a:solidFill>
                <a:latin typeface="Arial"/>
                <a:ea typeface="Arial"/>
                <a:cs typeface="Arial"/>
              </a:rPr>
              <a:t>Cable is a small cost category with outsized execution consequences.</a:t>
            </a:r>
          </a:p>
        </p:txBody>
      </p:sp>
      <p:sp>
        <p:nvSpPr>
          <p:cNvPr id="107" name=""/>
          <p:cNvSpPr>
            <a:spLocks noGrp="1"/>
          </p:cNvSpPr>
          <p:nvPr/>
        </p:nvSpPr>
        <p:spPr>
          <a:xfrm>
            <a:off x="719138" y="2286000"/>
            <a:ext cx="10753724" cy="30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8000"/>
              </a:lnSpc>
              <a:buNone/>
            </a:pPr>
            <a:r>
              <a:rPr sz="10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The owner case is not unit price alone; it is how electrical decisions influence COD readiness, installed effort, capital certainty and lifecycle continuity.</a:t>
            </a:r>
          </a:p>
        </p:txBody>
      </p:sp>
      <p:sp>
        <p:nvSpPr>
          <p:cNvPr id="108" name=""/>
          <p:cNvSpPr>
            <a:spLocks noGrp="1"/>
          </p:cNvSpPr>
          <p:nvPr/>
        </p:nvSpPr>
        <p:spPr>
          <a:xfrm>
            <a:off x="719138" y="2606040"/>
            <a:ext cx="5237862" cy="1554480"/>
          </a:xfrm>
          <a:prstGeom prst="rect">
            <a:avLst/>
          </a:prstGeom>
          <a:solidFill>
            <a:srgbClr val="FFFFFF"/>
          </a:solidFill>
          <a:ln w="9525">
            <a:solidFill>
              <a:srgbClr val="D8D1C8"/>
            </a:solidFill>
            <a:prstDash val="solid"/>
          </a:ln>
        </p:spPr>
      </p:sp>
      <p:sp>
        <p:nvSpPr>
          <p:cNvPr id="109" name=""/>
          <p:cNvSpPr>
            <a:spLocks noGrp="1"/>
          </p:cNvSpPr>
          <p:nvPr/>
        </p:nvSpPr>
        <p:spPr>
          <a:xfrm>
            <a:off x="947738" y="2788920"/>
            <a:ext cx="594360" cy="27432"/>
          </a:xfrm>
          <a:prstGeom prst="rect">
            <a:avLst/>
          </a:prstGeom>
          <a:solidFill>
            <a:srgbClr val="C9783E"/>
          </a:solidFill>
          <a:ln w="0">
            <a:noFill/>
            <a:prstDash val="solid"/>
          </a:ln>
        </p:spPr>
      </p:sp>
      <p:sp>
        <p:nvSpPr>
          <p:cNvPr id="110" name=""/>
          <p:cNvSpPr>
            <a:spLocks noGrp="1"/>
          </p:cNvSpPr>
          <p:nvPr/>
        </p:nvSpPr>
        <p:spPr>
          <a:xfrm>
            <a:off x="947738" y="2880360"/>
            <a:ext cx="59436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819" b="1" i="0">
                <a:solidFill>
                  <a:srgbClr val="C9783E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111" name=""/>
          <p:cNvSpPr>
            <a:spLocks noGrp="1"/>
          </p:cNvSpPr>
          <p:nvPr/>
        </p:nvSpPr>
        <p:spPr>
          <a:xfrm>
            <a:off x="1587818" y="2880360"/>
            <a:ext cx="4140582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1008" b="1" i="0">
                <a:solidFill>
                  <a:srgbClr val="9D4E24"/>
                </a:solidFill>
                <a:latin typeface="Arial"/>
                <a:ea typeface="Arial"/>
                <a:cs typeface="Arial"/>
              </a:rPr>
              <a:t>COD / REVENUE START</a:t>
            </a:r>
          </a:p>
        </p:txBody>
      </p:sp>
      <p:sp>
        <p:nvSpPr>
          <p:cNvPr id="112" name=""/>
          <p:cNvSpPr>
            <a:spLocks noGrp="1"/>
          </p:cNvSpPr>
          <p:nvPr/>
        </p:nvSpPr>
        <p:spPr>
          <a:xfrm>
            <a:off x="947738" y="3200400"/>
            <a:ext cx="4780662" cy="80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10000"/>
              </a:lnSpc>
              <a:buNone/>
            </a:pPr>
            <a:r>
              <a:rPr sz="10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Capacity visibility, release timing and installation readiness can influence energization milestones.</a:t>
            </a:r>
          </a:p>
        </p:txBody>
      </p:sp>
      <p:sp>
        <p:nvSpPr>
          <p:cNvPr id="113" name=""/>
          <p:cNvSpPr>
            <a:spLocks noGrp="1"/>
          </p:cNvSpPr>
          <p:nvPr/>
        </p:nvSpPr>
        <p:spPr>
          <a:xfrm>
            <a:off x="6235130" y="2606040"/>
            <a:ext cx="5237862" cy="1554480"/>
          </a:xfrm>
          <a:prstGeom prst="rect">
            <a:avLst/>
          </a:prstGeom>
          <a:solidFill>
            <a:srgbClr val="FFFFFF"/>
          </a:solidFill>
          <a:ln w="9525">
            <a:solidFill>
              <a:srgbClr val="D8D1C8"/>
            </a:solidFill>
            <a:prstDash val="solid"/>
          </a:ln>
        </p:spPr>
      </p:sp>
      <p:sp>
        <p:nvSpPr>
          <p:cNvPr id="114" name=""/>
          <p:cNvSpPr>
            <a:spLocks noGrp="1"/>
          </p:cNvSpPr>
          <p:nvPr/>
        </p:nvSpPr>
        <p:spPr>
          <a:xfrm>
            <a:off x="6463730" y="2788920"/>
            <a:ext cx="594360" cy="27432"/>
          </a:xfrm>
          <a:prstGeom prst="rect">
            <a:avLst/>
          </a:prstGeom>
          <a:solidFill>
            <a:srgbClr val="C9783E"/>
          </a:solidFill>
          <a:ln w="0">
            <a:noFill/>
            <a:prstDash val="solid"/>
          </a:ln>
        </p:spPr>
      </p:sp>
      <p:sp>
        <p:nvSpPr>
          <p:cNvPr id="115" name=""/>
          <p:cNvSpPr>
            <a:spLocks noGrp="1"/>
          </p:cNvSpPr>
          <p:nvPr/>
        </p:nvSpPr>
        <p:spPr>
          <a:xfrm>
            <a:off x="6463730" y="2880360"/>
            <a:ext cx="59436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819" b="1" i="0">
                <a:solidFill>
                  <a:srgbClr val="C9783E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16" name=""/>
          <p:cNvSpPr>
            <a:spLocks noGrp="1"/>
          </p:cNvSpPr>
          <p:nvPr/>
        </p:nvSpPr>
        <p:spPr>
          <a:xfrm>
            <a:off x="7103810" y="2880360"/>
            <a:ext cx="4140582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1008" b="1" i="0">
                <a:solidFill>
                  <a:srgbClr val="9D4E24"/>
                </a:solidFill>
                <a:latin typeface="Arial"/>
                <a:ea typeface="Arial"/>
                <a:cs typeface="Arial"/>
              </a:rPr>
              <a:t>INSTALLED COST</a:t>
            </a:r>
          </a:p>
        </p:txBody>
      </p:sp>
      <p:sp>
        <p:nvSpPr>
          <p:cNvPr id="117" name=""/>
          <p:cNvSpPr>
            <a:spLocks noGrp="1"/>
          </p:cNvSpPr>
          <p:nvPr/>
        </p:nvSpPr>
        <p:spPr>
          <a:xfrm>
            <a:off x="6463730" y="3200400"/>
            <a:ext cx="4780662" cy="80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10000"/>
              </a:lnSpc>
              <a:buNone/>
            </a:pPr>
            <a:r>
              <a:rPr sz="10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Routes, reels, cuts, pulls, congestion and rework often matter more than purchase price alone.</a:t>
            </a:r>
          </a:p>
        </p:txBody>
      </p:sp>
      <p:sp>
        <p:nvSpPr>
          <p:cNvPr id="118" name=""/>
          <p:cNvSpPr>
            <a:spLocks noGrp="1"/>
          </p:cNvSpPr>
          <p:nvPr/>
        </p:nvSpPr>
        <p:spPr>
          <a:xfrm>
            <a:off x="719138" y="4434840"/>
            <a:ext cx="5237862" cy="1554480"/>
          </a:xfrm>
          <a:prstGeom prst="rect">
            <a:avLst/>
          </a:prstGeom>
          <a:solidFill>
            <a:srgbClr val="FFFFFF"/>
          </a:solidFill>
          <a:ln w="9525">
            <a:solidFill>
              <a:srgbClr val="D8D1C8"/>
            </a:solidFill>
            <a:prstDash val="solid"/>
          </a:ln>
        </p:spPr>
      </p:sp>
      <p:sp>
        <p:nvSpPr>
          <p:cNvPr id="119" name=""/>
          <p:cNvSpPr>
            <a:spLocks noGrp="1"/>
          </p:cNvSpPr>
          <p:nvPr/>
        </p:nvSpPr>
        <p:spPr>
          <a:xfrm>
            <a:off x="947738" y="4617720"/>
            <a:ext cx="594360" cy="27432"/>
          </a:xfrm>
          <a:prstGeom prst="rect">
            <a:avLst/>
          </a:prstGeom>
          <a:solidFill>
            <a:srgbClr val="C9783E"/>
          </a:solidFill>
          <a:ln w="0">
            <a:noFill/>
            <a:prstDash val="solid"/>
          </a:ln>
        </p:spPr>
      </p:sp>
      <p:sp>
        <p:nvSpPr>
          <p:cNvPr id="120" name=""/>
          <p:cNvSpPr>
            <a:spLocks noGrp="1"/>
          </p:cNvSpPr>
          <p:nvPr/>
        </p:nvSpPr>
        <p:spPr>
          <a:xfrm>
            <a:off x="947738" y="4709160"/>
            <a:ext cx="59436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819" b="1" i="0">
                <a:solidFill>
                  <a:srgbClr val="C9783E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21" name=""/>
          <p:cNvSpPr>
            <a:spLocks noGrp="1"/>
          </p:cNvSpPr>
          <p:nvPr/>
        </p:nvSpPr>
        <p:spPr>
          <a:xfrm>
            <a:off x="1587818" y="4709160"/>
            <a:ext cx="4140582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1008" b="1" i="0">
                <a:solidFill>
                  <a:srgbClr val="9D4E24"/>
                </a:solidFill>
                <a:latin typeface="Arial"/>
                <a:ea typeface="Arial"/>
                <a:cs typeface="Arial"/>
              </a:rPr>
              <a:t>CAPITAL CERTAINTY</a:t>
            </a:r>
          </a:p>
        </p:txBody>
      </p:sp>
      <p:sp>
        <p:nvSpPr>
          <p:cNvPr id="122" name=""/>
          <p:cNvSpPr>
            <a:spLocks noGrp="1"/>
          </p:cNvSpPr>
          <p:nvPr/>
        </p:nvSpPr>
        <p:spPr>
          <a:xfrm>
            <a:off x="947738" y="5029200"/>
            <a:ext cx="4780662" cy="80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10000"/>
              </a:lnSpc>
              <a:buNone/>
            </a:pPr>
            <a:r>
              <a:rPr sz="10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Earlier scope visibility supports commodity planning, material allocation and contingency discipline.</a:t>
            </a:r>
          </a:p>
        </p:txBody>
      </p:sp>
      <p:sp>
        <p:nvSpPr>
          <p:cNvPr id="123" name=""/>
          <p:cNvSpPr>
            <a:spLocks noGrp="1"/>
          </p:cNvSpPr>
          <p:nvPr/>
        </p:nvSpPr>
        <p:spPr>
          <a:xfrm>
            <a:off x="6235130" y="4434840"/>
            <a:ext cx="5237862" cy="1554480"/>
          </a:xfrm>
          <a:prstGeom prst="rect">
            <a:avLst/>
          </a:prstGeom>
          <a:solidFill>
            <a:srgbClr val="FFFFFF"/>
          </a:solidFill>
          <a:ln w="9525">
            <a:solidFill>
              <a:srgbClr val="D8D1C8"/>
            </a:solidFill>
            <a:prstDash val="solid"/>
          </a:ln>
        </p:spPr>
      </p:sp>
      <p:sp>
        <p:nvSpPr>
          <p:cNvPr id="124" name=""/>
          <p:cNvSpPr>
            <a:spLocks noGrp="1"/>
          </p:cNvSpPr>
          <p:nvPr/>
        </p:nvSpPr>
        <p:spPr>
          <a:xfrm>
            <a:off x="6463730" y="4617720"/>
            <a:ext cx="594360" cy="27432"/>
          </a:xfrm>
          <a:prstGeom prst="rect">
            <a:avLst/>
          </a:prstGeom>
          <a:solidFill>
            <a:srgbClr val="C9783E"/>
          </a:solidFill>
          <a:ln w="0">
            <a:noFill/>
            <a:prstDash val="solid"/>
          </a:ln>
        </p:spPr>
      </p:sp>
      <p:sp>
        <p:nvSpPr>
          <p:cNvPr id="125" name=""/>
          <p:cNvSpPr>
            <a:spLocks noGrp="1"/>
          </p:cNvSpPr>
          <p:nvPr/>
        </p:nvSpPr>
        <p:spPr>
          <a:xfrm>
            <a:off x="6463730" y="4709160"/>
            <a:ext cx="59436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819" b="1" i="0">
                <a:solidFill>
                  <a:srgbClr val="C9783E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126" name=""/>
          <p:cNvSpPr>
            <a:spLocks noGrp="1"/>
          </p:cNvSpPr>
          <p:nvPr/>
        </p:nvSpPr>
        <p:spPr>
          <a:xfrm>
            <a:off x="7103810" y="4709160"/>
            <a:ext cx="4140582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1008" b="1" i="0">
                <a:solidFill>
                  <a:srgbClr val="9D4E24"/>
                </a:solidFill>
                <a:latin typeface="Arial"/>
                <a:ea typeface="Arial"/>
                <a:cs typeface="Arial"/>
              </a:rPr>
              <a:t>AVAILABILITY / LIFECYCLE</a:t>
            </a:r>
          </a:p>
        </p:txBody>
      </p:sp>
      <p:sp>
        <p:nvSpPr>
          <p:cNvPr id="127" name=""/>
          <p:cNvSpPr>
            <a:spLocks noGrp="1"/>
          </p:cNvSpPr>
          <p:nvPr/>
        </p:nvSpPr>
        <p:spPr>
          <a:xfrm>
            <a:off x="6463730" y="5029200"/>
            <a:ext cx="4780662" cy="80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10000"/>
              </a:lnSpc>
              <a:buNone/>
            </a:pPr>
            <a:r>
              <a:rPr sz="10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Turnover records, spares, condition screens and replacement planning support long-term continuity.</a:t>
            </a:r>
          </a:p>
        </p:txBody>
      </p:sp>
      <p:sp>
        <p:nvSpPr>
          <p:cNvPr id="128" name=""/>
          <p:cNvSpPr>
            <a:spLocks noGrp="1"/>
          </p:cNvSpPr>
          <p:nvPr/>
        </p:nvSpPr>
        <p:spPr>
          <a:xfrm>
            <a:off x="719138" y="6315000"/>
            <a:ext cx="10753724" cy="400000"/>
          </a:xfrm>
          <a:prstGeom prst="rect">
            <a:avLst/>
          </a:prstGeom>
          <a:solidFill>
            <a:srgbClr val="17191C"/>
          </a:solidFill>
          <a:ln w="0">
            <a:noFill/>
            <a:prstDash val="solid"/>
          </a:ln>
        </p:spPr>
      </p:sp>
      <p:sp>
        <p:nvSpPr>
          <p:cNvPr id="129" name=""/>
          <p:cNvSpPr>
            <a:spLocks noGrp="1"/>
          </p:cNvSpPr>
          <p:nvPr/>
        </p:nvSpPr>
        <p:spPr>
          <a:xfrm>
            <a:off x="719138" y="6315000"/>
            <a:ext cx="10753724" cy="40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</a:pPr>
            <a:r>
              <a:rPr sz="882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VALIDATE THE VALUE ON ONE LIVE NRG SCOPE </a:t>
            </a:r>
            <a:r>
              <a:rPr sz="882" b="1" i="0">
                <a:solidFill>
                  <a:srgbClr val="C9783E"/>
                </a:solidFill>
                <a:latin typeface="Arial"/>
                <a:ea typeface="Arial"/>
                <a:cs typeface="Arial"/>
              </a:rPr>
              <a:t>— DO NOT ASSUME SAVINGS.</a:t>
            </a:r>
          </a:p>
        </p:txBody>
      </p:sp>
    </p:spTree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22252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6A8162B-F601-4993-98BE-8D3BBB694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783E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2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ee1c5f2262e4319"/>
          <a:srcRect xmlns:a="http://schemas.openxmlformats.org/drawingml/2006/main" l="8771" t="0" r="8771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52450" y="209550"/>
            <a:ext cx="2457450" cy="4191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8FD36E9-20DA-46F1-ACA1-252C5BC61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23850"/>
            <a:ext cx="3086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19" b="1" i="0">
                <a:solidFill>
                  <a:srgbClr val="E3A06D"/>
                </a:solidFill>
                <a:latin typeface="Arial"/>
                <a:ea typeface="Arial"/>
                <a:cs typeface="Arial"/>
              </a:defRPr>
            </a:pPr>
            <a:r>
              <a:rPr sz="819" b="1" i="0">
                <a:solidFill>
                  <a:srgbClr val="E3A06D"/>
                </a:solidFill>
                <a:latin typeface="Arial"/>
                <a:ea typeface="Arial"/>
                <a:cs typeface="Arial"/>
              </a:rPr>
              <a:t>ADJACENT EXPERIENCE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0E4AB5C-7EC8-420D-B720-AC3E8A2FE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323850"/>
            <a:ext cx="323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19" b="1" i="0">
                <a:solidFill>
                  <a:srgbClr val="8B9094"/>
                </a:solidFill>
                <a:latin typeface="Arial"/>
                <a:ea typeface="Arial"/>
                <a:cs typeface="Arial"/>
              </a:defRPr>
            </a:pPr>
            <a:r>
              <a:rPr sz="819" b="1" i="0">
                <a:solidFill>
                  <a:srgbClr val="8B9094"/>
                </a:solidFill>
                <a:latin typeface="Arial"/>
                <a:ea typeface="Arial"/>
                <a:cs typeface="Arial"/>
              </a:rPr>
              <a:t>09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678909B-CBB8-472D-9EB7-45D22A318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76300"/>
            <a:ext cx="1104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82" b="1" i="0">
                <a:solidFill>
                  <a:srgbClr val="E3A06D"/>
                </a:solidFill>
                <a:latin typeface="Arial"/>
                <a:ea typeface="Arial"/>
                <a:cs typeface="Arial"/>
              </a:defRPr>
            </a:pPr>
            <a:r>
              <a:rPr sz="882" b="1" i="0">
                <a:solidFill>
                  <a:srgbClr val="E3A06D"/>
                </a:solidFill>
                <a:latin typeface="Arial"/>
                <a:ea typeface="Arial"/>
                <a:cs typeface="Arial"/>
              </a:rPr>
              <a:t>ILLUSTRATIVE ADJACENT-MARKET BENCHMARK  |  NOT AN NRG RESULT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88CB839-CF33-46DF-BEAB-0097A59E0E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181100"/>
            <a:ext cx="11049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4763"/>
          </a:bodyPr>
          <a:lstStyle xmlns:a="http://schemas.openxmlformats.org/drawingml/2006/main"/>
          <a:p xmlns:a="http://schemas.openxmlformats.org/drawingml/2006/main">
            <a:pPr algn="l">
              <a:lnSpc>
                <a:spcPct val="94000"/>
              </a:lnSpc>
              <a:buNone/>
              <a:defRPr sz="277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775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Adjacent experience indicates where to test—not what NRG will save.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463E3EC-1859-40FD-913D-354070C70F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914525"/>
            <a:ext cx="800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0" i="0">
                <a:solidFill>
                  <a:srgbClr val="C8CBCE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C8CBCE"/>
                </a:solidFill>
                <a:latin typeface="Arial"/>
                <a:ea typeface="Arial"/>
                <a:cs typeface="Arial"/>
              </a:rPr>
              <a:t>Field hours per electrical spine in one repetitive modular-generation scope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1C04A89-F9F2-44AE-A653-9601C86D13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600325"/>
            <a:ext cx="33337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6491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4788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788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4,400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D18F05E-D3A7-4725-AF7B-22D702CBA0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476625"/>
            <a:ext cx="33337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2000"/>
              </a:lnSpc>
              <a:buNone/>
              <a:defRPr sz="1071" b="1" i="0">
                <a:solidFill>
                  <a:srgbClr val="8B9094"/>
                </a:solidFill>
                <a:latin typeface="Arial"/>
                <a:ea typeface="Arial"/>
                <a:cs typeface="Arial"/>
              </a:defRPr>
            </a:pPr>
            <a:r>
              <a:rPr sz="1071" b="1" i="0">
                <a:solidFill>
                  <a:srgbClr val="8B9094"/>
                </a:solidFill>
                <a:latin typeface="Arial"/>
                <a:ea typeface="Arial"/>
                <a:cs typeface="Arial"/>
              </a:rPr>
              <a:t>OBSERVED FIELD HOURS</a:t>
            </a:r>
          </a:p>
          <a:p xmlns:a="http://schemas.openxmlformats.org/drawingml/2006/main">
            <a:pPr algn="ctr">
              <a:lnSpc>
                <a:spcPct val="92000"/>
              </a:lnSpc>
              <a:buNone/>
              <a:defRPr sz="1071" b="1" i="0">
                <a:solidFill>
                  <a:srgbClr val="8B9094"/>
                </a:solidFill>
                <a:latin typeface="Arial"/>
                <a:ea typeface="Arial"/>
                <a:cs typeface="Arial"/>
              </a:defRPr>
            </a:pPr>
            <a:r>
              <a:rPr sz="1071" b="1" i="0">
                <a:solidFill>
                  <a:srgbClr val="8B9094"/>
                </a:solidFill>
                <a:latin typeface="Arial"/>
                <a:ea typeface="Arial"/>
                <a:cs typeface="Arial"/>
              </a:rPr>
              <a:t>SITE-BUILT BASELINE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58F02CA-DBD3-4859-AF3F-1D044E927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781550" y="2933700"/>
            <a:ext cx="2095500" cy="46672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C978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CDFB9DE-7765-4137-85DE-D711A3251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2600325"/>
            <a:ext cx="33337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6491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4788" b="1" i="0">
                <a:solidFill>
                  <a:srgbClr val="E3A06D"/>
                </a:solidFill>
                <a:latin typeface="Arial"/>
                <a:ea typeface="Arial"/>
                <a:cs typeface="Arial"/>
              </a:defRPr>
            </a:pPr>
            <a:r>
              <a:rPr sz="4788" b="1" i="0">
                <a:solidFill>
                  <a:srgbClr val="E3A06D"/>
                </a:solidFill>
                <a:latin typeface="Arial"/>
                <a:ea typeface="Arial"/>
                <a:cs typeface="Arial"/>
              </a:rPr>
              <a:t>~880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01E448B-AC8F-4D77-A10F-EB3D44F665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3476625"/>
            <a:ext cx="33337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2000"/>
              </a:lnSpc>
              <a:buNone/>
              <a:defRPr sz="1071" b="1" i="0">
                <a:solidFill>
                  <a:srgbClr val="8B9094"/>
                </a:solidFill>
                <a:latin typeface="Arial"/>
                <a:ea typeface="Arial"/>
                <a:cs typeface="Arial"/>
              </a:defRPr>
            </a:pPr>
            <a:r>
              <a:rPr sz="1071" b="1" i="0">
                <a:solidFill>
                  <a:srgbClr val="8B9094"/>
                </a:solidFill>
                <a:latin typeface="Arial"/>
                <a:ea typeface="Arial"/>
                <a:cs typeface="Arial"/>
              </a:rPr>
              <a:t>MODELED FIELD HOURS</a:t>
            </a:r>
          </a:p>
          <a:p xmlns:a="http://schemas.openxmlformats.org/drawingml/2006/main">
            <a:pPr algn="ctr">
              <a:lnSpc>
                <a:spcPct val="92000"/>
              </a:lnSpc>
              <a:buNone/>
              <a:defRPr sz="1071" b="1" i="0">
                <a:solidFill>
                  <a:srgbClr val="8B9094"/>
                </a:solidFill>
                <a:latin typeface="Arial"/>
                <a:ea typeface="Arial"/>
                <a:cs typeface="Arial"/>
              </a:defRPr>
            </a:pPr>
            <a:r>
              <a:rPr sz="1071" b="1" i="0">
                <a:solidFill>
                  <a:srgbClr val="8B9094"/>
                </a:solidFill>
                <a:latin typeface="Arial"/>
                <a:ea typeface="Arial"/>
                <a:cs typeface="Arial"/>
              </a:rPr>
              <a:t>WITH FACTORY-BUILT ASSEMBLY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8791E57-1617-48F4-B221-E3DE343A1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52450" y="4219575"/>
            <a:ext cx="5257800" cy="1562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2E32"/>
          </a:solidFill>
          <a:ln xmlns:a="http://schemas.openxmlformats.org/drawingml/2006/main" w="9525">
            <a:solidFill>
              <a:srgbClr val="41454A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5390F3D-24E2-43A3-BC80-0B27D9B216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438650"/>
            <a:ext cx="4667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8" b="1" i="0">
                <a:solidFill>
                  <a:srgbClr val="E3A06D"/>
                </a:solidFill>
                <a:latin typeface="Arial"/>
                <a:ea typeface="Arial"/>
                <a:cs typeface="Arial"/>
              </a:defRPr>
            </a:pPr>
            <a:r>
              <a:rPr sz="1008" b="1" i="0">
                <a:solidFill>
                  <a:srgbClr val="E3A06D"/>
                </a:solidFill>
                <a:latin typeface="Arial"/>
                <a:ea typeface="Arial"/>
                <a:cs typeface="Arial"/>
              </a:rPr>
              <a:t>WHAT IT SUGGESTS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3017E22-8AA6-4ADE-B06E-95252889A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867275"/>
            <a:ext cx="4619625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5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Stable, repeatable interfaces may be candidates for offsite work.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5681D7F-D168-416D-9DD9-FF7CA8047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57900" y="4219575"/>
            <a:ext cx="5581650" cy="1562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2E32"/>
          </a:solidFill>
          <a:ln xmlns:a="http://schemas.openxmlformats.org/drawingml/2006/main" w="9525">
            <a:solidFill>
              <a:srgbClr val="41454A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2AC47E8-FE43-444A-BF93-C7020872A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438650"/>
            <a:ext cx="5048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8" b="1" i="0">
                <a:solidFill>
                  <a:srgbClr val="E3A06D"/>
                </a:solidFill>
                <a:latin typeface="Arial"/>
                <a:ea typeface="Arial"/>
                <a:cs typeface="Arial"/>
              </a:defRPr>
            </a:pPr>
            <a:r>
              <a:rPr sz="1008" b="1" i="0">
                <a:solidFill>
                  <a:srgbClr val="E3A06D"/>
                </a:solidFill>
                <a:latin typeface="Arial"/>
                <a:ea typeface="Arial"/>
                <a:cs typeface="Arial"/>
              </a:rPr>
              <a:t>WHAT IT DOES NOT PROVE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980DF4B-9080-43AC-805A-3D9F6E0B4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867275"/>
            <a:ext cx="495300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5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Net NRG savings, schedule reduction or critical-path removal.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91D27FB-5F84-48E5-842F-1B2511CCE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43625"/>
            <a:ext cx="11087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0" i="1">
                <a:solidFill>
                  <a:srgbClr val="8B9094"/>
                </a:solidFill>
                <a:latin typeface="Arial"/>
                <a:ea typeface="Arial"/>
                <a:cs typeface="Arial"/>
              </a:defRPr>
            </a:pPr>
            <a:r>
              <a:rPr sz="1050" b="0" i="1">
                <a:solidFill>
                  <a:srgbClr val="8B9094"/>
                </a:solidFill>
                <a:latin typeface="Arial"/>
                <a:ea typeface="Arial"/>
                <a:cs typeface="Arial"/>
              </a:rPr>
              <a:t>Rebuild the case with NRG scope, labor rates, schedule logic and acceptance criteria.</a:t>
            </a:r>
          </a:p>
        </p:txBody>
      </p:sp>
    </p:spTree>
    <p:extLst>
      <p:ext uri="{BB962C8B-B14F-4D97-AF65-F5344CB8AC3E}">
        <p14:creationId xmlns:p14="http://schemas.microsoft.com/office/powerpoint/2010/main" val="1722348828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6F3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6D13ECD5-341F-415E-84A3-47C83FA79A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783E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f48650a3c4a4d07"/>
          <a:stretch xmlns:a="http://schemas.openxmlformats.org/drawingml/2006/main"/>
        </p:blipFill>
        <p:spPr>
          <a:xfrm xmlns:a="http://schemas.openxmlformats.org/drawingml/2006/main">
            <a:off x="719138" y="200025"/>
            <a:ext cx="2066925" cy="59055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3ABAE97-A482-4C51-AB8A-4FC957C20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23850"/>
            <a:ext cx="3086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19" b="1" i="0">
                <a:solidFill>
                  <a:srgbClr val="9D4E24"/>
                </a:solidFill>
                <a:latin typeface="Arial"/>
                <a:ea typeface="Arial"/>
                <a:cs typeface="Arial"/>
              </a:defRPr>
            </a:pPr>
            <a:r>
              <a:rPr sz="819" b="1" i="0">
                <a:solidFill>
                  <a:srgbClr val="9D4E24"/>
                </a:solidFill>
                <a:latin typeface="Arial"/>
                <a:ea typeface="Arial"/>
                <a:cs typeface="Arial"/>
              </a:rPr>
              <a:t>VALIDATION PATH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9D9B8D4-7A2F-45E6-82B8-D279976E2F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323850"/>
            <a:ext cx="323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19" b="1" i="0">
                <a:solidFill>
                  <a:srgbClr val="8B9094"/>
                </a:solidFill>
                <a:latin typeface="Arial"/>
                <a:ea typeface="Arial"/>
                <a:cs typeface="Arial"/>
              </a:defRPr>
            </a:pPr>
            <a:r>
              <a:rPr sz="819" b="1" i="0">
                <a:solidFill>
                  <a:srgbClr val="8B9094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E22B7DA-FF50-4999-9E1F-7DC40D90AC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76300"/>
            <a:ext cx="1104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82" b="1" i="0">
                <a:solidFill>
                  <a:srgbClr val="9D4E24"/>
                </a:solidFill>
                <a:latin typeface="Arial"/>
                <a:ea typeface="Arial"/>
                <a:cs typeface="Arial"/>
              </a:defRPr>
            </a:pPr>
            <a:r>
              <a:rPr sz="882" b="1" i="0">
                <a:solidFill>
                  <a:srgbClr val="9D4E24"/>
                </a:solidFill>
                <a:latin typeface="Arial"/>
                <a:ea typeface="Arial"/>
                <a:cs typeface="Arial"/>
              </a:rPr>
              <a:t>ONE LIVE SCOPE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5ABED4F-19E1-4982-A1D1-521AEF1B0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181100"/>
            <a:ext cx="11049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5296"/>
          </a:bodyPr>
          <a:lstStyle xmlns:a="http://schemas.openxmlformats.org/drawingml/2006/main"/>
          <a:p xmlns:a="http://schemas.openxmlformats.org/drawingml/2006/main">
            <a:pPr algn="l">
              <a:lnSpc>
                <a:spcPct val="94000"/>
              </a:lnSpc>
              <a:buNone/>
              <a:defRPr sz="2925" b="1" i="0">
                <a:solidFill>
                  <a:srgbClr val="17191C"/>
                </a:solidFill>
                <a:latin typeface="Arial"/>
                <a:ea typeface="Arial"/>
                <a:cs typeface="Arial"/>
              </a:defRPr>
            </a:pPr>
            <a:r>
              <a:rPr sz="2925" b="1" i="0">
                <a:solidFill>
                  <a:srgbClr val="17191C"/>
                </a:solidFill>
                <a:latin typeface="Arial"/>
                <a:ea typeface="Arial"/>
                <a:cs typeface="Arial"/>
              </a:rPr>
              <a:t>One live scope can prove—or disprove—the case before NRG expands it.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B467C56-AE84-4523-8A09-974155F913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885950"/>
            <a:ext cx="1066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NRG selects the starting scope: one live package, conversion/uprate screen or planned-outage replacement.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B18CD6F-FAD1-4542-9104-F794B20E64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133725"/>
            <a:ext cx="87439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C9783E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7FB7608-3F72-4762-A223-E4CD655D06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943225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78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5C424C8-E27E-4777-98E6-33313A9FF2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2575" y="3000375"/>
            <a:ext cx="3238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819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19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EBC0D98-DE4B-45ED-9FE2-02949D37CE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43300"/>
            <a:ext cx="2286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97" b="1" i="0">
                <a:solidFill>
                  <a:srgbClr val="9D4E24"/>
                </a:solidFill>
                <a:latin typeface="Arial"/>
                <a:ea typeface="Arial"/>
                <a:cs typeface="Arial"/>
              </a:defRPr>
            </a:pPr>
            <a:r>
              <a:rPr sz="1197" b="1" i="0">
                <a:solidFill>
                  <a:srgbClr val="9D4E24"/>
                </a:solidFill>
                <a:latin typeface="Arial"/>
                <a:ea typeface="Arial"/>
                <a:cs typeface="Arial"/>
              </a:rPr>
              <a:t>SELECT SCOPE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1CD6648-3D0D-4368-B77F-F895BB12B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943350"/>
            <a:ext cx="2286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00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One active electrical package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2268B23-D7A4-4665-89C6-2CED9881E6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2943225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78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161213F-6B30-4A83-B799-2D99FAC735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7225" y="3000375"/>
            <a:ext cx="3238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819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19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140F5A5-7842-491B-8D20-9FD737DBE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3543300"/>
            <a:ext cx="2286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97" b="1" i="0">
                <a:solidFill>
                  <a:srgbClr val="9D4E24"/>
                </a:solidFill>
                <a:latin typeface="Arial"/>
                <a:ea typeface="Arial"/>
                <a:cs typeface="Arial"/>
              </a:defRPr>
            </a:pPr>
            <a:r>
              <a:rPr sz="1197" b="1" i="0">
                <a:solidFill>
                  <a:srgbClr val="9D4E24"/>
                </a:solidFill>
                <a:latin typeface="Arial"/>
                <a:ea typeface="Arial"/>
                <a:cs typeface="Arial"/>
              </a:rPr>
              <a:t>WALK THE WORK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0ED1B96-AD35-4D5F-BCE9-C6955AB85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3943350"/>
            <a:ext cx="2286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00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People closest to execution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984852D-62CD-40A0-8594-6B48D1BBF3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2943225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78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28C0776-D7F7-4A88-B5A2-B555EE4334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1875" y="3000375"/>
            <a:ext cx="3238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819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19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1A59F52-B2A9-4422-BCEC-BDC6CB36D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543300"/>
            <a:ext cx="2286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97" b="1" i="0">
                <a:solidFill>
                  <a:srgbClr val="9D4E24"/>
                </a:solidFill>
                <a:latin typeface="Arial"/>
                <a:ea typeface="Arial"/>
                <a:cs typeface="Arial"/>
              </a:defRPr>
            </a:pPr>
            <a:r>
              <a:rPr sz="1197" b="1" i="0">
                <a:solidFill>
                  <a:srgbClr val="9D4E24"/>
                </a:solidFill>
                <a:latin typeface="Arial"/>
                <a:ea typeface="Arial"/>
                <a:cs typeface="Arial"/>
              </a:rPr>
              <a:t>MAP THE RISK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F43704E-D542-4DA0-B5E5-CDA2450CC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943350"/>
            <a:ext cx="2286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00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Interfaces, releases, constraints + repetition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F226CA3-82E9-421A-AD1E-457B574C8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67950" y="2943225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D4E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5977B31-4638-490D-831C-B42F263F9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6525" y="3000375"/>
            <a:ext cx="3238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819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19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A83C44C-4ECF-4BBC-8052-84B63F67E5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3543300"/>
            <a:ext cx="2286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97" b="1" i="0">
                <a:solidFill>
                  <a:srgbClr val="9D4E24"/>
                </a:solidFill>
                <a:latin typeface="Arial"/>
                <a:ea typeface="Arial"/>
                <a:cs typeface="Arial"/>
              </a:defRPr>
            </a:pPr>
            <a:r>
              <a:rPr sz="1197" b="1" i="0">
                <a:solidFill>
                  <a:srgbClr val="9D4E24"/>
                </a:solidFill>
                <a:latin typeface="Arial"/>
                <a:ea typeface="Arial"/>
                <a:cs typeface="Arial"/>
              </a:rPr>
              <a:t>DECIDE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A8CFB66-F8CA-46AE-B743-9928828FA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3943350"/>
            <a:ext cx="2286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00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Stop, standardize or pilot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627BF63-4301-4D2E-AB17-9762F76238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52450" y="4829175"/>
            <a:ext cx="11087100" cy="1304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3D8"/>
          </a:solidFill>
          <a:ln xmlns:a="http://schemas.openxmlformats.org/drawingml/2006/main" w="9525">
            <a:solidFill>
              <a:srgbClr val="E0C4B0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505F57C-E518-493A-A640-19DF682E6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057775"/>
            <a:ext cx="228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71" b="1" i="0">
                <a:solidFill>
                  <a:srgbClr val="9D4E24"/>
                </a:solidFill>
                <a:latin typeface="Arial"/>
                <a:ea typeface="Arial"/>
                <a:cs typeface="Arial"/>
              </a:defRPr>
            </a:pPr>
            <a:r>
              <a:rPr sz="1071" b="1" i="0">
                <a:solidFill>
                  <a:srgbClr val="9D4E24"/>
                </a:solidFill>
                <a:latin typeface="Arial"/>
                <a:ea typeface="Arial"/>
                <a:cs typeface="Arial"/>
              </a:rPr>
              <a:t>WRITTEN READ-BACK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C3835A7-613D-4054-BAAA-7005CBA59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05175" y="5038725"/>
            <a:ext cx="22383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 i="0">
                <a:solidFill>
                  <a:srgbClr val="17191C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17191C"/>
                </a:solidFill>
                <a:latin typeface="Arial"/>
                <a:ea typeface="Arial"/>
                <a:cs typeface="Arial"/>
              </a:rPr>
              <a:t>Milestone exposure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6461B3C-2622-4929-8DE8-6495088A0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05175" y="5438775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 i="0">
                <a:solidFill>
                  <a:srgbClr val="17191C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17191C"/>
                </a:solidFill>
                <a:latin typeface="Arial"/>
                <a:ea typeface="Arial"/>
                <a:cs typeface="Arial"/>
              </a:rPr>
              <a:t>Route, reel + release constraints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13261F5-966B-44FA-9121-0D3FF6B2B3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038725"/>
            <a:ext cx="2762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 i="0">
                <a:solidFill>
                  <a:srgbClr val="17191C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17191C"/>
                </a:solidFill>
                <a:latin typeface="Arial"/>
                <a:ea typeface="Arial"/>
                <a:cs typeface="Arial"/>
              </a:rPr>
              <a:t>Repeatable-interface candidates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4CFA833-7555-4885-B8FA-6895A39AA8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438775"/>
            <a:ext cx="266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 i="0">
                <a:solidFill>
                  <a:srgbClr val="17191C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17191C"/>
                </a:solidFill>
                <a:latin typeface="Arial"/>
                <a:ea typeface="Arial"/>
                <a:cs typeface="Arial"/>
              </a:rPr>
              <a:t>Decision gaps + recommendation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8D444A0-F72B-4A5B-A1B7-8DF5519C4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34525" y="4981575"/>
            <a:ext cx="16002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0000"/>
              </a:lnSpc>
              <a:buNone/>
              <a:defRPr sz="1260" b="1" i="0">
                <a:solidFill>
                  <a:srgbClr val="9D4E24"/>
                </a:solidFill>
                <a:latin typeface="Arial"/>
                <a:ea typeface="Arial"/>
                <a:cs typeface="Arial"/>
              </a:defRPr>
            </a:pPr>
            <a:r>
              <a:rPr sz="1260" b="1" i="0">
                <a:solidFill>
                  <a:srgbClr val="9D4E24"/>
                </a:solidFill>
                <a:latin typeface="Arial"/>
                <a:ea typeface="Arial"/>
                <a:cs typeface="Arial"/>
              </a:rPr>
              <a:t>STOP</a:t>
            </a:r>
          </a:p>
          <a:p xmlns:a="http://schemas.openxmlformats.org/drawingml/2006/main">
            <a:pPr algn="ctr">
              <a:lnSpc>
                <a:spcPct val="90000"/>
              </a:lnSpc>
              <a:buNone/>
              <a:defRPr sz="1260" b="1" i="0">
                <a:solidFill>
                  <a:srgbClr val="9D4E24"/>
                </a:solidFill>
                <a:latin typeface="Arial"/>
                <a:ea typeface="Arial"/>
                <a:cs typeface="Arial"/>
              </a:defRPr>
            </a:pPr>
            <a:r>
              <a:rPr sz="1260" b="1" i="0">
                <a:solidFill>
                  <a:srgbClr val="9D4E24"/>
                </a:solidFill>
                <a:latin typeface="Arial"/>
                <a:ea typeface="Arial"/>
                <a:cs typeface="Arial"/>
              </a:rPr>
              <a:t>STANDARDIZE</a:t>
            </a:r>
          </a:p>
          <a:p xmlns:a="http://schemas.openxmlformats.org/drawingml/2006/main">
            <a:pPr algn="ctr">
              <a:lnSpc>
                <a:spcPct val="90000"/>
              </a:lnSpc>
              <a:buNone/>
              <a:defRPr sz="1260" b="1" i="0">
                <a:solidFill>
                  <a:srgbClr val="9D4E24"/>
                </a:solidFill>
                <a:latin typeface="Arial"/>
                <a:ea typeface="Arial"/>
                <a:cs typeface="Arial"/>
              </a:defRPr>
            </a:pPr>
            <a:r>
              <a:rPr sz="1260" b="1" i="0">
                <a:solidFill>
                  <a:srgbClr val="9D4E24"/>
                </a:solidFill>
                <a:latin typeface="Arial"/>
                <a:ea typeface="Arial"/>
                <a:cs typeface="Arial"/>
              </a:rPr>
              <a:t>PILOT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7BD9FD6F-F406-496E-99AE-88486C2FC3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391275"/>
            <a:ext cx="11087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0" i="1">
                <a:solidFill>
                  <a:srgbClr val="8B9094"/>
                </a:solidFill>
                <a:latin typeface="Arial"/>
                <a:ea typeface="Arial"/>
                <a:cs typeface="Arial"/>
              </a:defRPr>
            </a:pPr>
            <a:r>
              <a:rPr sz="1050" b="0" i="1">
                <a:solidFill>
                  <a:srgbClr val="8B9094"/>
                </a:solidFill>
                <a:latin typeface="Arial"/>
                <a:ea typeface="Arial"/>
                <a:cs typeface="Arial"/>
              </a:rPr>
              <a:t>No presumption that the answer is prefab—or that Southwire belongs in the solution.</a:t>
            </a:r>
          </a:p>
        </p:txBody>
      </p:sp>
    </p:spTree>
    <p:extLst>
      <p:ext uri="{BB962C8B-B14F-4D97-AF65-F5344CB8AC3E}">
        <p14:creationId xmlns:p14="http://schemas.microsoft.com/office/powerpoint/2010/main" val="1927166737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17191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d7090369bf04fb9"/>
          <a:srcRect xmlns:a="http://schemas.openxmlformats.org/drawingml/2006/main" l="0" t="11345" r="0" b="1134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24003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9D86577-7FD6-4E7A-9F78-F874D9D61A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381250" y="0"/>
            <a:ext cx="381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78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437F0EE-5C22-46A5-8FF3-6F8A5001D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638175"/>
            <a:ext cx="209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45" b="1" i="0">
                <a:solidFill>
                  <a:srgbClr val="E3A06D"/>
                </a:solidFill>
                <a:latin typeface="Arial"/>
                <a:ea typeface="Arial"/>
                <a:cs typeface="Arial"/>
              </a:defRPr>
            </a:pPr>
            <a:r>
              <a:rPr sz="945" b="1" i="0">
                <a:solidFill>
                  <a:srgbClr val="E3A06D"/>
                </a:solidFill>
                <a:latin typeface="Arial"/>
                <a:ea typeface="Arial"/>
                <a:cs typeface="Arial"/>
              </a:rPr>
              <a:t>THE ASK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C826A6B-604E-4302-BED6-FAC031836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1066800"/>
            <a:ext cx="7810500" cy="1781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84000"/>
              </a:lnSpc>
              <a:buNone/>
              <a:defRPr sz="3213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213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ONE SITE WALK.</a:t>
            </a:r>
          </a:p>
          <a:p xmlns:a="http://schemas.openxmlformats.org/drawingml/2006/main">
            <a:pPr algn="l">
              <a:lnSpc>
                <a:spcPct val="84000"/>
              </a:lnSpc>
              <a:buNone/>
              <a:defRPr sz="3213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213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ONE HOUR.</a:t>
            </a:r>
          </a:p>
          <a:p xmlns:a="http://schemas.openxmlformats.org/drawingml/2006/main">
            <a:pPr algn="l">
              <a:lnSpc>
                <a:spcPct val="84000"/>
              </a:lnSpc>
              <a:buNone/>
              <a:defRPr sz="3213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213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NO SALES PRESENTATION.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512C868-8A71-436C-9D9F-382247C54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3086100"/>
            <a:ext cx="13620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C9783E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A42F160-C0E0-4544-AED1-110B326F9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3343275"/>
            <a:ext cx="76676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0" i="0">
                <a:solidFill>
                  <a:srgbClr val="D4D6D8"/>
                </a:solidFill>
                <a:latin typeface="Arial"/>
                <a:ea typeface="Arial"/>
                <a:cs typeface="Arial"/>
              </a:defRPr>
            </a:pPr>
            <a:r>
              <a:rPr sz="1650" b="0" i="0">
                <a:solidFill>
                  <a:srgbClr val="D4D6D8"/>
                </a:solidFill>
                <a:latin typeface="Arial"/>
                <a:ea typeface="Arial"/>
                <a:cs typeface="Arial"/>
              </a:rPr>
              <a:t>Choose one live electrical scope and bring the people closest to execution.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72779A2-3811-4864-A788-4CE9F98FC9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4105275"/>
            <a:ext cx="13811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45" b="1" i="0">
                <a:solidFill>
                  <a:srgbClr val="E3A06D"/>
                </a:solidFill>
                <a:latin typeface="Arial"/>
                <a:ea typeface="Arial"/>
                <a:cs typeface="Arial"/>
              </a:defRPr>
            </a:pPr>
            <a:r>
              <a:rPr sz="945" b="1" i="0">
                <a:solidFill>
                  <a:srgbClr val="E3A06D"/>
                </a:solidFill>
                <a:latin typeface="Arial"/>
                <a:ea typeface="Arial"/>
                <a:cs typeface="Arial"/>
              </a:rPr>
              <a:t>INPUT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5A8B2CE-326E-4BE2-9F47-54E879EFA6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5825" y="4067175"/>
            <a:ext cx="6172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One live scope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C5374F9-5B03-4021-96B6-6CCD936A6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4476750"/>
            <a:ext cx="77628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44484D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A3F6D94-AF4F-4255-AB7C-1618C029A8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4724400"/>
            <a:ext cx="13811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45" b="1" i="0">
                <a:solidFill>
                  <a:srgbClr val="E3A06D"/>
                </a:solidFill>
                <a:latin typeface="Arial"/>
                <a:ea typeface="Arial"/>
                <a:cs typeface="Arial"/>
              </a:defRPr>
            </a:pPr>
            <a:r>
              <a:rPr sz="945" b="1" i="0">
                <a:solidFill>
                  <a:srgbClr val="E3A06D"/>
                </a:solidFill>
                <a:latin typeface="Arial"/>
                <a:ea typeface="Arial"/>
                <a:cs typeface="Arial"/>
              </a:rPr>
              <a:t>OUTPUT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E990F82-14BA-4C45-81C4-D787E23FD2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5825" y="4686300"/>
            <a:ext cx="6172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Written execution-risk read-back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2D44146-E575-42D6-AFC2-879560555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5095875"/>
            <a:ext cx="77628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44484D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1ADC995-35FC-47B8-98FE-36C2EA7902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5343525"/>
            <a:ext cx="13811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45" b="1" i="0">
                <a:solidFill>
                  <a:srgbClr val="E3A06D"/>
                </a:solidFill>
                <a:latin typeface="Arial"/>
                <a:ea typeface="Arial"/>
                <a:cs typeface="Arial"/>
              </a:defRPr>
            </a:pPr>
            <a:r>
              <a:rPr sz="945" b="1" i="0">
                <a:solidFill>
                  <a:srgbClr val="E3A06D"/>
                </a:solidFill>
                <a:latin typeface="Arial"/>
                <a:ea typeface="Arial"/>
                <a:cs typeface="Arial"/>
              </a:rPr>
              <a:t>DECISION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5E9760F-7F0F-4A25-AF32-24A9073EE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5825" y="5305425"/>
            <a:ext cx="6172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Stop, standardize or define a bounded pilot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6C17B67-3E80-460C-A9F3-61D1AF3A45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6019800"/>
            <a:ext cx="7810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71" b="1" i="0">
                <a:solidFill>
                  <a:srgbClr val="E3A06D"/>
                </a:solidFill>
                <a:latin typeface="Arial"/>
                <a:ea typeface="Arial"/>
                <a:cs typeface="Arial"/>
              </a:defRPr>
            </a:pPr>
            <a:r>
              <a:rPr sz="1071" b="1" i="0">
                <a:solidFill>
                  <a:srgbClr val="E3A06D"/>
                </a:solidFill>
                <a:latin typeface="Arial"/>
                <a:ea typeface="Arial"/>
                <a:cs typeface="Arial"/>
              </a:rPr>
              <a:t>NO PRICING EXERCISE. NO BROAD COMMERCIAL COMMITMENT.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A48E470-C0A2-46EA-B882-4B0BC7C704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6438900"/>
            <a:ext cx="50958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0" i="0">
                <a:solidFill>
                  <a:srgbClr val="8B9094"/>
                </a:solidFill>
                <a:latin typeface="Arial"/>
                <a:ea typeface="Arial"/>
                <a:cs typeface="Arial"/>
              </a:defRPr>
            </a:pPr>
            <a:r>
              <a:rPr sz="975" b="0" i="0">
                <a:solidFill>
                  <a:srgbClr val="8B9094"/>
                </a:solidFill>
                <a:latin typeface="Arial"/>
                <a:ea typeface="Arial"/>
                <a:cs typeface="Arial"/>
              </a:rPr>
              <a:t>Stephan Hardt  |  Director, Power Generation Solutions  |  Southwire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71632DE-BA61-449A-8837-ADD3F55949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0025" y="6429375"/>
            <a:ext cx="31432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 i="0">
                <a:solidFill>
                  <a:srgbClr val="E3A06D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E3A06D"/>
                </a:solidFill>
                <a:latin typeface="Arial"/>
                <a:ea typeface="Arial"/>
                <a:cs typeface="Arial"/>
              </a:rPr>
              <a:t>stephan.hardt@southwire.com  |  +1 470-439-8488</a:t>
            </a:r>
          </a:p>
        </p:txBody>
      </p:sp>
    </p:spTree>
    <p:extLst>
      <p:ext uri="{BB962C8B-B14F-4D97-AF65-F5344CB8AC3E}">
        <p14:creationId xmlns:p14="http://schemas.microsoft.com/office/powerpoint/2010/main" val="775695220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6F3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7A587E2-FC4F-49CD-8D8C-2765E1B41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783E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2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8e2a3d3733b4264"/>
          <a:stretch xmlns:a="http://schemas.openxmlformats.org/drawingml/2006/main"/>
        </p:blipFill>
        <p:spPr>
          <a:xfrm xmlns:a="http://schemas.openxmlformats.org/drawingml/2006/main">
            <a:off x="719138" y="200025"/>
            <a:ext cx="2066925" cy="59055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01195BE-0FB3-4DE7-ABCC-05436F185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23850"/>
            <a:ext cx="3086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19" b="1" i="0">
                <a:solidFill>
                  <a:srgbClr val="9D4E24"/>
                </a:solidFill>
                <a:latin typeface="Arial"/>
                <a:ea typeface="Arial"/>
                <a:cs typeface="Arial"/>
              </a:defRPr>
            </a:pPr>
            <a:r>
              <a:rPr sz="819" b="1" i="0">
                <a:solidFill>
                  <a:srgbClr val="9D4E24"/>
                </a:solidFill>
                <a:latin typeface="Arial"/>
                <a:ea typeface="Arial"/>
                <a:cs typeface="Arial"/>
              </a:rPr>
              <a:t>APPENDIX A1 · NRG CONTEXT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F856087-0A66-405A-A4F3-CDF61851D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323850"/>
            <a:ext cx="323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19" b="1" i="0">
                <a:solidFill>
                  <a:srgbClr val="8B9094"/>
                </a:solidFill>
                <a:latin typeface="Arial"/>
                <a:ea typeface="Arial"/>
                <a:cs typeface="Arial"/>
              </a:defRPr>
            </a:pPr>
            <a:r>
              <a:rPr sz="819" b="1" i="0">
                <a:solidFill>
                  <a:srgbClr val="8B9094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9B093D7-ADC1-4FE9-A40B-33BEC9378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76300"/>
            <a:ext cx="1104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82" b="1" i="0">
                <a:solidFill>
                  <a:srgbClr val="9D4E24"/>
                </a:solidFill>
                <a:latin typeface="Arial"/>
                <a:ea typeface="Arial"/>
                <a:cs typeface="Arial"/>
              </a:defRPr>
            </a:pPr>
            <a:r>
              <a:rPr sz="882" b="1" i="0">
                <a:solidFill>
                  <a:srgbClr val="9D4E24"/>
                </a:solidFill>
                <a:latin typeface="Arial"/>
                <a:ea typeface="Arial"/>
                <a:cs typeface="Arial"/>
              </a:rPr>
              <a:t>SOURCE DISCIPLINE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D1207A7-6AEC-4825-9F58-39F1286C3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181100"/>
            <a:ext cx="11049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4000"/>
              </a:lnSpc>
              <a:buNone/>
              <a:defRPr sz="2925" b="1" i="0">
                <a:solidFill>
                  <a:srgbClr val="17191C"/>
                </a:solidFill>
                <a:latin typeface="Arial"/>
                <a:ea typeface="Arial"/>
                <a:cs typeface="Arial"/>
              </a:defRPr>
            </a:pPr>
            <a:r>
              <a:rPr sz="2925" b="1" i="0">
                <a:solidFill>
                  <a:srgbClr val="17191C"/>
                </a:solidFill>
                <a:latin typeface="Arial"/>
                <a:ea typeface="Arial"/>
                <a:cs typeface="Arial"/>
              </a:rPr>
              <a:t>NRG context is current, attributed and non-additive.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6F16E89-BB6B-40C9-9ECA-2D2F18809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171700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34" b="1" i="0">
                <a:solidFill>
                  <a:srgbClr val="9D4E24"/>
                </a:solidFill>
                <a:latin typeface="Arial"/>
                <a:ea typeface="Arial"/>
                <a:cs typeface="Arial"/>
              </a:defRPr>
            </a:pPr>
            <a:r>
              <a:rPr sz="1134" b="1" i="0">
                <a:solidFill>
                  <a:srgbClr val="9D4E24"/>
                </a:solidFill>
                <a:latin typeface="Arial"/>
                <a:ea typeface="Arial"/>
                <a:cs typeface="Arial"/>
              </a:rPr>
              <a:t>1.5 GW TEF PORTFOLIO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DFD732F-8F8C-42CD-BB3E-99D66F58E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143125"/>
            <a:ext cx="7334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350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One operating project and two projects targeting mid-2028. Do not describe the entire portfolio as under construction.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EAE8360-D312-4F77-88B6-E9B3EF8639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828925"/>
            <a:ext cx="11087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D1C8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94ACF0F-C1F1-4A27-AE2C-15DCA21F5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086100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34" b="1" i="0">
                <a:solidFill>
                  <a:srgbClr val="9D4E24"/>
                </a:solidFill>
                <a:latin typeface="Arial"/>
                <a:ea typeface="Arial"/>
                <a:cs typeface="Arial"/>
              </a:defRPr>
            </a:pPr>
            <a:r>
              <a:rPr sz="1134" b="1" i="0">
                <a:solidFill>
                  <a:srgbClr val="9D4E24"/>
                </a:solidFill>
                <a:latin typeface="Arial"/>
                <a:ea typeface="Arial"/>
                <a:cs typeface="Arial"/>
              </a:rPr>
              <a:t>5.4 GW NEWBUILD DEVELOPMENT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BDA11E4-2A04-4FF3-A8C6-38790EA44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3057525"/>
            <a:ext cx="7334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350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Turbine and EPC access supports a runway through 2032. Do not call all 5.4 GW committed or under construction.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E2C59DB-E4C9-4F83-84BA-B73537808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743325"/>
            <a:ext cx="11087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D1C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D09D277-4CE5-412D-8148-23D117699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00500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34" b="1" i="0">
                <a:solidFill>
                  <a:srgbClr val="9D4E24"/>
                </a:solidFill>
                <a:latin typeface="Arial"/>
                <a:ea typeface="Arial"/>
                <a:cs typeface="Arial"/>
              </a:defRPr>
            </a:pPr>
            <a:r>
              <a:rPr sz="1134" b="1" i="0">
                <a:solidFill>
                  <a:srgbClr val="9D4E24"/>
                </a:solidFill>
                <a:latin typeface="Arial"/>
                <a:ea typeface="Arial"/>
                <a:cs typeface="Arial"/>
              </a:rPr>
              <a:t>25.8 GW OPERATING FLEET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30E60A5-AADA-4FDD-8EEA-34C3D7B81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3971925"/>
            <a:ext cx="7334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350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NRG's reported operating-generation fleet after the LS Power acquisition.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EA9E2F5-416D-4FE5-BB98-305C4DD79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657725"/>
            <a:ext cx="11087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D1C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0990A40-1E7F-4931-88D1-11C009FD9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914900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34" b="1" i="0">
                <a:solidFill>
                  <a:srgbClr val="9D4E24"/>
                </a:solidFill>
                <a:latin typeface="Arial"/>
                <a:ea typeface="Arial"/>
                <a:cs typeface="Arial"/>
              </a:defRPr>
            </a:pPr>
            <a:r>
              <a:rPr sz="1134" b="1" i="0">
                <a:solidFill>
                  <a:srgbClr val="9D4E24"/>
                </a:solidFill>
                <a:latin typeface="Arial"/>
                <a:ea typeface="Arial"/>
                <a:cs typeface="Arial"/>
              </a:rPr>
              <a:t>~1-2 GW UPGRADE POTENTIAL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91068D0-216E-4F21-80F4-A3B9FE8A0C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4886325"/>
            <a:ext cx="7334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350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CT-to-CCGT conversions and traditional uprates are under evaluation—not a committed pipeline.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5BDA737-8704-4892-9648-12DB532EC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52450" y="5924550"/>
            <a:ext cx="110871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9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7D731F1-869B-4C24-AFCD-4F786F886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6076950"/>
            <a:ext cx="10629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34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34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DO NOT SUM THESE FIGURES: THEY REPRESENT DIFFERENT ASSET STATES AND OVERLAP CONCEPTUALLY.</a:t>
            </a:r>
          </a:p>
        </p:txBody>
      </p:sp>
    </p:spTree>
    <p:extLst>
      <p:ext uri="{BB962C8B-B14F-4D97-AF65-F5344CB8AC3E}">
        <p14:creationId xmlns:p14="http://schemas.microsoft.com/office/powerpoint/2010/main" val="426428554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6F3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5AA0B0E-59C2-46D9-A3F7-F12A81E29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783E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d68d762455049bf"/>
          <a:stretch xmlns:a="http://schemas.openxmlformats.org/drawingml/2006/main"/>
        </p:blipFill>
        <p:spPr>
          <a:xfrm xmlns:a="http://schemas.openxmlformats.org/drawingml/2006/main">
            <a:off x="719138" y="200025"/>
            <a:ext cx="2066925" cy="59055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9060F8C-2940-4770-BB54-3D37F8DB3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23850"/>
            <a:ext cx="3086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19" b="1" i="0">
                <a:solidFill>
                  <a:srgbClr val="9D4E24"/>
                </a:solidFill>
                <a:latin typeface="Arial"/>
                <a:ea typeface="Arial"/>
                <a:cs typeface="Arial"/>
              </a:defRPr>
            </a:pPr>
            <a:r>
              <a:rPr sz="819" b="1" i="0">
                <a:solidFill>
                  <a:srgbClr val="9D4E24"/>
                </a:solidFill>
                <a:latin typeface="Arial"/>
                <a:ea typeface="Arial"/>
                <a:cs typeface="Arial"/>
              </a:rPr>
              <a:t>APPENDIX A2 · GOVERNANCE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02FACD4-68DC-4EF1-9FCA-95986C82E5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323850"/>
            <a:ext cx="323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19" b="1" i="0">
                <a:solidFill>
                  <a:srgbClr val="8B9094"/>
                </a:solidFill>
                <a:latin typeface="Arial"/>
                <a:ea typeface="Arial"/>
                <a:cs typeface="Arial"/>
              </a:defRPr>
            </a:pPr>
            <a:r>
              <a:rPr sz="819" b="1" i="0">
                <a:solidFill>
                  <a:srgbClr val="8B9094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2210EC3-F27F-4555-A478-23E2A2B73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76300"/>
            <a:ext cx="1104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82" b="1" i="0">
                <a:solidFill>
                  <a:srgbClr val="9D4E24"/>
                </a:solidFill>
                <a:latin typeface="Arial"/>
                <a:ea typeface="Arial"/>
                <a:cs typeface="Arial"/>
              </a:defRPr>
            </a:pPr>
            <a:r>
              <a:rPr sz="882" b="1" i="0">
                <a:solidFill>
                  <a:srgbClr val="9D4E24"/>
                </a:solidFill>
                <a:latin typeface="Arial"/>
                <a:ea typeface="Arial"/>
                <a:cs typeface="Arial"/>
              </a:rPr>
              <a:t>DECISION RIGHTS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05FE768-4C48-4B66-90B8-34DFA5EF43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181100"/>
            <a:ext cx="11049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4000"/>
              </a:lnSpc>
              <a:buNone/>
              <a:defRPr sz="2925" b="1" i="0">
                <a:solidFill>
                  <a:srgbClr val="17191C"/>
                </a:solidFill>
                <a:latin typeface="Arial"/>
                <a:ea typeface="Arial"/>
                <a:cs typeface="Arial"/>
              </a:defRPr>
            </a:pPr>
            <a:r>
              <a:rPr sz="2925" b="1" i="0">
                <a:solidFill>
                  <a:srgbClr val="17191C"/>
                </a:solidFill>
                <a:latin typeface="Arial"/>
                <a:ea typeface="Arial"/>
                <a:cs typeface="Arial"/>
              </a:rPr>
              <a:t>Clear decision rights preserve existing project accountability.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7267E82-F478-4A19-AABA-6870A0616C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085975"/>
            <a:ext cx="2571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34" b="1" i="0">
                <a:solidFill>
                  <a:srgbClr val="17191C"/>
                </a:solidFill>
                <a:latin typeface="Arial"/>
                <a:ea typeface="Arial"/>
                <a:cs typeface="Arial"/>
              </a:defRPr>
            </a:pPr>
            <a:r>
              <a:rPr sz="1134" b="1" i="0">
                <a:solidFill>
                  <a:srgbClr val="17191C"/>
                </a:solidFill>
                <a:latin typeface="Arial"/>
                <a:ea typeface="Arial"/>
                <a:cs typeface="Arial"/>
              </a:rPr>
              <a:t>NRG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882584E-74E8-4A11-9334-BAD4F039F7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90875" y="2057400"/>
            <a:ext cx="804862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350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Owner priorities, portfolio standards, risk tolerances, acceptance criteria and investment decisions.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4B5152D-AE6B-4CFF-9823-A36CFFDB0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676525"/>
            <a:ext cx="11087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D1C8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1F3904B-3A5E-4436-A518-492FA59F2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867025"/>
            <a:ext cx="2571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34" b="1" i="0">
                <a:solidFill>
                  <a:srgbClr val="17191C"/>
                </a:solidFill>
                <a:latin typeface="Arial"/>
                <a:ea typeface="Arial"/>
                <a:cs typeface="Arial"/>
              </a:defRPr>
            </a:pPr>
            <a:r>
              <a:rPr sz="1134" b="1" i="0">
                <a:solidFill>
                  <a:srgbClr val="17191C"/>
                </a:solidFill>
                <a:latin typeface="Arial"/>
                <a:ea typeface="Arial"/>
                <a:cs typeface="Arial"/>
              </a:rPr>
              <a:t>EPC / EOR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5864D90-A700-4C42-A98A-DBA5C4E045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90875" y="2838450"/>
            <a:ext cx="804862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350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Design authority, calculations, specifications, routing basis and approved technical design.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9745614-EB8E-4048-A939-67C7767C52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457575"/>
            <a:ext cx="11087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D1C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55A83C9-3782-4EA9-9E17-34D1AF6EC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48075"/>
            <a:ext cx="2571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34" b="1" i="0">
                <a:solidFill>
                  <a:srgbClr val="17191C"/>
                </a:solidFill>
                <a:latin typeface="Arial"/>
                <a:ea typeface="Arial"/>
                <a:cs typeface="Arial"/>
              </a:defRPr>
            </a:pPr>
            <a:r>
              <a:rPr sz="1134" b="1" i="0">
                <a:solidFill>
                  <a:srgbClr val="17191C"/>
                </a:solidFill>
                <a:latin typeface="Arial"/>
                <a:ea typeface="Arial"/>
                <a:cs typeface="Arial"/>
              </a:rPr>
              <a:t>OEM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53CF575-A7FB-42D9-BD59-7BA97BBC5E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90875" y="3619500"/>
            <a:ext cx="804862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350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Equipment-package interfaces, internal wiring, approved terminations and warranty boundaries.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BF89F75-CE4A-4F40-A349-8BF0A2F3EF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238625"/>
            <a:ext cx="11087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D1C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E6BA4CB-84F0-4E0C-9235-103696CE3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429125"/>
            <a:ext cx="2571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34" b="1" i="0">
                <a:solidFill>
                  <a:srgbClr val="17191C"/>
                </a:solidFill>
                <a:latin typeface="Arial"/>
                <a:ea typeface="Arial"/>
                <a:cs typeface="Arial"/>
              </a:defRPr>
            </a:pPr>
            <a:r>
              <a:rPr sz="1134" b="1" i="0">
                <a:solidFill>
                  <a:srgbClr val="17191C"/>
                </a:solidFill>
                <a:latin typeface="Arial"/>
                <a:ea typeface="Arial"/>
                <a:cs typeface="Arial"/>
              </a:rPr>
              <a:t>ELECTRICAL CONTRACTOR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7F8495E-E93E-4A34-8A5B-D1282962D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90875" y="4400550"/>
            <a:ext cx="804862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350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Installation means and methods, pull planning, workface execution, testing support and field feedback.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AF8ABAD-D706-4EE3-9D2D-E4372C4490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019675"/>
            <a:ext cx="11087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D1C8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A707B80-13F4-4DF0-85A7-646CA6AC5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66725" y="5124450"/>
            <a:ext cx="11172825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3D8"/>
          </a:solidFill>
          <a:ln xmlns:a="http://schemas.openxmlformats.org/drawingml/2006/main" w="9525">
            <a:solidFill>
              <a:srgbClr val="E1C6B3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87A8BEA-C6C7-4EFA-BFA9-19FBBB07E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210175"/>
            <a:ext cx="2571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34" b="1" i="0">
                <a:solidFill>
                  <a:srgbClr val="9D4E24"/>
                </a:solidFill>
                <a:latin typeface="Arial"/>
                <a:ea typeface="Arial"/>
                <a:cs typeface="Arial"/>
              </a:defRPr>
            </a:pPr>
            <a:r>
              <a:rPr sz="1134" b="1" i="0">
                <a:solidFill>
                  <a:srgbClr val="9D4E24"/>
                </a:solidFill>
                <a:latin typeface="Arial"/>
                <a:ea typeface="Arial"/>
                <a:cs typeface="Arial"/>
              </a:rPr>
              <a:t>SOUTHWIRE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DE3C22D-18C8-4935-808D-8D44760E44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90875" y="5181600"/>
            <a:ext cx="804862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350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Application support, material and capacity visibility, engineered reel strategy, sequenced delivery and selected field support.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25EF3DC-EDC0-4D4A-9FCF-D58A0E5F55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52450" y="6076950"/>
            <a:ext cx="1108710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9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90B36D7-111A-4429-8309-B99F2DABA3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6191250"/>
            <a:ext cx="106299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Southwire connects selected decisions; it does not replace owner, EPC, OEM or contractor accountability.</a:t>
            </a:r>
          </a:p>
        </p:txBody>
      </p:sp>
    </p:spTree>
    <p:extLst>
      <p:ext uri="{BB962C8B-B14F-4D97-AF65-F5344CB8AC3E}">
        <p14:creationId xmlns:p14="http://schemas.microsoft.com/office/powerpoint/2010/main" val="654748704"/>
      </p:ext>
    </p:extLst>
  </p:cSld>
</p:sld>
</file>

<file path=ppt/slides/slide1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6F3EE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02" name=""/>
          <p:cNvSpPr>
            <a:spLocks noGrp="1"/>
          </p:cNvSpPr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C9783E"/>
          </a:solidFill>
          <a:ln w="0">
            <a:noFill/>
            <a:prstDash val="solid"/>
          </a:ln>
        </p:spPr>
      </p:sp>
      <p:pic>
        <p:nvPicPr>
          <p:cNvPr id="103" name=""/>
          <p:cNvPicPr>
            <a:picLocks noChangeAspect="1"/>
          </p:cNvPicPr>
          <p:nvPr/>
        </p:nvPicPr>
        <p:blipFill>
          <a:blip r:embed="rId1"/>
          <a:stretch/>
        </p:blipFill>
        <p:spPr>
          <a:xfrm>
            <a:off x="719138" y="200025"/>
            <a:ext cx="2066925" cy="590550"/>
          </a:xfrm>
          <a:prstGeom prst="rect">
            <a:avLst/>
          </a:prstGeom>
        </p:spPr>
      </p:pic>
      <p:sp>
        <p:nvSpPr>
          <p:cNvPr id="104" name=""/>
          <p:cNvSpPr>
            <a:spLocks noGrp="1"/>
          </p:cNvSpPr>
          <p:nvPr/>
        </p:nvSpPr>
        <p:spPr>
          <a:xfrm>
            <a:off x="7325360" y="323850"/>
            <a:ext cx="3600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r">
              <a:lnSpc>
                <a:spcPct val="100000"/>
              </a:lnSpc>
              <a:buNone/>
            </a:pPr>
            <a:r>
              <a:rPr sz="819" b="1" i="0">
                <a:solidFill>
                  <a:srgbClr val="9D4E24"/>
                </a:solidFill>
                <a:latin typeface="Arial"/>
                <a:ea typeface="Arial"/>
                <a:cs typeface="Arial"/>
              </a:rPr>
              <a:t>APPENDIX A3 · SOUTHWIRE SUPPORT</a:t>
            </a:r>
          </a:p>
        </p:txBody>
      </p:sp>
      <p:sp>
        <p:nvSpPr>
          <p:cNvPr id="105" name=""/>
          <p:cNvSpPr>
            <a:spLocks noGrp="1"/>
          </p:cNvSpPr>
          <p:nvPr/>
        </p:nvSpPr>
        <p:spPr>
          <a:xfrm>
            <a:off x="11060000" y="323850"/>
            <a:ext cx="600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r">
              <a:lnSpc>
                <a:spcPct val="100000"/>
              </a:lnSpc>
              <a:buNone/>
            </a:pPr>
            <a:r>
              <a:rPr sz="819" b="1" i="0">
                <a:solidFill>
                  <a:srgbClr val="8B9094"/>
                </a:solidFill>
                <a:latin typeface="Arial"/>
                <a:ea typeface="Arial"/>
                <a:cs typeface="Arial"/>
              </a:rPr>
              <a:t>14</a:t>
            </a:r>
          </a:p>
        </p:txBody>
      </p:sp>
      <p:sp>
        <p:nvSpPr>
          <p:cNvPr id="106" name=""/>
          <p:cNvSpPr>
            <a:spLocks noGrp="1"/>
          </p:cNvSpPr>
          <p:nvPr/>
        </p:nvSpPr>
        <p:spPr>
          <a:xfrm>
            <a:off x="719138" y="1005840"/>
            <a:ext cx="8500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882" b="1" i="0">
                <a:solidFill>
                  <a:srgbClr val="C9783E"/>
                </a:solidFill>
                <a:latin typeface="Arial"/>
                <a:ea typeface="Arial"/>
                <a:cs typeface="Arial"/>
              </a:rPr>
              <a:t>DEFINED SUPPORT</a:t>
            </a:r>
          </a:p>
        </p:txBody>
      </p:sp>
      <p:sp>
        <p:nvSpPr>
          <p:cNvPr id="107" name=""/>
          <p:cNvSpPr>
            <a:spLocks noGrp="1"/>
          </p:cNvSpPr>
          <p:nvPr/>
        </p:nvSpPr>
        <p:spPr>
          <a:xfrm>
            <a:off x="719138" y="1280160"/>
            <a:ext cx="10753724" cy="80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</a:pPr>
            <a:r>
              <a:rPr sz="2850" b="1" i="0">
                <a:solidFill>
                  <a:srgbClr val="17191C"/>
                </a:solidFill>
                <a:latin typeface="Arial"/>
                <a:ea typeface="Arial"/>
                <a:cs typeface="Arial"/>
              </a:rPr>
              <a:t>Southwire can support selected delivery stages without taking design authority.</a:t>
            </a:r>
          </a:p>
        </p:txBody>
      </p:sp>
      <p:sp>
        <p:nvSpPr>
          <p:cNvPr id="108" name=""/>
          <p:cNvSpPr>
            <a:spLocks noGrp="1"/>
          </p:cNvSpPr>
          <p:nvPr/>
        </p:nvSpPr>
        <p:spPr>
          <a:xfrm>
            <a:off x="719138" y="2331720"/>
            <a:ext cx="594360" cy="27432"/>
          </a:xfrm>
          <a:prstGeom prst="rect">
            <a:avLst/>
          </a:prstGeom>
          <a:solidFill>
            <a:srgbClr val="C9783E"/>
          </a:solidFill>
          <a:ln w="0">
            <a:noFill/>
            <a:prstDash val="solid"/>
          </a:ln>
        </p:spPr>
      </p:sp>
      <p:sp>
        <p:nvSpPr>
          <p:cNvPr id="109" name=""/>
          <p:cNvSpPr>
            <a:spLocks noGrp="1"/>
          </p:cNvSpPr>
          <p:nvPr/>
        </p:nvSpPr>
        <p:spPr>
          <a:xfrm>
            <a:off x="719138" y="2468880"/>
            <a:ext cx="3300000" cy="30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1500" b="1" i="0">
                <a:solidFill>
                  <a:srgbClr val="17191C"/>
                </a:solidFill>
                <a:latin typeface="Arial"/>
                <a:ea typeface="Arial"/>
                <a:cs typeface="Arial"/>
              </a:rPr>
              <a:t>ALIGN</a:t>
            </a:r>
          </a:p>
        </p:txBody>
      </p:sp>
      <p:sp>
        <p:nvSpPr>
          <p:cNvPr id="110" name=""/>
          <p:cNvSpPr>
            <a:spLocks noGrp="1"/>
          </p:cNvSpPr>
          <p:nvPr/>
        </p:nvSpPr>
        <p:spPr>
          <a:xfrm>
            <a:off x="719138" y="2926080"/>
            <a:ext cx="3300000" cy="48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</a:pPr>
            <a:r>
              <a:rPr sz="10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Application and BOM review</a:t>
            </a:r>
          </a:p>
        </p:txBody>
      </p:sp>
      <p:sp>
        <p:nvSpPr>
          <p:cNvPr id="111" name=""/>
          <p:cNvSpPr>
            <a:spLocks noGrp="1"/>
          </p:cNvSpPr>
          <p:nvPr/>
        </p:nvSpPr>
        <p:spPr>
          <a:xfrm>
            <a:off x="719138" y="3429000"/>
            <a:ext cx="3300000" cy="48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</a:pPr>
            <a:r>
              <a:rPr sz="10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Alternative-construction evaluation</a:t>
            </a:r>
          </a:p>
        </p:txBody>
      </p:sp>
      <p:sp>
        <p:nvSpPr>
          <p:cNvPr id="112" name=""/>
          <p:cNvSpPr>
            <a:spLocks noGrp="1"/>
          </p:cNvSpPr>
          <p:nvPr/>
        </p:nvSpPr>
        <p:spPr>
          <a:xfrm>
            <a:off x="719138" y="3931920"/>
            <a:ext cx="3300000" cy="48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</a:pPr>
            <a:r>
              <a:rPr sz="10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Multidisciplinary cable support</a:t>
            </a:r>
          </a:p>
        </p:txBody>
      </p:sp>
      <p:sp>
        <p:nvSpPr>
          <p:cNvPr id="113" name=""/>
          <p:cNvSpPr>
            <a:spLocks noGrp="1"/>
          </p:cNvSpPr>
          <p:nvPr/>
        </p:nvSpPr>
        <p:spPr>
          <a:xfrm>
            <a:off x="4446000" y="2331720"/>
            <a:ext cx="594360" cy="27432"/>
          </a:xfrm>
          <a:prstGeom prst="rect">
            <a:avLst/>
          </a:prstGeom>
          <a:solidFill>
            <a:srgbClr val="C9783E"/>
          </a:solidFill>
          <a:ln w="0">
            <a:noFill/>
            <a:prstDash val="solid"/>
          </a:ln>
        </p:spPr>
      </p:sp>
      <p:sp>
        <p:nvSpPr>
          <p:cNvPr id="114" name=""/>
          <p:cNvSpPr>
            <a:spLocks noGrp="1"/>
          </p:cNvSpPr>
          <p:nvPr/>
        </p:nvSpPr>
        <p:spPr>
          <a:xfrm>
            <a:off x="4446000" y="2468880"/>
            <a:ext cx="3300000" cy="30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1500" b="1" i="0">
                <a:solidFill>
                  <a:srgbClr val="17191C"/>
                </a:solidFill>
                <a:latin typeface="Arial"/>
                <a:ea typeface="Arial"/>
                <a:cs typeface="Arial"/>
              </a:rPr>
              <a:t>COORDINATE</a:t>
            </a:r>
          </a:p>
        </p:txBody>
      </p:sp>
      <p:sp>
        <p:nvSpPr>
          <p:cNvPr id="115" name=""/>
          <p:cNvSpPr>
            <a:spLocks noGrp="1"/>
          </p:cNvSpPr>
          <p:nvPr/>
        </p:nvSpPr>
        <p:spPr>
          <a:xfrm>
            <a:off x="4446000" y="2926080"/>
            <a:ext cx="3300000" cy="48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</a:pPr>
            <a:r>
              <a:rPr sz="10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Project cable management</a:t>
            </a:r>
          </a:p>
        </p:txBody>
      </p:sp>
      <p:sp>
        <p:nvSpPr>
          <p:cNvPr id="116" name=""/>
          <p:cNvSpPr>
            <a:spLocks noGrp="1"/>
          </p:cNvSpPr>
          <p:nvPr/>
        </p:nvSpPr>
        <p:spPr>
          <a:xfrm>
            <a:off x="4446000" y="3429000"/>
            <a:ext cx="3300000" cy="48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</a:pPr>
            <a:r>
              <a:rPr sz="10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Inventory and release coordination</a:t>
            </a:r>
          </a:p>
        </p:txBody>
      </p:sp>
      <p:sp>
        <p:nvSpPr>
          <p:cNvPr id="117" name=""/>
          <p:cNvSpPr>
            <a:spLocks noGrp="1"/>
          </p:cNvSpPr>
          <p:nvPr/>
        </p:nvSpPr>
        <p:spPr>
          <a:xfrm>
            <a:off x="4446000" y="3931920"/>
            <a:ext cx="3300000" cy="48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</a:pPr>
            <a:r>
              <a:rPr sz="10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Reel, cut and sequence planning</a:t>
            </a:r>
          </a:p>
        </p:txBody>
      </p:sp>
      <p:sp>
        <p:nvSpPr>
          <p:cNvPr id="118" name=""/>
          <p:cNvSpPr>
            <a:spLocks noGrp="1"/>
          </p:cNvSpPr>
          <p:nvPr/>
        </p:nvSpPr>
        <p:spPr>
          <a:xfrm>
            <a:off x="8172862" y="2331720"/>
            <a:ext cx="594360" cy="27432"/>
          </a:xfrm>
          <a:prstGeom prst="rect">
            <a:avLst/>
          </a:prstGeom>
          <a:solidFill>
            <a:srgbClr val="C9783E"/>
          </a:solidFill>
          <a:ln w="0">
            <a:noFill/>
            <a:prstDash val="solid"/>
          </a:ln>
        </p:spPr>
      </p:sp>
      <p:sp>
        <p:nvSpPr>
          <p:cNvPr id="119" name=""/>
          <p:cNvSpPr>
            <a:spLocks noGrp="1"/>
          </p:cNvSpPr>
          <p:nvPr/>
        </p:nvSpPr>
        <p:spPr>
          <a:xfrm>
            <a:off x="8172862" y="2468880"/>
            <a:ext cx="3300000" cy="30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1500" b="1" i="0">
                <a:solidFill>
                  <a:srgbClr val="17191C"/>
                </a:solidFill>
                <a:latin typeface="Arial"/>
                <a:ea typeface="Arial"/>
                <a:cs typeface="Arial"/>
              </a:rPr>
              <a:t>PREPARE + SUPPORT</a:t>
            </a:r>
          </a:p>
        </p:txBody>
      </p:sp>
      <p:sp>
        <p:nvSpPr>
          <p:cNvPr id="120" name=""/>
          <p:cNvSpPr>
            <a:spLocks noGrp="1"/>
          </p:cNvSpPr>
          <p:nvPr/>
        </p:nvSpPr>
        <p:spPr>
          <a:xfrm>
            <a:off x="8172862" y="2926080"/>
            <a:ext cx="3300000" cy="48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</a:pPr>
            <a:r>
              <a:rPr sz="10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Cut-to-length, striping and labeling</a:t>
            </a:r>
          </a:p>
        </p:txBody>
      </p:sp>
      <p:sp>
        <p:nvSpPr>
          <p:cNvPr id="121" name=""/>
          <p:cNvSpPr>
            <a:spLocks noGrp="1"/>
          </p:cNvSpPr>
          <p:nvPr/>
        </p:nvSpPr>
        <p:spPr>
          <a:xfrm>
            <a:off x="8172862" y="3429000"/>
            <a:ext cx="3300000" cy="48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</a:pPr>
            <a:r>
              <a:rPr sz="10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Kitting by package or work sequence</a:t>
            </a:r>
          </a:p>
        </p:txBody>
      </p:sp>
      <p:sp>
        <p:nvSpPr>
          <p:cNvPr id="122" name=""/>
          <p:cNvSpPr>
            <a:spLocks noGrp="1"/>
          </p:cNvSpPr>
          <p:nvPr/>
        </p:nvSpPr>
        <p:spPr>
          <a:xfrm>
            <a:off x="8172862" y="3931920"/>
            <a:ext cx="3300000" cy="48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</a:pPr>
            <a:r>
              <a:rPr sz="10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Selected cable-in-conduit, pulling + field support</a:t>
            </a:r>
          </a:p>
        </p:txBody>
      </p:sp>
      <p:sp>
        <p:nvSpPr>
          <p:cNvPr id="123" name=""/>
          <p:cNvSpPr>
            <a:spLocks noGrp="1"/>
          </p:cNvSpPr>
          <p:nvPr/>
        </p:nvSpPr>
        <p:spPr>
          <a:xfrm>
            <a:off x="719138" y="5486400"/>
            <a:ext cx="10753724" cy="685800"/>
          </a:xfrm>
          <a:prstGeom prst="rect">
            <a:avLst/>
          </a:prstGeom>
          <a:solidFill>
            <a:srgbClr val="17191C"/>
          </a:solidFill>
          <a:ln w="0">
            <a:noFill/>
            <a:prstDash val="solid"/>
          </a:ln>
        </p:spPr>
      </p:sp>
      <p:sp>
        <p:nvSpPr>
          <p:cNvPr id="124" name=""/>
          <p:cNvSpPr>
            <a:spLocks noGrp="1"/>
          </p:cNvSpPr>
          <p:nvPr/>
        </p:nvSpPr>
        <p:spPr>
          <a:xfrm>
            <a:off x="1005840" y="5486400"/>
            <a:ext cx="297180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819" b="1" i="0">
                <a:solidFill>
                  <a:srgbClr val="C9783E"/>
                </a:solidFill>
                <a:latin typeface="Arial"/>
                <a:ea typeface="Arial"/>
                <a:cs typeface="Arial"/>
              </a:rPr>
              <a:t>PROCUREMENT + SUSTAINABILITY SUPPORT</a:t>
            </a:r>
          </a:p>
        </p:txBody>
      </p:sp>
      <p:sp>
        <p:nvSpPr>
          <p:cNvPr id="125" name=""/>
          <p:cNvSpPr>
            <a:spLocks noGrp="1"/>
          </p:cNvSpPr>
          <p:nvPr/>
        </p:nvSpPr>
        <p:spPr>
          <a:xfrm>
            <a:off x="4206240" y="5486400"/>
            <a:ext cx="6981222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6000"/>
              </a:lnSpc>
              <a:buNone/>
            </a:pPr>
            <a:r>
              <a:rPr sz="105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Product-level EPDs and responsible-production evidence can support procurement where applicable to the selected product and manufacturing site.</a:t>
            </a:r>
          </a:p>
        </p:txBody>
      </p:sp>
      <p:sp>
        <p:nvSpPr>
          <p:cNvPr id="126" name=""/>
          <p:cNvSpPr>
            <a:spLocks noGrp="1"/>
          </p:cNvSpPr>
          <p:nvPr/>
        </p:nvSpPr>
        <p:spPr>
          <a:xfrm>
            <a:off x="719138" y="6355080"/>
            <a:ext cx="10753724" cy="25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ctr">
              <a:lnSpc>
                <a:spcPct val="100000"/>
              </a:lnSpc>
              <a:buNone/>
            </a:pPr>
            <a:r>
              <a:rPr sz="900" b="0" i="1">
                <a:solidFill>
                  <a:srgbClr val="6A6F73"/>
                </a:solidFill>
                <a:latin typeface="Arial"/>
                <a:ea typeface="Arial"/>
                <a:cs typeface="Arial"/>
              </a:rPr>
              <a:t>Capability does not equal outcome. Availability, geography, contractual scope and technical fit must be confirmed for each project.</a:t>
            </a:r>
          </a:p>
        </p:txBody>
      </p:sp>
    </p:spTree>
  </p:cSld>
</p:sld>
</file>

<file path=ppt/slides/slide1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6F3EE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27" name=""/>
          <p:cNvSpPr>
            <a:spLocks noGrp="1"/>
          </p:cNvSpPr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C9783E"/>
          </a:solidFill>
          <a:ln w="0">
            <a:noFill/>
            <a:prstDash val="solid"/>
          </a:ln>
        </p:spPr>
      </p:sp>
      <p:pic>
        <p:nvPicPr>
          <p:cNvPr id="128" name=""/>
          <p:cNvPicPr>
            <a:picLocks noChangeAspect="1"/>
          </p:cNvPicPr>
          <p:nvPr/>
        </p:nvPicPr>
        <p:blipFill>
          <a:blip r:embed="rId1"/>
          <a:stretch/>
        </p:blipFill>
        <p:spPr>
          <a:xfrm>
            <a:off x="719138" y="200025"/>
            <a:ext cx="2066925" cy="590550"/>
          </a:xfrm>
          <a:prstGeom prst="rect">
            <a:avLst/>
          </a:prstGeom>
        </p:spPr>
      </p:pic>
      <p:sp>
        <p:nvSpPr>
          <p:cNvPr id="129" name=""/>
          <p:cNvSpPr>
            <a:spLocks noGrp="1"/>
          </p:cNvSpPr>
          <p:nvPr/>
        </p:nvSpPr>
        <p:spPr>
          <a:xfrm>
            <a:off x="7325360" y="323850"/>
            <a:ext cx="3600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r">
              <a:lnSpc>
                <a:spcPct val="100000"/>
              </a:lnSpc>
              <a:buNone/>
            </a:pPr>
            <a:r>
              <a:rPr sz="819" b="1" i="0">
                <a:solidFill>
                  <a:srgbClr val="9D4E24"/>
                </a:solidFill>
                <a:latin typeface="Arial"/>
                <a:ea typeface="Arial"/>
                <a:cs typeface="Arial"/>
              </a:rPr>
              <a:t>APPENDIX A4 · EVIDENCE DISCIPLINE</a:t>
            </a:r>
          </a:p>
        </p:txBody>
      </p:sp>
      <p:sp>
        <p:nvSpPr>
          <p:cNvPr id="130" name=""/>
          <p:cNvSpPr>
            <a:spLocks noGrp="1"/>
          </p:cNvSpPr>
          <p:nvPr/>
        </p:nvSpPr>
        <p:spPr>
          <a:xfrm>
            <a:off x="11060000" y="323850"/>
            <a:ext cx="600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r">
              <a:lnSpc>
                <a:spcPct val="100000"/>
              </a:lnSpc>
              <a:buNone/>
            </a:pPr>
            <a:r>
              <a:rPr sz="819" b="1" i="0">
                <a:solidFill>
                  <a:srgbClr val="8B9094"/>
                </a:solidFill>
                <a:latin typeface="Arial"/>
                <a:ea typeface="Arial"/>
                <a:cs typeface="Arial"/>
              </a:rPr>
              <a:t>15</a:t>
            </a:r>
          </a:p>
        </p:txBody>
      </p:sp>
      <p:sp>
        <p:nvSpPr>
          <p:cNvPr id="131" name=""/>
          <p:cNvSpPr>
            <a:spLocks noGrp="1"/>
          </p:cNvSpPr>
          <p:nvPr/>
        </p:nvSpPr>
        <p:spPr>
          <a:xfrm>
            <a:off x="719138" y="1005840"/>
            <a:ext cx="8500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882" b="1" i="0">
                <a:solidFill>
                  <a:srgbClr val="C9783E"/>
                </a:solidFill>
                <a:latin typeface="Arial"/>
                <a:ea typeface="Arial"/>
                <a:cs typeface="Arial"/>
              </a:rPr>
              <a:t>OBSERVED, MODELED, VALIDATED</a:t>
            </a:r>
          </a:p>
        </p:txBody>
      </p:sp>
      <p:sp>
        <p:nvSpPr>
          <p:cNvPr id="132" name=""/>
          <p:cNvSpPr>
            <a:spLocks noGrp="1"/>
          </p:cNvSpPr>
          <p:nvPr/>
        </p:nvSpPr>
        <p:spPr>
          <a:xfrm>
            <a:off x="719138" y="1280160"/>
            <a:ext cx="10753724" cy="80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</a:pPr>
            <a:r>
              <a:rPr sz="2850" b="1" i="0">
                <a:solidFill>
                  <a:srgbClr val="17191C"/>
                </a:solidFill>
                <a:latin typeface="Arial"/>
                <a:ea typeface="Arial"/>
                <a:cs typeface="Arial"/>
              </a:rPr>
              <a:t>Evidence is credible only when its boundaries stay visible.</a:t>
            </a:r>
          </a:p>
        </p:txBody>
      </p:sp>
      <p:sp>
        <p:nvSpPr>
          <p:cNvPr id="133" name=""/>
          <p:cNvSpPr>
            <a:spLocks noGrp="1"/>
          </p:cNvSpPr>
          <p:nvPr/>
        </p:nvSpPr>
        <p:spPr>
          <a:xfrm>
            <a:off x="719138" y="2240280"/>
            <a:ext cx="5237862" cy="31000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1C8"/>
            </a:solidFill>
            <a:prstDash val="solid"/>
          </a:ln>
        </p:spPr>
      </p:sp>
      <p:sp>
        <p:nvSpPr>
          <p:cNvPr id="134" name=""/>
          <p:cNvSpPr>
            <a:spLocks noGrp="1"/>
          </p:cNvSpPr>
          <p:nvPr/>
        </p:nvSpPr>
        <p:spPr>
          <a:xfrm>
            <a:off x="993458" y="2514600"/>
            <a:ext cx="4689222" cy="25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882" b="1" i="0">
                <a:solidFill>
                  <a:srgbClr val="9D4E24"/>
                </a:solidFill>
                <a:latin typeface="Arial"/>
                <a:ea typeface="Arial"/>
                <a:cs typeface="Arial"/>
              </a:rPr>
              <a:t>OBSERVED + PUBLISHED</a:t>
            </a:r>
          </a:p>
        </p:txBody>
      </p:sp>
      <p:sp>
        <p:nvSpPr>
          <p:cNvPr id="135" name=""/>
          <p:cNvSpPr>
            <a:spLocks noGrp="1"/>
          </p:cNvSpPr>
          <p:nvPr/>
        </p:nvSpPr>
        <p:spPr>
          <a:xfrm>
            <a:off x="993458" y="2994420"/>
            <a:ext cx="91440" cy="91440"/>
          </a:xfrm>
          <a:prstGeom prst="rect">
            <a:avLst/>
          </a:prstGeom>
          <a:solidFill>
            <a:srgbClr val="C9783E"/>
          </a:solidFill>
          <a:ln w="0">
            <a:noFill/>
            <a:prstDash val="solid"/>
          </a:ln>
        </p:spPr>
      </p:sp>
      <p:sp>
        <p:nvSpPr>
          <p:cNvPr id="136" name=""/>
          <p:cNvSpPr>
            <a:spLocks noGrp="1"/>
          </p:cNvSpPr>
          <p:nvPr/>
        </p:nvSpPr>
        <p:spPr>
          <a:xfrm>
            <a:off x="1222058" y="2925840"/>
            <a:ext cx="4460622" cy="70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10000"/>
              </a:lnSpc>
              <a:buNone/>
            </a:pPr>
            <a:r>
              <a:rPr sz="10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Name the scope, source, permission and unit of measure.</a:t>
            </a:r>
          </a:p>
        </p:txBody>
      </p:sp>
      <p:sp>
        <p:nvSpPr>
          <p:cNvPr id="137" name=""/>
          <p:cNvSpPr>
            <a:spLocks noGrp="1"/>
          </p:cNvSpPr>
          <p:nvPr/>
        </p:nvSpPr>
        <p:spPr>
          <a:xfrm>
            <a:off x="993458" y="3725940"/>
            <a:ext cx="91440" cy="91440"/>
          </a:xfrm>
          <a:prstGeom prst="rect">
            <a:avLst/>
          </a:prstGeom>
          <a:solidFill>
            <a:srgbClr val="C9783E"/>
          </a:solidFill>
          <a:ln w="0">
            <a:noFill/>
            <a:prstDash val="solid"/>
          </a:ln>
        </p:spPr>
      </p:sp>
      <p:sp>
        <p:nvSpPr>
          <p:cNvPr id="138" name=""/>
          <p:cNvSpPr>
            <a:spLocks noGrp="1"/>
          </p:cNvSpPr>
          <p:nvPr/>
        </p:nvSpPr>
        <p:spPr>
          <a:xfrm>
            <a:off x="1222058" y="3657360"/>
            <a:ext cx="4460622" cy="70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10000"/>
              </a:lnSpc>
              <a:buNone/>
            </a:pPr>
            <a:r>
              <a:rPr sz="10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Separate measured performance from arithmetic and inference.</a:t>
            </a:r>
          </a:p>
        </p:txBody>
      </p:sp>
      <p:sp>
        <p:nvSpPr>
          <p:cNvPr id="139" name=""/>
          <p:cNvSpPr>
            <a:spLocks noGrp="1"/>
          </p:cNvSpPr>
          <p:nvPr/>
        </p:nvSpPr>
        <p:spPr>
          <a:xfrm>
            <a:off x="993458" y="4457460"/>
            <a:ext cx="91440" cy="91440"/>
          </a:xfrm>
          <a:prstGeom prst="rect">
            <a:avLst/>
          </a:prstGeom>
          <a:solidFill>
            <a:srgbClr val="C9783E"/>
          </a:solidFill>
          <a:ln w="0">
            <a:noFill/>
            <a:prstDash val="solid"/>
          </a:ln>
        </p:spPr>
      </p:sp>
      <p:sp>
        <p:nvSpPr>
          <p:cNvPr id="140" name=""/>
          <p:cNvSpPr>
            <a:spLocks noGrp="1"/>
          </p:cNvSpPr>
          <p:nvPr/>
        </p:nvSpPr>
        <p:spPr>
          <a:xfrm>
            <a:off x="1222058" y="4388880"/>
            <a:ext cx="4460622" cy="70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10000"/>
              </a:lnSpc>
              <a:buNone/>
            </a:pPr>
            <a:r>
              <a:rPr sz="10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Keep customer- and line-specific conditions attached to each result.</a:t>
            </a:r>
          </a:p>
        </p:txBody>
      </p:sp>
      <p:sp>
        <p:nvSpPr>
          <p:cNvPr id="141" name=""/>
          <p:cNvSpPr>
            <a:spLocks noGrp="1"/>
          </p:cNvSpPr>
          <p:nvPr/>
        </p:nvSpPr>
        <p:spPr>
          <a:xfrm>
            <a:off x="6235130" y="2240280"/>
            <a:ext cx="5237862" cy="31000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1C8"/>
            </a:solidFill>
            <a:prstDash val="solid"/>
          </a:ln>
        </p:spPr>
      </p:sp>
      <p:sp>
        <p:nvSpPr>
          <p:cNvPr id="142" name=""/>
          <p:cNvSpPr>
            <a:spLocks noGrp="1"/>
          </p:cNvSpPr>
          <p:nvPr/>
        </p:nvSpPr>
        <p:spPr>
          <a:xfrm>
            <a:off x="6509450" y="2514600"/>
            <a:ext cx="4689222" cy="25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882" b="1" i="0">
                <a:solidFill>
                  <a:srgbClr val="9D4E24"/>
                </a:solidFill>
                <a:latin typeface="Arial"/>
                <a:ea typeface="Arial"/>
                <a:cs typeface="Arial"/>
              </a:rPr>
              <a:t>MODELED + DIRECTIONAL</a:t>
            </a:r>
          </a:p>
        </p:txBody>
      </p:sp>
      <p:sp>
        <p:nvSpPr>
          <p:cNvPr id="143" name=""/>
          <p:cNvSpPr>
            <a:spLocks noGrp="1"/>
          </p:cNvSpPr>
          <p:nvPr/>
        </p:nvSpPr>
        <p:spPr>
          <a:xfrm>
            <a:off x="6509450" y="2994420"/>
            <a:ext cx="91440" cy="91440"/>
          </a:xfrm>
          <a:prstGeom prst="rect">
            <a:avLst/>
          </a:prstGeom>
          <a:solidFill>
            <a:srgbClr val="C9783E"/>
          </a:solidFill>
          <a:ln w="0">
            <a:noFill/>
            <a:prstDash val="solid"/>
          </a:ln>
        </p:spPr>
      </p:sp>
      <p:sp>
        <p:nvSpPr>
          <p:cNvPr id="144" name=""/>
          <p:cNvSpPr>
            <a:spLocks noGrp="1"/>
          </p:cNvSpPr>
          <p:nvPr/>
        </p:nvSpPr>
        <p:spPr>
          <a:xfrm>
            <a:off x="6738050" y="2925840"/>
            <a:ext cx="4460622" cy="70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10000"/>
              </a:lnSpc>
              <a:buNone/>
            </a:pPr>
            <a:r>
              <a:rPr sz="10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State every input, exclusion and scope-equivalence assumption.</a:t>
            </a:r>
          </a:p>
        </p:txBody>
      </p:sp>
      <p:sp>
        <p:nvSpPr>
          <p:cNvPr id="145" name=""/>
          <p:cNvSpPr>
            <a:spLocks noGrp="1"/>
          </p:cNvSpPr>
          <p:nvPr/>
        </p:nvSpPr>
        <p:spPr>
          <a:xfrm>
            <a:off x="6509450" y="3725940"/>
            <a:ext cx="91440" cy="91440"/>
          </a:xfrm>
          <a:prstGeom prst="rect">
            <a:avLst/>
          </a:prstGeom>
          <a:solidFill>
            <a:srgbClr val="C9783E"/>
          </a:solidFill>
          <a:ln w="0">
            <a:noFill/>
            <a:prstDash val="solid"/>
          </a:ln>
        </p:spPr>
      </p:sp>
      <p:sp>
        <p:nvSpPr>
          <p:cNvPr id="146" name=""/>
          <p:cNvSpPr>
            <a:spLocks noGrp="1"/>
          </p:cNvSpPr>
          <p:nvPr/>
        </p:nvSpPr>
        <p:spPr>
          <a:xfrm>
            <a:off x="6738050" y="3657360"/>
            <a:ext cx="4460622" cy="70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10000"/>
              </a:lnSpc>
              <a:buNone/>
            </a:pPr>
            <a:r>
              <a:rPr sz="10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Include engineering, factory work, freight, FAT and residual field work.</a:t>
            </a:r>
          </a:p>
        </p:txBody>
      </p:sp>
      <p:sp>
        <p:nvSpPr>
          <p:cNvPr id="147" name=""/>
          <p:cNvSpPr>
            <a:spLocks noGrp="1"/>
          </p:cNvSpPr>
          <p:nvPr/>
        </p:nvSpPr>
        <p:spPr>
          <a:xfrm>
            <a:off x="6509450" y="4457460"/>
            <a:ext cx="91440" cy="91440"/>
          </a:xfrm>
          <a:prstGeom prst="rect">
            <a:avLst/>
          </a:prstGeom>
          <a:solidFill>
            <a:srgbClr val="C9783E"/>
          </a:solidFill>
          <a:ln w="0">
            <a:noFill/>
            <a:prstDash val="solid"/>
          </a:ln>
        </p:spPr>
      </p:sp>
      <p:sp>
        <p:nvSpPr>
          <p:cNvPr id="148" name=""/>
          <p:cNvSpPr>
            <a:spLocks noGrp="1"/>
          </p:cNvSpPr>
          <p:nvPr/>
        </p:nvSpPr>
        <p:spPr>
          <a:xfrm>
            <a:off x="6738050" y="4388880"/>
            <a:ext cx="4460622" cy="70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10000"/>
              </a:lnSpc>
              <a:buNone/>
            </a:pPr>
            <a:r>
              <a:rPr sz="10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Test whether the activity leaves the critical path before treating elapsed-time compression as schedule impact.</a:t>
            </a:r>
          </a:p>
        </p:txBody>
      </p:sp>
      <p:sp>
        <p:nvSpPr>
          <p:cNvPr id="149" name=""/>
          <p:cNvSpPr>
            <a:spLocks noGrp="1"/>
          </p:cNvSpPr>
          <p:nvPr/>
        </p:nvSpPr>
        <p:spPr>
          <a:xfrm>
            <a:off x="719138" y="5760720"/>
            <a:ext cx="10753724" cy="400000"/>
          </a:xfrm>
          <a:prstGeom prst="rect">
            <a:avLst/>
          </a:prstGeom>
          <a:solidFill>
            <a:srgbClr val="17191C"/>
          </a:solidFill>
          <a:ln w="0">
            <a:noFill/>
            <a:prstDash val="solid"/>
          </a:ln>
        </p:spPr>
      </p:sp>
      <p:sp>
        <p:nvSpPr>
          <p:cNvPr id="150" name=""/>
          <p:cNvSpPr>
            <a:spLocks noGrp="1"/>
          </p:cNvSpPr>
          <p:nvPr/>
        </p:nvSpPr>
        <p:spPr>
          <a:xfrm>
            <a:off x="719138" y="5760720"/>
            <a:ext cx="10753724" cy="40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</a:pPr>
            <a:r>
              <a:rPr sz="882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DO NOT TURN A SCREENING MODEL INTO AN NRG OUTCOME.</a:t>
            </a:r>
          </a:p>
        </p:txBody>
      </p:sp>
      <p:sp>
        <p:nvSpPr>
          <p:cNvPr id="151" name=""/>
          <p:cNvSpPr>
            <a:spLocks noGrp="1"/>
          </p:cNvSpPr>
          <p:nvPr/>
        </p:nvSpPr>
        <p:spPr>
          <a:xfrm>
            <a:off x="719138" y="6355080"/>
            <a:ext cx="10753724" cy="25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ctr">
              <a:lnSpc>
                <a:spcPct val="100000"/>
              </a:lnSpc>
              <a:buNone/>
            </a:pPr>
            <a:r>
              <a:rPr sz="900" b="0" i="1">
                <a:solidFill>
                  <a:srgbClr val="6A6F73"/>
                </a:solidFill>
                <a:latin typeface="Arial"/>
                <a:ea typeface="Arial"/>
                <a:cs typeface="Arial"/>
              </a:rPr>
              <a:t>Release gate: source permission, scope equivalence and NRG-specific validation approved.</a:t>
            </a:r>
          </a:p>
        </p:txBody>
      </p:sp>
    </p:spTree>
  </p:cSld>
</p:sld>
</file>

<file path=ppt/slides/slide1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6F3EE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30" name=""/>
          <p:cNvSpPr>
            <a:spLocks noGrp="1"/>
          </p:cNvSpPr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C9783E"/>
          </a:solidFill>
          <a:ln w="0">
            <a:noFill/>
            <a:prstDash val="solid"/>
          </a:ln>
        </p:spPr>
      </p:sp>
      <p:pic>
        <p:nvPicPr>
          <p:cNvPr id="131" name=""/>
          <p:cNvPicPr>
            <a:picLocks noChangeAspect="1"/>
          </p:cNvPicPr>
          <p:nvPr/>
        </p:nvPicPr>
        <p:blipFill>
          <a:blip r:embed="rId1"/>
          <a:stretch/>
        </p:blipFill>
        <p:spPr>
          <a:xfrm>
            <a:off x="719138" y="200025"/>
            <a:ext cx="2066925" cy="590550"/>
          </a:xfrm>
          <a:prstGeom prst="rect">
            <a:avLst/>
          </a:prstGeom>
        </p:spPr>
      </p:pic>
      <p:sp>
        <p:nvSpPr>
          <p:cNvPr id="132" name=""/>
          <p:cNvSpPr>
            <a:spLocks noGrp="1"/>
          </p:cNvSpPr>
          <p:nvPr/>
        </p:nvSpPr>
        <p:spPr>
          <a:xfrm>
            <a:off x="7325360" y="323850"/>
            <a:ext cx="3600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r">
              <a:lnSpc>
                <a:spcPct val="100000"/>
              </a:lnSpc>
              <a:buNone/>
            </a:pPr>
            <a:r>
              <a:rPr sz="819" b="1" i="0">
                <a:solidFill>
                  <a:srgbClr val="9D4E24"/>
                </a:solidFill>
                <a:latin typeface="Arial"/>
                <a:ea typeface="Arial"/>
                <a:cs typeface="Arial"/>
              </a:rPr>
              <a:t>APPENDIX A5 · SITE-MODEL BASIS</a:t>
            </a:r>
          </a:p>
        </p:txBody>
      </p:sp>
      <p:sp>
        <p:nvSpPr>
          <p:cNvPr id="133" name=""/>
          <p:cNvSpPr>
            <a:spLocks noGrp="1"/>
          </p:cNvSpPr>
          <p:nvPr/>
        </p:nvSpPr>
        <p:spPr>
          <a:xfrm>
            <a:off x="11060000" y="323850"/>
            <a:ext cx="600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r">
              <a:lnSpc>
                <a:spcPct val="100000"/>
              </a:lnSpc>
              <a:buNone/>
            </a:pPr>
            <a:r>
              <a:rPr sz="819" b="1" i="0">
                <a:solidFill>
                  <a:srgbClr val="8B9094"/>
                </a:solidFill>
                <a:latin typeface="Arial"/>
                <a:ea typeface="Arial"/>
                <a:cs typeface="Arial"/>
              </a:rPr>
              <a:t>16</a:t>
            </a:r>
          </a:p>
        </p:txBody>
      </p:sp>
      <p:sp>
        <p:nvSpPr>
          <p:cNvPr id="134" name=""/>
          <p:cNvSpPr>
            <a:spLocks noGrp="1"/>
          </p:cNvSpPr>
          <p:nvPr/>
        </p:nvSpPr>
        <p:spPr>
          <a:xfrm>
            <a:off x="719138" y="1280160"/>
            <a:ext cx="10753724" cy="80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</a:pPr>
            <a:r>
              <a:rPr sz="2850" b="1" i="0">
                <a:solidFill>
                  <a:srgbClr val="17191C"/>
                </a:solidFill>
                <a:latin typeface="Arial"/>
                <a:ea typeface="Arial"/>
                <a:cs typeface="Arial"/>
              </a:rPr>
              <a:t>The plant-zone map is grounded in a routed 3×1 reference model.</a:t>
            </a:r>
          </a:p>
        </p:txBody>
      </p:sp>
      <p:sp>
        <p:nvSpPr>
          <p:cNvPr id="135" name=""/>
          <p:cNvSpPr>
            <a:spLocks noGrp="1"/>
          </p:cNvSpPr>
          <p:nvPr/>
        </p:nvSpPr>
        <p:spPr>
          <a:xfrm>
            <a:off x="719138" y="2286000"/>
            <a:ext cx="10753724" cy="30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8000"/>
              </a:lnSpc>
              <a:buNone/>
            </a:pPr>
            <a:r>
              <a:rPr sz="10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Every figure below comes from the routed Rev 89 geometry — built before any RFQ existed.</a:t>
            </a:r>
          </a:p>
        </p:txBody>
      </p:sp>
      <p:sp>
        <p:nvSpPr>
          <p:cNvPr id="136" name=""/>
          <p:cNvSpPr>
            <a:spLocks noGrp="1"/>
          </p:cNvSpPr>
          <p:nvPr/>
        </p:nvSpPr>
        <p:spPr>
          <a:xfrm>
            <a:off x="719138" y="2606040"/>
            <a:ext cx="370332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1134" b="1" i="0">
                <a:solidFill>
                  <a:srgbClr val="9D4E24"/>
                </a:solidFill>
                <a:latin typeface="Arial"/>
                <a:ea typeface="Arial"/>
                <a:cs typeface="Arial"/>
              </a:rPr>
              <a:t>96 SCHEDULE RECORDS</a:t>
            </a:r>
          </a:p>
        </p:txBody>
      </p:sp>
      <p:sp>
        <p:nvSpPr>
          <p:cNvPr id="137" name=""/>
          <p:cNvSpPr>
            <a:spLocks noGrp="1"/>
          </p:cNvSpPr>
          <p:nvPr/>
        </p:nvSpPr>
        <p:spPr>
          <a:xfrm>
            <a:off x="4645660" y="2628900"/>
            <a:ext cx="6827202" cy="48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</a:pPr>
            <a:r>
              <a:rPr sz="10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NGCC master cable schedule Rev M21 — geometry-governed quantities, not factored estimates.</a:t>
            </a:r>
          </a:p>
        </p:txBody>
      </p:sp>
      <p:sp>
        <p:nvSpPr>
          <p:cNvPr id="138" name=""/>
          <p:cNvSpPr>
            <a:spLocks noGrp="1"/>
          </p:cNvSpPr>
          <p:nvPr/>
        </p:nvSpPr>
        <p:spPr>
          <a:xfrm>
            <a:off x="719138" y="3200400"/>
            <a:ext cx="10753724" cy="9525"/>
          </a:xfrm>
          <a:prstGeom prst="rect">
            <a:avLst/>
          </a:prstGeom>
          <a:solidFill>
            <a:srgbClr val="D8D1C8"/>
          </a:solidFill>
          <a:ln w="0">
            <a:noFill/>
            <a:prstDash val="solid"/>
          </a:ln>
        </p:spPr>
      </p:sp>
      <p:sp>
        <p:nvSpPr>
          <p:cNvPr id="139" name=""/>
          <p:cNvSpPr>
            <a:spLocks noGrp="1"/>
          </p:cNvSpPr>
          <p:nvPr/>
        </p:nvSpPr>
        <p:spPr>
          <a:xfrm>
            <a:off x="719138" y="3337560"/>
            <a:ext cx="370332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1134" b="1" i="0">
                <a:solidFill>
                  <a:srgbClr val="9D4E24"/>
                </a:solidFill>
                <a:latin typeface="Arial"/>
                <a:ea typeface="Arial"/>
                <a:cs typeface="Arial"/>
              </a:rPr>
              <a:t>1,784 CIRCUITS ROUTED</a:t>
            </a:r>
          </a:p>
        </p:txBody>
      </p:sp>
      <p:sp>
        <p:nvSpPr>
          <p:cNvPr id="140" name=""/>
          <p:cNvSpPr>
            <a:spLocks noGrp="1"/>
          </p:cNvSpPr>
          <p:nvPr/>
        </p:nvSpPr>
        <p:spPr>
          <a:xfrm>
            <a:off x="4645660" y="3360420"/>
            <a:ext cx="6827202" cy="48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</a:pPr>
            <a:r>
              <a:rPr sz="10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2,478 physical runs routed through the Rev 89 site geometry, across every plant zone in slide 5.</a:t>
            </a:r>
          </a:p>
        </p:txBody>
      </p:sp>
      <p:sp>
        <p:nvSpPr>
          <p:cNvPr id="141" name=""/>
          <p:cNvSpPr>
            <a:spLocks noGrp="1"/>
          </p:cNvSpPr>
          <p:nvPr/>
        </p:nvSpPr>
        <p:spPr>
          <a:xfrm>
            <a:off x="719138" y="3931920"/>
            <a:ext cx="10753724" cy="9525"/>
          </a:xfrm>
          <a:prstGeom prst="rect">
            <a:avLst/>
          </a:prstGeom>
          <a:solidFill>
            <a:srgbClr val="D8D1C8"/>
          </a:solidFill>
          <a:ln w="0">
            <a:noFill/>
            <a:prstDash val="solid"/>
          </a:ln>
        </p:spPr>
      </p:sp>
      <p:sp>
        <p:nvSpPr>
          <p:cNvPr id="142" name=""/>
          <p:cNvSpPr>
            <a:spLocks noGrp="1"/>
          </p:cNvSpPr>
          <p:nvPr/>
        </p:nvSpPr>
        <p:spPr>
          <a:xfrm>
            <a:off x="719138" y="4069080"/>
            <a:ext cx="370332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1134" b="1" i="0">
                <a:solidFill>
                  <a:srgbClr val="9D4E24"/>
                </a:solidFill>
                <a:latin typeface="Arial"/>
                <a:ea typeface="Arial"/>
                <a:cs typeface="Arial"/>
              </a:rPr>
              <a:t>1,136,255 PROCUREMENT FT</a:t>
            </a:r>
          </a:p>
        </p:txBody>
      </p:sp>
      <p:sp>
        <p:nvSpPr>
          <p:cNvPr id="143" name=""/>
          <p:cNvSpPr>
            <a:spLocks noGrp="1"/>
          </p:cNvSpPr>
          <p:nvPr/>
        </p:nvSpPr>
        <p:spPr>
          <a:xfrm>
            <a:off x="4645660" y="4091940"/>
            <a:ext cx="6827202" cy="48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</a:pPr>
            <a:r>
              <a:rPr sz="10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Approximately 1.14M ft of cable derived from routed lengths plus engineering allowances.</a:t>
            </a:r>
          </a:p>
        </p:txBody>
      </p:sp>
      <p:sp>
        <p:nvSpPr>
          <p:cNvPr id="144" name=""/>
          <p:cNvSpPr>
            <a:spLocks noGrp="1"/>
          </p:cNvSpPr>
          <p:nvPr/>
        </p:nvSpPr>
        <p:spPr>
          <a:xfrm>
            <a:off x="719138" y="4663440"/>
            <a:ext cx="10753724" cy="9525"/>
          </a:xfrm>
          <a:prstGeom prst="rect">
            <a:avLst/>
          </a:prstGeom>
          <a:solidFill>
            <a:srgbClr val="D8D1C8"/>
          </a:solidFill>
          <a:ln w="0">
            <a:noFill/>
            <a:prstDash val="solid"/>
          </a:ln>
        </p:spPr>
      </p:sp>
      <p:sp>
        <p:nvSpPr>
          <p:cNvPr id="145" name=""/>
          <p:cNvSpPr>
            <a:spLocks noGrp="1"/>
          </p:cNvSpPr>
          <p:nvPr/>
        </p:nvSpPr>
        <p:spPr>
          <a:xfrm>
            <a:off x="719138" y="4800600"/>
            <a:ext cx="370332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1134" b="1" i="0">
                <a:solidFill>
                  <a:srgbClr val="9D4E24"/>
                </a:solidFill>
                <a:latin typeface="Arial"/>
                <a:ea typeface="Arial"/>
                <a:cs typeface="Arial"/>
              </a:rPr>
              <a:t>563,091 LB COPPER</a:t>
            </a:r>
          </a:p>
        </p:txBody>
      </p:sp>
      <p:sp>
        <p:nvSpPr>
          <p:cNvPr id="146" name=""/>
          <p:cNvSpPr>
            <a:spLocks noGrp="1"/>
          </p:cNvSpPr>
          <p:nvPr/>
        </p:nvSpPr>
        <p:spPr>
          <a:xfrm>
            <a:off x="4645660" y="4823460"/>
            <a:ext cx="6827202" cy="48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</a:pPr>
            <a:r>
              <a:rPr sz="10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About 0.50 lb of copper per foot on average — commodity exposure quantified before procurement.</a:t>
            </a:r>
          </a:p>
        </p:txBody>
      </p:sp>
      <p:sp>
        <p:nvSpPr>
          <p:cNvPr id="147" name=""/>
          <p:cNvSpPr>
            <a:spLocks noGrp="1"/>
          </p:cNvSpPr>
          <p:nvPr/>
        </p:nvSpPr>
        <p:spPr>
          <a:xfrm>
            <a:off x="719138" y="5623560"/>
            <a:ext cx="10753724" cy="25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1050" b="1" i="0">
                <a:solidFill>
                  <a:srgbClr val="9D4E24"/>
                </a:solidFill>
                <a:latin typeface="Arial"/>
                <a:ea typeface="Arial"/>
                <a:cs typeface="Arial"/>
              </a:rPr>
              <a:t>Published Southwire record: 15M+ ft of HV underground cable with zero in-service failures.</a:t>
            </a:r>
          </a:p>
        </p:txBody>
      </p:sp>
      <p:sp>
        <p:nvSpPr>
          <p:cNvPr id="148" name=""/>
          <p:cNvSpPr>
            <a:spLocks noGrp="1"/>
          </p:cNvSpPr>
          <p:nvPr/>
        </p:nvSpPr>
        <p:spPr>
          <a:xfrm>
            <a:off x="719138" y="6315000"/>
            <a:ext cx="10753724" cy="400000"/>
          </a:xfrm>
          <a:prstGeom prst="rect">
            <a:avLst/>
          </a:prstGeom>
          <a:solidFill>
            <a:srgbClr val="17191C"/>
          </a:solidFill>
          <a:ln w="0">
            <a:noFill/>
            <a:prstDash val="solid"/>
          </a:ln>
        </p:spPr>
      </p:sp>
      <p:sp>
        <p:nvSpPr>
          <p:cNvPr id="149" name=""/>
          <p:cNvSpPr>
            <a:spLocks noGrp="1"/>
          </p:cNvSpPr>
          <p:nvPr/>
        </p:nvSpPr>
        <p:spPr>
          <a:xfrm>
            <a:off x="719138" y="6315000"/>
            <a:ext cx="10753724" cy="40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</a:pPr>
            <a:r>
              <a:rPr sz="882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THE MODEL BEHIND SLIDE 5 — CONCEPT, NOT FOR CONSTRUCTION; STOCK NUMBERS REQUIRE CONDUCTOR SIZING.</a:t>
            </a:r>
          </a:p>
        </p:txBody>
      </p:sp>
    </p:spTree>
  </p:cSld>
</p:sld>
</file>

<file path=ppt/slides/slide1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6F3EE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52" name=""/>
          <p:cNvSpPr>
            <a:spLocks noGrp="1"/>
          </p:cNvSpPr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C9783E"/>
          </a:solidFill>
          <a:ln w="0">
            <a:noFill/>
            <a:prstDash val="solid"/>
          </a:ln>
        </p:spPr>
      </p:sp>
      <p:pic>
        <p:nvPicPr>
          <p:cNvPr id="153" name=""/>
          <p:cNvPicPr>
            <a:picLocks noChangeAspect="1"/>
          </p:cNvPicPr>
          <p:nvPr/>
        </p:nvPicPr>
        <p:blipFill>
          <a:blip r:embed="rId1"/>
          <a:stretch/>
        </p:blipFill>
        <p:spPr>
          <a:xfrm>
            <a:off x="719138" y="200025"/>
            <a:ext cx="2066925" cy="590550"/>
          </a:xfrm>
          <a:prstGeom prst="rect">
            <a:avLst/>
          </a:prstGeom>
        </p:spPr>
      </p:pic>
      <p:sp>
        <p:nvSpPr>
          <p:cNvPr id="154" name=""/>
          <p:cNvSpPr>
            <a:spLocks noGrp="1"/>
          </p:cNvSpPr>
          <p:nvPr/>
        </p:nvSpPr>
        <p:spPr>
          <a:xfrm>
            <a:off x="7325360" y="323850"/>
            <a:ext cx="3600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r">
              <a:lnSpc>
                <a:spcPct val="100000"/>
              </a:lnSpc>
              <a:buNone/>
            </a:pPr>
            <a:r>
              <a:rPr sz="819" b="1" i="0">
                <a:solidFill>
                  <a:srgbClr val="9D4E24"/>
                </a:solidFill>
                <a:latin typeface="Arial"/>
                <a:ea typeface="Arial"/>
                <a:cs typeface="Arial"/>
              </a:rPr>
              <a:t>APPENDIX A6 · SK-120 REFERENCE</a:t>
            </a:r>
          </a:p>
        </p:txBody>
      </p:sp>
      <p:sp>
        <p:nvSpPr>
          <p:cNvPr id="155" name=""/>
          <p:cNvSpPr>
            <a:spLocks noGrp="1"/>
          </p:cNvSpPr>
          <p:nvPr/>
        </p:nvSpPr>
        <p:spPr>
          <a:xfrm>
            <a:off x="11060000" y="323850"/>
            <a:ext cx="600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r">
              <a:lnSpc>
                <a:spcPct val="100000"/>
              </a:lnSpc>
              <a:buNone/>
            </a:pPr>
            <a:r>
              <a:rPr sz="819" b="1" i="0">
                <a:solidFill>
                  <a:srgbClr val="8B9094"/>
                </a:solidFill>
                <a:latin typeface="Arial"/>
                <a:ea typeface="Arial"/>
                <a:cs typeface="Arial"/>
              </a:rPr>
              <a:t>17</a:t>
            </a:r>
          </a:p>
        </p:txBody>
      </p:sp>
      <p:pic>
        <p:nvPicPr>
          <p:cNvPr id="156" name=""/>
          <p:cNvPicPr>
            <a:picLocks noChangeAspect="1"/>
          </p:cNvPicPr>
          <p:nvPr/>
        </p:nvPicPr>
        <p:blipFill>
          <a:blip r:embed="Rsk120"/>
          <a:stretch/>
        </p:blipFill>
        <p:spPr>
          <a:xfrm>
            <a:off x="1011152" y="950000"/>
            <a:ext cx="10169696" cy="5570220"/>
          </a:xfrm>
          <a:prstGeom prst="rect">
            <a:avLst/>
          </a:prstGeom>
        </p:spPr>
      </p:pic>
      <p:sp>
        <p:nvSpPr>
          <p:cNvPr id="157" name=""/>
          <p:cNvSpPr>
            <a:spLocks noGrp="1"/>
          </p:cNvSpPr>
          <p:nvPr/>
        </p:nvSpPr>
        <p:spPr>
          <a:xfrm>
            <a:off x="719138" y="6640000"/>
            <a:ext cx="10753724" cy="20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ctr">
              <a:lnSpc>
                <a:spcPct val="100000"/>
              </a:lnSpc>
              <a:buNone/>
            </a:pPr>
            <a:r>
              <a:rPr sz="900" b="0" i="1">
                <a:solidFill>
                  <a:srgbClr val="6A6F73"/>
                </a:solidFill>
                <a:latin typeface="Arial"/>
                <a:ea typeface="Arial"/>
                <a:cs typeface="Arial"/>
              </a:rPr>
              <a:t>SK-120 · 3×1 NGCC · Rev 89 site model · 16 zones with per-zone cable applications · concept, not for construction · print at 34″ for site-walk use.</a:t>
            </a:r>
          </a:p>
        </p:txBody>
      </p:sp>
    </p:spTree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22252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6A8162B-F601-4993-98BE-8D3BBB694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783E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2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ee1c5f2262e4319"/>
          <a:srcRect xmlns:a="http://schemas.openxmlformats.org/drawingml/2006/main" l="8771" t="0" r="8771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52450" y="209550"/>
            <a:ext cx="2457450" cy="4191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8FD36E9-20DA-46F1-ACA1-252C5BC61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23850"/>
            <a:ext cx="3086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19" b="1" i="0">
                <a:solidFill>
                  <a:srgbClr val="E3A06D"/>
                </a:solidFill>
                <a:latin typeface="Arial"/>
                <a:ea typeface="Arial"/>
                <a:cs typeface="Arial"/>
              </a:defRPr>
            </a:pPr>
            <a:r>
              <a:rPr sz="819" b="1" i="0">
                <a:solidFill>
                  <a:srgbClr val="E3A06D"/>
                </a:solidFill>
                <a:latin typeface="Arial"/>
                <a:ea typeface="Arial"/>
                <a:cs typeface="Arial"/>
              </a:rPr>
              <a:t>APPENDIX A7 · SKID SCENARIO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0E4AB5C-7EC8-420D-B720-AC3E8A2FE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323850"/>
            <a:ext cx="323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19" b="1" i="0">
                <a:solidFill>
                  <a:srgbClr val="8B9094"/>
                </a:solidFill>
                <a:latin typeface="Arial"/>
                <a:ea typeface="Arial"/>
                <a:cs typeface="Arial"/>
              </a:defRPr>
            </a:pPr>
            <a:r>
              <a:rPr sz="819" b="1" i="0">
                <a:solidFill>
                  <a:srgbClr val="8B9094"/>
                </a:solidFill>
                <a:latin typeface="Arial"/>
                <a:ea typeface="Arial"/>
                <a:cs typeface="Arial"/>
              </a:rPr>
              <a:t>18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678909B-CBB8-472D-9EB7-45D22A318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76300"/>
            <a:ext cx="1104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82" b="1" i="0">
                <a:solidFill>
                  <a:srgbClr val="E3A06D"/>
                </a:solidFill>
                <a:latin typeface="Arial"/>
                <a:ea typeface="Arial"/>
                <a:cs typeface="Arial"/>
              </a:defRPr>
            </a:pPr>
            <a:r>
              <a:rPr sz="882" b="1" i="0">
                <a:solidFill>
                  <a:srgbClr val="E3A06D"/>
                </a:solidFill>
                <a:latin typeface="Arial"/>
                <a:ea typeface="Arial"/>
                <a:cs typeface="Arial"/>
              </a:rPr>
              <a:t>INTERNAL ILLUSTRATIVE MODEL  |  NOT A CUSTOMER OR NRG RESULT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88CB839-CF33-46DF-BEAB-0097A59E0E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181100"/>
            <a:ext cx="11049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4763"/>
          </a:bodyPr>
          <a:lstStyle xmlns:a="http://schemas.openxmlformats.org/drawingml/2006/main"/>
          <a:p xmlns:a="http://schemas.openxmlformats.org/drawingml/2006/main">
            <a:pPr algn="l">
              <a:lnSpc>
                <a:spcPct val="94000"/>
              </a:lnSpc>
              <a:buNone/>
              <a:defRPr sz="277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775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Repeatable skid interfaces are a prefabrication candidate—not a promised result.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463E3EC-1859-40FD-913D-354070C70F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914525"/>
            <a:ext cx="800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0" i="0">
                <a:solidFill>
                  <a:srgbClr val="C8CBCE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C8CBCE"/>
                </a:solidFill>
                <a:latin typeface="Arial"/>
                <a:ea typeface="Arial"/>
                <a:cs typeface="Arial"/>
              </a:rPr>
              <a:t>Supplied 50 MW power-distribution skid scenario | timing is directional and unvalidated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1C04A89-F9F2-44AE-A653-9601C86D13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600325"/>
            <a:ext cx="33337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6491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4788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788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8–12 wks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D18F05E-D3A7-4725-AF7B-22D702CBA0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476625"/>
            <a:ext cx="33337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2000"/>
              </a:lnSpc>
              <a:buNone/>
              <a:defRPr sz="1071" b="1" i="0">
                <a:solidFill>
                  <a:srgbClr val="8B9094"/>
                </a:solidFill>
                <a:latin typeface="Arial"/>
                <a:ea typeface="Arial"/>
                <a:cs typeface="Arial"/>
              </a:defRPr>
            </a:pPr>
            <a:r>
              <a:rPr sz="1071" b="1" i="0">
                <a:solidFill>
                  <a:srgbClr val="8B9094"/>
                </a:solidFill>
                <a:latin typeface="Arial"/>
                <a:ea typeface="Arial"/>
                <a:cs typeface="Arial"/>
              </a:rPr>
              <a:t>SUPPLIED FIELD-BUILD MODEL</a:t>
            </a:r>
          </a:p>
          <a:p xmlns:a="http://schemas.openxmlformats.org/drawingml/2006/main">
            <a:pPr algn="ctr">
              <a:lnSpc>
                <a:spcPct val="92000"/>
              </a:lnSpc>
              <a:buNone/>
              <a:defRPr sz="1071" b="1" i="0">
                <a:solidFill>
                  <a:srgbClr val="8B9094"/>
                </a:solidFill>
                <a:latin typeface="Arial"/>
                <a:ea typeface="Arial"/>
                <a:cs typeface="Arial"/>
              </a:defRPr>
            </a:pPr>
            <a:r>
              <a:rPr sz="1071" b="1" i="0">
                <a:solidFill>
                  <a:srgbClr val="8B9094"/>
                </a:solidFill>
                <a:latin typeface="Arial"/>
                <a:ea typeface="Arial"/>
                <a:cs typeface="Arial"/>
              </a:rPr>
              <a:t>INSTALL + COMMISSION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58F02CA-DBD3-4859-AF3F-1D044E927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781550" y="2933700"/>
            <a:ext cx="2095500" cy="46672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C978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CDFB9DE-7765-4137-85DE-D711A3251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2600325"/>
            <a:ext cx="33337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6491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4788" b="1" i="0">
                <a:solidFill>
                  <a:srgbClr val="E3A06D"/>
                </a:solidFill>
                <a:latin typeface="Arial"/>
                <a:ea typeface="Arial"/>
                <a:cs typeface="Arial"/>
              </a:defRPr>
            </a:pPr>
            <a:r>
              <a:rPr sz="4788" b="1" i="0">
                <a:solidFill>
                  <a:srgbClr val="E3A06D"/>
                </a:solidFill>
                <a:latin typeface="Arial"/>
                <a:ea typeface="Arial"/>
                <a:cs typeface="Arial"/>
              </a:rPr>
              <a:t>2–4 wks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01E448B-AC8F-4D77-A10F-EB3D44F665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3476625"/>
            <a:ext cx="33337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2000"/>
              </a:lnSpc>
              <a:buNone/>
              <a:defRPr sz="1071" b="1" i="0">
                <a:solidFill>
                  <a:srgbClr val="8B9094"/>
                </a:solidFill>
                <a:latin typeface="Arial"/>
                <a:ea typeface="Arial"/>
                <a:cs typeface="Arial"/>
              </a:defRPr>
            </a:pPr>
            <a:r>
              <a:rPr sz="1071" b="1" i="0">
                <a:solidFill>
                  <a:srgbClr val="8B9094"/>
                </a:solidFill>
                <a:latin typeface="Arial"/>
                <a:ea typeface="Arial"/>
                <a:cs typeface="Arial"/>
              </a:rPr>
              <a:t>SUPPLIED PREFAB MODEL</a:t>
            </a:r>
          </a:p>
          <a:p xmlns:a="http://schemas.openxmlformats.org/drawingml/2006/main">
            <a:pPr algn="ctr">
              <a:lnSpc>
                <a:spcPct val="92000"/>
              </a:lnSpc>
              <a:buNone/>
              <a:defRPr sz="1071" b="1" i="0">
                <a:solidFill>
                  <a:srgbClr val="8B9094"/>
                </a:solidFill>
                <a:latin typeface="Arial"/>
                <a:ea typeface="Arial"/>
                <a:cs typeface="Arial"/>
              </a:defRPr>
            </a:pPr>
            <a:r>
              <a:rPr sz="1071" b="1" i="0">
                <a:solidFill>
                  <a:srgbClr val="8B9094"/>
                </a:solidFill>
                <a:latin typeface="Arial"/>
                <a:ea typeface="Arial"/>
                <a:cs typeface="Arial"/>
              </a:rPr>
              <a:t>INSTALL + COMMISSION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8791E57-1617-48F4-B221-E3DE343A1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52450" y="4219575"/>
            <a:ext cx="5257800" cy="1562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2E32"/>
          </a:solidFill>
          <a:ln xmlns:a="http://schemas.openxmlformats.org/drawingml/2006/main" w="9525">
            <a:solidFill>
              <a:srgbClr val="41454A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5390F3D-24E2-43A3-BC80-0B27D9B216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438650"/>
            <a:ext cx="4667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8" b="1" i="0">
                <a:solidFill>
                  <a:srgbClr val="E3A06D"/>
                </a:solidFill>
                <a:latin typeface="Arial"/>
                <a:ea typeface="Arial"/>
                <a:cs typeface="Arial"/>
              </a:defRPr>
            </a:pPr>
            <a:r>
              <a:rPr sz="1008" b="1" i="0">
                <a:solidFill>
                  <a:srgbClr val="E3A06D"/>
                </a:solidFill>
                <a:latin typeface="Arial"/>
                <a:ea typeface="Arial"/>
                <a:cs typeface="Arial"/>
              </a:rPr>
              <a:t>WHAT IT SUGGESTS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3017E22-8AA6-4ADE-B06E-95252889A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867275"/>
            <a:ext cx="4619625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5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Pretested, prelabeled harnesses may reduce onsite interfaces and congestion.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5681D7F-D168-416D-9DD9-FF7CA8047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57900" y="4219575"/>
            <a:ext cx="5581650" cy="1562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2E32"/>
          </a:solidFill>
          <a:ln xmlns:a="http://schemas.openxmlformats.org/drawingml/2006/main" w="9525">
            <a:solidFill>
              <a:srgbClr val="41454A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2AC47E8-FE43-444A-BF93-C7020872A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438650"/>
            <a:ext cx="5048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8" b="1" i="0">
                <a:solidFill>
                  <a:srgbClr val="E3A06D"/>
                </a:solidFill>
                <a:latin typeface="Arial"/>
                <a:ea typeface="Arial"/>
                <a:cs typeface="Arial"/>
              </a:defRPr>
            </a:pPr>
            <a:r>
              <a:rPr sz="1008" b="1" i="0">
                <a:solidFill>
                  <a:srgbClr val="E3A06D"/>
                </a:solidFill>
                <a:latin typeface="Arial"/>
                <a:ea typeface="Arial"/>
                <a:cs typeface="Arial"/>
              </a:rPr>
              <a:t>WHAT IT DOES NOT PROVE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980DF4B-9080-43AC-805A-3D9F6E0B4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867275"/>
            <a:ext cx="495300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5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Net savings, a six-to-eight-week gain or lower commissioning risk.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91D27FB-5F84-48E5-842F-1B2511CCE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43625"/>
            <a:ext cx="11087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0" i="1">
                <a:solidFill>
                  <a:srgbClr val="8B9094"/>
                </a:solidFill>
                <a:latin typeface="Arial"/>
                <a:ea typeface="Arial"/>
                <a:cs typeface="Arial"/>
              </a:defRPr>
            </a:pPr>
            <a:r>
              <a:rPr sz="1050" b="0" i="1">
                <a:solidFill>
                  <a:srgbClr val="8B9094"/>
                </a:solidFill>
                <a:latin typeface="Arial"/>
                <a:ea typeface="Arial"/>
                <a:cs typeface="Arial"/>
              </a:rPr>
              <a:t>Validate scope, crew plan, factory cost, freight, work rules, commissioning and schedule logic.</a:t>
            </a:r>
          </a:p>
        </p:txBody>
      </p:sp>
    </p:spTree>
    <p:extLst>
      <p:ext uri="{BB962C8B-B14F-4D97-AF65-F5344CB8AC3E}">
        <p14:creationId xmlns:p14="http://schemas.microsoft.com/office/powerpoint/2010/main" val="1722348828"/>
      </p:ext>
    </p:extLst>
  </p:cSld>
</p:sld>
</file>

<file path=ppt/slides/slide19.xml><?xml version="1.0" encoding="utf-8"?>
<p:sld xmlns:p="http://schemas.openxmlformats.org/presentationml/2006/main" xmlns:a="http://schemas.openxmlformats.org/drawingml/2006/main">
  <p:cSld>
    <p:bg>
      <p:bgPr>
        <a:solidFill xmlns:a="http://schemas.openxmlformats.org/drawingml/2006/main">
          <a:srgbClr val="22252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6A8162B-F601-4993-98BE-8D3BBB694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783E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2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ee1c5f2262e4319"/>
          <a:srcRect xmlns:a="http://schemas.openxmlformats.org/drawingml/2006/main" l="8771" t="0" r="8771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52450" y="209550"/>
            <a:ext cx="2457450" cy="4191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8FD36E9-20DA-46F1-ACA1-252C5BC61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23850"/>
            <a:ext cx="3086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19" b="1" i="0">
                <a:solidFill>
                  <a:srgbClr val="E3A06D"/>
                </a:solidFill>
                <a:latin typeface="Arial"/>
                <a:ea typeface="Arial"/>
                <a:cs typeface="Arial"/>
              </a:defRPr>
            </a:pPr>
            <a:r>
              <a:rPr sz="819" b="1" i="0">
                <a:solidFill>
                  <a:srgbClr val="E3A06D"/>
                </a:solidFill>
                <a:latin typeface="Arial"/>
                <a:ea typeface="Arial"/>
                <a:cs typeface="Arial"/>
              </a:rPr>
              <a:t>APPENDIX A8 · ADVANCED CONDUCTOR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0E4AB5C-7EC8-420D-B720-AC3E8A2FE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323850"/>
            <a:ext cx="323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19" b="1" i="0">
                <a:solidFill>
                  <a:srgbClr val="8B9094"/>
                </a:solidFill>
                <a:latin typeface="Arial"/>
                <a:ea typeface="Arial"/>
                <a:cs typeface="Arial"/>
              </a:defRPr>
            </a:pPr>
            <a:r>
              <a:rPr sz="819" b="1" i="0">
                <a:solidFill>
                  <a:srgbClr val="8B9094"/>
                </a:solidFill>
                <a:latin typeface="Arial"/>
                <a:ea typeface="Arial"/>
                <a:cs typeface="Arial"/>
              </a:rPr>
              <a:t>19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678909B-CBB8-472D-9EB7-45D22A318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76300"/>
            <a:ext cx="1104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82" b="1" i="0">
                <a:solidFill>
                  <a:srgbClr val="E3A06D"/>
                </a:solidFill>
                <a:latin typeface="Arial"/>
                <a:ea typeface="Arial"/>
                <a:cs typeface="Arial"/>
              </a:defRPr>
            </a:pPr>
            <a:r>
              <a:rPr sz="882" b="1" i="0">
                <a:solidFill>
                  <a:srgbClr val="E3A06D"/>
                </a:solidFill>
                <a:latin typeface="Arial"/>
                <a:ea typeface="Arial"/>
                <a:cs typeface="Arial"/>
              </a:rPr>
              <a:t>PUBLISHED ADJACENT CASE  |  ANONYMOUS UTILITY  |  NOT AN NRG RESULT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88CB839-CF33-46DF-BEAB-0097A59E0E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181100"/>
            <a:ext cx="11049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4763"/>
          </a:bodyPr>
          <a:lstStyle xmlns:a="http://schemas.openxmlformats.org/drawingml/2006/main"/>
          <a:p xmlns:a="http://schemas.openxmlformats.org/drawingml/2006/main">
            <a:pPr algn="l">
              <a:lnSpc>
                <a:spcPct val="94000"/>
              </a:lnSpc>
              <a:buNone/>
              <a:defRPr sz="277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775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A 138-kV crossing case shows where a conductor screen can change the rebuild question.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463E3EC-1859-40FD-913D-354070C70F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914525"/>
            <a:ext cx="800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0" i="0">
                <a:solidFill>
                  <a:srgbClr val="C8CBCE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C8CBCE"/>
                </a:solidFill>
                <a:latin typeface="Arial"/>
                <a:ea typeface="Arial"/>
                <a:cs typeface="Arial"/>
              </a:rPr>
              <a:t>Published Southwire river-crossing comparison under specific engineering assumptions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1C04A89-F9F2-44AE-A653-9601C86D13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600325"/>
            <a:ext cx="33337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6491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4788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788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730 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D18F05E-D3A7-4725-AF7B-22D702CBA0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476625"/>
            <a:ext cx="33337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2000"/>
              </a:lnSpc>
              <a:buNone/>
              <a:defRPr sz="1071" b="1" i="0">
                <a:solidFill>
                  <a:srgbClr val="8B9094"/>
                </a:solidFill>
                <a:latin typeface="Arial"/>
                <a:ea typeface="Arial"/>
                <a:cs typeface="Arial"/>
              </a:defRPr>
            </a:pPr>
            <a:r>
              <a:rPr sz="1071" b="1" i="0">
                <a:solidFill>
                  <a:srgbClr val="8B9094"/>
                </a:solidFill>
                <a:latin typeface="Arial"/>
                <a:ea typeface="Arial"/>
                <a:cs typeface="Arial"/>
              </a:rPr>
              <a:t>EXISTING 795 KCMIL DRAKE ACSR</a:t>
            </a:r>
          </a:p>
          <a:p xmlns:a="http://schemas.openxmlformats.org/drawingml/2006/main">
            <a:pPr algn="ctr">
              <a:lnSpc>
                <a:spcPct val="92000"/>
              </a:lnSpc>
              <a:buNone/>
              <a:defRPr sz="1071" b="1" i="0">
                <a:solidFill>
                  <a:srgbClr val="8B9094"/>
                </a:solidFill>
                <a:latin typeface="Arial"/>
                <a:ea typeface="Arial"/>
                <a:cs typeface="Arial"/>
              </a:defRPr>
            </a:pPr>
            <a:r>
              <a:rPr sz="1071" b="1" i="0">
                <a:solidFill>
                  <a:srgbClr val="8B9094"/>
                </a:solidFill>
                <a:latin typeface="Arial"/>
                <a:ea typeface="Arial"/>
                <a:cs typeface="Arial"/>
              </a:rPr>
              <a:t>98.0 FT CALCULATED FINAL SAG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58F02CA-DBD3-4859-AF3F-1D044E927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781550" y="2933700"/>
            <a:ext cx="2095500" cy="46672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C978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CDFB9DE-7765-4137-85DE-D711A3251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2600325"/>
            <a:ext cx="33337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6491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4788" b="1" i="0">
                <a:solidFill>
                  <a:srgbClr val="E3A06D"/>
                </a:solidFill>
                <a:latin typeface="Arial"/>
                <a:ea typeface="Arial"/>
                <a:cs typeface="Arial"/>
              </a:defRPr>
            </a:pPr>
            <a:r>
              <a:rPr sz="4788" b="1" i="0">
                <a:solidFill>
                  <a:srgbClr val="E3A06D"/>
                </a:solidFill>
                <a:latin typeface="Arial"/>
                <a:ea typeface="Arial"/>
                <a:cs typeface="Arial"/>
              </a:rPr>
              <a:t>1,050 A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01E448B-AC8F-4D77-A10F-EB3D44F665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3476625"/>
            <a:ext cx="33337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2000"/>
              </a:lnSpc>
              <a:buNone/>
              <a:defRPr sz="1071" b="1" i="0">
                <a:solidFill>
                  <a:srgbClr val="8B9094"/>
                </a:solidFill>
                <a:latin typeface="Arial"/>
                <a:ea typeface="Arial"/>
                <a:cs typeface="Arial"/>
              </a:defRPr>
            </a:pPr>
            <a:r>
              <a:rPr sz="1071" b="1" i="0">
                <a:solidFill>
                  <a:srgbClr val="8B9094"/>
                </a:solidFill>
                <a:latin typeface="Arial"/>
                <a:ea typeface="Arial"/>
                <a:cs typeface="Arial"/>
              </a:rPr>
              <a:t>477 KCMIL C7 SOLUTION</a:t>
            </a:r>
          </a:p>
          <a:p xmlns:a="http://schemas.openxmlformats.org/drawingml/2006/main">
            <a:pPr algn="ctr">
              <a:lnSpc>
                <a:spcPct val="92000"/>
              </a:lnSpc>
              <a:buNone/>
              <a:defRPr sz="1071" b="1" i="0">
                <a:solidFill>
                  <a:srgbClr val="8B9094"/>
                </a:solidFill>
                <a:latin typeface="Arial"/>
                <a:ea typeface="Arial"/>
                <a:cs typeface="Arial"/>
              </a:defRPr>
            </a:pPr>
            <a:r>
              <a:rPr sz="1071" b="1" i="0">
                <a:solidFill>
                  <a:srgbClr val="8B9094"/>
                </a:solidFill>
                <a:latin typeface="Arial"/>
                <a:ea typeface="Arial"/>
                <a:cs typeface="Arial"/>
              </a:rPr>
              <a:t>33.5 FT CALCULATED FINAL SAG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8791E57-1617-48F4-B221-E3DE343A1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52450" y="4219575"/>
            <a:ext cx="5257800" cy="1562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2E32"/>
          </a:solidFill>
          <a:ln xmlns:a="http://schemas.openxmlformats.org/drawingml/2006/main" w="9525">
            <a:solidFill>
              <a:srgbClr val="41454A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5390F3D-24E2-43A3-BC80-0B27D9B216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438650"/>
            <a:ext cx="4667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8" b="1" i="0">
                <a:solidFill>
                  <a:srgbClr val="E3A06D"/>
                </a:solidFill>
                <a:latin typeface="Arial"/>
                <a:ea typeface="Arial"/>
                <a:cs typeface="Arial"/>
              </a:defRPr>
            </a:pPr>
            <a:r>
              <a:rPr sz="1008" b="1" i="0">
                <a:solidFill>
                  <a:srgbClr val="E3A06D"/>
                </a:solidFill>
                <a:latin typeface="Arial"/>
                <a:ea typeface="Arial"/>
                <a:cs typeface="Arial"/>
              </a:rPr>
              <a:t>WHAT IT SUGGESTS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3017E22-8AA6-4ADE-B06E-95252889A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867275"/>
            <a:ext cx="4619625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5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Advanced conductor may avoid a full rebuild where line conditions permit.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5681D7F-D168-416D-9DD9-FF7CA8047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57900" y="4219575"/>
            <a:ext cx="5581650" cy="1562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2E32"/>
          </a:solidFill>
          <a:ln xmlns:a="http://schemas.openxmlformats.org/drawingml/2006/main" w="9525">
            <a:solidFill>
              <a:srgbClr val="41454A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2AC47E8-FE43-444A-BF93-C7020872A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438650"/>
            <a:ext cx="5048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8" b="1" i="0">
                <a:solidFill>
                  <a:srgbClr val="E3A06D"/>
                </a:solidFill>
                <a:latin typeface="Arial"/>
                <a:ea typeface="Arial"/>
                <a:cs typeface="Arial"/>
              </a:defRPr>
            </a:pPr>
            <a:r>
              <a:rPr sz="1008" b="1" i="0">
                <a:solidFill>
                  <a:srgbClr val="E3A06D"/>
                </a:solidFill>
                <a:latin typeface="Arial"/>
                <a:ea typeface="Arial"/>
                <a:cs typeface="Arial"/>
              </a:rPr>
              <a:t>WHAT IT DOES NOT PROVE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980DF4B-9080-43AC-805A-3D9F6E0B4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867275"/>
            <a:ext cx="495300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5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NRG transfer capability, corridor fit, cost or schedule.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91D27FB-5F84-48E5-842F-1B2511CCE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43625"/>
            <a:ext cx="11087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0" i="1">
                <a:solidFill>
                  <a:srgbClr val="8B9094"/>
                </a:solidFill>
                <a:latin typeface="Arial"/>
                <a:ea typeface="Arial"/>
                <a:cs typeface="Arial"/>
              </a:defRPr>
            </a:pPr>
            <a:r>
              <a:rPr sz="1050" b="0" i="1">
                <a:solidFill>
                  <a:srgbClr val="8B9094"/>
                </a:solidFill>
                <a:latin typeface="Arial"/>
                <a:ea typeface="Arial"/>
                <a:cs typeface="Arial"/>
              </a:rPr>
              <a:t>Require transmission-owner power-flow, structure, clearance, terminal, outage and permit validation.</a:t>
            </a:r>
          </a:p>
        </p:txBody>
      </p:sp>
      <p:sp>
        <p:nvSpPr>
          <p:cNvPr id="101" name=""/>
          <p:cNvSpPr>
            <a:spLocks noGrp="1"/>
          </p:cNvSpPr>
          <p:nvPr/>
        </p:nvSpPr>
        <p:spPr>
          <a:xfrm>
            <a:off x="719138" y="5852160"/>
            <a:ext cx="10753724" cy="26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</a:pPr>
            <a:r>
              <a:rPr sz="798" b="1" i="0">
                <a:solidFill>
                  <a:srgbClr val="C9783E"/>
                </a:solidFill>
                <a:latin typeface="Arial"/>
                <a:ea typeface="Arial"/>
                <a:cs typeface="Arial"/>
              </a:rPr>
              <a:t>WHY AN IPP CARES: GENERATOR-FUNDED NETWORK UPGRADES · THE GEN-TIE THE GENERATOR OWNS · UPRATE THERMAL LIMITS · IN-SERVICE CORRIDOR HEADROOM VS. A NEW QUEUE POSITION.</a:t>
            </a:r>
          </a:p>
        </p:txBody>
      </p:sp>
    </p:spTree>
    <p:extLst>
      <p:ext uri="{BB962C8B-B14F-4D97-AF65-F5344CB8AC3E}">
        <p14:creationId xmlns:p14="http://schemas.microsoft.com/office/powerpoint/2010/main" val="1722348828"/>
      </p:ext>
    </p:extLst>
  </p:cSld>
</p:sld>
</file>

<file path=ppt/slides/slide2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6F3EE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58" name=""/>
          <p:cNvSpPr>
            <a:spLocks noGrp="1"/>
          </p:cNvSpPr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C9783E"/>
          </a:solidFill>
          <a:ln w="0">
            <a:noFill/>
            <a:prstDash val="solid"/>
          </a:ln>
        </p:spPr>
      </p:sp>
      <p:pic>
        <p:nvPicPr>
          <p:cNvPr id="159" name=""/>
          <p:cNvPicPr>
            <a:picLocks noChangeAspect="1"/>
          </p:cNvPicPr>
          <p:nvPr/>
        </p:nvPicPr>
        <p:blipFill>
          <a:blip r:embed="rId1"/>
          <a:stretch/>
        </p:blipFill>
        <p:spPr>
          <a:xfrm>
            <a:off x="719138" y="200025"/>
            <a:ext cx="2066925" cy="590550"/>
          </a:xfrm>
          <a:prstGeom prst="rect">
            <a:avLst/>
          </a:prstGeom>
        </p:spPr>
      </p:pic>
      <p:sp>
        <p:nvSpPr>
          <p:cNvPr id="160" name=""/>
          <p:cNvSpPr>
            <a:spLocks noGrp="1"/>
          </p:cNvSpPr>
          <p:nvPr/>
        </p:nvSpPr>
        <p:spPr>
          <a:xfrm>
            <a:off x="7325360" y="323850"/>
            <a:ext cx="3600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r">
              <a:lnSpc>
                <a:spcPct val="100000"/>
              </a:lnSpc>
              <a:buNone/>
            </a:pPr>
            <a:r>
              <a:rPr sz="819" b="1" i="0">
                <a:solidFill>
                  <a:srgbClr val="9D4E24"/>
                </a:solidFill>
                <a:latin typeface="Arial"/>
                <a:ea typeface="Arial"/>
                <a:cs typeface="Arial"/>
              </a:rPr>
              <a:t>APPENDIX A9 · DEPLOYMENT MODES</a:t>
            </a:r>
          </a:p>
        </p:txBody>
      </p:sp>
      <p:sp>
        <p:nvSpPr>
          <p:cNvPr id="161" name=""/>
          <p:cNvSpPr>
            <a:spLocks noGrp="1"/>
          </p:cNvSpPr>
          <p:nvPr/>
        </p:nvSpPr>
        <p:spPr>
          <a:xfrm>
            <a:off x="11060000" y="323850"/>
            <a:ext cx="600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r">
              <a:lnSpc>
                <a:spcPct val="100000"/>
              </a:lnSpc>
              <a:buNone/>
            </a:pPr>
            <a:r>
              <a:rPr sz="819" b="1" i="0">
                <a:solidFill>
                  <a:srgbClr val="8B9094"/>
                </a:solidFill>
                <a:latin typeface="Arial"/>
                <a:ea typeface="Arial"/>
                <a:cs typeface="Arial"/>
              </a:rPr>
              <a:t>20</a:t>
            </a:r>
          </a:p>
        </p:txBody>
      </p:sp>
      <p:sp>
        <p:nvSpPr>
          <p:cNvPr id="162" name=""/>
          <p:cNvSpPr>
            <a:spLocks noGrp="1"/>
          </p:cNvSpPr>
          <p:nvPr/>
        </p:nvSpPr>
        <p:spPr>
          <a:xfrm>
            <a:off x="719138" y="1005840"/>
            <a:ext cx="8500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882" b="1" i="0">
                <a:solidFill>
                  <a:srgbClr val="C9783E"/>
                </a:solidFill>
                <a:latin typeface="Arial"/>
                <a:ea typeface="Arial"/>
                <a:cs typeface="Arial"/>
              </a:rPr>
              <a:t>ONE SYSTEM · THREE ASSET STATES</a:t>
            </a:r>
          </a:p>
        </p:txBody>
      </p:sp>
      <p:sp>
        <p:nvSpPr>
          <p:cNvPr id="163" name=""/>
          <p:cNvSpPr>
            <a:spLocks noGrp="1"/>
          </p:cNvSpPr>
          <p:nvPr/>
        </p:nvSpPr>
        <p:spPr>
          <a:xfrm>
            <a:off x="719138" y="1280160"/>
            <a:ext cx="10753724" cy="80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</a:pPr>
            <a:r>
              <a:rPr sz="2850" b="1" i="0">
                <a:solidFill>
                  <a:srgbClr val="17191C"/>
                </a:solidFill>
                <a:latin typeface="Arial"/>
                <a:ea typeface="Arial"/>
                <a:cs typeface="Arial"/>
              </a:rPr>
              <a:t>The governance model stays constant; the deployment path changes by asset state.</a:t>
            </a:r>
          </a:p>
        </p:txBody>
      </p:sp>
      <p:sp>
        <p:nvSpPr>
          <p:cNvPr id="164" name=""/>
          <p:cNvSpPr>
            <a:spLocks noGrp="1"/>
          </p:cNvSpPr>
          <p:nvPr/>
        </p:nvSpPr>
        <p:spPr>
          <a:xfrm>
            <a:off x="719138" y="2331720"/>
            <a:ext cx="320000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882" b="1" i="0">
                <a:solidFill>
                  <a:srgbClr val="9D4E24"/>
                </a:solidFill>
                <a:latin typeface="Arial"/>
                <a:ea typeface="Arial"/>
                <a:cs typeface="Arial"/>
              </a:rPr>
              <a:t>NEW BUILD</a:t>
            </a:r>
          </a:p>
        </p:txBody>
      </p:sp>
      <p:sp>
        <p:nvSpPr>
          <p:cNvPr id="165" name=""/>
          <p:cNvSpPr>
            <a:spLocks noGrp="1"/>
          </p:cNvSpPr>
          <p:nvPr/>
        </p:nvSpPr>
        <p:spPr>
          <a:xfrm>
            <a:off x="4114800" y="2343150"/>
            <a:ext cx="7358062" cy="56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</a:pPr>
            <a:r>
              <a:rPr sz="10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Standardize package interfaces, reserve capacity and sequence releases by workface.</a:t>
            </a:r>
          </a:p>
        </p:txBody>
      </p:sp>
      <p:sp>
        <p:nvSpPr>
          <p:cNvPr id="166" name=""/>
          <p:cNvSpPr>
            <a:spLocks noGrp="1"/>
          </p:cNvSpPr>
          <p:nvPr/>
        </p:nvSpPr>
        <p:spPr>
          <a:xfrm>
            <a:off x="719138" y="2960370"/>
            <a:ext cx="10753724" cy="9525"/>
          </a:xfrm>
          <a:prstGeom prst="rect">
            <a:avLst/>
          </a:prstGeom>
          <a:solidFill>
            <a:srgbClr val="D8D1C8"/>
          </a:solidFill>
          <a:ln w="0">
            <a:noFill/>
            <a:prstDash val="solid"/>
          </a:ln>
        </p:spPr>
      </p:sp>
      <p:sp>
        <p:nvSpPr>
          <p:cNvPr id="167" name=""/>
          <p:cNvSpPr>
            <a:spLocks noGrp="1"/>
          </p:cNvSpPr>
          <p:nvPr/>
        </p:nvSpPr>
        <p:spPr>
          <a:xfrm>
            <a:off x="719138" y="3131820"/>
            <a:ext cx="320000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882" b="1" i="0">
                <a:solidFill>
                  <a:srgbClr val="9D4E24"/>
                </a:solidFill>
                <a:latin typeface="Arial"/>
                <a:ea typeface="Arial"/>
                <a:cs typeface="Arial"/>
              </a:rPr>
              <a:t>CONVERSION / UPRATE</a:t>
            </a:r>
          </a:p>
        </p:txBody>
      </p:sp>
      <p:sp>
        <p:nvSpPr>
          <p:cNvPr id="168" name=""/>
          <p:cNvSpPr>
            <a:spLocks noGrp="1"/>
          </p:cNvSpPr>
          <p:nvPr/>
        </p:nvSpPr>
        <p:spPr>
          <a:xfrm>
            <a:off x="4114800" y="3143250"/>
            <a:ext cx="7358062" cy="56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</a:pPr>
            <a:r>
              <a:rPr sz="10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Revalidate duty, routes and terminals; map brownfield interfaces; stage work around outage constraints.</a:t>
            </a:r>
          </a:p>
        </p:txBody>
      </p:sp>
      <p:sp>
        <p:nvSpPr>
          <p:cNvPr id="169" name=""/>
          <p:cNvSpPr>
            <a:spLocks noGrp="1"/>
          </p:cNvSpPr>
          <p:nvPr/>
        </p:nvSpPr>
        <p:spPr>
          <a:xfrm>
            <a:off x="719138" y="3760470"/>
            <a:ext cx="10753724" cy="9525"/>
          </a:xfrm>
          <a:prstGeom prst="rect">
            <a:avLst/>
          </a:prstGeom>
          <a:solidFill>
            <a:srgbClr val="D8D1C8"/>
          </a:solidFill>
          <a:ln w="0">
            <a:noFill/>
            <a:prstDash val="solid"/>
          </a:ln>
        </p:spPr>
      </p:sp>
      <p:sp>
        <p:nvSpPr>
          <p:cNvPr id="170" name=""/>
          <p:cNvSpPr>
            <a:spLocks noGrp="1"/>
          </p:cNvSpPr>
          <p:nvPr/>
        </p:nvSpPr>
        <p:spPr>
          <a:xfrm>
            <a:off x="719138" y="3931920"/>
            <a:ext cx="320000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882" b="1" i="0">
                <a:solidFill>
                  <a:srgbClr val="9D4E24"/>
                </a:solidFill>
                <a:latin typeface="Arial"/>
                <a:ea typeface="Arial"/>
                <a:cs typeface="Arial"/>
              </a:rPr>
              <a:t>OPERATING FLEET / OUTAGE</a:t>
            </a:r>
          </a:p>
        </p:txBody>
      </p:sp>
      <p:sp>
        <p:nvSpPr>
          <p:cNvPr id="171" name=""/>
          <p:cNvSpPr>
            <a:spLocks noGrp="1"/>
          </p:cNvSpPr>
          <p:nvPr/>
        </p:nvSpPr>
        <p:spPr>
          <a:xfrm>
            <a:off x="4114800" y="3943350"/>
            <a:ext cx="7358062" cy="56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</a:pPr>
            <a:r>
              <a:rPr sz="10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Screen condition and criticality; evaluate replacement, eligible rejuvenation or outage spares; align material to outage windows.</a:t>
            </a:r>
          </a:p>
        </p:txBody>
      </p:sp>
      <p:sp>
        <p:nvSpPr>
          <p:cNvPr id="172" name=""/>
          <p:cNvSpPr>
            <a:spLocks noGrp="1"/>
          </p:cNvSpPr>
          <p:nvPr/>
        </p:nvSpPr>
        <p:spPr>
          <a:xfrm>
            <a:off x="719138" y="4560570"/>
            <a:ext cx="10753724" cy="9525"/>
          </a:xfrm>
          <a:prstGeom prst="rect">
            <a:avLst/>
          </a:prstGeom>
          <a:solidFill>
            <a:srgbClr val="D8D1C8"/>
          </a:solidFill>
          <a:ln w="0">
            <a:noFill/>
            <a:prstDash val="solid"/>
          </a:ln>
        </p:spPr>
      </p:sp>
      <p:sp>
        <p:nvSpPr>
          <p:cNvPr id="173" name=""/>
          <p:cNvSpPr>
            <a:spLocks noGrp="1"/>
          </p:cNvSpPr>
          <p:nvPr/>
        </p:nvSpPr>
        <p:spPr>
          <a:xfrm>
            <a:off x="719138" y="4732020"/>
            <a:ext cx="320000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882" b="1" i="0">
                <a:solidFill>
                  <a:srgbClr val="9D4E24"/>
                </a:solidFill>
                <a:latin typeface="Arial"/>
                <a:ea typeface="Arial"/>
                <a:cs typeface="Arial"/>
              </a:rPr>
              <a:t>COMMON GOVERNANCE RAIL</a:t>
            </a:r>
          </a:p>
        </p:txBody>
      </p:sp>
      <p:sp>
        <p:nvSpPr>
          <p:cNvPr id="174" name=""/>
          <p:cNvSpPr>
            <a:spLocks noGrp="1"/>
          </p:cNvSpPr>
          <p:nvPr/>
        </p:nvSpPr>
        <p:spPr>
          <a:xfrm>
            <a:off x="4114800" y="4743450"/>
            <a:ext cx="7358062" cy="56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</a:pPr>
            <a:r>
              <a:rPr sz="10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Owner priorities, EPC/EOR design authority, OEM interfaces and contractor means and methods remain intact.</a:t>
            </a:r>
          </a:p>
        </p:txBody>
      </p:sp>
      <p:sp>
        <p:nvSpPr>
          <p:cNvPr id="175" name=""/>
          <p:cNvSpPr>
            <a:spLocks noGrp="1"/>
          </p:cNvSpPr>
          <p:nvPr/>
        </p:nvSpPr>
        <p:spPr>
          <a:xfrm>
            <a:off x="719138" y="6315000"/>
            <a:ext cx="10753724" cy="400000"/>
          </a:xfrm>
          <a:prstGeom prst="rect">
            <a:avLst/>
          </a:prstGeom>
          <a:solidFill>
            <a:srgbClr val="17191C"/>
          </a:solidFill>
          <a:ln w="0">
            <a:noFill/>
            <a:prstDash val="solid"/>
          </a:ln>
        </p:spPr>
      </p:sp>
      <p:sp>
        <p:nvSpPr>
          <p:cNvPr id="176" name=""/>
          <p:cNvSpPr>
            <a:spLocks noGrp="1"/>
          </p:cNvSpPr>
          <p:nvPr/>
        </p:nvSpPr>
        <p:spPr>
          <a:xfrm>
            <a:off x="719138" y="6315000"/>
            <a:ext cx="10753724" cy="40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</a:pPr>
            <a:r>
              <a:rPr sz="882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SAME COORDINATION RAIL. DIFFERENT ENGINEERING BASIS, RISK GATES AND OWNERS.</a:t>
            </a:r>
          </a:p>
        </p:txBody>
      </p:sp>
    </p:spTree>
  </p:cSld>
</p:sld>
</file>

<file path=ppt/slides/slide2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6F3EE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50" name=""/>
          <p:cNvSpPr>
            <a:spLocks noGrp="1"/>
          </p:cNvSpPr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C9783E"/>
          </a:solidFill>
          <a:ln w="0">
            <a:noFill/>
            <a:prstDash val="solid"/>
          </a:ln>
        </p:spPr>
      </p:sp>
      <p:pic>
        <p:nvPicPr>
          <p:cNvPr id="151" name=""/>
          <p:cNvPicPr>
            <a:picLocks noChangeAspect="1"/>
          </p:cNvPicPr>
          <p:nvPr/>
        </p:nvPicPr>
        <p:blipFill>
          <a:blip r:embed="rId1"/>
          <a:stretch/>
        </p:blipFill>
        <p:spPr>
          <a:xfrm>
            <a:off x="719138" y="200025"/>
            <a:ext cx="2066925" cy="590550"/>
          </a:xfrm>
          <a:prstGeom prst="rect">
            <a:avLst/>
          </a:prstGeom>
        </p:spPr>
      </p:pic>
      <p:sp>
        <p:nvSpPr>
          <p:cNvPr id="152" name=""/>
          <p:cNvSpPr>
            <a:spLocks noGrp="1"/>
          </p:cNvSpPr>
          <p:nvPr/>
        </p:nvSpPr>
        <p:spPr>
          <a:xfrm>
            <a:off x="7325360" y="323850"/>
            <a:ext cx="3600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r">
              <a:lnSpc>
                <a:spcPct val="100000"/>
              </a:lnSpc>
              <a:buNone/>
            </a:pPr>
            <a:r>
              <a:rPr sz="819" b="1" i="0">
                <a:solidFill>
                  <a:srgbClr val="9D4E24"/>
                </a:solidFill>
                <a:latin typeface="Arial"/>
                <a:ea typeface="Arial"/>
                <a:cs typeface="Arial"/>
              </a:rPr>
              <a:t>APPENDIX A10 · PROJECT OF INTEREST</a:t>
            </a:r>
          </a:p>
        </p:txBody>
      </p:sp>
      <p:sp>
        <p:nvSpPr>
          <p:cNvPr id="153" name=""/>
          <p:cNvSpPr>
            <a:spLocks noGrp="1"/>
          </p:cNvSpPr>
          <p:nvPr/>
        </p:nvSpPr>
        <p:spPr>
          <a:xfrm>
            <a:off x="11060000" y="323850"/>
            <a:ext cx="600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r">
              <a:lnSpc>
                <a:spcPct val="100000"/>
              </a:lnSpc>
              <a:buNone/>
            </a:pPr>
            <a:r>
              <a:rPr sz="819" b="1" i="0">
                <a:solidFill>
                  <a:srgbClr val="8B9094"/>
                </a:solidFill>
                <a:latin typeface="Arial"/>
                <a:ea typeface="Arial"/>
                <a:cs typeface="Arial"/>
              </a:rPr>
              <a:t>21</a:t>
            </a:r>
          </a:p>
        </p:txBody>
      </p:sp>
      <p:sp>
        <p:nvSpPr>
          <p:cNvPr id="154" name=""/>
          <p:cNvSpPr>
            <a:spLocks noGrp="1"/>
          </p:cNvSpPr>
          <p:nvPr/>
        </p:nvSpPr>
        <p:spPr>
          <a:xfrm>
            <a:off x="719138" y="1005840"/>
            <a:ext cx="8500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882" b="1" i="0">
                <a:solidFill>
                  <a:srgbClr val="C9783E"/>
                </a:solidFill>
                <a:latin typeface="Arial"/>
                <a:ea typeface="Arial"/>
                <a:cs typeface="Arial"/>
              </a:rPr>
              <a:t>CEDAR BAYOU UNIT 5 · BAYTOWN, TEXAS (CHAMBERS COUNTY)</a:t>
            </a:r>
          </a:p>
        </p:txBody>
      </p:sp>
      <p:sp>
        <p:nvSpPr>
          <p:cNvPr id="155" name=""/>
          <p:cNvSpPr>
            <a:spLocks noGrp="1"/>
          </p:cNvSpPr>
          <p:nvPr/>
        </p:nvSpPr>
        <p:spPr>
          <a:xfrm>
            <a:off x="719138" y="1280160"/>
            <a:ext cx="10753724" cy="80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</a:pPr>
            <a:r>
              <a:rPr sz="2850" b="1" i="0">
                <a:solidFill>
                  <a:srgbClr val="17191C"/>
                </a:solidFill>
                <a:latin typeface="Arial"/>
                <a:ea typeface="Arial"/>
                <a:cs typeface="Arial"/>
              </a:rPr>
              <a:t>Cedar Bayou Unit 5 is one potential live-scope candidate.</a:t>
            </a:r>
          </a:p>
        </p:txBody>
      </p:sp>
      <p:sp>
        <p:nvSpPr>
          <p:cNvPr id="156" name=""/>
          <p:cNvSpPr>
            <a:spLocks noGrp="1"/>
          </p:cNvSpPr>
          <p:nvPr/>
        </p:nvSpPr>
        <p:spPr>
          <a:xfrm>
            <a:off x="719138" y="1950720"/>
            <a:ext cx="10753724" cy="50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8000"/>
              </a:lnSpc>
              <a:buNone/>
            </a:pPr>
            <a:r>
              <a:rPr sz="10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A 721 MW combined-cycle brownfield expansion at NRG's existing Cedar Bayou station — the anchor TEF unit in the NRG / GE Vernova / Kiewit framework, in active construction toward a mid-2028 COD.</a:t>
            </a:r>
          </a:p>
        </p:txBody>
      </p:sp>
      <p:sp>
        <p:nvSpPr>
          <p:cNvPr id="157" name=""/>
          <p:cNvSpPr>
            <a:spLocks noGrp="1"/>
          </p:cNvSpPr>
          <p:nvPr/>
        </p:nvSpPr>
        <p:spPr>
          <a:xfrm>
            <a:off x="719138" y="2606040"/>
            <a:ext cx="4900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819" b="1" i="0">
                <a:solidFill>
                  <a:srgbClr val="9D4E24"/>
                </a:solidFill>
                <a:latin typeface="Arial"/>
                <a:ea typeface="Arial"/>
                <a:cs typeface="Arial"/>
              </a:rPr>
              <a:t>PROJECT FACTS — VALIDATED AUG 2026</a:t>
            </a:r>
          </a:p>
        </p:txBody>
      </p:sp>
      <p:sp>
        <p:nvSpPr>
          <p:cNvPr id="158" name=""/>
          <p:cNvSpPr>
            <a:spLocks noGrp="1"/>
          </p:cNvSpPr>
          <p:nvPr/>
        </p:nvSpPr>
        <p:spPr>
          <a:xfrm>
            <a:off x="719138" y="2925840"/>
            <a:ext cx="4900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882" b="1" i="0">
                <a:solidFill>
                  <a:srgbClr val="9D4E24"/>
                </a:solidFill>
                <a:latin typeface="Arial"/>
                <a:ea typeface="Arial"/>
                <a:cs typeface="Arial"/>
              </a:rPr>
              <a:t>721 MW CCGT · BROWNFIELD</a:t>
            </a:r>
          </a:p>
        </p:txBody>
      </p:sp>
      <p:sp>
        <p:nvSpPr>
          <p:cNvPr id="159" name=""/>
          <p:cNvSpPr>
            <a:spLocks noGrp="1"/>
          </p:cNvSpPr>
          <p:nvPr/>
        </p:nvSpPr>
        <p:spPr>
          <a:xfrm>
            <a:off x="719138" y="3154440"/>
            <a:ext cx="4900000" cy="56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</a:pPr>
            <a:r>
              <a:rPr sz="975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GE Vernova H-class train at the existing station; ERCOT Houston Load Zone; existing 345 kV switchyard, cooling water and site infrastructure.</a:t>
            </a:r>
          </a:p>
        </p:txBody>
      </p:sp>
      <p:sp>
        <p:nvSpPr>
          <p:cNvPr id="160" name=""/>
          <p:cNvSpPr>
            <a:spLocks noGrp="1"/>
          </p:cNvSpPr>
          <p:nvPr/>
        </p:nvSpPr>
        <p:spPr>
          <a:xfrm>
            <a:off x="719138" y="3725940"/>
            <a:ext cx="4900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882" b="1" i="0">
                <a:solidFill>
                  <a:srgbClr val="9D4E24"/>
                </a:solidFill>
                <a:latin typeface="Arial"/>
                <a:ea typeface="Arial"/>
                <a:cs typeface="Arial"/>
              </a:rPr>
              <a:t>$562M TEF LOAN · 3% · 20-YEAR</a:t>
            </a:r>
          </a:p>
        </p:txBody>
      </p:sp>
      <p:sp>
        <p:nvSpPr>
          <p:cNvPr id="161" name=""/>
          <p:cNvSpPr>
            <a:spLocks noGrp="1"/>
          </p:cNvSpPr>
          <p:nvPr/>
        </p:nvSpPr>
        <p:spPr>
          <a:xfrm>
            <a:off x="719138" y="3954540"/>
            <a:ext cx="4900000" cy="56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</a:pPr>
            <a:r>
              <a:rPr sz="975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Signed September 2025 — 60% of the $936M project cost; part of $1.15B TEF financing plus $66M tax abatements across the three-unit program.</a:t>
            </a:r>
          </a:p>
        </p:txBody>
      </p:sp>
      <p:sp>
        <p:nvSpPr>
          <p:cNvPr id="162" name=""/>
          <p:cNvSpPr>
            <a:spLocks noGrp="1"/>
          </p:cNvSpPr>
          <p:nvPr/>
        </p:nvSpPr>
        <p:spPr>
          <a:xfrm>
            <a:off x="719138" y="4526040"/>
            <a:ext cx="4900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882" b="1" i="0">
                <a:solidFill>
                  <a:srgbClr val="9D4E24"/>
                </a:solidFill>
                <a:latin typeface="Arial"/>
                <a:ea typeface="Arial"/>
                <a:cs typeface="Arial"/>
              </a:rPr>
              <a:t>COD TARGET MID-2028</a:t>
            </a:r>
          </a:p>
        </p:txBody>
      </p:sp>
      <p:sp>
        <p:nvSpPr>
          <p:cNvPr id="163" name=""/>
          <p:cNvSpPr>
            <a:spLocks noGrp="1"/>
          </p:cNvSpPr>
          <p:nvPr/>
        </p:nvSpPr>
        <p:spPr>
          <a:xfrm>
            <a:off x="719138" y="4754640"/>
            <a:ext cx="4900000" cy="56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</a:pPr>
            <a:r>
              <a:rPr sz="975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First TEF unit to advance construction; T.H. Wharton (415 MW) completes mid-2026, Greens Bayou 6 follows in 2028.</a:t>
            </a:r>
          </a:p>
        </p:txBody>
      </p:sp>
      <p:sp>
        <p:nvSpPr>
          <p:cNvPr id="164" name=""/>
          <p:cNvSpPr>
            <a:spLocks noGrp="1"/>
          </p:cNvSpPr>
          <p:nvPr/>
        </p:nvSpPr>
        <p:spPr>
          <a:xfrm>
            <a:off x="719138" y="5326140"/>
            <a:ext cx="4900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882" b="1" i="0">
                <a:solidFill>
                  <a:srgbClr val="9D4E24"/>
                </a:solidFill>
                <a:latin typeface="Arial"/>
                <a:ea typeface="Arial"/>
                <a:cs typeface="Arial"/>
              </a:rPr>
              <a:t>EPC: TIC / KIEWIT · OEM: GE VERNOVA</a:t>
            </a:r>
          </a:p>
        </p:txBody>
      </p:sp>
      <p:sp>
        <p:nvSpPr>
          <p:cNvPr id="165" name=""/>
          <p:cNvSpPr>
            <a:spLocks noGrp="1"/>
          </p:cNvSpPr>
          <p:nvPr/>
        </p:nvSpPr>
        <p:spPr>
          <a:xfrm>
            <a:off x="719138" y="5554740"/>
            <a:ext cx="4900000" cy="56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</a:pPr>
            <a:r>
              <a:rPr sz="975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Delivered under the 5.4 GW development framework — 1.2 GW in service by 2029, 1.2 GW by 2030, 3 GW more through 2032.</a:t>
            </a:r>
          </a:p>
        </p:txBody>
      </p:sp>
      <p:sp>
        <p:nvSpPr>
          <p:cNvPr id="166" name=""/>
          <p:cNvSpPr>
            <a:spLocks noGrp="1"/>
          </p:cNvSpPr>
          <p:nvPr/>
        </p:nvSpPr>
        <p:spPr>
          <a:xfrm>
            <a:off x="6120130" y="2606040"/>
            <a:ext cx="5352732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819" b="1" i="0">
                <a:solidFill>
                  <a:srgbClr val="9D4E24"/>
                </a:solidFill>
                <a:latin typeface="Arial"/>
                <a:ea typeface="Arial"/>
                <a:cs typeface="Arial"/>
              </a:rPr>
              <a:t>SCOPE THAT WOULD BE IN PLAY</a:t>
            </a:r>
          </a:p>
        </p:txBody>
      </p:sp>
      <p:sp>
        <p:nvSpPr>
          <p:cNvPr id="167" name=""/>
          <p:cNvSpPr>
            <a:spLocks noGrp="1"/>
          </p:cNvSpPr>
          <p:nvPr/>
        </p:nvSpPr>
        <p:spPr>
          <a:xfrm>
            <a:off x="6120130" y="2984840"/>
            <a:ext cx="91440" cy="91440"/>
          </a:xfrm>
          <a:prstGeom prst="rect">
            <a:avLst/>
          </a:prstGeom>
          <a:solidFill>
            <a:srgbClr val="C9783E"/>
          </a:solidFill>
          <a:ln w="0">
            <a:noFill/>
            <a:prstDash val="solid"/>
          </a:ln>
        </p:spPr>
      </p:sp>
      <p:sp>
        <p:nvSpPr>
          <p:cNvPr id="168" name=""/>
          <p:cNvSpPr>
            <a:spLocks noGrp="1"/>
          </p:cNvSpPr>
          <p:nvPr/>
        </p:nvSpPr>
        <p:spPr>
          <a:xfrm>
            <a:off x="6348730" y="2925840"/>
            <a:ext cx="5124132" cy="42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</a:pPr>
            <a:r>
              <a:rPr sz="10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HV generator leads and brownfield 345 kV switchyard tie-in for the H-class train</a:t>
            </a:r>
          </a:p>
        </p:txBody>
      </p:sp>
      <p:sp>
        <p:nvSpPr>
          <p:cNvPr id="169" name=""/>
          <p:cNvSpPr>
            <a:spLocks noGrp="1"/>
          </p:cNvSpPr>
          <p:nvPr/>
        </p:nvSpPr>
        <p:spPr>
          <a:xfrm>
            <a:off x="6120130" y="3442040"/>
            <a:ext cx="91440" cy="91440"/>
          </a:xfrm>
          <a:prstGeom prst="rect">
            <a:avLst/>
          </a:prstGeom>
          <a:solidFill>
            <a:srgbClr val="C9783E"/>
          </a:solidFill>
          <a:ln w="0">
            <a:noFill/>
            <a:prstDash val="solid"/>
          </a:ln>
        </p:spPr>
      </p:sp>
      <p:sp>
        <p:nvSpPr>
          <p:cNvPr id="170" name=""/>
          <p:cNvSpPr>
            <a:spLocks noGrp="1"/>
          </p:cNvSpPr>
          <p:nvPr/>
        </p:nvSpPr>
        <p:spPr>
          <a:xfrm>
            <a:off x="6348730" y="3383040"/>
            <a:ext cx="5124132" cy="42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</a:pPr>
            <a:r>
              <a:rPr sz="10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MV plant auxiliary distribution, 5–35 kV, across the new unit and interfaces</a:t>
            </a:r>
          </a:p>
        </p:txBody>
      </p:sp>
      <p:sp>
        <p:nvSpPr>
          <p:cNvPr id="171" name=""/>
          <p:cNvSpPr>
            <a:spLocks noGrp="1"/>
          </p:cNvSpPr>
          <p:nvPr/>
        </p:nvSpPr>
        <p:spPr>
          <a:xfrm>
            <a:off x="6120130" y="3899240"/>
            <a:ext cx="91440" cy="91440"/>
          </a:xfrm>
          <a:prstGeom prst="rect">
            <a:avLst/>
          </a:prstGeom>
          <a:solidFill>
            <a:srgbClr val="C9783E"/>
          </a:solidFill>
          <a:ln w="0">
            <a:noFill/>
            <a:prstDash val="solid"/>
          </a:ln>
        </p:spPr>
      </p:sp>
      <p:sp>
        <p:nvSpPr>
          <p:cNvPr id="172" name=""/>
          <p:cNvSpPr>
            <a:spLocks noGrp="1"/>
          </p:cNvSpPr>
          <p:nvPr/>
        </p:nvSpPr>
        <p:spPr>
          <a:xfrm>
            <a:off x="6348730" y="3840240"/>
            <a:ext cx="5124132" cy="42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</a:pPr>
            <a:r>
              <a:rPr sz="10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LV 600 V power and control — turbine hall, HRSG and balance of plant</a:t>
            </a:r>
          </a:p>
        </p:txBody>
      </p:sp>
      <p:sp>
        <p:nvSpPr>
          <p:cNvPr id="173" name=""/>
          <p:cNvSpPr>
            <a:spLocks noGrp="1"/>
          </p:cNvSpPr>
          <p:nvPr/>
        </p:nvSpPr>
        <p:spPr>
          <a:xfrm>
            <a:off x="6120130" y="4356440"/>
            <a:ext cx="91440" cy="91440"/>
          </a:xfrm>
          <a:prstGeom prst="rect">
            <a:avLst/>
          </a:prstGeom>
          <a:solidFill>
            <a:srgbClr val="C9783E"/>
          </a:solidFill>
          <a:ln w="0">
            <a:noFill/>
            <a:prstDash val="solid"/>
          </a:ln>
        </p:spPr>
      </p:sp>
      <p:sp>
        <p:nvSpPr>
          <p:cNvPr id="174" name=""/>
          <p:cNvSpPr>
            <a:spLocks noGrp="1"/>
          </p:cNvSpPr>
          <p:nvPr/>
        </p:nvSpPr>
        <p:spPr>
          <a:xfrm>
            <a:off x="6348730" y="4297440"/>
            <a:ext cx="5124132" cy="42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</a:pPr>
            <a:r>
              <a:rPr sz="10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I&amp;C, DCS and fiber — integration with the existing station and ERCOT SCADA</a:t>
            </a:r>
          </a:p>
        </p:txBody>
      </p:sp>
      <p:sp>
        <p:nvSpPr>
          <p:cNvPr id="175" name=""/>
          <p:cNvSpPr>
            <a:spLocks noGrp="1"/>
          </p:cNvSpPr>
          <p:nvPr/>
        </p:nvSpPr>
        <p:spPr>
          <a:xfrm>
            <a:off x="6120130" y="4813640"/>
            <a:ext cx="91440" cy="91440"/>
          </a:xfrm>
          <a:prstGeom prst="rect">
            <a:avLst/>
          </a:prstGeom>
          <a:solidFill>
            <a:srgbClr val="C9783E"/>
          </a:solidFill>
          <a:ln w="0">
            <a:noFill/>
            <a:prstDash val="solid"/>
          </a:ln>
        </p:spPr>
      </p:sp>
      <p:sp>
        <p:nvSpPr>
          <p:cNvPr id="176" name=""/>
          <p:cNvSpPr>
            <a:spLocks noGrp="1"/>
          </p:cNvSpPr>
          <p:nvPr/>
        </p:nvSpPr>
        <p:spPr>
          <a:xfrm>
            <a:off x="6348730" y="4754640"/>
            <a:ext cx="5124132" cy="42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</a:pPr>
            <a:r>
              <a:rPr sz="10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Grounding-grid extension into the heritage plant grid</a:t>
            </a:r>
          </a:p>
        </p:txBody>
      </p:sp>
      <p:sp>
        <p:nvSpPr>
          <p:cNvPr id="177" name=""/>
          <p:cNvSpPr>
            <a:spLocks noGrp="1"/>
          </p:cNvSpPr>
          <p:nvPr/>
        </p:nvSpPr>
        <p:spPr>
          <a:xfrm>
            <a:off x="6120130" y="5270840"/>
            <a:ext cx="91440" cy="91440"/>
          </a:xfrm>
          <a:prstGeom prst="rect">
            <a:avLst/>
          </a:prstGeom>
          <a:solidFill>
            <a:srgbClr val="C9783E"/>
          </a:solidFill>
          <a:ln w="0">
            <a:noFill/>
            <a:prstDash val="solid"/>
          </a:ln>
        </p:spPr>
      </p:sp>
      <p:sp>
        <p:nvSpPr>
          <p:cNvPr id="178" name=""/>
          <p:cNvSpPr>
            <a:spLocks noGrp="1"/>
          </p:cNvSpPr>
          <p:nvPr/>
        </p:nvSpPr>
        <p:spPr>
          <a:xfrm>
            <a:off x="6348730" y="5211840"/>
            <a:ext cx="5124132" cy="42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</a:pPr>
            <a:r>
              <a:rPr sz="10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Sequenced reels, cut lengths and kits against 2026–2028 procurement windows</a:t>
            </a:r>
          </a:p>
        </p:txBody>
      </p:sp>
      <p:sp>
        <p:nvSpPr>
          <p:cNvPr id="179" name=""/>
          <p:cNvSpPr>
            <a:spLocks noGrp="1"/>
          </p:cNvSpPr>
          <p:nvPr/>
        </p:nvSpPr>
        <p:spPr>
          <a:xfrm>
            <a:off x="6120130" y="5728040"/>
            <a:ext cx="91440" cy="91440"/>
          </a:xfrm>
          <a:prstGeom prst="rect">
            <a:avLst/>
          </a:prstGeom>
          <a:solidFill>
            <a:srgbClr val="C9783E"/>
          </a:solidFill>
          <a:ln w="0">
            <a:noFill/>
            <a:prstDash val="solid"/>
          </a:ln>
        </p:spPr>
      </p:sp>
      <p:sp>
        <p:nvSpPr>
          <p:cNvPr id="180" name=""/>
          <p:cNvSpPr>
            <a:spLocks noGrp="1"/>
          </p:cNvSpPr>
          <p:nvPr/>
        </p:nvSpPr>
        <p:spPr>
          <a:xfrm>
            <a:off x="6348730" y="5669040"/>
            <a:ext cx="5124132" cy="42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</a:pPr>
            <a:r>
              <a:rPr sz="10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Post-COD continuity — records, spares and MRO carried into the operating fleet</a:t>
            </a:r>
          </a:p>
        </p:txBody>
      </p:sp>
      <p:sp>
        <p:nvSpPr>
          <p:cNvPr id="181" name=""/>
          <p:cNvSpPr>
            <a:spLocks noGrp="1"/>
          </p:cNvSpPr>
          <p:nvPr/>
        </p:nvSpPr>
        <p:spPr>
          <a:xfrm>
            <a:off x="719138" y="6032500"/>
            <a:ext cx="10753724" cy="20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825" b="0" i="1">
                <a:solidFill>
                  <a:srgbClr val="6A6F73"/>
                </a:solidFill>
                <a:latin typeface="Arial"/>
                <a:ea typeface="Arial"/>
                <a:cs typeface="Arial"/>
              </a:rPr>
              <a:t>Validated against public sources, Aug 2026: PUCT / Texas Energy Fund announcements, Utility Dive, NRG investor materials. Capacity reported 689–721 MW across sources; 721 MW per the PUCT loan announcement.</a:t>
            </a:r>
          </a:p>
        </p:txBody>
      </p:sp>
      <p:sp>
        <p:nvSpPr>
          <p:cNvPr id="182" name=""/>
          <p:cNvSpPr>
            <a:spLocks noGrp="1"/>
          </p:cNvSpPr>
          <p:nvPr/>
        </p:nvSpPr>
        <p:spPr>
          <a:xfrm>
            <a:off x="719138" y="6315000"/>
            <a:ext cx="10753724" cy="400000"/>
          </a:xfrm>
          <a:prstGeom prst="rect">
            <a:avLst/>
          </a:prstGeom>
          <a:solidFill>
            <a:srgbClr val="17191C"/>
          </a:solidFill>
          <a:ln w="0">
            <a:noFill/>
            <a:prstDash val="solid"/>
          </a:ln>
        </p:spPr>
      </p:sp>
      <p:sp>
        <p:nvSpPr>
          <p:cNvPr id="183" name=""/>
          <p:cNvSpPr>
            <a:spLocks noGrp="1"/>
          </p:cNvSpPr>
          <p:nvPr/>
        </p:nvSpPr>
        <p:spPr>
          <a:xfrm>
            <a:off x="719138" y="6315000"/>
            <a:ext cx="10753724" cy="40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</a:pPr>
            <a:r>
              <a:rPr sz="882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ILLUSTRATIVE CANDIDATE ONLY </a:t>
            </a:r>
            <a:r>
              <a:rPr sz="882" b="1" i="0">
                <a:solidFill>
                  <a:srgbClr val="C9783E"/>
                </a:solidFill>
                <a:latin typeface="Arial"/>
                <a:ea typeface="Arial"/>
                <a:cs typeface="Arial"/>
              </a:rPr>
              <a:t>— NRG SELECTS THE STARTING SCOPE.</a:t>
            </a:r>
          </a:p>
        </p:txBody>
      </p:sp>
    </p:spTree>
  </p:cSld>
</p:sld>
</file>

<file path=ppt/slides/slide2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6F3EE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77" name=""/>
          <p:cNvSpPr>
            <a:spLocks noGrp="1"/>
          </p:cNvSpPr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C9783E"/>
          </a:solidFill>
          <a:ln w="0">
            <a:noFill/>
            <a:prstDash val="solid"/>
          </a:ln>
        </p:spPr>
      </p:sp>
      <p:pic>
        <p:nvPicPr>
          <p:cNvPr id="178" name=""/>
          <p:cNvPicPr>
            <a:picLocks noChangeAspect="1"/>
          </p:cNvPicPr>
          <p:nvPr/>
        </p:nvPicPr>
        <p:blipFill>
          <a:blip r:embed="rId1"/>
          <a:stretch/>
        </p:blipFill>
        <p:spPr>
          <a:xfrm>
            <a:off x="719138" y="200025"/>
            <a:ext cx="2066925" cy="590550"/>
          </a:xfrm>
          <a:prstGeom prst="rect">
            <a:avLst/>
          </a:prstGeom>
        </p:spPr>
      </p:pic>
      <p:sp>
        <p:nvSpPr>
          <p:cNvPr id="179" name=""/>
          <p:cNvSpPr>
            <a:spLocks noGrp="1"/>
          </p:cNvSpPr>
          <p:nvPr/>
        </p:nvSpPr>
        <p:spPr>
          <a:xfrm>
            <a:off x="7325360" y="323850"/>
            <a:ext cx="3600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r">
              <a:lnSpc>
                <a:spcPct val="100000"/>
              </a:lnSpc>
              <a:buNone/>
            </a:pPr>
            <a:r>
              <a:rPr sz="819" b="1" i="0">
                <a:solidFill>
                  <a:srgbClr val="9D4E24"/>
                </a:solidFill>
                <a:latin typeface="Arial"/>
                <a:ea typeface="Arial"/>
                <a:cs typeface="Arial"/>
              </a:rPr>
              <a:t>APPENDIX A11 · FINANCE + ESG</a:t>
            </a:r>
          </a:p>
        </p:txBody>
      </p:sp>
      <p:sp>
        <p:nvSpPr>
          <p:cNvPr id="180" name=""/>
          <p:cNvSpPr>
            <a:spLocks noGrp="1"/>
          </p:cNvSpPr>
          <p:nvPr/>
        </p:nvSpPr>
        <p:spPr>
          <a:xfrm>
            <a:off x="11060000" y="323850"/>
            <a:ext cx="600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r">
              <a:lnSpc>
                <a:spcPct val="100000"/>
              </a:lnSpc>
              <a:buNone/>
            </a:pPr>
            <a:r>
              <a:rPr sz="819" b="1" i="0">
                <a:solidFill>
                  <a:srgbClr val="8B9094"/>
                </a:solidFill>
                <a:latin typeface="Arial"/>
                <a:ea typeface="Arial"/>
                <a:cs typeface="Arial"/>
              </a:rPr>
              <a:t>22</a:t>
            </a:r>
          </a:p>
        </p:txBody>
      </p:sp>
      <p:sp>
        <p:nvSpPr>
          <p:cNvPr id="181" name=""/>
          <p:cNvSpPr>
            <a:spLocks noGrp="1"/>
          </p:cNvSpPr>
          <p:nvPr/>
        </p:nvSpPr>
        <p:spPr>
          <a:xfrm>
            <a:off x="719138" y="1005840"/>
            <a:ext cx="8500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882" b="1" i="0">
                <a:solidFill>
                  <a:srgbClr val="C9783E"/>
                </a:solidFill>
                <a:latin typeface="Arial"/>
                <a:ea typeface="Arial"/>
                <a:cs typeface="Arial"/>
              </a:rPr>
              <a:t>EARLY ENGAGEMENT, UNDERWRITING-GRADE DOCUMENTATION</a:t>
            </a:r>
          </a:p>
        </p:txBody>
      </p:sp>
      <p:sp>
        <p:nvSpPr>
          <p:cNvPr id="182" name=""/>
          <p:cNvSpPr>
            <a:spLocks noGrp="1"/>
          </p:cNvSpPr>
          <p:nvPr/>
        </p:nvSpPr>
        <p:spPr>
          <a:xfrm>
            <a:off x="719138" y="1280160"/>
            <a:ext cx="10753724" cy="80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</a:pPr>
            <a:r>
              <a:rPr sz="2850" b="1" i="0">
                <a:solidFill>
                  <a:srgbClr val="17191C"/>
                </a:solidFill>
                <a:latin typeface="Arial"/>
                <a:ea typeface="Arial"/>
                <a:cs typeface="Arial"/>
              </a:rPr>
              <a:t>What early engagement includes — and what finance gets out of it.</a:t>
            </a:r>
          </a:p>
        </p:txBody>
      </p:sp>
      <p:sp>
        <p:nvSpPr>
          <p:cNvPr id="183" name=""/>
          <p:cNvSpPr>
            <a:spLocks noGrp="1"/>
          </p:cNvSpPr>
          <p:nvPr/>
        </p:nvSpPr>
        <p:spPr>
          <a:xfrm>
            <a:off x="719138" y="2286000"/>
            <a:ext cx="10753724" cy="30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8000"/>
              </a:lnSpc>
              <a:buNone/>
            </a:pPr>
            <a:r>
              <a:rPr sz="10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Technical readiness converts into underwriting inputs: cost, schedule, sourcing and carbon visibility before the EPC bid hardens contingency.</a:t>
            </a:r>
          </a:p>
        </p:txBody>
      </p:sp>
      <p:sp>
        <p:nvSpPr>
          <p:cNvPr id="184" name=""/>
          <p:cNvSpPr>
            <a:spLocks noGrp="1"/>
          </p:cNvSpPr>
          <p:nvPr/>
        </p:nvSpPr>
        <p:spPr>
          <a:xfrm>
            <a:off x="719138" y="2697480"/>
            <a:ext cx="4900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819" b="1" i="0">
                <a:solidFill>
                  <a:srgbClr val="9D4E24"/>
                </a:solidFill>
                <a:latin typeface="Arial"/>
                <a:ea typeface="Arial"/>
                <a:cs typeface="Arial"/>
              </a:rPr>
              <a:t>PRE-EPC OFFERINGS</a:t>
            </a:r>
          </a:p>
        </p:txBody>
      </p:sp>
      <p:sp>
        <p:nvSpPr>
          <p:cNvPr id="185" name=""/>
          <p:cNvSpPr>
            <a:spLocks noGrp="1"/>
          </p:cNvSpPr>
          <p:nvPr/>
        </p:nvSpPr>
        <p:spPr>
          <a:xfrm>
            <a:off x="719138" y="3076280"/>
            <a:ext cx="91440" cy="91440"/>
          </a:xfrm>
          <a:prstGeom prst="rect">
            <a:avLst/>
          </a:prstGeom>
          <a:solidFill>
            <a:srgbClr val="C9783E"/>
          </a:solidFill>
          <a:ln w="0">
            <a:noFill/>
            <a:prstDash val="solid"/>
          </a:ln>
        </p:spPr>
      </p:sp>
      <p:sp>
        <p:nvSpPr>
          <p:cNvPr id="186" name=""/>
          <p:cNvSpPr>
            <a:spLocks noGrp="1"/>
          </p:cNvSpPr>
          <p:nvPr/>
        </p:nvSpPr>
        <p:spPr>
          <a:xfrm>
            <a:off x="947738" y="3017280"/>
            <a:ext cx="4671400" cy="52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</a:pPr>
            <a:r>
              <a:rPr sz="10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Master planning workshop — conceptual design and interface mapping for complex sites</a:t>
            </a:r>
          </a:p>
        </p:txBody>
      </p:sp>
      <p:sp>
        <p:nvSpPr>
          <p:cNvPr id="187" name=""/>
          <p:cNvSpPr>
            <a:spLocks noGrp="1"/>
          </p:cNvSpPr>
          <p:nvPr/>
        </p:nvSpPr>
        <p:spPr>
          <a:xfrm>
            <a:off x="719138" y="3670640"/>
            <a:ext cx="91440" cy="91440"/>
          </a:xfrm>
          <a:prstGeom prst="rect">
            <a:avLst/>
          </a:prstGeom>
          <a:solidFill>
            <a:srgbClr val="C9783E"/>
          </a:solidFill>
          <a:ln w="0">
            <a:noFill/>
            <a:prstDash val="solid"/>
          </a:ln>
        </p:spPr>
      </p:sp>
      <p:sp>
        <p:nvSpPr>
          <p:cNvPr id="188" name=""/>
          <p:cNvSpPr>
            <a:spLocks noGrp="1"/>
          </p:cNvSpPr>
          <p:nvPr/>
        </p:nvSpPr>
        <p:spPr>
          <a:xfrm>
            <a:off x="947738" y="3611640"/>
            <a:ext cx="4671400" cy="52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</a:pPr>
            <a:r>
              <a:rPr sz="10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Conceptual cable solution design and electrical spine architecture</a:t>
            </a:r>
          </a:p>
        </p:txBody>
      </p:sp>
      <p:sp>
        <p:nvSpPr>
          <p:cNvPr id="189" name=""/>
          <p:cNvSpPr>
            <a:spLocks noGrp="1"/>
          </p:cNvSpPr>
          <p:nvPr/>
        </p:nvSpPr>
        <p:spPr>
          <a:xfrm>
            <a:off x="719138" y="4265000"/>
            <a:ext cx="91440" cy="91440"/>
          </a:xfrm>
          <a:prstGeom prst="rect">
            <a:avLst/>
          </a:prstGeom>
          <a:solidFill>
            <a:srgbClr val="C9783E"/>
          </a:solidFill>
          <a:ln w="0">
            <a:noFill/>
            <a:prstDash val="solid"/>
          </a:ln>
        </p:spPr>
      </p:sp>
      <p:sp>
        <p:nvSpPr>
          <p:cNvPr id="190" name=""/>
          <p:cNvSpPr>
            <a:spLocks noGrp="1"/>
          </p:cNvSpPr>
          <p:nvPr/>
        </p:nvSpPr>
        <p:spPr>
          <a:xfrm>
            <a:off x="947738" y="4206000"/>
            <a:ext cx="4671400" cy="52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</a:pPr>
            <a:r>
              <a:rPr sz="10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Procurement risk register and schedule visibility</a:t>
            </a:r>
          </a:p>
        </p:txBody>
      </p:sp>
      <p:sp>
        <p:nvSpPr>
          <p:cNvPr id="191" name=""/>
          <p:cNvSpPr>
            <a:spLocks noGrp="1"/>
          </p:cNvSpPr>
          <p:nvPr/>
        </p:nvSpPr>
        <p:spPr>
          <a:xfrm>
            <a:off x="719138" y="4859360"/>
            <a:ext cx="91440" cy="91440"/>
          </a:xfrm>
          <a:prstGeom prst="rect">
            <a:avLst/>
          </a:prstGeom>
          <a:solidFill>
            <a:srgbClr val="C9783E"/>
          </a:solidFill>
          <a:ln w="0">
            <a:noFill/>
            <a:prstDash val="solid"/>
          </a:ln>
        </p:spPr>
      </p:sp>
      <p:sp>
        <p:nvSpPr>
          <p:cNvPr id="192" name=""/>
          <p:cNvSpPr>
            <a:spLocks noGrp="1"/>
          </p:cNvSpPr>
          <p:nvPr/>
        </p:nvSpPr>
        <p:spPr>
          <a:xfrm>
            <a:off x="947738" y="4800360"/>
            <a:ext cx="4671400" cy="52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</a:pPr>
            <a:r>
              <a:rPr sz="10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Capacity allocation and commodity (Cu/Al) exposure hedging support</a:t>
            </a:r>
          </a:p>
        </p:txBody>
      </p:sp>
      <p:sp>
        <p:nvSpPr>
          <p:cNvPr id="193" name=""/>
          <p:cNvSpPr>
            <a:spLocks noGrp="1"/>
          </p:cNvSpPr>
          <p:nvPr/>
        </p:nvSpPr>
        <p:spPr>
          <a:xfrm>
            <a:off x="719138" y="5453720"/>
            <a:ext cx="91440" cy="91440"/>
          </a:xfrm>
          <a:prstGeom prst="rect">
            <a:avLst/>
          </a:prstGeom>
          <a:solidFill>
            <a:srgbClr val="C9783E"/>
          </a:solidFill>
          <a:ln w="0">
            <a:noFill/>
            <a:prstDash val="solid"/>
          </a:ln>
        </p:spPr>
      </p:sp>
      <p:sp>
        <p:nvSpPr>
          <p:cNvPr id="194" name=""/>
          <p:cNvSpPr>
            <a:spLocks noGrp="1"/>
          </p:cNvSpPr>
          <p:nvPr/>
        </p:nvSpPr>
        <p:spPr>
          <a:xfrm>
            <a:off x="947738" y="5394720"/>
            <a:ext cx="4671400" cy="52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</a:pPr>
            <a:r>
              <a:rPr sz="10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Domestic supply strategy — U.S.-made resilience for TEF and local-content goals</a:t>
            </a:r>
          </a:p>
        </p:txBody>
      </p:sp>
      <p:sp>
        <p:nvSpPr>
          <p:cNvPr id="195" name=""/>
          <p:cNvSpPr>
            <a:spLocks noGrp="1"/>
          </p:cNvSpPr>
          <p:nvPr/>
        </p:nvSpPr>
        <p:spPr>
          <a:xfrm>
            <a:off x="6120130" y="2697480"/>
            <a:ext cx="5352732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819" b="1" i="0">
                <a:solidFill>
                  <a:srgbClr val="9D4E24"/>
                </a:solidFill>
                <a:latin typeface="Arial"/>
                <a:ea typeface="Arial"/>
                <a:cs typeface="Arial"/>
              </a:rPr>
              <a:t>DOCUMENTATION FOR FINANCE + ESG</a:t>
            </a:r>
          </a:p>
        </p:txBody>
      </p:sp>
      <p:sp>
        <p:nvSpPr>
          <p:cNvPr id="196" name=""/>
          <p:cNvSpPr>
            <a:spLocks noGrp="1"/>
          </p:cNvSpPr>
          <p:nvPr/>
        </p:nvSpPr>
        <p:spPr>
          <a:xfrm>
            <a:off x="6120130" y="3076280"/>
            <a:ext cx="91440" cy="91440"/>
          </a:xfrm>
          <a:prstGeom prst="rect">
            <a:avLst/>
          </a:prstGeom>
          <a:solidFill>
            <a:srgbClr val="C9783E"/>
          </a:solidFill>
          <a:ln w="0">
            <a:noFill/>
            <a:prstDash val="solid"/>
          </a:ln>
        </p:spPr>
      </p:sp>
      <p:sp>
        <p:nvSpPr>
          <p:cNvPr id="197" name=""/>
          <p:cNvSpPr>
            <a:spLocks noGrp="1"/>
          </p:cNvSpPr>
          <p:nvPr/>
        </p:nvSpPr>
        <p:spPr>
          <a:xfrm>
            <a:off x="6348730" y="3017280"/>
            <a:ext cx="5124132" cy="52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</a:pPr>
            <a:r>
              <a:rPr sz="10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Transparent BOMs and cost-allocation records supporting asset classification and depreciation — tax treatment confirmed per project</a:t>
            </a:r>
          </a:p>
        </p:txBody>
      </p:sp>
      <p:sp>
        <p:nvSpPr>
          <p:cNvPr id="198" name=""/>
          <p:cNvSpPr>
            <a:spLocks noGrp="1"/>
          </p:cNvSpPr>
          <p:nvPr/>
        </p:nvSpPr>
        <p:spPr>
          <a:xfrm>
            <a:off x="6120130" y="3670640"/>
            <a:ext cx="91440" cy="91440"/>
          </a:xfrm>
          <a:prstGeom prst="rect">
            <a:avLst/>
          </a:prstGeom>
          <a:solidFill>
            <a:srgbClr val="C9783E"/>
          </a:solidFill>
          <a:ln w="0">
            <a:noFill/>
            <a:prstDash val="solid"/>
          </a:ln>
        </p:spPr>
      </p:sp>
      <p:sp>
        <p:nvSpPr>
          <p:cNvPr id="199" name=""/>
          <p:cNvSpPr>
            <a:spLocks noGrp="1"/>
          </p:cNvSpPr>
          <p:nvPr/>
        </p:nvSpPr>
        <p:spPr>
          <a:xfrm>
            <a:off x="6348730" y="3611640"/>
            <a:ext cx="5124132" cy="52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</a:pPr>
            <a:r>
              <a:rPr sz="10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Verified EPDs for low-embodied-carbon procurement</a:t>
            </a:r>
          </a:p>
        </p:txBody>
      </p:sp>
      <p:sp>
        <p:nvSpPr>
          <p:cNvPr id="200" name=""/>
          <p:cNvSpPr>
            <a:spLocks noGrp="1"/>
          </p:cNvSpPr>
          <p:nvPr/>
        </p:nvSpPr>
        <p:spPr>
          <a:xfrm>
            <a:off x="6120130" y="4265000"/>
            <a:ext cx="91440" cy="91440"/>
          </a:xfrm>
          <a:prstGeom prst="rect">
            <a:avLst/>
          </a:prstGeom>
          <a:solidFill>
            <a:srgbClr val="C9783E"/>
          </a:solidFill>
          <a:ln w="0">
            <a:noFill/>
            <a:prstDash val="solid"/>
          </a:ln>
        </p:spPr>
      </p:sp>
      <p:sp>
        <p:nvSpPr>
          <p:cNvPr id="201" name=""/>
          <p:cNvSpPr>
            <a:spLocks noGrp="1"/>
          </p:cNvSpPr>
          <p:nvPr/>
        </p:nvSpPr>
        <p:spPr>
          <a:xfrm>
            <a:off x="6348730" y="4206000"/>
            <a:ext cx="5124132" cy="52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</a:pPr>
            <a:r>
              <a:rPr sz="10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Scope 3 cradle-to-gate carbon data for ESG-linked financing and hyperscaler offtaker requirements</a:t>
            </a:r>
          </a:p>
        </p:txBody>
      </p:sp>
      <p:sp>
        <p:nvSpPr>
          <p:cNvPr id="202" name=""/>
          <p:cNvSpPr>
            <a:spLocks noGrp="1"/>
          </p:cNvSpPr>
          <p:nvPr/>
        </p:nvSpPr>
        <p:spPr>
          <a:xfrm>
            <a:off x="6120130" y="4859360"/>
            <a:ext cx="91440" cy="91440"/>
          </a:xfrm>
          <a:prstGeom prst="rect">
            <a:avLst/>
          </a:prstGeom>
          <a:solidFill>
            <a:srgbClr val="C9783E"/>
          </a:solidFill>
          <a:ln w="0">
            <a:noFill/>
            <a:prstDash val="solid"/>
          </a:ln>
        </p:spPr>
      </p:sp>
      <p:sp>
        <p:nvSpPr>
          <p:cNvPr id="203" name=""/>
          <p:cNvSpPr>
            <a:spLocks noGrp="1"/>
          </p:cNvSpPr>
          <p:nvPr/>
        </p:nvSpPr>
        <p:spPr>
          <a:xfrm>
            <a:off x="6348730" y="4800360"/>
            <a:ext cx="5124132" cy="52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</a:pPr>
            <a:r>
              <a:rPr sz="10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Recycled-content integration and optimized logistics (circular economy)</a:t>
            </a:r>
          </a:p>
        </p:txBody>
      </p:sp>
      <p:sp>
        <p:nvSpPr>
          <p:cNvPr id="204" name=""/>
          <p:cNvSpPr>
            <a:spLocks noGrp="1"/>
          </p:cNvSpPr>
          <p:nvPr/>
        </p:nvSpPr>
        <p:spPr>
          <a:xfrm>
            <a:off x="6120130" y="5453720"/>
            <a:ext cx="91440" cy="91440"/>
          </a:xfrm>
          <a:prstGeom prst="rect">
            <a:avLst/>
          </a:prstGeom>
          <a:solidFill>
            <a:srgbClr val="C9783E"/>
          </a:solidFill>
          <a:ln w="0">
            <a:noFill/>
            <a:prstDash val="solid"/>
          </a:ln>
        </p:spPr>
      </p:sp>
      <p:sp>
        <p:nvSpPr>
          <p:cNvPr id="205" name=""/>
          <p:cNvSpPr>
            <a:spLocks noGrp="1"/>
          </p:cNvSpPr>
          <p:nvPr/>
        </p:nvSpPr>
        <p:spPr>
          <a:xfrm>
            <a:off x="6348730" y="5394720"/>
            <a:ext cx="5124132" cy="52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</a:pPr>
            <a:r>
              <a:rPr sz="10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Auditable domestic-content documentation for TEF and investor reporting</a:t>
            </a:r>
          </a:p>
        </p:txBody>
      </p:sp>
      <p:sp>
        <p:nvSpPr>
          <p:cNvPr id="206" name=""/>
          <p:cNvSpPr>
            <a:spLocks noGrp="1"/>
          </p:cNvSpPr>
          <p:nvPr/>
        </p:nvSpPr>
        <p:spPr>
          <a:xfrm>
            <a:off x="719138" y="6032500"/>
            <a:ext cx="10753724" cy="20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825" b="0" i="1">
                <a:solidFill>
                  <a:srgbClr val="6A6F73"/>
                </a:solidFill>
                <a:latin typeface="Arial"/>
                <a:ea typeface="Arial"/>
                <a:cs typeface="Arial"/>
              </a:rPr>
              <a:t>Conceptual commercial positioning — offerings, documentation and tax applicability are scoped and confirmed per project.</a:t>
            </a:r>
          </a:p>
        </p:txBody>
      </p:sp>
      <p:sp>
        <p:nvSpPr>
          <p:cNvPr id="207" name=""/>
          <p:cNvSpPr>
            <a:spLocks noGrp="1"/>
          </p:cNvSpPr>
          <p:nvPr/>
        </p:nvSpPr>
        <p:spPr>
          <a:xfrm>
            <a:off x="719138" y="6315000"/>
            <a:ext cx="10753724" cy="400000"/>
          </a:xfrm>
          <a:prstGeom prst="rect">
            <a:avLst/>
          </a:prstGeom>
          <a:solidFill>
            <a:srgbClr val="17191C"/>
          </a:solidFill>
          <a:ln w="0">
            <a:noFill/>
            <a:prstDash val="solid"/>
          </a:ln>
        </p:spPr>
      </p:sp>
      <p:sp>
        <p:nvSpPr>
          <p:cNvPr id="208" name=""/>
          <p:cNvSpPr>
            <a:spLocks noGrp="1"/>
          </p:cNvSpPr>
          <p:nvPr/>
        </p:nvSpPr>
        <p:spPr>
          <a:xfrm>
            <a:off x="719138" y="6315000"/>
            <a:ext cx="10753724" cy="40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</a:pPr>
            <a:r>
              <a:rPr sz="882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COST, SCHEDULE, SOURCING AND CARBON VISIBILITY — BEFORE THE EPC BID PRICES THE UNCERTAINTY AS CONTINGENCY.</a:t>
            </a:r>
          </a:p>
        </p:txBody>
      </p:sp>
    </p:spTree>
  </p:cSld>
</p:sld>
</file>

<file path=ppt/slides/slide2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6F3EE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209" name=""/>
          <p:cNvSpPr>
            <a:spLocks noGrp="1"/>
          </p:cNvSpPr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C9783E"/>
          </a:solidFill>
          <a:ln w="0">
            <a:noFill/>
            <a:prstDash val="solid"/>
          </a:ln>
        </p:spPr>
      </p:sp>
      <p:pic>
        <p:nvPicPr>
          <p:cNvPr id="210" name=""/>
          <p:cNvPicPr>
            <a:picLocks noChangeAspect="1"/>
          </p:cNvPicPr>
          <p:nvPr/>
        </p:nvPicPr>
        <p:blipFill>
          <a:blip r:embed="rId1"/>
          <a:stretch/>
        </p:blipFill>
        <p:spPr>
          <a:xfrm>
            <a:off x="719138" y="200025"/>
            <a:ext cx="2066925" cy="590550"/>
          </a:xfrm>
          <a:prstGeom prst="rect">
            <a:avLst/>
          </a:prstGeom>
        </p:spPr>
      </p:pic>
      <p:sp>
        <p:nvSpPr>
          <p:cNvPr id="211" name=""/>
          <p:cNvSpPr>
            <a:spLocks noGrp="1"/>
          </p:cNvSpPr>
          <p:nvPr/>
        </p:nvSpPr>
        <p:spPr>
          <a:xfrm>
            <a:off x="7325360" y="323850"/>
            <a:ext cx="3600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r">
              <a:lnSpc>
                <a:spcPct val="100000"/>
              </a:lnSpc>
              <a:buNone/>
            </a:pPr>
            <a:r>
              <a:rPr sz="819" b="1" i="0">
                <a:solidFill>
                  <a:srgbClr val="9D4E24"/>
                </a:solidFill>
                <a:latin typeface="Arial"/>
                <a:ea typeface="Arial"/>
                <a:cs typeface="Arial"/>
              </a:rPr>
              <a:t>APPENDIX A12 · CABLE PLATFORM</a:t>
            </a:r>
          </a:p>
        </p:txBody>
      </p:sp>
      <p:sp>
        <p:nvSpPr>
          <p:cNvPr id="212" name=""/>
          <p:cNvSpPr>
            <a:spLocks noGrp="1"/>
          </p:cNvSpPr>
          <p:nvPr/>
        </p:nvSpPr>
        <p:spPr>
          <a:xfrm>
            <a:off x="11060000" y="323850"/>
            <a:ext cx="600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r">
              <a:lnSpc>
                <a:spcPct val="100000"/>
              </a:lnSpc>
              <a:buNone/>
            </a:pPr>
            <a:r>
              <a:rPr sz="819" b="1" i="0">
                <a:solidFill>
                  <a:srgbClr val="8B9094"/>
                </a:solidFill>
                <a:latin typeface="Arial"/>
                <a:ea typeface="Arial"/>
                <a:cs typeface="Arial"/>
              </a:rPr>
              <a:t>23</a:t>
            </a:r>
          </a:p>
        </p:txBody>
      </p:sp>
      <p:sp>
        <p:nvSpPr>
          <p:cNvPr id="213" name=""/>
          <p:cNvSpPr>
            <a:spLocks noGrp="1"/>
          </p:cNvSpPr>
          <p:nvPr/>
        </p:nvSpPr>
        <p:spPr>
          <a:xfrm>
            <a:off x="719138" y="1005840"/>
            <a:ext cx="8500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882" b="1" i="0">
                <a:solidFill>
                  <a:srgbClr val="C9783E"/>
                </a:solidFill>
                <a:latin typeface="Arial"/>
                <a:ea typeface="Arial"/>
                <a:cs typeface="Arial"/>
              </a:rPr>
              <a:t>ONE PLATFORM — PLANT SCOPE AND PACKAGED SCOPE</a:t>
            </a:r>
          </a:p>
        </p:txBody>
      </p:sp>
      <p:sp>
        <p:nvSpPr>
          <p:cNvPr id="214" name=""/>
          <p:cNvSpPr>
            <a:spLocks noGrp="1"/>
          </p:cNvSpPr>
          <p:nvPr/>
        </p:nvSpPr>
        <p:spPr>
          <a:xfrm>
            <a:off x="719138" y="1280160"/>
            <a:ext cx="10753724" cy="80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</a:pPr>
            <a:r>
              <a:rPr sz="2850" b="1" i="0">
                <a:solidFill>
                  <a:srgbClr val="17191C"/>
                </a:solidFill>
                <a:latin typeface="Arial"/>
                <a:ea typeface="Arial"/>
                <a:cs typeface="Arial"/>
              </a:rPr>
              <a:t>One platform from generator to grid — and inside every package.</a:t>
            </a:r>
          </a:p>
        </p:txBody>
      </p:sp>
      <p:sp>
        <p:nvSpPr>
          <p:cNvPr id="215" name=""/>
          <p:cNvSpPr>
            <a:spLocks noGrp="1"/>
          </p:cNvSpPr>
          <p:nvPr/>
        </p:nvSpPr>
        <p:spPr>
          <a:xfrm>
            <a:off x="719138" y="2286000"/>
            <a:ext cx="10753724" cy="30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8000"/>
              </a:lnSpc>
              <a:buNone/>
            </a:pPr>
            <a:r>
              <a:rPr sz="10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Every run in the plant-zone map resolves to a named product family — one supplier, one spec basis, domestic manufacture.</a:t>
            </a:r>
          </a:p>
        </p:txBody>
      </p:sp>
      <p:sp>
        <p:nvSpPr>
          <p:cNvPr id="216" name=""/>
          <p:cNvSpPr>
            <a:spLocks noGrp="1"/>
          </p:cNvSpPr>
          <p:nvPr/>
        </p:nvSpPr>
        <p:spPr>
          <a:xfrm>
            <a:off x="719138" y="2697480"/>
            <a:ext cx="4900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819" b="1" i="0">
                <a:solidFill>
                  <a:srgbClr val="9D4E24"/>
                </a:solidFill>
                <a:latin typeface="Arial"/>
                <a:ea typeface="Arial"/>
                <a:cs typeface="Arial"/>
              </a:rPr>
              <a:t>PLANT SCOPE — GENERATOR TO GRID</a:t>
            </a:r>
          </a:p>
        </p:txBody>
      </p:sp>
      <p:sp>
        <p:nvSpPr>
          <p:cNvPr id="217" name=""/>
          <p:cNvSpPr>
            <a:spLocks noGrp="1"/>
          </p:cNvSpPr>
          <p:nvPr/>
        </p:nvSpPr>
        <p:spPr>
          <a:xfrm>
            <a:off x="719138" y="3017280"/>
            <a:ext cx="4900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882" b="1" i="0">
                <a:solidFill>
                  <a:srgbClr val="9D4E24"/>
                </a:solidFill>
                <a:latin typeface="Arial"/>
                <a:ea typeface="Arial"/>
                <a:cs typeface="Arial"/>
              </a:rPr>
              <a:t>HVUD HIGH-VOLTAGE UNDERGROUND · 69–400 kV</a:t>
            </a:r>
          </a:p>
        </p:txBody>
      </p:sp>
      <p:sp>
        <p:nvSpPr>
          <p:cNvPr id="218" name=""/>
          <p:cNvSpPr>
            <a:spLocks noGrp="1"/>
          </p:cNvSpPr>
          <p:nvPr/>
        </p:nvSpPr>
        <p:spPr>
          <a:xfrm>
            <a:off x="719138" y="3245880"/>
            <a:ext cx="4900000" cy="40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</a:pPr>
            <a:r>
              <a:rPr sz="975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XLPE underground interconnect; HVUD3 (138 kV) and HVUD4 (230 kV) carry gen-tie, behind-the-meter and bulk interconnect duty.</a:t>
            </a:r>
          </a:p>
        </p:txBody>
      </p:sp>
      <p:sp>
        <p:nvSpPr>
          <p:cNvPr id="219" name=""/>
          <p:cNvSpPr>
            <a:spLocks noGrp="1"/>
          </p:cNvSpPr>
          <p:nvPr/>
        </p:nvSpPr>
        <p:spPr>
          <a:xfrm>
            <a:off x="719138" y="3657360"/>
            <a:ext cx="4900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882" b="1" i="0">
                <a:solidFill>
                  <a:srgbClr val="9D4E24"/>
                </a:solidFill>
                <a:latin typeface="Arial"/>
                <a:ea typeface="Arial"/>
                <a:cs typeface="Arial"/>
              </a:rPr>
              <a:t>MV-105 · NL-EPR · 5–35 kV</a:t>
            </a:r>
          </a:p>
        </p:txBody>
      </p:sp>
      <p:sp>
        <p:nvSpPr>
          <p:cNvPr id="220" name=""/>
          <p:cNvSpPr>
            <a:spLocks noGrp="1"/>
          </p:cNvSpPr>
          <p:nvPr/>
        </p:nvSpPr>
        <p:spPr>
          <a:xfrm>
            <a:off x="719138" y="3885960"/>
            <a:ext cx="4900000" cy="40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</a:pPr>
            <a:r>
              <a:rPr sz="975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The plant collection and auxiliary backbone — 105°C rated, low-friction jacket, tray and duct-bank installation economics.</a:t>
            </a:r>
          </a:p>
        </p:txBody>
      </p:sp>
      <p:sp>
        <p:nvSpPr>
          <p:cNvPr id="221" name=""/>
          <p:cNvSpPr>
            <a:spLocks noGrp="1"/>
          </p:cNvSpPr>
          <p:nvPr/>
        </p:nvSpPr>
        <p:spPr>
          <a:xfrm>
            <a:off x="719138" y="4297440"/>
            <a:ext cx="4900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882" b="1" i="0">
                <a:solidFill>
                  <a:srgbClr val="9D4E24"/>
                </a:solidFill>
                <a:latin typeface="Arial"/>
                <a:ea typeface="Arial"/>
                <a:cs typeface="Arial"/>
              </a:rPr>
              <a:t>LV 600 V POWER, CONTROL &amp; BUILDING WIRE</a:t>
            </a:r>
          </a:p>
        </p:txBody>
      </p:sp>
      <p:sp>
        <p:nvSpPr>
          <p:cNvPr id="222" name=""/>
          <p:cNvSpPr>
            <a:spLocks noGrp="1"/>
          </p:cNvSpPr>
          <p:nvPr/>
        </p:nvSpPr>
        <p:spPr>
          <a:xfrm>
            <a:off x="719138" y="4526040"/>
            <a:ext cx="4900000" cy="40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</a:pPr>
            <a:r>
              <a:rPr sz="975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Feeders, motor circuits and unit auxiliary distribution across the plant.</a:t>
            </a:r>
          </a:p>
        </p:txBody>
      </p:sp>
      <p:sp>
        <p:nvSpPr>
          <p:cNvPr id="223" name=""/>
          <p:cNvSpPr>
            <a:spLocks noGrp="1"/>
          </p:cNvSpPr>
          <p:nvPr/>
        </p:nvSpPr>
        <p:spPr>
          <a:xfrm>
            <a:off x="719138" y="4937520"/>
            <a:ext cx="4900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882" b="1" i="0">
                <a:solidFill>
                  <a:srgbClr val="9D4E24"/>
                </a:solidFill>
                <a:latin typeface="Arial"/>
                <a:ea typeface="Arial"/>
                <a:cs typeface="Arial"/>
              </a:rPr>
              <a:t>I&amp;C, COMMS &amp; TRANSMISSION CONDUCTOR</a:t>
            </a:r>
          </a:p>
        </p:txBody>
      </p:sp>
      <p:sp>
        <p:nvSpPr>
          <p:cNvPr id="224" name=""/>
          <p:cNvSpPr>
            <a:spLocks noGrp="1"/>
          </p:cNvSpPr>
          <p:nvPr/>
        </p:nvSpPr>
        <p:spPr>
          <a:xfrm>
            <a:off x="719138" y="5166120"/>
            <a:ext cx="4900000" cy="40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</a:pPr>
            <a:r>
              <a:rPr sz="975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DCS, protection and metering cable; industrial Ethernet and fiber; ACSR / ACSS / OPGW where overhead is the route.</a:t>
            </a:r>
          </a:p>
        </p:txBody>
      </p:sp>
      <p:sp>
        <p:nvSpPr>
          <p:cNvPr id="225" name=""/>
          <p:cNvSpPr>
            <a:spLocks noGrp="1"/>
          </p:cNvSpPr>
          <p:nvPr/>
        </p:nvSpPr>
        <p:spPr>
          <a:xfrm>
            <a:off x="719138" y="5577600"/>
            <a:ext cx="4900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882" b="1" i="0">
                <a:solidFill>
                  <a:srgbClr val="9D4E24"/>
                </a:solidFill>
                <a:latin typeface="Arial"/>
                <a:ea typeface="Arial"/>
                <a:cs typeface="Arial"/>
              </a:rPr>
              <a:t>GROUNDING &amp; BONDING</a:t>
            </a:r>
          </a:p>
        </p:txBody>
      </p:sp>
      <p:sp>
        <p:nvSpPr>
          <p:cNvPr id="226" name=""/>
          <p:cNvSpPr>
            <a:spLocks noGrp="1"/>
          </p:cNvSpPr>
          <p:nvPr/>
        </p:nvSpPr>
        <p:spPr>
          <a:xfrm>
            <a:off x="719138" y="5806200"/>
            <a:ext cx="4900000" cy="40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</a:pPr>
            <a:r>
              <a:rPr sz="975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Bare copper and bonding conductor — the grid that ties the whole electrical system to earth.</a:t>
            </a:r>
          </a:p>
        </p:txBody>
      </p:sp>
      <p:sp>
        <p:nvSpPr>
          <p:cNvPr id="227" name=""/>
          <p:cNvSpPr>
            <a:spLocks noGrp="1"/>
          </p:cNvSpPr>
          <p:nvPr/>
        </p:nvSpPr>
        <p:spPr>
          <a:xfrm>
            <a:off x="6120130" y="2697480"/>
            <a:ext cx="5352732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819" b="1" i="0">
                <a:solidFill>
                  <a:srgbClr val="9D4E24"/>
                </a:solidFill>
                <a:latin typeface="Arial"/>
                <a:ea typeface="Arial"/>
                <a:cs typeface="Arial"/>
              </a:rPr>
              <a:t>PACKAGED &amp; MODULAR SCOPE — 8 APPLICATION FAMILIES</a:t>
            </a:r>
          </a:p>
        </p:txBody>
      </p:sp>
      <p:sp>
        <p:nvSpPr>
          <p:cNvPr id="228" name=""/>
          <p:cNvSpPr>
            <a:spLocks noGrp="1"/>
          </p:cNvSpPr>
          <p:nvPr/>
        </p:nvSpPr>
        <p:spPr>
          <a:xfrm>
            <a:off x="6120130" y="3017280"/>
            <a:ext cx="5352732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882" b="1" i="0">
                <a:solidFill>
                  <a:srgbClr val="9D4E24"/>
                </a:solidFill>
                <a:latin typeface="Arial"/>
                <a:ea typeface="Arial"/>
                <a:cs typeface="Arial"/>
              </a:rPr>
              <a:t>2.4–35 kV AND 600 V–2 kV · BUY AMERICA</a:t>
            </a:r>
          </a:p>
        </p:txBody>
      </p:sp>
      <p:sp>
        <p:nvSpPr>
          <p:cNvPr id="229" name=""/>
          <p:cNvSpPr>
            <a:spLocks noGrp="1"/>
          </p:cNvSpPr>
          <p:nvPr/>
        </p:nvSpPr>
        <p:spPr>
          <a:xfrm>
            <a:off x="6120130" y="3245880"/>
            <a:ext cx="5352732" cy="40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</a:pPr>
            <a:r>
              <a:rPr sz="975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Every wire and cable application that lives inside — or connects — factory-built power packages, kitted to build sequence.</a:t>
            </a:r>
          </a:p>
        </p:txBody>
      </p:sp>
      <p:sp>
        <p:nvSpPr>
          <p:cNvPr id="230" name=""/>
          <p:cNvSpPr>
            <a:spLocks noGrp="1"/>
          </p:cNvSpPr>
          <p:nvPr/>
        </p:nvSpPr>
        <p:spPr>
          <a:xfrm>
            <a:off x="6120130" y="3657360"/>
            <a:ext cx="5352732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882" b="1" i="0">
                <a:solidFill>
                  <a:srgbClr val="9D4E24"/>
                </a:solidFill>
                <a:latin typeface="Arial"/>
                <a:ea typeface="Arial"/>
                <a:cs typeface="Arial"/>
              </a:rPr>
              <a:t>E-HOUSES · CONTAINERIZED SUBSTATIONS · SWITCHGEAR</a:t>
            </a:r>
          </a:p>
        </p:txBody>
      </p:sp>
      <p:sp>
        <p:nvSpPr>
          <p:cNvPr id="231" name=""/>
          <p:cNvSpPr>
            <a:spLocks noGrp="1"/>
          </p:cNvSpPr>
          <p:nvPr/>
        </p:nvSpPr>
        <p:spPr>
          <a:xfrm>
            <a:off x="6120130" y="3885960"/>
            <a:ext cx="5352732" cy="40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</a:pPr>
            <a:r>
              <a:rPr sz="975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Power control rooms, MV switchgear lineups, LV switchboard and MCC packages.</a:t>
            </a:r>
          </a:p>
        </p:txBody>
      </p:sp>
      <p:sp>
        <p:nvSpPr>
          <p:cNvPr id="232" name=""/>
          <p:cNvSpPr>
            <a:spLocks noGrp="1"/>
          </p:cNvSpPr>
          <p:nvPr/>
        </p:nvSpPr>
        <p:spPr>
          <a:xfrm>
            <a:off x="6120130" y="4297440"/>
            <a:ext cx="5352732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882" b="1" i="0">
                <a:solidFill>
                  <a:srgbClr val="9D4E24"/>
                </a:solidFill>
                <a:latin typeface="Arial"/>
                <a:ea typeface="Arial"/>
                <a:cs typeface="Arial"/>
              </a:rPr>
              <a:t>TRANSFORMER · BESS · GENSET · PROCESS SKIDS</a:t>
            </a:r>
          </a:p>
        </p:txBody>
      </p:sp>
      <p:sp>
        <p:nvSpPr>
          <p:cNvPr id="233" name=""/>
          <p:cNvSpPr>
            <a:spLocks noGrp="1"/>
          </p:cNvSpPr>
          <p:nvPr/>
        </p:nvSpPr>
        <p:spPr>
          <a:xfrm>
            <a:off x="6120130" y="4526040"/>
            <a:ext cx="5352732" cy="40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</a:pPr>
            <a:r>
              <a:rPr sz="975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Transformer packages, BESS containers, generator packages and process / pump skids.</a:t>
            </a:r>
          </a:p>
        </p:txBody>
      </p:sp>
      <p:sp>
        <p:nvSpPr>
          <p:cNvPr id="234" name=""/>
          <p:cNvSpPr>
            <a:spLocks noGrp="1"/>
          </p:cNvSpPr>
          <p:nvPr/>
        </p:nvSpPr>
        <p:spPr>
          <a:xfrm>
            <a:off x="6120130" y="4937520"/>
            <a:ext cx="5352732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882" b="1" i="0">
                <a:solidFill>
                  <a:srgbClr val="9D4E24"/>
                </a:solidFill>
                <a:latin typeface="Arial"/>
                <a:ea typeface="Arial"/>
                <a:cs typeface="Arial"/>
              </a:rPr>
              <a:t>SIMPULL, PRE-CUTS &amp; KITTING</a:t>
            </a:r>
          </a:p>
        </p:txBody>
      </p:sp>
      <p:sp>
        <p:nvSpPr>
          <p:cNvPr id="235" name=""/>
          <p:cNvSpPr>
            <a:spLocks noGrp="1"/>
          </p:cNvSpPr>
          <p:nvPr/>
        </p:nvSpPr>
        <p:spPr>
          <a:xfrm>
            <a:off x="6120130" y="5166120"/>
            <a:ext cx="5352732" cy="40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</a:pPr>
            <a:r>
              <a:rPr sz="975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Low-friction pulling technology, cut-to-length labeled reels and staged kits — energization-ready, less field labor.</a:t>
            </a:r>
          </a:p>
        </p:txBody>
      </p:sp>
      <p:sp>
        <p:nvSpPr>
          <p:cNvPr id="236" name=""/>
          <p:cNvSpPr>
            <a:spLocks noGrp="1"/>
          </p:cNvSpPr>
          <p:nvPr/>
        </p:nvSpPr>
        <p:spPr>
          <a:xfrm>
            <a:off x="6120130" y="5577600"/>
            <a:ext cx="5352732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882" b="1" i="0">
                <a:solidFill>
                  <a:srgbClr val="9D4E24"/>
                </a:solidFill>
                <a:latin typeface="Arial"/>
                <a:ea typeface="Arial"/>
                <a:cs typeface="Arial"/>
              </a:rPr>
              <a:t>ONE SUPPLIER, WHOLE PACKAGE</a:t>
            </a:r>
          </a:p>
        </p:txBody>
      </p:sp>
      <p:sp>
        <p:nvSpPr>
          <p:cNvPr id="237" name=""/>
          <p:cNvSpPr>
            <a:spLocks noGrp="1"/>
          </p:cNvSpPr>
          <p:nvPr/>
        </p:nvSpPr>
        <p:spPr>
          <a:xfrm>
            <a:off x="6120130" y="5806200"/>
            <a:ext cx="5352732" cy="40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</a:pPr>
            <a:r>
              <a:rPr sz="975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MV, LV, control, VFD, grounding, data and DC from a single domestic source — one procurement line item per package.</a:t>
            </a:r>
          </a:p>
        </p:txBody>
      </p:sp>
      <p:sp>
        <p:nvSpPr>
          <p:cNvPr id="238" name=""/>
          <p:cNvSpPr>
            <a:spLocks noGrp="1"/>
          </p:cNvSpPr>
          <p:nvPr/>
        </p:nvSpPr>
        <p:spPr>
          <a:xfrm>
            <a:off x="719138" y="6315000"/>
            <a:ext cx="10753724" cy="400000"/>
          </a:xfrm>
          <a:prstGeom prst="rect">
            <a:avLst/>
          </a:prstGeom>
          <a:solidFill>
            <a:srgbClr val="17191C"/>
          </a:solidFill>
          <a:ln w="0">
            <a:noFill/>
            <a:prstDash val="solid"/>
          </a:ln>
        </p:spPr>
      </p:sp>
      <p:sp>
        <p:nvSpPr>
          <p:cNvPr id="239" name=""/>
          <p:cNvSpPr>
            <a:spLocks noGrp="1"/>
          </p:cNvSpPr>
          <p:nvPr/>
        </p:nvSpPr>
        <p:spPr>
          <a:xfrm>
            <a:off x="719138" y="6315000"/>
            <a:ext cx="10753724" cy="40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</a:pPr>
            <a:r>
              <a:rPr sz="882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TWO LEAVE-BEHIND CATALOGUES ACCOMPANY THIS DECK — IPP CABLE CATALOGUE (PLANT) · PACKAGED POWER E-CATALOGUE (SKIDS).</a:t>
            </a:r>
          </a:p>
        </p:txBody>
      </p:sp>
    </p:spTree>
  </p:cSld>
</p:sld>
</file>

<file path=ppt/slides/slide2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6F3EE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240" name=""/>
          <p:cNvSpPr>
            <a:spLocks noGrp="1"/>
          </p:cNvSpPr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C9783E"/>
          </a:solidFill>
          <a:ln w="0">
            <a:noFill/>
            <a:prstDash val="solid"/>
          </a:ln>
        </p:spPr>
      </p:sp>
      <p:pic>
        <p:nvPicPr>
          <p:cNvPr id="241" name=""/>
          <p:cNvPicPr>
            <a:picLocks noChangeAspect="1"/>
          </p:cNvPicPr>
          <p:nvPr/>
        </p:nvPicPr>
        <p:blipFill>
          <a:blip r:embed="rId1"/>
          <a:stretch/>
        </p:blipFill>
        <p:spPr>
          <a:xfrm>
            <a:off x="719138" y="200025"/>
            <a:ext cx="2066925" cy="590550"/>
          </a:xfrm>
          <a:prstGeom prst="rect">
            <a:avLst/>
          </a:prstGeom>
        </p:spPr>
      </p:pic>
      <p:sp>
        <p:nvSpPr>
          <p:cNvPr id="242" name=""/>
          <p:cNvSpPr>
            <a:spLocks noGrp="1"/>
          </p:cNvSpPr>
          <p:nvPr/>
        </p:nvSpPr>
        <p:spPr>
          <a:xfrm>
            <a:off x="7325360" y="323850"/>
            <a:ext cx="3600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r">
              <a:lnSpc>
                <a:spcPct val="100000"/>
              </a:lnSpc>
              <a:buNone/>
            </a:pPr>
            <a:r>
              <a:rPr sz="819" b="1" i="0">
                <a:solidFill>
                  <a:srgbClr val="9D4E24"/>
                </a:solidFill>
                <a:latin typeface="Arial"/>
                <a:ea typeface="Arial"/>
                <a:cs typeface="Arial"/>
              </a:rPr>
              <a:t>APPENDIX A13 · OPERATING FLEET</a:t>
            </a:r>
          </a:p>
        </p:txBody>
      </p:sp>
      <p:sp>
        <p:nvSpPr>
          <p:cNvPr id="243" name=""/>
          <p:cNvSpPr>
            <a:spLocks noGrp="1"/>
          </p:cNvSpPr>
          <p:nvPr/>
        </p:nvSpPr>
        <p:spPr>
          <a:xfrm>
            <a:off x="11060000" y="323850"/>
            <a:ext cx="600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r">
              <a:lnSpc>
                <a:spcPct val="100000"/>
              </a:lnSpc>
              <a:buNone/>
            </a:pPr>
            <a:r>
              <a:rPr sz="819" b="1" i="0">
                <a:solidFill>
                  <a:srgbClr val="8B9094"/>
                </a:solidFill>
                <a:latin typeface="Arial"/>
                <a:ea typeface="Arial"/>
                <a:cs typeface="Arial"/>
              </a:rPr>
              <a:t>24</a:t>
            </a:r>
          </a:p>
        </p:txBody>
      </p:sp>
      <p:sp>
        <p:nvSpPr>
          <p:cNvPr id="244" name=""/>
          <p:cNvSpPr>
            <a:spLocks noGrp="1"/>
          </p:cNvSpPr>
          <p:nvPr/>
        </p:nvSpPr>
        <p:spPr>
          <a:xfrm>
            <a:off x="719138" y="1005840"/>
            <a:ext cx="8500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882" b="1" i="0">
                <a:solidFill>
                  <a:srgbClr val="C9783E"/>
                </a:solidFill>
                <a:latin typeface="Arial"/>
                <a:ea typeface="Arial"/>
                <a:cs typeface="Arial"/>
              </a:rPr>
              <a:t>REJUVENATION, BROWNFIELD &amp; SERVICE — FOR THE 25.8 GW FLEET</a:t>
            </a:r>
          </a:p>
        </p:txBody>
      </p:sp>
      <p:sp>
        <p:nvSpPr>
          <p:cNvPr id="245" name=""/>
          <p:cNvSpPr>
            <a:spLocks noGrp="1"/>
          </p:cNvSpPr>
          <p:nvPr/>
        </p:nvSpPr>
        <p:spPr>
          <a:xfrm>
            <a:off x="719138" y="1280160"/>
            <a:ext cx="10753724" cy="80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</a:pPr>
            <a:r>
              <a:rPr sz="2850" b="1" i="0">
                <a:solidFill>
                  <a:srgbClr val="17191C"/>
                </a:solidFill>
                <a:latin typeface="Arial"/>
                <a:ea typeface="Arial"/>
                <a:cs typeface="Arial"/>
              </a:rPr>
              <a:t>Extend asset life without a greenfield rebuild.</a:t>
            </a:r>
          </a:p>
        </p:txBody>
      </p:sp>
      <p:sp>
        <p:nvSpPr>
          <p:cNvPr id="246" name=""/>
          <p:cNvSpPr>
            <a:spLocks noGrp="1"/>
          </p:cNvSpPr>
          <p:nvPr/>
        </p:nvSpPr>
        <p:spPr>
          <a:xfrm>
            <a:off x="719138" y="2286000"/>
            <a:ext cx="10753724" cy="30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8000"/>
              </a:lnSpc>
              <a:buNone/>
            </a:pPr>
            <a:r>
              <a:rPr sz="10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Aging cable systems, upgrades and modular additions across an operating fleet — planned around outage schedules, while the plant stays available.</a:t>
            </a:r>
          </a:p>
        </p:txBody>
      </p:sp>
      <p:sp>
        <p:nvSpPr>
          <p:cNvPr id="247" name=""/>
          <p:cNvSpPr>
            <a:spLocks noGrp="1"/>
          </p:cNvSpPr>
          <p:nvPr/>
        </p:nvSpPr>
        <p:spPr>
          <a:xfrm>
            <a:off x="719138" y="2697480"/>
            <a:ext cx="5237862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8D1C8"/>
            </a:solidFill>
            <a:prstDash val="solid"/>
          </a:ln>
        </p:spPr>
      </p:sp>
      <p:sp>
        <p:nvSpPr>
          <p:cNvPr id="248" name=""/>
          <p:cNvSpPr>
            <a:spLocks noGrp="1"/>
          </p:cNvSpPr>
          <p:nvPr/>
        </p:nvSpPr>
        <p:spPr>
          <a:xfrm>
            <a:off x="947738" y="2811780"/>
            <a:ext cx="4780662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882" b="1" i="0">
                <a:solidFill>
                  <a:srgbClr val="9D4E24"/>
                </a:solidFill>
                <a:latin typeface="Arial"/>
                <a:ea typeface="Arial"/>
                <a:cs typeface="Arial"/>
              </a:rPr>
              <a:t>ELECTRICAL SPINE REJUVENATION</a:t>
            </a:r>
          </a:p>
        </p:txBody>
      </p:sp>
      <p:sp>
        <p:nvSpPr>
          <p:cNvPr id="249" name=""/>
          <p:cNvSpPr>
            <a:spLocks noGrp="1"/>
          </p:cNvSpPr>
          <p:nvPr/>
        </p:nvSpPr>
        <p:spPr>
          <a:xfrm>
            <a:off x="947738" y="3086100"/>
            <a:ext cx="4780662" cy="54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</a:pPr>
            <a:r>
              <a:rPr sz="975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Assessment, planning and phased replacement of aging MV / LV cable, grounding, tray and fiber — while the plant remains operational.</a:t>
            </a:r>
          </a:p>
        </p:txBody>
      </p:sp>
      <p:sp>
        <p:nvSpPr>
          <p:cNvPr id="250" name=""/>
          <p:cNvSpPr>
            <a:spLocks noGrp="1"/>
          </p:cNvSpPr>
          <p:nvPr/>
        </p:nvSpPr>
        <p:spPr>
          <a:xfrm>
            <a:off x="6235130" y="2697480"/>
            <a:ext cx="5237862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8D1C8"/>
            </a:solidFill>
            <a:prstDash val="solid"/>
          </a:ln>
        </p:spPr>
      </p:sp>
      <p:sp>
        <p:nvSpPr>
          <p:cNvPr id="251" name=""/>
          <p:cNvSpPr>
            <a:spLocks noGrp="1"/>
          </p:cNvSpPr>
          <p:nvPr/>
        </p:nvSpPr>
        <p:spPr>
          <a:xfrm>
            <a:off x="6463730" y="2811780"/>
            <a:ext cx="4780662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882" b="1" i="0">
                <a:solidFill>
                  <a:srgbClr val="9D4E24"/>
                </a:solidFill>
                <a:latin typeface="Arial"/>
                <a:ea typeface="Arial"/>
                <a:cs typeface="Arial"/>
              </a:rPr>
              <a:t>CABLE REPLACEMENT PROGRAMS</a:t>
            </a:r>
          </a:p>
        </p:txBody>
      </p:sp>
      <p:sp>
        <p:nvSpPr>
          <p:cNvPr id="252" name=""/>
          <p:cNvSpPr>
            <a:spLocks noGrp="1"/>
          </p:cNvSpPr>
          <p:nvPr/>
        </p:nvSpPr>
        <p:spPr>
          <a:xfrm>
            <a:off x="6463730" y="3086100"/>
            <a:ext cx="4780662" cy="54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</a:pPr>
            <a:r>
              <a:rPr sz="975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Fast-track domestic supply of power, control and instrumentation cable for planned outages or emergency replacement.</a:t>
            </a:r>
          </a:p>
        </p:txBody>
      </p:sp>
      <p:sp>
        <p:nvSpPr>
          <p:cNvPr id="253" name=""/>
          <p:cNvSpPr>
            <a:spLocks noGrp="1"/>
          </p:cNvSpPr>
          <p:nvPr/>
        </p:nvSpPr>
        <p:spPr>
          <a:xfrm>
            <a:off x="719138" y="3877056"/>
            <a:ext cx="5237862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8D1C8"/>
            </a:solidFill>
            <a:prstDash val="solid"/>
          </a:ln>
        </p:spPr>
      </p:sp>
      <p:sp>
        <p:nvSpPr>
          <p:cNvPr id="254" name=""/>
          <p:cNvSpPr>
            <a:spLocks noGrp="1"/>
          </p:cNvSpPr>
          <p:nvPr/>
        </p:nvSpPr>
        <p:spPr>
          <a:xfrm>
            <a:off x="947738" y="3991356"/>
            <a:ext cx="4780662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882" b="1" i="0">
                <a:solidFill>
                  <a:srgbClr val="9D4E24"/>
                </a:solidFill>
                <a:latin typeface="Arial"/>
                <a:ea typeface="Arial"/>
                <a:cs typeface="Arial"/>
              </a:rPr>
              <a:t>BROWNFIELD UPGRADES &amp; REPOWER</a:t>
            </a:r>
          </a:p>
        </p:txBody>
      </p:sp>
      <p:sp>
        <p:nvSpPr>
          <p:cNvPr id="255" name=""/>
          <p:cNvSpPr>
            <a:spLocks noGrp="1"/>
          </p:cNvSpPr>
          <p:nvPr/>
        </p:nvSpPr>
        <p:spPr>
          <a:xfrm>
            <a:off x="947738" y="4265676"/>
            <a:ext cx="4780662" cy="54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</a:pPr>
            <a:r>
              <a:rPr sz="975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Electrical scope for turbine upgrades, generator replacements, emissions retrofits and balance-of-plant modernization.</a:t>
            </a:r>
          </a:p>
        </p:txBody>
      </p:sp>
      <p:sp>
        <p:nvSpPr>
          <p:cNvPr id="256" name=""/>
          <p:cNvSpPr>
            <a:spLocks noGrp="1"/>
          </p:cNvSpPr>
          <p:nvPr/>
        </p:nvSpPr>
        <p:spPr>
          <a:xfrm>
            <a:off x="6235130" y="3877056"/>
            <a:ext cx="5237862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8D1C8"/>
            </a:solidFill>
            <a:prstDash val="solid"/>
          </a:ln>
        </p:spPr>
      </p:sp>
      <p:sp>
        <p:nvSpPr>
          <p:cNvPr id="257" name=""/>
          <p:cNvSpPr>
            <a:spLocks noGrp="1"/>
          </p:cNvSpPr>
          <p:nvPr/>
        </p:nvSpPr>
        <p:spPr>
          <a:xfrm>
            <a:off x="6463730" y="3991356"/>
            <a:ext cx="4780662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882" b="1" i="0">
                <a:solidFill>
                  <a:srgbClr val="9D4E24"/>
                </a:solidFill>
                <a:latin typeface="Arial"/>
                <a:ea typeface="Arial"/>
                <a:cs typeface="Arial"/>
              </a:rPr>
              <a:t>MODULAR POWER ADDITIONS</a:t>
            </a:r>
          </a:p>
        </p:txBody>
      </p:sp>
      <p:sp>
        <p:nvSpPr>
          <p:cNvPr id="258" name=""/>
          <p:cNvSpPr>
            <a:spLocks noGrp="1"/>
          </p:cNvSpPr>
          <p:nvPr/>
        </p:nvSpPr>
        <p:spPr>
          <a:xfrm>
            <a:off x="6463730" y="4265676"/>
            <a:ext cx="4780662" cy="54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</a:pPr>
            <a:r>
              <a:rPr sz="975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E-houses, skids, switchgear, UPS and black-start capability — auxiliary loads or new behind-the-meter offtakers.</a:t>
            </a:r>
          </a:p>
        </p:txBody>
      </p:sp>
      <p:sp>
        <p:nvSpPr>
          <p:cNvPr id="259" name=""/>
          <p:cNvSpPr>
            <a:spLocks noGrp="1"/>
          </p:cNvSpPr>
          <p:nvPr/>
        </p:nvSpPr>
        <p:spPr>
          <a:xfrm>
            <a:off x="719138" y="5056632"/>
            <a:ext cx="5237862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8D1C8"/>
            </a:solidFill>
            <a:prstDash val="solid"/>
          </a:ln>
        </p:spPr>
      </p:sp>
      <p:sp>
        <p:nvSpPr>
          <p:cNvPr id="260" name=""/>
          <p:cNvSpPr>
            <a:spLocks noGrp="1"/>
          </p:cNvSpPr>
          <p:nvPr/>
        </p:nvSpPr>
        <p:spPr>
          <a:xfrm>
            <a:off x="947738" y="5170932"/>
            <a:ext cx="4780662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882" b="1" i="0">
                <a:solidFill>
                  <a:srgbClr val="9D4E24"/>
                </a:solidFill>
                <a:latin typeface="Arial"/>
                <a:ea typeface="Arial"/>
                <a:cs typeface="Arial"/>
              </a:rPr>
              <a:t>RELIABILITY &amp; CONDITION SUPPORT</a:t>
            </a:r>
          </a:p>
        </p:txBody>
      </p:sp>
      <p:sp>
        <p:nvSpPr>
          <p:cNvPr id="261" name=""/>
          <p:cNvSpPr>
            <a:spLocks noGrp="1"/>
          </p:cNvSpPr>
          <p:nvPr/>
        </p:nvSpPr>
        <p:spPr>
          <a:xfrm>
            <a:off x="947738" y="5445252"/>
            <a:ext cx="4780662" cy="54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</a:pPr>
            <a:r>
              <a:rPr sz="975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System assessments, thermal-imaging coordination, failure analysis and prioritized replacement planning.</a:t>
            </a:r>
          </a:p>
        </p:txBody>
      </p:sp>
      <p:sp>
        <p:nvSpPr>
          <p:cNvPr id="262" name=""/>
          <p:cNvSpPr>
            <a:spLocks noGrp="1"/>
          </p:cNvSpPr>
          <p:nvPr/>
        </p:nvSpPr>
        <p:spPr>
          <a:xfrm>
            <a:off x="6235130" y="5056632"/>
            <a:ext cx="5237862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8D1C8"/>
            </a:solidFill>
            <a:prstDash val="solid"/>
          </a:ln>
        </p:spPr>
      </p:sp>
      <p:sp>
        <p:nvSpPr>
          <p:cNvPr id="263" name=""/>
          <p:cNvSpPr>
            <a:spLocks noGrp="1"/>
          </p:cNvSpPr>
          <p:nvPr/>
        </p:nvSpPr>
        <p:spPr>
          <a:xfrm>
            <a:off x="6463730" y="5170932"/>
            <a:ext cx="4780662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882" b="1" i="0">
                <a:solidFill>
                  <a:srgbClr val="9D4E24"/>
                </a:solidFill>
                <a:latin typeface="Arial"/>
                <a:ea typeface="Arial"/>
                <a:cs typeface="Arial"/>
              </a:rPr>
              <a:t>SERVICE &amp; LONG-TERM AGREEMENTS</a:t>
            </a:r>
          </a:p>
        </p:txBody>
      </p:sp>
      <p:sp>
        <p:nvSpPr>
          <p:cNvPr id="264" name=""/>
          <p:cNvSpPr>
            <a:spLocks noGrp="1"/>
          </p:cNvSpPr>
          <p:nvPr/>
        </p:nvSpPr>
        <p:spPr>
          <a:xfrm>
            <a:off x="6463730" y="5445252"/>
            <a:ext cx="4780662" cy="54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</a:pPr>
            <a:r>
              <a:rPr sz="975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Support contracts, inventory programs and rapid-response replacement capability for operating fleets.</a:t>
            </a:r>
          </a:p>
        </p:txBody>
      </p:sp>
      <p:sp>
        <p:nvSpPr>
          <p:cNvPr id="265" name=""/>
          <p:cNvSpPr>
            <a:spLocks noGrp="1"/>
          </p:cNvSpPr>
          <p:nvPr/>
        </p:nvSpPr>
        <p:spPr>
          <a:xfrm>
            <a:off x="719138" y="6110000"/>
            <a:ext cx="10753724" cy="20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825" b="0" i="1">
                <a:solidFill>
                  <a:srgbClr val="6A6F73"/>
                </a:solidFill>
                <a:latin typeface="Arial"/>
                <a:ea typeface="Arial"/>
                <a:cs typeface="Arial"/>
              </a:rPr>
              <a:t>Engagements begin with one focused 60–90 minute session across the fleet, then tailored proposals per plant — phased to outage schedules.</a:t>
            </a:r>
          </a:p>
        </p:txBody>
      </p:sp>
      <p:sp>
        <p:nvSpPr>
          <p:cNvPr id="266" name=""/>
          <p:cNvSpPr>
            <a:spLocks noGrp="1"/>
          </p:cNvSpPr>
          <p:nvPr/>
        </p:nvSpPr>
        <p:spPr>
          <a:xfrm>
            <a:off x="719138" y="6315000"/>
            <a:ext cx="10753724" cy="400000"/>
          </a:xfrm>
          <a:prstGeom prst="rect">
            <a:avLst/>
          </a:prstGeom>
          <a:solidFill>
            <a:srgbClr val="17191C"/>
          </a:solidFill>
          <a:ln w="0">
            <a:noFill/>
            <a:prstDash val="solid"/>
          </a:ln>
        </p:spPr>
      </p:sp>
      <p:sp>
        <p:nvSpPr>
          <p:cNvPr id="267" name=""/>
          <p:cNvSpPr>
            <a:spLocks noGrp="1"/>
          </p:cNvSpPr>
          <p:nvPr/>
        </p:nvSpPr>
        <p:spPr>
          <a:xfrm>
            <a:off x="719138" y="6315000"/>
            <a:ext cx="10753724" cy="40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</a:pPr>
            <a:r>
              <a:rPr sz="882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MINIMIZED DOWNTIME · EXTENDED ASSET LIFE · LOWER TOTAL COST THAN FULL REPLACEMENT — PHASED TO OUTAGE SCHEDULES.</a:t>
            </a:r>
          </a:p>
        </p:txBody>
      </p:sp>
    </p:spTree>
  </p:cSld>
</p:sld>
</file>

<file path=ppt/slides/slide2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6F3EE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84" name=""/>
          <p:cNvSpPr>
            <a:spLocks noGrp="1"/>
          </p:cNvSpPr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C9783E"/>
          </a:solidFill>
          <a:ln w="0">
            <a:noFill/>
            <a:prstDash val="solid"/>
          </a:ln>
        </p:spPr>
      </p:sp>
      <p:pic>
        <p:nvPicPr>
          <p:cNvPr id="185" name=""/>
          <p:cNvPicPr>
            <a:picLocks noChangeAspect="1"/>
          </p:cNvPicPr>
          <p:nvPr/>
        </p:nvPicPr>
        <p:blipFill>
          <a:blip r:embed="rId1"/>
          <a:stretch/>
        </p:blipFill>
        <p:spPr>
          <a:xfrm>
            <a:off x="719138" y="200025"/>
            <a:ext cx="2066925" cy="590550"/>
          </a:xfrm>
          <a:prstGeom prst="rect">
            <a:avLst/>
          </a:prstGeom>
        </p:spPr>
      </p:pic>
      <p:sp>
        <p:nvSpPr>
          <p:cNvPr id="186" name=""/>
          <p:cNvSpPr>
            <a:spLocks noGrp="1"/>
          </p:cNvSpPr>
          <p:nvPr/>
        </p:nvSpPr>
        <p:spPr>
          <a:xfrm>
            <a:off x="7325360" y="323850"/>
            <a:ext cx="3600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r">
              <a:lnSpc>
                <a:spcPct val="100000"/>
              </a:lnSpc>
              <a:buNone/>
            </a:pPr>
            <a:r>
              <a:rPr sz="819" b="1" i="0">
                <a:solidFill>
                  <a:srgbClr val="9D4E24"/>
                </a:solidFill>
                <a:latin typeface="Arial"/>
                <a:ea typeface="Arial"/>
                <a:cs typeface="Arial"/>
              </a:rPr>
              <a:t>APPENDIX A14 · BENCHMARK MATH</a:t>
            </a:r>
          </a:p>
        </p:txBody>
      </p:sp>
      <p:sp>
        <p:nvSpPr>
          <p:cNvPr id="187" name=""/>
          <p:cNvSpPr>
            <a:spLocks noGrp="1"/>
          </p:cNvSpPr>
          <p:nvPr/>
        </p:nvSpPr>
        <p:spPr>
          <a:xfrm>
            <a:off x="11060000" y="323850"/>
            <a:ext cx="600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r">
              <a:lnSpc>
                <a:spcPct val="100000"/>
              </a:lnSpc>
              <a:buNone/>
            </a:pPr>
            <a:r>
              <a:rPr sz="819" b="1" i="0">
                <a:solidFill>
                  <a:srgbClr val="8B9094"/>
                </a:solidFill>
                <a:latin typeface="Arial"/>
                <a:ea typeface="Arial"/>
                <a:cs typeface="Arial"/>
              </a:rPr>
              <a:t>25</a:t>
            </a:r>
          </a:p>
        </p:txBody>
      </p:sp>
      <p:sp>
        <p:nvSpPr>
          <p:cNvPr id="188" name=""/>
          <p:cNvSpPr>
            <a:spLocks noGrp="1"/>
          </p:cNvSpPr>
          <p:nvPr/>
        </p:nvSpPr>
        <p:spPr>
          <a:xfrm>
            <a:off x="719138" y="1005840"/>
            <a:ext cx="8500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882" b="1" i="0">
                <a:solidFill>
                  <a:srgbClr val="C9783E"/>
                </a:solidFill>
                <a:latin typeface="Arial"/>
                <a:ea typeface="Arial"/>
                <a:cs typeface="Arial"/>
              </a:rPr>
              <a:t>GROSS FIELD-LABOR MATH — PER CENTRAL SPINE</a:t>
            </a:r>
          </a:p>
        </p:txBody>
      </p:sp>
      <p:sp>
        <p:nvSpPr>
          <p:cNvPr id="189" name=""/>
          <p:cNvSpPr>
            <a:spLocks noGrp="1"/>
          </p:cNvSpPr>
          <p:nvPr/>
        </p:nvSpPr>
        <p:spPr>
          <a:xfrm>
            <a:off x="719138" y="1280160"/>
            <a:ext cx="10753724" cy="80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</a:pPr>
            <a:r>
              <a:rPr sz="2850" b="1" i="0">
                <a:solidFill>
                  <a:srgbClr val="17191C"/>
                </a:solidFill>
                <a:latin typeface="Arial"/>
                <a:ea typeface="Arial"/>
                <a:cs typeface="Arial"/>
              </a:rPr>
              <a:t>What the 4,400 → 880 hours are worth, before net.</a:t>
            </a:r>
          </a:p>
        </p:txBody>
      </p:sp>
      <p:sp>
        <p:nvSpPr>
          <p:cNvPr id="190" name=""/>
          <p:cNvSpPr>
            <a:spLocks noGrp="1"/>
          </p:cNvSpPr>
          <p:nvPr/>
        </p:nvSpPr>
        <p:spPr>
          <a:xfrm>
            <a:off x="719138" y="2011680"/>
            <a:ext cx="10753724" cy="30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8000"/>
              </a:lnSpc>
              <a:buNone/>
            </a:pPr>
            <a:r>
              <a:rPr sz="10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The arithmetic behind slide 9, at a $95/hr fully burdened field-labor rate. This is the template A4 requires to be rebuilt with NRG inputs — not a result.</a:t>
            </a:r>
          </a:p>
        </p:txBody>
      </p:sp>
      <p:sp>
        <p:nvSpPr>
          <p:cNvPr id="191" name=""/>
          <p:cNvSpPr>
            <a:spLocks noGrp="1"/>
          </p:cNvSpPr>
          <p:nvPr/>
        </p:nvSpPr>
        <p:spPr>
          <a:xfrm>
            <a:off x="719138" y="2560320"/>
            <a:ext cx="3378908" cy="2606040"/>
          </a:xfrm>
          <a:prstGeom prst="rect">
            <a:avLst/>
          </a:prstGeom>
          <a:solidFill>
            <a:srgbClr val="FFFFFF"/>
          </a:solidFill>
          <a:ln w="9525">
            <a:solidFill>
              <a:srgbClr val="D8D1C8"/>
            </a:solidFill>
            <a:prstDash val="solid"/>
          </a:ln>
        </p:spPr>
      </p:sp>
      <p:sp>
        <p:nvSpPr>
          <p:cNvPr id="192" name=""/>
          <p:cNvSpPr>
            <a:spLocks noGrp="1"/>
          </p:cNvSpPr>
          <p:nvPr/>
        </p:nvSpPr>
        <p:spPr>
          <a:xfrm>
            <a:off x="947738" y="2788920"/>
            <a:ext cx="2921708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819" b="1" i="0">
                <a:solidFill>
                  <a:srgbClr val="9D4E24"/>
                </a:solidFill>
                <a:latin typeface="Arial"/>
                <a:ea typeface="Arial"/>
                <a:cs typeface="Arial"/>
              </a:rPr>
              <a:t>TODAY · FIELD-BUILT</a:t>
            </a:r>
          </a:p>
        </p:txBody>
      </p:sp>
      <p:sp>
        <p:nvSpPr>
          <p:cNvPr id="193" name=""/>
          <p:cNvSpPr>
            <a:spLocks noGrp="1"/>
          </p:cNvSpPr>
          <p:nvPr/>
        </p:nvSpPr>
        <p:spPr>
          <a:xfrm>
            <a:off x="947738" y="3108960"/>
            <a:ext cx="2921708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3400" b="1" i="0">
                <a:solidFill>
                  <a:srgbClr val="17191C"/>
                </a:solidFill>
                <a:latin typeface="Arial"/>
                <a:ea typeface="Arial"/>
                <a:cs typeface="Arial"/>
              </a:rPr>
              <a:t>$418,000</a:t>
            </a:r>
          </a:p>
        </p:txBody>
      </p:sp>
      <p:sp>
        <p:nvSpPr>
          <p:cNvPr id="194" name=""/>
          <p:cNvSpPr>
            <a:spLocks noGrp="1"/>
          </p:cNvSpPr>
          <p:nvPr/>
        </p:nvSpPr>
        <p:spPr>
          <a:xfrm>
            <a:off x="947738" y="3749040"/>
            <a:ext cx="2921708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975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field labor per spine</a:t>
            </a:r>
          </a:p>
        </p:txBody>
      </p:sp>
      <p:sp>
        <p:nvSpPr>
          <p:cNvPr id="195" name=""/>
          <p:cNvSpPr>
            <a:spLocks noGrp="1"/>
          </p:cNvSpPr>
          <p:nvPr/>
        </p:nvSpPr>
        <p:spPr>
          <a:xfrm>
            <a:off x="947738" y="4160520"/>
            <a:ext cx="2921708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1050" b="0" i="0">
                <a:solidFill>
                  <a:srgbClr val="17191C"/>
                </a:solidFill>
                <a:latin typeface="Arial"/>
                <a:ea typeface="Arial"/>
                <a:cs typeface="Arial"/>
              </a:rPr>
              <a:t>4,400 man-hours × $95/hr</a:t>
            </a:r>
          </a:p>
        </p:txBody>
      </p:sp>
      <p:sp>
        <p:nvSpPr>
          <p:cNvPr id="196" name=""/>
          <p:cNvSpPr>
            <a:spLocks noGrp="1"/>
          </p:cNvSpPr>
          <p:nvPr/>
        </p:nvSpPr>
        <p:spPr>
          <a:xfrm>
            <a:off x="947738" y="4434840"/>
            <a:ext cx="2921708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1050" b="0" i="0">
                <a:solidFill>
                  <a:srgbClr val="17191C"/>
                </a:solidFill>
                <a:latin typeface="Arial"/>
                <a:ea typeface="Arial"/>
                <a:cs typeface="Arial"/>
              </a:rPr>
              <a:t>27 installers × 2 shifts × 2 weeks</a:t>
            </a:r>
          </a:p>
        </p:txBody>
      </p:sp>
      <p:sp>
        <p:nvSpPr>
          <p:cNvPr id="197" name=""/>
          <p:cNvSpPr>
            <a:spLocks noGrp="1"/>
          </p:cNvSpPr>
          <p:nvPr/>
        </p:nvSpPr>
        <p:spPr>
          <a:xfrm>
            <a:off x="947738" y="4709160"/>
            <a:ext cx="2921708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1050" b="1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High variability, rework risk</a:t>
            </a:r>
          </a:p>
        </p:txBody>
      </p:sp>
      <p:sp>
        <p:nvSpPr>
          <p:cNvPr id="198" name=""/>
          <p:cNvSpPr>
            <a:spLocks noGrp="1"/>
          </p:cNvSpPr>
          <p:nvPr/>
        </p:nvSpPr>
        <p:spPr>
          <a:xfrm>
            <a:off x="4406546" y="2560320"/>
            <a:ext cx="3378908" cy="2606040"/>
          </a:xfrm>
          <a:prstGeom prst="rect">
            <a:avLst/>
          </a:prstGeom>
          <a:solidFill>
            <a:srgbClr val="FFFFFF"/>
          </a:solidFill>
          <a:ln w="9525">
            <a:solidFill>
              <a:srgbClr val="D8D1C8"/>
            </a:solidFill>
            <a:prstDash val="solid"/>
          </a:ln>
        </p:spPr>
      </p:sp>
      <p:sp>
        <p:nvSpPr>
          <p:cNvPr id="199" name=""/>
          <p:cNvSpPr>
            <a:spLocks noGrp="1"/>
          </p:cNvSpPr>
          <p:nvPr/>
        </p:nvSpPr>
        <p:spPr>
          <a:xfrm>
            <a:off x="4635146" y="2788920"/>
            <a:ext cx="2921708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819" b="1" i="0">
                <a:solidFill>
                  <a:srgbClr val="9D4E24"/>
                </a:solidFill>
                <a:latin typeface="Arial"/>
                <a:ea typeface="Arial"/>
                <a:cs typeface="Arial"/>
              </a:rPr>
              <a:t>WITH CONNECTORIZED ASSEMBLY</a:t>
            </a:r>
          </a:p>
        </p:txBody>
      </p:sp>
      <p:sp>
        <p:nvSpPr>
          <p:cNvPr id="200" name=""/>
          <p:cNvSpPr>
            <a:spLocks noGrp="1"/>
          </p:cNvSpPr>
          <p:nvPr/>
        </p:nvSpPr>
        <p:spPr>
          <a:xfrm>
            <a:off x="4635146" y="3108960"/>
            <a:ext cx="2921708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3400" b="1" i="0">
                <a:solidFill>
                  <a:srgbClr val="9D4E24"/>
                </a:solidFill>
                <a:latin typeface="Arial"/>
                <a:ea typeface="Arial"/>
                <a:cs typeface="Arial"/>
              </a:rPr>
              <a:t>$83,600</a:t>
            </a:r>
          </a:p>
        </p:txBody>
      </p:sp>
      <p:sp>
        <p:nvSpPr>
          <p:cNvPr id="201" name=""/>
          <p:cNvSpPr>
            <a:spLocks noGrp="1"/>
          </p:cNvSpPr>
          <p:nvPr/>
        </p:nvSpPr>
        <p:spPr>
          <a:xfrm>
            <a:off x="4635146" y="3749040"/>
            <a:ext cx="2921708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975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field labor per spine</a:t>
            </a:r>
          </a:p>
        </p:txBody>
      </p:sp>
      <p:sp>
        <p:nvSpPr>
          <p:cNvPr id="202" name=""/>
          <p:cNvSpPr>
            <a:spLocks noGrp="1"/>
          </p:cNvSpPr>
          <p:nvPr/>
        </p:nvSpPr>
        <p:spPr>
          <a:xfrm>
            <a:off x="4635146" y="4160520"/>
            <a:ext cx="2921708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1050" b="0" i="0">
                <a:solidFill>
                  <a:srgbClr val="17191C"/>
                </a:solidFill>
                <a:latin typeface="Arial"/>
                <a:ea typeface="Arial"/>
                <a:cs typeface="Arial"/>
              </a:rPr>
              <a:t>~880 man-hours × $95/hr</a:t>
            </a:r>
          </a:p>
        </p:txBody>
      </p:sp>
      <p:sp>
        <p:nvSpPr>
          <p:cNvPr id="203" name=""/>
          <p:cNvSpPr>
            <a:spLocks noGrp="1"/>
          </p:cNvSpPr>
          <p:nvPr/>
        </p:nvSpPr>
        <p:spPr>
          <a:xfrm>
            <a:off x="4635146" y="4434840"/>
            <a:ext cx="2921708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1050" b="0" i="0">
                <a:solidFill>
                  <a:srgbClr val="17191C"/>
                </a:solidFill>
                <a:latin typeface="Arial"/>
                <a:ea typeface="Arial"/>
                <a:cs typeface="Arial"/>
              </a:rPr>
              <a:t>~6 installers × 1 shift × ~3 days</a:t>
            </a:r>
          </a:p>
        </p:txBody>
      </p:sp>
      <p:sp>
        <p:nvSpPr>
          <p:cNvPr id="204" name=""/>
          <p:cNvSpPr>
            <a:spLocks noGrp="1"/>
          </p:cNvSpPr>
          <p:nvPr/>
        </p:nvSpPr>
        <p:spPr>
          <a:xfrm>
            <a:off x="4635146" y="4709160"/>
            <a:ext cx="2921708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1050" b="1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Factory-validated, plug-and-play</a:t>
            </a:r>
          </a:p>
        </p:txBody>
      </p:sp>
      <p:sp>
        <p:nvSpPr>
          <p:cNvPr id="205" name=""/>
          <p:cNvSpPr>
            <a:spLocks noGrp="1"/>
          </p:cNvSpPr>
          <p:nvPr/>
        </p:nvSpPr>
        <p:spPr>
          <a:xfrm>
            <a:off x="8093954" y="2560320"/>
            <a:ext cx="3378908" cy="2606040"/>
          </a:xfrm>
          <a:prstGeom prst="rect">
            <a:avLst/>
          </a:prstGeom>
          <a:solidFill>
            <a:srgbClr val="C9783E"/>
          </a:solidFill>
          <a:ln w="0">
            <a:noFill/>
            <a:prstDash val="solid"/>
          </a:ln>
        </p:spPr>
      </p:sp>
      <p:sp>
        <p:nvSpPr>
          <p:cNvPr id="206" name=""/>
          <p:cNvSpPr>
            <a:spLocks noGrp="1"/>
          </p:cNvSpPr>
          <p:nvPr/>
        </p:nvSpPr>
        <p:spPr>
          <a:xfrm>
            <a:off x="8322554" y="2788920"/>
            <a:ext cx="2921708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819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GROSS DELTA PER SPINE</a:t>
            </a:r>
          </a:p>
        </p:txBody>
      </p:sp>
      <p:sp>
        <p:nvSpPr>
          <p:cNvPr id="207" name=""/>
          <p:cNvSpPr>
            <a:spLocks noGrp="1"/>
          </p:cNvSpPr>
          <p:nvPr/>
        </p:nvSpPr>
        <p:spPr>
          <a:xfrm>
            <a:off x="8322554" y="3108960"/>
            <a:ext cx="2921708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34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$334K</a:t>
            </a:r>
          </a:p>
        </p:txBody>
      </p:sp>
      <p:sp>
        <p:nvSpPr>
          <p:cNvPr id="208" name=""/>
          <p:cNvSpPr>
            <a:spLocks noGrp="1"/>
          </p:cNvSpPr>
          <p:nvPr/>
        </p:nvSpPr>
        <p:spPr>
          <a:xfrm>
            <a:off x="8322554" y="3749040"/>
            <a:ext cx="2921708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975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~80% of field-labor cost</a:t>
            </a:r>
          </a:p>
        </p:txBody>
      </p:sp>
      <p:sp>
        <p:nvSpPr>
          <p:cNvPr id="209" name=""/>
          <p:cNvSpPr>
            <a:spLocks noGrp="1"/>
          </p:cNvSpPr>
          <p:nvPr/>
        </p:nvSpPr>
        <p:spPr>
          <a:xfrm>
            <a:off x="8322554" y="4114800"/>
            <a:ext cx="2921708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756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IF IT REPEATS (GROSS, ILLUSTRATIVE)</a:t>
            </a:r>
          </a:p>
        </p:txBody>
      </p:sp>
      <p:sp>
        <p:nvSpPr>
          <p:cNvPr id="210" name=""/>
          <p:cNvSpPr>
            <a:spLocks noGrp="1"/>
          </p:cNvSpPr>
          <p:nvPr/>
        </p:nvSpPr>
        <p:spPr>
          <a:xfrm>
            <a:off x="8322554" y="4389120"/>
            <a:ext cx="2921708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10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10 spines  →  $3.3M</a:t>
            </a:r>
          </a:p>
        </p:txBody>
      </p:sp>
      <p:sp>
        <p:nvSpPr>
          <p:cNvPr id="211" name=""/>
          <p:cNvSpPr>
            <a:spLocks noGrp="1"/>
          </p:cNvSpPr>
          <p:nvPr/>
        </p:nvSpPr>
        <p:spPr>
          <a:xfrm>
            <a:off x="8322554" y="4617720"/>
            <a:ext cx="2921708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10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50 spines  →  $16.7M</a:t>
            </a:r>
          </a:p>
        </p:txBody>
      </p:sp>
      <p:sp>
        <p:nvSpPr>
          <p:cNvPr id="212" name=""/>
          <p:cNvSpPr>
            <a:spLocks noGrp="1"/>
          </p:cNvSpPr>
          <p:nvPr/>
        </p:nvSpPr>
        <p:spPr>
          <a:xfrm>
            <a:off x="8322554" y="4846320"/>
            <a:ext cx="2921708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10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100 spines  →  $33.4M</a:t>
            </a:r>
          </a:p>
        </p:txBody>
      </p:sp>
      <p:sp>
        <p:nvSpPr>
          <p:cNvPr id="213" name=""/>
          <p:cNvSpPr>
            <a:spLocks noGrp="1"/>
          </p:cNvSpPr>
          <p:nvPr/>
        </p:nvSpPr>
        <p:spPr>
          <a:xfrm>
            <a:off x="719138" y="5349240"/>
            <a:ext cx="10753724" cy="30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</a:pPr>
            <a:r>
              <a:rPr sz="900" b="0" i="1">
                <a:solidFill>
                  <a:srgbClr val="6A6F73"/>
                </a:solidFill>
                <a:latin typeface="Arial"/>
                <a:ea typeface="Arial"/>
                <a:cs typeface="Arial"/>
              </a:rPr>
              <a:t>ASSUMPTIONS  ·  $95/hr fully burdened (wage + benefits + overtime + supervision)  ·  4,400 hours observed on one site-built spine in an adjacent market, May 2026  ·  ~80% field-labor reduction typical for prefabricated interconnect  ·  one spine = one central electrical spine serving repeated generation modules.</a:t>
            </a:r>
          </a:p>
        </p:txBody>
      </p:sp>
      <p:sp>
        <p:nvSpPr>
          <p:cNvPr id="214" name=""/>
          <p:cNvSpPr>
            <a:spLocks noGrp="1"/>
          </p:cNvSpPr>
          <p:nvPr/>
        </p:nvSpPr>
        <p:spPr>
          <a:xfrm>
            <a:off x="719138" y="5852160"/>
            <a:ext cx="10753724" cy="30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</a:pPr>
            <a:r>
              <a:rPr sz="975" b="1" i="0">
                <a:solidFill>
                  <a:srgbClr val="17191C"/>
                </a:solidFill>
                <a:latin typeface="Arial"/>
                <a:ea typeface="Arial"/>
                <a:cs typeface="Arial"/>
              </a:rPr>
              <a:t>NOT NET.  Subtract the assembly premium, engineering, factory labor, freight, factory acceptance and commissioning — and prefabrication does not automatically remove an activity from the critical path.</a:t>
            </a:r>
          </a:p>
        </p:txBody>
      </p:sp>
      <p:sp>
        <p:nvSpPr>
          <p:cNvPr id="215" name=""/>
          <p:cNvSpPr>
            <a:spLocks noGrp="1"/>
          </p:cNvSpPr>
          <p:nvPr/>
        </p:nvSpPr>
        <p:spPr>
          <a:xfrm>
            <a:off x="719138" y="6315000"/>
            <a:ext cx="10753724" cy="400000"/>
          </a:xfrm>
          <a:prstGeom prst="rect">
            <a:avLst/>
          </a:prstGeom>
          <a:solidFill>
            <a:srgbClr val="17191C"/>
          </a:solidFill>
          <a:ln w="0">
            <a:noFill/>
            <a:prstDash val="solid"/>
          </a:ln>
        </p:spPr>
      </p:sp>
      <p:sp>
        <p:nvSpPr>
          <p:cNvPr id="216" name=""/>
          <p:cNvSpPr>
            <a:spLocks noGrp="1"/>
          </p:cNvSpPr>
          <p:nvPr/>
        </p:nvSpPr>
        <p:spPr>
          <a:xfrm>
            <a:off x="719138" y="6315000"/>
            <a:ext cx="10753724" cy="40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</a:pPr>
            <a:r>
              <a:rPr sz="882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GROSS TEMPLATE ONLY — REBUILD WITH NRG SCOPE, LABOR RATES AND SCHEDULE LOGIC BEFORE ANY CLAIM (SEE A4).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Roboto Condense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Roboto Condensed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Southwire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Protecting Time to Power - Combined Rev14</dc:title>
  <dc:subject>NRG executive working discussion - combined Rev13 narrative and Rev10 evidence</dc:subject>
  <dc:creator>Stephan Hardt | Southwire</dc:creator>
  <cp:lastModifiedBy>Stephan Hardt | Southwire</cp:lastModifiedBy>
  <cp:revision>1</cp:revision>
  <dcterms:created xsi:type="dcterms:W3CDTF">2026-08-14T01:31:56Z</dcterms:created>
  <dcterms:modified xsi:type="dcterms:W3CDTF">2026-08-14T01:31:56Z</dcterms:modified>
</cp:coreProperties>
</file>