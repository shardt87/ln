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5.xml" ContentType="application/vnd.openxmlformats-officedocument.presentationml.slide+xml"/>
  <Override PartName="/ppt/slides/slide26.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81" r:id="rId3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31"/>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  <Relationship Id="rId31" Type="http://schemas.openxmlformats.org/officeDocument/2006/relationships/slide" Target="slides/slide25.xml"/>
  <Relationship Id="rId32" Type="http://schemas.openxmlformats.org/officeDocument/2006/relationships/slide" Target="slides/slide26.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value levers, condensed from the fuller Owner's-Math treatment. The four cards map electrical delivery to the outcomes an owner prices: COD, installed cost, capital certainty, availability. The dollar arithmetic behind the adjacent-experience benchmark lives in Appendix A14, behind the A4 release gate — go there only if the room asks what the hours are worth.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_WIDE">
    <p:bg>
      <p:bgPr>
        <a:solidFill>
          <a:srgbClr val="F6F3EE"/>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slideLayout" Target="../slideLayouts/slideLayout2.xml" /><Relationship Type="http://schemas.openxmlformats.org/officeDocument/2006/relationships/image" Target="../media/r9-image.jpeg" Id="R0f6abb0571bc450c" /><Relationship Type="http://schemas.openxmlformats.org/officeDocument/2006/relationships/image" Target="../media/r9-image2.jpeg" Id="Re8f8611cb8914760" /><Relationship Id="rId4" Type="http://schemas.openxmlformats.org/officeDocument/2006/relationships/notesSlide" Target="../notesSlides/notesSlide1.xml" /></Relationships>
</file>

<file path=ppt/slides/_rels/slide2.xml.rels><?xml version="1.0" encoding="UTF-8"?><Relationships xmlns="http://schemas.openxmlformats.org/package/2006/relationships"><Relationship Id="rId3" Type="http://schemas.openxmlformats.org/officeDocument/2006/relationships/slideLayout" Target="../slideLayouts/slideLayout2.xml" /><Relationship Type="http://schemas.openxmlformats.org/officeDocument/2006/relationships/image" Target="../media/r9-image3.jpeg" Id="Rc876737220024471" /><Relationship Id="rId4" Type="http://schemas.openxmlformats.org/officeDocument/2006/relationships/notesSlide" Target="../notesSlides/notesSlide2.xml" /></Relationships>
</file>

<file path=ppt/slides/_rels/slide3.xml.rels><?xml version="1.0" encoding="UTF-8"?><Relationships xmlns="http://schemas.openxmlformats.org/package/2006/relationships"><Relationship Id="rId3" Type="http://schemas.openxmlformats.org/officeDocument/2006/relationships/slideLayout" Target="../slideLayouts/slideLayout2.xml" /><Relationship Type="http://schemas.openxmlformats.org/officeDocument/2006/relationships/image" Target="../media/r9-image4.jpeg" Id="Rfc1affae7cb74e1e" /><Relationship Id="rId4" Type="http://schemas.openxmlformats.org/officeDocument/2006/relationships/notesSlide" Target="../notesSlides/notesSlide3.xml" /></Relationships>
</file>

<file path=ppt/slides/_rels/slide4.xml.rels><?xml version="1.0" encoding="UTF-8"?><Relationships xmlns="http://schemas.openxmlformats.org/package/2006/relationships"><Relationship Id="rId3" Type="http://schemas.openxmlformats.org/officeDocument/2006/relationships/slideLayout" Target="../slideLayouts/slideLayout2.xml" /><Relationship Type="http://schemas.openxmlformats.org/officeDocument/2006/relationships/image" Target="../media/r9-image5.jpeg" Id="R4defc997f92c418d" /><Relationship Id="rId4" Type="http://schemas.openxmlformats.org/officeDocument/2006/relationships/notesSlide" Target="../notesSlides/notesSlide4.xml" /></Relationships>
</file>

<file path=ppt/slides/_rels/slide5.xml.rels><?xml version="1.0" encoding="UTF-8"?><Relationships xmlns="http://schemas.openxmlformats.org/package/2006/relationships"><Relationship Id="rId3" Type="http://schemas.openxmlformats.org/officeDocument/2006/relationships/slideLayout" Target="../slideLayouts/slideLayout2.xml" /><Relationship Type="http://schemas.openxmlformats.org/officeDocument/2006/relationships/image" Target="../media/r9-image13.jpeg" Id="R9278081788d04e04" /><Relationship Type="http://schemas.openxmlformats.org/officeDocument/2006/relationships/image" Target="../media/r9-image14.jpeg" Id="R9ba0958dc14b4dd2" /><Relationship Id="rId4" Type="http://schemas.openxmlformats.org/officeDocument/2006/relationships/notesSlide" Target="../notesSlides/notesSlide5.xml" /></Relationships>
</file>

<file path=ppt/slides/_rels/slide6.xml.rels><?xml version="1.0" encoding="UTF-8"?><Relationships xmlns="http://schemas.openxmlformats.org/package/2006/relationships"><Relationship Id="rId3" Type="http://schemas.openxmlformats.org/officeDocument/2006/relationships/slideLayout" Target="../slideLayouts/slideLayout2.xml" /><Relationship Type="http://schemas.openxmlformats.org/officeDocument/2006/relationships/image" Target="../media/r9-image6.jpeg" Id="Re9945691857c4426" /><Relationship Id="rId4" Type="http://schemas.openxmlformats.org/officeDocument/2006/relationships/notesSlide" Target="../notesSlides/notesSlide6.xml" /></Relationships>
</file>

<file path=ppt/slides/_rels/slide7.xml.rels><?xml version="1.0" encoding="UTF-8"?><Relationships xmlns="http://schemas.openxmlformats.org/package/2006/relationships"><Relationship Id="rId3" Type="http://schemas.openxmlformats.org/officeDocument/2006/relationships/slideLayout" Target="../slideLayouts/slideLayout2.xml" /><Relationship Type="http://schemas.openxmlformats.org/officeDocument/2006/relationships/image" Target="../media/r9-image7.jpeg" Id="Re541a94199674e25" /><Relationship Id="rId4" Type="http://schemas.openxmlformats.org/officeDocument/2006/relationships/notesSlide" Target="../notesSlides/notesSlide7.xml" /></Relationships>
</file>

<file path=ppt/slides/_rels/slide8.xml.rels><?xml version="1.0" encoding="UTF-8"?><Relationships xmlns="http://schemas.openxmlformats.org/package/2006/relationships"><Relationship Id="rId1" Type="http://schemas.openxmlformats.org/officeDocument/2006/relationships/image" Target="../media/logo-lockup.png" /><Relationship Id="rId3" Type="http://schemas.openxmlformats.org/officeDocument/2006/relationships/slideLayout" Target="../slideLayouts/slideLayout2.xml" /><Relationship Id="rId4" Type="http://schemas.openxmlformats.org/officeDocument/2006/relationships/notesSlide" Target="../notesSlides/notesSlide8.xml" /></Relationships>
</file>

<file path=ppt/slides/_rels/slide9.xml.rels><?xml version="1.0" encoding="UTF-8"?><Relationships xmlns="http://schemas.openxmlformats.org/package/2006/relationships"><Relationship Id="rId3" Type="http://schemas.openxmlformats.org/officeDocument/2006/relationships/slideLayout" Target="../slideLayouts/slideLayout2.xml" /><Relationship Type="http://schemas.openxmlformats.org/officeDocument/2006/relationships/image" Target="../media/r9-image8.jpeg" Id="R7ee1c5f2262e4319" /><Relationship Id="rId4" Type="http://schemas.openxmlformats.org/officeDocument/2006/relationships/notesSlide" Target="../notesSlides/notesSlide9.xml" /></Relationships>
</file>

<file path=ppt/slides/_rels/slide10.xml.rels><?xml version="1.0" encoding="UTF-8"?><Relationships xmlns="http://schemas.openxmlformats.org/package/2006/relationships"><Relationship Id="rId3" Type="http://schemas.openxmlformats.org/officeDocument/2006/relationships/slideLayout" Target="../slideLayouts/slideLayout2.xml" /><Relationship Type="http://schemas.openxmlformats.org/officeDocument/2006/relationships/image" Target="../media/r9-image9.jpeg" Id="Raf48650a3c4a4d07" /><Relationship Id="rId4" Type="http://schemas.openxmlformats.org/officeDocument/2006/relationships/notesSlide" Target="../notesSlides/notesSlide10.xml" /></Relationships>
</file>

<file path=ppt/slides/_rels/slide11.xml.rels><?xml version="1.0" encoding="UTF-8"?><Relationships xmlns="http://schemas.openxmlformats.org/package/2006/relationships"><Relationship Id="rId3" Type="http://schemas.openxmlformats.org/officeDocument/2006/relationships/slideLayout" Target="../slideLayouts/slideLayout2.xml" /><Relationship Type="http://schemas.openxmlformats.org/officeDocument/2006/relationships/image" Target="../media/r9-image10.jpeg" Id="R3d7090369bf04fb9" /><Relationship Id="rId4" Type="http://schemas.openxmlformats.org/officeDocument/2006/relationships/notesSlide" Target="../notesSlides/notesSlide11.xml" /></Relationships>
</file>

<file path=ppt/slides/_rels/slide12.xml.rels><?xml version="1.0" encoding="UTF-8"?><Relationships xmlns="http://schemas.openxmlformats.org/package/2006/relationships"><Relationship Id="rId3" Type="http://schemas.openxmlformats.org/officeDocument/2006/relationships/slideLayout" Target="../slideLayouts/slideLayout2.xml" /><Relationship Type="http://schemas.openxmlformats.org/officeDocument/2006/relationships/image" Target="../media/r9-image11.jpeg" Id="R48e2a3d3733b4264" /><Relationship Id="rId4" Type="http://schemas.openxmlformats.org/officeDocument/2006/relationships/notesSlide" Target="../notesSlides/notesSlide12.xml" /></Relationships>
</file>

<file path=ppt/slides/_rels/slide13.xml.rels><?xml version="1.0" encoding="UTF-8"?><Relationships xmlns="http://schemas.openxmlformats.org/package/2006/relationships"><Relationship Id="rId3" Type="http://schemas.openxmlformats.org/officeDocument/2006/relationships/slideLayout" Target="../slideLayouts/slideLayout2.xml" /><Relationship Type="http://schemas.openxmlformats.org/officeDocument/2006/relationships/image" Target="../media/r9-image12.jpeg" Id="R0d68d762455049bf" /><Relationship Id="rId4" Type="http://schemas.openxmlformats.org/officeDocument/2006/relationships/notesSlide" Target="../notesSlides/notesSlide13.xml" /></Relationships>
</file>

<file path=ppt/slides/_rels/slide14.xml.rels><?xml version="1.0" encoding="UTF-8"?><Relationships xmlns="http://schemas.openxmlformats.org/package/2006/relationships"><Relationship Id="rId1" Type="http://schemas.openxmlformats.org/officeDocument/2006/relationships/image" Target="../media/logo-lockup.png" /><Relationship Id="rId3" Type="http://schemas.openxmlformats.org/officeDocument/2006/relationships/slideLayout" Target="../slideLayouts/slideLayout2.xml" /><Relationship Id="rId4" Type="http://schemas.openxmlformats.org/officeDocument/2006/relationships/notesSlide" Target="../notesSlides/notesSlide14.xml" /></Relationships>
</file>

<file path=ppt/slides/_rels/slide15.xml.rels><?xml version="1.0" encoding="UTF-8"?><Relationships xmlns="http://schemas.openxmlformats.org/package/2006/relationships"><Relationship Id="rId1" Type="http://schemas.openxmlformats.org/officeDocument/2006/relationships/image" Target="../media/logo-lockup.png" /><Relationship Id="rId3" Type="http://schemas.openxmlformats.org/officeDocument/2006/relationships/slideLayout" Target="../slideLayouts/slideLayout2.xml" /><Relationship Id="rId4" Type="http://schemas.openxmlformats.org/officeDocument/2006/relationships/notesSlide" Target="../notesSlides/notesSlide15.xml" /></Relationships>
</file>

<file path=ppt/slides/_rels/slide16.xml.rels><?xml version="1.0" encoding="UTF-8"?><Relationships xmlns="http://schemas.openxmlformats.org/package/2006/relationships"><Relationship Id="rId1" Type="http://schemas.openxmlformats.org/officeDocument/2006/relationships/image" Target="../media/logo-lockup.png" /><Relationship Id="rId3" Type="http://schemas.openxmlformats.org/officeDocument/2006/relationships/slideLayout" Target="../slideLayouts/slideLayout2.xml" /><Relationship Id="rId4" Type="http://schemas.openxmlformats.org/officeDocument/2006/relationships/notesSlide" Target="../notesSlides/notesSlide16.xml" /></Relationships>
</file>

<file path=ppt/slides/_rels/slide17.xml.rels><?xml version="1.0" encoding="UTF-8"?><Relationships xmlns="http://schemas.openxmlformats.org/package/2006/relationships"><Relationship Id="rId1" Type="http://schemas.openxmlformats.org/officeDocument/2006/relationships/image" Target="../media/logo-lockup.png" /><Relationship Id="rId3" Type="http://schemas.openxmlformats.org/officeDocument/2006/relationships/slideLayout" Target="../slideLayouts/slideLayout2.xml" /><Relationship Id="Rsk120" Type="http://schemas.openxmlformats.org/officeDocument/2006/relationships/image" Target="../media/sk120-art.png" /><Relationship Id="rId4" Type="http://schemas.openxmlformats.org/officeDocument/2006/relationships/notesSlide" Target="../notesSlides/notesSlide17.xml" /></Relationships>
</file>

<file path=ppt/slides/_rels/slide18.xml.rels><?xml version="1.0" encoding="UTF-8"?><Relationships xmlns="http://schemas.openxmlformats.org/package/2006/relationships"><Relationship Id="rId3" Type="http://schemas.openxmlformats.org/officeDocument/2006/relationships/slideLayout" Target="../slideLayouts/slideLayout2.xml" /><Relationship Type="http://schemas.openxmlformats.org/officeDocument/2006/relationships/image" Target="../media/r9-image8.jpeg" Id="R7ee1c5f2262e4319" /><Relationship Id="rId4" Type="http://schemas.openxmlformats.org/officeDocument/2006/relationships/notesSlide" Target="../notesSlides/notesSlide18.xml" /></Relationships>
</file>

<file path=ppt/slides/_rels/slide19.xml.rels><?xml version="1.0" encoding="UTF-8"?><Relationships xmlns="http://schemas.openxmlformats.org/package/2006/relationships"><Relationship Id="rId3" Type="http://schemas.openxmlformats.org/officeDocument/2006/relationships/slideLayout" Target="../slideLayouts/slideLayout2.xml" /><Relationship Type="http://schemas.openxmlformats.org/officeDocument/2006/relationships/image" Target="../media/r9-image8.jpeg" Id="R7ee1c5f2262e4319" /><Relationship Id="rId4" Type="http://schemas.openxmlformats.org/officeDocument/2006/relationships/notesSlide" Target="../notesSlides/notesSlide19.xml" /></Relationships>
</file>

<file path=ppt/slides/_rels/slide20.xml.rels><?xml version="1.0" encoding="UTF-8"?><Relationships xmlns="http://schemas.openxmlformats.org/package/2006/relationships"><Relationship Id="rId1" Type="http://schemas.openxmlformats.org/officeDocument/2006/relationships/image" Target="../media/logo-lockup.png" /><Relationship Id="rId3" Type="http://schemas.openxmlformats.org/officeDocument/2006/relationships/slideLayout" Target="../slideLayouts/slideLayout2.xml" /><Relationship Id="rId4" Type="http://schemas.openxmlformats.org/officeDocument/2006/relationships/notesSlide" Target="../notesSlides/notesSlide20.xml" /></Relationships>
</file>

<file path=ppt/slides/_rels/slide21.xml.rels><?xml version="1.0" encoding="UTF-8"?><Relationships xmlns="http://schemas.openxmlformats.org/package/2006/relationships"><Relationship Id="rId1" Type="http://schemas.openxmlformats.org/officeDocument/2006/relationships/image" Target="../media/logo-lockup.png" /><Relationship Id="rId3" Type="http://schemas.openxmlformats.org/officeDocument/2006/relationships/slideLayout" Target="../slideLayouts/slideLayout2.xml" /><Relationship Id="rId4" Type="http://schemas.openxmlformats.org/officeDocument/2006/relationships/notesSlide" Target="../notesSlides/notesSlide21.xml" /></Relationships>
</file>

<file path=ppt/slides/_rels/slide22.xml.rels><?xml version="1.0" encoding="UTF-8"?><Relationships xmlns="http://schemas.openxmlformats.org/package/2006/relationships"><Relationship Id="rId1" Type="http://schemas.openxmlformats.org/officeDocument/2006/relationships/image" Target="../media/logo-lockup.png" /><Relationship Id="rId3" Type="http://schemas.openxmlformats.org/officeDocument/2006/relationships/slideLayout" Target="../slideLayouts/slideLayout2.xml" /><Relationship Id="rId4" Type="http://schemas.openxmlformats.org/officeDocument/2006/relationships/notesSlide" Target="../notesSlides/notesSlide22.xml" /></Relationships>
</file>

<file path=ppt/slides/_rels/slide23.xml.rels><?xml version="1.0" encoding="UTF-8"?><Relationships xmlns="http://schemas.openxmlformats.org/package/2006/relationships"><Relationship Id="rId1" Type="http://schemas.openxmlformats.org/officeDocument/2006/relationships/image" Target="../media/logo-lockup.png" /><Relationship Id="rId3" Type="http://schemas.openxmlformats.org/officeDocument/2006/relationships/slideLayout" Target="../slideLayouts/slideLayout2.xml" /><Relationship Id="rId4" Type="http://schemas.openxmlformats.org/officeDocument/2006/relationships/notesSlide" Target="../notesSlides/notesSlide23.xml" /></Relationships>
</file>

<file path=ppt/slides/_rels/slide24.xml.rels><?xml version="1.0" encoding="UTF-8"?><Relationships xmlns="http://schemas.openxmlformats.org/package/2006/relationships"><Relationship Id="rId1" Type="http://schemas.openxmlformats.org/officeDocument/2006/relationships/image" Target="../media/logo-lockup.png" /><Relationship Id="rId3" Type="http://schemas.openxmlformats.org/officeDocument/2006/relationships/slideLayout" Target="../slideLayouts/slideLayout2.xml" /><Relationship Id="rId4" Type="http://schemas.openxmlformats.org/officeDocument/2006/relationships/notesSlide" Target="../notesSlides/notesSlide24.xml" /></Relationships>
</file>

<file path=ppt/slides/_rels/slide25.xml.rels><?xml version="1.0" encoding="UTF-8"?><Relationships xmlns="http://schemas.openxmlformats.org/package/2006/relationships"><Relationship Id="rId1" Type="http://schemas.openxmlformats.org/officeDocument/2006/relationships/image" Target="../media/logo-lockup.png" /><Relationship Id="rId3"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image" Target="../media/logo-lockup.png" /><Relationship Id="rId3" Type="http://schemas.openxmlformats.org/officeDocument/2006/relationships/slideLayout" Target="../slideLayouts/slideLayout2.xml" /></Relationships>
</file>

<file path=ppt/slides/slide1.xml><?xml version="1.0" encoding="utf-8"?>
<p:sld xmlns:p="http://schemas.openxmlformats.org/presentationml/2006/main">
  <p:cSld>
    <p:bg>
      <p:bgPr>
        <a:solidFill xmlns:a="http://schemas.openxmlformats.org/drawingml/2006/main">
          <a:srgbClr val="22252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E35EF59-13FD-4D9A-9878-74A258A17307}"/>
              </a:ext>
            </a:extLst>
          </p:cNvPr>
          <p:cNvSpPr>
            <a:spLocks xmlns:a="http://schemas.openxmlformats.org/drawingml/2006/main" noGrp="1"/>
          </p:cNvSpPr>
          <p:nvPr/>
        </p:nvSpPr>
        <p:spPr>
          <a:xfrm xmlns:a="http://schemas.openxmlformats.org/drawingml/2006/main" rot="0">
            <a:off x="0" y="0"/>
            <a:ext cx="5619750" cy="6858000"/>
          </a:xfrm>
          <a:prstGeom xmlns:a="http://schemas.openxmlformats.org/drawingml/2006/main" prst="rect">
            <a:avLst/>
          </a:prstGeom>
          <a:solidFill xmlns:a="http://schemas.openxmlformats.org/drawingml/2006/main">
            <a:srgbClr val="17191C"/>
          </a:solidFill>
          <a:ln xmlns:a="http://schemas.openxmlformats.org/drawingml/2006/main" w="0">
            <a:no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f6abb0571bc450c"/>
          <a:srcRect xmlns:a="http://schemas.openxmlformats.org/drawingml/2006/main" l="23047" t="0" r="23047" b="0"/>
          <a:stretch xmlns:a="http://schemas.openxmlformats.org/drawingml/2006/main">
            <a:fillRect l="0" t="0" r="0" b="0"/>
          </a:stretch>
        </p:blipFill>
        <p:spPr>
          <a:xfrm xmlns:a="http://schemas.openxmlformats.org/drawingml/2006/main">
            <a:off x="5619750" y="0"/>
            <a:ext cx="657225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19C488C-3A54-4952-8BC9-B7C7596F74F7}"/>
              </a:ext>
            </a:extLst>
          </p:cNvPr>
          <p:cNvSpPr>
            <a:spLocks xmlns:a="http://schemas.openxmlformats.org/drawingml/2006/main" noGrp="1"/>
          </p:cNvSpPr>
          <p:nvPr/>
        </p:nvSpPr>
        <p:spPr>
          <a:xfrm xmlns:a="http://schemas.openxmlformats.org/drawingml/2006/main" rot="0">
            <a:off x="5581650" y="0"/>
            <a:ext cx="47625" cy="685800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8f8611cb8914760"/>
          <a:srcRect xmlns:a="http://schemas.openxmlformats.org/drawingml/2006/main" l="8984" t="0" r="8984" b="0"/>
          <a:stretch xmlns:a="http://schemas.openxmlformats.org/drawingml/2006/main">
            <a:fillRect l="0" t="0" r="0" b="0"/>
          </a:stretch>
        </p:blipFill>
        <p:spPr>
          <a:xfrm xmlns:a="http://schemas.openxmlformats.org/drawingml/2006/main">
            <a:off x="533400" y="400050"/>
            <a:ext cx="3667125" cy="6286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A5C8ACA-EC8A-4169-9061-AF45BA88993C}"/>
              </a:ext>
            </a:extLst>
          </p:cNvPr>
          <p:cNvSpPr>
            <a:spLocks xmlns:a="http://schemas.openxmlformats.org/drawingml/2006/main" noGrp="1"/>
          </p:cNvSpPr>
          <p:nvPr/>
        </p:nvSpPr>
        <p:spPr>
          <a:xfrm xmlns:a="http://schemas.openxmlformats.org/drawingml/2006/main">
            <a:off x="552450" y="1381125"/>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82" b="1" i="0">
                <a:solidFill>
                  <a:srgbClr val="E3A06D"/>
                </a:solidFill>
                <a:latin typeface="Arial"/>
                <a:ea typeface="Arial"/>
                <a:cs typeface="Arial"/>
              </a:defRPr>
            </a:pPr>
            <a:r>
              <a:rPr sz="882" b="1" i="0">
                <a:solidFill>
                  <a:srgbClr val="E3A06D"/>
                </a:solidFill>
                <a:latin typeface="Arial"/>
                <a:ea typeface="Arial"/>
                <a:cs typeface="Arial"/>
              </a:rPr>
              <a:t>PREPARED FOR NRG  |  EXECUTIVE WORKING DISCUSSION</a:t>
            </a:r>
          </a:p>
        </p:txBody>
      </p:sp>
      <p:sp>
        <p:nvSpPr>
          <p:cNvPr id="6" name="">
            <a:extLst xmlns:a="http://schemas.openxmlformats.org/drawingml/2006/main">
              <a:ext uri="{FF2B5EF4-FFF2-40B4-BE49-F238E27FC236}">
                <a16:creationId xmlns:a16="http://schemas.microsoft.com/office/drawing/2014/main" id="{23D8E28E-9D85-4F4F-9279-A2B2509B4001}"/>
              </a:ext>
            </a:extLst>
          </p:cNvPr>
          <p:cNvSpPr>
            <a:spLocks xmlns:a="http://schemas.openxmlformats.org/drawingml/2006/main" noGrp="1"/>
          </p:cNvSpPr>
          <p:nvPr/>
        </p:nvSpPr>
        <p:spPr>
          <a:xfrm xmlns:a="http://schemas.openxmlformats.org/drawingml/2006/main">
            <a:off x="552450" y="1819275"/>
            <a:ext cx="44958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6000"/>
              </a:lnSpc>
              <a:buNone/>
              <a:defRPr sz="3654" b="1" i="0">
                <a:solidFill>
                  <a:srgbClr val="FFFFFF"/>
                </a:solidFill>
                <a:latin typeface="Arial"/>
                <a:ea typeface="Arial"/>
                <a:cs typeface="Arial"/>
              </a:defRPr>
            </a:pPr>
            <a:r>
              <a:rPr sz="3654" b="1" i="0">
                <a:solidFill>
                  <a:srgbClr val="FFFFFF"/>
                </a:solidFill>
                <a:latin typeface="Arial"/>
                <a:ea typeface="Arial"/>
                <a:cs typeface="Arial"/>
              </a:rPr>
              <a:t>PROTECTING</a:t>
            </a:r>
          </a:p>
          <a:p xmlns:a="http://schemas.openxmlformats.org/drawingml/2006/main">
            <a:pPr algn="l">
              <a:lnSpc>
                <a:spcPct val="86000"/>
              </a:lnSpc>
              <a:buNone/>
              <a:defRPr sz="3654" b="1" i="0">
                <a:solidFill>
                  <a:srgbClr val="FFFFFF"/>
                </a:solidFill>
                <a:latin typeface="Arial"/>
                <a:ea typeface="Arial"/>
                <a:cs typeface="Arial"/>
              </a:defRPr>
            </a:pPr>
            <a:r>
              <a:rPr sz="3654" b="1" i="0">
                <a:solidFill>
                  <a:srgbClr val="FFFFFF"/>
                </a:solidFill>
                <a:latin typeface="Arial"/>
                <a:ea typeface="Arial"/>
                <a:cs typeface="Arial"/>
              </a:rPr>
              <a:t>TIME TO POWER</a:t>
            </a:r>
          </a:p>
        </p:txBody>
      </p:sp>
      <p:sp>
        <p:nvSpPr>
          <p:cNvPr id="7" name="">
            <a:extLst xmlns:a="http://schemas.openxmlformats.org/drawingml/2006/main">
              <a:ext uri="{FF2B5EF4-FFF2-40B4-BE49-F238E27FC236}">
                <a16:creationId xmlns:a16="http://schemas.microsoft.com/office/drawing/2014/main" id="{36CC4DD4-571A-4425-8F57-4DD0B73AA56B}"/>
              </a:ext>
            </a:extLst>
          </p:cNvPr>
          <p:cNvSpPr>
            <a:spLocks xmlns:a="http://schemas.openxmlformats.org/drawingml/2006/main" noGrp="1"/>
          </p:cNvSpPr>
          <p:nvPr/>
        </p:nvSpPr>
        <p:spPr>
          <a:xfrm xmlns:a="http://schemas.openxmlformats.org/drawingml/2006/main">
            <a:off x="552450" y="3638550"/>
            <a:ext cx="1257300" cy="0"/>
          </a:xfrm>
          <a:prstGeom xmlns:a="http://schemas.openxmlformats.org/drawingml/2006/main" prst="line">
            <a:avLst/>
          </a:prstGeom>
          <a:noFill xmlns:a="http://schemas.openxmlformats.org/drawingml/2006/main"/>
          <a:ln xmlns:a="http://schemas.openxmlformats.org/drawingml/2006/main" w="38100">
            <a:solidFill>
              <a:srgbClr val="C9783E"/>
            </a:solidFill>
            <a:prstDash val="solid"/>
          </a:ln>
        </p:spPr>
      </p:sp>
      <p:sp>
        <p:nvSpPr>
          <p:cNvPr id="8" name="">
            <a:extLst xmlns:a="http://schemas.openxmlformats.org/drawingml/2006/main">
              <a:ext uri="{FF2B5EF4-FFF2-40B4-BE49-F238E27FC236}">
                <a16:creationId xmlns:a16="http://schemas.microsoft.com/office/drawing/2014/main" id="{BDCBD95E-78E0-414E-88E1-9AD4DFDA7D0C}"/>
              </a:ext>
            </a:extLst>
          </p:cNvPr>
          <p:cNvSpPr>
            <a:spLocks xmlns:a="http://schemas.openxmlformats.org/drawingml/2006/main" noGrp="1"/>
          </p:cNvSpPr>
          <p:nvPr/>
        </p:nvSpPr>
        <p:spPr>
          <a:xfrm xmlns:a="http://schemas.openxmlformats.org/drawingml/2006/main">
            <a:off x="552450" y="3914775"/>
            <a:ext cx="4333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D4D6D8"/>
                </a:solidFill>
                <a:latin typeface="Arial"/>
                <a:ea typeface="Arial"/>
                <a:cs typeface="Arial"/>
              </a:defRPr>
            </a:pPr>
            <a:r>
              <a:rPr sz="1725" b="0" i="0">
                <a:solidFill>
                  <a:srgbClr val="D4D6D8"/>
                </a:solidFill>
                <a:latin typeface="Arial"/>
                <a:ea typeface="Arial"/>
                <a:cs typeface="Arial"/>
              </a:rPr>
              <a:t>A working model for integrated electrical delivery across NRG's generation buildout.</a:t>
            </a:r>
          </a:p>
        </p:txBody>
      </p:sp>
      <p:sp>
        <p:nvSpPr>
          <p:cNvPr id="9" name="">
            <a:extLst xmlns:a="http://schemas.openxmlformats.org/drawingml/2006/main">
              <a:ext uri="{FF2B5EF4-FFF2-40B4-BE49-F238E27FC236}">
                <a16:creationId xmlns:a16="http://schemas.microsoft.com/office/drawing/2014/main" id="{1A0C325A-3DD2-4CE5-8C5A-4371B632F01C}"/>
              </a:ext>
            </a:extLst>
          </p:cNvPr>
          <p:cNvSpPr>
            <a:spLocks xmlns:a="http://schemas.openxmlformats.org/drawingml/2006/main" noGrp="1"/>
          </p:cNvSpPr>
          <p:nvPr/>
        </p:nvSpPr>
        <p:spPr>
          <a:xfrm xmlns:a="http://schemas.openxmlformats.org/drawingml/2006/main">
            <a:off x="552450" y="5238750"/>
            <a:ext cx="4362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1197" b="1" i="0">
                <a:solidFill>
                  <a:srgbClr val="E3A06D"/>
                </a:solidFill>
                <a:latin typeface="Arial"/>
                <a:ea typeface="Arial"/>
                <a:cs typeface="Arial"/>
              </a:defRPr>
            </a:pPr>
            <a:r>
              <a:rPr sz="1197" b="1" i="0">
                <a:solidFill>
                  <a:srgbClr val="E3A06D"/>
                </a:solidFill>
                <a:latin typeface="Arial"/>
                <a:ea typeface="Arial"/>
                <a:cs typeface="Arial"/>
              </a:rPr>
              <a:t>PRESERVE UPSTREAM CERTAINTY</a:t>
            </a:r>
          </a:p>
          <a:p xmlns:a="http://schemas.openxmlformats.org/drawingml/2006/main">
            <a:pPr algn="l">
              <a:lnSpc>
                <a:spcPct val="96000"/>
              </a:lnSpc>
              <a:buNone/>
              <a:defRPr sz="1197" b="1" i="0">
                <a:solidFill>
                  <a:srgbClr val="E3A06D"/>
                </a:solidFill>
                <a:latin typeface="Arial"/>
                <a:ea typeface="Arial"/>
                <a:cs typeface="Arial"/>
              </a:defRPr>
            </a:pPr>
            <a:r>
              <a:rPr sz="1197" b="1" i="0">
                <a:solidFill>
                  <a:srgbClr val="E3A06D"/>
                </a:solidFill>
                <a:latin typeface="Arial"/>
                <a:ea typeface="Arial"/>
                <a:cs typeface="Arial"/>
              </a:rPr>
              <a:t>THROUGH THE ELECTRICAL DELIVERY CHAIN.</a:t>
            </a:r>
          </a:p>
        </p:txBody>
      </p:sp>
      <p:sp>
        <p:nvSpPr>
          <p:cNvPr id="10" name="">
            <a:extLst xmlns:a="http://schemas.openxmlformats.org/drawingml/2006/main">
              <a:ext uri="{FF2B5EF4-FFF2-40B4-BE49-F238E27FC236}">
                <a16:creationId xmlns:a16="http://schemas.microsoft.com/office/drawing/2014/main" id="{56AE29E2-F0A4-4ED8-ABF9-D68C5DE430E9}"/>
              </a:ext>
            </a:extLst>
          </p:cNvPr>
          <p:cNvSpPr>
            <a:spLocks xmlns:a="http://schemas.openxmlformats.org/drawingml/2006/main" noGrp="1"/>
          </p:cNvSpPr>
          <p:nvPr/>
        </p:nvSpPr>
        <p:spPr>
          <a:xfrm xmlns:a="http://schemas.openxmlformats.org/drawingml/2006/main">
            <a:off x="552450" y="6334125"/>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i="0">
                <a:solidFill>
                  <a:srgbClr val="8B9094"/>
                </a:solidFill>
                <a:latin typeface="Arial"/>
                <a:ea typeface="Arial"/>
                <a:cs typeface="Arial"/>
              </a:defRPr>
            </a:pPr>
            <a:r>
              <a:rPr sz="900" b="0" i="0">
                <a:solidFill>
                  <a:srgbClr val="8B9094"/>
                </a:solidFill>
                <a:latin typeface="Arial"/>
                <a:ea typeface="Arial"/>
                <a:cs typeface="Arial"/>
              </a:rPr>
              <a:t>Stephan Hardt  |  Director, Power Generation Solutions  |  Southwire</a:t>
            </a:r>
          </a:p>
        </p:txBody>
      </p:sp>
    </p:spTree>
    <p:extLst>
      <p:ext uri="{BB962C8B-B14F-4D97-AF65-F5344CB8AC3E}">
        <p14:creationId xmlns:p14="http://schemas.microsoft.com/office/powerpoint/2010/main" val="1121985240"/>
      </p:ext>
    </p:extLst>
  </p:cSld>
</p:sld>
</file>

<file path=ppt/slides/slide2.xml><?xml version="1.0" encoding="utf-8"?>
<p:sld xmlns:p="http://schemas.openxmlformats.org/presentationml/2006/main">
  <p:cSld>
    <p:bg>
      <p:bgPr>
        <a:solidFill xmlns:a="http://schemas.openxmlformats.org/drawingml/2006/main">
          <a:srgbClr val="F6F3EE"/>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66E4675-5951-4B04-9434-499810F1190E}"/>
              </a:ext>
            </a:extLst>
          </p:cNvPr>
          <p:cNvSpPr>
            <a:spLocks xmlns:a="http://schemas.openxmlformats.org/drawingml/2006/main" noGrp="1"/>
          </p:cNvSpPr>
          <p:nvPr/>
        </p:nvSpPr>
        <p:spPr>
          <a:xfrm xmlns:a="http://schemas.openxmlformats.org/drawingml/2006/main" rot="0">
            <a:off x="0" y="0"/>
            <a:ext cx="12192000" cy="5715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c876737220024471"/>
          <a:stretch xmlns:a="http://schemas.openxmlformats.org/drawingml/2006/main"/>
        </p:blipFill>
        <p:spPr>
          <a:xfrm xmlns:a="http://schemas.openxmlformats.org/drawingml/2006/main">
            <a:off x="719138" y="200025"/>
            <a:ext cx="2066925" cy="590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8A6B4B8-1504-4592-AA89-370627FC70EF}"/>
              </a:ext>
            </a:extLst>
          </p:cNvPr>
          <p:cNvSpPr>
            <a:spLocks xmlns:a="http://schemas.openxmlformats.org/drawingml/2006/main" noGrp="1"/>
          </p:cNvSpPr>
          <p:nvPr/>
        </p:nvSpPr>
        <p:spPr>
          <a:xfrm xmlns:a="http://schemas.openxmlformats.org/drawingml/2006/main">
            <a:off x="8096250" y="3238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19" b="1" i="0">
                <a:solidFill>
                  <a:srgbClr val="9D4E24"/>
                </a:solidFill>
                <a:latin typeface="Arial"/>
                <a:ea typeface="Arial"/>
                <a:cs typeface="Arial"/>
              </a:defRPr>
            </a:pPr>
            <a:r>
              <a:rPr sz="819" b="1" i="0">
                <a:solidFill>
                  <a:srgbClr val="9D4E24"/>
                </a:solidFill>
                <a:latin typeface="Arial"/>
                <a:ea typeface="Arial"/>
                <a:cs typeface="Arial"/>
              </a:rPr>
              <a:t>NRG'S AMBITION</a:t>
            </a:r>
          </a:p>
        </p:txBody>
      </p:sp>
      <p:sp>
        <p:nvSpPr>
          <p:cNvPr id="4" name="">
            <a:extLst xmlns:a="http://schemas.openxmlformats.org/drawingml/2006/main">
              <a:ext uri="{FF2B5EF4-FFF2-40B4-BE49-F238E27FC236}">
                <a16:creationId xmlns:a16="http://schemas.microsoft.com/office/drawing/2014/main" id="{7B683341-83F3-46B5-8D72-14A3CBA811D5}"/>
              </a:ext>
            </a:extLst>
          </p:cNvPr>
          <p:cNvSpPr>
            <a:spLocks xmlns:a="http://schemas.openxmlformats.org/drawingml/2006/main" noGrp="1"/>
          </p:cNvSpPr>
          <p:nvPr/>
        </p:nvSpPr>
        <p:spPr>
          <a:xfrm xmlns:a="http://schemas.openxmlformats.org/drawingml/2006/main">
            <a:off x="11334750" y="3238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19" b="1" i="0">
                <a:solidFill>
                  <a:srgbClr val="8B9094"/>
                </a:solidFill>
                <a:latin typeface="Arial"/>
                <a:ea typeface="Arial"/>
                <a:cs typeface="Arial"/>
              </a:defRPr>
            </a:pPr>
            <a:r>
              <a:rPr sz="819" b="1" i="0">
                <a:solidFill>
                  <a:srgbClr val="8B9094"/>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6547850D-07DD-495F-8213-AA2ACF9C26D4}"/>
              </a:ext>
            </a:extLst>
          </p:cNvPr>
          <p:cNvSpPr>
            <a:spLocks xmlns:a="http://schemas.openxmlformats.org/drawingml/2006/main" noGrp="1"/>
          </p:cNvSpPr>
          <p:nvPr/>
        </p:nvSpPr>
        <p:spPr>
          <a:xfrm xmlns:a="http://schemas.openxmlformats.org/drawingml/2006/main">
            <a:off x="552450" y="876300"/>
            <a:ext cx="1104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82" b="1" i="0">
                <a:solidFill>
                  <a:srgbClr val="9D4E24"/>
                </a:solidFill>
                <a:latin typeface="Arial"/>
                <a:ea typeface="Arial"/>
                <a:cs typeface="Arial"/>
              </a:defRPr>
            </a:pPr>
            <a:r>
              <a:rPr sz="882" b="1" i="0">
                <a:solidFill>
                  <a:srgbClr val="9D4E24"/>
                </a:solidFill>
                <a:latin typeface="Arial"/>
                <a:ea typeface="Arial"/>
                <a:cs typeface="Arial"/>
              </a:rPr>
              <a:t>WHY NOW</a:t>
            </a:r>
          </a:p>
        </p:txBody>
      </p:sp>
      <p:sp>
        <p:nvSpPr>
          <p:cNvPr id="6" name="">
            <a:extLst xmlns:a="http://schemas.openxmlformats.org/drawingml/2006/main">
              <a:ext uri="{FF2B5EF4-FFF2-40B4-BE49-F238E27FC236}">
                <a16:creationId xmlns:a16="http://schemas.microsoft.com/office/drawing/2014/main" id="{4F38A040-B911-4DF8-B72F-385313FCC383}"/>
              </a:ext>
            </a:extLst>
          </p:cNvPr>
          <p:cNvSpPr>
            <a:spLocks xmlns:a="http://schemas.openxmlformats.org/drawingml/2006/main" noGrp="1"/>
          </p:cNvSpPr>
          <p:nvPr/>
        </p:nvSpPr>
        <p:spPr>
          <a:xfrm xmlns:a="http://schemas.openxmlformats.org/drawingml/2006/main">
            <a:off x="552450" y="118110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85"/>
          </a:bodyPr>
          <a:lstStyle xmlns:a="http://schemas.openxmlformats.org/drawingml/2006/main"/>
          <a:p xmlns:a="http://schemas.openxmlformats.org/drawingml/2006/main">
            <a:pPr algn="l">
              <a:lnSpc>
                <a:spcPct val="94000"/>
              </a:lnSpc>
              <a:buNone/>
              <a:defRPr sz="2850" b="1" i="0">
                <a:solidFill>
                  <a:srgbClr val="17191C"/>
                </a:solidFill>
                <a:latin typeface="Arial"/>
                <a:ea typeface="Arial"/>
                <a:cs typeface="Arial"/>
              </a:defRPr>
            </a:pPr>
            <a:r>
              <a:rPr sz="2850" b="1" i="0">
                <a:solidFill>
                  <a:srgbClr val="17191C"/>
                </a:solidFill>
                <a:latin typeface="Arial"/>
                <a:ea typeface="Arial"/>
                <a:cs typeface="Arial"/>
              </a:rPr>
              <a:t>NRG's growth agenda creates three distinct electrical-delivery environments.</a:t>
            </a:r>
          </a:p>
        </p:txBody>
      </p:sp>
      <p:sp>
        <p:nvSpPr>
          <p:cNvPr id="7" name="">
            <a:extLst xmlns:a="http://schemas.openxmlformats.org/drawingml/2006/main">
              <a:ext uri="{FF2B5EF4-FFF2-40B4-BE49-F238E27FC236}">
                <a16:creationId xmlns:a16="http://schemas.microsoft.com/office/drawing/2014/main" id="{585E8570-5C5C-4B3D-9D49-CC264D462983}"/>
              </a:ext>
            </a:extLst>
          </p:cNvPr>
          <p:cNvSpPr>
            <a:spLocks xmlns:a="http://schemas.openxmlformats.org/drawingml/2006/main" noGrp="1"/>
          </p:cNvSpPr>
          <p:nvPr/>
        </p:nvSpPr>
        <p:spPr>
          <a:xfrm xmlns:a="http://schemas.openxmlformats.org/drawingml/2006/main">
            <a:off x="552450" y="2152650"/>
            <a:ext cx="32194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213" b="1" i="0">
                <a:solidFill>
                  <a:srgbClr val="17191C"/>
                </a:solidFill>
                <a:latin typeface="Arial"/>
                <a:ea typeface="Arial"/>
                <a:cs typeface="Arial"/>
              </a:defRPr>
            </a:pPr>
            <a:r>
              <a:rPr sz="3213" b="1" i="0">
                <a:solidFill>
                  <a:srgbClr val="17191C"/>
                </a:solidFill>
                <a:latin typeface="Arial"/>
                <a:ea typeface="Arial"/>
                <a:cs typeface="Arial"/>
              </a:rPr>
              <a:t>1.5 GW</a:t>
            </a:r>
          </a:p>
        </p:txBody>
      </p:sp>
      <p:sp>
        <p:nvSpPr>
          <p:cNvPr id="8" name="">
            <a:extLst xmlns:a="http://schemas.openxmlformats.org/drawingml/2006/main">
              <a:ext uri="{FF2B5EF4-FFF2-40B4-BE49-F238E27FC236}">
                <a16:creationId xmlns:a16="http://schemas.microsoft.com/office/drawing/2014/main" id="{C0B15914-1A5A-47FF-8097-D6EB9E4B9711}"/>
              </a:ext>
            </a:extLst>
          </p:cNvPr>
          <p:cNvSpPr>
            <a:spLocks xmlns:a="http://schemas.openxmlformats.org/drawingml/2006/main" noGrp="1"/>
          </p:cNvSpPr>
          <p:nvPr/>
        </p:nvSpPr>
        <p:spPr>
          <a:xfrm xmlns:a="http://schemas.openxmlformats.org/drawingml/2006/main">
            <a:off x="552450" y="28670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71" b="1" i="0">
                <a:solidFill>
                  <a:srgbClr val="9D4E24"/>
                </a:solidFill>
                <a:latin typeface="Arial"/>
                <a:ea typeface="Arial"/>
                <a:cs typeface="Arial"/>
              </a:defRPr>
            </a:pPr>
            <a:r>
              <a:rPr sz="1071" b="1" i="0">
                <a:solidFill>
                  <a:srgbClr val="9D4E24"/>
                </a:solidFill>
                <a:latin typeface="Arial"/>
                <a:ea typeface="Arial"/>
                <a:cs typeface="Arial"/>
              </a:rPr>
              <a:t>TEF PORTFOLIO</a:t>
            </a:r>
          </a:p>
        </p:txBody>
      </p:sp>
      <p:sp>
        <p:nvSpPr>
          <p:cNvPr id="9" name="">
            <a:extLst xmlns:a="http://schemas.openxmlformats.org/drawingml/2006/main">
              <a:ext uri="{FF2B5EF4-FFF2-40B4-BE49-F238E27FC236}">
                <a16:creationId xmlns:a16="http://schemas.microsoft.com/office/drawing/2014/main" id="{12342725-D677-4F0E-B596-4D4ACAADEAF6}"/>
              </a:ext>
            </a:extLst>
          </p:cNvPr>
          <p:cNvSpPr>
            <a:spLocks xmlns:a="http://schemas.openxmlformats.org/drawingml/2006/main" noGrp="1"/>
          </p:cNvSpPr>
          <p:nvPr/>
        </p:nvSpPr>
        <p:spPr>
          <a:xfrm xmlns:a="http://schemas.openxmlformats.org/drawingml/2006/main">
            <a:off x="552450" y="3305175"/>
            <a:ext cx="314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6A6F73"/>
                </a:solidFill>
                <a:latin typeface="Arial"/>
                <a:ea typeface="Arial"/>
                <a:cs typeface="Arial"/>
              </a:defRPr>
            </a:pPr>
            <a:r>
              <a:rPr sz="1425" b="0" i="0">
                <a:solidFill>
                  <a:srgbClr val="6A6F73"/>
                </a:solidFill>
                <a:latin typeface="Arial"/>
                <a:ea typeface="Arial"/>
                <a:cs typeface="Arial"/>
              </a:rPr>
              <a:t>One project operating; two targeting mid-2028.</a:t>
            </a:r>
          </a:p>
        </p:txBody>
      </p:sp>
      <p:sp>
        <p:nvSpPr>
          <p:cNvPr id="10" name="">
            <a:extLst xmlns:a="http://schemas.openxmlformats.org/drawingml/2006/main">
              <a:ext uri="{FF2B5EF4-FFF2-40B4-BE49-F238E27FC236}">
                <a16:creationId xmlns:a16="http://schemas.microsoft.com/office/drawing/2014/main" id="{6E7FF9E3-510C-4692-A02F-E3428EDB830D}"/>
              </a:ext>
            </a:extLst>
          </p:cNvPr>
          <p:cNvSpPr>
            <a:spLocks xmlns:a="http://schemas.openxmlformats.org/drawingml/2006/main" noGrp="1"/>
          </p:cNvSpPr>
          <p:nvPr/>
        </p:nvSpPr>
        <p:spPr>
          <a:xfrm xmlns:a="http://schemas.openxmlformats.org/drawingml/2006/main">
            <a:off x="552450" y="4419600"/>
            <a:ext cx="2476500" cy="0"/>
          </a:xfrm>
          <a:prstGeom xmlns:a="http://schemas.openxmlformats.org/drawingml/2006/main" prst="line">
            <a:avLst/>
          </a:prstGeom>
          <a:noFill xmlns:a="http://schemas.openxmlformats.org/drawingml/2006/main"/>
          <a:ln xmlns:a="http://schemas.openxmlformats.org/drawingml/2006/main" w="19050">
            <a:solidFill>
              <a:srgbClr val="D8D1C8"/>
            </a:solidFill>
            <a:prstDash val="solid"/>
          </a:ln>
        </p:spPr>
      </p:sp>
      <p:sp>
        <p:nvSpPr>
          <p:cNvPr id="11" name="">
            <a:extLst xmlns:a="http://schemas.openxmlformats.org/drawingml/2006/main">
              <a:ext uri="{FF2B5EF4-FFF2-40B4-BE49-F238E27FC236}">
                <a16:creationId xmlns:a16="http://schemas.microsoft.com/office/drawing/2014/main" id="{2F22E6A1-300D-4C60-8794-03A189E7E173}"/>
              </a:ext>
            </a:extLst>
          </p:cNvPr>
          <p:cNvSpPr>
            <a:spLocks xmlns:a="http://schemas.openxmlformats.org/drawingml/2006/main" noGrp="1"/>
          </p:cNvSpPr>
          <p:nvPr/>
        </p:nvSpPr>
        <p:spPr>
          <a:xfrm xmlns:a="http://schemas.openxmlformats.org/drawingml/2006/main">
            <a:off x="4076700" y="2295525"/>
            <a:ext cx="0" cy="2200275"/>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12" name="">
            <a:extLst xmlns:a="http://schemas.openxmlformats.org/drawingml/2006/main">
              <a:ext uri="{FF2B5EF4-FFF2-40B4-BE49-F238E27FC236}">
                <a16:creationId xmlns:a16="http://schemas.microsoft.com/office/drawing/2014/main" id="{85AC63B9-A54E-4F34-B90F-101BBBE1B815}"/>
              </a:ext>
            </a:extLst>
          </p:cNvPr>
          <p:cNvSpPr>
            <a:spLocks xmlns:a="http://schemas.openxmlformats.org/drawingml/2006/main" noGrp="1"/>
          </p:cNvSpPr>
          <p:nvPr/>
        </p:nvSpPr>
        <p:spPr>
          <a:xfrm xmlns:a="http://schemas.openxmlformats.org/drawingml/2006/main">
            <a:off x="4333875" y="2152650"/>
            <a:ext cx="32194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213" b="1" i="0">
                <a:solidFill>
                  <a:srgbClr val="9D4E24"/>
                </a:solidFill>
                <a:latin typeface="Arial"/>
                <a:ea typeface="Arial"/>
                <a:cs typeface="Arial"/>
              </a:defRPr>
            </a:pPr>
            <a:r>
              <a:rPr sz="3213" b="1" i="0">
                <a:solidFill>
                  <a:srgbClr val="9D4E24"/>
                </a:solidFill>
                <a:latin typeface="Arial"/>
                <a:ea typeface="Arial"/>
                <a:cs typeface="Arial"/>
              </a:rPr>
              <a:t>5.4 GW</a:t>
            </a:r>
          </a:p>
        </p:txBody>
      </p:sp>
      <p:sp>
        <p:nvSpPr>
          <p:cNvPr id="13" name="">
            <a:extLst xmlns:a="http://schemas.openxmlformats.org/drawingml/2006/main">
              <a:ext uri="{FF2B5EF4-FFF2-40B4-BE49-F238E27FC236}">
                <a16:creationId xmlns:a16="http://schemas.microsoft.com/office/drawing/2014/main" id="{A7F31A44-BB0F-400C-9475-083A791E8FA3}"/>
              </a:ext>
            </a:extLst>
          </p:cNvPr>
          <p:cNvSpPr>
            <a:spLocks xmlns:a="http://schemas.openxmlformats.org/drawingml/2006/main" noGrp="1"/>
          </p:cNvSpPr>
          <p:nvPr/>
        </p:nvSpPr>
        <p:spPr>
          <a:xfrm xmlns:a="http://schemas.openxmlformats.org/drawingml/2006/main">
            <a:off x="4333875" y="28670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71" b="1" i="0">
                <a:solidFill>
                  <a:srgbClr val="9D4E24"/>
                </a:solidFill>
                <a:latin typeface="Arial"/>
                <a:ea typeface="Arial"/>
                <a:cs typeface="Arial"/>
              </a:defRPr>
            </a:pPr>
            <a:r>
              <a:rPr sz="1071" b="1" i="0">
                <a:solidFill>
                  <a:srgbClr val="9D4E24"/>
                </a:solidFill>
                <a:latin typeface="Arial"/>
                <a:ea typeface="Arial"/>
                <a:cs typeface="Arial"/>
              </a:rPr>
              <a:t>NEWBUILD DEVELOPMENT</a:t>
            </a:r>
          </a:p>
        </p:txBody>
      </p:sp>
      <p:sp>
        <p:nvSpPr>
          <p:cNvPr id="14" name="">
            <a:extLst xmlns:a="http://schemas.openxmlformats.org/drawingml/2006/main">
              <a:ext uri="{FF2B5EF4-FFF2-40B4-BE49-F238E27FC236}">
                <a16:creationId xmlns:a16="http://schemas.microsoft.com/office/drawing/2014/main" id="{AE9750CE-3881-40C1-B74E-35447A1C51EF}"/>
              </a:ext>
            </a:extLst>
          </p:cNvPr>
          <p:cNvSpPr>
            <a:spLocks xmlns:a="http://schemas.openxmlformats.org/drawingml/2006/main" noGrp="1"/>
          </p:cNvSpPr>
          <p:nvPr/>
        </p:nvSpPr>
        <p:spPr>
          <a:xfrm xmlns:a="http://schemas.openxmlformats.org/drawingml/2006/main">
            <a:off x="4333875" y="3305175"/>
            <a:ext cx="314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6A6F73"/>
                </a:solidFill>
                <a:latin typeface="Arial"/>
                <a:ea typeface="Arial"/>
                <a:cs typeface="Arial"/>
              </a:defRPr>
            </a:pPr>
            <a:r>
              <a:rPr sz="1425" b="0" i="0">
                <a:solidFill>
                  <a:srgbClr val="6A6F73"/>
                </a:solidFill>
                <a:latin typeface="Arial"/>
                <a:ea typeface="Arial"/>
                <a:cs typeface="Arial"/>
              </a:rPr>
              <a:t>Turbine and EPC access supports a runway through 2032.</a:t>
            </a:r>
          </a:p>
        </p:txBody>
      </p:sp>
      <p:sp>
        <p:nvSpPr>
          <p:cNvPr id="15" name="">
            <a:extLst xmlns:a="http://schemas.openxmlformats.org/drawingml/2006/main">
              <a:ext uri="{FF2B5EF4-FFF2-40B4-BE49-F238E27FC236}">
                <a16:creationId xmlns:a16="http://schemas.microsoft.com/office/drawing/2014/main" id="{6AB3BEB2-048A-4133-A906-55D0EE96DB45}"/>
              </a:ext>
            </a:extLst>
          </p:cNvPr>
          <p:cNvSpPr>
            <a:spLocks xmlns:a="http://schemas.openxmlformats.org/drawingml/2006/main" noGrp="1"/>
          </p:cNvSpPr>
          <p:nvPr/>
        </p:nvSpPr>
        <p:spPr>
          <a:xfrm xmlns:a="http://schemas.openxmlformats.org/drawingml/2006/main">
            <a:off x="4333875" y="4419600"/>
            <a:ext cx="2476500" cy="0"/>
          </a:xfrm>
          <a:prstGeom xmlns:a="http://schemas.openxmlformats.org/drawingml/2006/main" prst="line">
            <a:avLst/>
          </a:prstGeom>
          <a:noFill xmlns:a="http://schemas.openxmlformats.org/drawingml/2006/main"/>
          <a:ln xmlns:a="http://schemas.openxmlformats.org/drawingml/2006/main" w="38100">
            <a:solidFill>
              <a:srgbClr val="C9783E"/>
            </a:solidFill>
            <a:prstDash val="solid"/>
          </a:ln>
        </p:spPr>
      </p:sp>
      <p:sp>
        <p:nvSpPr>
          <p:cNvPr id="16" name="">
            <a:extLst xmlns:a="http://schemas.openxmlformats.org/drawingml/2006/main">
              <a:ext uri="{FF2B5EF4-FFF2-40B4-BE49-F238E27FC236}">
                <a16:creationId xmlns:a16="http://schemas.microsoft.com/office/drawing/2014/main" id="{F0BFF0A4-4D7B-4A87-991E-9BC0D59E5639}"/>
              </a:ext>
            </a:extLst>
          </p:cNvPr>
          <p:cNvSpPr>
            <a:spLocks xmlns:a="http://schemas.openxmlformats.org/drawingml/2006/main" noGrp="1"/>
          </p:cNvSpPr>
          <p:nvPr/>
        </p:nvSpPr>
        <p:spPr>
          <a:xfrm xmlns:a="http://schemas.openxmlformats.org/drawingml/2006/main">
            <a:off x="7858125" y="2295525"/>
            <a:ext cx="0" cy="2200275"/>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17" name="">
            <a:extLst xmlns:a="http://schemas.openxmlformats.org/drawingml/2006/main">
              <a:ext uri="{FF2B5EF4-FFF2-40B4-BE49-F238E27FC236}">
                <a16:creationId xmlns:a16="http://schemas.microsoft.com/office/drawing/2014/main" id="{DF219BED-A9F1-4C79-B716-1ADD50424008}"/>
              </a:ext>
            </a:extLst>
          </p:cNvPr>
          <p:cNvSpPr>
            <a:spLocks xmlns:a="http://schemas.openxmlformats.org/drawingml/2006/main" noGrp="1"/>
          </p:cNvSpPr>
          <p:nvPr/>
        </p:nvSpPr>
        <p:spPr>
          <a:xfrm xmlns:a="http://schemas.openxmlformats.org/drawingml/2006/main">
            <a:off x="8115300" y="2152650"/>
            <a:ext cx="32194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213" b="1" i="0">
                <a:solidFill>
                  <a:srgbClr val="17191C"/>
                </a:solidFill>
                <a:latin typeface="Arial"/>
                <a:ea typeface="Arial"/>
                <a:cs typeface="Arial"/>
              </a:defRPr>
            </a:pPr>
            <a:r>
              <a:rPr sz="3213" b="1" i="0">
                <a:solidFill>
                  <a:srgbClr val="17191C"/>
                </a:solidFill>
                <a:latin typeface="Arial"/>
                <a:ea typeface="Arial"/>
                <a:cs typeface="Arial"/>
              </a:rPr>
              <a:t>25.8 GW</a:t>
            </a:r>
          </a:p>
        </p:txBody>
      </p:sp>
      <p:sp>
        <p:nvSpPr>
          <p:cNvPr id="18" name="">
            <a:extLst xmlns:a="http://schemas.openxmlformats.org/drawingml/2006/main">
              <a:ext uri="{FF2B5EF4-FFF2-40B4-BE49-F238E27FC236}">
                <a16:creationId xmlns:a16="http://schemas.microsoft.com/office/drawing/2014/main" id="{95EE091B-9B90-4C14-9D65-A21C07AF8F87}"/>
              </a:ext>
            </a:extLst>
          </p:cNvPr>
          <p:cNvSpPr>
            <a:spLocks xmlns:a="http://schemas.openxmlformats.org/drawingml/2006/main" noGrp="1"/>
          </p:cNvSpPr>
          <p:nvPr/>
        </p:nvSpPr>
        <p:spPr>
          <a:xfrm xmlns:a="http://schemas.openxmlformats.org/drawingml/2006/main">
            <a:off x="8115300" y="28670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71" b="1" i="0">
                <a:solidFill>
                  <a:srgbClr val="9D4E24"/>
                </a:solidFill>
                <a:latin typeface="Arial"/>
                <a:ea typeface="Arial"/>
                <a:cs typeface="Arial"/>
              </a:defRPr>
            </a:pPr>
            <a:r>
              <a:rPr sz="1071" b="1" i="0">
                <a:solidFill>
                  <a:srgbClr val="9D4E24"/>
                </a:solidFill>
                <a:latin typeface="Arial"/>
                <a:ea typeface="Arial"/>
                <a:cs typeface="Arial"/>
              </a:rPr>
              <a:t>OPERATING FLEET</a:t>
            </a:r>
          </a:p>
        </p:txBody>
      </p:sp>
      <p:sp>
        <p:nvSpPr>
          <p:cNvPr id="19" name="">
            <a:extLst xmlns:a="http://schemas.openxmlformats.org/drawingml/2006/main">
              <a:ext uri="{FF2B5EF4-FFF2-40B4-BE49-F238E27FC236}">
                <a16:creationId xmlns:a16="http://schemas.microsoft.com/office/drawing/2014/main" id="{CEB1CC97-064A-408F-8742-A2ED5BF80241}"/>
              </a:ext>
            </a:extLst>
          </p:cNvPr>
          <p:cNvSpPr>
            <a:spLocks xmlns:a="http://schemas.openxmlformats.org/drawingml/2006/main" noGrp="1"/>
          </p:cNvSpPr>
          <p:nvPr/>
        </p:nvSpPr>
        <p:spPr>
          <a:xfrm xmlns:a="http://schemas.openxmlformats.org/drawingml/2006/main">
            <a:off x="8115300" y="3305175"/>
            <a:ext cx="314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6A6F73"/>
                </a:solidFill>
                <a:latin typeface="Arial"/>
                <a:ea typeface="Arial"/>
                <a:cs typeface="Arial"/>
              </a:defRPr>
            </a:pPr>
            <a:r>
              <a:rPr sz="1425" b="0" i="0">
                <a:solidFill>
                  <a:srgbClr val="6A6F73"/>
                </a:solidFill>
                <a:latin typeface="Arial"/>
                <a:ea typeface="Arial"/>
                <a:cs typeface="Arial"/>
              </a:rPr>
              <a:t>Approximately 1-2 GW of upgrades under evaluation.</a:t>
            </a:r>
          </a:p>
        </p:txBody>
      </p:sp>
      <p:sp>
        <p:nvSpPr>
          <p:cNvPr id="20" name="">
            <a:extLst xmlns:a="http://schemas.openxmlformats.org/drawingml/2006/main">
              <a:ext uri="{FF2B5EF4-FFF2-40B4-BE49-F238E27FC236}">
                <a16:creationId xmlns:a16="http://schemas.microsoft.com/office/drawing/2014/main" id="{CB913D1F-659E-49F6-8754-8492FDDBECD7}"/>
              </a:ext>
            </a:extLst>
          </p:cNvPr>
          <p:cNvSpPr>
            <a:spLocks xmlns:a="http://schemas.openxmlformats.org/drawingml/2006/main" noGrp="1"/>
          </p:cNvSpPr>
          <p:nvPr/>
        </p:nvSpPr>
        <p:spPr>
          <a:xfrm xmlns:a="http://schemas.openxmlformats.org/drawingml/2006/main">
            <a:off x="8115300" y="4419600"/>
            <a:ext cx="2476500" cy="0"/>
          </a:xfrm>
          <a:prstGeom xmlns:a="http://schemas.openxmlformats.org/drawingml/2006/main" prst="line">
            <a:avLst/>
          </a:prstGeom>
          <a:noFill xmlns:a="http://schemas.openxmlformats.org/drawingml/2006/main"/>
          <a:ln xmlns:a="http://schemas.openxmlformats.org/drawingml/2006/main" w="19050">
            <a:solidFill>
              <a:srgbClr val="D8D1C8"/>
            </a:solidFill>
            <a:prstDash val="solid"/>
          </a:ln>
        </p:spPr>
      </p:sp>
      <p:sp>
        <p:nvSpPr>
          <p:cNvPr id="21" name="">
            <a:extLst xmlns:a="http://schemas.openxmlformats.org/drawingml/2006/main">
              <a:ext uri="{FF2B5EF4-FFF2-40B4-BE49-F238E27FC236}">
                <a16:creationId xmlns:a16="http://schemas.microsoft.com/office/drawing/2014/main" id="{3E510F29-0D04-4BA6-811D-E54CA110BC8E}"/>
              </a:ext>
            </a:extLst>
          </p:cNvPr>
          <p:cNvSpPr>
            <a:spLocks xmlns:a="http://schemas.openxmlformats.org/drawingml/2006/main" noGrp="1"/>
          </p:cNvSpPr>
          <p:nvPr/>
        </p:nvSpPr>
        <p:spPr>
          <a:xfrm xmlns:a="http://schemas.openxmlformats.org/drawingml/2006/main" rot="0">
            <a:off x="0" y="4867275"/>
            <a:ext cx="12192000" cy="1990725"/>
          </a:xfrm>
          <a:prstGeom xmlns:a="http://schemas.openxmlformats.org/drawingml/2006/main" prst="rect">
            <a:avLst/>
          </a:prstGeom>
          <a:solidFill xmlns:a="http://schemas.openxmlformats.org/drawingml/2006/main">
            <a:srgbClr val="17191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9D8E600-E2AE-42B9-9E01-5DDDF55C4A0A}"/>
              </a:ext>
            </a:extLst>
          </p:cNvPr>
          <p:cNvSpPr>
            <a:spLocks xmlns:a="http://schemas.openxmlformats.org/drawingml/2006/main" noGrp="1"/>
          </p:cNvSpPr>
          <p:nvPr/>
        </p:nvSpPr>
        <p:spPr>
          <a:xfrm xmlns:a="http://schemas.openxmlformats.org/drawingml/2006/main">
            <a:off x="552450" y="517207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45" b="1" i="0">
                <a:solidFill>
                  <a:srgbClr val="E3A06D"/>
                </a:solidFill>
                <a:latin typeface="Arial"/>
                <a:ea typeface="Arial"/>
                <a:cs typeface="Arial"/>
              </a:defRPr>
            </a:pPr>
            <a:r>
              <a:rPr sz="945" b="1" i="0">
                <a:solidFill>
                  <a:srgbClr val="E3A06D"/>
                </a:solidFill>
                <a:latin typeface="Arial"/>
                <a:ea typeface="Arial"/>
                <a:cs typeface="Arial"/>
              </a:rPr>
              <a:t>DIFFERENT ASSET STATES. ONE REQUIREMENT.</a:t>
            </a:r>
          </a:p>
        </p:txBody>
      </p:sp>
      <p:sp>
        <p:nvSpPr>
          <p:cNvPr id="23" name="">
            <a:extLst xmlns:a="http://schemas.openxmlformats.org/drawingml/2006/main">
              <a:ext uri="{FF2B5EF4-FFF2-40B4-BE49-F238E27FC236}">
                <a16:creationId xmlns:a16="http://schemas.microsoft.com/office/drawing/2014/main" id="{502E2BB2-5CB2-485C-8D5A-86374E3076DB}"/>
              </a:ext>
            </a:extLst>
          </p:cNvPr>
          <p:cNvSpPr>
            <a:spLocks xmlns:a="http://schemas.openxmlformats.org/drawingml/2006/main" noGrp="1"/>
          </p:cNvSpPr>
          <p:nvPr/>
        </p:nvSpPr>
        <p:spPr>
          <a:xfrm xmlns:a="http://schemas.openxmlformats.org/drawingml/2006/main">
            <a:off x="552450" y="5514975"/>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FFFFFF"/>
                </a:solidFill>
                <a:latin typeface="Arial"/>
                <a:ea typeface="Arial"/>
                <a:cs typeface="Arial"/>
              </a:defRPr>
            </a:pPr>
            <a:r>
              <a:rPr sz="2250" b="1" i="0">
                <a:solidFill>
                  <a:srgbClr val="FFFFFF"/>
                </a:solidFill>
                <a:latin typeface="Arial"/>
                <a:ea typeface="Arial"/>
                <a:cs typeface="Arial"/>
              </a:rPr>
              <a:t>Preserve schedule certainty through energization.</a:t>
            </a:r>
          </a:p>
        </p:txBody>
      </p:sp>
      <p:sp>
        <p:nvSpPr>
          <p:cNvPr id="24" name="">
            <a:extLst xmlns:a="http://schemas.openxmlformats.org/drawingml/2006/main">
              <a:ext uri="{FF2B5EF4-FFF2-40B4-BE49-F238E27FC236}">
                <a16:creationId xmlns:a16="http://schemas.microsoft.com/office/drawing/2014/main" id="{CB480BB5-0579-4420-A454-EC2D8BFE7480}"/>
              </a:ext>
            </a:extLst>
          </p:cNvPr>
          <p:cNvSpPr>
            <a:spLocks xmlns:a="http://schemas.openxmlformats.org/drawingml/2006/main" noGrp="1"/>
          </p:cNvSpPr>
          <p:nvPr/>
        </p:nvSpPr>
        <p:spPr>
          <a:xfrm xmlns:a="http://schemas.openxmlformats.org/drawingml/2006/main">
            <a:off x="552450" y="6048375"/>
            <a:ext cx="9982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0" i="0">
                <a:solidFill>
                  <a:srgbClr val="D4D6D8"/>
                </a:solidFill>
                <a:latin typeface="Arial"/>
                <a:ea typeface="Arial"/>
                <a:cs typeface="Arial"/>
              </a:defRPr>
            </a:pPr>
            <a:r>
              <a:rPr sz="1425" b="0" i="0">
                <a:solidFill>
                  <a:srgbClr val="D4D6D8"/>
                </a:solidFill>
                <a:latin typeface="Arial"/>
                <a:ea typeface="Arial"/>
                <a:cs typeface="Arial"/>
              </a:rPr>
              <a:t>Specifications, capacity, releases, reels, package interfaces and field readiness still have to converge on COD.</a:t>
            </a:r>
          </a:p>
        </p:txBody>
      </p:sp>
      <p:sp>
        <p:nvSpPr>
          <p:cNvPr id="25" name="">
            <a:extLst xmlns:a="http://schemas.openxmlformats.org/drawingml/2006/main">
              <a:ext uri="{FF2B5EF4-FFF2-40B4-BE49-F238E27FC236}">
                <a16:creationId xmlns:a16="http://schemas.microsoft.com/office/drawing/2014/main" id="{2E9A9E5B-D592-4C2E-99CD-C027B1281C26}"/>
              </a:ext>
            </a:extLst>
          </p:cNvPr>
          <p:cNvSpPr>
            <a:spLocks xmlns:a="http://schemas.openxmlformats.org/drawingml/2006/main" noGrp="1"/>
          </p:cNvSpPr>
          <p:nvPr/>
        </p:nvSpPr>
        <p:spPr>
          <a:xfrm xmlns:a="http://schemas.openxmlformats.org/drawingml/2006/main">
            <a:off x="9239250" y="6534150"/>
            <a:ext cx="24193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0">
                <a:solidFill>
                  <a:srgbClr val="8B9094"/>
                </a:solidFill>
                <a:latin typeface="Arial"/>
                <a:ea typeface="Arial"/>
                <a:cs typeface="Arial"/>
              </a:defRPr>
            </a:pPr>
            <a:r>
              <a:rPr sz="825" b="0" i="0">
                <a:solidFill>
                  <a:srgbClr val="8B9094"/>
                </a:solidFill>
                <a:latin typeface="Arial"/>
                <a:ea typeface="Arial"/>
                <a:cs typeface="Arial"/>
              </a:rPr>
              <a:t>Source: NRG 2Q26, Aug. 4, 2026</a:t>
            </a:r>
          </a:p>
        </p:txBody>
      </p:sp>
    </p:spTree>
    <p:extLst>
      <p:ext uri="{BB962C8B-B14F-4D97-AF65-F5344CB8AC3E}">
        <p14:creationId xmlns:p14="http://schemas.microsoft.com/office/powerpoint/2010/main" val="1774715495"/>
      </p:ext>
    </p:extLst>
  </p:cSld>
</p:sld>
</file>

<file path=ppt/slides/slide3.xml><?xml version="1.0" encoding="utf-8"?>
<p:sld xmlns:p="http://schemas.openxmlformats.org/presentationml/2006/main">
  <p:cSld>
    <p:bg>
      <p:bgPr>
        <a:solidFill xmlns:a="http://schemas.openxmlformats.org/drawingml/2006/main">
          <a:srgbClr val="F6F3EE"/>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0387C382-684C-41EA-AD7B-090994DEA501}"/>
              </a:ext>
            </a:extLst>
          </p:cNvPr>
          <p:cNvSpPr>
            <a:spLocks xmlns:a="http://schemas.openxmlformats.org/drawingml/2006/main" noGrp="1"/>
          </p:cNvSpPr>
          <p:nvPr/>
        </p:nvSpPr>
        <p:spPr>
          <a:xfrm xmlns:a="http://schemas.openxmlformats.org/drawingml/2006/main" rot="0">
            <a:off x="0" y="0"/>
            <a:ext cx="12192000" cy="5715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fc1affae7cb74e1e"/>
          <a:stretch xmlns:a="http://schemas.openxmlformats.org/drawingml/2006/main"/>
        </p:blipFill>
        <p:spPr>
          <a:xfrm xmlns:a="http://schemas.openxmlformats.org/drawingml/2006/main">
            <a:off x="719138" y="200025"/>
            <a:ext cx="2066925" cy="590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D62E9C2-EC75-4805-B37B-7F8E5EFEBAEA}"/>
              </a:ext>
            </a:extLst>
          </p:cNvPr>
          <p:cNvSpPr>
            <a:spLocks xmlns:a="http://schemas.openxmlformats.org/drawingml/2006/main" noGrp="1"/>
          </p:cNvSpPr>
          <p:nvPr/>
        </p:nvSpPr>
        <p:spPr>
          <a:xfrm xmlns:a="http://schemas.openxmlformats.org/drawingml/2006/main">
            <a:off x="8096250" y="3238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19" b="1" i="0">
                <a:solidFill>
                  <a:srgbClr val="9D4E24"/>
                </a:solidFill>
                <a:latin typeface="Arial"/>
                <a:ea typeface="Arial"/>
                <a:cs typeface="Arial"/>
              </a:defRPr>
            </a:pPr>
            <a:r>
              <a:rPr sz="819" b="1" i="0">
                <a:solidFill>
                  <a:srgbClr val="9D4E24"/>
                </a:solidFill>
                <a:latin typeface="Arial"/>
                <a:ea typeface="Arial"/>
                <a:cs typeface="Arial"/>
              </a:rPr>
              <a:t>THE EXECUTION CHALLENGE</a:t>
            </a:r>
          </a:p>
        </p:txBody>
      </p:sp>
      <p:sp>
        <p:nvSpPr>
          <p:cNvPr id="4" name="">
            <a:extLst xmlns:a="http://schemas.openxmlformats.org/drawingml/2006/main">
              <a:ext uri="{FF2B5EF4-FFF2-40B4-BE49-F238E27FC236}">
                <a16:creationId xmlns:a16="http://schemas.microsoft.com/office/drawing/2014/main" id="{EC55D9A4-4A86-47B2-BECD-3611783CD997}"/>
              </a:ext>
            </a:extLst>
          </p:cNvPr>
          <p:cNvSpPr>
            <a:spLocks xmlns:a="http://schemas.openxmlformats.org/drawingml/2006/main" noGrp="1"/>
          </p:cNvSpPr>
          <p:nvPr/>
        </p:nvSpPr>
        <p:spPr>
          <a:xfrm xmlns:a="http://schemas.openxmlformats.org/drawingml/2006/main">
            <a:off x="11334750" y="3238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19" b="1" i="0">
                <a:solidFill>
                  <a:srgbClr val="8B9094"/>
                </a:solidFill>
                <a:latin typeface="Arial"/>
                <a:ea typeface="Arial"/>
                <a:cs typeface="Arial"/>
              </a:defRPr>
            </a:pPr>
            <a:r>
              <a:rPr sz="819" b="1" i="0">
                <a:solidFill>
                  <a:srgbClr val="8B9094"/>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56C85CF9-7B4A-4498-A4FF-A1FEE4116305}"/>
              </a:ext>
            </a:extLst>
          </p:cNvPr>
          <p:cNvSpPr>
            <a:spLocks xmlns:a="http://schemas.openxmlformats.org/drawingml/2006/main" noGrp="1"/>
          </p:cNvSpPr>
          <p:nvPr/>
        </p:nvSpPr>
        <p:spPr>
          <a:xfrm xmlns:a="http://schemas.openxmlformats.org/drawingml/2006/main">
            <a:off x="552450" y="876300"/>
            <a:ext cx="1104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82" b="1" i="0">
                <a:solidFill>
                  <a:srgbClr val="9D4E24"/>
                </a:solidFill>
                <a:latin typeface="Arial"/>
                <a:ea typeface="Arial"/>
                <a:cs typeface="Arial"/>
              </a:defRPr>
            </a:pPr>
            <a:r>
              <a:rPr sz="882" b="1" i="0">
                <a:solidFill>
                  <a:srgbClr val="9D4E24"/>
                </a:solidFill>
                <a:latin typeface="Arial"/>
                <a:ea typeface="Arial"/>
                <a:cs typeface="Arial"/>
              </a:rPr>
              <a:t>THREE RISKS</a:t>
            </a:r>
          </a:p>
        </p:txBody>
      </p:sp>
      <p:sp>
        <p:nvSpPr>
          <p:cNvPr id="6" name="">
            <a:extLst xmlns:a="http://schemas.openxmlformats.org/drawingml/2006/main">
              <a:ext uri="{FF2B5EF4-FFF2-40B4-BE49-F238E27FC236}">
                <a16:creationId xmlns:a16="http://schemas.microsoft.com/office/drawing/2014/main" id="{354E7682-C0E3-4EE9-82E6-03DD1466AD47}"/>
              </a:ext>
            </a:extLst>
          </p:cNvPr>
          <p:cNvSpPr>
            <a:spLocks xmlns:a="http://schemas.openxmlformats.org/drawingml/2006/main" noGrp="1"/>
          </p:cNvSpPr>
          <p:nvPr/>
        </p:nvSpPr>
        <p:spPr>
          <a:xfrm xmlns:a="http://schemas.openxmlformats.org/drawingml/2006/main">
            <a:off x="552450" y="1181100"/>
            <a:ext cx="1104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4785"/>
          </a:bodyPr>
          <a:lstStyle xmlns:a="http://schemas.openxmlformats.org/drawingml/2006/main"/>
          <a:p xmlns:a="http://schemas.openxmlformats.org/drawingml/2006/main">
            <a:pPr algn="l">
              <a:lnSpc>
                <a:spcPct val="94000"/>
              </a:lnSpc>
              <a:buNone/>
              <a:defRPr sz="2850" b="1" i="0">
                <a:solidFill>
                  <a:srgbClr val="17191C"/>
                </a:solidFill>
                <a:latin typeface="Arial"/>
                <a:ea typeface="Arial"/>
                <a:cs typeface="Arial"/>
              </a:defRPr>
            </a:pPr>
            <a:r>
              <a:rPr sz="2850" b="1" i="0">
                <a:solidFill>
                  <a:srgbClr val="17191C"/>
                </a:solidFill>
                <a:latin typeface="Arial"/>
                <a:ea typeface="Arial"/>
                <a:cs typeface="Arial"/>
              </a:rPr>
              <a:t>Three execution risks can erode certainty between design and energization.</a:t>
            </a:r>
          </a:p>
        </p:txBody>
      </p:sp>
      <p:sp>
        <p:nvSpPr>
          <p:cNvPr id="7" name="">
            <a:extLst xmlns:a="http://schemas.openxmlformats.org/drawingml/2006/main">
              <a:ext uri="{FF2B5EF4-FFF2-40B4-BE49-F238E27FC236}">
                <a16:creationId xmlns:a16="http://schemas.microsoft.com/office/drawing/2014/main" id="{8E4A3E3F-D6CA-4014-9838-F928AA698E5D}"/>
              </a:ext>
            </a:extLst>
          </p:cNvPr>
          <p:cNvSpPr>
            <a:spLocks xmlns:a="http://schemas.openxmlformats.org/drawingml/2006/main" noGrp="1"/>
          </p:cNvSpPr>
          <p:nvPr/>
        </p:nvSpPr>
        <p:spPr>
          <a:xfrm xmlns:a="http://schemas.openxmlformats.org/drawingml/2006/main">
            <a:off x="552450" y="2114550"/>
            <a:ext cx="571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16" b="1" i="0">
                <a:solidFill>
                  <a:srgbClr val="9D4E24"/>
                </a:solidFill>
                <a:latin typeface="Arial"/>
                <a:ea typeface="Arial"/>
                <a:cs typeface="Arial"/>
              </a:defRPr>
            </a:pPr>
            <a:r>
              <a:rPr sz="2016" b="1" i="0">
                <a:solidFill>
                  <a:srgbClr val="9D4E24"/>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F6CE7DBA-AF47-4FA9-B00A-EA1DEB27AA8F}"/>
              </a:ext>
            </a:extLst>
          </p:cNvPr>
          <p:cNvSpPr>
            <a:spLocks xmlns:a="http://schemas.openxmlformats.org/drawingml/2006/main" noGrp="1"/>
          </p:cNvSpPr>
          <p:nvPr/>
        </p:nvSpPr>
        <p:spPr>
          <a:xfrm xmlns:a="http://schemas.openxmlformats.org/drawingml/2006/main" rot="0">
            <a:off x="571500" y="2819400"/>
            <a:ext cx="333375" cy="704850"/>
          </a:xfrm>
          <a:prstGeom xmlns:a="http://schemas.openxmlformats.org/drawingml/2006/main" prst="rect">
            <a:avLst/>
          </a:prstGeom>
          <a:solidFill xmlns:a="http://schemas.openxmlformats.org/drawingml/2006/main">
            <a:srgbClr val="E7DED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FA24AB8-20D4-4A42-A131-C79D44186BA4}"/>
              </a:ext>
            </a:extLst>
          </p:cNvPr>
          <p:cNvSpPr>
            <a:spLocks xmlns:a="http://schemas.openxmlformats.org/drawingml/2006/main" noGrp="1"/>
          </p:cNvSpPr>
          <p:nvPr/>
        </p:nvSpPr>
        <p:spPr>
          <a:xfrm xmlns:a="http://schemas.openxmlformats.org/drawingml/2006/main" rot="0">
            <a:off x="1019175" y="2600325"/>
            <a:ext cx="333375" cy="923925"/>
          </a:xfrm>
          <a:prstGeom xmlns:a="http://schemas.openxmlformats.org/drawingml/2006/main" prst="rect">
            <a:avLst/>
          </a:prstGeom>
          <a:solidFill xmlns:a="http://schemas.openxmlformats.org/drawingml/2006/main">
            <a:srgbClr val="E3A06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C41DE06-9BEB-4B12-B551-123032097CAA}"/>
              </a:ext>
            </a:extLst>
          </p:cNvPr>
          <p:cNvSpPr>
            <a:spLocks xmlns:a="http://schemas.openxmlformats.org/drawingml/2006/main" noGrp="1"/>
          </p:cNvSpPr>
          <p:nvPr/>
        </p:nvSpPr>
        <p:spPr>
          <a:xfrm xmlns:a="http://schemas.openxmlformats.org/drawingml/2006/main" rot="0">
            <a:off x="1466850" y="2305050"/>
            <a:ext cx="333375" cy="121920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0EAF7DC-6BC1-4284-A854-7D681DB60FA9}"/>
              </a:ext>
            </a:extLst>
          </p:cNvPr>
          <p:cNvSpPr>
            <a:spLocks xmlns:a="http://schemas.openxmlformats.org/drawingml/2006/main" noGrp="1"/>
          </p:cNvSpPr>
          <p:nvPr/>
        </p:nvSpPr>
        <p:spPr>
          <a:xfrm xmlns:a="http://schemas.openxmlformats.org/drawingml/2006/main">
            <a:off x="571500" y="3638550"/>
            <a:ext cx="1409700" cy="0"/>
          </a:xfrm>
          <a:prstGeom xmlns:a="http://schemas.openxmlformats.org/drawingml/2006/main" prst="line">
            <a:avLst/>
          </a:prstGeom>
          <a:noFill xmlns:a="http://schemas.openxmlformats.org/drawingml/2006/main"/>
          <a:ln xmlns:a="http://schemas.openxmlformats.org/drawingml/2006/main" w="19050">
            <a:solidFill>
              <a:srgbClr val="8B9094"/>
            </a:solidFill>
            <a:prstDash val="solid"/>
          </a:ln>
        </p:spPr>
      </p:sp>
      <p:sp>
        <p:nvSpPr>
          <p:cNvPr id="12" name="">
            <a:extLst xmlns:a="http://schemas.openxmlformats.org/drawingml/2006/main">
              <a:ext uri="{FF2B5EF4-FFF2-40B4-BE49-F238E27FC236}">
                <a16:creationId xmlns:a16="http://schemas.microsoft.com/office/drawing/2014/main" id="{C8E26175-42E4-4549-A3A7-DD08F77F3CF9}"/>
              </a:ext>
            </a:extLst>
          </p:cNvPr>
          <p:cNvSpPr>
            <a:spLocks xmlns:a="http://schemas.openxmlformats.org/drawingml/2006/main" noGrp="1"/>
          </p:cNvSpPr>
          <p:nvPr/>
        </p:nvSpPr>
        <p:spPr>
          <a:xfrm xmlns:a="http://schemas.openxmlformats.org/drawingml/2006/main">
            <a:off x="552450" y="3933825"/>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49" b="1" i="0">
                <a:solidFill>
                  <a:srgbClr val="17191C"/>
                </a:solidFill>
                <a:latin typeface="Arial"/>
                <a:ea typeface="Arial"/>
                <a:cs typeface="Arial"/>
              </a:defRPr>
            </a:pPr>
            <a:r>
              <a:rPr sz="1449" b="1" i="0">
                <a:solidFill>
                  <a:srgbClr val="17191C"/>
                </a:solidFill>
                <a:latin typeface="Arial"/>
                <a:ea typeface="Arial"/>
                <a:cs typeface="Arial"/>
              </a:rPr>
              <a:t>LABOR PRESSURE</a:t>
            </a:r>
          </a:p>
        </p:txBody>
      </p:sp>
      <p:sp>
        <p:nvSpPr>
          <p:cNvPr id="13" name="">
            <a:extLst xmlns:a="http://schemas.openxmlformats.org/drawingml/2006/main">
              <a:ext uri="{FF2B5EF4-FFF2-40B4-BE49-F238E27FC236}">
                <a16:creationId xmlns:a16="http://schemas.microsoft.com/office/drawing/2014/main" id="{A613D31A-1F21-41A3-AFF2-83E8DEC6D096}"/>
              </a:ext>
            </a:extLst>
          </p:cNvPr>
          <p:cNvSpPr>
            <a:spLocks xmlns:a="http://schemas.openxmlformats.org/drawingml/2006/main" noGrp="1"/>
          </p:cNvSpPr>
          <p:nvPr/>
        </p:nvSpPr>
        <p:spPr>
          <a:xfrm xmlns:a="http://schemas.openxmlformats.org/drawingml/2006/main">
            <a:off x="552450" y="4371975"/>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425" b="0" i="0">
                <a:solidFill>
                  <a:srgbClr val="6A6F73"/>
                </a:solidFill>
                <a:latin typeface="Arial"/>
                <a:ea typeface="Arial"/>
                <a:cs typeface="Arial"/>
              </a:defRPr>
            </a:pPr>
            <a:r>
              <a:rPr sz="1425" b="0" i="0">
                <a:solidFill>
                  <a:srgbClr val="6A6F73"/>
                </a:solidFill>
                <a:latin typeface="Arial"/>
                <a:ea typeface="Arial"/>
                <a:cs typeface="Arial"/>
              </a:rPr>
              <a:t>Long pulls, dense terminations and compressed turnover windows concentrate labor when flexibility is lowest.</a:t>
            </a:r>
          </a:p>
        </p:txBody>
      </p:sp>
      <p:sp>
        <p:nvSpPr>
          <p:cNvPr id="14" name="">
            <a:extLst xmlns:a="http://schemas.openxmlformats.org/drawingml/2006/main">
              <a:ext uri="{FF2B5EF4-FFF2-40B4-BE49-F238E27FC236}">
                <a16:creationId xmlns:a16="http://schemas.microsoft.com/office/drawing/2014/main" id="{D4F84559-460B-4C41-BD5D-67A4BAADB1A9}"/>
              </a:ext>
            </a:extLst>
          </p:cNvPr>
          <p:cNvSpPr>
            <a:spLocks xmlns:a="http://schemas.openxmlformats.org/drawingml/2006/main" noGrp="1"/>
          </p:cNvSpPr>
          <p:nvPr/>
        </p:nvSpPr>
        <p:spPr>
          <a:xfrm xmlns:a="http://schemas.openxmlformats.org/drawingml/2006/main">
            <a:off x="4076700" y="2152650"/>
            <a:ext cx="0" cy="2952750"/>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15" name="">
            <a:extLst xmlns:a="http://schemas.openxmlformats.org/drawingml/2006/main">
              <a:ext uri="{FF2B5EF4-FFF2-40B4-BE49-F238E27FC236}">
                <a16:creationId xmlns:a16="http://schemas.microsoft.com/office/drawing/2014/main" id="{026D61B0-6A32-4760-8474-5392F72FC243}"/>
              </a:ext>
            </a:extLst>
          </p:cNvPr>
          <p:cNvSpPr>
            <a:spLocks xmlns:a="http://schemas.openxmlformats.org/drawingml/2006/main" noGrp="1"/>
          </p:cNvSpPr>
          <p:nvPr/>
        </p:nvSpPr>
        <p:spPr>
          <a:xfrm xmlns:a="http://schemas.openxmlformats.org/drawingml/2006/main">
            <a:off x="4333875" y="2114550"/>
            <a:ext cx="571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16" b="1" i="0">
                <a:solidFill>
                  <a:srgbClr val="9D4E24"/>
                </a:solidFill>
                <a:latin typeface="Arial"/>
                <a:ea typeface="Arial"/>
                <a:cs typeface="Arial"/>
              </a:defRPr>
            </a:pPr>
            <a:r>
              <a:rPr sz="2016" b="1" i="0">
                <a:solidFill>
                  <a:srgbClr val="9D4E24"/>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2C454509-AB0B-46F7-AB99-185C4BCAEF14}"/>
              </a:ext>
            </a:extLst>
          </p:cNvPr>
          <p:cNvSpPr>
            <a:spLocks xmlns:a="http://schemas.openxmlformats.org/drawingml/2006/main" noGrp="1"/>
          </p:cNvSpPr>
          <p:nvPr/>
        </p:nvSpPr>
        <p:spPr>
          <a:xfrm xmlns:a="http://schemas.openxmlformats.org/drawingml/2006/main">
            <a:off x="4352925" y="2371725"/>
            <a:ext cx="1162050" cy="1162050"/>
          </a:xfrm>
          <a:prstGeom xmlns:a="http://schemas.openxmlformats.org/drawingml/2006/main" prst="ellipse">
            <a:avLst/>
          </a:prstGeom>
          <a:solidFill xmlns:a="http://schemas.openxmlformats.org/drawingml/2006/main">
            <a:srgbClr val="F2E3D8"/>
          </a:solidFill>
          <a:ln xmlns:a="http://schemas.openxmlformats.org/drawingml/2006/main" w="9525">
            <a:solidFill>
              <a:srgbClr val="C9783E"/>
            </a:solidFill>
            <a:prstDash val="solid"/>
          </a:ln>
        </p:spPr>
      </p:sp>
      <p:sp>
        <p:nvSpPr>
          <p:cNvPr id="17" name="">
            <a:extLst xmlns:a="http://schemas.openxmlformats.org/drawingml/2006/main">
              <a:ext uri="{FF2B5EF4-FFF2-40B4-BE49-F238E27FC236}">
                <a16:creationId xmlns:a16="http://schemas.microsoft.com/office/drawing/2014/main" id="{7BD69E25-DEEC-4F02-9229-32C78EABEA76}"/>
              </a:ext>
            </a:extLst>
          </p:cNvPr>
          <p:cNvSpPr>
            <a:spLocks xmlns:a="http://schemas.openxmlformats.org/drawingml/2006/main" noGrp="1"/>
          </p:cNvSpPr>
          <p:nvPr/>
        </p:nvSpPr>
        <p:spPr>
          <a:xfrm xmlns:a="http://schemas.openxmlformats.org/drawingml/2006/main">
            <a:off x="4752975" y="2771775"/>
            <a:ext cx="361950" cy="361950"/>
          </a:xfrm>
          <a:prstGeom xmlns:a="http://schemas.openxmlformats.org/drawingml/2006/main" prst="ellipse">
            <a:avLst/>
          </a:prstGeom>
          <a:solidFill xmlns:a="http://schemas.openxmlformats.org/drawingml/2006/main">
            <a:srgbClr val="F6F3EE"/>
          </a:solidFill>
          <a:ln xmlns:a="http://schemas.openxmlformats.org/drawingml/2006/main" w="9525">
            <a:solidFill>
              <a:srgbClr val="C9783E"/>
            </a:solidFill>
            <a:prstDash val="solid"/>
          </a:ln>
        </p:spPr>
      </p:sp>
      <p:sp>
        <p:nvSpPr>
          <p:cNvPr id="18" name="">
            <a:extLst xmlns:a="http://schemas.openxmlformats.org/drawingml/2006/main">
              <a:ext uri="{FF2B5EF4-FFF2-40B4-BE49-F238E27FC236}">
                <a16:creationId xmlns:a16="http://schemas.microsoft.com/office/drawing/2014/main" id="{B01CCA50-2808-443C-8C30-07C35CF8F629}"/>
              </a:ext>
            </a:extLst>
          </p:cNvPr>
          <p:cNvSpPr>
            <a:spLocks xmlns:a="http://schemas.openxmlformats.org/drawingml/2006/main" noGrp="1"/>
          </p:cNvSpPr>
          <p:nvPr/>
        </p:nvSpPr>
        <p:spPr>
          <a:xfrm xmlns:a="http://schemas.openxmlformats.org/drawingml/2006/main">
            <a:off x="5514975" y="2952750"/>
            <a:ext cx="590550" cy="0"/>
          </a:xfrm>
          <a:prstGeom xmlns:a="http://schemas.openxmlformats.org/drawingml/2006/main" prst="line">
            <a:avLst/>
          </a:prstGeom>
          <a:noFill xmlns:a="http://schemas.openxmlformats.org/drawingml/2006/main"/>
          <a:ln xmlns:a="http://schemas.openxmlformats.org/drawingml/2006/main" w="47625">
            <a:solidFill>
              <a:srgbClr val="C9783E"/>
            </a:solidFill>
            <a:prstDash val="solid"/>
          </a:ln>
        </p:spPr>
      </p:sp>
      <p:sp>
        <p:nvSpPr>
          <p:cNvPr id="19" name="">
            <a:extLst xmlns:a="http://schemas.openxmlformats.org/drawingml/2006/main">
              <a:ext uri="{FF2B5EF4-FFF2-40B4-BE49-F238E27FC236}">
                <a16:creationId xmlns:a16="http://schemas.microsoft.com/office/drawing/2014/main" id="{EC510710-442E-4753-A109-3FB7DF4D146A}"/>
              </a:ext>
            </a:extLst>
          </p:cNvPr>
          <p:cNvSpPr>
            <a:spLocks xmlns:a="http://schemas.openxmlformats.org/drawingml/2006/main" noGrp="1"/>
          </p:cNvSpPr>
          <p:nvPr/>
        </p:nvSpPr>
        <p:spPr>
          <a:xfrm xmlns:a="http://schemas.openxmlformats.org/drawingml/2006/main">
            <a:off x="6076950" y="2876550"/>
            <a:ext cx="152400" cy="15240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E8C0643-D9D8-4050-B6DB-6DA9D5644EA3}"/>
              </a:ext>
            </a:extLst>
          </p:cNvPr>
          <p:cNvSpPr>
            <a:spLocks xmlns:a="http://schemas.openxmlformats.org/drawingml/2006/main" noGrp="1"/>
          </p:cNvSpPr>
          <p:nvPr/>
        </p:nvSpPr>
        <p:spPr>
          <a:xfrm xmlns:a="http://schemas.openxmlformats.org/drawingml/2006/main">
            <a:off x="4333875" y="3933825"/>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49" b="1" i="0">
                <a:solidFill>
                  <a:srgbClr val="17191C"/>
                </a:solidFill>
                <a:latin typeface="Arial"/>
                <a:ea typeface="Arial"/>
                <a:cs typeface="Arial"/>
              </a:defRPr>
            </a:pPr>
            <a:r>
              <a:rPr sz="1449" b="1" i="0">
                <a:solidFill>
                  <a:srgbClr val="17191C"/>
                </a:solidFill>
                <a:latin typeface="Arial"/>
                <a:ea typeface="Arial"/>
                <a:cs typeface="Arial"/>
              </a:rPr>
              <a:t>MATERIAL + INSTALLATION FIT</a:t>
            </a:r>
          </a:p>
        </p:txBody>
      </p:sp>
      <p:sp>
        <p:nvSpPr>
          <p:cNvPr id="21" name="">
            <a:extLst xmlns:a="http://schemas.openxmlformats.org/drawingml/2006/main">
              <a:ext uri="{FF2B5EF4-FFF2-40B4-BE49-F238E27FC236}">
                <a16:creationId xmlns:a16="http://schemas.microsoft.com/office/drawing/2014/main" id="{E7C03671-035A-4B87-BCB4-680AA1CB3B5B}"/>
              </a:ext>
            </a:extLst>
          </p:cNvPr>
          <p:cNvSpPr>
            <a:spLocks xmlns:a="http://schemas.openxmlformats.org/drawingml/2006/main" noGrp="1"/>
          </p:cNvSpPr>
          <p:nvPr/>
        </p:nvSpPr>
        <p:spPr>
          <a:xfrm xmlns:a="http://schemas.openxmlformats.org/drawingml/2006/main">
            <a:off x="4333875" y="4371975"/>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425" b="0" i="0">
                <a:solidFill>
                  <a:srgbClr val="6A6F73"/>
                </a:solidFill>
                <a:latin typeface="Arial"/>
                <a:ea typeface="Arial"/>
                <a:cs typeface="Arial"/>
              </a:defRPr>
            </a:pPr>
            <a:r>
              <a:rPr sz="1425" b="0" i="0">
                <a:solidFill>
                  <a:srgbClr val="6A6F73"/>
                </a:solidFill>
                <a:latin typeface="Arial"/>
                <a:ea typeface="Arial"/>
                <a:cs typeface="Arial"/>
              </a:rPr>
              <a:t>Ratings, routes, reel lengths, accessories and releases must match the workface—not only the BOM.</a:t>
            </a:r>
          </a:p>
        </p:txBody>
      </p:sp>
      <p:sp>
        <p:nvSpPr>
          <p:cNvPr id="22" name="">
            <a:extLst xmlns:a="http://schemas.openxmlformats.org/drawingml/2006/main">
              <a:ext uri="{FF2B5EF4-FFF2-40B4-BE49-F238E27FC236}">
                <a16:creationId xmlns:a16="http://schemas.microsoft.com/office/drawing/2014/main" id="{56B3528B-F44A-4DC1-B4B2-6DF9E31D1BE3}"/>
              </a:ext>
            </a:extLst>
          </p:cNvPr>
          <p:cNvSpPr>
            <a:spLocks xmlns:a="http://schemas.openxmlformats.org/drawingml/2006/main" noGrp="1"/>
          </p:cNvSpPr>
          <p:nvPr/>
        </p:nvSpPr>
        <p:spPr>
          <a:xfrm xmlns:a="http://schemas.openxmlformats.org/drawingml/2006/main">
            <a:off x="7858125" y="2152650"/>
            <a:ext cx="0" cy="2952750"/>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23" name="">
            <a:extLst xmlns:a="http://schemas.openxmlformats.org/drawingml/2006/main">
              <a:ext uri="{FF2B5EF4-FFF2-40B4-BE49-F238E27FC236}">
                <a16:creationId xmlns:a16="http://schemas.microsoft.com/office/drawing/2014/main" id="{21D3B0D1-03CC-4D8F-A5AB-1E78494AB357}"/>
              </a:ext>
            </a:extLst>
          </p:cNvPr>
          <p:cNvSpPr>
            <a:spLocks xmlns:a="http://schemas.openxmlformats.org/drawingml/2006/main" noGrp="1"/>
          </p:cNvSpPr>
          <p:nvPr/>
        </p:nvSpPr>
        <p:spPr>
          <a:xfrm xmlns:a="http://schemas.openxmlformats.org/drawingml/2006/main">
            <a:off x="8115300" y="2114550"/>
            <a:ext cx="571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16" b="1" i="0">
                <a:solidFill>
                  <a:srgbClr val="9D4E24"/>
                </a:solidFill>
                <a:latin typeface="Arial"/>
                <a:ea typeface="Arial"/>
                <a:cs typeface="Arial"/>
              </a:defRPr>
            </a:pPr>
            <a:r>
              <a:rPr sz="2016" b="1" i="0">
                <a:solidFill>
                  <a:srgbClr val="9D4E24"/>
                </a:solidFill>
                <a:latin typeface="Arial"/>
                <a:ea typeface="Arial"/>
                <a:cs typeface="Arial"/>
              </a:rPr>
              <a:t>03</a:t>
            </a:r>
          </a:p>
        </p:txBody>
      </p:sp>
      <p:sp>
        <p:nvSpPr>
          <p:cNvPr id="24" name="">
            <a:extLst xmlns:a="http://schemas.openxmlformats.org/drawingml/2006/main">
              <a:ext uri="{FF2B5EF4-FFF2-40B4-BE49-F238E27FC236}">
                <a16:creationId xmlns:a16="http://schemas.microsoft.com/office/drawing/2014/main" id="{7D317186-219B-4214-8435-451A3D31C99D}"/>
              </a:ext>
            </a:extLst>
          </p:cNvPr>
          <p:cNvSpPr>
            <a:spLocks xmlns:a="http://schemas.openxmlformats.org/drawingml/2006/main" noGrp="1"/>
          </p:cNvSpPr>
          <p:nvPr/>
        </p:nvSpPr>
        <p:spPr>
          <a:xfrm xmlns:a="http://schemas.openxmlformats.org/drawingml/2006/main">
            <a:off x="8353425" y="2714625"/>
            <a:ext cx="723900" cy="0"/>
          </a:xfrm>
          <a:prstGeom xmlns:a="http://schemas.openxmlformats.org/drawingml/2006/main" prst="line">
            <a:avLst/>
          </a:prstGeom>
          <a:noFill xmlns:a="http://schemas.openxmlformats.org/drawingml/2006/main"/>
          <a:ln xmlns:a="http://schemas.openxmlformats.org/drawingml/2006/main" w="28575">
            <a:solidFill>
              <a:srgbClr val="C9783E"/>
            </a:solidFill>
            <a:prstDash val="solid"/>
          </a:ln>
        </p:spPr>
      </p:sp>
      <p:sp>
        <p:nvSpPr>
          <p:cNvPr id="25" name="">
            <a:extLst xmlns:a="http://schemas.openxmlformats.org/drawingml/2006/main">
              <a:ext uri="{FF2B5EF4-FFF2-40B4-BE49-F238E27FC236}">
                <a16:creationId xmlns:a16="http://schemas.microsoft.com/office/drawing/2014/main" id="{1373C3D6-9905-4497-BBF0-1840198F4A87}"/>
              </a:ext>
            </a:extLst>
          </p:cNvPr>
          <p:cNvSpPr>
            <a:spLocks xmlns:a="http://schemas.openxmlformats.org/drawingml/2006/main" noGrp="1"/>
          </p:cNvSpPr>
          <p:nvPr/>
        </p:nvSpPr>
        <p:spPr>
          <a:xfrm xmlns:a="http://schemas.openxmlformats.org/drawingml/2006/main">
            <a:off x="9077325" y="2714625"/>
            <a:ext cx="514350" cy="619125"/>
          </a:xfrm>
          <a:prstGeom xmlns:a="http://schemas.openxmlformats.org/drawingml/2006/main" prst="line">
            <a:avLst/>
          </a:prstGeom>
          <a:noFill xmlns:a="http://schemas.openxmlformats.org/drawingml/2006/main"/>
          <a:ln xmlns:a="http://schemas.openxmlformats.org/drawingml/2006/main" w="28575">
            <a:solidFill>
              <a:srgbClr val="C9783E"/>
            </a:solidFill>
            <a:prstDash val="solid"/>
          </a:ln>
        </p:spPr>
      </p:sp>
      <p:sp>
        <p:nvSpPr>
          <p:cNvPr id="26" name="">
            <a:extLst xmlns:a="http://schemas.openxmlformats.org/drawingml/2006/main">
              <a:ext uri="{FF2B5EF4-FFF2-40B4-BE49-F238E27FC236}">
                <a16:creationId xmlns:a16="http://schemas.microsoft.com/office/drawing/2014/main" id="{1940198B-9679-4166-A010-6B152C3A5957}"/>
              </a:ext>
            </a:extLst>
          </p:cNvPr>
          <p:cNvSpPr>
            <a:spLocks xmlns:a="http://schemas.openxmlformats.org/drawingml/2006/main" noGrp="1"/>
          </p:cNvSpPr>
          <p:nvPr/>
        </p:nvSpPr>
        <p:spPr>
          <a:xfrm xmlns:a="http://schemas.openxmlformats.org/drawingml/2006/main">
            <a:off x="9591675" y="2714625"/>
            <a:ext cx="514350" cy="619125"/>
          </a:xfrm>
          <a:prstGeom xmlns:a="http://schemas.openxmlformats.org/drawingml/2006/main" prst="line">
            <a:avLst/>
          </a:prstGeom>
          <a:noFill xmlns:a="http://schemas.openxmlformats.org/drawingml/2006/main"/>
          <a:ln xmlns:a="http://schemas.openxmlformats.org/drawingml/2006/main" w="28575">
            <a:solidFill>
              <a:srgbClr val="D8D1C8"/>
            </a:solidFill>
            <a:prstDash val="solid"/>
          </a:ln>
        </p:spPr>
      </p:sp>
      <p:sp>
        <p:nvSpPr>
          <p:cNvPr id="27" name="">
            <a:extLst xmlns:a="http://schemas.openxmlformats.org/drawingml/2006/main">
              <a:ext uri="{FF2B5EF4-FFF2-40B4-BE49-F238E27FC236}">
                <a16:creationId xmlns:a16="http://schemas.microsoft.com/office/drawing/2014/main" id="{97D94A1D-FF55-40C0-AEFC-5636A569E280}"/>
              </a:ext>
            </a:extLst>
          </p:cNvPr>
          <p:cNvSpPr>
            <a:spLocks xmlns:a="http://schemas.openxmlformats.org/drawingml/2006/main" noGrp="1"/>
          </p:cNvSpPr>
          <p:nvPr/>
        </p:nvSpPr>
        <p:spPr>
          <a:xfrm xmlns:a="http://schemas.openxmlformats.org/drawingml/2006/main">
            <a:off x="8153400" y="2562225"/>
            <a:ext cx="304800" cy="30480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DE4AD4F-4E0A-47E0-A7D2-E8C9ED7CD1E3}"/>
              </a:ext>
            </a:extLst>
          </p:cNvPr>
          <p:cNvSpPr>
            <a:spLocks xmlns:a="http://schemas.openxmlformats.org/drawingml/2006/main" noGrp="1"/>
          </p:cNvSpPr>
          <p:nvPr/>
        </p:nvSpPr>
        <p:spPr>
          <a:xfrm xmlns:a="http://schemas.openxmlformats.org/drawingml/2006/main">
            <a:off x="8943975" y="2562225"/>
            <a:ext cx="304800" cy="30480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9AEF168-A049-4FA6-B8A8-3DEFF654D4FA}"/>
              </a:ext>
            </a:extLst>
          </p:cNvPr>
          <p:cNvSpPr>
            <a:spLocks xmlns:a="http://schemas.openxmlformats.org/drawingml/2006/main" noGrp="1"/>
          </p:cNvSpPr>
          <p:nvPr/>
        </p:nvSpPr>
        <p:spPr>
          <a:xfrm xmlns:a="http://schemas.openxmlformats.org/drawingml/2006/main">
            <a:off x="9467850" y="3181350"/>
            <a:ext cx="304800" cy="30480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B3AC2D5-98BC-49E7-B6B9-BFB818FF5015}"/>
              </a:ext>
            </a:extLst>
          </p:cNvPr>
          <p:cNvSpPr>
            <a:spLocks xmlns:a="http://schemas.openxmlformats.org/drawingml/2006/main" noGrp="1"/>
          </p:cNvSpPr>
          <p:nvPr/>
        </p:nvSpPr>
        <p:spPr>
          <a:xfrm xmlns:a="http://schemas.openxmlformats.org/drawingml/2006/main">
            <a:off x="10001250" y="2562225"/>
            <a:ext cx="304800" cy="304800"/>
          </a:xfrm>
          <a:prstGeom xmlns:a="http://schemas.openxmlformats.org/drawingml/2006/main" prst="ellipse">
            <a:avLst/>
          </a:prstGeom>
          <a:solidFill xmlns:a="http://schemas.openxmlformats.org/drawingml/2006/main">
            <a:srgbClr val="F6F3EE"/>
          </a:solidFill>
          <a:ln xmlns:a="http://schemas.openxmlformats.org/drawingml/2006/main" w="9525">
            <a:solidFill>
              <a:srgbClr val="8B9094"/>
            </a:solidFill>
            <a:prstDash val="solid"/>
          </a:ln>
        </p:spPr>
      </p:sp>
      <p:sp>
        <p:nvSpPr>
          <p:cNvPr id="31" name="">
            <a:extLst xmlns:a="http://schemas.openxmlformats.org/drawingml/2006/main">
              <a:ext uri="{FF2B5EF4-FFF2-40B4-BE49-F238E27FC236}">
                <a16:creationId xmlns:a16="http://schemas.microsoft.com/office/drawing/2014/main" id="{65D1C497-7643-4BB7-BC5B-D815A745B31F}"/>
              </a:ext>
            </a:extLst>
          </p:cNvPr>
          <p:cNvSpPr>
            <a:spLocks xmlns:a="http://schemas.openxmlformats.org/drawingml/2006/main" noGrp="1"/>
          </p:cNvSpPr>
          <p:nvPr/>
        </p:nvSpPr>
        <p:spPr>
          <a:xfrm xmlns:a="http://schemas.openxmlformats.org/drawingml/2006/main">
            <a:off x="8115300" y="3933825"/>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837"/>
          </a:bodyPr>
          <a:lstStyle xmlns:a="http://schemas.openxmlformats.org/drawingml/2006/main"/>
          <a:p xmlns:a="http://schemas.openxmlformats.org/drawingml/2006/main">
            <a:pPr algn="l">
              <a:lnSpc>
                <a:spcPct val="100000"/>
              </a:lnSpc>
              <a:buNone/>
              <a:defRPr sz="1449" b="1" i="0">
                <a:solidFill>
                  <a:srgbClr val="17191C"/>
                </a:solidFill>
                <a:latin typeface="Arial"/>
                <a:ea typeface="Arial"/>
                <a:cs typeface="Arial"/>
              </a:defRPr>
            </a:pPr>
            <a:r>
              <a:rPr sz="1449" b="1" i="0">
                <a:solidFill>
                  <a:srgbClr val="17191C"/>
                </a:solidFill>
                <a:latin typeface="Arial"/>
                <a:ea typeface="Arial"/>
                <a:cs typeface="Arial"/>
              </a:rPr>
              <a:t>FRAGMENTED COORDINATION</a:t>
            </a:r>
          </a:p>
        </p:txBody>
      </p:sp>
      <p:sp>
        <p:nvSpPr>
          <p:cNvPr id="32" name="">
            <a:extLst xmlns:a="http://schemas.openxmlformats.org/drawingml/2006/main">
              <a:ext uri="{FF2B5EF4-FFF2-40B4-BE49-F238E27FC236}">
                <a16:creationId xmlns:a16="http://schemas.microsoft.com/office/drawing/2014/main" id="{374D61C3-4B2A-49FF-A685-25626D93543D}"/>
              </a:ext>
            </a:extLst>
          </p:cNvPr>
          <p:cNvSpPr>
            <a:spLocks xmlns:a="http://schemas.openxmlformats.org/drawingml/2006/main" noGrp="1"/>
          </p:cNvSpPr>
          <p:nvPr/>
        </p:nvSpPr>
        <p:spPr>
          <a:xfrm xmlns:a="http://schemas.openxmlformats.org/drawingml/2006/main">
            <a:off x="8115300" y="4371975"/>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425" b="0" i="0">
                <a:solidFill>
                  <a:srgbClr val="6A6F73"/>
                </a:solidFill>
                <a:latin typeface="Arial"/>
                <a:ea typeface="Arial"/>
                <a:cs typeface="Arial"/>
              </a:defRPr>
            </a:pPr>
            <a:r>
              <a:rPr sz="1425" b="0" i="0">
                <a:solidFill>
                  <a:srgbClr val="6A6F73"/>
                </a:solidFill>
                <a:latin typeface="Arial"/>
                <a:ea typeface="Arial"/>
                <a:cs typeface="Arial"/>
              </a:rPr>
              <a:t>Civil, electrical, OEM and contractor decisions can converge after routing and procurement choices are locked.</a:t>
            </a:r>
          </a:p>
        </p:txBody>
      </p:sp>
      <p:sp>
        <p:nvSpPr>
          <p:cNvPr id="33" name="">
            <a:extLst xmlns:a="http://schemas.openxmlformats.org/drawingml/2006/main">
              <a:ext uri="{FF2B5EF4-FFF2-40B4-BE49-F238E27FC236}">
                <a16:creationId xmlns:a16="http://schemas.microsoft.com/office/drawing/2014/main" id="{A4A7EB2C-FB0F-4B6A-8D27-A9FE4230D7D3}"/>
              </a:ext>
            </a:extLst>
          </p:cNvPr>
          <p:cNvSpPr>
            <a:spLocks xmlns:a="http://schemas.openxmlformats.org/drawingml/2006/main" noGrp="1"/>
          </p:cNvSpPr>
          <p:nvPr/>
        </p:nvSpPr>
        <p:spPr>
          <a:xfrm xmlns:a="http://schemas.openxmlformats.org/drawingml/2006/main" rot="0">
            <a:off x="552450" y="5495925"/>
            <a:ext cx="11087100" cy="838200"/>
          </a:xfrm>
          <a:prstGeom xmlns:a="http://schemas.openxmlformats.org/drawingml/2006/main" prst="rect">
            <a:avLst/>
          </a:prstGeom>
          <a:solidFill xmlns:a="http://schemas.openxmlformats.org/drawingml/2006/main">
            <a:srgbClr val="17191C"/>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38820853-0352-4232-9109-367D1EAA3E91}"/>
              </a:ext>
            </a:extLst>
          </p:cNvPr>
          <p:cNvSpPr>
            <a:spLocks xmlns:a="http://schemas.openxmlformats.org/drawingml/2006/main" noGrp="1"/>
          </p:cNvSpPr>
          <p:nvPr/>
        </p:nvSpPr>
        <p:spPr>
          <a:xfrm xmlns:a="http://schemas.openxmlformats.org/drawingml/2006/main">
            <a:off x="781050" y="574357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49" b="1" i="0">
                <a:solidFill>
                  <a:srgbClr val="FFFFFF"/>
                </a:solidFill>
                <a:latin typeface="Arial"/>
                <a:ea typeface="Arial"/>
                <a:cs typeface="Arial"/>
              </a:defRPr>
            </a:pPr>
            <a:r>
              <a:rPr sz="1449" b="1" i="0">
                <a:solidFill>
                  <a:srgbClr val="FFFFFF"/>
                </a:solidFill>
                <a:latin typeface="Arial"/>
                <a:ea typeface="Arial"/>
                <a:cs typeface="Arial"/>
              </a:rPr>
              <a:t>LATE HANDOFFS BECOME SCHEDULE AND COMMISSIONING EXPOSURE.</a:t>
            </a:r>
          </a:p>
        </p:txBody>
      </p:sp>
      <p:sp>
        <p:nvSpPr>
          <p:cNvPr id="35" name="">
            <a:extLst xmlns:a="http://schemas.openxmlformats.org/drawingml/2006/main">
              <a:ext uri="{FF2B5EF4-FFF2-40B4-BE49-F238E27FC236}">
                <a16:creationId xmlns:a16="http://schemas.microsoft.com/office/drawing/2014/main" id="{856D35BF-74D2-4784-980F-6BDF91F15B0B}"/>
              </a:ext>
            </a:extLst>
          </p:cNvPr>
          <p:cNvSpPr>
            <a:spLocks xmlns:a="http://schemas.openxmlformats.org/drawingml/2006/main" noGrp="1"/>
          </p:cNvSpPr>
          <p:nvPr/>
        </p:nvSpPr>
        <p:spPr>
          <a:xfrm xmlns:a="http://schemas.openxmlformats.org/drawingml/2006/main">
            <a:off x="552450" y="6477000"/>
            <a:ext cx="11087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0" i="0">
                <a:solidFill>
                  <a:srgbClr val="8B9094"/>
                </a:solidFill>
                <a:latin typeface="Arial"/>
                <a:ea typeface="Arial"/>
                <a:cs typeface="Arial"/>
              </a:defRPr>
            </a:pPr>
            <a:r>
              <a:rPr sz="1050" b="0" i="0">
                <a:solidFill>
                  <a:srgbClr val="8B9094"/>
                </a:solidFill>
                <a:latin typeface="Arial"/>
                <a:ea typeface="Arial"/>
                <a:cs typeface="Arial"/>
              </a:rPr>
              <a:t>Labor availability  |  material readiness  |  decision timing</a:t>
            </a:r>
          </a:p>
        </p:txBody>
      </p:sp>
    </p:spTree>
    <p:extLst>
      <p:ext uri="{BB962C8B-B14F-4D97-AF65-F5344CB8AC3E}">
        <p14:creationId xmlns:p14="http://schemas.microsoft.com/office/powerpoint/2010/main" val="1304498637"/>
      </p:ext>
    </p:extLst>
  </p:cSld>
</p:sld>
</file>

<file path=ppt/slides/slide4.xml><?xml version="1.0" encoding="utf-8"?>
<p:sld xmlns:p="http://schemas.openxmlformats.org/presentationml/2006/main">
  <p:cSld>
    <p:bg>
      <p:bgPr>
        <a:solidFill xmlns:a="http://schemas.openxmlformats.org/drawingml/2006/main">
          <a:srgbClr val="222529"/>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5BF3D11-5231-4DDC-BB3A-94D00087E5E7}"/>
              </a:ext>
            </a:extLst>
          </p:cNvPr>
          <p:cNvSpPr>
            <a:spLocks xmlns:a="http://schemas.openxmlformats.org/drawingml/2006/main" noGrp="1"/>
          </p:cNvSpPr>
          <p:nvPr/>
        </p:nvSpPr>
        <p:spPr>
          <a:xfrm xmlns:a="http://schemas.openxmlformats.org/drawingml/2006/main" rot="0">
            <a:off x="0" y="0"/>
            <a:ext cx="12192000" cy="5715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defc997f92c418d"/>
          <a:srcRect xmlns:a="http://schemas.openxmlformats.org/drawingml/2006/main" l="8771" t="0" r="8771" b="0"/>
          <a:stretch xmlns:a="http://schemas.openxmlformats.org/drawingml/2006/main">
            <a:fillRect l="0" t="0" r="0" b="0"/>
          </a:stretch>
        </p:blipFill>
        <p:spPr>
          <a:xfrm xmlns:a="http://schemas.openxmlformats.org/drawingml/2006/main">
            <a:off x="552450" y="209550"/>
            <a:ext cx="2457450" cy="41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A4144D4-FF7A-4A82-99D7-3D12C1AA6DBA}"/>
              </a:ext>
            </a:extLst>
          </p:cNvPr>
          <p:cNvSpPr>
            <a:spLocks xmlns:a="http://schemas.openxmlformats.org/drawingml/2006/main" noGrp="1"/>
          </p:cNvSpPr>
          <p:nvPr/>
        </p:nvSpPr>
        <p:spPr>
          <a:xfrm xmlns:a="http://schemas.openxmlformats.org/drawingml/2006/main">
            <a:off x="8096250" y="3238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19" b="1" i="0">
                <a:solidFill>
                  <a:srgbClr val="E3A06D"/>
                </a:solidFill>
                <a:latin typeface="Arial"/>
                <a:ea typeface="Arial"/>
                <a:cs typeface="Arial"/>
              </a:defRPr>
            </a:pPr>
            <a:r>
              <a:rPr sz="819" b="1" i="0">
                <a:solidFill>
                  <a:srgbClr val="E3A06D"/>
                </a:solidFill>
                <a:latin typeface="Arial"/>
                <a:ea typeface="Arial"/>
                <a:cs typeface="Arial"/>
              </a:rPr>
              <a:t>THE STRATEGIC INSIGHT</a:t>
            </a:r>
          </a:p>
        </p:txBody>
      </p:sp>
      <p:sp>
        <p:nvSpPr>
          <p:cNvPr id="4" name="">
            <a:extLst xmlns:a="http://schemas.openxmlformats.org/drawingml/2006/main">
              <a:ext uri="{FF2B5EF4-FFF2-40B4-BE49-F238E27FC236}">
                <a16:creationId xmlns:a16="http://schemas.microsoft.com/office/drawing/2014/main" id="{0379070D-6C0F-4266-8945-5BC47DF63F1F}"/>
              </a:ext>
            </a:extLst>
          </p:cNvPr>
          <p:cNvSpPr>
            <a:spLocks xmlns:a="http://schemas.openxmlformats.org/drawingml/2006/main" noGrp="1"/>
          </p:cNvSpPr>
          <p:nvPr/>
        </p:nvSpPr>
        <p:spPr>
          <a:xfrm xmlns:a="http://schemas.openxmlformats.org/drawingml/2006/main">
            <a:off x="11334750" y="3238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19" b="1" i="0">
                <a:solidFill>
                  <a:srgbClr val="8B9094"/>
                </a:solidFill>
                <a:latin typeface="Arial"/>
                <a:ea typeface="Arial"/>
                <a:cs typeface="Arial"/>
              </a:defRPr>
            </a:pPr>
            <a:r>
              <a:rPr sz="819" b="1" i="0">
                <a:solidFill>
                  <a:srgbClr val="8B9094"/>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63E0C359-915D-4200-B24C-8C5DB37F2860}"/>
              </a:ext>
            </a:extLst>
          </p:cNvPr>
          <p:cNvSpPr>
            <a:spLocks xmlns:a="http://schemas.openxmlformats.org/drawingml/2006/main" noGrp="1"/>
          </p:cNvSpPr>
          <p:nvPr/>
        </p:nvSpPr>
        <p:spPr>
          <a:xfrm xmlns:a="http://schemas.openxmlformats.org/drawingml/2006/main" rot="0">
            <a:off x="552450" y="1304925"/>
            <a:ext cx="66675" cy="274320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FAE8ECB-F97B-4C8B-A969-7459B2AA08F4}"/>
              </a:ext>
            </a:extLst>
          </p:cNvPr>
          <p:cNvSpPr>
            <a:spLocks xmlns:a="http://schemas.openxmlformats.org/drawingml/2006/main" noGrp="1"/>
          </p:cNvSpPr>
          <p:nvPr/>
        </p:nvSpPr>
        <p:spPr>
          <a:xfrm xmlns:a="http://schemas.openxmlformats.org/drawingml/2006/main">
            <a:off x="866775" y="1247775"/>
            <a:ext cx="10001250"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8000"/>
              </a:lnSpc>
              <a:buNone/>
              <a:defRPr sz="3087" b="1" i="0">
                <a:solidFill>
                  <a:srgbClr val="FFFFFF"/>
                </a:solidFill>
                <a:latin typeface="Arial"/>
                <a:ea typeface="Arial"/>
                <a:cs typeface="Arial"/>
              </a:defRPr>
            </a:pPr>
            <a:r>
              <a:rPr sz="3087" b="1" i="0">
                <a:solidFill>
                  <a:srgbClr val="FFFFFF"/>
                </a:solidFill>
                <a:latin typeface="Arial"/>
                <a:ea typeface="Arial"/>
                <a:cs typeface="Arial"/>
              </a:rPr>
              <a:t>TIME TO POWER IS AN</a:t>
            </a:r>
          </a:p>
          <a:p xmlns:a="http://schemas.openxmlformats.org/drawingml/2006/main">
            <a:pPr algn="l">
              <a:lnSpc>
                <a:spcPct val="88000"/>
              </a:lnSpc>
              <a:buNone/>
              <a:defRPr sz="3087" b="1" i="0">
                <a:solidFill>
                  <a:srgbClr val="FFFFFF"/>
                </a:solidFill>
                <a:latin typeface="Arial"/>
                <a:ea typeface="Arial"/>
                <a:cs typeface="Arial"/>
              </a:defRPr>
            </a:pPr>
            <a:r>
              <a:rPr sz="3087" b="1" i="0">
                <a:solidFill>
                  <a:srgbClr val="FFFFFF"/>
                </a:solidFill>
                <a:latin typeface="Arial"/>
                <a:ea typeface="Arial"/>
                <a:cs typeface="Arial"/>
              </a:rPr>
              <a:t>ELECTRICAL EXECUTION PROBLEM</a:t>
            </a:r>
          </a:p>
          <a:p xmlns:a="http://schemas.openxmlformats.org/drawingml/2006/main">
            <a:pPr algn="l">
              <a:lnSpc>
                <a:spcPct val="88000"/>
              </a:lnSpc>
              <a:buNone/>
              <a:defRPr sz="3087" b="1" i="0">
                <a:solidFill>
                  <a:srgbClr val="FFFFFF"/>
                </a:solidFill>
                <a:latin typeface="Arial"/>
                <a:ea typeface="Arial"/>
                <a:cs typeface="Arial"/>
              </a:defRPr>
            </a:pPr>
            <a:r>
              <a:rPr sz="3087" b="1" i="0">
                <a:solidFill>
                  <a:srgbClr val="FFFFFF"/>
                </a:solidFill>
                <a:latin typeface="Arial"/>
                <a:ea typeface="Arial"/>
                <a:cs typeface="Arial"/>
              </a:rPr>
              <a:t>BEFORE IT IS A CABLE-BUYING PROBLEM.</a:t>
            </a:r>
          </a:p>
        </p:txBody>
      </p:sp>
      <p:sp>
        <p:nvSpPr>
          <p:cNvPr id="7" name="">
            <a:extLst xmlns:a="http://schemas.openxmlformats.org/drawingml/2006/main">
              <a:ext uri="{FF2B5EF4-FFF2-40B4-BE49-F238E27FC236}">
                <a16:creationId xmlns:a16="http://schemas.microsoft.com/office/drawing/2014/main" id="{778ADA97-15E3-44DF-8039-F5322D253F29}"/>
              </a:ext>
            </a:extLst>
          </p:cNvPr>
          <p:cNvSpPr>
            <a:spLocks xmlns:a="http://schemas.openxmlformats.org/drawingml/2006/main" noGrp="1"/>
          </p:cNvSpPr>
          <p:nvPr/>
        </p:nvSpPr>
        <p:spPr>
          <a:xfrm xmlns:a="http://schemas.openxmlformats.org/drawingml/2006/main">
            <a:off x="881063" y="4338638"/>
            <a:ext cx="66675" cy="66675"/>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604F568-5669-432F-A2DA-B31C8C71C266}"/>
              </a:ext>
            </a:extLst>
          </p:cNvPr>
          <p:cNvSpPr>
            <a:spLocks xmlns:a="http://schemas.openxmlformats.org/drawingml/2006/main" noGrp="1"/>
          </p:cNvSpPr>
          <p:nvPr/>
        </p:nvSpPr>
        <p:spPr>
          <a:xfrm xmlns:a="http://schemas.openxmlformats.org/drawingml/2006/main">
            <a:off x="1038225" y="4276725"/>
            <a:ext cx="93059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D5D7D9"/>
                </a:solidFill>
                <a:latin typeface="Arial"/>
                <a:ea typeface="Arial"/>
                <a:cs typeface="Arial"/>
              </a:defRPr>
            </a:pPr>
            <a:r>
              <a:rPr sz="1350" b="0" i="0">
                <a:solidFill>
                  <a:srgbClr val="D5D7D9"/>
                </a:solidFill>
                <a:latin typeface="Arial"/>
                <a:ea typeface="Arial"/>
                <a:cs typeface="Arial"/>
              </a:rPr>
              <a:t>Interfaces cross packages, zones, contractors and turnover paths.</a:t>
            </a:r>
          </a:p>
        </p:txBody>
      </p:sp>
      <p:sp>
        <p:nvSpPr>
          <p:cNvPr id="9" name="">
            <a:extLst xmlns:a="http://schemas.openxmlformats.org/drawingml/2006/main">
              <a:ext uri="{FF2B5EF4-FFF2-40B4-BE49-F238E27FC236}">
                <a16:creationId xmlns:a16="http://schemas.microsoft.com/office/drawing/2014/main" id="{C8C4731C-1E44-4801-8550-BCA9CD20CA32}"/>
              </a:ext>
            </a:extLst>
          </p:cNvPr>
          <p:cNvSpPr>
            <a:spLocks xmlns:a="http://schemas.openxmlformats.org/drawingml/2006/main" noGrp="1"/>
          </p:cNvSpPr>
          <p:nvPr/>
        </p:nvSpPr>
        <p:spPr>
          <a:xfrm xmlns:a="http://schemas.openxmlformats.org/drawingml/2006/main">
            <a:off x="881063" y="4814888"/>
            <a:ext cx="66675" cy="66675"/>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29FEADE-D784-4275-97D0-D439A872B660}"/>
              </a:ext>
            </a:extLst>
          </p:cNvPr>
          <p:cNvSpPr>
            <a:spLocks xmlns:a="http://schemas.openxmlformats.org/drawingml/2006/main" noGrp="1"/>
          </p:cNvSpPr>
          <p:nvPr/>
        </p:nvSpPr>
        <p:spPr>
          <a:xfrm xmlns:a="http://schemas.openxmlformats.org/drawingml/2006/main">
            <a:off x="1038225" y="4752975"/>
            <a:ext cx="93059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D5D7D9"/>
                </a:solidFill>
                <a:latin typeface="Arial"/>
                <a:ea typeface="Arial"/>
                <a:cs typeface="Arial"/>
              </a:defRPr>
            </a:pPr>
            <a:r>
              <a:rPr sz="1350" b="0" i="0">
                <a:solidFill>
                  <a:srgbClr val="D5D7D9"/>
                </a:solidFill>
                <a:latin typeface="Arial"/>
                <a:ea typeface="Arial"/>
                <a:cs typeface="Arial"/>
              </a:rPr>
              <a:t>Late material decisions return as handling, rework and commissioning exposure.</a:t>
            </a:r>
          </a:p>
        </p:txBody>
      </p:sp>
      <p:sp>
        <p:nvSpPr>
          <p:cNvPr id="11" name="">
            <a:extLst xmlns:a="http://schemas.openxmlformats.org/drawingml/2006/main">
              <a:ext uri="{FF2B5EF4-FFF2-40B4-BE49-F238E27FC236}">
                <a16:creationId xmlns:a16="http://schemas.microsoft.com/office/drawing/2014/main" id="{EBDF5EDB-6FB9-47B4-90E7-4074EC3A17C7}"/>
              </a:ext>
            </a:extLst>
          </p:cNvPr>
          <p:cNvSpPr>
            <a:spLocks xmlns:a="http://schemas.openxmlformats.org/drawingml/2006/main" noGrp="1"/>
          </p:cNvSpPr>
          <p:nvPr/>
        </p:nvSpPr>
        <p:spPr>
          <a:xfrm xmlns:a="http://schemas.openxmlformats.org/drawingml/2006/main">
            <a:off x="881063" y="5291138"/>
            <a:ext cx="66675" cy="66675"/>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F51CB84-C4F4-4D9D-BBAE-1F58A6DE57D0}"/>
              </a:ext>
            </a:extLst>
          </p:cNvPr>
          <p:cNvSpPr>
            <a:spLocks xmlns:a="http://schemas.openxmlformats.org/drawingml/2006/main" noGrp="1"/>
          </p:cNvSpPr>
          <p:nvPr/>
        </p:nvSpPr>
        <p:spPr>
          <a:xfrm xmlns:a="http://schemas.openxmlformats.org/drawingml/2006/main">
            <a:off x="1038225" y="5229225"/>
            <a:ext cx="93059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D5D7D9"/>
                </a:solidFill>
                <a:latin typeface="Arial"/>
                <a:ea typeface="Arial"/>
                <a:cs typeface="Arial"/>
              </a:defRPr>
            </a:pPr>
            <a:r>
              <a:rPr sz="1350" b="0" i="0">
                <a:solidFill>
                  <a:srgbClr val="D5D7D9"/>
                </a:solidFill>
                <a:latin typeface="Arial"/>
                <a:ea typeface="Arial"/>
                <a:cs typeface="Arial"/>
              </a:rPr>
              <a:t>Managing the workstream as a system can protect schedule better than isolated purchase-order optimization.</a:t>
            </a:r>
          </a:p>
        </p:txBody>
      </p:sp>
      <p:sp>
        <p:nvSpPr>
          <p:cNvPr id="13" name="">
            <a:extLst xmlns:a="http://schemas.openxmlformats.org/drawingml/2006/main">
              <a:ext uri="{FF2B5EF4-FFF2-40B4-BE49-F238E27FC236}">
                <a16:creationId xmlns:a16="http://schemas.microsoft.com/office/drawing/2014/main" id="{D549ADE3-6C12-4085-889E-8A2423F5705D}"/>
              </a:ext>
            </a:extLst>
          </p:cNvPr>
          <p:cNvSpPr>
            <a:spLocks xmlns:a="http://schemas.openxmlformats.org/drawingml/2006/main" noGrp="1"/>
          </p:cNvSpPr>
          <p:nvPr/>
        </p:nvSpPr>
        <p:spPr>
          <a:xfrm xmlns:a="http://schemas.openxmlformats.org/drawingml/2006/main">
            <a:off x="1524000" y="6096000"/>
            <a:ext cx="8572500" cy="0"/>
          </a:xfrm>
          <a:prstGeom xmlns:a="http://schemas.openxmlformats.org/drawingml/2006/main" prst="line">
            <a:avLst/>
          </a:prstGeom>
          <a:noFill xmlns:a="http://schemas.openxmlformats.org/drawingml/2006/main"/>
          <a:ln xmlns:a="http://schemas.openxmlformats.org/drawingml/2006/main" w="28575">
            <a:solidFill>
              <a:srgbClr val="C9783E"/>
            </a:solidFill>
            <a:prstDash val="solid"/>
          </a:ln>
        </p:spPr>
      </p:sp>
      <p:sp>
        <p:nvSpPr>
          <p:cNvPr id="14" name="">
            <a:extLst xmlns:a="http://schemas.openxmlformats.org/drawingml/2006/main">
              <a:ext uri="{FF2B5EF4-FFF2-40B4-BE49-F238E27FC236}">
                <a16:creationId xmlns:a16="http://schemas.microsoft.com/office/drawing/2014/main" id="{5EB9ADDD-D017-45CB-B044-B3CD0F2D0C2E}"/>
              </a:ext>
            </a:extLst>
          </p:cNvPr>
          <p:cNvSpPr>
            <a:spLocks xmlns:a="http://schemas.openxmlformats.org/drawingml/2006/main" noGrp="1"/>
          </p:cNvSpPr>
          <p:nvPr/>
        </p:nvSpPr>
        <p:spPr>
          <a:xfrm xmlns:a="http://schemas.openxmlformats.org/drawingml/2006/main">
            <a:off x="1409700" y="5981700"/>
            <a:ext cx="228600" cy="22860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2783846-430F-43A3-8E35-20253928B57B}"/>
              </a:ext>
            </a:extLst>
          </p:cNvPr>
          <p:cNvSpPr>
            <a:spLocks xmlns:a="http://schemas.openxmlformats.org/drawingml/2006/main" noGrp="1"/>
          </p:cNvSpPr>
          <p:nvPr/>
        </p:nvSpPr>
        <p:spPr>
          <a:xfrm xmlns:a="http://schemas.openxmlformats.org/drawingml/2006/main">
            <a:off x="800100" y="6334125"/>
            <a:ext cx="144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82" b="1" i="0">
                <a:solidFill>
                  <a:srgbClr val="8B9094"/>
                </a:solidFill>
                <a:latin typeface="Arial"/>
                <a:ea typeface="Arial"/>
                <a:cs typeface="Arial"/>
              </a:defRPr>
            </a:pPr>
            <a:r>
              <a:rPr sz="882" b="1" i="0">
                <a:solidFill>
                  <a:srgbClr val="8B9094"/>
                </a:solidFill>
                <a:latin typeface="Arial"/>
                <a:ea typeface="Arial"/>
                <a:cs typeface="Arial"/>
              </a:rPr>
              <a:t>DESIGN</a:t>
            </a:r>
          </a:p>
        </p:txBody>
      </p:sp>
      <p:sp>
        <p:nvSpPr>
          <p:cNvPr id="16" name="">
            <a:extLst xmlns:a="http://schemas.openxmlformats.org/drawingml/2006/main">
              <a:ext uri="{FF2B5EF4-FFF2-40B4-BE49-F238E27FC236}">
                <a16:creationId xmlns:a16="http://schemas.microsoft.com/office/drawing/2014/main" id="{80BBEA81-C80A-41ED-B57A-99D5025A0570}"/>
              </a:ext>
            </a:extLst>
          </p:cNvPr>
          <p:cNvSpPr>
            <a:spLocks xmlns:a="http://schemas.openxmlformats.org/drawingml/2006/main" noGrp="1"/>
          </p:cNvSpPr>
          <p:nvPr/>
        </p:nvSpPr>
        <p:spPr>
          <a:xfrm xmlns:a="http://schemas.openxmlformats.org/drawingml/2006/main">
            <a:off x="4267200" y="5981700"/>
            <a:ext cx="228600" cy="22860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24E2898-5B19-487D-8F27-1B5CC3DD19FF}"/>
              </a:ext>
            </a:extLst>
          </p:cNvPr>
          <p:cNvSpPr>
            <a:spLocks xmlns:a="http://schemas.openxmlformats.org/drawingml/2006/main" noGrp="1"/>
          </p:cNvSpPr>
          <p:nvPr/>
        </p:nvSpPr>
        <p:spPr>
          <a:xfrm xmlns:a="http://schemas.openxmlformats.org/drawingml/2006/main">
            <a:off x="3657600" y="6334125"/>
            <a:ext cx="144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82" b="1" i="0">
                <a:solidFill>
                  <a:srgbClr val="8B9094"/>
                </a:solidFill>
                <a:latin typeface="Arial"/>
                <a:ea typeface="Arial"/>
                <a:cs typeface="Arial"/>
              </a:defRPr>
            </a:pPr>
            <a:r>
              <a:rPr sz="882" b="1" i="0">
                <a:solidFill>
                  <a:srgbClr val="8B9094"/>
                </a:solidFill>
                <a:latin typeface="Arial"/>
                <a:ea typeface="Arial"/>
                <a:cs typeface="Arial"/>
              </a:rPr>
              <a:t>MATERIAL</a:t>
            </a:r>
          </a:p>
        </p:txBody>
      </p:sp>
      <p:sp>
        <p:nvSpPr>
          <p:cNvPr id="18" name="">
            <a:extLst xmlns:a="http://schemas.openxmlformats.org/drawingml/2006/main">
              <a:ext uri="{FF2B5EF4-FFF2-40B4-BE49-F238E27FC236}">
                <a16:creationId xmlns:a16="http://schemas.microsoft.com/office/drawing/2014/main" id="{2392268D-8BE3-49C1-A1DD-AFEE7005E6D1}"/>
              </a:ext>
            </a:extLst>
          </p:cNvPr>
          <p:cNvSpPr>
            <a:spLocks xmlns:a="http://schemas.openxmlformats.org/drawingml/2006/main" noGrp="1"/>
          </p:cNvSpPr>
          <p:nvPr/>
        </p:nvSpPr>
        <p:spPr>
          <a:xfrm xmlns:a="http://schemas.openxmlformats.org/drawingml/2006/main">
            <a:off x="7124700" y="5981700"/>
            <a:ext cx="228600" cy="22860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7E81957-DAAF-4804-A30B-1D8791381F59}"/>
              </a:ext>
            </a:extLst>
          </p:cNvPr>
          <p:cNvSpPr>
            <a:spLocks xmlns:a="http://schemas.openxmlformats.org/drawingml/2006/main" noGrp="1"/>
          </p:cNvSpPr>
          <p:nvPr/>
        </p:nvSpPr>
        <p:spPr>
          <a:xfrm xmlns:a="http://schemas.openxmlformats.org/drawingml/2006/main">
            <a:off x="6515100" y="6334125"/>
            <a:ext cx="144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82" b="1" i="0">
                <a:solidFill>
                  <a:srgbClr val="8B9094"/>
                </a:solidFill>
                <a:latin typeface="Arial"/>
                <a:ea typeface="Arial"/>
                <a:cs typeface="Arial"/>
              </a:defRPr>
            </a:pPr>
            <a:r>
              <a:rPr sz="882" b="1" i="0">
                <a:solidFill>
                  <a:srgbClr val="8B9094"/>
                </a:solidFill>
                <a:latin typeface="Arial"/>
                <a:ea typeface="Arial"/>
                <a:cs typeface="Arial"/>
              </a:rPr>
              <a:t>WORKFACE</a:t>
            </a:r>
          </a:p>
        </p:txBody>
      </p:sp>
      <p:sp>
        <p:nvSpPr>
          <p:cNvPr id="20" name="">
            <a:extLst xmlns:a="http://schemas.openxmlformats.org/drawingml/2006/main">
              <a:ext uri="{FF2B5EF4-FFF2-40B4-BE49-F238E27FC236}">
                <a16:creationId xmlns:a16="http://schemas.microsoft.com/office/drawing/2014/main" id="{B8901EE6-526F-44DD-B308-332CEE4102C1}"/>
              </a:ext>
            </a:extLst>
          </p:cNvPr>
          <p:cNvSpPr>
            <a:spLocks xmlns:a="http://schemas.openxmlformats.org/drawingml/2006/main" noGrp="1"/>
          </p:cNvSpPr>
          <p:nvPr/>
        </p:nvSpPr>
        <p:spPr>
          <a:xfrm xmlns:a="http://schemas.openxmlformats.org/drawingml/2006/main">
            <a:off x="9982200" y="5981700"/>
            <a:ext cx="228600" cy="228600"/>
          </a:xfrm>
          <a:prstGeom xmlns:a="http://schemas.openxmlformats.org/drawingml/2006/main" prst="ellipse">
            <a:avLst/>
          </a:prstGeom>
          <a:solidFill xmlns:a="http://schemas.openxmlformats.org/drawingml/2006/main">
            <a:srgbClr val="9D4E2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48D04B9-C876-439E-8002-82DC4C685F6C}"/>
              </a:ext>
            </a:extLst>
          </p:cNvPr>
          <p:cNvSpPr>
            <a:spLocks xmlns:a="http://schemas.openxmlformats.org/drawingml/2006/main" noGrp="1"/>
          </p:cNvSpPr>
          <p:nvPr/>
        </p:nvSpPr>
        <p:spPr>
          <a:xfrm xmlns:a="http://schemas.openxmlformats.org/drawingml/2006/main">
            <a:off x="9372600" y="6334125"/>
            <a:ext cx="144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82" b="1" i="0">
                <a:solidFill>
                  <a:srgbClr val="E3A06D"/>
                </a:solidFill>
                <a:latin typeface="Arial"/>
                <a:ea typeface="Arial"/>
                <a:cs typeface="Arial"/>
              </a:defRPr>
            </a:pPr>
            <a:r>
              <a:rPr sz="882" b="1" i="0">
                <a:solidFill>
                  <a:srgbClr val="E3A06D"/>
                </a:solidFill>
                <a:latin typeface="Arial"/>
                <a:ea typeface="Arial"/>
                <a:cs typeface="Arial"/>
              </a:rPr>
              <a:t>ENERGIZATION</a:t>
            </a:r>
          </a:p>
        </p:txBody>
      </p:sp>
    </p:spTree>
    <p:extLst>
      <p:ext uri="{BB962C8B-B14F-4D97-AF65-F5344CB8AC3E}">
        <p14:creationId xmlns:p14="http://schemas.microsoft.com/office/powerpoint/2010/main" val="1187526084"/>
      </p:ext>
    </p:extLst>
  </p:cSld>
</p:sld>
</file>

<file path=ppt/slides/slide5.xml><?xml version="1.0" encoding="utf-8"?>
<p:sld xmlns:p="http://schemas.openxmlformats.org/presentationml/2006/main">
  <p:cSld>
    <p:bg>
      <p:bgPr>
        <a:solidFill xmlns:a="http://schemas.openxmlformats.org/drawingml/2006/main">
          <a:srgbClr val="F6F3EE"/>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F587CA73-F00F-444D-A144-E7BD3C3F9685}"/>
              </a:ext>
            </a:extLst>
          </p:cNvPr>
          <p:cNvSpPr>
            <a:spLocks xmlns:a="http://schemas.openxmlformats.org/drawingml/2006/main" noGrp="1"/>
          </p:cNvSpPr>
          <p:nvPr/>
        </p:nvSpPr>
        <p:spPr>
          <a:xfrm xmlns:a="http://schemas.openxmlformats.org/drawingml/2006/main" rot="0">
            <a:off x="0" y="0"/>
            <a:ext cx="12192000" cy="5715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9278081788d04e04"/>
          <a:stretch xmlns:a="http://schemas.openxmlformats.org/drawingml/2006/main"/>
        </p:blipFill>
        <p:spPr>
          <a:xfrm xmlns:a="http://schemas.openxmlformats.org/drawingml/2006/main">
            <a:off x="719138" y="200025"/>
            <a:ext cx="2066925" cy="590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419E82D-DB7C-4D48-AE18-2ADA099AB5ED}"/>
              </a:ext>
            </a:extLst>
          </p:cNvPr>
          <p:cNvSpPr>
            <a:spLocks xmlns:a="http://schemas.openxmlformats.org/drawingml/2006/main" noGrp="1"/>
          </p:cNvSpPr>
          <p:nvPr/>
        </p:nvSpPr>
        <p:spPr>
          <a:xfrm xmlns:a="http://schemas.openxmlformats.org/drawingml/2006/main">
            <a:off x="8096250" y="3238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19" b="1" i="0">
                <a:solidFill>
                  <a:srgbClr val="9D4E24"/>
                </a:solidFill>
                <a:latin typeface="Arial"/>
                <a:ea typeface="Arial"/>
                <a:cs typeface="Arial"/>
              </a:defRPr>
            </a:pPr>
            <a:r>
              <a:rPr sz="819" b="1" i="0">
                <a:solidFill>
                  <a:srgbClr val="9D4E24"/>
                </a:solidFill>
                <a:latin typeface="Arial"/>
                <a:ea typeface="Arial"/>
                <a:cs typeface="Arial"/>
              </a:rPr>
              <a:t>PLANT-WIDE COVERAGE</a:t>
            </a:r>
          </a:p>
        </p:txBody>
      </p:sp>
      <p:sp>
        <p:nvSpPr>
          <p:cNvPr id="4" name="">
            <a:extLst xmlns:a="http://schemas.openxmlformats.org/drawingml/2006/main">
              <a:ext uri="{FF2B5EF4-FFF2-40B4-BE49-F238E27FC236}">
                <a16:creationId xmlns:a16="http://schemas.microsoft.com/office/drawing/2014/main" id="{FBB6C31F-181F-4DC6-B47C-5324FFC4F8AC}"/>
              </a:ext>
            </a:extLst>
          </p:cNvPr>
          <p:cNvSpPr>
            <a:spLocks xmlns:a="http://schemas.openxmlformats.org/drawingml/2006/main" noGrp="1"/>
          </p:cNvSpPr>
          <p:nvPr/>
        </p:nvSpPr>
        <p:spPr>
          <a:xfrm xmlns:a="http://schemas.openxmlformats.org/drawingml/2006/main">
            <a:off x="11334750" y="3238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19" b="1" i="0">
                <a:solidFill>
                  <a:srgbClr val="8B9094"/>
                </a:solidFill>
                <a:latin typeface="Arial"/>
                <a:ea typeface="Arial"/>
                <a:cs typeface="Arial"/>
              </a:defRPr>
            </a:pPr>
            <a:r>
              <a:rPr sz="819" b="1" i="0">
                <a:solidFill>
                  <a:srgbClr val="8B9094"/>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F7E27FE3-B5F8-4C6E-9A80-44D35E26742D}"/>
              </a:ext>
            </a:extLst>
          </p:cNvPr>
          <p:cNvSpPr>
            <a:spLocks xmlns:a="http://schemas.openxmlformats.org/drawingml/2006/main" noGrp="1"/>
          </p:cNvSpPr>
          <p:nvPr/>
        </p:nvSpPr>
        <p:spPr>
          <a:xfrm xmlns:a="http://schemas.openxmlformats.org/drawingml/2006/main">
            <a:off x="552450" y="876300"/>
            <a:ext cx="1104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82" b="1" i="0">
                <a:solidFill>
                  <a:srgbClr val="9D4E24"/>
                </a:solidFill>
                <a:latin typeface="Arial"/>
                <a:ea typeface="Arial"/>
                <a:cs typeface="Arial"/>
              </a:defRPr>
            </a:pPr>
            <a:r>
              <a:rPr sz="882" b="1" i="0">
                <a:solidFill>
                  <a:srgbClr val="9D4E24"/>
                </a:solidFill>
                <a:latin typeface="Arial"/>
                <a:ea typeface="Arial"/>
                <a:cs typeface="Arial"/>
              </a:rPr>
              <a:t>PLANT-ZONE COVERAGE</a:t>
            </a:r>
          </a:p>
        </p:txBody>
      </p:sp>
      <p:sp>
        <p:nvSpPr>
          <p:cNvPr id="6" name="">
            <a:extLst xmlns:a="http://schemas.openxmlformats.org/drawingml/2006/main">
              <a:ext uri="{FF2B5EF4-FFF2-40B4-BE49-F238E27FC236}">
                <a16:creationId xmlns:a16="http://schemas.microsoft.com/office/drawing/2014/main" id="{1D05A49D-C8FE-4DB7-81A6-02700B1A5567}"/>
              </a:ext>
            </a:extLst>
          </p:cNvPr>
          <p:cNvSpPr>
            <a:spLocks xmlns:a="http://schemas.openxmlformats.org/drawingml/2006/main" noGrp="1"/>
          </p:cNvSpPr>
          <p:nvPr/>
        </p:nvSpPr>
        <p:spPr>
          <a:xfrm xmlns:a="http://schemas.openxmlformats.org/drawingml/2006/main">
            <a:off x="552450" y="118110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2925" b="1" i="0">
                <a:solidFill>
                  <a:srgbClr val="17191C"/>
                </a:solidFill>
                <a:latin typeface="Arial"/>
                <a:ea typeface="Arial"/>
                <a:cs typeface="Arial"/>
              </a:defRPr>
            </a:pPr>
            <a:r>
              <a:rPr sz="2925" b="1" i="0">
                <a:solidFill>
                  <a:srgbClr val="17191C"/>
                </a:solidFill>
                <a:latin typeface="Arial"/>
                <a:ea typeface="Arial"/>
                <a:cs typeface="Arial"/>
              </a:rPr>
              <a:t>Six clusters map a routed 3×1 electrical reference model.</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9ba0958dc14b4dd2"/>
          <a:stretch xmlns:a="http://schemas.openxmlformats.org/drawingml/2006/main"/>
        </p:blipFill>
        <p:spPr>
          <a:xfrm xmlns:a="http://schemas.openxmlformats.org/drawingml/2006/main">
            <a:off x="3429000" y="1763634"/>
            <a:ext cx="5334000" cy="3025932"/>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3DB9F71-6E26-43C9-9D00-650A92648EAF}"/>
              </a:ext>
            </a:extLst>
          </p:cNvPr>
          <p:cNvSpPr>
            <a:spLocks xmlns:a="http://schemas.openxmlformats.org/drawingml/2006/main" noGrp="1"/>
          </p:cNvSpPr>
          <p:nvPr/>
        </p:nvSpPr>
        <p:spPr>
          <a:xfrm xmlns:a="http://schemas.openxmlformats.org/drawingml/2006/main" rot="0">
            <a:off x="552450" y="1714500"/>
            <a:ext cx="800100" cy="238125"/>
          </a:xfrm>
          <a:prstGeom xmlns:a="http://schemas.openxmlformats.org/drawingml/2006/main" prst="roundRect">
            <a:avLst>
              <a:gd name="adj" fmla="val 50000"/>
            </a:avLst>
          </a:prstGeom>
          <a:solidFill xmlns:a="http://schemas.openxmlformats.org/drawingml/2006/main">
            <a:srgbClr val="F2E3D8"/>
          </a:solidFill>
          <a:ln xmlns:a="http://schemas.openxmlformats.org/drawingml/2006/main" w="9525">
            <a:solidFill>
              <a:srgbClr val="F2E3D8"/>
            </a:solidFill>
            <a:prstDash val="solid"/>
          </a:ln>
        </p:spPr>
      </p:sp>
      <p:sp>
        <p:nvSpPr>
          <p:cNvPr id="9" name="">
            <a:extLst xmlns:a="http://schemas.openxmlformats.org/drawingml/2006/main">
              <a:ext uri="{FF2B5EF4-FFF2-40B4-BE49-F238E27FC236}">
                <a16:creationId xmlns:a16="http://schemas.microsoft.com/office/drawing/2014/main" id="{9F178D32-47AB-4ACD-B19C-93B637E9560A}"/>
              </a:ext>
            </a:extLst>
          </p:cNvPr>
          <p:cNvSpPr>
            <a:spLocks xmlns:a="http://schemas.openxmlformats.org/drawingml/2006/main" noGrp="1"/>
          </p:cNvSpPr>
          <p:nvPr/>
        </p:nvSpPr>
        <p:spPr>
          <a:xfrm xmlns:a="http://schemas.openxmlformats.org/drawingml/2006/main">
            <a:off x="552450" y="17335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756" b="1" i="0">
                <a:solidFill>
                  <a:srgbClr val="9D4E24"/>
                </a:solidFill>
                <a:latin typeface="Arial"/>
                <a:ea typeface="Arial"/>
                <a:cs typeface="Arial"/>
              </a:defRPr>
            </a:pPr>
            <a:r>
              <a:rPr sz="756" b="1" i="0">
                <a:solidFill>
                  <a:srgbClr val="9D4E24"/>
                </a:solidFill>
                <a:latin typeface="Arial"/>
                <a:ea typeface="Arial"/>
                <a:cs typeface="Arial"/>
              </a:rPr>
              <a:t>1, 16</a:t>
            </a:r>
          </a:p>
        </p:txBody>
      </p:sp>
      <p:sp>
        <p:nvSpPr>
          <p:cNvPr id="10" name="">
            <a:extLst xmlns:a="http://schemas.openxmlformats.org/drawingml/2006/main">
              <a:ext uri="{FF2B5EF4-FFF2-40B4-BE49-F238E27FC236}">
                <a16:creationId xmlns:a16="http://schemas.microsoft.com/office/drawing/2014/main" id="{889E48A4-C583-4DF2-8127-1CE7F33F6429}"/>
              </a:ext>
            </a:extLst>
          </p:cNvPr>
          <p:cNvSpPr>
            <a:spLocks xmlns:a="http://schemas.openxmlformats.org/drawingml/2006/main" noGrp="1"/>
          </p:cNvSpPr>
          <p:nvPr/>
        </p:nvSpPr>
        <p:spPr>
          <a:xfrm xmlns:a="http://schemas.openxmlformats.org/drawingml/2006/main">
            <a:off x="552450" y="2047875"/>
            <a:ext cx="2714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45" b="1" i="0">
                <a:solidFill>
                  <a:srgbClr val="9D4E24"/>
                </a:solidFill>
                <a:latin typeface="Arial"/>
                <a:ea typeface="Arial"/>
                <a:cs typeface="Arial"/>
              </a:defRPr>
            </a:pPr>
            <a:r>
              <a:rPr sz="945" b="1" i="0">
                <a:solidFill>
                  <a:srgbClr val="9D4E24"/>
                </a:solidFill>
                <a:latin typeface="Arial"/>
                <a:ea typeface="Arial"/>
                <a:cs typeface="Arial"/>
              </a:rPr>
              <a:t>GRID + SITE BACKBONE</a:t>
            </a:r>
          </a:p>
        </p:txBody>
      </p:sp>
      <p:sp>
        <p:nvSpPr>
          <p:cNvPr id="11" name="">
            <a:extLst xmlns:a="http://schemas.openxmlformats.org/drawingml/2006/main">
              <a:ext uri="{FF2B5EF4-FFF2-40B4-BE49-F238E27FC236}">
                <a16:creationId xmlns:a16="http://schemas.microsoft.com/office/drawing/2014/main" id="{A4FC49CC-76D8-4AA8-B69E-C48BDA46D145}"/>
              </a:ext>
            </a:extLst>
          </p:cNvPr>
          <p:cNvSpPr>
            <a:spLocks xmlns:a="http://schemas.openxmlformats.org/drawingml/2006/main" noGrp="1"/>
          </p:cNvSpPr>
          <p:nvPr/>
        </p:nvSpPr>
        <p:spPr>
          <a:xfrm xmlns:a="http://schemas.openxmlformats.org/drawingml/2006/main">
            <a:off x="552450" y="2314575"/>
            <a:ext cx="2714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0" i="0">
                <a:solidFill>
                  <a:srgbClr val="6A6F73"/>
                </a:solidFill>
                <a:latin typeface="Arial"/>
                <a:ea typeface="Arial"/>
                <a:cs typeface="Arial"/>
              </a:defRPr>
            </a:pPr>
            <a:r>
              <a:rPr sz="1050" b="0" i="0">
                <a:solidFill>
                  <a:srgbClr val="6A6F73"/>
                </a:solidFill>
                <a:latin typeface="Arial"/>
                <a:ea typeface="Arial"/>
                <a:cs typeface="Arial"/>
              </a:rPr>
              <a:t>Switchyard, GSU/grid tie and MV corridors</a:t>
            </a:r>
          </a:p>
          <a:p xmlns:a="http://schemas.openxmlformats.org/drawingml/2006/main">
            <a:pPr algn="l">
              <a:lnSpc>
                <a:spcPct val="103000"/>
              </a:lnSpc>
              <a:buNone/>
              <a:defRPr sz="1050" b="0" i="0">
                <a:solidFill>
                  <a:srgbClr val="6A6F73"/>
                </a:solidFill>
                <a:latin typeface="Arial"/>
                <a:ea typeface="Arial"/>
                <a:cs typeface="Arial"/>
              </a:defRPr>
            </a:pPr>
            <a:r>
              <a:rPr sz="1050" b="0" i="0">
                <a:solidFill>
                  <a:srgbClr val="6A6F73"/>
                </a:solidFill>
                <a:latin typeface="Arial"/>
                <a:ea typeface="Arial"/>
                <a:cs typeface="Arial"/>
              </a:rPr>
              <a:t>HV/EHV · MV · protection/control · fiber · grounding</a:t>
            </a:r>
          </a:p>
        </p:txBody>
      </p:sp>
      <p:sp>
        <p:nvSpPr>
          <p:cNvPr id="12" name="">
            <a:extLst xmlns:a="http://schemas.openxmlformats.org/drawingml/2006/main">
              <a:ext uri="{FF2B5EF4-FFF2-40B4-BE49-F238E27FC236}">
                <a16:creationId xmlns:a16="http://schemas.microsoft.com/office/drawing/2014/main" id="{7700BBA6-3815-4064-9996-C4A3431D7734}"/>
              </a:ext>
            </a:extLst>
          </p:cNvPr>
          <p:cNvSpPr>
            <a:spLocks xmlns:a="http://schemas.openxmlformats.org/drawingml/2006/main" noGrp="1"/>
          </p:cNvSpPr>
          <p:nvPr/>
        </p:nvSpPr>
        <p:spPr>
          <a:xfrm xmlns:a="http://schemas.openxmlformats.org/drawingml/2006/main" rot="0">
            <a:off x="552450" y="3019425"/>
            <a:ext cx="800100" cy="238125"/>
          </a:xfrm>
          <a:prstGeom xmlns:a="http://schemas.openxmlformats.org/drawingml/2006/main" prst="roundRect">
            <a:avLst>
              <a:gd name="adj" fmla="val 50000"/>
            </a:avLst>
          </a:prstGeom>
          <a:solidFill xmlns:a="http://schemas.openxmlformats.org/drawingml/2006/main">
            <a:srgbClr val="F2E3D8"/>
          </a:solidFill>
          <a:ln xmlns:a="http://schemas.openxmlformats.org/drawingml/2006/main" w="9525">
            <a:solidFill>
              <a:srgbClr val="F2E3D8"/>
            </a:solidFill>
            <a:prstDash val="solid"/>
          </a:ln>
        </p:spPr>
      </p:sp>
      <p:sp>
        <p:nvSpPr>
          <p:cNvPr id="13" name="">
            <a:extLst xmlns:a="http://schemas.openxmlformats.org/drawingml/2006/main">
              <a:ext uri="{FF2B5EF4-FFF2-40B4-BE49-F238E27FC236}">
                <a16:creationId xmlns:a16="http://schemas.microsoft.com/office/drawing/2014/main" id="{2ED9FE05-C970-4F5B-867D-EB1533D0365A}"/>
              </a:ext>
            </a:extLst>
          </p:cNvPr>
          <p:cNvSpPr>
            <a:spLocks xmlns:a="http://schemas.openxmlformats.org/drawingml/2006/main" noGrp="1"/>
          </p:cNvSpPr>
          <p:nvPr/>
        </p:nvSpPr>
        <p:spPr>
          <a:xfrm xmlns:a="http://schemas.openxmlformats.org/drawingml/2006/main">
            <a:off x="552450" y="3038475"/>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756" b="1" i="0">
                <a:solidFill>
                  <a:srgbClr val="9D4E24"/>
                </a:solidFill>
                <a:latin typeface="Arial"/>
                <a:ea typeface="Arial"/>
                <a:cs typeface="Arial"/>
              </a:defRPr>
            </a:pPr>
            <a:r>
              <a:rPr sz="756" b="1" i="0">
                <a:solidFill>
                  <a:srgbClr val="9D4E24"/>
                </a:solidFill>
                <a:latin typeface="Arial"/>
                <a:ea typeface="Arial"/>
                <a:cs typeface="Arial"/>
              </a:rPr>
              <a:t>2, 3, 10</a:t>
            </a:r>
          </a:p>
        </p:txBody>
      </p:sp>
      <p:sp>
        <p:nvSpPr>
          <p:cNvPr id="14" name="">
            <a:extLst xmlns:a="http://schemas.openxmlformats.org/drawingml/2006/main">
              <a:ext uri="{FF2B5EF4-FFF2-40B4-BE49-F238E27FC236}">
                <a16:creationId xmlns:a16="http://schemas.microsoft.com/office/drawing/2014/main" id="{F619AC1E-8938-4E07-80D5-21A072184928}"/>
              </a:ext>
            </a:extLst>
          </p:cNvPr>
          <p:cNvSpPr>
            <a:spLocks xmlns:a="http://schemas.openxmlformats.org/drawingml/2006/main" noGrp="1"/>
          </p:cNvSpPr>
          <p:nvPr/>
        </p:nvSpPr>
        <p:spPr>
          <a:xfrm xmlns:a="http://schemas.openxmlformats.org/drawingml/2006/main">
            <a:off x="552450" y="3352800"/>
            <a:ext cx="2714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45" b="1" i="0">
                <a:solidFill>
                  <a:srgbClr val="9D4E24"/>
                </a:solidFill>
                <a:latin typeface="Arial"/>
                <a:ea typeface="Arial"/>
                <a:cs typeface="Arial"/>
              </a:defRPr>
            </a:pPr>
            <a:r>
              <a:rPr sz="945" b="1" i="0">
                <a:solidFill>
                  <a:srgbClr val="9D4E24"/>
                </a:solidFill>
                <a:latin typeface="Arial"/>
                <a:ea typeface="Arial"/>
                <a:cs typeface="Arial"/>
              </a:rPr>
              <a:t>MODULAR + LOGISTICS</a:t>
            </a:r>
          </a:p>
        </p:txBody>
      </p:sp>
      <p:sp>
        <p:nvSpPr>
          <p:cNvPr id="15" name="">
            <a:extLst xmlns:a="http://schemas.openxmlformats.org/drawingml/2006/main">
              <a:ext uri="{FF2B5EF4-FFF2-40B4-BE49-F238E27FC236}">
                <a16:creationId xmlns:a16="http://schemas.microsoft.com/office/drawing/2014/main" id="{1F4E5C80-B10A-4D5A-A046-88EEFCB69A54}"/>
              </a:ext>
            </a:extLst>
          </p:cNvPr>
          <p:cNvSpPr>
            <a:spLocks xmlns:a="http://schemas.openxmlformats.org/drawingml/2006/main" noGrp="1"/>
          </p:cNvSpPr>
          <p:nvPr/>
        </p:nvSpPr>
        <p:spPr>
          <a:xfrm xmlns:a="http://schemas.openxmlformats.org/drawingml/2006/main">
            <a:off x="552450" y="3619500"/>
            <a:ext cx="2714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0" i="0">
                <a:solidFill>
                  <a:srgbClr val="6A6F73"/>
                </a:solidFill>
                <a:latin typeface="Arial"/>
                <a:ea typeface="Arial"/>
                <a:cs typeface="Arial"/>
              </a:defRPr>
            </a:pPr>
            <a:r>
              <a:rPr sz="1050" b="0" i="0">
                <a:solidFill>
                  <a:srgbClr val="6A6F73"/>
                </a:solidFill>
                <a:latin typeface="Arial"/>
                <a:ea typeface="Arial"/>
                <a:cs typeface="Arial"/>
              </a:rPr>
              <a:t>BESS, reel staging, prefab/skids and modular power</a:t>
            </a:r>
          </a:p>
          <a:p xmlns:a="http://schemas.openxmlformats.org/drawingml/2006/main">
            <a:pPr algn="l">
              <a:lnSpc>
                <a:spcPct val="103000"/>
              </a:lnSpc>
              <a:buNone/>
              <a:defRPr sz="1050" b="0" i="0">
                <a:solidFill>
                  <a:srgbClr val="6A6F73"/>
                </a:solidFill>
                <a:latin typeface="Arial"/>
                <a:ea typeface="Arial"/>
                <a:cs typeface="Arial"/>
              </a:defRPr>
            </a:pPr>
            <a:r>
              <a:rPr sz="1050" b="0" i="0">
                <a:solidFill>
                  <a:srgbClr val="6A6F73"/>
                </a:solidFill>
                <a:latin typeface="Arial"/>
                <a:ea typeface="Arial"/>
                <a:cs typeface="Arial"/>
              </a:rPr>
              <a:t>DC/MV/LV · controls · fiber · engineered sets</a:t>
            </a:r>
          </a:p>
        </p:txBody>
      </p:sp>
      <p:sp>
        <p:nvSpPr>
          <p:cNvPr id="16" name="">
            <a:extLst xmlns:a="http://schemas.openxmlformats.org/drawingml/2006/main">
              <a:ext uri="{FF2B5EF4-FFF2-40B4-BE49-F238E27FC236}">
                <a16:creationId xmlns:a16="http://schemas.microsoft.com/office/drawing/2014/main" id="{F49ABC6A-621A-4BD5-95E5-7371BC7DD622}"/>
              </a:ext>
            </a:extLst>
          </p:cNvPr>
          <p:cNvSpPr>
            <a:spLocks xmlns:a="http://schemas.openxmlformats.org/drawingml/2006/main" noGrp="1"/>
          </p:cNvSpPr>
          <p:nvPr/>
        </p:nvSpPr>
        <p:spPr>
          <a:xfrm xmlns:a="http://schemas.openxmlformats.org/drawingml/2006/main" rot="0">
            <a:off x="552450" y="4324350"/>
            <a:ext cx="800100" cy="238125"/>
          </a:xfrm>
          <a:prstGeom xmlns:a="http://schemas.openxmlformats.org/drawingml/2006/main" prst="roundRect">
            <a:avLst>
              <a:gd name="adj" fmla="val 50000"/>
            </a:avLst>
          </a:prstGeom>
          <a:solidFill xmlns:a="http://schemas.openxmlformats.org/drawingml/2006/main">
            <a:srgbClr val="F2E3D8"/>
          </a:solidFill>
          <a:ln xmlns:a="http://schemas.openxmlformats.org/drawingml/2006/main" w="9525">
            <a:solidFill>
              <a:srgbClr val="F2E3D8"/>
            </a:solidFill>
            <a:prstDash val="solid"/>
          </a:ln>
        </p:spPr>
      </p:sp>
      <p:sp>
        <p:nvSpPr>
          <p:cNvPr id="17" name="">
            <a:extLst xmlns:a="http://schemas.openxmlformats.org/drawingml/2006/main">
              <a:ext uri="{FF2B5EF4-FFF2-40B4-BE49-F238E27FC236}">
                <a16:creationId xmlns:a16="http://schemas.microsoft.com/office/drawing/2014/main" id="{C1D3FDD8-E901-490C-B9BE-5C15C6175EA4}"/>
              </a:ext>
            </a:extLst>
          </p:cNvPr>
          <p:cNvSpPr>
            <a:spLocks xmlns:a="http://schemas.openxmlformats.org/drawingml/2006/main" noGrp="1"/>
          </p:cNvSpPr>
          <p:nvPr/>
        </p:nvSpPr>
        <p:spPr>
          <a:xfrm xmlns:a="http://schemas.openxmlformats.org/drawingml/2006/main">
            <a:off x="552450" y="434340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756" b="1" i="0">
                <a:solidFill>
                  <a:srgbClr val="9D4E24"/>
                </a:solidFill>
                <a:latin typeface="Arial"/>
                <a:ea typeface="Arial"/>
                <a:cs typeface="Arial"/>
              </a:defRPr>
            </a:pPr>
            <a:r>
              <a:rPr sz="756" b="1" i="0">
                <a:solidFill>
                  <a:srgbClr val="9D4E24"/>
                </a:solidFill>
                <a:latin typeface="Arial"/>
                <a:ea typeface="Arial"/>
                <a:cs typeface="Arial"/>
              </a:rPr>
              <a:t>4, 5, 9</a:t>
            </a:r>
          </a:p>
        </p:txBody>
      </p:sp>
      <p:sp>
        <p:nvSpPr>
          <p:cNvPr id="18" name="">
            <a:extLst xmlns:a="http://schemas.openxmlformats.org/drawingml/2006/main">
              <a:ext uri="{FF2B5EF4-FFF2-40B4-BE49-F238E27FC236}">
                <a16:creationId xmlns:a16="http://schemas.microsoft.com/office/drawing/2014/main" id="{47BFA7D0-0FFC-494E-BDA6-BA1B7AADA848}"/>
              </a:ext>
            </a:extLst>
          </p:cNvPr>
          <p:cNvSpPr>
            <a:spLocks xmlns:a="http://schemas.openxmlformats.org/drawingml/2006/main" noGrp="1"/>
          </p:cNvSpPr>
          <p:nvPr/>
        </p:nvSpPr>
        <p:spPr>
          <a:xfrm xmlns:a="http://schemas.openxmlformats.org/drawingml/2006/main">
            <a:off x="552450" y="4657725"/>
            <a:ext cx="2714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45" b="1" i="0">
                <a:solidFill>
                  <a:srgbClr val="9D4E24"/>
                </a:solidFill>
                <a:latin typeface="Arial"/>
                <a:ea typeface="Arial"/>
                <a:cs typeface="Arial"/>
              </a:defRPr>
            </a:pPr>
            <a:r>
              <a:rPr sz="945" b="1" i="0">
                <a:solidFill>
                  <a:srgbClr val="9D4E24"/>
                </a:solidFill>
                <a:latin typeface="Arial"/>
                <a:ea typeface="Arial"/>
                <a:cs typeface="Arial"/>
              </a:rPr>
              <a:t>BUILDINGS + DISTRIBUTION</a:t>
            </a:r>
          </a:p>
        </p:txBody>
      </p:sp>
      <p:sp>
        <p:nvSpPr>
          <p:cNvPr id="19" name="">
            <a:extLst xmlns:a="http://schemas.openxmlformats.org/drawingml/2006/main">
              <a:ext uri="{FF2B5EF4-FFF2-40B4-BE49-F238E27FC236}">
                <a16:creationId xmlns:a16="http://schemas.microsoft.com/office/drawing/2014/main" id="{9C4EEDC0-07DC-4F73-9AB2-7F55D3295C52}"/>
              </a:ext>
            </a:extLst>
          </p:cNvPr>
          <p:cNvSpPr>
            <a:spLocks xmlns:a="http://schemas.openxmlformats.org/drawingml/2006/main" noGrp="1"/>
          </p:cNvSpPr>
          <p:nvPr/>
        </p:nvSpPr>
        <p:spPr>
          <a:xfrm xmlns:a="http://schemas.openxmlformats.org/drawingml/2006/main">
            <a:off x="552450" y="4924425"/>
            <a:ext cx="2714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0" i="0">
                <a:solidFill>
                  <a:srgbClr val="6A6F73"/>
                </a:solidFill>
                <a:latin typeface="Arial"/>
                <a:ea typeface="Arial"/>
                <a:cs typeface="Arial"/>
              </a:defRPr>
            </a:pPr>
            <a:r>
              <a:rPr sz="1050" b="0" i="0">
                <a:solidFill>
                  <a:srgbClr val="6A6F73"/>
                </a:solidFill>
                <a:latin typeface="Arial"/>
                <a:ea typeface="Arial"/>
                <a:cs typeface="Arial"/>
              </a:rPr>
              <a:t>Control building, e-house and MCC/VFD/UPS</a:t>
            </a:r>
          </a:p>
          <a:p xmlns:a="http://schemas.openxmlformats.org/drawingml/2006/main">
            <a:pPr algn="l">
              <a:lnSpc>
                <a:spcPct val="103000"/>
              </a:lnSpc>
              <a:buNone/>
              <a:defRPr sz="1050" b="0" i="0">
                <a:solidFill>
                  <a:srgbClr val="6A6F73"/>
                </a:solidFill>
                <a:latin typeface="Arial"/>
                <a:ea typeface="Arial"/>
                <a:cs typeface="Arial"/>
              </a:defRPr>
            </a:pPr>
            <a:r>
              <a:rPr sz="1050" b="0" i="0">
                <a:solidFill>
                  <a:srgbClr val="6A6F73"/>
                </a:solidFill>
                <a:latin typeface="Arial"/>
                <a:ea typeface="Arial"/>
                <a:cs typeface="Arial"/>
              </a:rPr>
              <a:t>MV/LV/VFD · essential AC/DC · life safety · BAS/data</a:t>
            </a:r>
          </a:p>
        </p:txBody>
      </p:sp>
      <p:sp>
        <p:nvSpPr>
          <p:cNvPr id="20" name="">
            <a:extLst xmlns:a="http://schemas.openxmlformats.org/drawingml/2006/main">
              <a:ext uri="{FF2B5EF4-FFF2-40B4-BE49-F238E27FC236}">
                <a16:creationId xmlns:a16="http://schemas.microsoft.com/office/drawing/2014/main" id="{D48B272F-FC68-4F66-ACA2-8AFCA06E880A}"/>
              </a:ext>
            </a:extLst>
          </p:cNvPr>
          <p:cNvSpPr>
            <a:spLocks xmlns:a="http://schemas.openxmlformats.org/drawingml/2006/main" noGrp="1"/>
          </p:cNvSpPr>
          <p:nvPr/>
        </p:nvSpPr>
        <p:spPr>
          <a:xfrm xmlns:a="http://schemas.openxmlformats.org/drawingml/2006/main" rot="0">
            <a:off x="8934450" y="1714500"/>
            <a:ext cx="800100" cy="238125"/>
          </a:xfrm>
          <a:prstGeom xmlns:a="http://schemas.openxmlformats.org/drawingml/2006/main" prst="roundRect">
            <a:avLst>
              <a:gd name="adj" fmla="val 50000"/>
            </a:avLst>
          </a:prstGeom>
          <a:solidFill xmlns:a="http://schemas.openxmlformats.org/drawingml/2006/main">
            <a:srgbClr val="F2E3D8"/>
          </a:solidFill>
          <a:ln xmlns:a="http://schemas.openxmlformats.org/drawingml/2006/main" w="9525">
            <a:solidFill>
              <a:srgbClr val="F2E3D8"/>
            </a:solidFill>
            <a:prstDash val="solid"/>
          </a:ln>
        </p:spPr>
      </p:sp>
      <p:sp>
        <p:nvSpPr>
          <p:cNvPr id="21" name="">
            <a:extLst xmlns:a="http://schemas.openxmlformats.org/drawingml/2006/main">
              <a:ext uri="{FF2B5EF4-FFF2-40B4-BE49-F238E27FC236}">
                <a16:creationId xmlns:a16="http://schemas.microsoft.com/office/drawing/2014/main" id="{54B4657C-E45D-44CD-BC71-2E625D9D8915}"/>
              </a:ext>
            </a:extLst>
          </p:cNvPr>
          <p:cNvSpPr>
            <a:spLocks xmlns:a="http://schemas.openxmlformats.org/drawingml/2006/main" noGrp="1"/>
          </p:cNvSpPr>
          <p:nvPr/>
        </p:nvSpPr>
        <p:spPr>
          <a:xfrm xmlns:a="http://schemas.openxmlformats.org/drawingml/2006/main">
            <a:off x="8934450" y="17335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756" b="1" i="0">
                <a:solidFill>
                  <a:srgbClr val="9D4E24"/>
                </a:solidFill>
                <a:latin typeface="Arial"/>
                <a:ea typeface="Arial"/>
                <a:cs typeface="Arial"/>
              </a:defRPr>
            </a:pPr>
            <a:r>
              <a:rPr sz="756" b="1" i="0">
                <a:solidFill>
                  <a:srgbClr val="9D4E24"/>
                </a:solidFill>
                <a:latin typeface="Arial"/>
                <a:ea typeface="Arial"/>
                <a:cs typeface="Arial"/>
              </a:rPr>
              <a:t>6, 7, 8</a:t>
            </a:r>
          </a:p>
        </p:txBody>
      </p:sp>
      <p:sp>
        <p:nvSpPr>
          <p:cNvPr id="22" name="">
            <a:extLst xmlns:a="http://schemas.openxmlformats.org/drawingml/2006/main">
              <a:ext uri="{FF2B5EF4-FFF2-40B4-BE49-F238E27FC236}">
                <a16:creationId xmlns:a16="http://schemas.microsoft.com/office/drawing/2014/main" id="{E6D8DDA4-F9FC-4381-8D34-0ADFBFD6D7CA}"/>
              </a:ext>
            </a:extLst>
          </p:cNvPr>
          <p:cNvSpPr>
            <a:spLocks xmlns:a="http://schemas.openxmlformats.org/drawingml/2006/main" noGrp="1"/>
          </p:cNvSpPr>
          <p:nvPr/>
        </p:nvSpPr>
        <p:spPr>
          <a:xfrm xmlns:a="http://schemas.openxmlformats.org/drawingml/2006/main">
            <a:off x="8934450" y="2047875"/>
            <a:ext cx="2714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45" b="1" i="0">
                <a:solidFill>
                  <a:srgbClr val="9D4E24"/>
                </a:solidFill>
                <a:latin typeface="Arial"/>
                <a:ea typeface="Arial"/>
                <a:cs typeface="Arial"/>
              </a:defRPr>
            </a:pPr>
            <a:r>
              <a:rPr sz="945" b="1" i="0">
                <a:solidFill>
                  <a:srgbClr val="9D4E24"/>
                </a:solidFill>
                <a:latin typeface="Arial"/>
                <a:ea typeface="Arial"/>
                <a:cs typeface="Arial"/>
              </a:rPr>
              <a:t>GENERATION ISLAND</a:t>
            </a:r>
          </a:p>
        </p:txBody>
      </p:sp>
      <p:sp>
        <p:nvSpPr>
          <p:cNvPr id="23" name="">
            <a:extLst xmlns:a="http://schemas.openxmlformats.org/drawingml/2006/main">
              <a:ext uri="{FF2B5EF4-FFF2-40B4-BE49-F238E27FC236}">
                <a16:creationId xmlns:a16="http://schemas.microsoft.com/office/drawing/2014/main" id="{9D80B89B-7A80-490F-AA9E-C7823FBD68C5}"/>
              </a:ext>
            </a:extLst>
          </p:cNvPr>
          <p:cNvSpPr>
            <a:spLocks xmlns:a="http://schemas.openxmlformats.org/drawingml/2006/main" noGrp="1"/>
          </p:cNvSpPr>
          <p:nvPr/>
        </p:nvSpPr>
        <p:spPr>
          <a:xfrm xmlns:a="http://schemas.openxmlformats.org/drawingml/2006/main">
            <a:off x="8934450" y="2314575"/>
            <a:ext cx="2714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0" i="0">
                <a:solidFill>
                  <a:srgbClr val="6A6F73"/>
                </a:solidFill>
                <a:latin typeface="Arial"/>
                <a:ea typeface="Arial"/>
                <a:cs typeface="Arial"/>
              </a:defRPr>
            </a:pPr>
            <a:r>
              <a:rPr sz="1050" b="0" i="0">
                <a:solidFill>
                  <a:srgbClr val="6A6F73"/>
                </a:solidFill>
                <a:latin typeface="Arial"/>
                <a:ea typeface="Arial"/>
                <a:cs typeface="Arial"/>
              </a:rPr>
              <a:t>HRSG, turbine hall and GT inlet</a:t>
            </a:r>
          </a:p>
          <a:p xmlns:a="http://schemas.openxmlformats.org/drawingml/2006/main">
            <a:pPr algn="l">
              <a:lnSpc>
                <a:spcPct val="103000"/>
              </a:lnSpc>
              <a:buNone/>
              <a:defRPr sz="1050" b="0" i="0">
                <a:solidFill>
                  <a:srgbClr val="6A6F73"/>
                </a:solidFill>
                <a:latin typeface="Arial"/>
                <a:ea typeface="Arial"/>
                <a:cs typeface="Arial"/>
              </a:defRPr>
            </a:pPr>
            <a:r>
              <a:rPr sz="1050" b="0" i="0">
                <a:solidFill>
                  <a:srgbClr val="6A6F73"/>
                </a:solidFill>
                <a:latin typeface="Arial"/>
                <a:ea typeface="Arial"/>
                <a:cs typeface="Arial"/>
              </a:rPr>
              <a:t>MV/LV/VFD · I&amp;C · F&amp;G/ESD · CEMS · heat trace</a:t>
            </a:r>
          </a:p>
        </p:txBody>
      </p:sp>
      <p:sp>
        <p:nvSpPr>
          <p:cNvPr id="24" name="">
            <a:extLst xmlns:a="http://schemas.openxmlformats.org/drawingml/2006/main">
              <a:ext uri="{FF2B5EF4-FFF2-40B4-BE49-F238E27FC236}">
                <a16:creationId xmlns:a16="http://schemas.microsoft.com/office/drawing/2014/main" id="{744BE2C6-4998-4ADD-B25C-54E9CF5DEFB5}"/>
              </a:ext>
            </a:extLst>
          </p:cNvPr>
          <p:cNvSpPr>
            <a:spLocks xmlns:a="http://schemas.openxmlformats.org/drawingml/2006/main" noGrp="1"/>
          </p:cNvSpPr>
          <p:nvPr/>
        </p:nvSpPr>
        <p:spPr>
          <a:xfrm xmlns:a="http://schemas.openxmlformats.org/drawingml/2006/main" rot="0">
            <a:off x="8934450" y="3019425"/>
            <a:ext cx="800100" cy="238125"/>
          </a:xfrm>
          <a:prstGeom xmlns:a="http://schemas.openxmlformats.org/drawingml/2006/main" prst="roundRect">
            <a:avLst>
              <a:gd name="adj" fmla="val 50000"/>
            </a:avLst>
          </a:prstGeom>
          <a:solidFill xmlns:a="http://schemas.openxmlformats.org/drawingml/2006/main">
            <a:srgbClr val="F2E3D8"/>
          </a:solidFill>
          <a:ln xmlns:a="http://schemas.openxmlformats.org/drawingml/2006/main" w="9525">
            <a:solidFill>
              <a:srgbClr val="F2E3D8"/>
            </a:solidFill>
            <a:prstDash val="solid"/>
          </a:ln>
        </p:spPr>
      </p:sp>
      <p:sp>
        <p:nvSpPr>
          <p:cNvPr id="25" name="">
            <a:extLst xmlns:a="http://schemas.openxmlformats.org/drawingml/2006/main">
              <a:ext uri="{FF2B5EF4-FFF2-40B4-BE49-F238E27FC236}">
                <a16:creationId xmlns:a16="http://schemas.microsoft.com/office/drawing/2014/main" id="{48DFCEB2-9877-47A3-90FC-88FC2002307B}"/>
              </a:ext>
            </a:extLst>
          </p:cNvPr>
          <p:cNvSpPr>
            <a:spLocks xmlns:a="http://schemas.openxmlformats.org/drawingml/2006/main" noGrp="1"/>
          </p:cNvSpPr>
          <p:nvPr/>
        </p:nvSpPr>
        <p:spPr>
          <a:xfrm xmlns:a="http://schemas.openxmlformats.org/drawingml/2006/main">
            <a:off x="8934450" y="3038475"/>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756" b="1" i="0">
                <a:solidFill>
                  <a:srgbClr val="9D4E24"/>
                </a:solidFill>
                <a:latin typeface="Arial"/>
                <a:ea typeface="Arial"/>
                <a:cs typeface="Arial"/>
              </a:defRPr>
            </a:pPr>
            <a:r>
              <a:rPr sz="756" b="1" i="0">
                <a:solidFill>
                  <a:srgbClr val="9D4E24"/>
                </a:solidFill>
                <a:latin typeface="Arial"/>
                <a:ea typeface="Arial"/>
                <a:cs typeface="Arial"/>
              </a:rPr>
              <a:t>11, 12, 13</a:t>
            </a:r>
          </a:p>
        </p:txBody>
      </p:sp>
      <p:sp>
        <p:nvSpPr>
          <p:cNvPr id="26" name="">
            <a:extLst xmlns:a="http://schemas.openxmlformats.org/drawingml/2006/main">
              <a:ext uri="{FF2B5EF4-FFF2-40B4-BE49-F238E27FC236}">
                <a16:creationId xmlns:a16="http://schemas.microsoft.com/office/drawing/2014/main" id="{FE2B3B4A-B3CD-4A22-975D-95F37B77905A}"/>
              </a:ext>
            </a:extLst>
          </p:cNvPr>
          <p:cNvSpPr>
            <a:spLocks xmlns:a="http://schemas.openxmlformats.org/drawingml/2006/main" noGrp="1"/>
          </p:cNvSpPr>
          <p:nvPr/>
        </p:nvSpPr>
        <p:spPr>
          <a:xfrm xmlns:a="http://schemas.openxmlformats.org/drawingml/2006/main">
            <a:off x="8934450" y="3352800"/>
            <a:ext cx="2714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45" b="1" i="0">
                <a:solidFill>
                  <a:srgbClr val="9D4E24"/>
                </a:solidFill>
                <a:latin typeface="Arial"/>
                <a:ea typeface="Arial"/>
                <a:cs typeface="Arial"/>
              </a:defRPr>
            </a:pPr>
            <a:r>
              <a:rPr sz="945" b="1" i="0">
                <a:solidFill>
                  <a:srgbClr val="9D4E24"/>
                </a:solidFill>
                <a:latin typeface="Arial"/>
                <a:ea typeface="Arial"/>
                <a:cs typeface="Arial"/>
              </a:rPr>
              <a:t>HEAT REJECTION + WATER</a:t>
            </a:r>
          </a:p>
        </p:txBody>
      </p:sp>
      <p:sp>
        <p:nvSpPr>
          <p:cNvPr id="27" name="">
            <a:extLst xmlns:a="http://schemas.openxmlformats.org/drawingml/2006/main">
              <a:ext uri="{FF2B5EF4-FFF2-40B4-BE49-F238E27FC236}">
                <a16:creationId xmlns:a16="http://schemas.microsoft.com/office/drawing/2014/main" id="{0631A745-E5D4-48FB-9989-9FBA2FC65BA2}"/>
              </a:ext>
            </a:extLst>
          </p:cNvPr>
          <p:cNvSpPr>
            <a:spLocks xmlns:a="http://schemas.openxmlformats.org/drawingml/2006/main" noGrp="1"/>
          </p:cNvSpPr>
          <p:nvPr/>
        </p:nvSpPr>
        <p:spPr>
          <a:xfrm xmlns:a="http://schemas.openxmlformats.org/drawingml/2006/main">
            <a:off x="8934450" y="3619500"/>
            <a:ext cx="2714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0" i="0">
                <a:solidFill>
                  <a:srgbClr val="6A6F73"/>
                </a:solidFill>
                <a:latin typeface="Arial"/>
                <a:ea typeface="Arial"/>
                <a:cs typeface="Arial"/>
              </a:defRPr>
            </a:pPr>
            <a:r>
              <a:rPr sz="1050" b="0" i="0">
                <a:solidFill>
                  <a:srgbClr val="6A6F73"/>
                </a:solidFill>
                <a:latin typeface="Arial"/>
                <a:ea typeface="Arial"/>
                <a:cs typeface="Arial"/>
              </a:rPr>
              <a:t>ACC, cooling and water/wastewater</a:t>
            </a:r>
          </a:p>
          <a:p xmlns:a="http://schemas.openxmlformats.org/drawingml/2006/main">
            <a:pPr algn="l">
              <a:lnSpc>
                <a:spcPct val="103000"/>
              </a:lnSpc>
              <a:buNone/>
              <a:defRPr sz="1050" b="0" i="0">
                <a:solidFill>
                  <a:srgbClr val="6A6F73"/>
                </a:solidFill>
                <a:latin typeface="Arial"/>
                <a:ea typeface="Arial"/>
                <a:cs typeface="Arial"/>
              </a:defRPr>
            </a:pPr>
            <a:r>
              <a:rPr sz="1050" b="0" i="0">
                <a:solidFill>
                  <a:srgbClr val="6A6F73"/>
                </a:solidFill>
                <a:latin typeface="Arial"/>
                <a:ea typeface="Arial"/>
                <a:cs typeface="Arial"/>
              </a:rPr>
              <a:t>Repeated fan/pump power · VFD · controls · wet runs</a:t>
            </a:r>
          </a:p>
        </p:txBody>
      </p:sp>
      <p:sp>
        <p:nvSpPr>
          <p:cNvPr id="28" name="">
            <a:extLst xmlns:a="http://schemas.openxmlformats.org/drawingml/2006/main">
              <a:ext uri="{FF2B5EF4-FFF2-40B4-BE49-F238E27FC236}">
                <a16:creationId xmlns:a16="http://schemas.microsoft.com/office/drawing/2014/main" id="{75A8C467-CE20-456D-BB9F-C83FAC094D0B}"/>
              </a:ext>
            </a:extLst>
          </p:cNvPr>
          <p:cNvSpPr>
            <a:spLocks xmlns:a="http://schemas.openxmlformats.org/drawingml/2006/main" noGrp="1"/>
          </p:cNvSpPr>
          <p:nvPr/>
        </p:nvSpPr>
        <p:spPr>
          <a:xfrm xmlns:a="http://schemas.openxmlformats.org/drawingml/2006/main" rot="0">
            <a:off x="8934450" y="4324350"/>
            <a:ext cx="800100" cy="238125"/>
          </a:xfrm>
          <a:prstGeom xmlns:a="http://schemas.openxmlformats.org/drawingml/2006/main" prst="roundRect">
            <a:avLst>
              <a:gd name="adj" fmla="val 50000"/>
            </a:avLst>
          </a:prstGeom>
          <a:solidFill xmlns:a="http://schemas.openxmlformats.org/drawingml/2006/main">
            <a:srgbClr val="F2E3D8"/>
          </a:solidFill>
          <a:ln xmlns:a="http://schemas.openxmlformats.org/drawingml/2006/main" w="9525">
            <a:solidFill>
              <a:srgbClr val="F2E3D8"/>
            </a:solidFill>
            <a:prstDash val="solid"/>
          </a:ln>
        </p:spPr>
      </p:sp>
      <p:sp>
        <p:nvSpPr>
          <p:cNvPr id="29" name="">
            <a:extLst xmlns:a="http://schemas.openxmlformats.org/drawingml/2006/main">
              <a:ext uri="{FF2B5EF4-FFF2-40B4-BE49-F238E27FC236}">
                <a16:creationId xmlns:a16="http://schemas.microsoft.com/office/drawing/2014/main" id="{09BB0FB1-1866-4D54-ADE3-77211A8F96AE}"/>
              </a:ext>
            </a:extLst>
          </p:cNvPr>
          <p:cNvSpPr>
            <a:spLocks xmlns:a="http://schemas.openxmlformats.org/drawingml/2006/main" noGrp="1"/>
          </p:cNvSpPr>
          <p:nvPr/>
        </p:nvSpPr>
        <p:spPr>
          <a:xfrm xmlns:a="http://schemas.openxmlformats.org/drawingml/2006/main">
            <a:off x="8934450" y="434340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756" b="1" i="0">
                <a:solidFill>
                  <a:srgbClr val="9D4E24"/>
                </a:solidFill>
                <a:latin typeface="Arial"/>
                <a:ea typeface="Arial"/>
                <a:cs typeface="Arial"/>
              </a:defRPr>
            </a:pPr>
            <a:r>
              <a:rPr sz="756" b="1" i="0">
                <a:solidFill>
                  <a:srgbClr val="9D4E24"/>
                </a:solidFill>
                <a:latin typeface="Arial"/>
                <a:ea typeface="Arial"/>
                <a:cs typeface="Arial"/>
              </a:rPr>
              <a:t>14, 15</a:t>
            </a:r>
          </a:p>
        </p:txBody>
      </p:sp>
      <p:sp>
        <p:nvSpPr>
          <p:cNvPr id="30" name="">
            <a:extLst xmlns:a="http://schemas.openxmlformats.org/drawingml/2006/main">
              <a:ext uri="{FF2B5EF4-FFF2-40B4-BE49-F238E27FC236}">
                <a16:creationId xmlns:a16="http://schemas.microsoft.com/office/drawing/2014/main" id="{5768C929-A254-489D-8D15-705FED3A8728}"/>
              </a:ext>
            </a:extLst>
          </p:cNvPr>
          <p:cNvSpPr>
            <a:spLocks xmlns:a="http://schemas.openxmlformats.org/drawingml/2006/main" noGrp="1"/>
          </p:cNvSpPr>
          <p:nvPr/>
        </p:nvSpPr>
        <p:spPr>
          <a:xfrm xmlns:a="http://schemas.openxmlformats.org/drawingml/2006/main">
            <a:off x="8934450" y="4657725"/>
            <a:ext cx="2714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45" b="1" i="0">
                <a:solidFill>
                  <a:srgbClr val="9D4E24"/>
                </a:solidFill>
                <a:latin typeface="Arial"/>
                <a:ea typeface="Arial"/>
                <a:cs typeface="Arial"/>
              </a:defRPr>
            </a:pPr>
            <a:r>
              <a:rPr sz="945" b="1" i="0">
                <a:solidFill>
                  <a:srgbClr val="9D4E24"/>
                </a:solidFill>
                <a:latin typeface="Arial"/>
                <a:ea typeface="Arial"/>
                <a:cs typeface="Arial"/>
              </a:rPr>
              <a:t>OPTIONAL + AUXILIARY</a:t>
            </a:r>
          </a:p>
        </p:txBody>
      </p:sp>
      <p:sp>
        <p:nvSpPr>
          <p:cNvPr id="31" name="">
            <a:extLst xmlns:a="http://schemas.openxmlformats.org/drawingml/2006/main">
              <a:ext uri="{FF2B5EF4-FFF2-40B4-BE49-F238E27FC236}">
                <a16:creationId xmlns:a16="http://schemas.microsoft.com/office/drawing/2014/main" id="{861280B1-D9A6-4726-B19C-3B743B5B8BCD}"/>
              </a:ext>
            </a:extLst>
          </p:cNvPr>
          <p:cNvSpPr>
            <a:spLocks xmlns:a="http://schemas.openxmlformats.org/drawingml/2006/main" noGrp="1"/>
          </p:cNvSpPr>
          <p:nvPr/>
        </p:nvSpPr>
        <p:spPr>
          <a:xfrm xmlns:a="http://schemas.openxmlformats.org/drawingml/2006/main">
            <a:off x="8934450" y="4924425"/>
            <a:ext cx="2714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0" i="0">
                <a:solidFill>
                  <a:srgbClr val="6A6F73"/>
                </a:solidFill>
                <a:latin typeface="Arial"/>
                <a:ea typeface="Arial"/>
                <a:cs typeface="Arial"/>
              </a:defRPr>
            </a:pPr>
            <a:r>
              <a:rPr sz="1050" b="0" i="0">
                <a:solidFill>
                  <a:srgbClr val="6A6F73"/>
                </a:solidFill>
                <a:latin typeface="Arial"/>
                <a:ea typeface="Arial"/>
                <a:cs typeface="Arial"/>
              </a:rPr>
              <a:t>Carbon capture and gas metering</a:t>
            </a:r>
          </a:p>
          <a:p xmlns:a="http://schemas.openxmlformats.org/drawingml/2006/main">
            <a:pPr algn="l">
              <a:lnSpc>
                <a:spcPct val="103000"/>
              </a:lnSpc>
              <a:buNone/>
              <a:defRPr sz="1050" b="0" i="0">
                <a:solidFill>
                  <a:srgbClr val="6A6F73"/>
                </a:solidFill>
                <a:latin typeface="Arial"/>
                <a:ea typeface="Arial"/>
                <a:cs typeface="Arial"/>
              </a:defRPr>
            </a:pPr>
            <a:r>
              <a:rPr sz="1050" b="0" i="0">
                <a:solidFill>
                  <a:srgbClr val="6A6F73"/>
                </a:solidFill>
                <a:latin typeface="Arial"/>
                <a:ea typeface="Arial"/>
                <a:cs typeface="Arial"/>
              </a:rPr>
              <a:t>Classified power/control · instrumentation · F&amp;G · fiber</a:t>
            </a:r>
          </a:p>
        </p:txBody>
      </p:sp>
      <p:sp>
        <p:nvSpPr>
          <p:cNvPr id="32" name="">
            <a:extLst xmlns:a="http://schemas.openxmlformats.org/drawingml/2006/main">
              <a:ext uri="{FF2B5EF4-FFF2-40B4-BE49-F238E27FC236}">
                <a16:creationId xmlns:a16="http://schemas.microsoft.com/office/drawing/2014/main" id="{45D23566-1B31-4E8D-BE90-45195AD7ED8A}"/>
              </a:ext>
            </a:extLst>
          </p:cNvPr>
          <p:cNvSpPr>
            <a:spLocks xmlns:a="http://schemas.openxmlformats.org/drawingml/2006/main" noGrp="1"/>
          </p:cNvSpPr>
          <p:nvPr/>
        </p:nvSpPr>
        <p:spPr>
          <a:xfrm xmlns:a="http://schemas.openxmlformats.org/drawingml/2006/main" rot="0">
            <a:off x="552450" y="5867400"/>
            <a:ext cx="11087100" cy="666750"/>
          </a:xfrm>
          <a:prstGeom xmlns:a="http://schemas.openxmlformats.org/drawingml/2006/main" prst="rect">
            <a:avLst/>
          </a:prstGeom>
          <a:solidFill xmlns:a="http://schemas.openxmlformats.org/drawingml/2006/main">
            <a:srgbClr val="17191C"/>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BC0C618-FF74-433A-AA0C-C035DF6A6605}"/>
              </a:ext>
            </a:extLst>
          </p:cNvPr>
          <p:cNvSpPr>
            <a:spLocks xmlns:a="http://schemas.openxmlformats.org/drawingml/2006/main" noGrp="1"/>
          </p:cNvSpPr>
          <p:nvPr/>
        </p:nvSpPr>
        <p:spPr>
          <a:xfrm xmlns:a="http://schemas.openxmlformats.org/drawingml/2006/main">
            <a:off x="762000" y="605790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82" b="1" i="0">
                <a:solidFill>
                  <a:srgbClr val="E3A06D"/>
                </a:solidFill>
                <a:latin typeface="Arial"/>
                <a:ea typeface="Arial"/>
                <a:cs typeface="Arial"/>
              </a:defRPr>
            </a:pPr>
            <a:r>
              <a:rPr sz="882" b="1" i="0">
                <a:solidFill>
                  <a:srgbClr val="E3A06D"/>
                </a:solidFill>
                <a:latin typeface="Arial"/>
                <a:ea typeface="Arial"/>
                <a:cs typeface="Arial"/>
              </a:rPr>
              <a:t>CABLE CLASSES</a:t>
            </a:r>
          </a:p>
        </p:txBody>
      </p:sp>
      <p:sp>
        <p:nvSpPr>
          <p:cNvPr id="34" name="">
            <a:extLst xmlns:a="http://schemas.openxmlformats.org/drawingml/2006/main">
              <a:ext uri="{FF2B5EF4-FFF2-40B4-BE49-F238E27FC236}">
                <a16:creationId xmlns:a16="http://schemas.microsoft.com/office/drawing/2014/main" id="{976C07A0-EA26-445C-8DDE-B768A0A8C8AD}"/>
              </a:ext>
            </a:extLst>
          </p:cNvPr>
          <p:cNvSpPr>
            <a:spLocks xmlns:a="http://schemas.openxmlformats.org/drawingml/2006/main" noGrp="1"/>
          </p:cNvSpPr>
          <p:nvPr/>
        </p:nvSpPr>
        <p:spPr>
          <a:xfrm xmlns:a="http://schemas.openxmlformats.org/drawingml/2006/main">
            <a:off x="2324100" y="6029325"/>
            <a:ext cx="897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125" b="0" i="0">
                <a:solidFill>
                  <a:srgbClr val="FFFFFF"/>
                </a:solidFill>
                <a:latin typeface="Arial"/>
                <a:ea typeface="Arial"/>
                <a:cs typeface="Arial"/>
              </a:defRPr>
            </a:pPr>
            <a:r>
              <a:rPr sz="1125" b="0" i="0">
                <a:solidFill>
                  <a:srgbClr val="FFFFFF"/>
                </a:solidFill>
                <a:latin typeface="Arial"/>
                <a:ea typeface="Arial"/>
                <a:cs typeface="Arial"/>
              </a:rPr>
              <a:t>HV/EHV  |  MV 5-35 kV  |  LV 600 V  |  VFD  |  essential AC/DC  |  I&amp;C  |  fiber/network  |  life safety  |  grounding</a:t>
            </a:r>
          </a:p>
        </p:txBody>
      </p:sp>
      <p:sp>
        <p:nvSpPr>
          <p:cNvPr id="35" name="">
            <a:extLst xmlns:a="http://schemas.openxmlformats.org/drawingml/2006/main">
              <a:ext uri="{FF2B5EF4-FFF2-40B4-BE49-F238E27FC236}">
                <a16:creationId xmlns:a16="http://schemas.microsoft.com/office/drawing/2014/main" id="{98ABFA80-5786-41C9-B6AA-A14DD56F9826}"/>
              </a:ext>
            </a:extLst>
          </p:cNvPr>
          <p:cNvSpPr>
            <a:spLocks xmlns:a="http://schemas.openxmlformats.org/drawingml/2006/main" noGrp="1"/>
          </p:cNvSpPr>
          <p:nvPr/>
        </p:nvSpPr>
        <p:spPr>
          <a:xfrm xmlns:a="http://schemas.openxmlformats.org/drawingml/2006/main">
            <a:off x="762000" y="6343650"/>
            <a:ext cx="10534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25" b="0" i="0">
                <a:solidFill>
                  <a:srgbClr val="8B9094"/>
                </a:solidFill>
                <a:latin typeface="Arial"/>
                <a:ea typeface="Arial"/>
                <a:cs typeface="Arial"/>
              </a:defRPr>
            </a:pPr>
            <a:r>
              <a:rPr sz="825" b="0" i="0">
                <a:solidFill>
                  <a:srgbClr val="8B9094"/>
                </a:solidFill>
                <a:latin typeface="Arial"/>
                <a:ea typeface="Arial"/>
                <a:cs typeface="Arial"/>
              </a:rPr>
              <a:t>Illustrative—not NRG/IFC. Excludes generator-output bus, OEM wiring and contractor methods.</a:t>
            </a:r>
          </a:p>
        </p:txBody>
      </p:sp>
    </p:spTree>
    <p:extLst>
      <p:ext uri="{BB962C8B-B14F-4D97-AF65-F5344CB8AC3E}">
        <p14:creationId xmlns:p14="http://schemas.microsoft.com/office/powerpoint/2010/main" val="1296255461"/>
      </p:ext>
    </p:extLst>
  </p:cSld>
</p:sld>
</file>

<file path=ppt/slides/slide6.xml><?xml version="1.0" encoding="utf-8"?>
<p:sld xmlns:p="http://schemas.openxmlformats.org/presentationml/2006/main">
  <p:cSld>
    <p:bg>
      <p:bgPr>
        <a:solidFill xmlns:a="http://schemas.openxmlformats.org/drawingml/2006/main">
          <a:srgbClr val="F6F3EE"/>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845DC38F-6AE2-41CB-8F67-FE474A831FFC}"/>
              </a:ext>
            </a:extLst>
          </p:cNvPr>
          <p:cNvSpPr>
            <a:spLocks xmlns:a="http://schemas.openxmlformats.org/drawingml/2006/main" noGrp="1"/>
          </p:cNvSpPr>
          <p:nvPr/>
        </p:nvSpPr>
        <p:spPr>
          <a:xfrm xmlns:a="http://schemas.openxmlformats.org/drawingml/2006/main" rot="0">
            <a:off x="0" y="0"/>
            <a:ext cx="12192000" cy="5715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e9945691857c4426"/>
          <a:stretch xmlns:a="http://schemas.openxmlformats.org/drawingml/2006/main"/>
        </p:blipFill>
        <p:spPr>
          <a:xfrm xmlns:a="http://schemas.openxmlformats.org/drawingml/2006/main">
            <a:off x="719138" y="200025"/>
            <a:ext cx="2066925" cy="590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89EEA4D-3183-4B6E-8498-78D3FCE2A4A2}"/>
              </a:ext>
            </a:extLst>
          </p:cNvPr>
          <p:cNvSpPr>
            <a:spLocks xmlns:a="http://schemas.openxmlformats.org/drawingml/2006/main" noGrp="1"/>
          </p:cNvSpPr>
          <p:nvPr/>
        </p:nvSpPr>
        <p:spPr>
          <a:xfrm xmlns:a="http://schemas.openxmlformats.org/drawingml/2006/main">
            <a:off x="8096250" y="3238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19" b="1" i="0">
                <a:solidFill>
                  <a:srgbClr val="9D4E24"/>
                </a:solidFill>
                <a:latin typeface="Arial"/>
                <a:ea typeface="Arial"/>
                <a:cs typeface="Arial"/>
              </a:defRPr>
            </a:pPr>
            <a:r>
              <a:rPr sz="819" b="1" i="0">
                <a:solidFill>
                  <a:srgbClr val="9D4E24"/>
                </a:solidFill>
                <a:latin typeface="Arial"/>
                <a:ea typeface="Arial"/>
                <a:cs typeface="Arial"/>
              </a:rPr>
              <a:t>INTEGRATED ELECTRICAL DELIVERY</a:t>
            </a:r>
          </a:p>
        </p:txBody>
      </p:sp>
      <p:sp>
        <p:nvSpPr>
          <p:cNvPr id="4" name="">
            <a:extLst xmlns:a="http://schemas.openxmlformats.org/drawingml/2006/main">
              <a:ext uri="{FF2B5EF4-FFF2-40B4-BE49-F238E27FC236}">
                <a16:creationId xmlns:a16="http://schemas.microsoft.com/office/drawing/2014/main" id="{9BF28EA1-DF91-47F4-8165-40932299F7AF}"/>
              </a:ext>
            </a:extLst>
          </p:cNvPr>
          <p:cNvSpPr>
            <a:spLocks xmlns:a="http://schemas.openxmlformats.org/drawingml/2006/main" noGrp="1"/>
          </p:cNvSpPr>
          <p:nvPr/>
        </p:nvSpPr>
        <p:spPr>
          <a:xfrm xmlns:a="http://schemas.openxmlformats.org/drawingml/2006/main">
            <a:off x="11334750" y="3238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19" b="1" i="0">
                <a:solidFill>
                  <a:srgbClr val="8B9094"/>
                </a:solidFill>
                <a:latin typeface="Arial"/>
                <a:ea typeface="Arial"/>
                <a:cs typeface="Arial"/>
              </a:defRPr>
            </a:pPr>
            <a:r>
              <a:rPr sz="819" b="1" i="0">
                <a:solidFill>
                  <a:srgbClr val="8B9094"/>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47AF5CC8-9D9B-49E1-BEC1-A70BAD8389D4}"/>
              </a:ext>
            </a:extLst>
          </p:cNvPr>
          <p:cNvSpPr>
            <a:spLocks xmlns:a="http://schemas.openxmlformats.org/drawingml/2006/main" noGrp="1"/>
          </p:cNvSpPr>
          <p:nvPr/>
        </p:nvSpPr>
        <p:spPr>
          <a:xfrm xmlns:a="http://schemas.openxmlformats.org/drawingml/2006/main">
            <a:off x="552450" y="876300"/>
            <a:ext cx="1104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82" b="1" i="0">
                <a:solidFill>
                  <a:srgbClr val="9D4E24"/>
                </a:solidFill>
                <a:latin typeface="Arial"/>
                <a:ea typeface="Arial"/>
                <a:cs typeface="Arial"/>
              </a:defRPr>
            </a:pPr>
            <a:r>
              <a:rPr sz="882" b="1" i="0">
                <a:solidFill>
                  <a:srgbClr val="9D4E24"/>
                </a:solidFill>
                <a:latin typeface="Arial"/>
                <a:ea typeface="Arial"/>
                <a:cs typeface="Arial"/>
              </a:rPr>
              <a:t>ONE COORDINATED FLOW</a:t>
            </a:r>
          </a:p>
        </p:txBody>
      </p:sp>
      <p:sp>
        <p:nvSpPr>
          <p:cNvPr id="6" name="">
            <a:extLst xmlns:a="http://schemas.openxmlformats.org/drawingml/2006/main">
              <a:ext uri="{FF2B5EF4-FFF2-40B4-BE49-F238E27FC236}">
                <a16:creationId xmlns:a16="http://schemas.microsoft.com/office/drawing/2014/main" id="{65C0BCAE-551A-42C9-A5AF-140E3EF3526C}"/>
              </a:ext>
            </a:extLst>
          </p:cNvPr>
          <p:cNvSpPr>
            <a:spLocks xmlns:a="http://schemas.openxmlformats.org/drawingml/2006/main" noGrp="1"/>
          </p:cNvSpPr>
          <p:nvPr/>
        </p:nvSpPr>
        <p:spPr>
          <a:xfrm xmlns:a="http://schemas.openxmlformats.org/drawingml/2006/main">
            <a:off x="552450" y="1181100"/>
            <a:ext cx="1104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727"/>
          </a:bodyPr>
          <a:lstStyle xmlns:a="http://schemas.openxmlformats.org/drawingml/2006/main"/>
          <a:p xmlns:a="http://schemas.openxmlformats.org/drawingml/2006/main">
            <a:pPr algn="l">
              <a:lnSpc>
                <a:spcPct val="94000"/>
              </a:lnSpc>
              <a:buNone/>
              <a:defRPr sz="2700" b="1" i="0">
                <a:solidFill>
                  <a:srgbClr val="17191C"/>
                </a:solidFill>
                <a:latin typeface="Arial"/>
                <a:ea typeface="Arial"/>
                <a:cs typeface="Arial"/>
              </a:defRPr>
            </a:pPr>
            <a:r>
              <a:rPr sz="2700" b="1" i="0">
                <a:solidFill>
                  <a:srgbClr val="17191C"/>
                </a:solidFill>
                <a:latin typeface="Arial"/>
                <a:ea typeface="Arial"/>
                <a:cs typeface="Arial"/>
              </a:rPr>
              <a:t>A coordinated electrical delivery system aligns decisions from planning through turnover.</a:t>
            </a:r>
          </a:p>
        </p:txBody>
      </p:sp>
      <p:sp>
        <p:nvSpPr>
          <p:cNvPr id="7" name="">
            <a:extLst xmlns:a="http://schemas.openxmlformats.org/drawingml/2006/main">
              <a:ext uri="{FF2B5EF4-FFF2-40B4-BE49-F238E27FC236}">
                <a16:creationId xmlns:a16="http://schemas.microsoft.com/office/drawing/2014/main" id="{7B11B163-FEC6-4A82-AC0D-BFBC738C42FA}"/>
              </a:ext>
            </a:extLst>
          </p:cNvPr>
          <p:cNvSpPr>
            <a:spLocks xmlns:a="http://schemas.openxmlformats.org/drawingml/2006/main" noGrp="1"/>
          </p:cNvSpPr>
          <p:nvPr/>
        </p:nvSpPr>
        <p:spPr>
          <a:xfrm xmlns:a="http://schemas.openxmlformats.org/drawingml/2006/main">
            <a:off x="552450" y="188595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834"/>
          </a:bodyPr>
          <a:lstStyle xmlns:a="http://schemas.openxmlformats.org/drawingml/2006/main"/>
          <a:p xmlns:a="http://schemas.openxmlformats.org/drawingml/2006/main">
            <a:pPr algn="l">
              <a:lnSpc>
                <a:spcPct val="103000"/>
              </a:lnSpc>
              <a:buNone/>
              <a:defRPr sz="1425" b="0" i="0">
                <a:solidFill>
                  <a:srgbClr val="6A6F73"/>
                </a:solidFill>
                <a:latin typeface="Arial"/>
                <a:ea typeface="Arial"/>
                <a:cs typeface="Arial"/>
              </a:defRPr>
            </a:pPr>
            <a:r>
              <a:rPr sz="1425" b="0" i="0">
                <a:solidFill>
                  <a:srgbClr val="6A6F73"/>
                </a:solidFill>
                <a:latin typeface="Arial"/>
                <a:ea typeface="Arial"/>
                <a:cs typeface="Arial"/>
              </a:rPr>
              <a:t>Southwire connects application support, material planning, sequenced logistics and field readiness—without changing project accountability.</a:t>
            </a:r>
          </a:p>
        </p:txBody>
      </p:sp>
      <p:sp>
        <p:nvSpPr>
          <p:cNvPr id="8" name="">
            <a:extLst xmlns:a="http://schemas.openxmlformats.org/drawingml/2006/main">
              <a:ext uri="{FF2B5EF4-FFF2-40B4-BE49-F238E27FC236}">
                <a16:creationId xmlns:a16="http://schemas.microsoft.com/office/drawing/2014/main" id="{AA0834E0-F0DC-4C90-9E61-78A455267176}"/>
              </a:ext>
            </a:extLst>
          </p:cNvPr>
          <p:cNvSpPr>
            <a:spLocks xmlns:a="http://schemas.openxmlformats.org/drawingml/2006/main" noGrp="1"/>
          </p:cNvSpPr>
          <p:nvPr/>
        </p:nvSpPr>
        <p:spPr>
          <a:xfrm xmlns:a="http://schemas.openxmlformats.org/drawingml/2006/main">
            <a:off x="1066800" y="3181350"/>
            <a:ext cx="10048875" cy="0"/>
          </a:xfrm>
          <a:prstGeom xmlns:a="http://schemas.openxmlformats.org/drawingml/2006/main" prst="line">
            <a:avLst/>
          </a:prstGeom>
          <a:noFill xmlns:a="http://schemas.openxmlformats.org/drawingml/2006/main"/>
          <a:ln xmlns:a="http://schemas.openxmlformats.org/drawingml/2006/main" w="38100">
            <a:solidFill>
              <a:srgbClr val="C9783E"/>
            </a:solidFill>
            <a:prstDash val="solid"/>
          </a:ln>
        </p:spPr>
      </p:sp>
      <p:sp>
        <p:nvSpPr>
          <p:cNvPr id="9" name="">
            <a:extLst xmlns:a="http://schemas.openxmlformats.org/drawingml/2006/main">
              <a:ext uri="{FF2B5EF4-FFF2-40B4-BE49-F238E27FC236}">
                <a16:creationId xmlns:a16="http://schemas.microsoft.com/office/drawing/2014/main" id="{AB7FDA60-6B1B-4154-9A93-CE3D697397B4}"/>
              </a:ext>
            </a:extLst>
          </p:cNvPr>
          <p:cNvSpPr>
            <a:spLocks xmlns:a="http://schemas.openxmlformats.org/drawingml/2006/main" noGrp="1"/>
          </p:cNvSpPr>
          <p:nvPr/>
        </p:nvSpPr>
        <p:spPr>
          <a:xfrm xmlns:a="http://schemas.openxmlformats.org/drawingml/2006/main">
            <a:off x="904875" y="3019425"/>
            <a:ext cx="323850" cy="323850"/>
          </a:xfrm>
          <a:prstGeom xmlns:a="http://schemas.openxmlformats.org/drawingml/2006/main" prst="ellipse">
            <a:avLst/>
          </a:prstGeom>
          <a:solidFill xmlns:a="http://schemas.openxmlformats.org/drawingml/2006/main">
            <a:srgbClr val="9D4E2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84B2944-3C32-41A4-B7DE-F11869E77CB1}"/>
              </a:ext>
            </a:extLst>
          </p:cNvPr>
          <p:cNvSpPr>
            <a:spLocks xmlns:a="http://schemas.openxmlformats.org/drawingml/2006/main" noGrp="1"/>
          </p:cNvSpPr>
          <p:nvPr/>
        </p:nvSpPr>
        <p:spPr>
          <a:xfrm xmlns:a="http://schemas.openxmlformats.org/drawingml/2006/main">
            <a:off x="942975" y="3067050"/>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756" b="1" i="0">
                <a:solidFill>
                  <a:srgbClr val="FFFFFF"/>
                </a:solidFill>
                <a:latin typeface="Arial"/>
                <a:ea typeface="Arial"/>
                <a:cs typeface="Arial"/>
              </a:defRPr>
            </a:pPr>
            <a:r>
              <a:rPr sz="756" b="1" i="0">
                <a:solidFill>
                  <a:srgbClr val="FFFFFF"/>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ECE862CD-7E83-4193-986F-2224FBD6FD8B}"/>
              </a:ext>
            </a:extLst>
          </p:cNvPr>
          <p:cNvSpPr>
            <a:spLocks xmlns:a="http://schemas.openxmlformats.org/drawingml/2006/main" noGrp="1"/>
          </p:cNvSpPr>
          <p:nvPr/>
        </p:nvSpPr>
        <p:spPr>
          <a:xfrm xmlns:a="http://schemas.openxmlformats.org/drawingml/2006/main">
            <a:off x="200025" y="3552825"/>
            <a:ext cx="173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45" b="1" i="0">
                <a:solidFill>
                  <a:srgbClr val="17191C"/>
                </a:solidFill>
                <a:latin typeface="Arial"/>
                <a:ea typeface="Arial"/>
                <a:cs typeface="Arial"/>
              </a:defRPr>
            </a:pPr>
            <a:r>
              <a:rPr sz="945" b="1" i="0">
                <a:solidFill>
                  <a:srgbClr val="17191C"/>
                </a:solidFill>
                <a:latin typeface="Arial"/>
                <a:ea typeface="Arial"/>
                <a:cs typeface="Arial"/>
              </a:rPr>
              <a:t>PLAN + FORECAST</a:t>
            </a:r>
          </a:p>
        </p:txBody>
      </p:sp>
      <p:sp>
        <p:nvSpPr>
          <p:cNvPr id="12" name="">
            <a:extLst xmlns:a="http://schemas.openxmlformats.org/drawingml/2006/main">
              <a:ext uri="{FF2B5EF4-FFF2-40B4-BE49-F238E27FC236}">
                <a16:creationId xmlns:a16="http://schemas.microsoft.com/office/drawing/2014/main" id="{BF86C620-65F1-4F7A-9A35-D59254D61F36}"/>
              </a:ext>
            </a:extLst>
          </p:cNvPr>
          <p:cNvSpPr>
            <a:spLocks xmlns:a="http://schemas.openxmlformats.org/drawingml/2006/main" noGrp="1"/>
          </p:cNvSpPr>
          <p:nvPr/>
        </p:nvSpPr>
        <p:spPr>
          <a:xfrm xmlns:a="http://schemas.openxmlformats.org/drawingml/2006/main">
            <a:off x="200025" y="4019550"/>
            <a:ext cx="1733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6A6F73"/>
                </a:solidFill>
                <a:latin typeface="Arial"/>
                <a:ea typeface="Arial"/>
                <a:cs typeface="Arial"/>
              </a:defRPr>
            </a:pPr>
            <a:r>
              <a:rPr sz="1125" b="0" i="0">
                <a:solidFill>
                  <a:srgbClr val="6A6F73"/>
                </a:solidFill>
                <a:latin typeface="Arial"/>
                <a:ea typeface="Arial"/>
                <a:cs typeface="Arial"/>
              </a:rPr>
              <a:t>Scope and capacity visibility</a:t>
            </a:r>
          </a:p>
        </p:txBody>
      </p:sp>
      <p:sp>
        <p:nvSpPr>
          <p:cNvPr id="13" name="">
            <a:extLst xmlns:a="http://schemas.openxmlformats.org/drawingml/2006/main">
              <a:ext uri="{FF2B5EF4-FFF2-40B4-BE49-F238E27FC236}">
                <a16:creationId xmlns:a16="http://schemas.microsoft.com/office/drawing/2014/main" id="{D9931DE4-5B9D-450F-9375-80FB29CDC14C}"/>
              </a:ext>
            </a:extLst>
          </p:cNvPr>
          <p:cNvSpPr>
            <a:spLocks xmlns:a="http://schemas.openxmlformats.org/drawingml/2006/main" noGrp="1"/>
          </p:cNvSpPr>
          <p:nvPr/>
        </p:nvSpPr>
        <p:spPr>
          <a:xfrm xmlns:a="http://schemas.openxmlformats.org/drawingml/2006/main">
            <a:off x="2914650" y="3019425"/>
            <a:ext cx="323850" cy="32385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9E1E8D4-DC48-43E5-BDB0-06DCDDB204DE}"/>
              </a:ext>
            </a:extLst>
          </p:cNvPr>
          <p:cNvSpPr>
            <a:spLocks xmlns:a="http://schemas.openxmlformats.org/drawingml/2006/main" noGrp="1"/>
          </p:cNvSpPr>
          <p:nvPr/>
        </p:nvSpPr>
        <p:spPr>
          <a:xfrm xmlns:a="http://schemas.openxmlformats.org/drawingml/2006/main">
            <a:off x="2952750" y="3067050"/>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756" b="1" i="0">
                <a:solidFill>
                  <a:srgbClr val="FFFFFF"/>
                </a:solidFill>
                <a:latin typeface="Arial"/>
                <a:ea typeface="Arial"/>
                <a:cs typeface="Arial"/>
              </a:defRPr>
            </a:pPr>
            <a:r>
              <a:rPr sz="756" b="1" i="0">
                <a:solidFill>
                  <a:srgbClr val="FFFFFF"/>
                </a:solidFill>
                <a:latin typeface="Arial"/>
                <a:ea typeface="Arial"/>
                <a:cs typeface="Arial"/>
              </a:rPr>
              <a:t>2</a:t>
            </a:r>
          </a:p>
        </p:txBody>
      </p:sp>
      <p:sp>
        <p:nvSpPr>
          <p:cNvPr id="15" name="">
            <a:extLst xmlns:a="http://schemas.openxmlformats.org/drawingml/2006/main">
              <a:ext uri="{FF2B5EF4-FFF2-40B4-BE49-F238E27FC236}">
                <a16:creationId xmlns:a16="http://schemas.microsoft.com/office/drawing/2014/main" id="{558442E0-B01E-479C-8535-941AA472B43D}"/>
              </a:ext>
            </a:extLst>
          </p:cNvPr>
          <p:cNvSpPr>
            <a:spLocks xmlns:a="http://schemas.openxmlformats.org/drawingml/2006/main" noGrp="1"/>
          </p:cNvSpPr>
          <p:nvPr/>
        </p:nvSpPr>
        <p:spPr>
          <a:xfrm xmlns:a="http://schemas.openxmlformats.org/drawingml/2006/main">
            <a:off x="2209800" y="3552825"/>
            <a:ext cx="173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45" b="1" i="0">
                <a:solidFill>
                  <a:srgbClr val="17191C"/>
                </a:solidFill>
                <a:latin typeface="Arial"/>
                <a:ea typeface="Arial"/>
                <a:cs typeface="Arial"/>
              </a:defRPr>
            </a:pPr>
            <a:r>
              <a:rPr sz="945" b="1" i="0">
                <a:solidFill>
                  <a:srgbClr val="17191C"/>
                </a:solidFill>
                <a:latin typeface="Arial"/>
                <a:ea typeface="Arial"/>
                <a:cs typeface="Arial"/>
              </a:rPr>
              <a:t>APPLICATION ALIGNMENT</a:t>
            </a:r>
          </a:p>
        </p:txBody>
      </p:sp>
      <p:sp>
        <p:nvSpPr>
          <p:cNvPr id="16" name="">
            <a:extLst xmlns:a="http://schemas.openxmlformats.org/drawingml/2006/main">
              <a:ext uri="{FF2B5EF4-FFF2-40B4-BE49-F238E27FC236}">
                <a16:creationId xmlns:a16="http://schemas.microsoft.com/office/drawing/2014/main" id="{914735E2-DA32-4A3F-8C89-53B55832ED96}"/>
              </a:ext>
            </a:extLst>
          </p:cNvPr>
          <p:cNvSpPr>
            <a:spLocks xmlns:a="http://schemas.openxmlformats.org/drawingml/2006/main" noGrp="1"/>
          </p:cNvSpPr>
          <p:nvPr/>
        </p:nvSpPr>
        <p:spPr>
          <a:xfrm xmlns:a="http://schemas.openxmlformats.org/drawingml/2006/main">
            <a:off x="2209800" y="4019550"/>
            <a:ext cx="1733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6A6F73"/>
                </a:solidFill>
                <a:latin typeface="Arial"/>
                <a:ea typeface="Arial"/>
                <a:cs typeface="Arial"/>
              </a:defRPr>
            </a:pPr>
            <a:r>
              <a:rPr sz="1125" b="0" i="0">
                <a:solidFill>
                  <a:srgbClr val="6A6F73"/>
                </a:solidFill>
                <a:latin typeface="Arial"/>
                <a:ea typeface="Arial"/>
                <a:cs typeface="Arial"/>
              </a:rPr>
              <a:t>Codes, duty and alternates</a:t>
            </a:r>
          </a:p>
        </p:txBody>
      </p:sp>
      <p:sp>
        <p:nvSpPr>
          <p:cNvPr id="17" name="">
            <a:extLst xmlns:a="http://schemas.openxmlformats.org/drawingml/2006/main">
              <a:ext uri="{FF2B5EF4-FFF2-40B4-BE49-F238E27FC236}">
                <a16:creationId xmlns:a16="http://schemas.microsoft.com/office/drawing/2014/main" id="{A634E919-3F74-49E2-9A5E-3B5E2FE3A017}"/>
              </a:ext>
            </a:extLst>
          </p:cNvPr>
          <p:cNvSpPr>
            <a:spLocks xmlns:a="http://schemas.openxmlformats.org/drawingml/2006/main" noGrp="1"/>
          </p:cNvSpPr>
          <p:nvPr/>
        </p:nvSpPr>
        <p:spPr>
          <a:xfrm xmlns:a="http://schemas.openxmlformats.org/drawingml/2006/main">
            <a:off x="4924425" y="3019425"/>
            <a:ext cx="323850" cy="32385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546FFC1-96E5-4C04-8540-32DCBFE37DB7}"/>
              </a:ext>
            </a:extLst>
          </p:cNvPr>
          <p:cNvSpPr>
            <a:spLocks xmlns:a="http://schemas.openxmlformats.org/drawingml/2006/main" noGrp="1"/>
          </p:cNvSpPr>
          <p:nvPr/>
        </p:nvSpPr>
        <p:spPr>
          <a:xfrm xmlns:a="http://schemas.openxmlformats.org/drawingml/2006/main">
            <a:off x="4962525" y="3067050"/>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756" b="1" i="0">
                <a:solidFill>
                  <a:srgbClr val="FFFFFF"/>
                </a:solidFill>
                <a:latin typeface="Arial"/>
                <a:ea typeface="Arial"/>
                <a:cs typeface="Arial"/>
              </a:defRPr>
            </a:pPr>
            <a:r>
              <a:rPr sz="756" b="1" i="0">
                <a:solidFill>
                  <a:srgbClr val="FFFFFF"/>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FF4CE0C7-F215-4467-9632-95BC63F3DE13}"/>
              </a:ext>
            </a:extLst>
          </p:cNvPr>
          <p:cNvSpPr>
            <a:spLocks xmlns:a="http://schemas.openxmlformats.org/drawingml/2006/main" noGrp="1"/>
          </p:cNvSpPr>
          <p:nvPr/>
        </p:nvSpPr>
        <p:spPr>
          <a:xfrm xmlns:a="http://schemas.openxmlformats.org/drawingml/2006/main">
            <a:off x="4219575" y="3552825"/>
            <a:ext cx="173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45" b="1" i="0">
                <a:solidFill>
                  <a:srgbClr val="17191C"/>
                </a:solidFill>
                <a:latin typeface="Arial"/>
                <a:ea typeface="Arial"/>
                <a:cs typeface="Arial"/>
              </a:defRPr>
            </a:pPr>
            <a:r>
              <a:rPr sz="945" b="1" i="0">
                <a:solidFill>
                  <a:srgbClr val="17191C"/>
                </a:solidFill>
                <a:latin typeface="Arial"/>
                <a:ea typeface="Arial"/>
                <a:cs typeface="Arial"/>
              </a:rPr>
              <a:t>MATERIAL + REEL STRATEGY</a:t>
            </a:r>
          </a:p>
        </p:txBody>
      </p:sp>
      <p:sp>
        <p:nvSpPr>
          <p:cNvPr id="20" name="">
            <a:extLst xmlns:a="http://schemas.openxmlformats.org/drawingml/2006/main">
              <a:ext uri="{FF2B5EF4-FFF2-40B4-BE49-F238E27FC236}">
                <a16:creationId xmlns:a16="http://schemas.microsoft.com/office/drawing/2014/main" id="{FA3431A3-A8C2-4B8A-A59B-A3E229E7F731}"/>
              </a:ext>
            </a:extLst>
          </p:cNvPr>
          <p:cNvSpPr>
            <a:spLocks xmlns:a="http://schemas.openxmlformats.org/drawingml/2006/main" noGrp="1"/>
          </p:cNvSpPr>
          <p:nvPr/>
        </p:nvSpPr>
        <p:spPr>
          <a:xfrm xmlns:a="http://schemas.openxmlformats.org/drawingml/2006/main">
            <a:off x="4219575" y="4019550"/>
            <a:ext cx="1733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6A6F73"/>
                </a:solidFill>
                <a:latin typeface="Arial"/>
                <a:ea typeface="Arial"/>
                <a:cs typeface="Arial"/>
              </a:defRPr>
            </a:pPr>
            <a:r>
              <a:rPr sz="1125" b="0" i="0">
                <a:solidFill>
                  <a:srgbClr val="6A6F73"/>
                </a:solidFill>
                <a:latin typeface="Arial"/>
                <a:ea typeface="Arial"/>
                <a:cs typeface="Arial"/>
              </a:rPr>
              <a:t>Routes, cuts and reel plan</a:t>
            </a:r>
          </a:p>
        </p:txBody>
      </p:sp>
      <p:sp>
        <p:nvSpPr>
          <p:cNvPr id="21" name="">
            <a:extLst xmlns:a="http://schemas.openxmlformats.org/drawingml/2006/main">
              <a:ext uri="{FF2B5EF4-FFF2-40B4-BE49-F238E27FC236}">
                <a16:creationId xmlns:a16="http://schemas.microsoft.com/office/drawing/2014/main" id="{3D6F02E7-F294-408E-AE7B-57B98FC7622D}"/>
              </a:ext>
            </a:extLst>
          </p:cNvPr>
          <p:cNvSpPr>
            <a:spLocks xmlns:a="http://schemas.openxmlformats.org/drawingml/2006/main" noGrp="1"/>
          </p:cNvSpPr>
          <p:nvPr/>
        </p:nvSpPr>
        <p:spPr>
          <a:xfrm xmlns:a="http://schemas.openxmlformats.org/drawingml/2006/main">
            <a:off x="6934200" y="3019425"/>
            <a:ext cx="323850" cy="32385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71FD49B-FA5A-4A7B-A012-300CD02AABD7}"/>
              </a:ext>
            </a:extLst>
          </p:cNvPr>
          <p:cNvSpPr>
            <a:spLocks xmlns:a="http://schemas.openxmlformats.org/drawingml/2006/main" noGrp="1"/>
          </p:cNvSpPr>
          <p:nvPr/>
        </p:nvSpPr>
        <p:spPr>
          <a:xfrm xmlns:a="http://schemas.openxmlformats.org/drawingml/2006/main">
            <a:off x="6972300" y="3067050"/>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756" b="1" i="0">
                <a:solidFill>
                  <a:srgbClr val="FFFFFF"/>
                </a:solidFill>
                <a:latin typeface="Arial"/>
                <a:ea typeface="Arial"/>
                <a:cs typeface="Arial"/>
              </a:defRPr>
            </a:pPr>
            <a:r>
              <a:rPr sz="756" b="1" i="0">
                <a:solidFill>
                  <a:srgbClr val="FFFFFF"/>
                </a:solidFill>
                <a:latin typeface="Arial"/>
                <a:ea typeface="Arial"/>
                <a:cs typeface="Arial"/>
              </a:rPr>
              <a:t>4</a:t>
            </a:r>
          </a:p>
        </p:txBody>
      </p:sp>
      <p:sp>
        <p:nvSpPr>
          <p:cNvPr id="23" name="">
            <a:extLst xmlns:a="http://schemas.openxmlformats.org/drawingml/2006/main">
              <a:ext uri="{FF2B5EF4-FFF2-40B4-BE49-F238E27FC236}">
                <a16:creationId xmlns:a16="http://schemas.microsoft.com/office/drawing/2014/main" id="{B438CFB6-8269-4816-938F-78C2F8E88B68}"/>
              </a:ext>
            </a:extLst>
          </p:cNvPr>
          <p:cNvSpPr>
            <a:spLocks xmlns:a="http://schemas.openxmlformats.org/drawingml/2006/main" noGrp="1"/>
          </p:cNvSpPr>
          <p:nvPr/>
        </p:nvSpPr>
        <p:spPr>
          <a:xfrm xmlns:a="http://schemas.openxmlformats.org/drawingml/2006/main">
            <a:off x="6229350" y="3552825"/>
            <a:ext cx="173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45" b="1" i="0">
                <a:solidFill>
                  <a:srgbClr val="17191C"/>
                </a:solidFill>
                <a:latin typeface="Arial"/>
                <a:ea typeface="Arial"/>
                <a:cs typeface="Arial"/>
              </a:defRPr>
            </a:pPr>
            <a:r>
              <a:rPr sz="945" b="1" i="0">
                <a:solidFill>
                  <a:srgbClr val="17191C"/>
                </a:solidFill>
                <a:latin typeface="Arial"/>
                <a:ea typeface="Arial"/>
                <a:cs typeface="Arial"/>
              </a:rPr>
              <a:t>RELEASE + LOGISTICS</a:t>
            </a:r>
          </a:p>
        </p:txBody>
      </p:sp>
      <p:sp>
        <p:nvSpPr>
          <p:cNvPr id="24" name="">
            <a:extLst xmlns:a="http://schemas.openxmlformats.org/drawingml/2006/main">
              <a:ext uri="{FF2B5EF4-FFF2-40B4-BE49-F238E27FC236}">
                <a16:creationId xmlns:a16="http://schemas.microsoft.com/office/drawing/2014/main" id="{9C77E230-1B0B-4F73-8A24-65663B601DD9}"/>
              </a:ext>
            </a:extLst>
          </p:cNvPr>
          <p:cNvSpPr>
            <a:spLocks xmlns:a="http://schemas.openxmlformats.org/drawingml/2006/main" noGrp="1"/>
          </p:cNvSpPr>
          <p:nvPr/>
        </p:nvSpPr>
        <p:spPr>
          <a:xfrm xmlns:a="http://schemas.openxmlformats.org/drawingml/2006/main">
            <a:off x="6229350" y="4019550"/>
            <a:ext cx="1733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6A6F73"/>
                </a:solidFill>
                <a:latin typeface="Arial"/>
                <a:ea typeface="Arial"/>
                <a:cs typeface="Arial"/>
              </a:defRPr>
            </a:pPr>
            <a:r>
              <a:rPr sz="1125" b="0" i="0">
                <a:solidFill>
                  <a:srgbClr val="6A6F73"/>
                </a:solidFill>
                <a:latin typeface="Arial"/>
                <a:ea typeface="Arial"/>
                <a:cs typeface="Arial"/>
              </a:rPr>
              <a:t>Sequence by zone and milestone</a:t>
            </a:r>
          </a:p>
        </p:txBody>
      </p:sp>
      <p:sp>
        <p:nvSpPr>
          <p:cNvPr id="25" name="">
            <a:extLst xmlns:a="http://schemas.openxmlformats.org/drawingml/2006/main">
              <a:ext uri="{FF2B5EF4-FFF2-40B4-BE49-F238E27FC236}">
                <a16:creationId xmlns:a16="http://schemas.microsoft.com/office/drawing/2014/main" id="{D44B5AF7-4C1D-43FE-8983-E16EF6213D42}"/>
              </a:ext>
            </a:extLst>
          </p:cNvPr>
          <p:cNvSpPr>
            <a:spLocks xmlns:a="http://schemas.openxmlformats.org/drawingml/2006/main" noGrp="1"/>
          </p:cNvSpPr>
          <p:nvPr/>
        </p:nvSpPr>
        <p:spPr>
          <a:xfrm xmlns:a="http://schemas.openxmlformats.org/drawingml/2006/main">
            <a:off x="8943975" y="3019425"/>
            <a:ext cx="323850" cy="32385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94CBBF6-3636-4021-9235-7A705BC79643}"/>
              </a:ext>
            </a:extLst>
          </p:cNvPr>
          <p:cNvSpPr>
            <a:spLocks xmlns:a="http://schemas.openxmlformats.org/drawingml/2006/main" noGrp="1"/>
          </p:cNvSpPr>
          <p:nvPr/>
        </p:nvSpPr>
        <p:spPr>
          <a:xfrm xmlns:a="http://schemas.openxmlformats.org/drawingml/2006/main">
            <a:off x="8982075" y="3067050"/>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756" b="1" i="0">
                <a:solidFill>
                  <a:srgbClr val="FFFFFF"/>
                </a:solidFill>
                <a:latin typeface="Arial"/>
                <a:ea typeface="Arial"/>
                <a:cs typeface="Arial"/>
              </a:defRPr>
            </a:pPr>
            <a:r>
              <a:rPr sz="756" b="1" i="0">
                <a:solidFill>
                  <a:srgbClr val="FFFFFF"/>
                </a:solidFill>
                <a:latin typeface="Arial"/>
                <a:ea typeface="Arial"/>
                <a:cs typeface="Arial"/>
              </a:rPr>
              <a:t>5</a:t>
            </a:r>
          </a:p>
        </p:txBody>
      </p:sp>
      <p:sp>
        <p:nvSpPr>
          <p:cNvPr id="27" name="">
            <a:extLst xmlns:a="http://schemas.openxmlformats.org/drawingml/2006/main">
              <a:ext uri="{FF2B5EF4-FFF2-40B4-BE49-F238E27FC236}">
                <a16:creationId xmlns:a16="http://schemas.microsoft.com/office/drawing/2014/main" id="{3B0B3B82-393B-4C25-86A4-24ECEE8A21AC}"/>
              </a:ext>
            </a:extLst>
          </p:cNvPr>
          <p:cNvSpPr>
            <a:spLocks xmlns:a="http://schemas.openxmlformats.org/drawingml/2006/main" noGrp="1"/>
          </p:cNvSpPr>
          <p:nvPr/>
        </p:nvSpPr>
        <p:spPr>
          <a:xfrm xmlns:a="http://schemas.openxmlformats.org/drawingml/2006/main">
            <a:off x="8239125" y="3552825"/>
            <a:ext cx="173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45" b="1" i="0">
                <a:solidFill>
                  <a:srgbClr val="17191C"/>
                </a:solidFill>
                <a:latin typeface="Arial"/>
                <a:ea typeface="Arial"/>
                <a:cs typeface="Arial"/>
              </a:defRPr>
            </a:pPr>
            <a:r>
              <a:rPr sz="945" b="1" i="0">
                <a:solidFill>
                  <a:srgbClr val="17191C"/>
                </a:solidFill>
                <a:latin typeface="Arial"/>
                <a:ea typeface="Arial"/>
                <a:cs typeface="Arial"/>
              </a:rPr>
              <a:t>INSTALLATION READINESS</a:t>
            </a:r>
          </a:p>
        </p:txBody>
      </p:sp>
      <p:sp>
        <p:nvSpPr>
          <p:cNvPr id="28" name="">
            <a:extLst xmlns:a="http://schemas.openxmlformats.org/drawingml/2006/main">
              <a:ext uri="{FF2B5EF4-FFF2-40B4-BE49-F238E27FC236}">
                <a16:creationId xmlns:a16="http://schemas.microsoft.com/office/drawing/2014/main" id="{42CFCDD8-3BF8-4990-8197-A9083D2476C5}"/>
              </a:ext>
            </a:extLst>
          </p:cNvPr>
          <p:cNvSpPr>
            <a:spLocks xmlns:a="http://schemas.openxmlformats.org/drawingml/2006/main" noGrp="1"/>
          </p:cNvSpPr>
          <p:nvPr/>
        </p:nvSpPr>
        <p:spPr>
          <a:xfrm xmlns:a="http://schemas.openxmlformats.org/drawingml/2006/main">
            <a:off x="8239125" y="4019550"/>
            <a:ext cx="1733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6A6F73"/>
                </a:solidFill>
                <a:latin typeface="Arial"/>
                <a:ea typeface="Arial"/>
                <a:cs typeface="Arial"/>
              </a:defRPr>
            </a:pPr>
            <a:r>
              <a:rPr sz="1125" b="0" i="0">
                <a:solidFill>
                  <a:srgbClr val="6A6F73"/>
                </a:solidFill>
                <a:latin typeface="Arial"/>
                <a:ea typeface="Arial"/>
                <a:cs typeface="Arial"/>
              </a:rPr>
              <a:t>Labels, kits and pull planning</a:t>
            </a:r>
          </a:p>
        </p:txBody>
      </p:sp>
      <p:sp>
        <p:nvSpPr>
          <p:cNvPr id="29" name="">
            <a:extLst xmlns:a="http://schemas.openxmlformats.org/drawingml/2006/main">
              <a:ext uri="{FF2B5EF4-FFF2-40B4-BE49-F238E27FC236}">
                <a16:creationId xmlns:a16="http://schemas.microsoft.com/office/drawing/2014/main" id="{C917D65D-B844-43A9-A2EB-E9EF8AA9A133}"/>
              </a:ext>
            </a:extLst>
          </p:cNvPr>
          <p:cNvSpPr>
            <a:spLocks xmlns:a="http://schemas.openxmlformats.org/drawingml/2006/main" noGrp="1"/>
          </p:cNvSpPr>
          <p:nvPr/>
        </p:nvSpPr>
        <p:spPr>
          <a:xfrm xmlns:a="http://schemas.openxmlformats.org/drawingml/2006/main">
            <a:off x="10953750" y="3019425"/>
            <a:ext cx="323850" cy="323850"/>
          </a:xfrm>
          <a:prstGeom xmlns:a="http://schemas.openxmlformats.org/drawingml/2006/main" prst="ellipse">
            <a:avLst/>
          </a:prstGeom>
          <a:solidFill xmlns:a="http://schemas.openxmlformats.org/drawingml/2006/main">
            <a:srgbClr val="9D4E2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F09CD09-1EBC-429B-930F-D50F0A39F1AC}"/>
              </a:ext>
            </a:extLst>
          </p:cNvPr>
          <p:cNvSpPr>
            <a:spLocks xmlns:a="http://schemas.openxmlformats.org/drawingml/2006/main" noGrp="1"/>
          </p:cNvSpPr>
          <p:nvPr/>
        </p:nvSpPr>
        <p:spPr>
          <a:xfrm xmlns:a="http://schemas.openxmlformats.org/drawingml/2006/main">
            <a:off x="10991850" y="3067050"/>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756" b="1" i="0">
                <a:solidFill>
                  <a:srgbClr val="FFFFFF"/>
                </a:solidFill>
                <a:latin typeface="Arial"/>
                <a:ea typeface="Arial"/>
                <a:cs typeface="Arial"/>
              </a:defRPr>
            </a:pPr>
            <a:r>
              <a:rPr sz="756" b="1" i="0">
                <a:solidFill>
                  <a:srgbClr val="FFFFFF"/>
                </a:solidFill>
                <a:latin typeface="Arial"/>
                <a:ea typeface="Arial"/>
                <a:cs typeface="Arial"/>
              </a:rPr>
              <a:t>6</a:t>
            </a:r>
          </a:p>
        </p:txBody>
      </p:sp>
      <p:sp>
        <p:nvSpPr>
          <p:cNvPr id="31" name="">
            <a:extLst xmlns:a="http://schemas.openxmlformats.org/drawingml/2006/main">
              <a:ext uri="{FF2B5EF4-FFF2-40B4-BE49-F238E27FC236}">
                <a16:creationId xmlns:a16="http://schemas.microsoft.com/office/drawing/2014/main" id="{AA521088-E403-43F6-9051-AEE0895D41A3}"/>
              </a:ext>
            </a:extLst>
          </p:cNvPr>
          <p:cNvSpPr>
            <a:spLocks xmlns:a="http://schemas.openxmlformats.org/drawingml/2006/main" noGrp="1"/>
          </p:cNvSpPr>
          <p:nvPr/>
        </p:nvSpPr>
        <p:spPr>
          <a:xfrm xmlns:a="http://schemas.openxmlformats.org/drawingml/2006/main">
            <a:off x="10248900" y="3552825"/>
            <a:ext cx="173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45" b="1" i="0">
                <a:solidFill>
                  <a:srgbClr val="17191C"/>
                </a:solidFill>
                <a:latin typeface="Arial"/>
                <a:ea typeface="Arial"/>
                <a:cs typeface="Arial"/>
              </a:defRPr>
            </a:pPr>
            <a:r>
              <a:rPr sz="945" b="1" i="0">
                <a:solidFill>
                  <a:srgbClr val="17191C"/>
                </a:solidFill>
                <a:latin typeface="Arial"/>
                <a:ea typeface="Arial"/>
                <a:cs typeface="Arial"/>
              </a:rPr>
              <a:t>FIELD SUPPORT + TURNOVER</a:t>
            </a:r>
          </a:p>
        </p:txBody>
      </p:sp>
      <p:sp>
        <p:nvSpPr>
          <p:cNvPr id="32" name="">
            <a:extLst xmlns:a="http://schemas.openxmlformats.org/drawingml/2006/main">
              <a:ext uri="{FF2B5EF4-FFF2-40B4-BE49-F238E27FC236}">
                <a16:creationId xmlns:a16="http://schemas.microsoft.com/office/drawing/2014/main" id="{85C15463-1636-4C31-BFCD-F704B9D4D3BF}"/>
              </a:ext>
            </a:extLst>
          </p:cNvPr>
          <p:cNvSpPr>
            <a:spLocks xmlns:a="http://schemas.openxmlformats.org/drawingml/2006/main" noGrp="1"/>
          </p:cNvSpPr>
          <p:nvPr/>
        </p:nvSpPr>
        <p:spPr>
          <a:xfrm xmlns:a="http://schemas.openxmlformats.org/drawingml/2006/main">
            <a:off x="10248900" y="4019550"/>
            <a:ext cx="1733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6A6F73"/>
                </a:solidFill>
                <a:latin typeface="Arial"/>
                <a:ea typeface="Arial"/>
                <a:cs typeface="Arial"/>
              </a:defRPr>
            </a:pPr>
            <a:r>
              <a:rPr sz="1125" b="0" i="0">
                <a:solidFill>
                  <a:srgbClr val="6A6F73"/>
                </a:solidFill>
                <a:latin typeface="Arial"/>
                <a:ea typeface="Arial"/>
                <a:cs typeface="Arial"/>
              </a:rPr>
              <a:t>Feedback, testing and records</a:t>
            </a:r>
          </a:p>
        </p:txBody>
      </p:sp>
      <p:sp>
        <p:nvSpPr>
          <p:cNvPr id="33" name="">
            <a:extLst xmlns:a="http://schemas.openxmlformats.org/drawingml/2006/main">
              <a:ext uri="{FF2B5EF4-FFF2-40B4-BE49-F238E27FC236}">
                <a16:creationId xmlns:a16="http://schemas.microsoft.com/office/drawing/2014/main" id="{CCDCDBBB-418D-4496-B683-1E46A12185A0}"/>
              </a:ext>
            </a:extLst>
          </p:cNvPr>
          <p:cNvSpPr>
            <a:spLocks xmlns:a="http://schemas.openxmlformats.org/drawingml/2006/main" noGrp="1"/>
          </p:cNvSpPr>
          <p:nvPr/>
        </p:nvSpPr>
        <p:spPr>
          <a:xfrm xmlns:a="http://schemas.openxmlformats.org/drawingml/2006/main" rot="0">
            <a:off x="552450" y="4857750"/>
            <a:ext cx="11087100" cy="876300"/>
          </a:xfrm>
          <a:prstGeom xmlns:a="http://schemas.openxmlformats.org/drawingml/2006/main" prst="rect">
            <a:avLst/>
          </a:prstGeom>
          <a:solidFill xmlns:a="http://schemas.openxmlformats.org/drawingml/2006/main">
            <a:srgbClr val="F2E3D8"/>
          </a:solidFill>
          <a:ln xmlns:a="http://schemas.openxmlformats.org/drawingml/2006/main" w="9525">
            <a:solidFill>
              <a:srgbClr val="E2C8B5"/>
            </a:solidFill>
            <a:prstDash val="solid"/>
          </a:ln>
        </p:spPr>
      </p:sp>
      <p:sp>
        <p:nvSpPr>
          <p:cNvPr id="34" name="">
            <a:extLst xmlns:a="http://schemas.openxmlformats.org/drawingml/2006/main">
              <a:ext uri="{FF2B5EF4-FFF2-40B4-BE49-F238E27FC236}">
                <a16:creationId xmlns:a16="http://schemas.microsoft.com/office/drawing/2014/main" id="{E0A06570-0838-4403-8C3D-864FB39CF2C3}"/>
              </a:ext>
            </a:extLst>
          </p:cNvPr>
          <p:cNvSpPr>
            <a:spLocks xmlns:a="http://schemas.openxmlformats.org/drawingml/2006/main" noGrp="1"/>
          </p:cNvSpPr>
          <p:nvPr/>
        </p:nvSpPr>
        <p:spPr>
          <a:xfrm xmlns:a="http://schemas.openxmlformats.org/drawingml/2006/main">
            <a:off x="781050" y="5095875"/>
            <a:ext cx="2781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08" b="1" i="0">
                <a:solidFill>
                  <a:srgbClr val="9D4E24"/>
                </a:solidFill>
                <a:latin typeface="Arial"/>
                <a:ea typeface="Arial"/>
                <a:cs typeface="Arial"/>
              </a:defRPr>
            </a:pPr>
            <a:r>
              <a:rPr sz="1008" b="1" i="0">
                <a:solidFill>
                  <a:srgbClr val="9D4E24"/>
                </a:solidFill>
                <a:latin typeface="Arial"/>
                <a:ea typeface="Arial"/>
                <a:cs typeface="Arial"/>
              </a:rPr>
              <a:t>SOUTHWIRE COORDINATION RAIL</a:t>
            </a:r>
          </a:p>
        </p:txBody>
      </p:sp>
      <p:sp>
        <p:nvSpPr>
          <p:cNvPr id="35" name="">
            <a:extLst xmlns:a="http://schemas.openxmlformats.org/drawingml/2006/main">
              <a:ext uri="{FF2B5EF4-FFF2-40B4-BE49-F238E27FC236}">
                <a16:creationId xmlns:a16="http://schemas.microsoft.com/office/drawing/2014/main" id="{1D384A0D-57CD-4CD1-A4C8-D480259036B2}"/>
              </a:ext>
            </a:extLst>
          </p:cNvPr>
          <p:cNvSpPr>
            <a:spLocks xmlns:a="http://schemas.openxmlformats.org/drawingml/2006/main" noGrp="1"/>
          </p:cNvSpPr>
          <p:nvPr/>
        </p:nvSpPr>
        <p:spPr>
          <a:xfrm xmlns:a="http://schemas.openxmlformats.org/drawingml/2006/main">
            <a:off x="3571875" y="5038725"/>
            <a:ext cx="7667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0" i="0">
                <a:solidFill>
                  <a:srgbClr val="17191C"/>
                </a:solidFill>
                <a:latin typeface="Arial"/>
                <a:ea typeface="Arial"/>
                <a:cs typeface="Arial"/>
              </a:defRPr>
            </a:pPr>
            <a:r>
              <a:rPr sz="1350" b="0" i="0">
                <a:solidFill>
                  <a:srgbClr val="17191C"/>
                </a:solidFill>
                <a:latin typeface="Arial"/>
                <a:ea typeface="Arial"/>
                <a:cs typeface="Arial"/>
              </a:rPr>
              <a:t>Shared data  |  governed handoffs  |  field feedback</a:t>
            </a:r>
          </a:p>
        </p:txBody>
      </p:sp>
      <p:sp>
        <p:nvSpPr>
          <p:cNvPr id="36" name="">
            <a:extLst xmlns:a="http://schemas.openxmlformats.org/drawingml/2006/main">
              <a:ext uri="{FF2B5EF4-FFF2-40B4-BE49-F238E27FC236}">
                <a16:creationId xmlns:a16="http://schemas.microsoft.com/office/drawing/2014/main" id="{189880F5-9D2C-4FC8-96E7-B9006D019828}"/>
              </a:ext>
            </a:extLst>
          </p:cNvPr>
          <p:cNvSpPr>
            <a:spLocks xmlns:a="http://schemas.openxmlformats.org/drawingml/2006/main" noGrp="1"/>
          </p:cNvSpPr>
          <p:nvPr/>
        </p:nvSpPr>
        <p:spPr>
          <a:xfrm xmlns:a="http://schemas.openxmlformats.org/drawingml/2006/main">
            <a:off x="781050" y="5429250"/>
            <a:ext cx="104489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0" i="0">
                <a:solidFill>
                  <a:srgbClr val="6A6F73"/>
                </a:solidFill>
                <a:latin typeface="Arial"/>
                <a:ea typeface="Arial"/>
                <a:cs typeface="Arial"/>
              </a:defRPr>
            </a:pPr>
            <a:r>
              <a:rPr sz="1050" b="0" i="0">
                <a:solidFill>
                  <a:srgbClr val="6A6F73"/>
                </a:solidFill>
                <a:latin typeface="Arial"/>
                <a:ea typeface="Arial"/>
                <a:cs typeface="Arial"/>
              </a:rPr>
              <a:t>NRG governance, EPC/EOR/OEM design authority and contractor means and methods remain intact.</a:t>
            </a:r>
          </a:p>
        </p:txBody>
      </p:sp>
      <p:sp>
        <p:nvSpPr>
          <p:cNvPr id="37" name="">
            <a:extLst xmlns:a="http://schemas.openxmlformats.org/drawingml/2006/main">
              <a:ext uri="{FF2B5EF4-FFF2-40B4-BE49-F238E27FC236}">
                <a16:creationId xmlns:a16="http://schemas.microsoft.com/office/drawing/2014/main" id="{3A263A00-C9E1-4BDB-B5EE-F25C73D5AACB}"/>
              </a:ext>
            </a:extLst>
          </p:cNvPr>
          <p:cNvSpPr>
            <a:spLocks xmlns:a="http://schemas.openxmlformats.org/drawingml/2006/main" noGrp="1"/>
          </p:cNvSpPr>
          <p:nvPr/>
        </p:nvSpPr>
        <p:spPr>
          <a:xfrm xmlns:a="http://schemas.openxmlformats.org/drawingml/2006/main">
            <a:off x="552450" y="6181725"/>
            <a:ext cx="11087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86" b="1" i="0">
                <a:solidFill>
                  <a:srgbClr val="9D4E24"/>
                </a:solidFill>
                <a:latin typeface="Arial"/>
                <a:ea typeface="Arial"/>
                <a:cs typeface="Arial"/>
              </a:defRPr>
            </a:pPr>
            <a:r>
              <a:rPr sz="1386" b="1" i="0">
                <a:solidFill>
                  <a:srgbClr val="9D4E24"/>
                </a:solidFill>
                <a:latin typeface="Arial"/>
                <a:ea typeface="Arial"/>
                <a:cs typeface="Arial"/>
              </a:rPr>
              <a:t>FIELD-ENGINEER WHAT IS UNIQUE. PREFABRICATE WHAT REPEATS.</a:t>
            </a:r>
          </a:p>
        </p:txBody>
      </p:sp>
    </p:spTree>
    <p:extLst>
      <p:ext uri="{BB962C8B-B14F-4D97-AF65-F5344CB8AC3E}">
        <p14:creationId xmlns:p14="http://schemas.microsoft.com/office/powerpoint/2010/main" val="1966944507"/>
      </p:ext>
    </p:extLst>
  </p:cSld>
</p:sld>
</file>

<file path=ppt/slides/slide7.xml><?xml version="1.0" encoding="utf-8"?>
<p:sld xmlns:p="http://schemas.openxmlformats.org/presentationml/2006/main">
  <p:cSld>
    <p:bg>
      <p:bgPr>
        <a:solidFill xmlns:a="http://schemas.openxmlformats.org/drawingml/2006/main">
          <a:srgbClr val="F6F3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2437775-3E93-49D5-913C-6EC2B803FF91}"/>
              </a:ext>
            </a:extLst>
          </p:cNvPr>
          <p:cNvSpPr>
            <a:spLocks xmlns:a="http://schemas.openxmlformats.org/drawingml/2006/main" noGrp="1"/>
          </p:cNvSpPr>
          <p:nvPr/>
        </p:nvSpPr>
        <p:spPr>
          <a:xfrm xmlns:a="http://schemas.openxmlformats.org/drawingml/2006/main" rot="0">
            <a:off x="0" y="0"/>
            <a:ext cx="12192000" cy="5715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e541a94199674e25"/>
          <a:stretch xmlns:a="http://schemas.openxmlformats.org/drawingml/2006/main"/>
        </p:blipFill>
        <p:spPr>
          <a:xfrm xmlns:a="http://schemas.openxmlformats.org/drawingml/2006/main">
            <a:off x="719138" y="200025"/>
            <a:ext cx="2066925" cy="590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64C3922-3AF7-4484-BCAC-B9116A3B1F61}"/>
              </a:ext>
            </a:extLst>
          </p:cNvPr>
          <p:cNvSpPr>
            <a:spLocks xmlns:a="http://schemas.openxmlformats.org/drawingml/2006/main" noGrp="1"/>
          </p:cNvSpPr>
          <p:nvPr/>
        </p:nvSpPr>
        <p:spPr>
          <a:xfrm xmlns:a="http://schemas.openxmlformats.org/drawingml/2006/main">
            <a:off x="8096250" y="3238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19" b="1" i="0">
                <a:solidFill>
                  <a:srgbClr val="9D4E24"/>
                </a:solidFill>
                <a:latin typeface="Arial"/>
                <a:ea typeface="Arial"/>
                <a:cs typeface="Arial"/>
              </a:defRPr>
            </a:pPr>
            <a:r>
              <a:rPr sz="819" b="1" i="0">
                <a:solidFill>
                  <a:srgbClr val="9D4E24"/>
                </a:solidFill>
                <a:latin typeface="Arial"/>
                <a:ea typeface="Arial"/>
                <a:cs typeface="Arial"/>
              </a:rPr>
              <a:t>VALUE TO NRG</a:t>
            </a:r>
          </a:p>
        </p:txBody>
      </p:sp>
      <p:sp>
        <p:nvSpPr>
          <p:cNvPr id="4" name="">
            <a:extLst xmlns:a="http://schemas.openxmlformats.org/drawingml/2006/main">
              <a:ext uri="{FF2B5EF4-FFF2-40B4-BE49-F238E27FC236}">
                <a16:creationId xmlns:a16="http://schemas.microsoft.com/office/drawing/2014/main" id="{CCD0BC42-5E53-4971-871E-BD3B868EC341}"/>
              </a:ext>
            </a:extLst>
          </p:cNvPr>
          <p:cNvSpPr>
            <a:spLocks xmlns:a="http://schemas.openxmlformats.org/drawingml/2006/main" noGrp="1"/>
          </p:cNvSpPr>
          <p:nvPr/>
        </p:nvSpPr>
        <p:spPr>
          <a:xfrm xmlns:a="http://schemas.openxmlformats.org/drawingml/2006/main">
            <a:off x="11334750" y="3238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19" b="1" i="0">
                <a:solidFill>
                  <a:srgbClr val="8B9094"/>
                </a:solidFill>
                <a:latin typeface="Arial"/>
                <a:ea typeface="Arial"/>
                <a:cs typeface="Arial"/>
              </a:defRPr>
            </a:pPr>
            <a:r>
              <a:rPr sz="819" b="1" i="0">
                <a:solidFill>
                  <a:srgbClr val="8B9094"/>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965839EC-62AD-43FB-B350-14025AC61739}"/>
              </a:ext>
            </a:extLst>
          </p:cNvPr>
          <p:cNvSpPr>
            <a:spLocks xmlns:a="http://schemas.openxmlformats.org/drawingml/2006/main" noGrp="1"/>
          </p:cNvSpPr>
          <p:nvPr/>
        </p:nvSpPr>
        <p:spPr>
          <a:xfrm xmlns:a="http://schemas.openxmlformats.org/drawingml/2006/main">
            <a:off x="552450" y="876300"/>
            <a:ext cx="1104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82" b="1" i="0">
                <a:solidFill>
                  <a:srgbClr val="9D4E24"/>
                </a:solidFill>
                <a:latin typeface="Arial"/>
                <a:ea typeface="Arial"/>
                <a:cs typeface="Arial"/>
              </a:defRPr>
            </a:pPr>
            <a:r>
              <a:rPr sz="882" b="1" i="0">
                <a:solidFill>
                  <a:srgbClr val="9D4E24"/>
                </a:solidFill>
                <a:latin typeface="Arial"/>
                <a:ea typeface="Arial"/>
                <a:cs typeface="Arial"/>
              </a:rPr>
              <a:t>THE OUTCOME</a:t>
            </a:r>
          </a:p>
        </p:txBody>
      </p:sp>
      <p:sp>
        <p:nvSpPr>
          <p:cNvPr id="6" name="">
            <a:extLst xmlns:a="http://schemas.openxmlformats.org/drawingml/2006/main">
              <a:ext uri="{FF2B5EF4-FFF2-40B4-BE49-F238E27FC236}">
                <a16:creationId xmlns:a16="http://schemas.microsoft.com/office/drawing/2014/main" id="{28D6F92C-E4CC-426C-AFD2-A06B43E702E0}"/>
              </a:ext>
            </a:extLst>
          </p:cNvPr>
          <p:cNvSpPr>
            <a:spLocks xmlns:a="http://schemas.openxmlformats.org/drawingml/2006/main" noGrp="1"/>
          </p:cNvSpPr>
          <p:nvPr/>
        </p:nvSpPr>
        <p:spPr>
          <a:xfrm xmlns:a="http://schemas.openxmlformats.org/drawingml/2006/main">
            <a:off x="552450" y="1181100"/>
            <a:ext cx="110490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034"/>
          </a:bodyPr>
          <a:lstStyle xmlns:a="http://schemas.openxmlformats.org/drawingml/2006/main"/>
          <a:p xmlns:a="http://schemas.openxmlformats.org/drawingml/2006/main">
            <a:pPr algn="l">
              <a:lnSpc>
                <a:spcPct val="94000"/>
              </a:lnSpc>
              <a:buNone/>
              <a:defRPr sz="2775" b="1" i="0">
                <a:solidFill>
                  <a:srgbClr val="17191C"/>
                </a:solidFill>
                <a:latin typeface="Arial"/>
                <a:ea typeface="Arial"/>
                <a:cs typeface="Arial"/>
              </a:defRPr>
            </a:pPr>
            <a:r>
              <a:rPr sz="2775" b="1" i="0">
                <a:solidFill>
                  <a:srgbClr val="17191C"/>
                </a:solidFill>
                <a:latin typeface="Arial"/>
                <a:ea typeface="Arial"/>
                <a:cs typeface="Arial"/>
              </a:rPr>
              <a:t>The value to NRG is fewer execution surprises—not more supplier services.</a:t>
            </a:r>
          </a:p>
        </p:txBody>
      </p:sp>
      <p:sp>
        <p:nvSpPr>
          <p:cNvPr id="7" name="">
            <a:extLst xmlns:a="http://schemas.openxmlformats.org/drawingml/2006/main">
              <a:ext uri="{FF2B5EF4-FFF2-40B4-BE49-F238E27FC236}">
                <a16:creationId xmlns:a16="http://schemas.microsoft.com/office/drawing/2014/main" id="{2F172E7E-7CF0-4FF4-B395-AAF4727BC6F5}"/>
              </a:ext>
            </a:extLst>
          </p:cNvPr>
          <p:cNvSpPr>
            <a:spLocks xmlns:a="http://schemas.openxmlformats.org/drawingml/2006/main" noGrp="1"/>
          </p:cNvSpPr>
          <p:nvPr/>
        </p:nvSpPr>
        <p:spPr>
          <a:xfrm xmlns:a="http://schemas.openxmlformats.org/drawingml/2006/main">
            <a:off x="552450" y="1885950"/>
            <a:ext cx="876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6A6F73"/>
                </a:solidFill>
                <a:latin typeface="Arial"/>
                <a:ea typeface="Arial"/>
                <a:cs typeface="Arial"/>
              </a:defRPr>
            </a:pPr>
            <a:r>
              <a:rPr sz="1425" b="0" i="0">
                <a:solidFill>
                  <a:srgbClr val="6A6F73"/>
                </a:solidFill>
                <a:latin typeface="Arial"/>
                <a:ea typeface="Arial"/>
                <a:cs typeface="Arial"/>
              </a:rPr>
              <a:t>Three owner lenses matter: schedule exposure, installed effort and lifecycle continuity.</a:t>
            </a:r>
          </a:p>
        </p:txBody>
      </p:sp>
      <p:sp>
        <p:nvSpPr>
          <p:cNvPr id="8" name="">
            <a:extLst xmlns:a="http://schemas.openxmlformats.org/drawingml/2006/main">
              <a:ext uri="{FF2B5EF4-FFF2-40B4-BE49-F238E27FC236}">
                <a16:creationId xmlns:a16="http://schemas.microsoft.com/office/drawing/2014/main" id="{BB363EC5-AFC3-4CDF-A1E7-75190DCADBD8}"/>
              </a:ext>
            </a:extLst>
          </p:cNvPr>
          <p:cNvSpPr>
            <a:spLocks xmlns:a="http://schemas.openxmlformats.org/drawingml/2006/main" noGrp="1"/>
          </p:cNvSpPr>
          <p:nvPr/>
        </p:nvSpPr>
        <p:spPr>
          <a:xfrm xmlns:a="http://schemas.openxmlformats.org/drawingml/2006/main">
            <a:off x="552450" y="2543175"/>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l">
              <a:lnSpc>
                <a:spcPct val="100000"/>
              </a:lnSpc>
              <a:buNone/>
              <a:defRPr sz="1071" b="1" i="0">
                <a:solidFill>
                  <a:srgbClr val="9D4E24"/>
                </a:solidFill>
                <a:latin typeface="Arial"/>
                <a:ea typeface="Arial"/>
                <a:cs typeface="Arial"/>
              </a:defRPr>
            </a:pPr>
            <a:r>
              <a:rPr sz="1071" b="1" i="0">
                <a:solidFill>
                  <a:srgbClr val="9D4E24"/>
                </a:solidFill>
                <a:latin typeface="Arial"/>
                <a:ea typeface="Arial"/>
                <a:cs typeface="Arial"/>
              </a:rPr>
              <a:t>ALIGN APPLICATIONS + INTERFACES EARLY</a:t>
            </a:r>
          </a:p>
        </p:txBody>
      </p:sp>
      <p:sp>
        <p:nvSpPr>
          <p:cNvPr id="9" name="">
            <a:extLst xmlns:a="http://schemas.openxmlformats.org/drawingml/2006/main">
              <a:ext uri="{FF2B5EF4-FFF2-40B4-BE49-F238E27FC236}">
                <a16:creationId xmlns:a16="http://schemas.microsoft.com/office/drawing/2014/main" id="{2EF21814-B62E-4AD3-A738-66F0119B2AEF}"/>
              </a:ext>
            </a:extLst>
          </p:cNvPr>
          <p:cNvSpPr>
            <a:spLocks xmlns:a="http://schemas.openxmlformats.org/drawingml/2006/main" noGrp="1"/>
          </p:cNvSpPr>
          <p:nvPr/>
        </p:nvSpPr>
        <p:spPr>
          <a:xfrm xmlns:a="http://schemas.openxmlformats.org/drawingml/2006/main" rot="0">
            <a:off x="3857625" y="2600325"/>
            <a:ext cx="800100" cy="209550"/>
          </a:xfrm>
          <a:prstGeom xmlns:a="http://schemas.openxmlformats.org/drawingml/2006/main" prst="rightArrow">
            <a:avLst/>
          </a:prstGeom>
          <a:solidFill xmlns:a="http://schemas.openxmlformats.org/drawingml/2006/main">
            <a:srgbClr val="C9783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98D6904-2C04-4FAD-8B52-649BF856D104}"/>
              </a:ext>
            </a:extLst>
          </p:cNvPr>
          <p:cNvSpPr>
            <a:spLocks xmlns:a="http://schemas.openxmlformats.org/drawingml/2006/main" noGrp="1"/>
          </p:cNvSpPr>
          <p:nvPr/>
        </p:nvSpPr>
        <p:spPr>
          <a:xfrm xmlns:a="http://schemas.openxmlformats.org/drawingml/2006/main">
            <a:off x="4981575" y="2495550"/>
            <a:ext cx="6238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875" b="1" i="0">
                <a:solidFill>
                  <a:srgbClr val="17191C"/>
                </a:solidFill>
                <a:latin typeface="Arial"/>
                <a:ea typeface="Arial"/>
                <a:cs typeface="Arial"/>
              </a:defRPr>
            </a:pPr>
            <a:r>
              <a:rPr sz="1875" b="1" i="0">
                <a:solidFill>
                  <a:srgbClr val="17191C"/>
                </a:solidFill>
                <a:latin typeface="Arial"/>
                <a:ea typeface="Arial"/>
                <a:cs typeface="Arial"/>
              </a:rPr>
              <a:t>Fewer late changes and handoff failures</a:t>
            </a:r>
          </a:p>
        </p:txBody>
      </p:sp>
      <p:sp>
        <p:nvSpPr>
          <p:cNvPr id="11" name="">
            <a:extLst xmlns:a="http://schemas.openxmlformats.org/drawingml/2006/main">
              <a:ext uri="{FF2B5EF4-FFF2-40B4-BE49-F238E27FC236}">
                <a16:creationId xmlns:a16="http://schemas.microsoft.com/office/drawing/2014/main" id="{B505D1D6-7831-450F-9EF0-976D92E0E351}"/>
              </a:ext>
            </a:extLst>
          </p:cNvPr>
          <p:cNvSpPr>
            <a:spLocks xmlns:a="http://schemas.openxmlformats.org/drawingml/2006/main" noGrp="1"/>
          </p:cNvSpPr>
          <p:nvPr/>
        </p:nvSpPr>
        <p:spPr>
          <a:xfrm xmlns:a="http://schemas.openxmlformats.org/drawingml/2006/main">
            <a:off x="552450" y="3200400"/>
            <a:ext cx="11087100" cy="0"/>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12" name="">
            <a:extLst xmlns:a="http://schemas.openxmlformats.org/drawingml/2006/main">
              <a:ext uri="{FF2B5EF4-FFF2-40B4-BE49-F238E27FC236}">
                <a16:creationId xmlns:a16="http://schemas.microsoft.com/office/drawing/2014/main" id="{4DBB2274-C5E4-420A-B9D4-087A8C65CF15}"/>
              </a:ext>
            </a:extLst>
          </p:cNvPr>
          <p:cNvSpPr>
            <a:spLocks xmlns:a="http://schemas.openxmlformats.org/drawingml/2006/main" noGrp="1"/>
          </p:cNvSpPr>
          <p:nvPr/>
        </p:nvSpPr>
        <p:spPr>
          <a:xfrm xmlns:a="http://schemas.openxmlformats.org/drawingml/2006/main">
            <a:off x="552450" y="3362325"/>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71" b="1" i="0">
                <a:solidFill>
                  <a:srgbClr val="9D4E24"/>
                </a:solidFill>
                <a:latin typeface="Arial"/>
                <a:ea typeface="Arial"/>
                <a:cs typeface="Arial"/>
              </a:defRPr>
            </a:pPr>
            <a:r>
              <a:rPr sz="1071" b="1" i="0">
                <a:solidFill>
                  <a:srgbClr val="9D4E24"/>
                </a:solidFill>
                <a:latin typeface="Arial"/>
                <a:ea typeface="Arial"/>
                <a:cs typeface="Arial"/>
              </a:rPr>
              <a:t>GATE CAPACITY + RELEASES</a:t>
            </a:r>
          </a:p>
        </p:txBody>
      </p:sp>
      <p:sp>
        <p:nvSpPr>
          <p:cNvPr id="13" name="">
            <a:extLst xmlns:a="http://schemas.openxmlformats.org/drawingml/2006/main">
              <a:ext uri="{FF2B5EF4-FFF2-40B4-BE49-F238E27FC236}">
                <a16:creationId xmlns:a16="http://schemas.microsoft.com/office/drawing/2014/main" id="{B44D9CBE-51A7-4E75-989A-CADF649D0CFA}"/>
              </a:ext>
            </a:extLst>
          </p:cNvPr>
          <p:cNvSpPr>
            <a:spLocks xmlns:a="http://schemas.openxmlformats.org/drawingml/2006/main" noGrp="1"/>
          </p:cNvSpPr>
          <p:nvPr/>
        </p:nvSpPr>
        <p:spPr>
          <a:xfrm xmlns:a="http://schemas.openxmlformats.org/drawingml/2006/main" rot="0">
            <a:off x="3857625" y="3419475"/>
            <a:ext cx="800100" cy="209550"/>
          </a:xfrm>
          <a:prstGeom xmlns:a="http://schemas.openxmlformats.org/drawingml/2006/main" prst="rightArrow">
            <a:avLst/>
          </a:prstGeom>
          <a:solidFill xmlns:a="http://schemas.openxmlformats.org/drawingml/2006/main">
            <a:srgbClr val="C9783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763C693-0150-40E6-92D8-4A69BE5B971E}"/>
              </a:ext>
            </a:extLst>
          </p:cNvPr>
          <p:cNvSpPr>
            <a:spLocks xmlns:a="http://schemas.openxmlformats.org/drawingml/2006/main" noGrp="1"/>
          </p:cNvSpPr>
          <p:nvPr/>
        </p:nvSpPr>
        <p:spPr>
          <a:xfrm xmlns:a="http://schemas.openxmlformats.org/drawingml/2006/main">
            <a:off x="4981575" y="3314700"/>
            <a:ext cx="6238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875" b="1" i="0">
                <a:solidFill>
                  <a:srgbClr val="17191C"/>
                </a:solidFill>
                <a:latin typeface="Arial"/>
                <a:ea typeface="Arial"/>
                <a:cs typeface="Arial"/>
              </a:defRPr>
            </a:pPr>
            <a:r>
              <a:rPr sz="1875" b="1" i="0">
                <a:solidFill>
                  <a:srgbClr val="17191C"/>
                </a:solidFill>
                <a:latin typeface="Arial"/>
                <a:ea typeface="Arial"/>
                <a:cs typeface="Arial"/>
              </a:rPr>
              <a:t>More predictable material availability and sequencing</a:t>
            </a:r>
          </a:p>
        </p:txBody>
      </p:sp>
      <p:sp>
        <p:nvSpPr>
          <p:cNvPr id="15" name="">
            <a:extLst xmlns:a="http://schemas.openxmlformats.org/drawingml/2006/main">
              <a:ext uri="{FF2B5EF4-FFF2-40B4-BE49-F238E27FC236}">
                <a16:creationId xmlns:a16="http://schemas.microsoft.com/office/drawing/2014/main" id="{10D6F99D-2944-40B1-B07C-0ED784C7F16B}"/>
              </a:ext>
            </a:extLst>
          </p:cNvPr>
          <p:cNvSpPr>
            <a:spLocks xmlns:a="http://schemas.openxmlformats.org/drawingml/2006/main" noGrp="1"/>
          </p:cNvSpPr>
          <p:nvPr/>
        </p:nvSpPr>
        <p:spPr>
          <a:xfrm xmlns:a="http://schemas.openxmlformats.org/drawingml/2006/main">
            <a:off x="552450" y="4019550"/>
            <a:ext cx="11087100" cy="0"/>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16" name="">
            <a:extLst xmlns:a="http://schemas.openxmlformats.org/drawingml/2006/main">
              <a:ext uri="{FF2B5EF4-FFF2-40B4-BE49-F238E27FC236}">
                <a16:creationId xmlns:a16="http://schemas.microsoft.com/office/drawing/2014/main" id="{0F963077-AE25-4178-9491-1261214E2F9D}"/>
              </a:ext>
            </a:extLst>
          </p:cNvPr>
          <p:cNvSpPr>
            <a:spLocks xmlns:a="http://schemas.openxmlformats.org/drawingml/2006/main" noGrp="1"/>
          </p:cNvSpPr>
          <p:nvPr/>
        </p:nvSpPr>
        <p:spPr>
          <a:xfrm xmlns:a="http://schemas.openxmlformats.org/drawingml/2006/main">
            <a:off x="552450" y="4181475"/>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l">
              <a:lnSpc>
                <a:spcPct val="100000"/>
              </a:lnSpc>
              <a:buNone/>
              <a:defRPr sz="1071" b="1" i="0">
                <a:solidFill>
                  <a:srgbClr val="9D4E24"/>
                </a:solidFill>
                <a:latin typeface="Arial"/>
                <a:ea typeface="Arial"/>
                <a:cs typeface="Arial"/>
              </a:defRPr>
            </a:pPr>
            <a:r>
              <a:rPr sz="1071" b="1" i="0">
                <a:solidFill>
                  <a:srgbClr val="9D4E24"/>
                </a:solidFill>
                <a:latin typeface="Arial"/>
                <a:ea typeface="Arial"/>
                <a:cs typeface="Arial"/>
              </a:rPr>
              <a:t>PLAN REELS + REPEATABLE SETS TO THE WORKFACE</a:t>
            </a:r>
          </a:p>
        </p:txBody>
      </p:sp>
      <p:sp>
        <p:nvSpPr>
          <p:cNvPr id="17" name="">
            <a:extLst xmlns:a="http://schemas.openxmlformats.org/drawingml/2006/main">
              <a:ext uri="{FF2B5EF4-FFF2-40B4-BE49-F238E27FC236}">
                <a16:creationId xmlns:a16="http://schemas.microsoft.com/office/drawing/2014/main" id="{7CE0C038-7A77-4059-9A7E-C055825B207F}"/>
              </a:ext>
            </a:extLst>
          </p:cNvPr>
          <p:cNvSpPr>
            <a:spLocks xmlns:a="http://schemas.openxmlformats.org/drawingml/2006/main" noGrp="1"/>
          </p:cNvSpPr>
          <p:nvPr/>
        </p:nvSpPr>
        <p:spPr>
          <a:xfrm xmlns:a="http://schemas.openxmlformats.org/drawingml/2006/main" rot="0">
            <a:off x="3857625" y="4238625"/>
            <a:ext cx="800100" cy="209550"/>
          </a:xfrm>
          <a:prstGeom xmlns:a="http://schemas.openxmlformats.org/drawingml/2006/main" prst="rightArrow">
            <a:avLst/>
          </a:prstGeom>
          <a:solidFill xmlns:a="http://schemas.openxmlformats.org/drawingml/2006/main">
            <a:srgbClr val="C9783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CC86F1B-38F8-481C-BAAD-A6A3BE2ACEB1}"/>
              </a:ext>
            </a:extLst>
          </p:cNvPr>
          <p:cNvSpPr>
            <a:spLocks xmlns:a="http://schemas.openxmlformats.org/drawingml/2006/main" noGrp="1"/>
          </p:cNvSpPr>
          <p:nvPr/>
        </p:nvSpPr>
        <p:spPr>
          <a:xfrm xmlns:a="http://schemas.openxmlformats.org/drawingml/2006/main">
            <a:off x="4981575" y="4133850"/>
            <a:ext cx="6238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875" b="1" i="0">
                <a:solidFill>
                  <a:srgbClr val="17191C"/>
                </a:solidFill>
                <a:latin typeface="Arial"/>
                <a:ea typeface="Arial"/>
                <a:cs typeface="Arial"/>
              </a:defRPr>
            </a:pPr>
            <a:r>
              <a:rPr sz="1875" b="1" i="0">
                <a:solidFill>
                  <a:srgbClr val="17191C"/>
                </a:solidFill>
                <a:latin typeface="Arial"/>
                <a:ea typeface="Arial"/>
                <a:cs typeface="Arial"/>
              </a:rPr>
              <a:t>Less handling and avoidable rework</a:t>
            </a:r>
          </a:p>
        </p:txBody>
      </p:sp>
      <p:sp>
        <p:nvSpPr>
          <p:cNvPr id="19" name="">
            <a:extLst xmlns:a="http://schemas.openxmlformats.org/drawingml/2006/main">
              <a:ext uri="{FF2B5EF4-FFF2-40B4-BE49-F238E27FC236}">
                <a16:creationId xmlns:a16="http://schemas.microsoft.com/office/drawing/2014/main" id="{C36ADE07-9F3C-472D-9C02-0E98D2863FB3}"/>
              </a:ext>
            </a:extLst>
          </p:cNvPr>
          <p:cNvSpPr>
            <a:spLocks xmlns:a="http://schemas.openxmlformats.org/drawingml/2006/main" noGrp="1"/>
          </p:cNvSpPr>
          <p:nvPr/>
        </p:nvSpPr>
        <p:spPr>
          <a:xfrm xmlns:a="http://schemas.openxmlformats.org/drawingml/2006/main">
            <a:off x="552450" y="4838700"/>
            <a:ext cx="11087100" cy="0"/>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20" name="">
            <a:extLst xmlns:a="http://schemas.openxmlformats.org/drawingml/2006/main">
              <a:ext uri="{FF2B5EF4-FFF2-40B4-BE49-F238E27FC236}">
                <a16:creationId xmlns:a16="http://schemas.microsoft.com/office/drawing/2014/main" id="{B03D9E0F-899F-465B-9D14-0E8140D9C6D7}"/>
              </a:ext>
            </a:extLst>
          </p:cNvPr>
          <p:cNvSpPr>
            <a:spLocks xmlns:a="http://schemas.openxmlformats.org/drawingml/2006/main" noGrp="1"/>
          </p:cNvSpPr>
          <p:nvPr/>
        </p:nvSpPr>
        <p:spPr>
          <a:xfrm xmlns:a="http://schemas.openxmlformats.org/drawingml/2006/main">
            <a:off x="552450" y="5000625"/>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l">
              <a:lnSpc>
                <a:spcPct val="100000"/>
              </a:lnSpc>
              <a:buNone/>
              <a:defRPr sz="1071" b="1" i="0">
                <a:solidFill>
                  <a:srgbClr val="9D4E24"/>
                </a:solidFill>
                <a:latin typeface="Arial"/>
                <a:ea typeface="Arial"/>
                <a:cs typeface="Arial"/>
              </a:defRPr>
            </a:pPr>
            <a:r>
              <a:rPr sz="1071" b="1" i="0">
                <a:solidFill>
                  <a:srgbClr val="9D4E24"/>
                </a:solidFill>
                <a:latin typeface="Arial"/>
                <a:ea typeface="Arial"/>
                <a:cs typeface="Arial"/>
              </a:rPr>
              <a:t>CARRY FIELD RECORDS THROUGH TURNOVER</a:t>
            </a:r>
          </a:p>
        </p:txBody>
      </p:sp>
      <p:sp>
        <p:nvSpPr>
          <p:cNvPr id="21" name="">
            <a:extLst xmlns:a="http://schemas.openxmlformats.org/drawingml/2006/main">
              <a:ext uri="{FF2B5EF4-FFF2-40B4-BE49-F238E27FC236}">
                <a16:creationId xmlns:a16="http://schemas.microsoft.com/office/drawing/2014/main" id="{FE24CD7B-2E17-42BA-9028-F64F5CC4383D}"/>
              </a:ext>
            </a:extLst>
          </p:cNvPr>
          <p:cNvSpPr>
            <a:spLocks xmlns:a="http://schemas.openxmlformats.org/drawingml/2006/main" noGrp="1"/>
          </p:cNvSpPr>
          <p:nvPr/>
        </p:nvSpPr>
        <p:spPr>
          <a:xfrm xmlns:a="http://schemas.openxmlformats.org/drawingml/2006/main" rot="0">
            <a:off x="3857625" y="5057775"/>
            <a:ext cx="800100" cy="209550"/>
          </a:xfrm>
          <a:prstGeom xmlns:a="http://schemas.openxmlformats.org/drawingml/2006/main" prst="rightArrow">
            <a:avLst/>
          </a:prstGeom>
          <a:solidFill xmlns:a="http://schemas.openxmlformats.org/drawingml/2006/main">
            <a:srgbClr val="9D4E2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A4DFB31-3CCD-4CDA-A12D-1DC6EE0EF141}"/>
              </a:ext>
            </a:extLst>
          </p:cNvPr>
          <p:cNvSpPr>
            <a:spLocks xmlns:a="http://schemas.openxmlformats.org/drawingml/2006/main" noGrp="1"/>
          </p:cNvSpPr>
          <p:nvPr/>
        </p:nvSpPr>
        <p:spPr>
          <a:xfrm xmlns:a="http://schemas.openxmlformats.org/drawingml/2006/main">
            <a:off x="4981575" y="4953000"/>
            <a:ext cx="6238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875" b="1" i="0">
                <a:solidFill>
                  <a:srgbClr val="17191C"/>
                </a:solidFill>
                <a:latin typeface="Arial"/>
                <a:ea typeface="Arial"/>
                <a:cs typeface="Arial"/>
              </a:defRPr>
            </a:pPr>
            <a:r>
              <a:rPr sz="1875" b="1" i="0">
                <a:solidFill>
                  <a:srgbClr val="17191C"/>
                </a:solidFill>
                <a:latin typeface="Arial"/>
                <a:ea typeface="Arial"/>
                <a:cs typeface="Arial"/>
              </a:rPr>
              <a:t>Cleaner commissioning and lifecycle continuity</a:t>
            </a:r>
          </a:p>
        </p:txBody>
      </p:sp>
      <p:sp>
        <p:nvSpPr>
          <p:cNvPr id="23" name="">
            <a:extLst xmlns:a="http://schemas.openxmlformats.org/drawingml/2006/main">
              <a:ext uri="{FF2B5EF4-FFF2-40B4-BE49-F238E27FC236}">
                <a16:creationId xmlns:a16="http://schemas.microsoft.com/office/drawing/2014/main" id="{4D622249-1E5A-4CE7-93D5-B101EE577682}"/>
              </a:ext>
            </a:extLst>
          </p:cNvPr>
          <p:cNvSpPr>
            <a:spLocks xmlns:a="http://schemas.openxmlformats.org/drawingml/2006/main" noGrp="1"/>
          </p:cNvSpPr>
          <p:nvPr/>
        </p:nvSpPr>
        <p:spPr>
          <a:xfrm xmlns:a="http://schemas.openxmlformats.org/drawingml/2006/main" rot="0">
            <a:off x="552450" y="5895975"/>
            <a:ext cx="11087100" cy="523875"/>
          </a:xfrm>
          <a:prstGeom xmlns:a="http://schemas.openxmlformats.org/drawingml/2006/main" prst="rect">
            <a:avLst/>
          </a:prstGeom>
          <a:solidFill xmlns:a="http://schemas.openxmlformats.org/drawingml/2006/main">
            <a:srgbClr val="17191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1EDD42A-983E-4ADF-8EAC-63D346842549}"/>
              </a:ext>
            </a:extLst>
          </p:cNvPr>
          <p:cNvSpPr>
            <a:spLocks xmlns:a="http://schemas.openxmlformats.org/drawingml/2006/main" noGrp="1"/>
          </p:cNvSpPr>
          <p:nvPr/>
        </p:nvSpPr>
        <p:spPr>
          <a:xfrm xmlns:a="http://schemas.openxmlformats.org/drawingml/2006/main">
            <a:off x="781050" y="6038850"/>
            <a:ext cx="10629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34" b="1" i="0">
                <a:solidFill>
                  <a:srgbClr val="FFFFFF"/>
                </a:solidFill>
                <a:latin typeface="Arial"/>
                <a:ea typeface="Arial"/>
                <a:cs typeface="Arial"/>
              </a:defRPr>
            </a:pPr>
            <a:r>
              <a:rPr sz="1134" b="1" i="0">
                <a:solidFill>
                  <a:srgbClr val="FFFFFF"/>
                </a:solidFill>
                <a:latin typeface="Arial"/>
                <a:ea typeface="Arial"/>
                <a:cs typeface="Arial"/>
              </a:rPr>
              <a:t>OUTCOME HYPOTHESES TO VALIDATE ON ONE LIVE NRG SCOPE.</a:t>
            </a:r>
          </a:p>
        </p:txBody>
      </p:sp>
    </p:spTree>
    <p:extLst>
      <p:ext uri="{BB962C8B-B14F-4D97-AF65-F5344CB8AC3E}">
        <p14:creationId xmlns:p14="http://schemas.microsoft.com/office/powerpoint/2010/main" val="492488797"/>
      </p:ext>
    </p:extLst>
  </p:cSld>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6F3EE"/>
        </a:solidFill>
      </p:bgPr>
    </p:bg>
    <p:spTree>
      <p:nvGrpSpPr>
        <p:cNvPr id="1" name=""/>
        <p:cNvGrpSpPr/>
        <p:nvPr/>
      </p:nvGrpSpPr>
      <p:grpSpPr>
        <a:xfrm/>
      </p:grpSpPr>
      <p:sp>
        <p:nvSpPr>
          <p:cNvPr id="101" name=""/>
          <p:cNvSpPr>
            <a:spLocks noGrp="1"/>
          </p:cNvSpPr>
          <p:nvPr/>
        </p:nvSpPr>
        <p:spPr>
          <a:xfrm>
            <a:off x="0" y="0"/>
            <a:ext cx="12192000" cy="57150"/>
          </a:xfrm>
          <a:prstGeom prst="rect">
            <a:avLst/>
          </a:prstGeom>
          <a:solidFill>
            <a:srgbClr val="C9783E"/>
          </a:solidFill>
          <a:ln w="0">
            <a:noFill/>
            <a:prstDash val="solid"/>
          </a:ln>
        </p:spPr>
      </p:sp>
      <p:pic>
        <p:nvPicPr>
          <p:cNvPr id="102" name=""/>
          <p:cNvPicPr>
            <a:picLocks noChangeAspect="1"/>
          </p:cNvPicPr>
          <p:nvPr/>
        </p:nvPicPr>
        <p:blipFill>
          <a:blip r:embed="rId1"/>
          <a:stretch/>
        </p:blipFill>
        <p:spPr>
          <a:xfrm>
            <a:off x="719138" y="200025"/>
            <a:ext cx="2066925" cy="590550"/>
          </a:xfrm>
          <a:prstGeom prst="rect">
            <a:avLst/>
          </a:prstGeom>
        </p:spPr>
      </p:pic>
      <p:sp>
        <p:nvSpPr>
          <p:cNvPr id="103" name=""/>
          <p:cNvSpPr>
            <a:spLocks noGrp="1"/>
          </p:cNvSpPr>
          <p:nvPr/>
        </p:nvSpPr>
        <p:spPr>
          <a:xfrm>
            <a:off x="7325360" y="323850"/>
            <a:ext cx="3600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819" b="1" i="0">
                <a:solidFill>
                  <a:srgbClr val="9D4E24"/>
                </a:solidFill>
                <a:latin typeface="Arial"/>
                <a:ea typeface="Arial"/>
                <a:cs typeface="Arial"/>
              </a:rPr>
              <a:t>OWNER VALUE LEVERS</a:t>
            </a:r>
          </a:p>
        </p:txBody>
      </p:sp>
      <p:sp>
        <p:nvSpPr>
          <p:cNvPr id="104" name=""/>
          <p:cNvSpPr>
            <a:spLocks noGrp="1"/>
          </p:cNvSpPr>
          <p:nvPr/>
        </p:nvSpPr>
        <p:spPr>
          <a:xfrm>
            <a:off x="11060000" y="323850"/>
            <a:ext cx="600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819" b="1" i="0">
                <a:solidFill>
                  <a:srgbClr val="8B9094"/>
                </a:solidFill>
                <a:latin typeface="Arial"/>
                <a:ea typeface="Arial"/>
                <a:cs typeface="Arial"/>
              </a:rPr>
              <a:t>08</a:t>
            </a:r>
          </a:p>
        </p:txBody>
      </p:sp>
      <p:sp>
        <p:nvSpPr>
          <p:cNvPr id="105" name=""/>
          <p:cNvSpPr>
            <a:spLocks noGrp="1"/>
          </p:cNvSpPr>
          <p:nvPr/>
        </p:nvSpPr>
        <p:spPr>
          <a:xfrm>
            <a:off x="719138" y="1005840"/>
            <a:ext cx="85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C9783E"/>
                </a:solidFill>
                <a:latin typeface="Arial"/>
                <a:ea typeface="Arial"/>
                <a:cs typeface="Arial"/>
              </a:rPr>
              <a:t>OWNER ECONOMICS</a:t>
            </a:r>
          </a:p>
        </p:txBody>
      </p:sp>
      <p:sp>
        <p:nvSpPr>
          <p:cNvPr id="106" name=""/>
          <p:cNvSpPr>
            <a:spLocks noGrp="1"/>
          </p:cNvSpPr>
          <p:nvPr/>
        </p:nvSpPr>
        <p:spPr>
          <a:xfrm>
            <a:off x="719138" y="1280160"/>
            <a:ext cx="10753724" cy="800000"/>
          </a:xfrm>
          <a:prstGeom prst="rect">
            <a:avLst/>
          </a:prstGeom>
          <a:noFill/>
          <a:ln w="0">
            <a:noFill/>
            <a:prstDash val="solid"/>
          </a:ln>
        </p:spPr>
        <p:txBody>
          <a:bodyPr wrap="square" lIns="0" tIns="0" rIns="0" bIns="0" anchor="t">
            <a:normAutofit fontScale="100000"/>
          </a:bodyPr>
          <a:lstStyle/>
          <a:p>
            <a:pPr algn="l">
              <a:lnSpc>
                <a:spcPct val="104000"/>
              </a:lnSpc>
              <a:buNone/>
            </a:pPr>
            <a:r>
              <a:rPr sz="2850" b="1" i="0">
                <a:solidFill>
                  <a:srgbClr val="17191C"/>
                </a:solidFill>
                <a:latin typeface="Arial"/>
                <a:ea typeface="Arial"/>
                <a:cs typeface="Arial"/>
              </a:rPr>
              <a:t>Cable is a small cost category with outsized execution consequences.</a:t>
            </a:r>
          </a:p>
        </p:txBody>
      </p:sp>
      <p:sp>
        <p:nvSpPr>
          <p:cNvPr id="107" name=""/>
          <p:cNvSpPr>
            <a:spLocks noGrp="1"/>
          </p:cNvSpPr>
          <p:nvPr/>
        </p:nvSpPr>
        <p:spPr>
          <a:xfrm>
            <a:off x="719138" y="2286000"/>
            <a:ext cx="10753724" cy="300000"/>
          </a:xfrm>
          <a:prstGeom prst="rect">
            <a:avLst/>
          </a:prstGeom>
          <a:noFill/>
          <a:ln w="0">
            <a:noFill/>
            <a:prstDash val="solid"/>
          </a:ln>
        </p:spPr>
        <p:txBody>
          <a:bodyPr wrap="square" lIns="0" tIns="0" rIns="0" bIns="0" anchor="t">
            <a:normAutofit fontScale="100000"/>
          </a:bodyPr>
          <a:lstStyle/>
          <a:p>
            <a:pPr algn="l">
              <a:lnSpc>
                <a:spcPct val="108000"/>
              </a:lnSpc>
              <a:buNone/>
            </a:pPr>
            <a:r>
              <a:rPr sz="1050" b="0" i="0">
                <a:solidFill>
                  <a:srgbClr val="6A6F73"/>
                </a:solidFill>
                <a:latin typeface="Arial"/>
                <a:ea typeface="Arial"/>
                <a:cs typeface="Arial"/>
              </a:rPr>
              <a:t>The owner case is not unit price alone; it is how electrical decisions influence COD readiness, installed effort, capital certainty and lifecycle continuity.</a:t>
            </a:r>
          </a:p>
        </p:txBody>
      </p:sp>
      <p:sp>
        <p:nvSpPr>
          <p:cNvPr id="108" name=""/>
          <p:cNvSpPr>
            <a:spLocks noGrp="1"/>
          </p:cNvSpPr>
          <p:nvPr/>
        </p:nvSpPr>
        <p:spPr>
          <a:xfrm>
            <a:off x="719138" y="2606040"/>
            <a:ext cx="5237862" cy="1554480"/>
          </a:xfrm>
          <a:prstGeom prst="rect">
            <a:avLst/>
          </a:prstGeom>
          <a:solidFill>
            <a:srgbClr val="FFFFFF"/>
          </a:solidFill>
          <a:ln w="9525">
            <a:solidFill>
              <a:srgbClr val="D8D1C8"/>
            </a:solidFill>
            <a:prstDash val="solid"/>
          </a:ln>
        </p:spPr>
      </p:sp>
      <p:sp>
        <p:nvSpPr>
          <p:cNvPr id="109" name=""/>
          <p:cNvSpPr>
            <a:spLocks noGrp="1"/>
          </p:cNvSpPr>
          <p:nvPr/>
        </p:nvSpPr>
        <p:spPr>
          <a:xfrm>
            <a:off x="947738" y="2788920"/>
            <a:ext cx="594360" cy="27432"/>
          </a:xfrm>
          <a:prstGeom prst="rect">
            <a:avLst/>
          </a:prstGeom>
          <a:solidFill>
            <a:srgbClr val="C9783E"/>
          </a:solidFill>
          <a:ln w="0">
            <a:noFill/>
            <a:prstDash val="solid"/>
          </a:ln>
        </p:spPr>
      </p:sp>
      <p:sp>
        <p:nvSpPr>
          <p:cNvPr id="110" name=""/>
          <p:cNvSpPr>
            <a:spLocks noGrp="1"/>
          </p:cNvSpPr>
          <p:nvPr/>
        </p:nvSpPr>
        <p:spPr>
          <a:xfrm>
            <a:off x="947738" y="2880360"/>
            <a:ext cx="59436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19" b="1" i="0">
                <a:solidFill>
                  <a:srgbClr val="C9783E"/>
                </a:solidFill>
                <a:latin typeface="Arial"/>
                <a:ea typeface="Arial"/>
                <a:cs typeface="Arial"/>
              </a:rPr>
              <a:t>01</a:t>
            </a:r>
          </a:p>
        </p:txBody>
      </p:sp>
      <p:sp>
        <p:nvSpPr>
          <p:cNvPr id="111" name=""/>
          <p:cNvSpPr>
            <a:spLocks noGrp="1"/>
          </p:cNvSpPr>
          <p:nvPr/>
        </p:nvSpPr>
        <p:spPr>
          <a:xfrm>
            <a:off x="1587818" y="2880360"/>
            <a:ext cx="414058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08" b="1" i="0">
                <a:solidFill>
                  <a:srgbClr val="9D4E24"/>
                </a:solidFill>
                <a:latin typeface="Arial"/>
                <a:ea typeface="Arial"/>
                <a:cs typeface="Arial"/>
              </a:rPr>
              <a:t>COD / REVENUE START</a:t>
            </a:r>
          </a:p>
        </p:txBody>
      </p:sp>
      <p:sp>
        <p:nvSpPr>
          <p:cNvPr id="112" name=""/>
          <p:cNvSpPr>
            <a:spLocks noGrp="1"/>
          </p:cNvSpPr>
          <p:nvPr/>
        </p:nvSpPr>
        <p:spPr>
          <a:xfrm>
            <a:off x="947738" y="3200400"/>
            <a:ext cx="4780662" cy="800000"/>
          </a:xfrm>
          <a:prstGeom prst="rect">
            <a:avLst/>
          </a:prstGeom>
          <a:noFill/>
          <a:ln w="0">
            <a:noFill/>
            <a:prstDash val="solid"/>
          </a:ln>
        </p:spPr>
        <p:txBody>
          <a:bodyPr wrap="square" lIns="0" tIns="0" rIns="0" bIns="0" anchor="t">
            <a:normAutofit fontScale="100000"/>
          </a:bodyPr>
          <a:lstStyle/>
          <a:p>
            <a:pPr algn="l">
              <a:lnSpc>
                <a:spcPct val="110000"/>
              </a:lnSpc>
              <a:buNone/>
            </a:pPr>
            <a:r>
              <a:rPr sz="1050" b="0" i="0">
                <a:solidFill>
                  <a:srgbClr val="6A6F73"/>
                </a:solidFill>
                <a:latin typeface="Arial"/>
                <a:ea typeface="Arial"/>
                <a:cs typeface="Arial"/>
              </a:rPr>
              <a:t>Capacity visibility, release timing and installation readiness can influence energization milestones.</a:t>
            </a:r>
          </a:p>
        </p:txBody>
      </p:sp>
      <p:sp>
        <p:nvSpPr>
          <p:cNvPr id="113" name=""/>
          <p:cNvSpPr>
            <a:spLocks noGrp="1"/>
          </p:cNvSpPr>
          <p:nvPr/>
        </p:nvSpPr>
        <p:spPr>
          <a:xfrm>
            <a:off x="6235130" y="2606040"/>
            <a:ext cx="5237862" cy="1554480"/>
          </a:xfrm>
          <a:prstGeom prst="rect">
            <a:avLst/>
          </a:prstGeom>
          <a:solidFill>
            <a:srgbClr val="FFFFFF"/>
          </a:solidFill>
          <a:ln w="9525">
            <a:solidFill>
              <a:srgbClr val="D8D1C8"/>
            </a:solidFill>
            <a:prstDash val="solid"/>
          </a:ln>
        </p:spPr>
      </p:sp>
      <p:sp>
        <p:nvSpPr>
          <p:cNvPr id="114" name=""/>
          <p:cNvSpPr>
            <a:spLocks noGrp="1"/>
          </p:cNvSpPr>
          <p:nvPr/>
        </p:nvSpPr>
        <p:spPr>
          <a:xfrm>
            <a:off x="6463730" y="2788920"/>
            <a:ext cx="594360" cy="27432"/>
          </a:xfrm>
          <a:prstGeom prst="rect">
            <a:avLst/>
          </a:prstGeom>
          <a:solidFill>
            <a:srgbClr val="C9783E"/>
          </a:solidFill>
          <a:ln w="0">
            <a:noFill/>
            <a:prstDash val="solid"/>
          </a:ln>
        </p:spPr>
      </p:sp>
      <p:sp>
        <p:nvSpPr>
          <p:cNvPr id="115" name=""/>
          <p:cNvSpPr>
            <a:spLocks noGrp="1"/>
          </p:cNvSpPr>
          <p:nvPr/>
        </p:nvSpPr>
        <p:spPr>
          <a:xfrm>
            <a:off x="6463730" y="2880360"/>
            <a:ext cx="59436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19" b="1" i="0">
                <a:solidFill>
                  <a:srgbClr val="C9783E"/>
                </a:solidFill>
                <a:latin typeface="Arial"/>
                <a:ea typeface="Arial"/>
                <a:cs typeface="Arial"/>
              </a:rPr>
              <a:t>02</a:t>
            </a:r>
          </a:p>
        </p:txBody>
      </p:sp>
      <p:sp>
        <p:nvSpPr>
          <p:cNvPr id="116" name=""/>
          <p:cNvSpPr>
            <a:spLocks noGrp="1"/>
          </p:cNvSpPr>
          <p:nvPr/>
        </p:nvSpPr>
        <p:spPr>
          <a:xfrm>
            <a:off x="7103810" y="2880360"/>
            <a:ext cx="414058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08" b="1" i="0">
                <a:solidFill>
                  <a:srgbClr val="9D4E24"/>
                </a:solidFill>
                <a:latin typeface="Arial"/>
                <a:ea typeface="Arial"/>
                <a:cs typeface="Arial"/>
              </a:rPr>
              <a:t>INSTALLED COST</a:t>
            </a:r>
          </a:p>
        </p:txBody>
      </p:sp>
      <p:sp>
        <p:nvSpPr>
          <p:cNvPr id="117" name=""/>
          <p:cNvSpPr>
            <a:spLocks noGrp="1"/>
          </p:cNvSpPr>
          <p:nvPr/>
        </p:nvSpPr>
        <p:spPr>
          <a:xfrm>
            <a:off x="6463730" y="3200400"/>
            <a:ext cx="4780662" cy="800000"/>
          </a:xfrm>
          <a:prstGeom prst="rect">
            <a:avLst/>
          </a:prstGeom>
          <a:noFill/>
          <a:ln w="0">
            <a:noFill/>
            <a:prstDash val="solid"/>
          </a:ln>
        </p:spPr>
        <p:txBody>
          <a:bodyPr wrap="square" lIns="0" tIns="0" rIns="0" bIns="0" anchor="t">
            <a:normAutofit fontScale="100000"/>
          </a:bodyPr>
          <a:lstStyle/>
          <a:p>
            <a:pPr algn="l">
              <a:lnSpc>
                <a:spcPct val="110000"/>
              </a:lnSpc>
              <a:buNone/>
            </a:pPr>
            <a:r>
              <a:rPr sz="1050" b="0" i="0">
                <a:solidFill>
                  <a:srgbClr val="6A6F73"/>
                </a:solidFill>
                <a:latin typeface="Arial"/>
                <a:ea typeface="Arial"/>
                <a:cs typeface="Arial"/>
              </a:rPr>
              <a:t>Routes, reels, cuts, pulls, congestion and rework often matter more than purchase price alone.</a:t>
            </a:r>
          </a:p>
        </p:txBody>
      </p:sp>
      <p:sp>
        <p:nvSpPr>
          <p:cNvPr id="118" name=""/>
          <p:cNvSpPr>
            <a:spLocks noGrp="1"/>
          </p:cNvSpPr>
          <p:nvPr/>
        </p:nvSpPr>
        <p:spPr>
          <a:xfrm>
            <a:off x="719138" y="4434840"/>
            <a:ext cx="5237862" cy="1554480"/>
          </a:xfrm>
          <a:prstGeom prst="rect">
            <a:avLst/>
          </a:prstGeom>
          <a:solidFill>
            <a:srgbClr val="FFFFFF"/>
          </a:solidFill>
          <a:ln w="9525">
            <a:solidFill>
              <a:srgbClr val="D8D1C8"/>
            </a:solidFill>
            <a:prstDash val="solid"/>
          </a:ln>
        </p:spPr>
      </p:sp>
      <p:sp>
        <p:nvSpPr>
          <p:cNvPr id="119" name=""/>
          <p:cNvSpPr>
            <a:spLocks noGrp="1"/>
          </p:cNvSpPr>
          <p:nvPr/>
        </p:nvSpPr>
        <p:spPr>
          <a:xfrm>
            <a:off x="947738" y="4617720"/>
            <a:ext cx="594360" cy="27432"/>
          </a:xfrm>
          <a:prstGeom prst="rect">
            <a:avLst/>
          </a:prstGeom>
          <a:solidFill>
            <a:srgbClr val="C9783E"/>
          </a:solidFill>
          <a:ln w="0">
            <a:noFill/>
            <a:prstDash val="solid"/>
          </a:ln>
        </p:spPr>
      </p:sp>
      <p:sp>
        <p:nvSpPr>
          <p:cNvPr id="120" name=""/>
          <p:cNvSpPr>
            <a:spLocks noGrp="1"/>
          </p:cNvSpPr>
          <p:nvPr/>
        </p:nvSpPr>
        <p:spPr>
          <a:xfrm>
            <a:off x="947738" y="4709160"/>
            <a:ext cx="59436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19" b="1" i="0">
                <a:solidFill>
                  <a:srgbClr val="C9783E"/>
                </a:solidFill>
                <a:latin typeface="Arial"/>
                <a:ea typeface="Arial"/>
                <a:cs typeface="Arial"/>
              </a:rPr>
              <a:t>03</a:t>
            </a:r>
          </a:p>
        </p:txBody>
      </p:sp>
      <p:sp>
        <p:nvSpPr>
          <p:cNvPr id="121" name=""/>
          <p:cNvSpPr>
            <a:spLocks noGrp="1"/>
          </p:cNvSpPr>
          <p:nvPr/>
        </p:nvSpPr>
        <p:spPr>
          <a:xfrm>
            <a:off x="1587818" y="4709160"/>
            <a:ext cx="414058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08" b="1" i="0">
                <a:solidFill>
                  <a:srgbClr val="9D4E24"/>
                </a:solidFill>
                <a:latin typeface="Arial"/>
                <a:ea typeface="Arial"/>
                <a:cs typeface="Arial"/>
              </a:rPr>
              <a:t>CAPITAL CERTAINTY</a:t>
            </a:r>
          </a:p>
        </p:txBody>
      </p:sp>
      <p:sp>
        <p:nvSpPr>
          <p:cNvPr id="122" name=""/>
          <p:cNvSpPr>
            <a:spLocks noGrp="1"/>
          </p:cNvSpPr>
          <p:nvPr/>
        </p:nvSpPr>
        <p:spPr>
          <a:xfrm>
            <a:off x="947738" y="5029200"/>
            <a:ext cx="4780662" cy="800000"/>
          </a:xfrm>
          <a:prstGeom prst="rect">
            <a:avLst/>
          </a:prstGeom>
          <a:noFill/>
          <a:ln w="0">
            <a:noFill/>
            <a:prstDash val="solid"/>
          </a:ln>
        </p:spPr>
        <p:txBody>
          <a:bodyPr wrap="square" lIns="0" tIns="0" rIns="0" bIns="0" anchor="t">
            <a:normAutofit fontScale="100000"/>
          </a:bodyPr>
          <a:lstStyle/>
          <a:p>
            <a:pPr algn="l">
              <a:lnSpc>
                <a:spcPct val="110000"/>
              </a:lnSpc>
              <a:buNone/>
            </a:pPr>
            <a:r>
              <a:rPr sz="1050" b="0" i="0">
                <a:solidFill>
                  <a:srgbClr val="6A6F73"/>
                </a:solidFill>
                <a:latin typeface="Arial"/>
                <a:ea typeface="Arial"/>
                <a:cs typeface="Arial"/>
              </a:rPr>
              <a:t>Earlier scope visibility supports commodity planning, material allocation and contingency discipline.</a:t>
            </a:r>
          </a:p>
        </p:txBody>
      </p:sp>
      <p:sp>
        <p:nvSpPr>
          <p:cNvPr id="123" name=""/>
          <p:cNvSpPr>
            <a:spLocks noGrp="1"/>
          </p:cNvSpPr>
          <p:nvPr/>
        </p:nvSpPr>
        <p:spPr>
          <a:xfrm>
            <a:off x="6235130" y="4434840"/>
            <a:ext cx="5237862" cy="1554480"/>
          </a:xfrm>
          <a:prstGeom prst="rect">
            <a:avLst/>
          </a:prstGeom>
          <a:solidFill>
            <a:srgbClr val="FFFFFF"/>
          </a:solidFill>
          <a:ln w="9525">
            <a:solidFill>
              <a:srgbClr val="D8D1C8"/>
            </a:solidFill>
            <a:prstDash val="solid"/>
          </a:ln>
        </p:spPr>
      </p:sp>
      <p:sp>
        <p:nvSpPr>
          <p:cNvPr id="124" name=""/>
          <p:cNvSpPr>
            <a:spLocks noGrp="1"/>
          </p:cNvSpPr>
          <p:nvPr/>
        </p:nvSpPr>
        <p:spPr>
          <a:xfrm>
            <a:off x="6463730" y="4617720"/>
            <a:ext cx="594360" cy="27432"/>
          </a:xfrm>
          <a:prstGeom prst="rect">
            <a:avLst/>
          </a:prstGeom>
          <a:solidFill>
            <a:srgbClr val="C9783E"/>
          </a:solidFill>
          <a:ln w="0">
            <a:noFill/>
            <a:prstDash val="solid"/>
          </a:ln>
        </p:spPr>
      </p:sp>
      <p:sp>
        <p:nvSpPr>
          <p:cNvPr id="125" name=""/>
          <p:cNvSpPr>
            <a:spLocks noGrp="1"/>
          </p:cNvSpPr>
          <p:nvPr/>
        </p:nvSpPr>
        <p:spPr>
          <a:xfrm>
            <a:off x="6463730" y="4709160"/>
            <a:ext cx="59436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19" b="1" i="0">
                <a:solidFill>
                  <a:srgbClr val="C9783E"/>
                </a:solidFill>
                <a:latin typeface="Arial"/>
                <a:ea typeface="Arial"/>
                <a:cs typeface="Arial"/>
              </a:rPr>
              <a:t>04</a:t>
            </a:r>
          </a:p>
        </p:txBody>
      </p:sp>
      <p:sp>
        <p:nvSpPr>
          <p:cNvPr id="126" name=""/>
          <p:cNvSpPr>
            <a:spLocks noGrp="1"/>
          </p:cNvSpPr>
          <p:nvPr/>
        </p:nvSpPr>
        <p:spPr>
          <a:xfrm>
            <a:off x="7103810" y="4709160"/>
            <a:ext cx="414058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08" b="1" i="0">
                <a:solidFill>
                  <a:srgbClr val="9D4E24"/>
                </a:solidFill>
                <a:latin typeface="Arial"/>
                <a:ea typeface="Arial"/>
                <a:cs typeface="Arial"/>
              </a:rPr>
              <a:t>AVAILABILITY / LIFECYCLE</a:t>
            </a:r>
          </a:p>
        </p:txBody>
      </p:sp>
      <p:sp>
        <p:nvSpPr>
          <p:cNvPr id="127" name=""/>
          <p:cNvSpPr>
            <a:spLocks noGrp="1"/>
          </p:cNvSpPr>
          <p:nvPr/>
        </p:nvSpPr>
        <p:spPr>
          <a:xfrm>
            <a:off x="6463730" y="5029200"/>
            <a:ext cx="4780662" cy="800000"/>
          </a:xfrm>
          <a:prstGeom prst="rect">
            <a:avLst/>
          </a:prstGeom>
          <a:noFill/>
          <a:ln w="0">
            <a:noFill/>
            <a:prstDash val="solid"/>
          </a:ln>
        </p:spPr>
        <p:txBody>
          <a:bodyPr wrap="square" lIns="0" tIns="0" rIns="0" bIns="0" anchor="t">
            <a:normAutofit fontScale="100000"/>
          </a:bodyPr>
          <a:lstStyle/>
          <a:p>
            <a:pPr algn="l">
              <a:lnSpc>
                <a:spcPct val="110000"/>
              </a:lnSpc>
              <a:buNone/>
            </a:pPr>
            <a:r>
              <a:rPr sz="1050" b="0" i="0">
                <a:solidFill>
                  <a:srgbClr val="6A6F73"/>
                </a:solidFill>
                <a:latin typeface="Arial"/>
                <a:ea typeface="Arial"/>
                <a:cs typeface="Arial"/>
              </a:rPr>
              <a:t>Turnover records, spares, condition screens and replacement planning support long-term continuity.</a:t>
            </a:r>
          </a:p>
        </p:txBody>
      </p:sp>
      <p:sp>
        <p:nvSpPr>
          <p:cNvPr id="128" name=""/>
          <p:cNvSpPr>
            <a:spLocks noGrp="1"/>
          </p:cNvSpPr>
          <p:nvPr/>
        </p:nvSpPr>
        <p:spPr>
          <a:xfrm>
            <a:off x="719138" y="6315000"/>
            <a:ext cx="10753724" cy="400000"/>
          </a:xfrm>
          <a:prstGeom prst="rect">
            <a:avLst/>
          </a:prstGeom>
          <a:solidFill>
            <a:srgbClr val="17191C"/>
          </a:solidFill>
          <a:ln w="0">
            <a:noFill/>
            <a:prstDash val="solid"/>
          </a:ln>
        </p:spPr>
      </p:sp>
      <p:sp>
        <p:nvSpPr>
          <p:cNvPr id="129" name=""/>
          <p:cNvSpPr>
            <a:spLocks noGrp="1"/>
          </p:cNvSpPr>
          <p:nvPr/>
        </p:nvSpPr>
        <p:spPr>
          <a:xfrm>
            <a:off x="719138" y="6315000"/>
            <a:ext cx="10753724" cy="400000"/>
          </a:xfrm>
          <a:prstGeom prst="rect">
            <a:avLst/>
          </a:prstGeom>
          <a:noFill/>
          <a:ln w="0">
            <a:noFill/>
            <a:prstDash val="solid"/>
          </a:ln>
        </p:spPr>
        <p:txBody>
          <a:bodyPr wrap="square" lIns="0" tIns="0" rIns="0" bIns="0" anchor="ctr">
            <a:normAutofit fontScale="100000"/>
          </a:bodyPr>
          <a:lstStyle/>
          <a:p>
            <a:pPr algn="ctr">
              <a:lnSpc>
                <a:spcPct val="100000"/>
              </a:lnSpc>
              <a:buNone/>
            </a:pPr>
            <a:r>
              <a:rPr sz="882" b="1" i="0">
                <a:solidFill>
                  <a:srgbClr val="FFFFFF"/>
                </a:solidFill>
                <a:latin typeface="Arial"/>
                <a:ea typeface="Arial"/>
                <a:cs typeface="Arial"/>
              </a:rPr>
              <a:t>VALIDATE THE VALUE ON ONE LIVE NRG SCOPE </a:t>
            </a:r>
            <a:r>
              <a:rPr sz="882" b="1" i="0">
                <a:solidFill>
                  <a:srgbClr val="C9783E"/>
                </a:solidFill>
                <a:latin typeface="Arial"/>
                <a:ea typeface="Arial"/>
                <a:cs typeface="Arial"/>
              </a:rPr>
              <a:t>— DO NOT ASSUME SAVINGS.</a:t>
            </a:r>
          </a:p>
        </p:txBody>
      </p:sp>
    </p:spTree>
  </p:cSld>
</p:sld>
</file>

<file path=ppt/slides/slide9.xml><?xml version="1.0" encoding="utf-8"?>
<p:sld xmlns:p="http://schemas.openxmlformats.org/presentationml/2006/main">
  <p:cSld>
    <p:bg>
      <p:bgPr>
        <a:solidFill xmlns:a="http://schemas.openxmlformats.org/drawingml/2006/main">
          <a:srgbClr val="22252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6A8162B-F601-4993-98BE-8D3BBB6944A4}"/>
              </a:ext>
            </a:extLst>
          </p:cNvPr>
          <p:cNvSpPr>
            <a:spLocks xmlns:a="http://schemas.openxmlformats.org/drawingml/2006/main" noGrp="1"/>
          </p:cNvSpPr>
          <p:nvPr/>
        </p:nvSpPr>
        <p:spPr>
          <a:xfrm xmlns:a="http://schemas.openxmlformats.org/drawingml/2006/main" rot="0">
            <a:off x="0" y="0"/>
            <a:ext cx="12192000" cy="5715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7ee1c5f2262e4319"/>
          <a:srcRect xmlns:a="http://schemas.openxmlformats.org/drawingml/2006/main" l="8771" t="0" r="8771" b="0"/>
          <a:stretch xmlns:a="http://schemas.openxmlformats.org/drawingml/2006/main">
            <a:fillRect l="0" t="0" r="0" b="0"/>
          </a:stretch>
        </p:blipFill>
        <p:spPr>
          <a:xfrm xmlns:a="http://schemas.openxmlformats.org/drawingml/2006/main">
            <a:off x="552450" y="209550"/>
            <a:ext cx="2457450" cy="41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8FD36E9-20DA-46F1-ACA1-252C5BC610D1}"/>
              </a:ext>
            </a:extLst>
          </p:cNvPr>
          <p:cNvSpPr>
            <a:spLocks xmlns:a="http://schemas.openxmlformats.org/drawingml/2006/main" noGrp="1"/>
          </p:cNvSpPr>
          <p:nvPr/>
        </p:nvSpPr>
        <p:spPr>
          <a:xfrm xmlns:a="http://schemas.openxmlformats.org/drawingml/2006/main">
            <a:off x="8096250" y="3238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19" b="1" i="0">
                <a:solidFill>
                  <a:srgbClr val="E3A06D"/>
                </a:solidFill>
                <a:latin typeface="Arial"/>
                <a:ea typeface="Arial"/>
                <a:cs typeface="Arial"/>
              </a:defRPr>
            </a:pPr>
            <a:r>
              <a:rPr sz="819" b="1" i="0">
                <a:solidFill>
                  <a:srgbClr val="E3A06D"/>
                </a:solidFill>
                <a:latin typeface="Arial"/>
                <a:ea typeface="Arial"/>
                <a:cs typeface="Arial"/>
              </a:rPr>
              <a:t>ADJACENT EXPERIENCE</a:t>
            </a:r>
          </a:p>
        </p:txBody>
      </p:sp>
      <p:sp>
        <p:nvSpPr>
          <p:cNvPr id="4" name="">
            <a:extLst xmlns:a="http://schemas.openxmlformats.org/drawingml/2006/main">
              <a:ext uri="{FF2B5EF4-FFF2-40B4-BE49-F238E27FC236}">
                <a16:creationId xmlns:a16="http://schemas.microsoft.com/office/drawing/2014/main" id="{00E4AB5C-7EC8-420D-B720-AC3E8A2FEB4D}"/>
              </a:ext>
            </a:extLst>
          </p:cNvPr>
          <p:cNvSpPr>
            <a:spLocks xmlns:a="http://schemas.openxmlformats.org/drawingml/2006/main" noGrp="1"/>
          </p:cNvSpPr>
          <p:nvPr/>
        </p:nvSpPr>
        <p:spPr>
          <a:xfrm xmlns:a="http://schemas.openxmlformats.org/drawingml/2006/main">
            <a:off x="11334750" y="3238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19" b="1" i="0">
                <a:solidFill>
                  <a:srgbClr val="8B9094"/>
                </a:solidFill>
                <a:latin typeface="Arial"/>
                <a:ea typeface="Arial"/>
                <a:cs typeface="Arial"/>
              </a:defRPr>
            </a:pPr>
            <a:r>
              <a:rPr sz="819" b="1" i="0">
                <a:solidFill>
                  <a:srgbClr val="8B9094"/>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3678909B-CBB8-472D-9EB7-45D22A318EED}"/>
              </a:ext>
            </a:extLst>
          </p:cNvPr>
          <p:cNvSpPr>
            <a:spLocks xmlns:a="http://schemas.openxmlformats.org/drawingml/2006/main" noGrp="1"/>
          </p:cNvSpPr>
          <p:nvPr/>
        </p:nvSpPr>
        <p:spPr>
          <a:xfrm xmlns:a="http://schemas.openxmlformats.org/drawingml/2006/main">
            <a:off x="552450" y="876300"/>
            <a:ext cx="1104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82" b="1" i="0">
                <a:solidFill>
                  <a:srgbClr val="E3A06D"/>
                </a:solidFill>
                <a:latin typeface="Arial"/>
                <a:ea typeface="Arial"/>
                <a:cs typeface="Arial"/>
              </a:defRPr>
            </a:pPr>
            <a:r>
              <a:rPr sz="882" b="1" i="0">
                <a:solidFill>
                  <a:srgbClr val="E3A06D"/>
                </a:solidFill>
                <a:latin typeface="Arial"/>
                <a:ea typeface="Arial"/>
                <a:cs typeface="Arial"/>
              </a:rPr>
              <a:t>ILLUSTRATIVE ADJACENT-MARKET BENCHMARK  |  NOT AN NRG RESULT</a:t>
            </a:r>
          </a:p>
        </p:txBody>
      </p:sp>
      <p:sp>
        <p:nvSpPr>
          <p:cNvPr id="6" name="">
            <a:extLst xmlns:a="http://schemas.openxmlformats.org/drawingml/2006/main">
              <a:ext uri="{FF2B5EF4-FFF2-40B4-BE49-F238E27FC236}">
                <a16:creationId xmlns:a16="http://schemas.microsoft.com/office/drawing/2014/main" id="{588CB839-CF33-46DF-BEAB-0097A59E0ECC}"/>
              </a:ext>
            </a:extLst>
          </p:cNvPr>
          <p:cNvSpPr>
            <a:spLocks xmlns:a="http://schemas.openxmlformats.org/drawingml/2006/main" noGrp="1"/>
          </p:cNvSpPr>
          <p:nvPr/>
        </p:nvSpPr>
        <p:spPr>
          <a:xfrm xmlns:a="http://schemas.openxmlformats.org/drawingml/2006/main">
            <a:off x="552450" y="1181100"/>
            <a:ext cx="1104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763"/>
          </a:bodyPr>
          <a:lstStyle xmlns:a="http://schemas.openxmlformats.org/drawingml/2006/main"/>
          <a:p xmlns:a="http://schemas.openxmlformats.org/drawingml/2006/main">
            <a:pPr algn="l">
              <a:lnSpc>
                <a:spcPct val="94000"/>
              </a:lnSpc>
              <a:buNone/>
              <a:defRPr sz="2775" b="1" i="0">
                <a:solidFill>
                  <a:srgbClr val="FFFFFF"/>
                </a:solidFill>
                <a:latin typeface="Arial"/>
                <a:ea typeface="Arial"/>
                <a:cs typeface="Arial"/>
              </a:defRPr>
            </a:pPr>
            <a:r>
              <a:rPr sz="2775" b="1" i="0">
                <a:solidFill>
                  <a:srgbClr val="FFFFFF"/>
                </a:solidFill>
                <a:latin typeface="Arial"/>
                <a:ea typeface="Arial"/>
                <a:cs typeface="Arial"/>
              </a:rPr>
              <a:t>Adjacent experience indicates where to test—not what NRG will save.</a:t>
            </a:r>
          </a:p>
        </p:txBody>
      </p:sp>
      <p:sp>
        <p:nvSpPr>
          <p:cNvPr id="7" name="">
            <a:extLst xmlns:a="http://schemas.openxmlformats.org/drawingml/2006/main">
              <a:ext uri="{FF2B5EF4-FFF2-40B4-BE49-F238E27FC236}">
                <a16:creationId xmlns:a16="http://schemas.microsoft.com/office/drawing/2014/main" id="{7463E3EC-1859-40FD-913D-354070C70FBE}"/>
              </a:ext>
            </a:extLst>
          </p:cNvPr>
          <p:cNvSpPr>
            <a:spLocks xmlns:a="http://schemas.openxmlformats.org/drawingml/2006/main" noGrp="1"/>
          </p:cNvSpPr>
          <p:nvPr/>
        </p:nvSpPr>
        <p:spPr>
          <a:xfrm xmlns:a="http://schemas.openxmlformats.org/drawingml/2006/main">
            <a:off x="552450" y="1914525"/>
            <a:ext cx="800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C8CBCE"/>
                </a:solidFill>
                <a:latin typeface="Arial"/>
                <a:ea typeface="Arial"/>
                <a:cs typeface="Arial"/>
              </a:defRPr>
            </a:pPr>
            <a:r>
              <a:rPr sz="1350" b="0" i="0">
                <a:solidFill>
                  <a:srgbClr val="C8CBCE"/>
                </a:solidFill>
                <a:latin typeface="Arial"/>
                <a:ea typeface="Arial"/>
                <a:cs typeface="Arial"/>
              </a:rPr>
              <a:t>Field hours per electrical spine in one repetitive modular-generation scope</a:t>
            </a:r>
          </a:p>
        </p:txBody>
      </p:sp>
      <p:sp>
        <p:nvSpPr>
          <p:cNvPr id="8" name="">
            <a:extLst xmlns:a="http://schemas.openxmlformats.org/drawingml/2006/main">
              <a:ext uri="{FF2B5EF4-FFF2-40B4-BE49-F238E27FC236}">
                <a16:creationId xmlns:a16="http://schemas.microsoft.com/office/drawing/2014/main" id="{E1C04A89-F9F2-44AE-A653-9601C86D134C}"/>
              </a:ext>
            </a:extLst>
          </p:cNvPr>
          <p:cNvSpPr>
            <a:spLocks xmlns:a="http://schemas.openxmlformats.org/drawingml/2006/main" noGrp="1"/>
          </p:cNvSpPr>
          <p:nvPr/>
        </p:nvSpPr>
        <p:spPr>
          <a:xfrm xmlns:a="http://schemas.openxmlformats.org/drawingml/2006/main">
            <a:off x="742950" y="2600325"/>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ctr">
              <a:lnSpc>
                <a:spcPct val="100000"/>
              </a:lnSpc>
              <a:buNone/>
              <a:defRPr sz="4788" b="1" i="0">
                <a:solidFill>
                  <a:srgbClr val="FFFFFF"/>
                </a:solidFill>
                <a:latin typeface="Arial"/>
                <a:ea typeface="Arial"/>
                <a:cs typeface="Arial"/>
              </a:defRPr>
            </a:pPr>
            <a:r>
              <a:rPr sz="4788" b="1" i="0">
                <a:solidFill>
                  <a:srgbClr val="FFFFFF"/>
                </a:solidFill>
                <a:latin typeface="Arial"/>
                <a:ea typeface="Arial"/>
                <a:cs typeface="Arial"/>
              </a:rPr>
              <a:t>4,400</a:t>
            </a:r>
          </a:p>
        </p:txBody>
      </p:sp>
      <p:sp>
        <p:nvSpPr>
          <p:cNvPr id="9" name="">
            <a:extLst xmlns:a="http://schemas.openxmlformats.org/drawingml/2006/main">
              <a:ext uri="{FF2B5EF4-FFF2-40B4-BE49-F238E27FC236}">
                <a16:creationId xmlns:a16="http://schemas.microsoft.com/office/drawing/2014/main" id="{7D18F05E-D3A7-4725-AF7B-22D702CBA0A5}"/>
              </a:ext>
            </a:extLst>
          </p:cNvPr>
          <p:cNvSpPr>
            <a:spLocks xmlns:a="http://schemas.openxmlformats.org/drawingml/2006/main" noGrp="1"/>
          </p:cNvSpPr>
          <p:nvPr/>
        </p:nvSpPr>
        <p:spPr>
          <a:xfrm xmlns:a="http://schemas.openxmlformats.org/drawingml/2006/main">
            <a:off x="742950" y="3476625"/>
            <a:ext cx="3333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2000"/>
              </a:lnSpc>
              <a:buNone/>
              <a:defRPr sz="1071" b="1" i="0">
                <a:solidFill>
                  <a:srgbClr val="8B9094"/>
                </a:solidFill>
                <a:latin typeface="Arial"/>
                <a:ea typeface="Arial"/>
                <a:cs typeface="Arial"/>
              </a:defRPr>
            </a:pPr>
            <a:r>
              <a:rPr sz="1071" b="1" i="0">
                <a:solidFill>
                  <a:srgbClr val="8B9094"/>
                </a:solidFill>
                <a:latin typeface="Arial"/>
                <a:ea typeface="Arial"/>
                <a:cs typeface="Arial"/>
              </a:rPr>
              <a:t>OBSERVED FIELD HOURS</a:t>
            </a:r>
          </a:p>
          <a:p xmlns:a="http://schemas.openxmlformats.org/drawingml/2006/main">
            <a:pPr algn="ctr">
              <a:lnSpc>
                <a:spcPct val="92000"/>
              </a:lnSpc>
              <a:buNone/>
              <a:defRPr sz="1071" b="1" i="0">
                <a:solidFill>
                  <a:srgbClr val="8B9094"/>
                </a:solidFill>
                <a:latin typeface="Arial"/>
                <a:ea typeface="Arial"/>
                <a:cs typeface="Arial"/>
              </a:defRPr>
            </a:pPr>
            <a:r>
              <a:rPr sz="1071" b="1" i="0">
                <a:solidFill>
                  <a:srgbClr val="8B9094"/>
                </a:solidFill>
                <a:latin typeface="Arial"/>
                <a:ea typeface="Arial"/>
                <a:cs typeface="Arial"/>
              </a:rPr>
              <a:t>SITE-BUILT BASELINE</a:t>
            </a:r>
          </a:p>
        </p:txBody>
      </p:sp>
      <p:sp>
        <p:nvSpPr>
          <p:cNvPr id="10" name="">
            <a:extLst xmlns:a="http://schemas.openxmlformats.org/drawingml/2006/main">
              <a:ext uri="{FF2B5EF4-FFF2-40B4-BE49-F238E27FC236}">
                <a16:creationId xmlns:a16="http://schemas.microsoft.com/office/drawing/2014/main" id="{F58F02CA-DBD3-4859-AF3F-1D044E927AC0}"/>
              </a:ext>
            </a:extLst>
          </p:cNvPr>
          <p:cNvSpPr>
            <a:spLocks xmlns:a="http://schemas.openxmlformats.org/drawingml/2006/main" noGrp="1"/>
          </p:cNvSpPr>
          <p:nvPr/>
        </p:nvSpPr>
        <p:spPr>
          <a:xfrm xmlns:a="http://schemas.openxmlformats.org/drawingml/2006/main" rot="0">
            <a:off x="4781550" y="2933700"/>
            <a:ext cx="2095500" cy="466725"/>
          </a:xfrm>
          <a:prstGeom xmlns:a="http://schemas.openxmlformats.org/drawingml/2006/main" prst="rightArrow">
            <a:avLst/>
          </a:prstGeom>
          <a:solidFill xmlns:a="http://schemas.openxmlformats.org/drawingml/2006/main">
            <a:srgbClr val="C9783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CDFB9DE-7765-4137-85DE-D711A3251BD0}"/>
              </a:ext>
            </a:extLst>
          </p:cNvPr>
          <p:cNvSpPr>
            <a:spLocks xmlns:a="http://schemas.openxmlformats.org/drawingml/2006/main" noGrp="1"/>
          </p:cNvSpPr>
          <p:nvPr/>
        </p:nvSpPr>
        <p:spPr>
          <a:xfrm xmlns:a="http://schemas.openxmlformats.org/drawingml/2006/main">
            <a:off x="7600950" y="2600325"/>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ctr">
              <a:lnSpc>
                <a:spcPct val="100000"/>
              </a:lnSpc>
              <a:buNone/>
              <a:defRPr sz="4788" b="1" i="0">
                <a:solidFill>
                  <a:srgbClr val="E3A06D"/>
                </a:solidFill>
                <a:latin typeface="Arial"/>
                <a:ea typeface="Arial"/>
                <a:cs typeface="Arial"/>
              </a:defRPr>
            </a:pPr>
            <a:r>
              <a:rPr sz="4788" b="1" i="0">
                <a:solidFill>
                  <a:srgbClr val="E3A06D"/>
                </a:solidFill>
                <a:latin typeface="Arial"/>
                <a:ea typeface="Arial"/>
                <a:cs typeface="Arial"/>
              </a:rPr>
              <a:t>~880</a:t>
            </a:r>
          </a:p>
        </p:txBody>
      </p:sp>
      <p:sp>
        <p:nvSpPr>
          <p:cNvPr id="12" name="">
            <a:extLst xmlns:a="http://schemas.openxmlformats.org/drawingml/2006/main">
              <a:ext uri="{FF2B5EF4-FFF2-40B4-BE49-F238E27FC236}">
                <a16:creationId xmlns:a16="http://schemas.microsoft.com/office/drawing/2014/main" id="{901E448B-AC8F-4D77-A10F-EB3D44F665CE}"/>
              </a:ext>
            </a:extLst>
          </p:cNvPr>
          <p:cNvSpPr>
            <a:spLocks xmlns:a="http://schemas.openxmlformats.org/drawingml/2006/main" noGrp="1"/>
          </p:cNvSpPr>
          <p:nvPr/>
        </p:nvSpPr>
        <p:spPr>
          <a:xfrm xmlns:a="http://schemas.openxmlformats.org/drawingml/2006/main">
            <a:off x="7600950" y="3476625"/>
            <a:ext cx="3333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2000"/>
              </a:lnSpc>
              <a:buNone/>
              <a:defRPr sz="1071" b="1" i="0">
                <a:solidFill>
                  <a:srgbClr val="8B9094"/>
                </a:solidFill>
                <a:latin typeface="Arial"/>
                <a:ea typeface="Arial"/>
                <a:cs typeface="Arial"/>
              </a:defRPr>
            </a:pPr>
            <a:r>
              <a:rPr sz="1071" b="1" i="0">
                <a:solidFill>
                  <a:srgbClr val="8B9094"/>
                </a:solidFill>
                <a:latin typeface="Arial"/>
                <a:ea typeface="Arial"/>
                <a:cs typeface="Arial"/>
              </a:rPr>
              <a:t>MODELED FIELD HOURS</a:t>
            </a:r>
          </a:p>
          <a:p xmlns:a="http://schemas.openxmlformats.org/drawingml/2006/main">
            <a:pPr algn="ctr">
              <a:lnSpc>
                <a:spcPct val="92000"/>
              </a:lnSpc>
              <a:buNone/>
              <a:defRPr sz="1071" b="1" i="0">
                <a:solidFill>
                  <a:srgbClr val="8B9094"/>
                </a:solidFill>
                <a:latin typeface="Arial"/>
                <a:ea typeface="Arial"/>
                <a:cs typeface="Arial"/>
              </a:defRPr>
            </a:pPr>
            <a:r>
              <a:rPr sz="1071" b="1" i="0">
                <a:solidFill>
                  <a:srgbClr val="8B9094"/>
                </a:solidFill>
                <a:latin typeface="Arial"/>
                <a:ea typeface="Arial"/>
                <a:cs typeface="Arial"/>
              </a:rPr>
              <a:t>WITH FACTORY-BUILT ASSEMBLY</a:t>
            </a:r>
          </a:p>
        </p:txBody>
      </p:sp>
      <p:sp>
        <p:nvSpPr>
          <p:cNvPr id="13" name="">
            <a:extLst xmlns:a="http://schemas.openxmlformats.org/drawingml/2006/main">
              <a:ext uri="{FF2B5EF4-FFF2-40B4-BE49-F238E27FC236}">
                <a16:creationId xmlns:a16="http://schemas.microsoft.com/office/drawing/2014/main" id="{08791E57-1617-48F4-B221-E3DE343A13C2}"/>
              </a:ext>
            </a:extLst>
          </p:cNvPr>
          <p:cNvSpPr>
            <a:spLocks xmlns:a="http://schemas.openxmlformats.org/drawingml/2006/main" noGrp="1"/>
          </p:cNvSpPr>
          <p:nvPr/>
        </p:nvSpPr>
        <p:spPr>
          <a:xfrm xmlns:a="http://schemas.openxmlformats.org/drawingml/2006/main" rot="0">
            <a:off x="552450" y="4219575"/>
            <a:ext cx="5257800" cy="1562100"/>
          </a:xfrm>
          <a:prstGeom xmlns:a="http://schemas.openxmlformats.org/drawingml/2006/main" prst="rect">
            <a:avLst/>
          </a:prstGeom>
          <a:solidFill xmlns:a="http://schemas.openxmlformats.org/drawingml/2006/main">
            <a:srgbClr val="2B2E32"/>
          </a:solidFill>
          <a:ln xmlns:a="http://schemas.openxmlformats.org/drawingml/2006/main" w="9525">
            <a:solidFill>
              <a:srgbClr val="41454A"/>
            </a:solidFill>
            <a:prstDash val="solid"/>
          </a:ln>
        </p:spPr>
      </p:sp>
      <p:sp>
        <p:nvSpPr>
          <p:cNvPr id="14" name="">
            <a:extLst xmlns:a="http://schemas.openxmlformats.org/drawingml/2006/main">
              <a:ext uri="{FF2B5EF4-FFF2-40B4-BE49-F238E27FC236}">
                <a16:creationId xmlns:a16="http://schemas.microsoft.com/office/drawing/2014/main" id="{15390F3D-24E2-43A3-BC80-0B27D9B2161F}"/>
              </a:ext>
            </a:extLst>
          </p:cNvPr>
          <p:cNvSpPr>
            <a:spLocks xmlns:a="http://schemas.openxmlformats.org/drawingml/2006/main" noGrp="1"/>
          </p:cNvSpPr>
          <p:nvPr/>
        </p:nvSpPr>
        <p:spPr>
          <a:xfrm xmlns:a="http://schemas.openxmlformats.org/drawingml/2006/main">
            <a:off x="781050" y="4438650"/>
            <a:ext cx="466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08" b="1" i="0">
                <a:solidFill>
                  <a:srgbClr val="E3A06D"/>
                </a:solidFill>
                <a:latin typeface="Arial"/>
                <a:ea typeface="Arial"/>
                <a:cs typeface="Arial"/>
              </a:defRPr>
            </a:pPr>
            <a:r>
              <a:rPr sz="1008" b="1" i="0">
                <a:solidFill>
                  <a:srgbClr val="E3A06D"/>
                </a:solidFill>
                <a:latin typeface="Arial"/>
                <a:ea typeface="Arial"/>
                <a:cs typeface="Arial"/>
              </a:rPr>
              <a:t>WHAT IT SUGGESTS</a:t>
            </a:r>
          </a:p>
        </p:txBody>
      </p:sp>
      <p:sp>
        <p:nvSpPr>
          <p:cNvPr id="15" name="">
            <a:extLst xmlns:a="http://schemas.openxmlformats.org/drawingml/2006/main">
              <a:ext uri="{FF2B5EF4-FFF2-40B4-BE49-F238E27FC236}">
                <a16:creationId xmlns:a16="http://schemas.microsoft.com/office/drawing/2014/main" id="{E3017E22-8AA6-4ADE-B06E-95252889AC45}"/>
              </a:ext>
            </a:extLst>
          </p:cNvPr>
          <p:cNvSpPr>
            <a:spLocks xmlns:a="http://schemas.openxmlformats.org/drawingml/2006/main" noGrp="1"/>
          </p:cNvSpPr>
          <p:nvPr/>
        </p:nvSpPr>
        <p:spPr>
          <a:xfrm xmlns:a="http://schemas.openxmlformats.org/drawingml/2006/main">
            <a:off x="781050" y="4867275"/>
            <a:ext cx="4619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FFFFFF"/>
                </a:solidFill>
                <a:latin typeface="Arial"/>
                <a:ea typeface="Arial"/>
                <a:cs typeface="Arial"/>
              </a:defRPr>
            </a:pPr>
            <a:r>
              <a:rPr sz="1500" b="1" i="0">
                <a:solidFill>
                  <a:srgbClr val="FFFFFF"/>
                </a:solidFill>
                <a:latin typeface="Arial"/>
                <a:ea typeface="Arial"/>
                <a:cs typeface="Arial"/>
              </a:rPr>
              <a:t>Stable, repeatable interfaces may be candidates for offsite work.</a:t>
            </a:r>
          </a:p>
        </p:txBody>
      </p:sp>
      <p:sp>
        <p:nvSpPr>
          <p:cNvPr id="16" name="">
            <a:extLst xmlns:a="http://schemas.openxmlformats.org/drawingml/2006/main">
              <a:ext uri="{FF2B5EF4-FFF2-40B4-BE49-F238E27FC236}">
                <a16:creationId xmlns:a16="http://schemas.microsoft.com/office/drawing/2014/main" id="{C5681D7F-D168-416D-9DD9-FF7CA804773E}"/>
              </a:ext>
            </a:extLst>
          </p:cNvPr>
          <p:cNvSpPr>
            <a:spLocks xmlns:a="http://schemas.openxmlformats.org/drawingml/2006/main" noGrp="1"/>
          </p:cNvSpPr>
          <p:nvPr/>
        </p:nvSpPr>
        <p:spPr>
          <a:xfrm xmlns:a="http://schemas.openxmlformats.org/drawingml/2006/main" rot="0">
            <a:off x="6057900" y="4219575"/>
            <a:ext cx="5581650" cy="1562100"/>
          </a:xfrm>
          <a:prstGeom xmlns:a="http://schemas.openxmlformats.org/drawingml/2006/main" prst="rect">
            <a:avLst/>
          </a:prstGeom>
          <a:solidFill xmlns:a="http://schemas.openxmlformats.org/drawingml/2006/main">
            <a:srgbClr val="2B2E32"/>
          </a:solidFill>
          <a:ln xmlns:a="http://schemas.openxmlformats.org/drawingml/2006/main" w="9525">
            <a:solidFill>
              <a:srgbClr val="41454A"/>
            </a:solidFill>
            <a:prstDash val="solid"/>
          </a:ln>
        </p:spPr>
      </p:sp>
      <p:sp>
        <p:nvSpPr>
          <p:cNvPr id="17" name="">
            <a:extLst xmlns:a="http://schemas.openxmlformats.org/drawingml/2006/main">
              <a:ext uri="{FF2B5EF4-FFF2-40B4-BE49-F238E27FC236}">
                <a16:creationId xmlns:a16="http://schemas.microsoft.com/office/drawing/2014/main" id="{C2AC47E8-FE43-444A-BF93-C7020872ACCF}"/>
              </a:ext>
            </a:extLst>
          </p:cNvPr>
          <p:cNvSpPr>
            <a:spLocks xmlns:a="http://schemas.openxmlformats.org/drawingml/2006/main" noGrp="1"/>
          </p:cNvSpPr>
          <p:nvPr/>
        </p:nvSpPr>
        <p:spPr>
          <a:xfrm xmlns:a="http://schemas.openxmlformats.org/drawingml/2006/main">
            <a:off x="6286500" y="4438650"/>
            <a:ext cx="504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08" b="1" i="0">
                <a:solidFill>
                  <a:srgbClr val="E3A06D"/>
                </a:solidFill>
                <a:latin typeface="Arial"/>
                <a:ea typeface="Arial"/>
                <a:cs typeface="Arial"/>
              </a:defRPr>
            </a:pPr>
            <a:r>
              <a:rPr sz="1008" b="1" i="0">
                <a:solidFill>
                  <a:srgbClr val="E3A06D"/>
                </a:solidFill>
                <a:latin typeface="Arial"/>
                <a:ea typeface="Arial"/>
                <a:cs typeface="Arial"/>
              </a:rPr>
              <a:t>WHAT IT DOES NOT PROVE</a:t>
            </a:r>
          </a:p>
        </p:txBody>
      </p:sp>
      <p:sp>
        <p:nvSpPr>
          <p:cNvPr id="18" name="">
            <a:extLst xmlns:a="http://schemas.openxmlformats.org/drawingml/2006/main">
              <a:ext uri="{FF2B5EF4-FFF2-40B4-BE49-F238E27FC236}">
                <a16:creationId xmlns:a16="http://schemas.microsoft.com/office/drawing/2014/main" id="{7980DF4B-9080-43AC-805A-3D9F6E0B4A60}"/>
              </a:ext>
            </a:extLst>
          </p:cNvPr>
          <p:cNvSpPr>
            <a:spLocks xmlns:a="http://schemas.openxmlformats.org/drawingml/2006/main" noGrp="1"/>
          </p:cNvSpPr>
          <p:nvPr/>
        </p:nvSpPr>
        <p:spPr>
          <a:xfrm xmlns:a="http://schemas.openxmlformats.org/drawingml/2006/main">
            <a:off x="6286500" y="4867275"/>
            <a:ext cx="49530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FFFFFF"/>
                </a:solidFill>
                <a:latin typeface="Arial"/>
                <a:ea typeface="Arial"/>
                <a:cs typeface="Arial"/>
              </a:defRPr>
            </a:pPr>
            <a:r>
              <a:rPr sz="1500" b="1" i="0">
                <a:solidFill>
                  <a:srgbClr val="FFFFFF"/>
                </a:solidFill>
                <a:latin typeface="Arial"/>
                <a:ea typeface="Arial"/>
                <a:cs typeface="Arial"/>
              </a:rPr>
              <a:t>Net NRG savings, schedule reduction or critical-path removal.</a:t>
            </a:r>
          </a:p>
        </p:txBody>
      </p:sp>
      <p:sp>
        <p:nvSpPr>
          <p:cNvPr id="19" name="">
            <a:extLst xmlns:a="http://schemas.openxmlformats.org/drawingml/2006/main">
              <a:ext uri="{FF2B5EF4-FFF2-40B4-BE49-F238E27FC236}">
                <a16:creationId xmlns:a16="http://schemas.microsoft.com/office/drawing/2014/main" id="{C91D27FB-5F84-48E5-842F-1B2511CCEC66}"/>
              </a:ext>
            </a:extLst>
          </p:cNvPr>
          <p:cNvSpPr>
            <a:spLocks xmlns:a="http://schemas.openxmlformats.org/drawingml/2006/main" noGrp="1"/>
          </p:cNvSpPr>
          <p:nvPr/>
        </p:nvSpPr>
        <p:spPr>
          <a:xfrm xmlns:a="http://schemas.openxmlformats.org/drawingml/2006/main">
            <a:off x="552450" y="6143625"/>
            <a:ext cx="11087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0" i="1">
                <a:solidFill>
                  <a:srgbClr val="8B9094"/>
                </a:solidFill>
                <a:latin typeface="Arial"/>
                <a:ea typeface="Arial"/>
                <a:cs typeface="Arial"/>
              </a:defRPr>
            </a:pPr>
            <a:r>
              <a:rPr sz="1050" b="0" i="1">
                <a:solidFill>
                  <a:srgbClr val="8B9094"/>
                </a:solidFill>
                <a:latin typeface="Arial"/>
                <a:ea typeface="Arial"/>
                <a:cs typeface="Arial"/>
              </a:rPr>
              <a:t>Rebuild the case with NRG scope, labor rates, schedule logic and acceptance criteria.</a:t>
            </a:r>
          </a:p>
        </p:txBody>
      </p:sp>
    </p:spTree>
    <p:extLst>
      <p:ext uri="{BB962C8B-B14F-4D97-AF65-F5344CB8AC3E}">
        <p14:creationId xmlns:p14="http://schemas.microsoft.com/office/powerpoint/2010/main" val="1722348828"/>
      </p:ext>
    </p:extLst>
  </p:cSld>
</p:sld>
</file>

<file path=ppt/slides/slide10.xml><?xml version="1.0" encoding="utf-8"?>
<p:sld xmlns:p="http://schemas.openxmlformats.org/presentationml/2006/main">
  <p:cSld>
    <p:bg>
      <p:bgPr>
        <a:solidFill xmlns:a="http://schemas.openxmlformats.org/drawingml/2006/main">
          <a:srgbClr val="F6F3EE"/>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6D13ECD5-341F-415E-84A3-47C83FA79A8D}"/>
              </a:ext>
            </a:extLst>
          </p:cNvPr>
          <p:cNvSpPr>
            <a:spLocks xmlns:a="http://schemas.openxmlformats.org/drawingml/2006/main" noGrp="1"/>
          </p:cNvSpPr>
          <p:nvPr/>
        </p:nvSpPr>
        <p:spPr>
          <a:xfrm xmlns:a="http://schemas.openxmlformats.org/drawingml/2006/main" rot="0">
            <a:off x="0" y="0"/>
            <a:ext cx="12192000" cy="5715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af48650a3c4a4d07"/>
          <a:stretch xmlns:a="http://schemas.openxmlformats.org/drawingml/2006/main"/>
        </p:blipFill>
        <p:spPr>
          <a:xfrm xmlns:a="http://schemas.openxmlformats.org/drawingml/2006/main">
            <a:off x="719138" y="200025"/>
            <a:ext cx="2066925" cy="590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3ABAE97-A482-4C51-AB8A-4FC957C20960}"/>
              </a:ext>
            </a:extLst>
          </p:cNvPr>
          <p:cNvSpPr>
            <a:spLocks xmlns:a="http://schemas.openxmlformats.org/drawingml/2006/main" noGrp="1"/>
          </p:cNvSpPr>
          <p:nvPr/>
        </p:nvSpPr>
        <p:spPr>
          <a:xfrm xmlns:a="http://schemas.openxmlformats.org/drawingml/2006/main">
            <a:off x="8096250" y="3238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19" b="1" i="0">
                <a:solidFill>
                  <a:srgbClr val="9D4E24"/>
                </a:solidFill>
                <a:latin typeface="Arial"/>
                <a:ea typeface="Arial"/>
                <a:cs typeface="Arial"/>
              </a:defRPr>
            </a:pPr>
            <a:r>
              <a:rPr sz="819" b="1" i="0">
                <a:solidFill>
                  <a:srgbClr val="9D4E24"/>
                </a:solidFill>
                <a:latin typeface="Arial"/>
                <a:ea typeface="Arial"/>
                <a:cs typeface="Arial"/>
              </a:rPr>
              <a:t>VALIDATION PATH</a:t>
            </a:r>
          </a:p>
        </p:txBody>
      </p:sp>
      <p:sp>
        <p:nvSpPr>
          <p:cNvPr id="4" name="">
            <a:extLst xmlns:a="http://schemas.openxmlformats.org/drawingml/2006/main">
              <a:ext uri="{FF2B5EF4-FFF2-40B4-BE49-F238E27FC236}">
                <a16:creationId xmlns:a16="http://schemas.microsoft.com/office/drawing/2014/main" id="{A9D9B8D4-7A2F-45E6-82B8-D279976E2F48}"/>
              </a:ext>
            </a:extLst>
          </p:cNvPr>
          <p:cNvSpPr>
            <a:spLocks xmlns:a="http://schemas.openxmlformats.org/drawingml/2006/main" noGrp="1"/>
          </p:cNvSpPr>
          <p:nvPr/>
        </p:nvSpPr>
        <p:spPr>
          <a:xfrm xmlns:a="http://schemas.openxmlformats.org/drawingml/2006/main">
            <a:off x="11334750" y="3238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19" b="1" i="0">
                <a:solidFill>
                  <a:srgbClr val="8B9094"/>
                </a:solidFill>
                <a:latin typeface="Arial"/>
                <a:ea typeface="Arial"/>
                <a:cs typeface="Arial"/>
              </a:defRPr>
            </a:pPr>
            <a:r>
              <a:rPr sz="819" b="1" i="0">
                <a:solidFill>
                  <a:srgbClr val="8B9094"/>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9E22B7DA-FF50-4999-9E1F-7DC40D90AC37}"/>
              </a:ext>
            </a:extLst>
          </p:cNvPr>
          <p:cNvSpPr>
            <a:spLocks xmlns:a="http://schemas.openxmlformats.org/drawingml/2006/main" noGrp="1"/>
          </p:cNvSpPr>
          <p:nvPr/>
        </p:nvSpPr>
        <p:spPr>
          <a:xfrm xmlns:a="http://schemas.openxmlformats.org/drawingml/2006/main">
            <a:off x="552450" y="876300"/>
            <a:ext cx="1104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82" b="1" i="0">
                <a:solidFill>
                  <a:srgbClr val="9D4E24"/>
                </a:solidFill>
                <a:latin typeface="Arial"/>
                <a:ea typeface="Arial"/>
                <a:cs typeface="Arial"/>
              </a:defRPr>
            </a:pPr>
            <a:r>
              <a:rPr sz="882" b="1" i="0">
                <a:solidFill>
                  <a:srgbClr val="9D4E24"/>
                </a:solidFill>
                <a:latin typeface="Arial"/>
                <a:ea typeface="Arial"/>
                <a:cs typeface="Arial"/>
              </a:rPr>
              <a:t>ONE LIVE SCOPE</a:t>
            </a:r>
          </a:p>
        </p:txBody>
      </p:sp>
      <p:sp>
        <p:nvSpPr>
          <p:cNvPr id="6" name="">
            <a:extLst xmlns:a="http://schemas.openxmlformats.org/drawingml/2006/main">
              <a:ext uri="{FF2B5EF4-FFF2-40B4-BE49-F238E27FC236}">
                <a16:creationId xmlns:a16="http://schemas.microsoft.com/office/drawing/2014/main" id="{C5ABED4F-19E1-4982-A1D1-521AEF1B0B12}"/>
              </a:ext>
            </a:extLst>
          </p:cNvPr>
          <p:cNvSpPr>
            <a:spLocks xmlns:a="http://schemas.openxmlformats.org/drawingml/2006/main" noGrp="1"/>
          </p:cNvSpPr>
          <p:nvPr/>
        </p:nvSpPr>
        <p:spPr>
          <a:xfrm xmlns:a="http://schemas.openxmlformats.org/drawingml/2006/main">
            <a:off x="552450" y="118110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296"/>
          </a:bodyPr>
          <a:lstStyle xmlns:a="http://schemas.openxmlformats.org/drawingml/2006/main"/>
          <a:p xmlns:a="http://schemas.openxmlformats.org/drawingml/2006/main">
            <a:pPr algn="l">
              <a:lnSpc>
                <a:spcPct val="94000"/>
              </a:lnSpc>
              <a:buNone/>
              <a:defRPr sz="2925" b="1" i="0">
                <a:solidFill>
                  <a:srgbClr val="17191C"/>
                </a:solidFill>
                <a:latin typeface="Arial"/>
                <a:ea typeface="Arial"/>
                <a:cs typeface="Arial"/>
              </a:defRPr>
            </a:pPr>
            <a:r>
              <a:rPr sz="2925" b="1" i="0">
                <a:solidFill>
                  <a:srgbClr val="17191C"/>
                </a:solidFill>
                <a:latin typeface="Arial"/>
                <a:ea typeface="Arial"/>
                <a:cs typeface="Arial"/>
              </a:rPr>
              <a:t>One live scope can prove—or disprove—the case before NRG expands it.</a:t>
            </a:r>
          </a:p>
        </p:txBody>
      </p:sp>
      <p:sp>
        <p:nvSpPr>
          <p:cNvPr id="7" name="">
            <a:extLst xmlns:a="http://schemas.openxmlformats.org/drawingml/2006/main">
              <a:ext uri="{FF2B5EF4-FFF2-40B4-BE49-F238E27FC236}">
                <a16:creationId xmlns:a16="http://schemas.microsoft.com/office/drawing/2014/main" id="{7B467C56-AE84-4523-8A09-974155F913ED}"/>
              </a:ext>
            </a:extLst>
          </p:cNvPr>
          <p:cNvSpPr>
            <a:spLocks xmlns:a="http://schemas.openxmlformats.org/drawingml/2006/main" noGrp="1"/>
          </p:cNvSpPr>
          <p:nvPr/>
        </p:nvSpPr>
        <p:spPr>
          <a:xfrm xmlns:a="http://schemas.openxmlformats.org/drawingml/2006/main">
            <a:off x="552450" y="18859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6A6F73"/>
                </a:solidFill>
                <a:latin typeface="Arial"/>
                <a:ea typeface="Arial"/>
                <a:cs typeface="Arial"/>
              </a:defRPr>
            </a:pPr>
            <a:r>
              <a:rPr sz="1425" b="0" i="0">
                <a:solidFill>
                  <a:srgbClr val="6A6F73"/>
                </a:solidFill>
                <a:latin typeface="Arial"/>
                <a:ea typeface="Arial"/>
                <a:cs typeface="Arial"/>
              </a:rPr>
              <a:t>NRG selects the starting scope: one live package, conversion/uprate screen or planned-outage replacement.</a:t>
            </a:r>
          </a:p>
        </p:txBody>
      </p:sp>
      <p:sp>
        <p:nvSpPr>
          <p:cNvPr id="8" name="">
            <a:extLst xmlns:a="http://schemas.openxmlformats.org/drawingml/2006/main">
              <a:ext uri="{FF2B5EF4-FFF2-40B4-BE49-F238E27FC236}">
                <a16:creationId xmlns:a16="http://schemas.microsoft.com/office/drawing/2014/main" id="{1B18CD6F-FAD1-4542-9104-F794B20E649E}"/>
              </a:ext>
            </a:extLst>
          </p:cNvPr>
          <p:cNvSpPr>
            <a:spLocks xmlns:a="http://schemas.openxmlformats.org/drawingml/2006/main" noGrp="1"/>
          </p:cNvSpPr>
          <p:nvPr/>
        </p:nvSpPr>
        <p:spPr>
          <a:xfrm xmlns:a="http://schemas.openxmlformats.org/drawingml/2006/main">
            <a:off x="1714500" y="3133725"/>
            <a:ext cx="8743950" cy="0"/>
          </a:xfrm>
          <a:prstGeom xmlns:a="http://schemas.openxmlformats.org/drawingml/2006/main" prst="line">
            <a:avLst/>
          </a:prstGeom>
          <a:noFill xmlns:a="http://schemas.openxmlformats.org/drawingml/2006/main"/>
          <a:ln xmlns:a="http://schemas.openxmlformats.org/drawingml/2006/main" w="38100">
            <a:solidFill>
              <a:srgbClr val="C9783E"/>
            </a:solidFill>
            <a:prstDash val="solid"/>
          </a:ln>
        </p:spPr>
      </p:sp>
      <p:sp>
        <p:nvSpPr>
          <p:cNvPr id="9" name="">
            <a:extLst xmlns:a="http://schemas.openxmlformats.org/drawingml/2006/main">
              <a:ext uri="{FF2B5EF4-FFF2-40B4-BE49-F238E27FC236}">
                <a16:creationId xmlns:a16="http://schemas.microsoft.com/office/drawing/2014/main" id="{77FB7608-3F72-4762-A223-E4CD655D06BC}"/>
              </a:ext>
            </a:extLst>
          </p:cNvPr>
          <p:cNvSpPr>
            <a:spLocks xmlns:a="http://schemas.openxmlformats.org/drawingml/2006/main" noGrp="1"/>
          </p:cNvSpPr>
          <p:nvPr/>
        </p:nvSpPr>
        <p:spPr>
          <a:xfrm xmlns:a="http://schemas.openxmlformats.org/drawingml/2006/main">
            <a:off x="1524000" y="2943225"/>
            <a:ext cx="381000" cy="38100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5C424C8-E27E-4777-98E6-33313A9FF224}"/>
              </a:ext>
            </a:extLst>
          </p:cNvPr>
          <p:cNvSpPr>
            <a:spLocks xmlns:a="http://schemas.openxmlformats.org/drawingml/2006/main" noGrp="1"/>
          </p:cNvSpPr>
          <p:nvPr/>
        </p:nvSpPr>
        <p:spPr>
          <a:xfrm xmlns:a="http://schemas.openxmlformats.org/drawingml/2006/main">
            <a:off x="1552575" y="300037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819" b="1" i="0">
                <a:solidFill>
                  <a:srgbClr val="FFFFFF"/>
                </a:solidFill>
                <a:latin typeface="Arial"/>
                <a:ea typeface="Arial"/>
                <a:cs typeface="Arial"/>
              </a:defRPr>
            </a:pPr>
            <a:r>
              <a:rPr sz="819" b="1" i="0">
                <a:solidFill>
                  <a:srgbClr val="FFFFFF"/>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FEBC0D98-DE4B-45ED-9FE2-02949D37CECB}"/>
              </a:ext>
            </a:extLst>
          </p:cNvPr>
          <p:cNvSpPr>
            <a:spLocks xmlns:a="http://schemas.openxmlformats.org/drawingml/2006/main" noGrp="1"/>
          </p:cNvSpPr>
          <p:nvPr/>
        </p:nvSpPr>
        <p:spPr>
          <a:xfrm xmlns:a="http://schemas.openxmlformats.org/drawingml/2006/main">
            <a:off x="571500" y="35433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97" b="1" i="0">
                <a:solidFill>
                  <a:srgbClr val="9D4E24"/>
                </a:solidFill>
                <a:latin typeface="Arial"/>
                <a:ea typeface="Arial"/>
                <a:cs typeface="Arial"/>
              </a:defRPr>
            </a:pPr>
            <a:r>
              <a:rPr sz="1197" b="1" i="0">
                <a:solidFill>
                  <a:srgbClr val="9D4E24"/>
                </a:solidFill>
                <a:latin typeface="Arial"/>
                <a:ea typeface="Arial"/>
                <a:cs typeface="Arial"/>
              </a:rPr>
              <a:t>SELECT SCOPE</a:t>
            </a:r>
          </a:p>
        </p:txBody>
      </p:sp>
      <p:sp>
        <p:nvSpPr>
          <p:cNvPr id="12" name="">
            <a:extLst xmlns:a="http://schemas.openxmlformats.org/drawingml/2006/main">
              <a:ext uri="{FF2B5EF4-FFF2-40B4-BE49-F238E27FC236}">
                <a16:creationId xmlns:a16="http://schemas.microsoft.com/office/drawing/2014/main" id="{81CD6648-3D0D-4368-B77F-F895BB12BA16}"/>
              </a:ext>
            </a:extLst>
          </p:cNvPr>
          <p:cNvSpPr>
            <a:spLocks xmlns:a="http://schemas.openxmlformats.org/drawingml/2006/main" noGrp="1"/>
          </p:cNvSpPr>
          <p:nvPr/>
        </p:nvSpPr>
        <p:spPr>
          <a:xfrm xmlns:a="http://schemas.openxmlformats.org/drawingml/2006/main">
            <a:off x="571500" y="39433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i="0">
                <a:solidFill>
                  <a:srgbClr val="6A6F73"/>
                </a:solidFill>
                <a:latin typeface="Arial"/>
                <a:ea typeface="Arial"/>
                <a:cs typeface="Arial"/>
              </a:defRPr>
            </a:pPr>
            <a:r>
              <a:rPr sz="1200" b="0" i="0">
                <a:solidFill>
                  <a:srgbClr val="6A6F73"/>
                </a:solidFill>
                <a:latin typeface="Arial"/>
                <a:ea typeface="Arial"/>
                <a:cs typeface="Arial"/>
              </a:rPr>
              <a:t>One active electrical package</a:t>
            </a:r>
          </a:p>
        </p:txBody>
      </p:sp>
      <p:sp>
        <p:nvSpPr>
          <p:cNvPr id="13" name="">
            <a:extLst xmlns:a="http://schemas.openxmlformats.org/drawingml/2006/main">
              <a:ext uri="{FF2B5EF4-FFF2-40B4-BE49-F238E27FC236}">
                <a16:creationId xmlns:a16="http://schemas.microsoft.com/office/drawing/2014/main" id="{12268B23-D7A4-4665-89C6-2CED9881E608}"/>
              </a:ext>
            </a:extLst>
          </p:cNvPr>
          <p:cNvSpPr>
            <a:spLocks xmlns:a="http://schemas.openxmlformats.org/drawingml/2006/main" noGrp="1"/>
          </p:cNvSpPr>
          <p:nvPr/>
        </p:nvSpPr>
        <p:spPr>
          <a:xfrm xmlns:a="http://schemas.openxmlformats.org/drawingml/2006/main">
            <a:off x="4438650" y="2943225"/>
            <a:ext cx="381000" cy="38100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161213F-6B30-4A83-B799-2D99FAC73582}"/>
              </a:ext>
            </a:extLst>
          </p:cNvPr>
          <p:cNvSpPr>
            <a:spLocks xmlns:a="http://schemas.openxmlformats.org/drawingml/2006/main" noGrp="1"/>
          </p:cNvSpPr>
          <p:nvPr/>
        </p:nvSpPr>
        <p:spPr>
          <a:xfrm xmlns:a="http://schemas.openxmlformats.org/drawingml/2006/main">
            <a:off x="4467225" y="300037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819" b="1" i="0">
                <a:solidFill>
                  <a:srgbClr val="FFFFFF"/>
                </a:solidFill>
                <a:latin typeface="Arial"/>
                <a:ea typeface="Arial"/>
                <a:cs typeface="Arial"/>
              </a:defRPr>
            </a:pPr>
            <a:r>
              <a:rPr sz="819" b="1" i="0">
                <a:solidFill>
                  <a:srgbClr val="FFFFFF"/>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4140F5A5-7842-491B-8D20-9FD737DBE2FB}"/>
              </a:ext>
            </a:extLst>
          </p:cNvPr>
          <p:cNvSpPr>
            <a:spLocks xmlns:a="http://schemas.openxmlformats.org/drawingml/2006/main" noGrp="1"/>
          </p:cNvSpPr>
          <p:nvPr/>
        </p:nvSpPr>
        <p:spPr>
          <a:xfrm xmlns:a="http://schemas.openxmlformats.org/drawingml/2006/main">
            <a:off x="3486150" y="35433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97" b="1" i="0">
                <a:solidFill>
                  <a:srgbClr val="9D4E24"/>
                </a:solidFill>
                <a:latin typeface="Arial"/>
                <a:ea typeface="Arial"/>
                <a:cs typeface="Arial"/>
              </a:defRPr>
            </a:pPr>
            <a:r>
              <a:rPr sz="1197" b="1" i="0">
                <a:solidFill>
                  <a:srgbClr val="9D4E24"/>
                </a:solidFill>
                <a:latin typeface="Arial"/>
                <a:ea typeface="Arial"/>
                <a:cs typeface="Arial"/>
              </a:rPr>
              <a:t>WALK THE WORK</a:t>
            </a:r>
          </a:p>
        </p:txBody>
      </p:sp>
      <p:sp>
        <p:nvSpPr>
          <p:cNvPr id="16" name="">
            <a:extLst xmlns:a="http://schemas.openxmlformats.org/drawingml/2006/main">
              <a:ext uri="{FF2B5EF4-FFF2-40B4-BE49-F238E27FC236}">
                <a16:creationId xmlns:a16="http://schemas.microsoft.com/office/drawing/2014/main" id="{A0ED1B96-AD35-4D5F-BCE9-C6955AB85DCB}"/>
              </a:ext>
            </a:extLst>
          </p:cNvPr>
          <p:cNvSpPr>
            <a:spLocks xmlns:a="http://schemas.openxmlformats.org/drawingml/2006/main" noGrp="1"/>
          </p:cNvSpPr>
          <p:nvPr/>
        </p:nvSpPr>
        <p:spPr>
          <a:xfrm xmlns:a="http://schemas.openxmlformats.org/drawingml/2006/main">
            <a:off x="3486150" y="39433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i="0">
                <a:solidFill>
                  <a:srgbClr val="6A6F73"/>
                </a:solidFill>
                <a:latin typeface="Arial"/>
                <a:ea typeface="Arial"/>
                <a:cs typeface="Arial"/>
              </a:defRPr>
            </a:pPr>
            <a:r>
              <a:rPr sz="1200" b="0" i="0">
                <a:solidFill>
                  <a:srgbClr val="6A6F73"/>
                </a:solidFill>
                <a:latin typeface="Arial"/>
                <a:ea typeface="Arial"/>
                <a:cs typeface="Arial"/>
              </a:rPr>
              <a:t>People closest to execution</a:t>
            </a:r>
          </a:p>
        </p:txBody>
      </p:sp>
      <p:sp>
        <p:nvSpPr>
          <p:cNvPr id="17" name="">
            <a:extLst xmlns:a="http://schemas.openxmlformats.org/drawingml/2006/main">
              <a:ext uri="{FF2B5EF4-FFF2-40B4-BE49-F238E27FC236}">
                <a16:creationId xmlns:a16="http://schemas.microsoft.com/office/drawing/2014/main" id="{3984852D-62CD-40A0-8594-6B48D1BBF3B8}"/>
              </a:ext>
            </a:extLst>
          </p:cNvPr>
          <p:cNvSpPr>
            <a:spLocks xmlns:a="http://schemas.openxmlformats.org/drawingml/2006/main" noGrp="1"/>
          </p:cNvSpPr>
          <p:nvPr/>
        </p:nvSpPr>
        <p:spPr>
          <a:xfrm xmlns:a="http://schemas.openxmlformats.org/drawingml/2006/main">
            <a:off x="7353300" y="2943225"/>
            <a:ext cx="381000" cy="38100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28C0776-D7F7-4A88-B5A2-B555EE433493}"/>
              </a:ext>
            </a:extLst>
          </p:cNvPr>
          <p:cNvSpPr>
            <a:spLocks xmlns:a="http://schemas.openxmlformats.org/drawingml/2006/main" noGrp="1"/>
          </p:cNvSpPr>
          <p:nvPr/>
        </p:nvSpPr>
        <p:spPr>
          <a:xfrm xmlns:a="http://schemas.openxmlformats.org/drawingml/2006/main">
            <a:off x="7381875" y="300037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819" b="1" i="0">
                <a:solidFill>
                  <a:srgbClr val="FFFFFF"/>
                </a:solidFill>
                <a:latin typeface="Arial"/>
                <a:ea typeface="Arial"/>
                <a:cs typeface="Arial"/>
              </a:defRPr>
            </a:pPr>
            <a:r>
              <a:rPr sz="819" b="1" i="0">
                <a:solidFill>
                  <a:srgbClr val="FFFFFF"/>
                </a:solidFill>
                <a:latin typeface="Arial"/>
                <a:ea typeface="Arial"/>
                <a:cs typeface="Arial"/>
              </a:rPr>
              <a:t>03</a:t>
            </a:r>
          </a:p>
        </p:txBody>
      </p:sp>
      <p:sp>
        <p:nvSpPr>
          <p:cNvPr id="19" name="">
            <a:extLst xmlns:a="http://schemas.openxmlformats.org/drawingml/2006/main">
              <a:ext uri="{FF2B5EF4-FFF2-40B4-BE49-F238E27FC236}">
                <a16:creationId xmlns:a16="http://schemas.microsoft.com/office/drawing/2014/main" id="{31A59F52-B2A9-4422-BCEC-BDC6CB36D6CA}"/>
              </a:ext>
            </a:extLst>
          </p:cNvPr>
          <p:cNvSpPr>
            <a:spLocks xmlns:a="http://schemas.openxmlformats.org/drawingml/2006/main" noGrp="1"/>
          </p:cNvSpPr>
          <p:nvPr/>
        </p:nvSpPr>
        <p:spPr>
          <a:xfrm xmlns:a="http://schemas.openxmlformats.org/drawingml/2006/main">
            <a:off x="6400800" y="35433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97" b="1" i="0">
                <a:solidFill>
                  <a:srgbClr val="9D4E24"/>
                </a:solidFill>
                <a:latin typeface="Arial"/>
                <a:ea typeface="Arial"/>
                <a:cs typeface="Arial"/>
              </a:defRPr>
            </a:pPr>
            <a:r>
              <a:rPr sz="1197" b="1" i="0">
                <a:solidFill>
                  <a:srgbClr val="9D4E24"/>
                </a:solidFill>
                <a:latin typeface="Arial"/>
                <a:ea typeface="Arial"/>
                <a:cs typeface="Arial"/>
              </a:rPr>
              <a:t>MAP THE RISK</a:t>
            </a:r>
          </a:p>
        </p:txBody>
      </p:sp>
      <p:sp>
        <p:nvSpPr>
          <p:cNvPr id="20" name="">
            <a:extLst xmlns:a="http://schemas.openxmlformats.org/drawingml/2006/main">
              <a:ext uri="{FF2B5EF4-FFF2-40B4-BE49-F238E27FC236}">
                <a16:creationId xmlns:a16="http://schemas.microsoft.com/office/drawing/2014/main" id="{2F43704E-D542-4DA0-B5E5-CDA2450CC1A4}"/>
              </a:ext>
            </a:extLst>
          </p:cNvPr>
          <p:cNvSpPr>
            <a:spLocks xmlns:a="http://schemas.openxmlformats.org/drawingml/2006/main" noGrp="1"/>
          </p:cNvSpPr>
          <p:nvPr/>
        </p:nvSpPr>
        <p:spPr>
          <a:xfrm xmlns:a="http://schemas.openxmlformats.org/drawingml/2006/main">
            <a:off x="6400800" y="39433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i="0">
                <a:solidFill>
                  <a:srgbClr val="6A6F73"/>
                </a:solidFill>
                <a:latin typeface="Arial"/>
                <a:ea typeface="Arial"/>
                <a:cs typeface="Arial"/>
              </a:defRPr>
            </a:pPr>
            <a:r>
              <a:rPr sz="1200" b="0" i="0">
                <a:solidFill>
                  <a:srgbClr val="6A6F73"/>
                </a:solidFill>
                <a:latin typeface="Arial"/>
                <a:ea typeface="Arial"/>
                <a:cs typeface="Arial"/>
              </a:rPr>
              <a:t>Interfaces, releases, constraints + repetition</a:t>
            </a:r>
          </a:p>
        </p:txBody>
      </p:sp>
      <p:sp>
        <p:nvSpPr>
          <p:cNvPr id="21" name="">
            <a:extLst xmlns:a="http://schemas.openxmlformats.org/drawingml/2006/main">
              <a:ext uri="{FF2B5EF4-FFF2-40B4-BE49-F238E27FC236}">
                <a16:creationId xmlns:a16="http://schemas.microsoft.com/office/drawing/2014/main" id="{3F226CA3-82E9-421A-AD1E-457B574C896C}"/>
              </a:ext>
            </a:extLst>
          </p:cNvPr>
          <p:cNvSpPr>
            <a:spLocks xmlns:a="http://schemas.openxmlformats.org/drawingml/2006/main" noGrp="1"/>
          </p:cNvSpPr>
          <p:nvPr/>
        </p:nvSpPr>
        <p:spPr>
          <a:xfrm xmlns:a="http://schemas.openxmlformats.org/drawingml/2006/main">
            <a:off x="10267950" y="2943225"/>
            <a:ext cx="381000" cy="381000"/>
          </a:xfrm>
          <a:prstGeom xmlns:a="http://schemas.openxmlformats.org/drawingml/2006/main" prst="ellipse">
            <a:avLst/>
          </a:prstGeom>
          <a:solidFill xmlns:a="http://schemas.openxmlformats.org/drawingml/2006/main">
            <a:srgbClr val="9D4E2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5977B31-4638-490D-831C-B42F263F9EDD}"/>
              </a:ext>
            </a:extLst>
          </p:cNvPr>
          <p:cNvSpPr>
            <a:spLocks xmlns:a="http://schemas.openxmlformats.org/drawingml/2006/main" noGrp="1"/>
          </p:cNvSpPr>
          <p:nvPr/>
        </p:nvSpPr>
        <p:spPr>
          <a:xfrm xmlns:a="http://schemas.openxmlformats.org/drawingml/2006/main">
            <a:off x="10296525" y="300037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819" b="1" i="0">
                <a:solidFill>
                  <a:srgbClr val="FFFFFF"/>
                </a:solidFill>
                <a:latin typeface="Arial"/>
                <a:ea typeface="Arial"/>
                <a:cs typeface="Arial"/>
              </a:defRPr>
            </a:pPr>
            <a:r>
              <a:rPr sz="819" b="1" i="0">
                <a:solidFill>
                  <a:srgbClr val="FFFFFF"/>
                </a:solidFill>
                <a:latin typeface="Arial"/>
                <a:ea typeface="Arial"/>
                <a:cs typeface="Arial"/>
              </a:rPr>
              <a:t>04</a:t>
            </a:r>
          </a:p>
        </p:txBody>
      </p:sp>
      <p:sp>
        <p:nvSpPr>
          <p:cNvPr id="23" name="">
            <a:extLst xmlns:a="http://schemas.openxmlformats.org/drawingml/2006/main">
              <a:ext uri="{FF2B5EF4-FFF2-40B4-BE49-F238E27FC236}">
                <a16:creationId xmlns:a16="http://schemas.microsoft.com/office/drawing/2014/main" id="{0A83C44C-4ECF-4BBC-8052-84B63F67E5CB}"/>
              </a:ext>
            </a:extLst>
          </p:cNvPr>
          <p:cNvSpPr>
            <a:spLocks xmlns:a="http://schemas.openxmlformats.org/drawingml/2006/main" noGrp="1"/>
          </p:cNvSpPr>
          <p:nvPr/>
        </p:nvSpPr>
        <p:spPr>
          <a:xfrm xmlns:a="http://schemas.openxmlformats.org/drawingml/2006/main">
            <a:off x="9315450" y="35433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97" b="1" i="0">
                <a:solidFill>
                  <a:srgbClr val="9D4E24"/>
                </a:solidFill>
                <a:latin typeface="Arial"/>
                <a:ea typeface="Arial"/>
                <a:cs typeface="Arial"/>
              </a:defRPr>
            </a:pPr>
            <a:r>
              <a:rPr sz="1197" b="1" i="0">
                <a:solidFill>
                  <a:srgbClr val="9D4E24"/>
                </a:solidFill>
                <a:latin typeface="Arial"/>
                <a:ea typeface="Arial"/>
                <a:cs typeface="Arial"/>
              </a:rPr>
              <a:t>DECIDE</a:t>
            </a:r>
          </a:p>
        </p:txBody>
      </p:sp>
      <p:sp>
        <p:nvSpPr>
          <p:cNvPr id="24" name="">
            <a:extLst xmlns:a="http://schemas.openxmlformats.org/drawingml/2006/main">
              <a:ext uri="{FF2B5EF4-FFF2-40B4-BE49-F238E27FC236}">
                <a16:creationId xmlns:a16="http://schemas.microsoft.com/office/drawing/2014/main" id="{5A8CFB66-F8CA-46AE-B743-9928828FA80B}"/>
              </a:ext>
            </a:extLst>
          </p:cNvPr>
          <p:cNvSpPr>
            <a:spLocks xmlns:a="http://schemas.openxmlformats.org/drawingml/2006/main" noGrp="1"/>
          </p:cNvSpPr>
          <p:nvPr/>
        </p:nvSpPr>
        <p:spPr>
          <a:xfrm xmlns:a="http://schemas.openxmlformats.org/drawingml/2006/main">
            <a:off x="9315450" y="39433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i="0">
                <a:solidFill>
                  <a:srgbClr val="6A6F73"/>
                </a:solidFill>
                <a:latin typeface="Arial"/>
                <a:ea typeface="Arial"/>
                <a:cs typeface="Arial"/>
              </a:defRPr>
            </a:pPr>
            <a:r>
              <a:rPr sz="1200" b="0" i="0">
                <a:solidFill>
                  <a:srgbClr val="6A6F73"/>
                </a:solidFill>
                <a:latin typeface="Arial"/>
                <a:ea typeface="Arial"/>
                <a:cs typeface="Arial"/>
              </a:rPr>
              <a:t>Stop, standardize or pilot</a:t>
            </a:r>
          </a:p>
        </p:txBody>
      </p:sp>
      <p:sp>
        <p:nvSpPr>
          <p:cNvPr id="25" name="">
            <a:extLst xmlns:a="http://schemas.openxmlformats.org/drawingml/2006/main">
              <a:ext uri="{FF2B5EF4-FFF2-40B4-BE49-F238E27FC236}">
                <a16:creationId xmlns:a16="http://schemas.microsoft.com/office/drawing/2014/main" id="{6627BF63-4301-4D2E-AB17-9762F76238F8}"/>
              </a:ext>
            </a:extLst>
          </p:cNvPr>
          <p:cNvSpPr>
            <a:spLocks xmlns:a="http://schemas.openxmlformats.org/drawingml/2006/main" noGrp="1"/>
          </p:cNvSpPr>
          <p:nvPr/>
        </p:nvSpPr>
        <p:spPr>
          <a:xfrm xmlns:a="http://schemas.openxmlformats.org/drawingml/2006/main" rot="0">
            <a:off x="552450" y="4829175"/>
            <a:ext cx="11087100" cy="1304925"/>
          </a:xfrm>
          <a:prstGeom xmlns:a="http://schemas.openxmlformats.org/drawingml/2006/main" prst="rect">
            <a:avLst/>
          </a:prstGeom>
          <a:solidFill xmlns:a="http://schemas.openxmlformats.org/drawingml/2006/main">
            <a:srgbClr val="F2E3D8"/>
          </a:solidFill>
          <a:ln xmlns:a="http://schemas.openxmlformats.org/drawingml/2006/main" w="9525">
            <a:solidFill>
              <a:srgbClr val="E0C4B0"/>
            </a:solidFill>
            <a:prstDash val="solid"/>
          </a:ln>
        </p:spPr>
      </p:sp>
      <p:sp>
        <p:nvSpPr>
          <p:cNvPr id="26" name="">
            <a:extLst xmlns:a="http://schemas.openxmlformats.org/drawingml/2006/main">
              <a:ext uri="{FF2B5EF4-FFF2-40B4-BE49-F238E27FC236}">
                <a16:creationId xmlns:a16="http://schemas.microsoft.com/office/drawing/2014/main" id="{B505F57C-E518-493A-A640-19DF682E6E3C}"/>
              </a:ext>
            </a:extLst>
          </p:cNvPr>
          <p:cNvSpPr>
            <a:spLocks xmlns:a="http://schemas.openxmlformats.org/drawingml/2006/main" noGrp="1"/>
          </p:cNvSpPr>
          <p:nvPr/>
        </p:nvSpPr>
        <p:spPr>
          <a:xfrm xmlns:a="http://schemas.openxmlformats.org/drawingml/2006/main">
            <a:off x="781050" y="505777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71" b="1" i="0">
                <a:solidFill>
                  <a:srgbClr val="9D4E24"/>
                </a:solidFill>
                <a:latin typeface="Arial"/>
                <a:ea typeface="Arial"/>
                <a:cs typeface="Arial"/>
              </a:defRPr>
            </a:pPr>
            <a:r>
              <a:rPr sz="1071" b="1" i="0">
                <a:solidFill>
                  <a:srgbClr val="9D4E24"/>
                </a:solidFill>
                <a:latin typeface="Arial"/>
                <a:ea typeface="Arial"/>
                <a:cs typeface="Arial"/>
              </a:rPr>
              <a:t>WRITTEN READ-BACK</a:t>
            </a:r>
          </a:p>
        </p:txBody>
      </p:sp>
      <p:sp>
        <p:nvSpPr>
          <p:cNvPr id="27" name="">
            <a:extLst xmlns:a="http://schemas.openxmlformats.org/drawingml/2006/main">
              <a:ext uri="{FF2B5EF4-FFF2-40B4-BE49-F238E27FC236}">
                <a16:creationId xmlns:a16="http://schemas.microsoft.com/office/drawing/2014/main" id="{CC3835A7-613D-4054-BAAA-7005CBA59D87}"/>
              </a:ext>
            </a:extLst>
          </p:cNvPr>
          <p:cNvSpPr>
            <a:spLocks xmlns:a="http://schemas.openxmlformats.org/drawingml/2006/main" noGrp="1"/>
          </p:cNvSpPr>
          <p:nvPr/>
        </p:nvSpPr>
        <p:spPr>
          <a:xfrm xmlns:a="http://schemas.openxmlformats.org/drawingml/2006/main">
            <a:off x="3305175" y="5038725"/>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7191C"/>
                </a:solidFill>
                <a:latin typeface="Arial"/>
                <a:ea typeface="Arial"/>
                <a:cs typeface="Arial"/>
              </a:defRPr>
            </a:pPr>
            <a:r>
              <a:rPr sz="1350" b="1" i="0">
                <a:solidFill>
                  <a:srgbClr val="17191C"/>
                </a:solidFill>
                <a:latin typeface="Arial"/>
                <a:ea typeface="Arial"/>
                <a:cs typeface="Arial"/>
              </a:rPr>
              <a:t>Milestone exposure</a:t>
            </a:r>
          </a:p>
        </p:txBody>
      </p:sp>
      <p:sp>
        <p:nvSpPr>
          <p:cNvPr id="28" name="">
            <a:extLst xmlns:a="http://schemas.openxmlformats.org/drawingml/2006/main">
              <a:ext uri="{FF2B5EF4-FFF2-40B4-BE49-F238E27FC236}">
                <a16:creationId xmlns:a16="http://schemas.microsoft.com/office/drawing/2014/main" id="{06461B3C-2622-4929-8DE8-6495088A06BA}"/>
              </a:ext>
            </a:extLst>
          </p:cNvPr>
          <p:cNvSpPr>
            <a:spLocks xmlns:a="http://schemas.openxmlformats.org/drawingml/2006/main" noGrp="1"/>
          </p:cNvSpPr>
          <p:nvPr/>
        </p:nvSpPr>
        <p:spPr>
          <a:xfrm xmlns:a="http://schemas.openxmlformats.org/drawingml/2006/main">
            <a:off x="3305175" y="543877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7191C"/>
                </a:solidFill>
                <a:latin typeface="Arial"/>
                <a:ea typeface="Arial"/>
                <a:cs typeface="Arial"/>
              </a:defRPr>
            </a:pPr>
            <a:r>
              <a:rPr sz="1350" b="1" i="0">
                <a:solidFill>
                  <a:srgbClr val="17191C"/>
                </a:solidFill>
                <a:latin typeface="Arial"/>
                <a:ea typeface="Arial"/>
                <a:cs typeface="Arial"/>
              </a:rPr>
              <a:t>Route, reel + release constraints</a:t>
            </a:r>
          </a:p>
        </p:txBody>
      </p:sp>
      <p:sp>
        <p:nvSpPr>
          <p:cNvPr id="29" name="">
            <a:extLst xmlns:a="http://schemas.openxmlformats.org/drawingml/2006/main">
              <a:ext uri="{FF2B5EF4-FFF2-40B4-BE49-F238E27FC236}">
                <a16:creationId xmlns:a16="http://schemas.microsoft.com/office/drawing/2014/main" id="{C13261F5-966B-44FA-9121-0D3FF6B2B334}"/>
              </a:ext>
            </a:extLst>
          </p:cNvPr>
          <p:cNvSpPr>
            <a:spLocks xmlns:a="http://schemas.openxmlformats.org/drawingml/2006/main" noGrp="1"/>
          </p:cNvSpPr>
          <p:nvPr/>
        </p:nvSpPr>
        <p:spPr>
          <a:xfrm xmlns:a="http://schemas.openxmlformats.org/drawingml/2006/main">
            <a:off x="6191250" y="5038725"/>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7191C"/>
                </a:solidFill>
                <a:latin typeface="Arial"/>
                <a:ea typeface="Arial"/>
                <a:cs typeface="Arial"/>
              </a:defRPr>
            </a:pPr>
            <a:r>
              <a:rPr sz="1350" b="1" i="0">
                <a:solidFill>
                  <a:srgbClr val="17191C"/>
                </a:solidFill>
                <a:latin typeface="Arial"/>
                <a:ea typeface="Arial"/>
                <a:cs typeface="Arial"/>
              </a:rPr>
              <a:t>Repeatable-interface candidates</a:t>
            </a:r>
          </a:p>
        </p:txBody>
      </p:sp>
      <p:sp>
        <p:nvSpPr>
          <p:cNvPr id="30" name="">
            <a:extLst xmlns:a="http://schemas.openxmlformats.org/drawingml/2006/main">
              <a:ext uri="{FF2B5EF4-FFF2-40B4-BE49-F238E27FC236}">
                <a16:creationId xmlns:a16="http://schemas.microsoft.com/office/drawing/2014/main" id="{A4CFA833-7555-4885-B8FA-6895A39AA892}"/>
              </a:ext>
            </a:extLst>
          </p:cNvPr>
          <p:cNvSpPr>
            <a:spLocks xmlns:a="http://schemas.openxmlformats.org/drawingml/2006/main" noGrp="1"/>
          </p:cNvSpPr>
          <p:nvPr/>
        </p:nvSpPr>
        <p:spPr>
          <a:xfrm xmlns:a="http://schemas.openxmlformats.org/drawingml/2006/main">
            <a:off x="6191250" y="543877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7191C"/>
                </a:solidFill>
                <a:latin typeface="Arial"/>
                <a:ea typeface="Arial"/>
                <a:cs typeface="Arial"/>
              </a:defRPr>
            </a:pPr>
            <a:r>
              <a:rPr sz="1350" b="1" i="0">
                <a:solidFill>
                  <a:srgbClr val="17191C"/>
                </a:solidFill>
                <a:latin typeface="Arial"/>
                <a:ea typeface="Arial"/>
                <a:cs typeface="Arial"/>
              </a:rPr>
              <a:t>Decision gaps + recommendation</a:t>
            </a:r>
          </a:p>
        </p:txBody>
      </p:sp>
      <p:sp>
        <p:nvSpPr>
          <p:cNvPr id="31" name="">
            <a:extLst xmlns:a="http://schemas.openxmlformats.org/drawingml/2006/main">
              <a:ext uri="{FF2B5EF4-FFF2-40B4-BE49-F238E27FC236}">
                <a16:creationId xmlns:a16="http://schemas.microsoft.com/office/drawing/2014/main" id="{98D444A0-F72B-4A5B-A1B7-8DF5519C479B}"/>
              </a:ext>
            </a:extLst>
          </p:cNvPr>
          <p:cNvSpPr>
            <a:spLocks xmlns:a="http://schemas.openxmlformats.org/drawingml/2006/main" noGrp="1"/>
          </p:cNvSpPr>
          <p:nvPr/>
        </p:nvSpPr>
        <p:spPr>
          <a:xfrm xmlns:a="http://schemas.openxmlformats.org/drawingml/2006/main">
            <a:off x="9534525" y="4981575"/>
            <a:ext cx="16002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0000"/>
              </a:lnSpc>
              <a:buNone/>
              <a:defRPr sz="1260" b="1" i="0">
                <a:solidFill>
                  <a:srgbClr val="9D4E24"/>
                </a:solidFill>
                <a:latin typeface="Arial"/>
                <a:ea typeface="Arial"/>
                <a:cs typeface="Arial"/>
              </a:defRPr>
            </a:pPr>
            <a:r>
              <a:rPr sz="1260" b="1" i="0">
                <a:solidFill>
                  <a:srgbClr val="9D4E24"/>
                </a:solidFill>
                <a:latin typeface="Arial"/>
                <a:ea typeface="Arial"/>
                <a:cs typeface="Arial"/>
              </a:rPr>
              <a:t>STOP</a:t>
            </a:r>
          </a:p>
          <a:p xmlns:a="http://schemas.openxmlformats.org/drawingml/2006/main">
            <a:pPr algn="ctr">
              <a:lnSpc>
                <a:spcPct val="90000"/>
              </a:lnSpc>
              <a:buNone/>
              <a:defRPr sz="1260" b="1" i="0">
                <a:solidFill>
                  <a:srgbClr val="9D4E24"/>
                </a:solidFill>
                <a:latin typeface="Arial"/>
                <a:ea typeface="Arial"/>
                <a:cs typeface="Arial"/>
              </a:defRPr>
            </a:pPr>
            <a:r>
              <a:rPr sz="1260" b="1" i="0">
                <a:solidFill>
                  <a:srgbClr val="9D4E24"/>
                </a:solidFill>
                <a:latin typeface="Arial"/>
                <a:ea typeface="Arial"/>
                <a:cs typeface="Arial"/>
              </a:rPr>
              <a:t>STANDARDIZE</a:t>
            </a:r>
          </a:p>
          <a:p xmlns:a="http://schemas.openxmlformats.org/drawingml/2006/main">
            <a:pPr algn="ctr">
              <a:lnSpc>
                <a:spcPct val="90000"/>
              </a:lnSpc>
              <a:buNone/>
              <a:defRPr sz="1260" b="1" i="0">
                <a:solidFill>
                  <a:srgbClr val="9D4E24"/>
                </a:solidFill>
                <a:latin typeface="Arial"/>
                <a:ea typeface="Arial"/>
                <a:cs typeface="Arial"/>
              </a:defRPr>
            </a:pPr>
            <a:r>
              <a:rPr sz="1260" b="1" i="0">
                <a:solidFill>
                  <a:srgbClr val="9D4E24"/>
                </a:solidFill>
                <a:latin typeface="Arial"/>
                <a:ea typeface="Arial"/>
                <a:cs typeface="Arial"/>
              </a:rPr>
              <a:t>PILOT</a:t>
            </a:r>
          </a:p>
        </p:txBody>
      </p:sp>
      <p:sp>
        <p:nvSpPr>
          <p:cNvPr id="32" name="">
            <a:extLst xmlns:a="http://schemas.openxmlformats.org/drawingml/2006/main">
              <a:ext uri="{FF2B5EF4-FFF2-40B4-BE49-F238E27FC236}">
                <a16:creationId xmlns:a16="http://schemas.microsoft.com/office/drawing/2014/main" id="{7BD9FD6F-F406-496E-99AE-88486C2FC3F6}"/>
              </a:ext>
            </a:extLst>
          </p:cNvPr>
          <p:cNvSpPr>
            <a:spLocks xmlns:a="http://schemas.openxmlformats.org/drawingml/2006/main" noGrp="1"/>
          </p:cNvSpPr>
          <p:nvPr/>
        </p:nvSpPr>
        <p:spPr>
          <a:xfrm xmlns:a="http://schemas.openxmlformats.org/drawingml/2006/main">
            <a:off x="552450" y="6391275"/>
            <a:ext cx="11087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0" i="1">
                <a:solidFill>
                  <a:srgbClr val="8B9094"/>
                </a:solidFill>
                <a:latin typeface="Arial"/>
                <a:ea typeface="Arial"/>
                <a:cs typeface="Arial"/>
              </a:defRPr>
            </a:pPr>
            <a:r>
              <a:rPr sz="1050" b="0" i="1">
                <a:solidFill>
                  <a:srgbClr val="8B9094"/>
                </a:solidFill>
                <a:latin typeface="Arial"/>
                <a:ea typeface="Arial"/>
                <a:cs typeface="Arial"/>
              </a:rPr>
              <a:t>No presumption that the answer is prefab—or that Southwire belongs in the solution.</a:t>
            </a:r>
          </a:p>
        </p:txBody>
      </p:sp>
    </p:spTree>
    <p:extLst>
      <p:ext uri="{BB962C8B-B14F-4D97-AF65-F5344CB8AC3E}">
        <p14:creationId xmlns:p14="http://schemas.microsoft.com/office/powerpoint/2010/main" val="1927166737"/>
      </p:ext>
    </p:extLst>
  </p:cSld>
</p:sld>
</file>

<file path=ppt/slides/slide11.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d7090369bf04fb9"/>
          <a:srcRect xmlns:a="http://schemas.openxmlformats.org/drawingml/2006/main" l="0" t="11345" r="0" b="11345"/>
          <a:stretch xmlns:a="http://schemas.openxmlformats.org/drawingml/2006/main">
            <a:fillRect l="0" t="0" r="0" b="0"/>
          </a:stretch>
        </p:blipFill>
        <p:spPr>
          <a:xfrm xmlns:a="http://schemas.openxmlformats.org/drawingml/2006/main">
            <a:off x="0" y="0"/>
            <a:ext cx="24003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9D86577-7FD6-4E7A-9F78-F874D9D61AE8}"/>
              </a:ext>
            </a:extLst>
          </p:cNvPr>
          <p:cNvSpPr>
            <a:spLocks xmlns:a="http://schemas.openxmlformats.org/drawingml/2006/main" noGrp="1"/>
          </p:cNvSpPr>
          <p:nvPr/>
        </p:nvSpPr>
        <p:spPr>
          <a:xfrm xmlns:a="http://schemas.openxmlformats.org/drawingml/2006/main" rot="0">
            <a:off x="2381250" y="0"/>
            <a:ext cx="38100" cy="685800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437F0EE-5C22-46A5-8FF3-6F8A5001D1EB}"/>
              </a:ext>
            </a:extLst>
          </p:cNvPr>
          <p:cNvSpPr>
            <a:spLocks xmlns:a="http://schemas.openxmlformats.org/drawingml/2006/main" noGrp="1"/>
          </p:cNvSpPr>
          <p:nvPr/>
        </p:nvSpPr>
        <p:spPr>
          <a:xfrm xmlns:a="http://schemas.openxmlformats.org/drawingml/2006/main">
            <a:off x="3105150" y="63817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45" b="1" i="0">
                <a:solidFill>
                  <a:srgbClr val="E3A06D"/>
                </a:solidFill>
                <a:latin typeface="Arial"/>
                <a:ea typeface="Arial"/>
                <a:cs typeface="Arial"/>
              </a:defRPr>
            </a:pPr>
            <a:r>
              <a:rPr sz="945" b="1" i="0">
                <a:solidFill>
                  <a:srgbClr val="E3A06D"/>
                </a:solidFill>
                <a:latin typeface="Arial"/>
                <a:ea typeface="Arial"/>
                <a:cs typeface="Arial"/>
              </a:rPr>
              <a:t>THE ASK</a:t>
            </a:r>
          </a:p>
        </p:txBody>
      </p:sp>
      <p:sp>
        <p:nvSpPr>
          <p:cNvPr id="4" name="">
            <a:extLst xmlns:a="http://schemas.openxmlformats.org/drawingml/2006/main">
              <a:ext uri="{FF2B5EF4-FFF2-40B4-BE49-F238E27FC236}">
                <a16:creationId xmlns:a16="http://schemas.microsoft.com/office/drawing/2014/main" id="{5C826A6B-604E-4302-BED6-FAC031836404}"/>
              </a:ext>
            </a:extLst>
          </p:cNvPr>
          <p:cNvSpPr>
            <a:spLocks xmlns:a="http://schemas.openxmlformats.org/drawingml/2006/main" noGrp="1"/>
          </p:cNvSpPr>
          <p:nvPr/>
        </p:nvSpPr>
        <p:spPr>
          <a:xfrm xmlns:a="http://schemas.openxmlformats.org/drawingml/2006/main">
            <a:off x="3105150" y="1066800"/>
            <a:ext cx="7810500" cy="1781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4000"/>
              </a:lnSpc>
              <a:buNone/>
              <a:defRPr sz="3213" b="1" i="0">
                <a:solidFill>
                  <a:srgbClr val="FFFFFF"/>
                </a:solidFill>
                <a:latin typeface="Arial"/>
                <a:ea typeface="Arial"/>
                <a:cs typeface="Arial"/>
              </a:defRPr>
            </a:pPr>
            <a:r>
              <a:rPr sz="3213" b="1" i="0">
                <a:solidFill>
                  <a:srgbClr val="FFFFFF"/>
                </a:solidFill>
                <a:latin typeface="Arial"/>
                <a:ea typeface="Arial"/>
                <a:cs typeface="Arial"/>
              </a:rPr>
              <a:t>ONE SITE WALK.</a:t>
            </a:r>
          </a:p>
          <a:p xmlns:a="http://schemas.openxmlformats.org/drawingml/2006/main">
            <a:pPr algn="l">
              <a:lnSpc>
                <a:spcPct val="84000"/>
              </a:lnSpc>
              <a:buNone/>
              <a:defRPr sz="3213" b="1" i="0">
                <a:solidFill>
                  <a:srgbClr val="FFFFFF"/>
                </a:solidFill>
                <a:latin typeface="Arial"/>
                <a:ea typeface="Arial"/>
                <a:cs typeface="Arial"/>
              </a:defRPr>
            </a:pPr>
            <a:r>
              <a:rPr sz="3213" b="1" i="0">
                <a:solidFill>
                  <a:srgbClr val="FFFFFF"/>
                </a:solidFill>
                <a:latin typeface="Arial"/>
                <a:ea typeface="Arial"/>
                <a:cs typeface="Arial"/>
              </a:rPr>
              <a:t>ONE HOUR.</a:t>
            </a:r>
          </a:p>
          <a:p xmlns:a="http://schemas.openxmlformats.org/drawingml/2006/main">
            <a:pPr algn="l">
              <a:lnSpc>
                <a:spcPct val="84000"/>
              </a:lnSpc>
              <a:buNone/>
              <a:defRPr sz="3213" b="1" i="0">
                <a:solidFill>
                  <a:srgbClr val="FFFFFF"/>
                </a:solidFill>
                <a:latin typeface="Arial"/>
                <a:ea typeface="Arial"/>
                <a:cs typeface="Arial"/>
              </a:defRPr>
            </a:pPr>
            <a:r>
              <a:rPr sz="3213" b="1" i="0">
                <a:solidFill>
                  <a:srgbClr val="FFFFFF"/>
                </a:solidFill>
                <a:latin typeface="Arial"/>
                <a:ea typeface="Arial"/>
                <a:cs typeface="Arial"/>
              </a:rPr>
              <a:t>NO SALES PRESENTATION.</a:t>
            </a:r>
          </a:p>
        </p:txBody>
      </p:sp>
      <p:sp>
        <p:nvSpPr>
          <p:cNvPr id="5" name="">
            <a:extLst xmlns:a="http://schemas.openxmlformats.org/drawingml/2006/main">
              <a:ext uri="{FF2B5EF4-FFF2-40B4-BE49-F238E27FC236}">
                <a16:creationId xmlns:a16="http://schemas.microsoft.com/office/drawing/2014/main" id="{9512C868-8A71-436C-9D9F-382247C54467}"/>
              </a:ext>
            </a:extLst>
          </p:cNvPr>
          <p:cNvSpPr>
            <a:spLocks xmlns:a="http://schemas.openxmlformats.org/drawingml/2006/main" noGrp="1"/>
          </p:cNvSpPr>
          <p:nvPr/>
        </p:nvSpPr>
        <p:spPr>
          <a:xfrm xmlns:a="http://schemas.openxmlformats.org/drawingml/2006/main">
            <a:off x="3105150" y="3086100"/>
            <a:ext cx="1362075" cy="0"/>
          </a:xfrm>
          <a:prstGeom xmlns:a="http://schemas.openxmlformats.org/drawingml/2006/main" prst="line">
            <a:avLst/>
          </a:prstGeom>
          <a:noFill xmlns:a="http://schemas.openxmlformats.org/drawingml/2006/main"/>
          <a:ln xmlns:a="http://schemas.openxmlformats.org/drawingml/2006/main" w="38100">
            <a:solidFill>
              <a:srgbClr val="C9783E"/>
            </a:solidFill>
            <a:prstDash val="solid"/>
          </a:ln>
        </p:spPr>
      </p:sp>
      <p:sp>
        <p:nvSpPr>
          <p:cNvPr id="6" name="">
            <a:extLst xmlns:a="http://schemas.openxmlformats.org/drawingml/2006/main">
              <a:ext uri="{FF2B5EF4-FFF2-40B4-BE49-F238E27FC236}">
                <a16:creationId xmlns:a16="http://schemas.microsoft.com/office/drawing/2014/main" id="{2A42F160-C0E0-4544-AED1-110B326F93C4}"/>
              </a:ext>
            </a:extLst>
          </p:cNvPr>
          <p:cNvSpPr>
            <a:spLocks xmlns:a="http://schemas.openxmlformats.org/drawingml/2006/main" noGrp="1"/>
          </p:cNvSpPr>
          <p:nvPr/>
        </p:nvSpPr>
        <p:spPr>
          <a:xfrm xmlns:a="http://schemas.openxmlformats.org/drawingml/2006/main">
            <a:off x="3105150" y="3343275"/>
            <a:ext cx="7667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i="0">
                <a:solidFill>
                  <a:srgbClr val="D4D6D8"/>
                </a:solidFill>
                <a:latin typeface="Arial"/>
                <a:ea typeface="Arial"/>
                <a:cs typeface="Arial"/>
              </a:defRPr>
            </a:pPr>
            <a:r>
              <a:rPr sz="1650" b="0" i="0">
                <a:solidFill>
                  <a:srgbClr val="D4D6D8"/>
                </a:solidFill>
                <a:latin typeface="Arial"/>
                <a:ea typeface="Arial"/>
                <a:cs typeface="Arial"/>
              </a:rPr>
              <a:t>Choose one live electrical scope and bring the people closest to execution.</a:t>
            </a:r>
          </a:p>
        </p:txBody>
      </p:sp>
      <p:sp>
        <p:nvSpPr>
          <p:cNvPr id="7" name="">
            <a:extLst xmlns:a="http://schemas.openxmlformats.org/drawingml/2006/main">
              <a:ext uri="{FF2B5EF4-FFF2-40B4-BE49-F238E27FC236}">
                <a16:creationId xmlns:a16="http://schemas.microsoft.com/office/drawing/2014/main" id="{072779A2-3811-4864-A788-4CE9F98FC953}"/>
              </a:ext>
            </a:extLst>
          </p:cNvPr>
          <p:cNvSpPr>
            <a:spLocks xmlns:a="http://schemas.openxmlformats.org/drawingml/2006/main" noGrp="1"/>
          </p:cNvSpPr>
          <p:nvPr/>
        </p:nvSpPr>
        <p:spPr>
          <a:xfrm xmlns:a="http://schemas.openxmlformats.org/drawingml/2006/main">
            <a:off x="3105150" y="4105275"/>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45" b="1" i="0">
                <a:solidFill>
                  <a:srgbClr val="E3A06D"/>
                </a:solidFill>
                <a:latin typeface="Arial"/>
                <a:ea typeface="Arial"/>
                <a:cs typeface="Arial"/>
              </a:defRPr>
            </a:pPr>
            <a:r>
              <a:rPr sz="945" b="1" i="0">
                <a:solidFill>
                  <a:srgbClr val="E3A06D"/>
                </a:solidFill>
                <a:latin typeface="Arial"/>
                <a:ea typeface="Arial"/>
                <a:cs typeface="Arial"/>
              </a:rPr>
              <a:t>INPUT</a:t>
            </a:r>
          </a:p>
        </p:txBody>
      </p:sp>
      <p:sp>
        <p:nvSpPr>
          <p:cNvPr id="8" name="">
            <a:extLst xmlns:a="http://schemas.openxmlformats.org/drawingml/2006/main">
              <a:ext uri="{FF2B5EF4-FFF2-40B4-BE49-F238E27FC236}">
                <a16:creationId xmlns:a16="http://schemas.microsoft.com/office/drawing/2014/main" id="{E5A8B2CE-326E-4BE2-9F47-54E879EFA6D9}"/>
              </a:ext>
            </a:extLst>
          </p:cNvPr>
          <p:cNvSpPr>
            <a:spLocks xmlns:a="http://schemas.openxmlformats.org/drawingml/2006/main" noGrp="1"/>
          </p:cNvSpPr>
          <p:nvPr/>
        </p:nvSpPr>
        <p:spPr>
          <a:xfrm xmlns:a="http://schemas.openxmlformats.org/drawingml/2006/main">
            <a:off x="4695825" y="4067175"/>
            <a:ext cx="6172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One live scope</a:t>
            </a:r>
          </a:p>
        </p:txBody>
      </p:sp>
      <p:sp>
        <p:nvSpPr>
          <p:cNvPr id="9" name="">
            <a:extLst xmlns:a="http://schemas.openxmlformats.org/drawingml/2006/main">
              <a:ext uri="{FF2B5EF4-FFF2-40B4-BE49-F238E27FC236}">
                <a16:creationId xmlns:a16="http://schemas.microsoft.com/office/drawing/2014/main" id="{5C5374F9-5B03-4021-96B6-6CCD936A6882}"/>
              </a:ext>
            </a:extLst>
          </p:cNvPr>
          <p:cNvSpPr>
            <a:spLocks xmlns:a="http://schemas.openxmlformats.org/drawingml/2006/main" noGrp="1"/>
          </p:cNvSpPr>
          <p:nvPr/>
        </p:nvSpPr>
        <p:spPr>
          <a:xfrm xmlns:a="http://schemas.openxmlformats.org/drawingml/2006/main">
            <a:off x="3105150" y="4476750"/>
            <a:ext cx="7762875" cy="0"/>
          </a:xfrm>
          <a:prstGeom xmlns:a="http://schemas.openxmlformats.org/drawingml/2006/main" prst="line">
            <a:avLst/>
          </a:prstGeom>
          <a:noFill xmlns:a="http://schemas.openxmlformats.org/drawingml/2006/main"/>
          <a:ln xmlns:a="http://schemas.openxmlformats.org/drawingml/2006/main" w="9525">
            <a:solidFill>
              <a:srgbClr val="44484D"/>
            </a:solidFill>
            <a:prstDash val="solid"/>
          </a:ln>
        </p:spPr>
      </p:sp>
      <p:sp>
        <p:nvSpPr>
          <p:cNvPr id="10" name="">
            <a:extLst xmlns:a="http://schemas.openxmlformats.org/drawingml/2006/main">
              <a:ext uri="{FF2B5EF4-FFF2-40B4-BE49-F238E27FC236}">
                <a16:creationId xmlns:a16="http://schemas.microsoft.com/office/drawing/2014/main" id="{1A3F6D94-AF4F-4255-AB7C-1618C029A8D4}"/>
              </a:ext>
            </a:extLst>
          </p:cNvPr>
          <p:cNvSpPr>
            <a:spLocks xmlns:a="http://schemas.openxmlformats.org/drawingml/2006/main" noGrp="1"/>
          </p:cNvSpPr>
          <p:nvPr/>
        </p:nvSpPr>
        <p:spPr>
          <a:xfrm xmlns:a="http://schemas.openxmlformats.org/drawingml/2006/main">
            <a:off x="3105150" y="472440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45" b="1" i="0">
                <a:solidFill>
                  <a:srgbClr val="E3A06D"/>
                </a:solidFill>
                <a:latin typeface="Arial"/>
                <a:ea typeface="Arial"/>
                <a:cs typeface="Arial"/>
              </a:defRPr>
            </a:pPr>
            <a:r>
              <a:rPr sz="945" b="1" i="0">
                <a:solidFill>
                  <a:srgbClr val="E3A06D"/>
                </a:solidFill>
                <a:latin typeface="Arial"/>
                <a:ea typeface="Arial"/>
                <a:cs typeface="Arial"/>
              </a:rPr>
              <a:t>OUTPUT</a:t>
            </a:r>
          </a:p>
        </p:txBody>
      </p:sp>
      <p:sp>
        <p:nvSpPr>
          <p:cNvPr id="11" name="">
            <a:extLst xmlns:a="http://schemas.openxmlformats.org/drawingml/2006/main">
              <a:ext uri="{FF2B5EF4-FFF2-40B4-BE49-F238E27FC236}">
                <a16:creationId xmlns:a16="http://schemas.microsoft.com/office/drawing/2014/main" id="{7E990F82-14BA-4C45-81C4-D787E23FD2D7}"/>
              </a:ext>
            </a:extLst>
          </p:cNvPr>
          <p:cNvSpPr>
            <a:spLocks xmlns:a="http://schemas.openxmlformats.org/drawingml/2006/main" noGrp="1"/>
          </p:cNvSpPr>
          <p:nvPr/>
        </p:nvSpPr>
        <p:spPr>
          <a:xfrm xmlns:a="http://schemas.openxmlformats.org/drawingml/2006/main">
            <a:off x="4695825" y="4686300"/>
            <a:ext cx="6172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Written execution-risk read-back</a:t>
            </a:r>
          </a:p>
        </p:txBody>
      </p:sp>
      <p:sp>
        <p:nvSpPr>
          <p:cNvPr id="12" name="">
            <a:extLst xmlns:a="http://schemas.openxmlformats.org/drawingml/2006/main">
              <a:ext uri="{FF2B5EF4-FFF2-40B4-BE49-F238E27FC236}">
                <a16:creationId xmlns:a16="http://schemas.microsoft.com/office/drawing/2014/main" id="{02D44146-E575-42D6-AFC2-8795605550D2}"/>
              </a:ext>
            </a:extLst>
          </p:cNvPr>
          <p:cNvSpPr>
            <a:spLocks xmlns:a="http://schemas.openxmlformats.org/drawingml/2006/main" noGrp="1"/>
          </p:cNvSpPr>
          <p:nvPr/>
        </p:nvSpPr>
        <p:spPr>
          <a:xfrm xmlns:a="http://schemas.openxmlformats.org/drawingml/2006/main">
            <a:off x="3105150" y="5095875"/>
            <a:ext cx="7762875" cy="0"/>
          </a:xfrm>
          <a:prstGeom xmlns:a="http://schemas.openxmlformats.org/drawingml/2006/main" prst="line">
            <a:avLst/>
          </a:prstGeom>
          <a:noFill xmlns:a="http://schemas.openxmlformats.org/drawingml/2006/main"/>
          <a:ln xmlns:a="http://schemas.openxmlformats.org/drawingml/2006/main" w="9525">
            <a:solidFill>
              <a:srgbClr val="44484D"/>
            </a:solidFill>
            <a:prstDash val="solid"/>
          </a:ln>
        </p:spPr>
      </p:sp>
      <p:sp>
        <p:nvSpPr>
          <p:cNvPr id="13" name="">
            <a:extLst xmlns:a="http://schemas.openxmlformats.org/drawingml/2006/main">
              <a:ext uri="{FF2B5EF4-FFF2-40B4-BE49-F238E27FC236}">
                <a16:creationId xmlns:a16="http://schemas.microsoft.com/office/drawing/2014/main" id="{21ADC995-35FC-47B8-98FE-36C2EA790238}"/>
              </a:ext>
            </a:extLst>
          </p:cNvPr>
          <p:cNvSpPr>
            <a:spLocks xmlns:a="http://schemas.openxmlformats.org/drawingml/2006/main" noGrp="1"/>
          </p:cNvSpPr>
          <p:nvPr/>
        </p:nvSpPr>
        <p:spPr>
          <a:xfrm xmlns:a="http://schemas.openxmlformats.org/drawingml/2006/main">
            <a:off x="3105150" y="5343525"/>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45" b="1" i="0">
                <a:solidFill>
                  <a:srgbClr val="E3A06D"/>
                </a:solidFill>
                <a:latin typeface="Arial"/>
                <a:ea typeface="Arial"/>
                <a:cs typeface="Arial"/>
              </a:defRPr>
            </a:pPr>
            <a:r>
              <a:rPr sz="945" b="1" i="0">
                <a:solidFill>
                  <a:srgbClr val="E3A06D"/>
                </a:solidFill>
                <a:latin typeface="Arial"/>
                <a:ea typeface="Arial"/>
                <a:cs typeface="Arial"/>
              </a:rPr>
              <a:t>DECISION</a:t>
            </a:r>
          </a:p>
        </p:txBody>
      </p:sp>
      <p:sp>
        <p:nvSpPr>
          <p:cNvPr id="14" name="">
            <a:extLst xmlns:a="http://schemas.openxmlformats.org/drawingml/2006/main">
              <a:ext uri="{FF2B5EF4-FFF2-40B4-BE49-F238E27FC236}">
                <a16:creationId xmlns:a16="http://schemas.microsoft.com/office/drawing/2014/main" id="{15E9760F-7F0F-4A25-AF32-24A9073EE0DB}"/>
              </a:ext>
            </a:extLst>
          </p:cNvPr>
          <p:cNvSpPr>
            <a:spLocks xmlns:a="http://schemas.openxmlformats.org/drawingml/2006/main" noGrp="1"/>
          </p:cNvSpPr>
          <p:nvPr/>
        </p:nvSpPr>
        <p:spPr>
          <a:xfrm xmlns:a="http://schemas.openxmlformats.org/drawingml/2006/main">
            <a:off x="4695825" y="5305425"/>
            <a:ext cx="6172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Stop, standardize or define a bounded pilot</a:t>
            </a:r>
          </a:p>
        </p:txBody>
      </p:sp>
      <p:sp>
        <p:nvSpPr>
          <p:cNvPr id="15" name="">
            <a:extLst xmlns:a="http://schemas.openxmlformats.org/drawingml/2006/main">
              <a:ext uri="{FF2B5EF4-FFF2-40B4-BE49-F238E27FC236}">
                <a16:creationId xmlns:a16="http://schemas.microsoft.com/office/drawing/2014/main" id="{76C17B67-3E80-460C-A9F3-61D1AF3A45DA}"/>
              </a:ext>
            </a:extLst>
          </p:cNvPr>
          <p:cNvSpPr>
            <a:spLocks xmlns:a="http://schemas.openxmlformats.org/drawingml/2006/main" noGrp="1"/>
          </p:cNvSpPr>
          <p:nvPr/>
        </p:nvSpPr>
        <p:spPr>
          <a:xfrm xmlns:a="http://schemas.openxmlformats.org/drawingml/2006/main">
            <a:off x="3105150" y="6019800"/>
            <a:ext cx="781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71" b="1" i="0">
                <a:solidFill>
                  <a:srgbClr val="E3A06D"/>
                </a:solidFill>
                <a:latin typeface="Arial"/>
                <a:ea typeface="Arial"/>
                <a:cs typeface="Arial"/>
              </a:defRPr>
            </a:pPr>
            <a:r>
              <a:rPr sz="1071" b="1" i="0">
                <a:solidFill>
                  <a:srgbClr val="E3A06D"/>
                </a:solidFill>
                <a:latin typeface="Arial"/>
                <a:ea typeface="Arial"/>
                <a:cs typeface="Arial"/>
              </a:rPr>
              <a:t>NO PRICING EXERCISE. NO BROAD COMMERCIAL COMMITMENT.</a:t>
            </a:r>
          </a:p>
        </p:txBody>
      </p:sp>
      <p:sp>
        <p:nvSpPr>
          <p:cNvPr id="16" name="">
            <a:extLst xmlns:a="http://schemas.openxmlformats.org/drawingml/2006/main">
              <a:ext uri="{FF2B5EF4-FFF2-40B4-BE49-F238E27FC236}">
                <a16:creationId xmlns:a16="http://schemas.microsoft.com/office/drawing/2014/main" id="{EA48E470-C0A2-46EA-B882-4B0BC7C704A2}"/>
              </a:ext>
            </a:extLst>
          </p:cNvPr>
          <p:cNvSpPr>
            <a:spLocks xmlns:a="http://schemas.openxmlformats.org/drawingml/2006/main" noGrp="1"/>
          </p:cNvSpPr>
          <p:nvPr/>
        </p:nvSpPr>
        <p:spPr>
          <a:xfrm xmlns:a="http://schemas.openxmlformats.org/drawingml/2006/main">
            <a:off x="3105150" y="6438900"/>
            <a:ext cx="5095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8B9094"/>
                </a:solidFill>
                <a:latin typeface="Arial"/>
                <a:ea typeface="Arial"/>
                <a:cs typeface="Arial"/>
              </a:defRPr>
            </a:pPr>
            <a:r>
              <a:rPr sz="975" b="0" i="0">
                <a:solidFill>
                  <a:srgbClr val="8B9094"/>
                </a:solidFill>
                <a:latin typeface="Arial"/>
                <a:ea typeface="Arial"/>
                <a:cs typeface="Arial"/>
              </a:rPr>
              <a:t>Stephan Hardt  |  Director, Power Generation Solutions  |  Southwire</a:t>
            </a:r>
          </a:p>
        </p:txBody>
      </p:sp>
      <p:sp>
        <p:nvSpPr>
          <p:cNvPr id="17" name="">
            <a:extLst xmlns:a="http://schemas.openxmlformats.org/drawingml/2006/main">
              <a:ext uri="{FF2B5EF4-FFF2-40B4-BE49-F238E27FC236}">
                <a16:creationId xmlns:a16="http://schemas.microsoft.com/office/drawing/2014/main" id="{871632DE-BA61-449A-8837-ADD3F55949F1}"/>
              </a:ext>
            </a:extLst>
          </p:cNvPr>
          <p:cNvSpPr>
            <a:spLocks xmlns:a="http://schemas.openxmlformats.org/drawingml/2006/main" noGrp="1"/>
          </p:cNvSpPr>
          <p:nvPr/>
        </p:nvSpPr>
        <p:spPr>
          <a:xfrm xmlns:a="http://schemas.openxmlformats.org/drawingml/2006/main">
            <a:off x="7820025" y="6429375"/>
            <a:ext cx="31432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E3A06D"/>
                </a:solidFill>
                <a:latin typeface="Arial"/>
                <a:ea typeface="Arial"/>
                <a:cs typeface="Arial"/>
              </a:defRPr>
            </a:pPr>
            <a:r>
              <a:rPr sz="975" b="1" i="0">
                <a:solidFill>
                  <a:srgbClr val="E3A06D"/>
                </a:solidFill>
                <a:latin typeface="Arial"/>
                <a:ea typeface="Arial"/>
                <a:cs typeface="Arial"/>
              </a:rPr>
              <a:t>stephan.hardt@southwire.com  |  +1 470-439-8488</a:t>
            </a:r>
          </a:p>
        </p:txBody>
      </p:sp>
    </p:spTree>
    <p:extLst>
      <p:ext uri="{BB962C8B-B14F-4D97-AF65-F5344CB8AC3E}">
        <p14:creationId xmlns:p14="http://schemas.microsoft.com/office/powerpoint/2010/main" val="775695220"/>
      </p:ext>
    </p:extLst>
  </p:cSld>
</p:sld>
</file>

<file path=ppt/slides/slide12.xml><?xml version="1.0" encoding="utf-8"?>
<p:sld xmlns:p="http://schemas.openxmlformats.org/presentationml/2006/main">
  <p:cSld>
    <p:bg>
      <p:bgPr>
        <a:solidFill xmlns:a="http://schemas.openxmlformats.org/drawingml/2006/main">
          <a:srgbClr val="F6F3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7A587E2-FC4F-49CD-8D8C-2765E1B41952}"/>
              </a:ext>
            </a:extLst>
          </p:cNvPr>
          <p:cNvSpPr>
            <a:spLocks xmlns:a="http://schemas.openxmlformats.org/drawingml/2006/main" noGrp="1"/>
          </p:cNvSpPr>
          <p:nvPr/>
        </p:nvSpPr>
        <p:spPr>
          <a:xfrm xmlns:a="http://schemas.openxmlformats.org/drawingml/2006/main" rot="0">
            <a:off x="0" y="0"/>
            <a:ext cx="12192000" cy="5715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48e2a3d3733b4264"/>
          <a:stretch xmlns:a="http://schemas.openxmlformats.org/drawingml/2006/main"/>
        </p:blipFill>
        <p:spPr>
          <a:xfrm xmlns:a="http://schemas.openxmlformats.org/drawingml/2006/main">
            <a:off x="719138" y="200025"/>
            <a:ext cx="2066925" cy="590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01195BE-0FB3-4DE7-ABCC-05436F185E6D}"/>
              </a:ext>
            </a:extLst>
          </p:cNvPr>
          <p:cNvSpPr>
            <a:spLocks xmlns:a="http://schemas.openxmlformats.org/drawingml/2006/main" noGrp="1"/>
          </p:cNvSpPr>
          <p:nvPr/>
        </p:nvSpPr>
        <p:spPr>
          <a:xfrm xmlns:a="http://schemas.openxmlformats.org/drawingml/2006/main">
            <a:off x="8096250" y="3238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19" b="1" i="0">
                <a:solidFill>
                  <a:srgbClr val="9D4E24"/>
                </a:solidFill>
                <a:latin typeface="Arial"/>
                <a:ea typeface="Arial"/>
                <a:cs typeface="Arial"/>
              </a:defRPr>
            </a:pPr>
            <a:r>
              <a:rPr sz="819" b="1" i="0">
                <a:solidFill>
                  <a:srgbClr val="9D4E24"/>
                </a:solidFill>
                <a:latin typeface="Arial"/>
                <a:ea typeface="Arial"/>
                <a:cs typeface="Arial"/>
              </a:rPr>
              <a:t>APPENDIX A2 · NRG CONTEXT</a:t>
            </a:r>
          </a:p>
        </p:txBody>
      </p:sp>
      <p:sp>
        <p:nvSpPr>
          <p:cNvPr id="4" name="">
            <a:extLst xmlns:a="http://schemas.openxmlformats.org/drawingml/2006/main">
              <a:ext uri="{FF2B5EF4-FFF2-40B4-BE49-F238E27FC236}">
                <a16:creationId xmlns:a16="http://schemas.microsoft.com/office/drawing/2014/main" id="{3F856087-0A66-405A-A4F3-CDF61851DEA4}"/>
              </a:ext>
            </a:extLst>
          </p:cNvPr>
          <p:cNvSpPr>
            <a:spLocks xmlns:a="http://schemas.openxmlformats.org/drawingml/2006/main" noGrp="1"/>
          </p:cNvSpPr>
          <p:nvPr/>
        </p:nvSpPr>
        <p:spPr>
          <a:xfrm xmlns:a="http://schemas.openxmlformats.org/drawingml/2006/main">
            <a:off x="11334750" y="3238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19" b="1" i="0">
                <a:solidFill>
                  <a:srgbClr val="8B9094"/>
                </a:solidFill>
                <a:latin typeface="Arial"/>
                <a:ea typeface="Arial"/>
                <a:cs typeface="Arial"/>
              </a:defRPr>
            </a:pPr>
            <a:r>
              <a:rPr sz="819" b="1" i="0">
                <a:solidFill>
                  <a:srgbClr val="8B9094"/>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59B093D7-ADC1-4FE9-A40B-33BEC9378D15}"/>
              </a:ext>
            </a:extLst>
          </p:cNvPr>
          <p:cNvSpPr>
            <a:spLocks xmlns:a="http://schemas.openxmlformats.org/drawingml/2006/main" noGrp="1"/>
          </p:cNvSpPr>
          <p:nvPr/>
        </p:nvSpPr>
        <p:spPr>
          <a:xfrm xmlns:a="http://schemas.openxmlformats.org/drawingml/2006/main">
            <a:off x="552450" y="876300"/>
            <a:ext cx="1104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82" b="1" i="0">
                <a:solidFill>
                  <a:srgbClr val="9D4E24"/>
                </a:solidFill>
                <a:latin typeface="Arial"/>
                <a:ea typeface="Arial"/>
                <a:cs typeface="Arial"/>
              </a:defRPr>
            </a:pPr>
            <a:r>
              <a:rPr sz="882" b="1" i="0">
                <a:solidFill>
                  <a:srgbClr val="9D4E24"/>
                </a:solidFill>
                <a:latin typeface="Arial"/>
                <a:ea typeface="Arial"/>
                <a:cs typeface="Arial"/>
              </a:rPr>
              <a:t>SOURCE DISCIPLINE</a:t>
            </a:r>
          </a:p>
        </p:txBody>
      </p:sp>
      <p:sp>
        <p:nvSpPr>
          <p:cNvPr id="6" name="">
            <a:extLst xmlns:a="http://schemas.openxmlformats.org/drawingml/2006/main">
              <a:ext uri="{FF2B5EF4-FFF2-40B4-BE49-F238E27FC236}">
                <a16:creationId xmlns:a16="http://schemas.microsoft.com/office/drawing/2014/main" id="{5D1207A7-6AEC-4825-9F58-39F1286C3DAD}"/>
              </a:ext>
            </a:extLst>
          </p:cNvPr>
          <p:cNvSpPr>
            <a:spLocks xmlns:a="http://schemas.openxmlformats.org/drawingml/2006/main" noGrp="1"/>
          </p:cNvSpPr>
          <p:nvPr/>
        </p:nvSpPr>
        <p:spPr>
          <a:xfrm xmlns:a="http://schemas.openxmlformats.org/drawingml/2006/main">
            <a:off x="552450" y="118110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2925" b="1" i="0">
                <a:solidFill>
                  <a:srgbClr val="17191C"/>
                </a:solidFill>
                <a:latin typeface="Arial"/>
                <a:ea typeface="Arial"/>
                <a:cs typeface="Arial"/>
              </a:defRPr>
            </a:pPr>
            <a:r>
              <a:rPr sz="2925" b="1" i="0">
                <a:solidFill>
                  <a:srgbClr val="17191C"/>
                </a:solidFill>
                <a:latin typeface="Arial"/>
                <a:ea typeface="Arial"/>
                <a:cs typeface="Arial"/>
              </a:rPr>
              <a:t>NRG context is current, attributed and non-additive.</a:t>
            </a:r>
          </a:p>
        </p:txBody>
      </p:sp>
      <p:sp>
        <p:nvSpPr>
          <p:cNvPr id="7" name="">
            <a:extLst xmlns:a="http://schemas.openxmlformats.org/drawingml/2006/main">
              <a:ext uri="{FF2B5EF4-FFF2-40B4-BE49-F238E27FC236}">
                <a16:creationId xmlns:a16="http://schemas.microsoft.com/office/drawing/2014/main" id="{A6F16E89-BB6B-40C9-9ECA-2D2F188090FF}"/>
              </a:ext>
            </a:extLst>
          </p:cNvPr>
          <p:cNvSpPr>
            <a:spLocks xmlns:a="http://schemas.openxmlformats.org/drawingml/2006/main" noGrp="1"/>
          </p:cNvSpPr>
          <p:nvPr/>
        </p:nvSpPr>
        <p:spPr>
          <a:xfrm xmlns:a="http://schemas.openxmlformats.org/drawingml/2006/main">
            <a:off x="552450" y="21717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34" b="1" i="0">
                <a:solidFill>
                  <a:srgbClr val="9D4E24"/>
                </a:solidFill>
                <a:latin typeface="Arial"/>
                <a:ea typeface="Arial"/>
                <a:cs typeface="Arial"/>
              </a:defRPr>
            </a:pPr>
            <a:r>
              <a:rPr sz="1134" b="1" i="0">
                <a:solidFill>
                  <a:srgbClr val="9D4E24"/>
                </a:solidFill>
                <a:latin typeface="Arial"/>
                <a:ea typeface="Arial"/>
                <a:cs typeface="Arial"/>
              </a:rPr>
              <a:t>1.5 GW TEF PORTFOLIO</a:t>
            </a:r>
          </a:p>
        </p:txBody>
      </p:sp>
      <p:sp>
        <p:nvSpPr>
          <p:cNvPr id="8" name="">
            <a:extLst xmlns:a="http://schemas.openxmlformats.org/drawingml/2006/main">
              <a:ext uri="{FF2B5EF4-FFF2-40B4-BE49-F238E27FC236}">
                <a16:creationId xmlns:a16="http://schemas.microsoft.com/office/drawing/2014/main" id="{EDFD732F-8F8C-42CD-BB3E-99D66F58E960}"/>
              </a:ext>
            </a:extLst>
          </p:cNvPr>
          <p:cNvSpPr>
            <a:spLocks xmlns:a="http://schemas.openxmlformats.org/drawingml/2006/main" noGrp="1"/>
          </p:cNvSpPr>
          <p:nvPr/>
        </p:nvSpPr>
        <p:spPr>
          <a:xfrm xmlns:a="http://schemas.openxmlformats.org/drawingml/2006/main">
            <a:off x="3905250" y="2143125"/>
            <a:ext cx="733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i="0">
                <a:solidFill>
                  <a:srgbClr val="6A6F73"/>
                </a:solidFill>
                <a:latin typeface="Arial"/>
                <a:ea typeface="Arial"/>
                <a:cs typeface="Arial"/>
              </a:defRPr>
            </a:pPr>
            <a:r>
              <a:rPr sz="1350" b="0" i="0">
                <a:solidFill>
                  <a:srgbClr val="6A6F73"/>
                </a:solidFill>
                <a:latin typeface="Arial"/>
                <a:ea typeface="Arial"/>
                <a:cs typeface="Arial"/>
              </a:rPr>
              <a:t>One operating project and two projects targeting mid-2028. Do not describe the entire portfolio as under construction.</a:t>
            </a:r>
          </a:p>
        </p:txBody>
      </p:sp>
      <p:sp>
        <p:nvSpPr>
          <p:cNvPr id="9" name="">
            <a:extLst xmlns:a="http://schemas.openxmlformats.org/drawingml/2006/main">
              <a:ext uri="{FF2B5EF4-FFF2-40B4-BE49-F238E27FC236}">
                <a16:creationId xmlns:a16="http://schemas.microsoft.com/office/drawing/2014/main" id="{7EAE8360-D312-4F77-88B6-E9B3EF863961}"/>
              </a:ext>
            </a:extLst>
          </p:cNvPr>
          <p:cNvSpPr>
            <a:spLocks xmlns:a="http://schemas.openxmlformats.org/drawingml/2006/main" noGrp="1"/>
          </p:cNvSpPr>
          <p:nvPr/>
        </p:nvSpPr>
        <p:spPr>
          <a:xfrm xmlns:a="http://schemas.openxmlformats.org/drawingml/2006/main">
            <a:off x="552450" y="2828925"/>
            <a:ext cx="11087100" cy="0"/>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10" name="">
            <a:extLst xmlns:a="http://schemas.openxmlformats.org/drawingml/2006/main">
              <a:ext uri="{FF2B5EF4-FFF2-40B4-BE49-F238E27FC236}">
                <a16:creationId xmlns:a16="http://schemas.microsoft.com/office/drawing/2014/main" id="{694ACF0F-C1F1-4A27-AE2C-15DCA21F5DFD}"/>
              </a:ext>
            </a:extLst>
          </p:cNvPr>
          <p:cNvSpPr>
            <a:spLocks xmlns:a="http://schemas.openxmlformats.org/drawingml/2006/main" noGrp="1"/>
          </p:cNvSpPr>
          <p:nvPr/>
        </p:nvSpPr>
        <p:spPr>
          <a:xfrm xmlns:a="http://schemas.openxmlformats.org/drawingml/2006/main">
            <a:off x="552450" y="30861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34" b="1" i="0">
                <a:solidFill>
                  <a:srgbClr val="9D4E24"/>
                </a:solidFill>
                <a:latin typeface="Arial"/>
                <a:ea typeface="Arial"/>
                <a:cs typeface="Arial"/>
              </a:defRPr>
            </a:pPr>
            <a:r>
              <a:rPr sz="1134" b="1" i="0">
                <a:solidFill>
                  <a:srgbClr val="9D4E24"/>
                </a:solidFill>
                <a:latin typeface="Arial"/>
                <a:ea typeface="Arial"/>
                <a:cs typeface="Arial"/>
              </a:rPr>
              <a:t>5.4 GW NEWBUILD DEVELOPMENT</a:t>
            </a:r>
          </a:p>
        </p:txBody>
      </p:sp>
      <p:sp>
        <p:nvSpPr>
          <p:cNvPr id="11" name="">
            <a:extLst xmlns:a="http://schemas.openxmlformats.org/drawingml/2006/main">
              <a:ext uri="{FF2B5EF4-FFF2-40B4-BE49-F238E27FC236}">
                <a16:creationId xmlns:a16="http://schemas.microsoft.com/office/drawing/2014/main" id="{2BDA11E4-2A04-4FF3-A8C6-38790EA44A8C}"/>
              </a:ext>
            </a:extLst>
          </p:cNvPr>
          <p:cNvSpPr>
            <a:spLocks xmlns:a="http://schemas.openxmlformats.org/drawingml/2006/main" noGrp="1"/>
          </p:cNvSpPr>
          <p:nvPr/>
        </p:nvSpPr>
        <p:spPr>
          <a:xfrm xmlns:a="http://schemas.openxmlformats.org/drawingml/2006/main">
            <a:off x="3905250" y="3057525"/>
            <a:ext cx="733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i="0">
                <a:solidFill>
                  <a:srgbClr val="6A6F73"/>
                </a:solidFill>
                <a:latin typeface="Arial"/>
                <a:ea typeface="Arial"/>
                <a:cs typeface="Arial"/>
              </a:defRPr>
            </a:pPr>
            <a:r>
              <a:rPr sz="1350" b="0" i="0">
                <a:solidFill>
                  <a:srgbClr val="6A6F73"/>
                </a:solidFill>
                <a:latin typeface="Arial"/>
                <a:ea typeface="Arial"/>
                <a:cs typeface="Arial"/>
              </a:rPr>
              <a:t>Turbine and EPC access supports a runway through 2032. Do not call all 5.4 GW committed or under construction.</a:t>
            </a:r>
          </a:p>
        </p:txBody>
      </p:sp>
      <p:sp>
        <p:nvSpPr>
          <p:cNvPr id="12" name="">
            <a:extLst xmlns:a="http://schemas.openxmlformats.org/drawingml/2006/main">
              <a:ext uri="{FF2B5EF4-FFF2-40B4-BE49-F238E27FC236}">
                <a16:creationId xmlns:a16="http://schemas.microsoft.com/office/drawing/2014/main" id="{FE2C59DB-E4C9-4F83-84BA-B73537808509}"/>
              </a:ext>
            </a:extLst>
          </p:cNvPr>
          <p:cNvSpPr>
            <a:spLocks xmlns:a="http://schemas.openxmlformats.org/drawingml/2006/main" noGrp="1"/>
          </p:cNvSpPr>
          <p:nvPr/>
        </p:nvSpPr>
        <p:spPr>
          <a:xfrm xmlns:a="http://schemas.openxmlformats.org/drawingml/2006/main">
            <a:off x="552450" y="3743325"/>
            <a:ext cx="11087100" cy="0"/>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13" name="">
            <a:extLst xmlns:a="http://schemas.openxmlformats.org/drawingml/2006/main">
              <a:ext uri="{FF2B5EF4-FFF2-40B4-BE49-F238E27FC236}">
                <a16:creationId xmlns:a16="http://schemas.microsoft.com/office/drawing/2014/main" id="{9D09D277-4CE5-412D-8148-23D117699EDC}"/>
              </a:ext>
            </a:extLst>
          </p:cNvPr>
          <p:cNvSpPr>
            <a:spLocks xmlns:a="http://schemas.openxmlformats.org/drawingml/2006/main" noGrp="1"/>
          </p:cNvSpPr>
          <p:nvPr/>
        </p:nvSpPr>
        <p:spPr>
          <a:xfrm xmlns:a="http://schemas.openxmlformats.org/drawingml/2006/main">
            <a:off x="552450" y="40005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34" b="1" i="0">
                <a:solidFill>
                  <a:srgbClr val="9D4E24"/>
                </a:solidFill>
                <a:latin typeface="Arial"/>
                <a:ea typeface="Arial"/>
                <a:cs typeface="Arial"/>
              </a:defRPr>
            </a:pPr>
            <a:r>
              <a:rPr sz="1134" b="1" i="0">
                <a:solidFill>
                  <a:srgbClr val="9D4E24"/>
                </a:solidFill>
                <a:latin typeface="Arial"/>
                <a:ea typeface="Arial"/>
                <a:cs typeface="Arial"/>
              </a:rPr>
              <a:t>25.8 GW OPERATING FLEET</a:t>
            </a:r>
          </a:p>
        </p:txBody>
      </p:sp>
      <p:sp>
        <p:nvSpPr>
          <p:cNvPr id="14" name="">
            <a:extLst xmlns:a="http://schemas.openxmlformats.org/drawingml/2006/main">
              <a:ext uri="{FF2B5EF4-FFF2-40B4-BE49-F238E27FC236}">
                <a16:creationId xmlns:a16="http://schemas.microsoft.com/office/drawing/2014/main" id="{330E60A5-AADA-4FDD-8EEA-34C3D7B81DCC}"/>
              </a:ext>
            </a:extLst>
          </p:cNvPr>
          <p:cNvSpPr>
            <a:spLocks xmlns:a="http://schemas.openxmlformats.org/drawingml/2006/main" noGrp="1"/>
          </p:cNvSpPr>
          <p:nvPr/>
        </p:nvSpPr>
        <p:spPr>
          <a:xfrm xmlns:a="http://schemas.openxmlformats.org/drawingml/2006/main">
            <a:off x="3905250" y="3971925"/>
            <a:ext cx="733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i="0">
                <a:solidFill>
                  <a:srgbClr val="6A6F73"/>
                </a:solidFill>
                <a:latin typeface="Arial"/>
                <a:ea typeface="Arial"/>
                <a:cs typeface="Arial"/>
              </a:defRPr>
            </a:pPr>
            <a:r>
              <a:rPr sz="1350" b="0" i="0">
                <a:solidFill>
                  <a:srgbClr val="6A6F73"/>
                </a:solidFill>
                <a:latin typeface="Arial"/>
                <a:ea typeface="Arial"/>
                <a:cs typeface="Arial"/>
              </a:rPr>
              <a:t>NRG's reported operating-generation fleet after the LS Power acquisition.</a:t>
            </a:r>
          </a:p>
        </p:txBody>
      </p:sp>
      <p:sp>
        <p:nvSpPr>
          <p:cNvPr id="15" name="">
            <a:extLst xmlns:a="http://schemas.openxmlformats.org/drawingml/2006/main">
              <a:ext uri="{FF2B5EF4-FFF2-40B4-BE49-F238E27FC236}">
                <a16:creationId xmlns:a16="http://schemas.microsoft.com/office/drawing/2014/main" id="{0EA9E2F5-416D-4FE5-BB98-305C4DD79E06}"/>
              </a:ext>
            </a:extLst>
          </p:cNvPr>
          <p:cNvSpPr>
            <a:spLocks xmlns:a="http://schemas.openxmlformats.org/drawingml/2006/main" noGrp="1"/>
          </p:cNvSpPr>
          <p:nvPr/>
        </p:nvSpPr>
        <p:spPr>
          <a:xfrm xmlns:a="http://schemas.openxmlformats.org/drawingml/2006/main">
            <a:off x="552450" y="4657725"/>
            <a:ext cx="11087100" cy="0"/>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16" name="">
            <a:extLst xmlns:a="http://schemas.openxmlformats.org/drawingml/2006/main">
              <a:ext uri="{FF2B5EF4-FFF2-40B4-BE49-F238E27FC236}">
                <a16:creationId xmlns:a16="http://schemas.microsoft.com/office/drawing/2014/main" id="{50990A40-1E7F-4931-88D1-11C009FD940B}"/>
              </a:ext>
            </a:extLst>
          </p:cNvPr>
          <p:cNvSpPr>
            <a:spLocks xmlns:a="http://schemas.openxmlformats.org/drawingml/2006/main" noGrp="1"/>
          </p:cNvSpPr>
          <p:nvPr/>
        </p:nvSpPr>
        <p:spPr>
          <a:xfrm xmlns:a="http://schemas.openxmlformats.org/drawingml/2006/main">
            <a:off x="552450" y="49149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34" b="1" i="0">
                <a:solidFill>
                  <a:srgbClr val="9D4E24"/>
                </a:solidFill>
                <a:latin typeface="Arial"/>
                <a:ea typeface="Arial"/>
                <a:cs typeface="Arial"/>
              </a:defRPr>
            </a:pPr>
            <a:r>
              <a:rPr sz="1134" b="1" i="0">
                <a:solidFill>
                  <a:srgbClr val="9D4E24"/>
                </a:solidFill>
                <a:latin typeface="Arial"/>
                <a:ea typeface="Arial"/>
                <a:cs typeface="Arial"/>
              </a:rPr>
              <a:t>~1-2 GW UPGRADE POTENTIAL</a:t>
            </a:r>
          </a:p>
        </p:txBody>
      </p:sp>
      <p:sp>
        <p:nvSpPr>
          <p:cNvPr id="17" name="">
            <a:extLst xmlns:a="http://schemas.openxmlformats.org/drawingml/2006/main">
              <a:ext uri="{FF2B5EF4-FFF2-40B4-BE49-F238E27FC236}">
                <a16:creationId xmlns:a16="http://schemas.microsoft.com/office/drawing/2014/main" id="{191068D0-216E-4F21-80F4-A3B9FE8A0CEF}"/>
              </a:ext>
            </a:extLst>
          </p:cNvPr>
          <p:cNvSpPr>
            <a:spLocks xmlns:a="http://schemas.openxmlformats.org/drawingml/2006/main" noGrp="1"/>
          </p:cNvSpPr>
          <p:nvPr/>
        </p:nvSpPr>
        <p:spPr>
          <a:xfrm xmlns:a="http://schemas.openxmlformats.org/drawingml/2006/main">
            <a:off x="3905250" y="4886325"/>
            <a:ext cx="733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i="0">
                <a:solidFill>
                  <a:srgbClr val="6A6F73"/>
                </a:solidFill>
                <a:latin typeface="Arial"/>
                <a:ea typeface="Arial"/>
                <a:cs typeface="Arial"/>
              </a:defRPr>
            </a:pPr>
            <a:r>
              <a:rPr sz="1350" b="0" i="0">
                <a:solidFill>
                  <a:srgbClr val="6A6F73"/>
                </a:solidFill>
                <a:latin typeface="Arial"/>
                <a:ea typeface="Arial"/>
                <a:cs typeface="Arial"/>
              </a:rPr>
              <a:t>CT-to-CCGT conversions and traditional uprates are under evaluation—not a committed pipeline.</a:t>
            </a:r>
          </a:p>
        </p:txBody>
      </p:sp>
      <p:sp>
        <p:nvSpPr>
          <p:cNvPr id="18" name="">
            <a:extLst xmlns:a="http://schemas.openxmlformats.org/drawingml/2006/main">
              <a:ext uri="{FF2B5EF4-FFF2-40B4-BE49-F238E27FC236}">
                <a16:creationId xmlns:a16="http://schemas.microsoft.com/office/drawing/2014/main" id="{05BDA737-8704-4892-9648-12DB532ECBCC}"/>
              </a:ext>
            </a:extLst>
          </p:cNvPr>
          <p:cNvSpPr>
            <a:spLocks xmlns:a="http://schemas.openxmlformats.org/drawingml/2006/main" noGrp="1"/>
          </p:cNvSpPr>
          <p:nvPr/>
        </p:nvSpPr>
        <p:spPr>
          <a:xfrm xmlns:a="http://schemas.openxmlformats.org/drawingml/2006/main" rot="0">
            <a:off x="552450" y="5924550"/>
            <a:ext cx="11087100" cy="533400"/>
          </a:xfrm>
          <a:prstGeom xmlns:a="http://schemas.openxmlformats.org/drawingml/2006/main" prst="rect">
            <a:avLst/>
          </a:prstGeom>
          <a:solidFill xmlns:a="http://schemas.openxmlformats.org/drawingml/2006/main">
            <a:srgbClr val="17191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7D731F1-869B-4C24-AFCD-4F786F886441}"/>
              </a:ext>
            </a:extLst>
          </p:cNvPr>
          <p:cNvSpPr>
            <a:spLocks xmlns:a="http://schemas.openxmlformats.org/drawingml/2006/main" noGrp="1"/>
          </p:cNvSpPr>
          <p:nvPr/>
        </p:nvSpPr>
        <p:spPr>
          <a:xfrm xmlns:a="http://schemas.openxmlformats.org/drawingml/2006/main">
            <a:off x="781050" y="6076950"/>
            <a:ext cx="1062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34" b="1" i="0">
                <a:solidFill>
                  <a:srgbClr val="FFFFFF"/>
                </a:solidFill>
                <a:latin typeface="Arial"/>
                <a:ea typeface="Arial"/>
                <a:cs typeface="Arial"/>
              </a:defRPr>
            </a:pPr>
            <a:r>
              <a:rPr sz="1134" b="1" i="0">
                <a:solidFill>
                  <a:srgbClr val="FFFFFF"/>
                </a:solidFill>
                <a:latin typeface="Arial"/>
                <a:ea typeface="Arial"/>
                <a:cs typeface="Arial"/>
              </a:rPr>
              <a:t>DO NOT SUM THESE FIGURES: THEY REPRESENT DIFFERENT ASSET STATES AND OVERLAP CONCEPTUALLY.</a:t>
            </a:r>
          </a:p>
        </p:txBody>
      </p:sp>
    </p:spTree>
    <p:extLst>
      <p:ext uri="{BB962C8B-B14F-4D97-AF65-F5344CB8AC3E}">
        <p14:creationId xmlns:p14="http://schemas.microsoft.com/office/powerpoint/2010/main" val="426428554"/>
      </p:ext>
    </p:extLst>
  </p:cSld>
</p:sld>
</file>

<file path=ppt/slides/slide13.xml><?xml version="1.0" encoding="utf-8"?>
<p:sld xmlns:p="http://schemas.openxmlformats.org/presentationml/2006/main">
  <p:cSld>
    <p:bg>
      <p:bgPr>
        <a:solidFill xmlns:a="http://schemas.openxmlformats.org/drawingml/2006/main">
          <a:srgbClr val="F6F3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5AA0B0E-59C2-46D9-A3F7-F12A81E293AE}"/>
              </a:ext>
            </a:extLst>
          </p:cNvPr>
          <p:cNvSpPr>
            <a:spLocks xmlns:a="http://schemas.openxmlformats.org/drawingml/2006/main" noGrp="1"/>
          </p:cNvSpPr>
          <p:nvPr/>
        </p:nvSpPr>
        <p:spPr>
          <a:xfrm xmlns:a="http://schemas.openxmlformats.org/drawingml/2006/main" rot="0">
            <a:off x="0" y="0"/>
            <a:ext cx="12192000" cy="5715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0d68d762455049bf"/>
          <a:stretch xmlns:a="http://schemas.openxmlformats.org/drawingml/2006/main"/>
        </p:blipFill>
        <p:spPr>
          <a:xfrm xmlns:a="http://schemas.openxmlformats.org/drawingml/2006/main">
            <a:off x="719138" y="200025"/>
            <a:ext cx="2066925" cy="590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9060F8C-2940-4770-BB54-3D37F8DB3644}"/>
              </a:ext>
            </a:extLst>
          </p:cNvPr>
          <p:cNvSpPr>
            <a:spLocks xmlns:a="http://schemas.openxmlformats.org/drawingml/2006/main" noGrp="1"/>
          </p:cNvSpPr>
          <p:nvPr/>
        </p:nvSpPr>
        <p:spPr>
          <a:xfrm xmlns:a="http://schemas.openxmlformats.org/drawingml/2006/main">
            <a:off x="8096250" y="3238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19" b="1" i="0">
                <a:solidFill>
                  <a:srgbClr val="9D4E24"/>
                </a:solidFill>
                <a:latin typeface="Arial"/>
                <a:ea typeface="Arial"/>
                <a:cs typeface="Arial"/>
              </a:defRPr>
            </a:pPr>
            <a:r>
              <a:rPr sz="819" b="1" i="0">
                <a:solidFill>
                  <a:srgbClr val="9D4E24"/>
                </a:solidFill>
                <a:latin typeface="Arial"/>
                <a:ea typeface="Arial"/>
                <a:cs typeface="Arial"/>
              </a:rPr>
              <a:t>APPENDIX A3 · GOVERNANCE</a:t>
            </a:r>
          </a:p>
        </p:txBody>
      </p:sp>
      <p:sp>
        <p:nvSpPr>
          <p:cNvPr id="4" name="">
            <a:extLst xmlns:a="http://schemas.openxmlformats.org/drawingml/2006/main">
              <a:ext uri="{FF2B5EF4-FFF2-40B4-BE49-F238E27FC236}">
                <a16:creationId xmlns:a16="http://schemas.microsoft.com/office/drawing/2014/main" id="{202FACD4-68DC-4EF1-9FCA-95986C82E539}"/>
              </a:ext>
            </a:extLst>
          </p:cNvPr>
          <p:cNvSpPr>
            <a:spLocks xmlns:a="http://schemas.openxmlformats.org/drawingml/2006/main" noGrp="1"/>
          </p:cNvSpPr>
          <p:nvPr/>
        </p:nvSpPr>
        <p:spPr>
          <a:xfrm xmlns:a="http://schemas.openxmlformats.org/drawingml/2006/main">
            <a:off x="11334750" y="3238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19" b="1" i="0">
                <a:solidFill>
                  <a:srgbClr val="8B9094"/>
                </a:solidFill>
                <a:latin typeface="Arial"/>
                <a:ea typeface="Arial"/>
                <a:cs typeface="Arial"/>
              </a:defRPr>
            </a:pPr>
            <a:r>
              <a:rPr sz="819" b="1" i="0">
                <a:solidFill>
                  <a:srgbClr val="8B9094"/>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22210EC3-F27F-4555-A478-23E2A2B733BA}"/>
              </a:ext>
            </a:extLst>
          </p:cNvPr>
          <p:cNvSpPr>
            <a:spLocks xmlns:a="http://schemas.openxmlformats.org/drawingml/2006/main" noGrp="1"/>
          </p:cNvSpPr>
          <p:nvPr/>
        </p:nvSpPr>
        <p:spPr>
          <a:xfrm xmlns:a="http://schemas.openxmlformats.org/drawingml/2006/main">
            <a:off x="552450" y="876300"/>
            <a:ext cx="1104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82" b="1" i="0">
                <a:solidFill>
                  <a:srgbClr val="9D4E24"/>
                </a:solidFill>
                <a:latin typeface="Arial"/>
                <a:ea typeface="Arial"/>
                <a:cs typeface="Arial"/>
              </a:defRPr>
            </a:pPr>
            <a:r>
              <a:rPr sz="882" b="1" i="0">
                <a:solidFill>
                  <a:srgbClr val="9D4E24"/>
                </a:solidFill>
                <a:latin typeface="Arial"/>
                <a:ea typeface="Arial"/>
                <a:cs typeface="Arial"/>
              </a:rPr>
              <a:t>DECISION RIGHTS</a:t>
            </a:r>
          </a:p>
        </p:txBody>
      </p:sp>
      <p:sp>
        <p:nvSpPr>
          <p:cNvPr id="6" name="">
            <a:extLst xmlns:a="http://schemas.openxmlformats.org/drawingml/2006/main">
              <a:ext uri="{FF2B5EF4-FFF2-40B4-BE49-F238E27FC236}">
                <a16:creationId xmlns:a16="http://schemas.microsoft.com/office/drawing/2014/main" id="{005FE768-4C48-4B66-90B8-34DFA5EF4380}"/>
              </a:ext>
            </a:extLst>
          </p:cNvPr>
          <p:cNvSpPr>
            <a:spLocks xmlns:a="http://schemas.openxmlformats.org/drawingml/2006/main" noGrp="1"/>
          </p:cNvSpPr>
          <p:nvPr/>
        </p:nvSpPr>
        <p:spPr>
          <a:xfrm xmlns:a="http://schemas.openxmlformats.org/drawingml/2006/main">
            <a:off x="552450" y="118110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2925" b="1" i="0">
                <a:solidFill>
                  <a:srgbClr val="17191C"/>
                </a:solidFill>
                <a:latin typeface="Arial"/>
                <a:ea typeface="Arial"/>
                <a:cs typeface="Arial"/>
              </a:defRPr>
            </a:pPr>
            <a:r>
              <a:rPr sz="2925" b="1" i="0">
                <a:solidFill>
                  <a:srgbClr val="17191C"/>
                </a:solidFill>
                <a:latin typeface="Arial"/>
                <a:ea typeface="Arial"/>
                <a:cs typeface="Arial"/>
              </a:rPr>
              <a:t>Clear decision rights preserve existing project accountability.</a:t>
            </a:r>
          </a:p>
        </p:txBody>
      </p:sp>
      <p:sp>
        <p:nvSpPr>
          <p:cNvPr id="7" name="">
            <a:extLst xmlns:a="http://schemas.openxmlformats.org/drawingml/2006/main">
              <a:ext uri="{FF2B5EF4-FFF2-40B4-BE49-F238E27FC236}">
                <a16:creationId xmlns:a16="http://schemas.microsoft.com/office/drawing/2014/main" id="{07267E82-F478-4A19-AABA-6870A0616C8F}"/>
              </a:ext>
            </a:extLst>
          </p:cNvPr>
          <p:cNvSpPr>
            <a:spLocks xmlns:a="http://schemas.openxmlformats.org/drawingml/2006/main" noGrp="1"/>
          </p:cNvSpPr>
          <p:nvPr/>
        </p:nvSpPr>
        <p:spPr>
          <a:xfrm xmlns:a="http://schemas.openxmlformats.org/drawingml/2006/main">
            <a:off x="552450" y="20859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134" b="1" i="0">
                <a:solidFill>
                  <a:srgbClr val="17191C"/>
                </a:solidFill>
                <a:latin typeface="Arial"/>
                <a:ea typeface="Arial"/>
                <a:cs typeface="Arial"/>
              </a:defRPr>
            </a:pPr>
            <a:r>
              <a:rPr sz="1134" b="1" i="0">
                <a:solidFill>
                  <a:srgbClr val="17191C"/>
                </a:solidFill>
                <a:latin typeface="Arial"/>
                <a:ea typeface="Arial"/>
                <a:cs typeface="Arial"/>
              </a:rPr>
              <a:t>NRG</a:t>
            </a:r>
          </a:p>
        </p:txBody>
      </p:sp>
      <p:sp>
        <p:nvSpPr>
          <p:cNvPr id="8" name="">
            <a:extLst xmlns:a="http://schemas.openxmlformats.org/drawingml/2006/main">
              <a:ext uri="{FF2B5EF4-FFF2-40B4-BE49-F238E27FC236}">
                <a16:creationId xmlns:a16="http://schemas.microsoft.com/office/drawing/2014/main" id="{1882584E-74E8-4A11-9334-BAD4F039F70C}"/>
              </a:ext>
            </a:extLst>
          </p:cNvPr>
          <p:cNvSpPr>
            <a:spLocks xmlns:a="http://schemas.openxmlformats.org/drawingml/2006/main" noGrp="1"/>
          </p:cNvSpPr>
          <p:nvPr/>
        </p:nvSpPr>
        <p:spPr>
          <a:xfrm xmlns:a="http://schemas.openxmlformats.org/drawingml/2006/main">
            <a:off x="3190875" y="2057400"/>
            <a:ext cx="8048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0" i="0">
                <a:solidFill>
                  <a:srgbClr val="6A6F73"/>
                </a:solidFill>
                <a:latin typeface="Arial"/>
                <a:ea typeface="Arial"/>
                <a:cs typeface="Arial"/>
              </a:defRPr>
            </a:pPr>
            <a:r>
              <a:rPr sz="1350" b="0" i="0">
                <a:solidFill>
                  <a:srgbClr val="6A6F73"/>
                </a:solidFill>
                <a:latin typeface="Arial"/>
                <a:ea typeface="Arial"/>
                <a:cs typeface="Arial"/>
              </a:rPr>
              <a:t>Owner priorities, portfolio standards, risk tolerances, acceptance criteria and investment decisions.</a:t>
            </a:r>
          </a:p>
        </p:txBody>
      </p:sp>
      <p:sp>
        <p:nvSpPr>
          <p:cNvPr id="9" name="">
            <a:extLst xmlns:a="http://schemas.openxmlformats.org/drawingml/2006/main">
              <a:ext uri="{FF2B5EF4-FFF2-40B4-BE49-F238E27FC236}">
                <a16:creationId xmlns:a16="http://schemas.microsoft.com/office/drawing/2014/main" id="{44B5152D-AE6B-4CFF-9823-A36CFFDB01C1}"/>
              </a:ext>
            </a:extLst>
          </p:cNvPr>
          <p:cNvSpPr>
            <a:spLocks xmlns:a="http://schemas.openxmlformats.org/drawingml/2006/main" noGrp="1"/>
          </p:cNvSpPr>
          <p:nvPr/>
        </p:nvSpPr>
        <p:spPr>
          <a:xfrm xmlns:a="http://schemas.openxmlformats.org/drawingml/2006/main">
            <a:off x="552450" y="2676525"/>
            <a:ext cx="11087100" cy="0"/>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10" name="">
            <a:extLst xmlns:a="http://schemas.openxmlformats.org/drawingml/2006/main">
              <a:ext uri="{FF2B5EF4-FFF2-40B4-BE49-F238E27FC236}">
                <a16:creationId xmlns:a16="http://schemas.microsoft.com/office/drawing/2014/main" id="{21F3904B-3A5E-4436-A518-492FA59F2E51}"/>
              </a:ext>
            </a:extLst>
          </p:cNvPr>
          <p:cNvSpPr>
            <a:spLocks xmlns:a="http://schemas.openxmlformats.org/drawingml/2006/main" noGrp="1"/>
          </p:cNvSpPr>
          <p:nvPr/>
        </p:nvSpPr>
        <p:spPr>
          <a:xfrm xmlns:a="http://schemas.openxmlformats.org/drawingml/2006/main">
            <a:off x="552450" y="2867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134" b="1" i="0">
                <a:solidFill>
                  <a:srgbClr val="17191C"/>
                </a:solidFill>
                <a:latin typeface="Arial"/>
                <a:ea typeface="Arial"/>
                <a:cs typeface="Arial"/>
              </a:defRPr>
            </a:pPr>
            <a:r>
              <a:rPr sz="1134" b="1" i="0">
                <a:solidFill>
                  <a:srgbClr val="17191C"/>
                </a:solidFill>
                <a:latin typeface="Arial"/>
                <a:ea typeface="Arial"/>
                <a:cs typeface="Arial"/>
              </a:rPr>
              <a:t>EPC / EOR</a:t>
            </a:r>
          </a:p>
        </p:txBody>
      </p:sp>
      <p:sp>
        <p:nvSpPr>
          <p:cNvPr id="11" name="">
            <a:extLst xmlns:a="http://schemas.openxmlformats.org/drawingml/2006/main">
              <a:ext uri="{FF2B5EF4-FFF2-40B4-BE49-F238E27FC236}">
                <a16:creationId xmlns:a16="http://schemas.microsoft.com/office/drawing/2014/main" id="{A5864D90-A700-4C42-A98A-DBA5C4E0457C}"/>
              </a:ext>
            </a:extLst>
          </p:cNvPr>
          <p:cNvSpPr>
            <a:spLocks xmlns:a="http://schemas.openxmlformats.org/drawingml/2006/main" noGrp="1"/>
          </p:cNvSpPr>
          <p:nvPr/>
        </p:nvSpPr>
        <p:spPr>
          <a:xfrm xmlns:a="http://schemas.openxmlformats.org/drawingml/2006/main">
            <a:off x="3190875" y="2838450"/>
            <a:ext cx="8048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0" i="0">
                <a:solidFill>
                  <a:srgbClr val="6A6F73"/>
                </a:solidFill>
                <a:latin typeface="Arial"/>
                <a:ea typeface="Arial"/>
                <a:cs typeface="Arial"/>
              </a:defRPr>
            </a:pPr>
            <a:r>
              <a:rPr sz="1350" b="0" i="0">
                <a:solidFill>
                  <a:srgbClr val="6A6F73"/>
                </a:solidFill>
                <a:latin typeface="Arial"/>
                <a:ea typeface="Arial"/>
                <a:cs typeface="Arial"/>
              </a:rPr>
              <a:t>Design authority, calculations, specifications, routing basis and approved technical design.</a:t>
            </a:r>
          </a:p>
        </p:txBody>
      </p:sp>
      <p:sp>
        <p:nvSpPr>
          <p:cNvPr id="12" name="">
            <a:extLst xmlns:a="http://schemas.openxmlformats.org/drawingml/2006/main">
              <a:ext uri="{FF2B5EF4-FFF2-40B4-BE49-F238E27FC236}">
                <a16:creationId xmlns:a16="http://schemas.microsoft.com/office/drawing/2014/main" id="{09745614-EB8E-4048-A939-67C7767C52E7}"/>
              </a:ext>
            </a:extLst>
          </p:cNvPr>
          <p:cNvSpPr>
            <a:spLocks xmlns:a="http://schemas.openxmlformats.org/drawingml/2006/main" noGrp="1"/>
          </p:cNvSpPr>
          <p:nvPr/>
        </p:nvSpPr>
        <p:spPr>
          <a:xfrm xmlns:a="http://schemas.openxmlformats.org/drawingml/2006/main">
            <a:off x="552450" y="3457575"/>
            <a:ext cx="11087100" cy="0"/>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13" name="">
            <a:extLst xmlns:a="http://schemas.openxmlformats.org/drawingml/2006/main">
              <a:ext uri="{FF2B5EF4-FFF2-40B4-BE49-F238E27FC236}">
                <a16:creationId xmlns:a16="http://schemas.microsoft.com/office/drawing/2014/main" id="{955A83C9-3782-4EA9-9E17-34D1AF6ECC65}"/>
              </a:ext>
            </a:extLst>
          </p:cNvPr>
          <p:cNvSpPr>
            <a:spLocks xmlns:a="http://schemas.openxmlformats.org/drawingml/2006/main" noGrp="1"/>
          </p:cNvSpPr>
          <p:nvPr/>
        </p:nvSpPr>
        <p:spPr>
          <a:xfrm xmlns:a="http://schemas.openxmlformats.org/drawingml/2006/main">
            <a:off x="552450" y="36480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134" b="1" i="0">
                <a:solidFill>
                  <a:srgbClr val="17191C"/>
                </a:solidFill>
                <a:latin typeface="Arial"/>
                <a:ea typeface="Arial"/>
                <a:cs typeface="Arial"/>
              </a:defRPr>
            </a:pPr>
            <a:r>
              <a:rPr sz="1134" b="1" i="0">
                <a:solidFill>
                  <a:srgbClr val="17191C"/>
                </a:solidFill>
                <a:latin typeface="Arial"/>
                <a:ea typeface="Arial"/>
                <a:cs typeface="Arial"/>
              </a:rPr>
              <a:t>OEM</a:t>
            </a:r>
          </a:p>
        </p:txBody>
      </p:sp>
      <p:sp>
        <p:nvSpPr>
          <p:cNvPr id="14" name="">
            <a:extLst xmlns:a="http://schemas.openxmlformats.org/drawingml/2006/main">
              <a:ext uri="{FF2B5EF4-FFF2-40B4-BE49-F238E27FC236}">
                <a16:creationId xmlns:a16="http://schemas.microsoft.com/office/drawing/2014/main" id="{853CF575-A7FB-42D9-BD59-7BA97BBC5ED7}"/>
              </a:ext>
            </a:extLst>
          </p:cNvPr>
          <p:cNvSpPr>
            <a:spLocks xmlns:a="http://schemas.openxmlformats.org/drawingml/2006/main" noGrp="1"/>
          </p:cNvSpPr>
          <p:nvPr/>
        </p:nvSpPr>
        <p:spPr>
          <a:xfrm xmlns:a="http://schemas.openxmlformats.org/drawingml/2006/main">
            <a:off x="3190875" y="3619500"/>
            <a:ext cx="8048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0" i="0">
                <a:solidFill>
                  <a:srgbClr val="6A6F73"/>
                </a:solidFill>
                <a:latin typeface="Arial"/>
                <a:ea typeface="Arial"/>
                <a:cs typeface="Arial"/>
              </a:defRPr>
            </a:pPr>
            <a:r>
              <a:rPr sz="1350" b="0" i="0">
                <a:solidFill>
                  <a:srgbClr val="6A6F73"/>
                </a:solidFill>
                <a:latin typeface="Arial"/>
                <a:ea typeface="Arial"/>
                <a:cs typeface="Arial"/>
              </a:rPr>
              <a:t>Equipment-package interfaces, internal wiring, approved terminations and warranty boundaries.</a:t>
            </a:r>
          </a:p>
        </p:txBody>
      </p:sp>
      <p:sp>
        <p:nvSpPr>
          <p:cNvPr id="15" name="">
            <a:extLst xmlns:a="http://schemas.openxmlformats.org/drawingml/2006/main">
              <a:ext uri="{FF2B5EF4-FFF2-40B4-BE49-F238E27FC236}">
                <a16:creationId xmlns:a16="http://schemas.microsoft.com/office/drawing/2014/main" id="{ABF89F75-CE4A-4F40-A349-8BF0A2F3EF8C}"/>
              </a:ext>
            </a:extLst>
          </p:cNvPr>
          <p:cNvSpPr>
            <a:spLocks xmlns:a="http://schemas.openxmlformats.org/drawingml/2006/main" noGrp="1"/>
          </p:cNvSpPr>
          <p:nvPr/>
        </p:nvSpPr>
        <p:spPr>
          <a:xfrm xmlns:a="http://schemas.openxmlformats.org/drawingml/2006/main">
            <a:off x="552450" y="4238625"/>
            <a:ext cx="11087100" cy="0"/>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16" name="">
            <a:extLst xmlns:a="http://schemas.openxmlformats.org/drawingml/2006/main">
              <a:ext uri="{FF2B5EF4-FFF2-40B4-BE49-F238E27FC236}">
                <a16:creationId xmlns:a16="http://schemas.microsoft.com/office/drawing/2014/main" id="{1E6BA4CB-84F0-4E0C-9235-103696CE3EC6}"/>
              </a:ext>
            </a:extLst>
          </p:cNvPr>
          <p:cNvSpPr>
            <a:spLocks xmlns:a="http://schemas.openxmlformats.org/drawingml/2006/main" noGrp="1"/>
          </p:cNvSpPr>
          <p:nvPr/>
        </p:nvSpPr>
        <p:spPr>
          <a:xfrm xmlns:a="http://schemas.openxmlformats.org/drawingml/2006/main">
            <a:off x="552450" y="44291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134" b="1" i="0">
                <a:solidFill>
                  <a:srgbClr val="17191C"/>
                </a:solidFill>
                <a:latin typeface="Arial"/>
                <a:ea typeface="Arial"/>
                <a:cs typeface="Arial"/>
              </a:defRPr>
            </a:pPr>
            <a:r>
              <a:rPr sz="1134" b="1" i="0">
                <a:solidFill>
                  <a:srgbClr val="17191C"/>
                </a:solidFill>
                <a:latin typeface="Arial"/>
                <a:ea typeface="Arial"/>
                <a:cs typeface="Arial"/>
              </a:rPr>
              <a:t>ELECTRICAL CONTRACTOR</a:t>
            </a:r>
          </a:p>
        </p:txBody>
      </p:sp>
      <p:sp>
        <p:nvSpPr>
          <p:cNvPr id="17" name="">
            <a:extLst xmlns:a="http://schemas.openxmlformats.org/drawingml/2006/main">
              <a:ext uri="{FF2B5EF4-FFF2-40B4-BE49-F238E27FC236}">
                <a16:creationId xmlns:a16="http://schemas.microsoft.com/office/drawing/2014/main" id="{B7F8495E-E93E-4A34-8A5B-D1282962D8B1}"/>
              </a:ext>
            </a:extLst>
          </p:cNvPr>
          <p:cNvSpPr>
            <a:spLocks xmlns:a="http://schemas.openxmlformats.org/drawingml/2006/main" noGrp="1"/>
          </p:cNvSpPr>
          <p:nvPr/>
        </p:nvSpPr>
        <p:spPr>
          <a:xfrm xmlns:a="http://schemas.openxmlformats.org/drawingml/2006/main">
            <a:off x="3190875" y="4400550"/>
            <a:ext cx="8048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0" i="0">
                <a:solidFill>
                  <a:srgbClr val="6A6F73"/>
                </a:solidFill>
                <a:latin typeface="Arial"/>
                <a:ea typeface="Arial"/>
                <a:cs typeface="Arial"/>
              </a:defRPr>
            </a:pPr>
            <a:r>
              <a:rPr sz="1350" b="0" i="0">
                <a:solidFill>
                  <a:srgbClr val="6A6F73"/>
                </a:solidFill>
                <a:latin typeface="Arial"/>
                <a:ea typeface="Arial"/>
                <a:cs typeface="Arial"/>
              </a:rPr>
              <a:t>Installation means and methods, pull planning, workface execution, testing support and field feedback.</a:t>
            </a:r>
          </a:p>
        </p:txBody>
      </p:sp>
      <p:sp>
        <p:nvSpPr>
          <p:cNvPr id="18" name="">
            <a:extLst xmlns:a="http://schemas.openxmlformats.org/drawingml/2006/main">
              <a:ext uri="{FF2B5EF4-FFF2-40B4-BE49-F238E27FC236}">
                <a16:creationId xmlns:a16="http://schemas.microsoft.com/office/drawing/2014/main" id="{6AF8ABAD-D706-4EE3-9D2D-E4372C44903A}"/>
              </a:ext>
            </a:extLst>
          </p:cNvPr>
          <p:cNvSpPr>
            <a:spLocks xmlns:a="http://schemas.openxmlformats.org/drawingml/2006/main" noGrp="1"/>
          </p:cNvSpPr>
          <p:nvPr/>
        </p:nvSpPr>
        <p:spPr>
          <a:xfrm xmlns:a="http://schemas.openxmlformats.org/drawingml/2006/main">
            <a:off x="552450" y="5019675"/>
            <a:ext cx="11087100" cy="0"/>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19" name="">
            <a:extLst xmlns:a="http://schemas.openxmlformats.org/drawingml/2006/main">
              <a:ext uri="{FF2B5EF4-FFF2-40B4-BE49-F238E27FC236}">
                <a16:creationId xmlns:a16="http://schemas.microsoft.com/office/drawing/2014/main" id="{7A707B80-13F4-4DF0-85A7-646CA6AC51DB}"/>
              </a:ext>
            </a:extLst>
          </p:cNvPr>
          <p:cNvSpPr>
            <a:spLocks xmlns:a="http://schemas.openxmlformats.org/drawingml/2006/main" noGrp="1"/>
          </p:cNvSpPr>
          <p:nvPr/>
        </p:nvSpPr>
        <p:spPr>
          <a:xfrm xmlns:a="http://schemas.openxmlformats.org/drawingml/2006/main" rot="0">
            <a:off x="466725" y="5124450"/>
            <a:ext cx="11172825" cy="666750"/>
          </a:xfrm>
          <a:prstGeom xmlns:a="http://schemas.openxmlformats.org/drawingml/2006/main" prst="rect">
            <a:avLst/>
          </a:prstGeom>
          <a:solidFill xmlns:a="http://schemas.openxmlformats.org/drawingml/2006/main">
            <a:srgbClr val="F2E3D8"/>
          </a:solidFill>
          <a:ln xmlns:a="http://schemas.openxmlformats.org/drawingml/2006/main" w="9525">
            <a:solidFill>
              <a:srgbClr val="E1C6B3"/>
            </a:solidFill>
            <a:prstDash val="solid"/>
          </a:ln>
        </p:spPr>
      </p:sp>
      <p:sp>
        <p:nvSpPr>
          <p:cNvPr id="20" name="">
            <a:extLst xmlns:a="http://schemas.openxmlformats.org/drawingml/2006/main">
              <a:ext uri="{FF2B5EF4-FFF2-40B4-BE49-F238E27FC236}">
                <a16:creationId xmlns:a16="http://schemas.microsoft.com/office/drawing/2014/main" id="{087A8BEA-C6C7-4EFA-BFA9-19FBBB07EB54}"/>
              </a:ext>
            </a:extLst>
          </p:cNvPr>
          <p:cNvSpPr>
            <a:spLocks xmlns:a="http://schemas.openxmlformats.org/drawingml/2006/main" noGrp="1"/>
          </p:cNvSpPr>
          <p:nvPr/>
        </p:nvSpPr>
        <p:spPr>
          <a:xfrm xmlns:a="http://schemas.openxmlformats.org/drawingml/2006/main">
            <a:off x="552450" y="52101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134" b="1" i="0">
                <a:solidFill>
                  <a:srgbClr val="9D4E24"/>
                </a:solidFill>
                <a:latin typeface="Arial"/>
                <a:ea typeface="Arial"/>
                <a:cs typeface="Arial"/>
              </a:defRPr>
            </a:pPr>
            <a:r>
              <a:rPr sz="1134" b="1" i="0">
                <a:solidFill>
                  <a:srgbClr val="9D4E24"/>
                </a:solidFill>
                <a:latin typeface="Arial"/>
                <a:ea typeface="Arial"/>
                <a:cs typeface="Arial"/>
              </a:rPr>
              <a:t>SOUTHWIRE</a:t>
            </a:r>
          </a:p>
        </p:txBody>
      </p:sp>
      <p:sp>
        <p:nvSpPr>
          <p:cNvPr id="21" name="">
            <a:extLst xmlns:a="http://schemas.openxmlformats.org/drawingml/2006/main">
              <a:ext uri="{FF2B5EF4-FFF2-40B4-BE49-F238E27FC236}">
                <a16:creationId xmlns:a16="http://schemas.microsoft.com/office/drawing/2014/main" id="{8DE3C22D-18C8-4935-808D-8D44760E4491}"/>
              </a:ext>
            </a:extLst>
          </p:cNvPr>
          <p:cNvSpPr>
            <a:spLocks xmlns:a="http://schemas.openxmlformats.org/drawingml/2006/main" noGrp="1"/>
          </p:cNvSpPr>
          <p:nvPr/>
        </p:nvSpPr>
        <p:spPr>
          <a:xfrm xmlns:a="http://schemas.openxmlformats.org/drawingml/2006/main">
            <a:off x="3190875" y="5181600"/>
            <a:ext cx="8048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0" i="0">
                <a:solidFill>
                  <a:srgbClr val="6A6F73"/>
                </a:solidFill>
                <a:latin typeface="Arial"/>
                <a:ea typeface="Arial"/>
                <a:cs typeface="Arial"/>
              </a:defRPr>
            </a:pPr>
            <a:r>
              <a:rPr sz="1350" b="0" i="0">
                <a:solidFill>
                  <a:srgbClr val="6A6F73"/>
                </a:solidFill>
                <a:latin typeface="Arial"/>
                <a:ea typeface="Arial"/>
                <a:cs typeface="Arial"/>
              </a:rPr>
              <a:t>Application support, material and capacity visibility, engineered reel strategy, sequenced delivery and selected field support.</a:t>
            </a:r>
          </a:p>
        </p:txBody>
      </p:sp>
      <p:sp>
        <p:nvSpPr>
          <p:cNvPr id="22" name="">
            <a:extLst xmlns:a="http://schemas.openxmlformats.org/drawingml/2006/main">
              <a:ext uri="{FF2B5EF4-FFF2-40B4-BE49-F238E27FC236}">
                <a16:creationId xmlns:a16="http://schemas.microsoft.com/office/drawing/2014/main" id="{B25EF3DC-EDC0-4D4A-9FCF-D58A0E5F5589}"/>
              </a:ext>
            </a:extLst>
          </p:cNvPr>
          <p:cNvSpPr>
            <a:spLocks xmlns:a="http://schemas.openxmlformats.org/drawingml/2006/main" noGrp="1"/>
          </p:cNvSpPr>
          <p:nvPr/>
        </p:nvSpPr>
        <p:spPr>
          <a:xfrm xmlns:a="http://schemas.openxmlformats.org/drawingml/2006/main" rot="0">
            <a:off x="552450" y="6076950"/>
            <a:ext cx="11087100" cy="428625"/>
          </a:xfrm>
          <a:prstGeom xmlns:a="http://schemas.openxmlformats.org/drawingml/2006/main" prst="rect">
            <a:avLst/>
          </a:prstGeom>
          <a:solidFill xmlns:a="http://schemas.openxmlformats.org/drawingml/2006/main">
            <a:srgbClr val="17191C"/>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90B36D7-111A-4429-8309-B99F2DABA39D}"/>
              </a:ext>
            </a:extLst>
          </p:cNvPr>
          <p:cNvSpPr>
            <a:spLocks xmlns:a="http://schemas.openxmlformats.org/drawingml/2006/main" noGrp="1"/>
          </p:cNvSpPr>
          <p:nvPr/>
        </p:nvSpPr>
        <p:spPr>
          <a:xfrm xmlns:a="http://schemas.openxmlformats.org/drawingml/2006/main">
            <a:off x="781050" y="6191250"/>
            <a:ext cx="10629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Southwire connects selected decisions; it does not replace owner, EPC, OEM or contractor accountability.</a:t>
            </a:r>
          </a:p>
        </p:txBody>
      </p:sp>
    </p:spTree>
    <p:extLst>
      <p:ext uri="{BB962C8B-B14F-4D97-AF65-F5344CB8AC3E}">
        <p14:creationId xmlns:p14="http://schemas.microsoft.com/office/powerpoint/2010/main" val="654748704"/>
      </p:ext>
    </p:extLst>
  </p:cSld>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6F3EE"/>
        </a:solidFill>
      </p:bgPr>
    </p:bg>
    <p:spTree>
      <p:nvGrpSpPr>
        <p:cNvPr id="1" name=""/>
        <p:cNvGrpSpPr/>
        <p:nvPr/>
      </p:nvGrpSpPr>
      <p:grpSpPr>
        <a:xfrm/>
      </p:grpSpPr>
      <p:sp>
        <p:nvSpPr>
          <p:cNvPr id="102" name=""/>
          <p:cNvSpPr>
            <a:spLocks noGrp="1"/>
          </p:cNvSpPr>
          <p:nvPr/>
        </p:nvSpPr>
        <p:spPr>
          <a:xfrm>
            <a:off x="0" y="0"/>
            <a:ext cx="12192000" cy="57150"/>
          </a:xfrm>
          <a:prstGeom prst="rect">
            <a:avLst/>
          </a:prstGeom>
          <a:solidFill>
            <a:srgbClr val="C9783E"/>
          </a:solidFill>
          <a:ln w="0">
            <a:noFill/>
            <a:prstDash val="solid"/>
          </a:ln>
        </p:spPr>
      </p:sp>
      <p:pic>
        <p:nvPicPr>
          <p:cNvPr id="103" name=""/>
          <p:cNvPicPr>
            <a:picLocks noChangeAspect="1"/>
          </p:cNvPicPr>
          <p:nvPr/>
        </p:nvPicPr>
        <p:blipFill>
          <a:blip r:embed="rId1"/>
          <a:stretch/>
        </p:blipFill>
        <p:spPr>
          <a:xfrm>
            <a:off x="719138" y="200025"/>
            <a:ext cx="2066925" cy="590550"/>
          </a:xfrm>
          <a:prstGeom prst="rect">
            <a:avLst/>
          </a:prstGeom>
        </p:spPr>
      </p:pic>
      <p:sp>
        <p:nvSpPr>
          <p:cNvPr id="104" name=""/>
          <p:cNvSpPr>
            <a:spLocks noGrp="1"/>
          </p:cNvSpPr>
          <p:nvPr/>
        </p:nvSpPr>
        <p:spPr>
          <a:xfrm>
            <a:off x="7325360" y="323850"/>
            <a:ext cx="3600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819" b="1" i="0">
                <a:solidFill>
                  <a:srgbClr val="9D4E24"/>
                </a:solidFill>
                <a:latin typeface="Arial"/>
                <a:ea typeface="Arial"/>
                <a:cs typeface="Arial"/>
              </a:rPr>
              <a:t>APPENDIX A4 · SOUTHWIRE SUPPORT</a:t>
            </a:r>
          </a:p>
        </p:txBody>
      </p:sp>
      <p:sp>
        <p:nvSpPr>
          <p:cNvPr id="105" name=""/>
          <p:cNvSpPr>
            <a:spLocks noGrp="1"/>
          </p:cNvSpPr>
          <p:nvPr/>
        </p:nvSpPr>
        <p:spPr>
          <a:xfrm>
            <a:off x="11060000" y="323850"/>
            <a:ext cx="600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819" b="1" i="0">
                <a:solidFill>
                  <a:srgbClr val="8B9094"/>
                </a:solidFill>
                <a:latin typeface="Arial"/>
                <a:ea typeface="Arial"/>
                <a:cs typeface="Arial"/>
              </a:rPr>
              <a:t>15</a:t>
            </a:r>
          </a:p>
        </p:txBody>
      </p:sp>
      <p:sp>
        <p:nvSpPr>
          <p:cNvPr id="106" name=""/>
          <p:cNvSpPr>
            <a:spLocks noGrp="1"/>
          </p:cNvSpPr>
          <p:nvPr/>
        </p:nvSpPr>
        <p:spPr>
          <a:xfrm>
            <a:off x="719138" y="1005840"/>
            <a:ext cx="85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C9783E"/>
                </a:solidFill>
                <a:latin typeface="Arial"/>
                <a:ea typeface="Arial"/>
                <a:cs typeface="Arial"/>
              </a:rPr>
              <a:t>DEFINED SUPPORT</a:t>
            </a:r>
          </a:p>
        </p:txBody>
      </p:sp>
      <p:sp>
        <p:nvSpPr>
          <p:cNvPr id="107" name=""/>
          <p:cNvSpPr>
            <a:spLocks noGrp="1"/>
          </p:cNvSpPr>
          <p:nvPr/>
        </p:nvSpPr>
        <p:spPr>
          <a:xfrm>
            <a:off x="719138" y="1280160"/>
            <a:ext cx="10753724" cy="800000"/>
          </a:xfrm>
          <a:prstGeom prst="rect">
            <a:avLst/>
          </a:prstGeom>
          <a:noFill/>
          <a:ln w="0">
            <a:noFill/>
            <a:prstDash val="solid"/>
          </a:ln>
        </p:spPr>
        <p:txBody>
          <a:bodyPr wrap="square" lIns="0" tIns="0" rIns="0" bIns="0" anchor="t">
            <a:normAutofit fontScale="100000"/>
          </a:bodyPr>
          <a:lstStyle/>
          <a:p>
            <a:pPr algn="l">
              <a:lnSpc>
                <a:spcPct val="104000"/>
              </a:lnSpc>
              <a:buNone/>
            </a:pPr>
            <a:r>
              <a:rPr sz="2850" b="1" i="0">
                <a:solidFill>
                  <a:srgbClr val="17191C"/>
                </a:solidFill>
                <a:latin typeface="Arial"/>
                <a:ea typeface="Arial"/>
                <a:cs typeface="Arial"/>
              </a:rPr>
              <a:t>Southwire can support selected delivery stages without taking design authority.</a:t>
            </a:r>
          </a:p>
        </p:txBody>
      </p:sp>
      <p:sp>
        <p:nvSpPr>
          <p:cNvPr id="108" name=""/>
          <p:cNvSpPr>
            <a:spLocks noGrp="1"/>
          </p:cNvSpPr>
          <p:nvPr/>
        </p:nvSpPr>
        <p:spPr>
          <a:xfrm>
            <a:off x="719138" y="2331720"/>
            <a:ext cx="594360" cy="27432"/>
          </a:xfrm>
          <a:prstGeom prst="rect">
            <a:avLst/>
          </a:prstGeom>
          <a:solidFill>
            <a:srgbClr val="C9783E"/>
          </a:solidFill>
          <a:ln w="0">
            <a:noFill/>
            <a:prstDash val="solid"/>
          </a:ln>
        </p:spPr>
      </p:sp>
      <p:sp>
        <p:nvSpPr>
          <p:cNvPr id="109" name=""/>
          <p:cNvSpPr>
            <a:spLocks noGrp="1"/>
          </p:cNvSpPr>
          <p:nvPr/>
        </p:nvSpPr>
        <p:spPr>
          <a:xfrm>
            <a:off x="719138" y="2468880"/>
            <a:ext cx="3300000" cy="300000"/>
          </a:xfrm>
          <a:prstGeom prst="rect">
            <a:avLst/>
          </a:prstGeom>
          <a:noFill/>
          <a:ln w="0">
            <a:noFill/>
            <a:prstDash val="solid"/>
          </a:ln>
        </p:spPr>
        <p:txBody>
          <a:bodyPr wrap="square" lIns="0" tIns="0" rIns="0" bIns="0" anchor="t">
            <a:normAutofit fontScale="100000"/>
          </a:bodyPr>
          <a:lstStyle/>
          <a:p>
            <a:pPr algn="l">
              <a:lnSpc>
                <a:spcPct val="100000"/>
              </a:lnSpc>
              <a:buNone/>
            </a:pPr>
            <a:r>
              <a:rPr sz="1500" b="1" i="0">
                <a:solidFill>
                  <a:srgbClr val="17191C"/>
                </a:solidFill>
                <a:latin typeface="Arial"/>
                <a:ea typeface="Arial"/>
                <a:cs typeface="Arial"/>
              </a:rPr>
              <a:t>ALIGN</a:t>
            </a:r>
          </a:p>
        </p:txBody>
      </p:sp>
      <p:sp>
        <p:nvSpPr>
          <p:cNvPr id="110" name=""/>
          <p:cNvSpPr>
            <a:spLocks noGrp="1"/>
          </p:cNvSpPr>
          <p:nvPr/>
        </p:nvSpPr>
        <p:spPr>
          <a:xfrm>
            <a:off x="719138" y="2926080"/>
            <a:ext cx="3300000" cy="480000"/>
          </a:xfrm>
          <a:prstGeom prst="rect">
            <a:avLst/>
          </a:prstGeom>
          <a:noFill/>
          <a:ln w="0">
            <a:noFill/>
            <a:prstDash val="solid"/>
          </a:ln>
        </p:spPr>
        <p:txBody>
          <a:bodyPr wrap="square" lIns="0" tIns="0" rIns="0" bIns="0" anchor="t">
            <a:normAutofit fontScale="100000"/>
          </a:bodyPr>
          <a:lstStyle/>
          <a:p>
            <a:pPr algn="l">
              <a:lnSpc>
                <a:spcPct val="106000"/>
              </a:lnSpc>
              <a:buNone/>
            </a:pPr>
            <a:r>
              <a:rPr sz="1050" b="0" i="0">
                <a:solidFill>
                  <a:srgbClr val="6A6F73"/>
                </a:solidFill>
                <a:latin typeface="Arial"/>
                <a:ea typeface="Arial"/>
                <a:cs typeface="Arial"/>
              </a:rPr>
              <a:t>Application and BOM review</a:t>
            </a:r>
          </a:p>
        </p:txBody>
      </p:sp>
      <p:sp>
        <p:nvSpPr>
          <p:cNvPr id="111" name=""/>
          <p:cNvSpPr>
            <a:spLocks noGrp="1"/>
          </p:cNvSpPr>
          <p:nvPr/>
        </p:nvSpPr>
        <p:spPr>
          <a:xfrm>
            <a:off x="719138" y="3429000"/>
            <a:ext cx="3300000" cy="480000"/>
          </a:xfrm>
          <a:prstGeom prst="rect">
            <a:avLst/>
          </a:prstGeom>
          <a:noFill/>
          <a:ln w="0">
            <a:noFill/>
            <a:prstDash val="solid"/>
          </a:ln>
        </p:spPr>
        <p:txBody>
          <a:bodyPr wrap="square" lIns="0" tIns="0" rIns="0" bIns="0" anchor="t">
            <a:normAutofit fontScale="100000"/>
          </a:bodyPr>
          <a:lstStyle/>
          <a:p>
            <a:pPr algn="l">
              <a:lnSpc>
                <a:spcPct val="106000"/>
              </a:lnSpc>
              <a:buNone/>
            </a:pPr>
            <a:r>
              <a:rPr sz="1050" b="0" i="0">
                <a:solidFill>
                  <a:srgbClr val="6A6F73"/>
                </a:solidFill>
                <a:latin typeface="Arial"/>
                <a:ea typeface="Arial"/>
                <a:cs typeface="Arial"/>
              </a:rPr>
              <a:t>Alternative-construction evaluation</a:t>
            </a:r>
          </a:p>
        </p:txBody>
      </p:sp>
      <p:sp>
        <p:nvSpPr>
          <p:cNvPr id="112" name=""/>
          <p:cNvSpPr>
            <a:spLocks noGrp="1"/>
          </p:cNvSpPr>
          <p:nvPr/>
        </p:nvSpPr>
        <p:spPr>
          <a:xfrm>
            <a:off x="719138" y="3931920"/>
            <a:ext cx="3300000" cy="480000"/>
          </a:xfrm>
          <a:prstGeom prst="rect">
            <a:avLst/>
          </a:prstGeom>
          <a:noFill/>
          <a:ln w="0">
            <a:noFill/>
            <a:prstDash val="solid"/>
          </a:ln>
        </p:spPr>
        <p:txBody>
          <a:bodyPr wrap="square" lIns="0" tIns="0" rIns="0" bIns="0" anchor="t">
            <a:normAutofit fontScale="100000"/>
          </a:bodyPr>
          <a:lstStyle/>
          <a:p>
            <a:pPr algn="l">
              <a:lnSpc>
                <a:spcPct val="106000"/>
              </a:lnSpc>
              <a:buNone/>
            </a:pPr>
            <a:r>
              <a:rPr sz="1050" b="0" i="0">
                <a:solidFill>
                  <a:srgbClr val="6A6F73"/>
                </a:solidFill>
                <a:latin typeface="Arial"/>
                <a:ea typeface="Arial"/>
                <a:cs typeface="Arial"/>
              </a:rPr>
              <a:t>Multidisciplinary cable support</a:t>
            </a:r>
          </a:p>
        </p:txBody>
      </p:sp>
      <p:sp>
        <p:nvSpPr>
          <p:cNvPr id="113" name=""/>
          <p:cNvSpPr>
            <a:spLocks noGrp="1"/>
          </p:cNvSpPr>
          <p:nvPr/>
        </p:nvSpPr>
        <p:spPr>
          <a:xfrm>
            <a:off x="4446000" y="2331720"/>
            <a:ext cx="594360" cy="27432"/>
          </a:xfrm>
          <a:prstGeom prst="rect">
            <a:avLst/>
          </a:prstGeom>
          <a:solidFill>
            <a:srgbClr val="C9783E"/>
          </a:solidFill>
          <a:ln w="0">
            <a:noFill/>
            <a:prstDash val="solid"/>
          </a:ln>
        </p:spPr>
      </p:sp>
      <p:sp>
        <p:nvSpPr>
          <p:cNvPr id="114" name=""/>
          <p:cNvSpPr>
            <a:spLocks noGrp="1"/>
          </p:cNvSpPr>
          <p:nvPr/>
        </p:nvSpPr>
        <p:spPr>
          <a:xfrm>
            <a:off x="4446000" y="2468880"/>
            <a:ext cx="3300000" cy="300000"/>
          </a:xfrm>
          <a:prstGeom prst="rect">
            <a:avLst/>
          </a:prstGeom>
          <a:noFill/>
          <a:ln w="0">
            <a:noFill/>
            <a:prstDash val="solid"/>
          </a:ln>
        </p:spPr>
        <p:txBody>
          <a:bodyPr wrap="square" lIns="0" tIns="0" rIns="0" bIns="0" anchor="t">
            <a:normAutofit fontScale="100000"/>
          </a:bodyPr>
          <a:lstStyle/>
          <a:p>
            <a:pPr algn="l">
              <a:lnSpc>
                <a:spcPct val="100000"/>
              </a:lnSpc>
              <a:buNone/>
            </a:pPr>
            <a:r>
              <a:rPr sz="1500" b="1" i="0">
                <a:solidFill>
                  <a:srgbClr val="17191C"/>
                </a:solidFill>
                <a:latin typeface="Arial"/>
                <a:ea typeface="Arial"/>
                <a:cs typeface="Arial"/>
              </a:rPr>
              <a:t>COORDINATE</a:t>
            </a:r>
          </a:p>
        </p:txBody>
      </p:sp>
      <p:sp>
        <p:nvSpPr>
          <p:cNvPr id="115" name=""/>
          <p:cNvSpPr>
            <a:spLocks noGrp="1"/>
          </p:cNvSpPr>
          <p:nvPr/>
        </p:nvSpPr>
        <p:spPr>
          <a:xfrm>
            <a:off x="4446000" y="2926080"/>
            <a:ext cx="3300000" cy="480000"/>
          </a:xfrm>
          <a:prstGeom prst="rect">
            <a:avLst/>
          </a:prstGeom>
          <a:noFill/>
          <a:ln w="0">
            <a:noFill/>
            <a:prstDash val="solid"/>
          </a:ln>
        </p:spPr>
        <p:txBody>
          <a:bodyPr wrap="square" lIns="0" tIns="0" rIns="0" bIns="0" anchor="t">
            <a:normAutofit fontScale="100000"/>
          </a:bodyPr>
          <a:lstStyle/>
          <a:p>
            <a:pPr algn="l">
              <a:lnSpc>
                <a:spcPct val="106000"/>
              </a:lnSpc>
              <a:buNone/>
            </a:pPr>
            <a:r>
              <a:rPr sz="1050" b="0" i="0">
                <a:solidFill>
                  <a:srgbClr val="6A6F73"/>
                </a:solidFill>
                <a:latin typeface="Arial"/>
                <a:ea typeface="Arial"/>
                <a:cs typeface="Arial"/>
              </a:rPr>
              <a:t>Project cable management</a:t>
            </a:r>
          </a:p>
        </p:txBody>
      </p:sp>
      <p:sp>
        <p:nvSpPr>
          <p:cNvPr id="116" name=""/>
          <p:cNvSpPr>
            <a:spLocks noGrp="1"/>
          </p:cNvSpPr>
          <p:nvPr/>
        </p:nvSpPr>
        <p:spPr>
          <a:xfrm>
            <a:off x="4446000" y="3429000"/>
            <a:ext cx="3300000" cy="480000"/>
          </a:xfrm>
          <a:prstGeom prst="rect">
            <a:avLst/>
          </a:prstGeom>
          <a:noFill/>
          <a:ln w="0">
            <a:noFill/>
            <a:prstDash val="solid"/>
          </a:ln>
        </p:spPr>
        <p:txBody>
          <a:bodyPr wrap="square" lIns="0" tIns="0" rIns="0" bIns="0" anchor="t">
            <a:normAutofit fontScale="100000"/>
          </a:bodyPr>
          <a:lstStyle/>
          <a:p>
            <a:pPr algn="l">
              <a:lnSpc>
                <a:spcPct val="106000"/>
              </a:lnSpc>
              <a:buNone/>
            </a:pPr>
            <a:r>
              <a:rPr sz="1050" b="0" i="0">
                <a:solidFill>
                  <a:srgbClr val="6A6F73"/>
                </a:solidFill>
                <a:latin typeface="Arial"/>
                <a:ea typeface="Arial"/>
                <a:cs typeface="Arial"/>
              </a:rPr>
              <a:t>Inventory and release coordination</a:t>
            </a:r>
          </a:p>
        </p:txBody>
      </p:sp>
      <p:sp>
        <p:nvSpPr>
          <p:cNvPr id="117" name=""/>
          <p:cNvSpPr>
            <a:spLocks noGrp="1"/>
          </p:cNvSpPr>
          <p:nvPr/>
        </p:nvSpPr>
        <p:spPr>
          <a:xfrm>
            <a:off x="4446000" y="3931920"/>
            <a:ext cx="3300000" cy="480000"/>
          </a:xfrm>
          <a:prstGeom prst="rect">
            <a:avLst/>
          </a:prstGeom>
          <a:noFill/>
          <a:ln w="0">
            <a:noFill/>
            <a:prstDash val="solid"/>
          </a:ln>
        </p:spPr>
        <p:txBody>
          <a:bodyPr wrap="square" lIns="0" tIns="0" rIns="0" bIns="0" anchor="t">
            <a:normAutofit fontScale="100000"/>
          </a:bodyPr>
          <a:lstStyle/>
          <a:p>
            <a:pPr algn="l">
              <a:lnSpc>
                <a:spcPct val="106000"/>
              </a:lnSpc>
              <a:buNone/>
            </a:pPr>
            <a:r>
              <a:rPr sz="1050" b="0" i="0">
                <a:solidFill>
                  <a:srgbClr val="6A6F73"/>
                </a:solidFill>
                <a:latin typeface="Arial"/>
                <a:ea typeface="Arial"/>
                <a:cs typeface="Arial"/>
              </a:rPr>
              <a:t>Reel, cut and sequence planning</a:t>
            </a:r>
          </a:p>
        </p:txBody>
      </p:sp>
      <p:sp>
        <p:nvSpPr>
          <p:cNvPr id="118" name=""/>
          <p:cNvSpPr>
            <a:spLocks noGrp="1"/>
          </p:cNvSpPr>
          <p:nvPr/>
        </p:nvSpPr>
        <p:spPr>
          <a:xfrm>
            <a:off x="8172862" y="2331720"/>
            <a:ext cx="594360" cy="27432"/>
          </a:xfrm>
          <a:prstGeom prst="rect">
            <a:avLst/>
          </a:prstGeom>
          <a:solidFill>
            <a:srgbClr val="C9783E"/>
          </a:solidFill>
          <a:ln w="0">
            <a:noFill/>
            <a:prstDash val="solid"/>
          </a:ln>
        </p:spPr>
      </p:sp>
      <p:sp>
        <p:nvSpPr>
          <p:cNvPr id="119" name=""/>
          <p:cNvSpPr>
            <a:spLocks noGrp="1"/>
          </p:cNvSpPr>
          <p:nvPr/>
        </p:nvSpPr>
        <p:spPr>
          <a:xfrm>
            <a:off x="8172862" y="2468880"/>
            <a:ext cx="3300000" cy="300000"/>
          </a:xfrm>
          <a:prstGeom prst="rect">
            <a:avLst/>
          </a:prstGeom>
          <a:noFill/>
          <a:ln w="0">
            <a:noFill/>
            <a:prstDash val="solid"/>
          </a:ln>
        </p:spPr>
        <p:txBody>
          <a:bodyPr wrap="square" lIns="0" tIns="0" rIns="0" bIns="0" anchor="t">
            <a:normAutofit fontScale="100000"/>
          </a:bodyPr>
          <a:lstStyle/>
          <a:p>
            <a:pPr algn="l">
              <a:lnSpc>
                <a:spcPct val="100000"/>
              </a:lnSpc>
              <a:buNone/>
            </a:pPr>
            <a:r>
              <a:rPr sz="1500" b="1" i="0">
                <a:solidFill>
                  <a:srgbClr val="17191C"/>
                </a:solidFill>
                <a:latin typeface="Arial"/>
                <a:ea typeface="Arial"/>
                <a:cs typeface="Arial"/>
              </a:rPr>
              <a:t>PREPARE + SUPPORT</a:t>
            </a:r>
          </a:p>
        </p:txBody>
      </p:sp>
      <p:sp>
        <p:nvSpPr>
          <p:cNvPr id="120" name=""/>
          <p:cNvSpPr>
            <a:spLocks noGrp="1"/>
          </p:cNvSpPr>
          <p:nvPr/>
        </p:nvSpPr>
        <p:spPr>
          <a:xfrm>
            <a:off x="8172862" y="2926080"/>
            <a:ext cx="3300000" cy="480000"/>
          </a:xfrm>
          <a:prstGeom prst="rect">
            <a:avLst/>
          </a:prstGeom>
          <a:noFill/>
          <a:ln w="0">
            <a:noFill/>
            <a:prstDash val="solid"/>
          </a:ln>
        </p:spPr>
        <p:txBody>
          <a:bodyPr wrap="square" lIns="0" tIns="0" rIns="0" bIns="0" anchor="t">
            <a:normAutofit fontScale="100000"/>
          </a:bodyPr>
          <a:lstStyle/>
          <a:p>
            <a:pPr algn="l">
              <a:lnSpc>
                <a:spcPct val="106000"/>
              </a:lnSpc>
              <a:buNone/>
            </a:pPr>
            <a:r>
              <a:rPr sz="1050" b="0" i="0">
                <a:solidFill>
                  <a:srgbClr val="6A6F73"/>
                </a:solidFill>
                <a:latin typeface="Arial"/>
                <a:ea typeface="Arial"/>
                <a:cs typeface="Arial"/>
              </a:rPr>
              <a:t>Cut-to-length, striping and labeling</a:t>
            </a:r>
          </a:p>
        </p:txBody>
      </p:sp>
      <p:sp>
        <p:nvSpPr>
          <p:cNvPr id="121" name=""/>
          <p:cNvSpPr>
            <a:spLocks noGrp="1"/>
          </p:cNvSpPr>
          <p:nvPr/>
        </p:nvSpPr>
        <p:spPr>
          <a:xfrm>
            <a:off x="8172862" y="3429000"/>
            <a:ext cx="3300000" cy="480000"/>
          </a:xfrm>
          <a:prstGeom prst="rect">
            <a:avLst/>
          </a:prstGeom>
          <a:noFill/>
          <a:ln w="0">
            <a:noFill/>
            <a:prstDash val="solid"/>
          </a:ln>
        </p:spPr>
        <p:txBody>
          <a:bodyPr wrap="square" lIns="0" tIns="0" rIns="0" bIns="0" anchor="t">
            <a:normAutofit fontScale="100000"/>
          </a:bodyPr>
          <a:lstStyle/>
          <a:p>
            <a:pPr algn="l">
              <a:lnSpc>
                <a:spcPct val="106000"/>
              </a:lnSpc>
              <a:buNone/>
            </a:pPr>
            <a:r>
              <a:rPr sz="1050" b="0" i="0">
                <a:solidFill>
                  <a:srgbClr val="6A6F73"/>
                </a:solidFill>
                <a:latin typeface="Arial"/>
                <a:ea typeface="Arial"/>
                <a:cs typeface="Arial"/>
              </a:rPr>
              <a:t>Kitting by package or work sequence</a:t>
            </a:r>
          </a:p>
        </p:txBody>
      </p:sp>
      <p:sp>
        <p:nvSpPr>
          <p:cNvPr id="122" name=""/>
          <p:cNvSpPr>
            <a:spLocks noGrp="1"/>
          </p:cNvSpPr>
          <p:nvPr/>
        </p:nvSpPr>
        <p:spPr>
          <a:xfrm>
            <a:off x="8172862" y="3931920"/>
            <a:ext cx="3300000" cy="480000"/>
          </a:xfrm>
          <a:prstGeom prst="rect">
            <a:avLst/>
          </a:prstGeom>
          <a:noFill/>
          <a:ln w="0">
            <a:noFill/>
            <a:prstDash val="solid"/>
          </a:ln>
        </p:spPr>
        <p:txBody>
          <a:bodyPr wrap="square" lIns="0" tIns="0" rIns="0" bIns="0" anchor="t">
            <a:normAutofit fontScale="100000"/>
          </a:bodyPr>
          <a:lstStyle/>
          <a:p>
            <a:pPr algn="l">
              <a:lnSpc>
                <a:spcPct val="106000"/>
              </a:lnSpc>
              <a:buNone/>
            </a:pPr>
            <a:r>
              <a:rPr sz="1050" b="0" i="0">
                <a:solidFill>
                  <a:srgbClr val="6A6F73"/>
                </a:solidFill>
                <a:latin typeface="Arial"/>
                <a:ea typeface="Arial"/>
                <a:cs typeface="Arial"/>
              </a:rPr>
              <a:t>Selected cable-in-conduit, pulling + field support</a:t>
            </a:r>
          </a:p>
        </p:txBody>
      </p:sp>
      <p:sp>
        <p:nvSpPr>
          <p:cNvPr id="123" name=""/>
          <p:cNvSpPr>
            <a:spLocks noGrp="1"/>
          </p:cNvSpPr>
          <p:nvPr/>
        </p:nvSpPr>
        <p:spPr>
          <a:xfrm>
            <a:off x="719138" y="5486400"/>
            <a:ext cx="10753724" cy="685800"/>
          </a:xfrm>
          <a:prstGeom prst="rect">
            <a:avLst/>
          </a:prstGeom>
          <a:solidFill>
            <a:srgbClr val="17191C"/>
          </a:solidFill>
          <a:ln w="0">
            <a:noFill/>
            <a:prstDash val="solid"/>
          </a:ln>
        </p:spPr>
      </p:sp>
      <p:sp>
        <p:nvSpPr>
          <p:cNvPr id="124" name=""/>
          <p:cNvSpPr>
            <a:spLocks noGrp="1"/>
          </p:cNvSpPr>
          <p:nvPr/>
        </p:nvSpPr>
        <p:spPr>
          <a:xfrm>
            <a:off x="1005840" y="5486400"/>
            <a:ext cx="2971800" cy="685800"/>
          </a:xfrm>
          <a:prstGeom prst="rect">
            <a:avLst/>
          </a:prstGeom>
          <a:noFill/>
          <a:ln w="0">
            <a:noFill/>
            <a:prstDash val="solid"/>
          </a:ln>
        </p:spPr>
        <p:txBody>
          <a:bodyPr wrap="square" lIns="0" tIns="0" rIns="0" bIns="0" anchor="ctr">
            <a:normAutofit fontScale="100000"/>
          </a:bodyPr>
          <a:lstStyle/>
          <a:p>
            <a:pPr algn="l">
              <a:lnSpc>
                <a:spcPct val="100000"/>
              </a:lnSpc>
              <a:buNone/>
            </a:pPr>
            <a:r>
              <a:rPr sz="819" b="1" i="0">
                <a:solidFill>
                  <a:srgbClr val="C9783E"/>
                </a:solidFill>
                <a:latin typeface="Arial"/>
                <a:ea typeface="Arial"/>
                <a:cs typeface="Arial"/>
              </a:rPr>
              <a:t>PROCUREMENT + SUSTAINABILITY SUPPORT</a:t>
            </a:r>
          </a:p>
        </p:txBody>
      </p:sp>
      <p:sp>
        <p:nvSpPr>
          <p:cNvPr id="125" name=""/>
          <p:cNvSpPr>
            <a:spLocks noGrp="1"/>
          </p:cNvSpPr>
          <p:nvPr/>
        </p:nvSpPr>
        <p:spPr>
          <a:xfrm>
            <a:off x="4206240" y="5486400"/>
            <a:ext cx="6981222" cy="685800"/>
          </a:xfrm>
          <a:prstGeom prst="rect">
            <a:avLst/>
          </a:prstGeom>
          <a:noFill/>
          <a:ln w="0">
            <a:noFill/>
            <a:prstDash val="solid"/>
          </a:ln>
        </p:spPr>
        <p:txBody>
          <a:bodyPr wrap="square" lIns="0" tIns="0" rIns="0" bIns="0" anchor="ctr">
            <a:normAutofit fontScale="100000"/>
          </a:bodyPr>
          <a:lstStyle/>
          <a:p>
            <a:pPr algn="l">
              <a:lnSpc>
                <a:spcPct val="106000"/>
              </a:lnSpc>
              <a:buNone/>
            </a:pPr>
            <a:r>
              <a:rPr sz="1050" b="0" i="0">
                <a:solidFill>
                  <a:srgbClr val="FFFFFF"/>
                </a:solidFill>
                <a:latin typeface="Arial"/>
                <a:ea typeface="Arial"/>
                <a:cs typeface="Arial"/>
              </a:rPr>
              <a:t>Product-level EPDs and responsible-production evidence can support procurement where applicable to the selected product and manufacturing site.</a:t>
            </a:r>
          </a:p>
        </p:txBody>
      </p:sp>
      <p:sp>
        <p:nvSpPr>
          <p:cNvPr id="126" name=""/>
          <p:cNvSpPr>
            <a:spLocks noGrp="1"/>
          </p:cNvSpPr>
          <p:nvPr/>
        </p:nvSpPr>
        <p:spPr>
          <a:xfrm>
            <a:off x="719138" y="6355080"/>
            <a:ext cx="10753724" cy="250000"/>
          </a:xfrm>
          <a:prstGeom prst="rect">
            <a:avLst/>
          </a:prstGeom>
          <a:noFill/>
          <a:ln w="0">
            <a:noFill/>
            <a:prstDash val="solid"/>
          </a:ln>
        </p:spPr>
        <p:txBody>
          <a:bodyPr wrap="square" lIns="0" tIns="0" rIns="0" bIns="0" anchor="t">
            <a:normAutofit fontScale="100000"/>
          </a:bodyPr>
          <a:lstStyle/>
          <a:p>
            <a:pPr algn="ctr">
              <a:lnSpc>
                <a:spcPct val="100000"/>
              </a:lnSpc>
              <a:buNone/>
            </a:pPr>
            <a:r>
              <a:rPr sz="900" b="0" i="1">
                <a:solidFill>
                  <a:srgbClr val="6A6F73"/>
                </a:solidFill>
                <a:latin typeface="Arial"/>
                <a:ea typeface="Arial"/>
                <a:cs typeface="Arial"/>
              </a:rPr>
              <a:t>Capability does not equal outcome. Availability, geography, contractual scope and technical fit must be confirmed for each project.</a:t>
            </a:r>
          </a:p>
        </p:txBody>
      </p:sp>
    </p:spTree>
  </p:cSld>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6F3EE"/>
        </a:solidFill>
      </p:bgPr>
    </p:bg>
    <p:spTree>
      <p:nvGrpSpPr>
        <p:cNvPr id="1" name=""/>
        <p:cNvGrpSpPr/>
        <p:nvPr/>
      </p:nvGrpSpPr>
      <p:grpSpPr>
        <a:xfrm/>
      </p:grpSpPr>
      <p:sp>
        <p:nvSpPr>
          <p:cNvPr id="127" name=""/>
          <p:cNvSpPr>
            <a:spLocks noGrp="1"/>
          </p:cNvSpPr>
          <p:nvPr/>
        </p:nvSpPr>
        <p:spPr>
          <a:xfrm>
            <a:off x="0" y="0"/>
            <a:ext cx="12192000" cy="57150"/>
          </a:xfrm>
          <a:prstGeom prst="rect">
            <a:avLst/>
          </a:prstGeom>
          <a:solidFill>
            <a:srgbClr val="C9783E"/>
          </a:solidFill>
          <a:ln w="0">
            <a:noFill/>
            <a:prstDash val="solid"/>
          </a:ln>
        </p:spPr>
      </p:sp>
      <p:pic>
        <p:nvPicPr>
          <p:cNvPr id="128" name=""/>
          <p:cNvPicPr>
            <a:picLocks noChangeAspect="1"/>
          </p:cNvPicPr>
          <p:nvPr/>
        </p:nvPicPr>
        <p:blipFill>
          <a:blip r:embed="rId1"/>
          <a:stretch/>
        </p:blipFill>
        <p:spPr>
          <a:xfrm>
            <a:off x="719138" y="200025"/>
            <a:ext cx="2066925" cy="590550"/>
          </a:xfrm>
          <a:prstGeom prst="rect">
            <a:avLst/>
          </a:prstGeom>
        </p:spPr>
      </p:pic>
      <p:sp>
        <p:nvSpPr>
          <p:cNvPr id="129" name=""/>
          <p:cNvSpPr>
            <a:spLocks noGrp="1"/>
          </p:cNvSpPr>
          <p:nvPr/>
        </p:nvSpPr>
        <p:spPr>
          <a:xfrm>
            <a:off x="7325360" y="323850"/>
            <a:ext cx="3600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819" b="1" i="0">
                <a:solidFill>
                  <a:srgbClr val="9D4E24"/>
                </a:solidFill>
                <a:latin typeface="Arial"/>
                <a:ea typeface="Arial"/>
                <a:cs typeface="Arial"/>
              </a:rPr>
              <a:t>APPENDIX A5 · EVIDENCE DISCIPLINE</a:t>
            </a:r>
          </a:p>
        </p:txBody>
      </p:sp>
      <p:sp>
        <p:nvSpPr>
          <p:cNvPr id="130" name=""/>
          <p:cNvSpPr>
            <a:spLocks noGrp="1"/>
          </p:cNvSpPr>
          <p:nvPr/>
        </p:nvSpPr>
        <p:spPr>
          <a:xfrm>
            <a:off x="11060000" y="323850"/>
            <a:ext cx="600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819" b="1" i="0">
                <a:solidFill>
                  <a:srgbClr val="8B9094"/>
                </a:solidFill>
                <a:latin typeface="Arial"/>
                <a:ea typeface="Arial"/>
                <a:cs typeface="Arial"/>
              </a:rPr>
              <a:t>16</a:t>
            </a:r>
          </a:p>
        </p:txBody>
      </p:sp>
      <p:sp>
        <p:nvSpPr>
          <p:cNvPr id="131" name=""/>
          <p:cNvSpPr>
            <a:spLocks noGrp="1"/>
          </p:cNvSpPr>
          <p:nvPr/>
        </p:nvSpPr>
        <p:spPr>
          <a:xfrm>
            <a:off x="719138" y="1005840"/>
            <a:ext cx="85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C9783E"/>
                </a:solidFill>
                <a:latin typeface="Arial"/>
                <a:ea typeface="Arial"/>
                <a:cs typeface="Arial"/>
              </a:rPr>
              <a:t>OBSERVED, MODELED, VALIDATED</a:t>
            </a:r>
          </a:p>
        </p:txBody>
      </p:sp>
      <p:sp>
        <p:nvSpPr>
          <p:cNvPr id="132" name=""/>
          <p:cNvSpPr>
            <a:spLocks noGrp="1"/>
          </p:cNvSpPr>
          <p:nvPr/>
        </p:nvSpPr>
        <p:spPr>
          <a:xfrm>
            <a:off x="719138" y="1280160"/>
            <a:ext cx="10753724" cy="800000"/>
          </a:xfrm>
          <a:prstGeom prst="rect">
            <a:avLst/>
          </a:prstGeom>
          <a:noFill/>
          <a:ln w="0">
            <a:noFill/>
            <a:prstDash val="solid"/>
          </a:ln>
        </p:spPr>
        <p:txBody>
          <a:bodyPr wrap="square" lIns="0" tIns="0" rIns="0" bIns="0" anchor="t">
            <a:normAutofit fontScale="100000"/>
          </a:bodyPr>
          <a:lstStyle/>
          <a:p>
            <a:pPr algn="l">
              <a:lnSpc>
                <a:spcPct val="104000"/>
              </a:lnSpc>
              <a:buNone/>
            </a:pPr>
            <a:r>
              <a:rPr sz="2850" b="1" i="0">
                <a:solidFill>
                  <a:srgbClr val="17191C"/>
                </a:solidFill>
                <a:latin typeface="Arial"/>
                <a:ea typeface="Arial"/>
                <a:cs typeface="Arial"/>
              </a:rPr>
              <a:t>Evidence is credible only when its boundaries stay visible.</a:t>
            </a:r>
          </a:p>
        </p:txBody>
      </p:sp>
      <p:sp>
        <p:nvSpPr>
          <p:cNvPr id="133" name=""/>
          <p:cNvSpPr>
            <a:spLocks noGrp="1"/>
          </p:cNvSpPr>
          <p:nvPr/>
        </p:nvSpPr>
        <p:spPr>
          <a:xfrm>
            <a:off x="719138" y="2240280"/>
            <a:ext cx="5237862" cy="3100000"/>
          </a:xfrm>
          <a:prstGeom prst="rect">
            <a:avLst/>
          </a:prstGeom>
          <a:solidFill>
            <a:srgbClr val="FFFFFF"/>
          </a:solidFill>
          <a:ln w="9525">
            <a:solidFill>
              <a:srgbClr val="D8D1C8"/>
            </a:solidFill>
            <a:prstDash val="solid"/>
          </a:ln>
        </p:spPr>
      </p:sp>
      <p:sp>
        <p:nvSpPr>
          <p:cNvPr id="134" name=""/>
          <p:cNvSpPr>
            <a:spLocks noGrp="1"/>
          </p:cNvSpPr>
          <p:nvPr/>
        </p:nvSpPr>
        <p:spPr>
          <a:xfrm>
            <a:off x="993458" y="2514600"/>
            <a:ext cx="4689222" cy="2500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9D4E24"/>
                </a:solidFill>
                <a:latin typeface="Arial"/>
                <a:ea typeface="Arial"/>
                <a:cs typeface="Arial"/>
              </a:rPr>
              <a:t>OBSERVED + PUBLISHED</a:t>
            </a:r>
          </a:p>
        </p:txBody>
      </p:sp>
      <p:sp>
        <p:nvSpPr>
          <p:cNvPr id="135" name=""/>
          <p:cNvSpPr>
            <a:spLocks noGrp="1"/>
          </p:cNvSpPr>
          <p:nvPr/>
        </p:nvSpPr>
        <p:spPr>
          <a:xfrm>
            <a:off x="993458" y="2994420"/>
            <a:ext cx="91440" cy="91440"/>
          </a:xfrm>
          <a:prstGeom prst="rect">
            <a:avLst/>
          </a:prstGeom>
          <a:solidFill>
            <a:srgbClr val="C9783E"/>
          </a:solidFill>
          <a:ln w="0">
            <a:noFill/>
            <a:prstDash val="solid"/>
          </a:ln>
        </p:spPr>
      </p:sp>
      <p:sp>
        <p:nvSpPr>
          <p:cNvPr id="136" name=""/>
          <p:cNvSpPr>
            <a:spLocks noGrp="1"/>
          </p:cNvSpPr>
          <p:nvPr/>
        </p:nvSpPr>
        <p:spPr>
          <a:xfrm>
            <a:off x="1222058" y="2925840"/>
            <a:ext cx="4460622" cy="700000"/>
          </a:xfrm>
          <a:prstGeom prst="rect">
            <a:avLst/>
          </a:prstGeom>
          <a:noFill/>
          <a:ln w="0">
            <a:noFill/>
            <a:prstDash val="solid"/>
          </a:ln>
        </p:spPr>
        <p:txBody>
          <a:bodyPr wrap="square" lIns="0" tIns="0" rIns="0" bIns="0" anchor="t">
            <a:normAutofit fontScale="100000"/>
          </a:bodyPr>
          <a:lstStyle/>
          <a:p>
            <a:pPr algn="l">
              <a:lnSpc>
                <a:spcPct val="110000"/>
              </a:lnSpc>
              <a:buNone/>
            </a:pPr>
            <a:r>
              <a:rPr sz="1050" b="0" i="0">
                <a:solidFill>
                  <a:srgbClr val="6A6F73"/>
                </a:solidFill>
                <a:latin typeface="Arial"/>
                <a:ea typeface="Arial"/>
                <a:cs typeface="Arial"/>
              </a:rPr>
              <a:t>Name the scope, source, permission and unit of measure.</a:t>
            </a:r>
          </a:p>
        </p:txBody>
      </p:sp>
      <p:sp>
        <p:nvSpPr>
          <p:cNvPr id="137" name=""/>
          <p:cNvSpPr>
            <a:spLocks noGrp="1"/>
          </p:cNvSpPr>
          <p:nvPr/>
        </p:nvSpPr>
        <p:spPr>
          <a:xfrm>
            <a:off x="993458" y="3725940"/>
            <a:ext cx="91440" cy="91440"/>
          </a:xfrm>
          <a:prstGeom prst="rect">
            <a:avLst/>
          </a:prstGeom>
          <a:solidFill>
            <a:srgbClr val="C9783E"/>
          </a:solidFill>
          <a:ln w="0">
            <a:noFill/>
            <a:prstDash val="solid"/>
          </a:ln>
        </p:spPr>
      </p:sp>
      <p:sp>
        <p:nvSpPr>
          <p:cNvPr id="138" name=""/>
          <p:cNvSpPr>
            <a:spLocks noGrp="1"/>
          </p:cNvSpPr>
          <p:nvPr/>
        </p:nvSpPr>
        <p:spPr>
          <a:xfrm>
            <a:off x="1222058" y="3657360"/>
            <a:ext cx="4460622" cy="700000"/>
          </a:xfrm>
          <a:prstGeom prst="rect">
            <a:avLst/>
          </a:prstGeom>
          <a:noFill/>
          <a:ln w="0">
            <a:noFill/>
            <a:prstDash val="solid"/>
          </a:ln>
        </p:spPr>
        <p:txBody>
          <a:bodyPr wrap="square" lIns="0" tIns="0" rIns="0" bIns="0" anchor="t">
            <a:normAutofit fontScale="100000"/>
          </a:bodyPr>
          <a:lstStyle/>
          <a:p>
            <a:pPr algn="l">
              <a:lnSpc>
                <a:spcPct val="110000"/>
              </a:lnSpc>
              <a:buNone/>
            </a:pPr>
            <a:r>
              <a:rPr sz="1050" b="0" i="0">
                <a:solidFill>
                  <a:srgbClr val="6A6F73"/>
                </a:solidFill>
                <a:latin typeface="Arial"/>
                <a:ea typeface="Arial"/>
                <a:cs typeface="Arial"/>
              </a:rPr>
              <a:t>Separate measured performance from arithmetic and inference.</a:t>
            </a:r>
          </a:p>
        </p:txBody>
      </p:sp>
      <p:sp>
        <p:nvSpPr>
          <p:cNvPr id="139" name=""/>
          <p:cNvSpPr>
            <a:spLocks noGrp="1"/>
          </p:cNvSpPr>
          <p:nvPr/>
        </p:nvSpPr>
        <p:spPr>
          <a:xfrm>
            <a:off x="993458" y="4457460"/>
            <a:ext cx="91440" cy="91440"/>
          </a:xfrm>
          <a:prstGeom prst="rect">
            <a:avLst/>
          </a:prstGeom>
          <a:solidFill>
            <a:srgbClr val="C9783E"/>
          </a:solidFill>
          <a:ln w="0">
            <a:noFill/>
            <a:prstDash val="solid"/>
          </a:ln>
        </p:spPr>
      </p:sp>
      <p:sp>
        <p:nvSpPr>
          <p:cNvPr id="140" name=""/>
          <p:cNvSpPr>
            <a:spLocks noGrp="1"/>
          </p:cNvSpPr>
          <p:nvPr/>
        </p:nvSpPr>
        <p:spPr>
          <a:xfrm>
            <a:off x="1222058" y="4388880"/>
            <a:ext cx="4460622" cy="700000"/>
          </a:xfrm>
          <a:prstGeom prst="rect">
            <a:avLst/>
          </a:prstGeom>
          <a:noFill/>
          <a:ln w="0">
            <a:noFill/>
            <a:prstDash val="solid"/>
          </a:ln>
        </p:spPr>
        <p:txBody>
          <a:bodyPr wrap="square" lIns="0" tIns="0" rIns="0" bIns="0" anchor="t">
            <a:normAutofit fontScale="100000"/>
          </a:bodyPr>
          <a:lstStyle/>
          <a:p>
            <a:pPr algn="l">
              <a:lnSpc>
                <a:spcPct val="110000"/>
              </a:lnSpc>
              <a:buNone/>
            </a:pPr>
            <a:r>
              <a:rPr sz="1050" b="0" i="0">
                <a:solidFill>
                  <a:srgbClr val="6A6F73"/>
                </a:solidFill>
                <a:latin typeface="Arial"/>
                <a:ea typeface="Arial"/>
                <a:cs typeface="Arial"/>
              </a:rPr>
              <a:t>Keep customer- and line-specific conditions attached to each result.</a:t>
            </a:r>
          </a:p>
        </p:txBody>
      </p:sp>
      <p:sp>
        <p:nvSpPr>
          <p:cNvPr id="141" name=""/>
          <p:cNvSpPr>
            <a:spLocks noGrp="1"/>
          </p:cNvSpPr>
          <p:nvPr/>
        </p:nvSpPr>
        <p:spPr>
          <a:xfrm>
            <a:off x="6235130" y="2240280"/>
            <a:ext cx="5237862" cy="3100000"/>
          </a:xfrm>
          <a:prstGeom prst="rect">
            <a:avLst/>
          </a:prstGeom>
          <a:solidFill>
            <a:srgbClr val="FFFFFF"/>
          </a:solidFill>
          <a:ln w="9525">
            <a:solidFill>
              <a:srgbClr val="D8D1C8"/>
            </a:solidFill>
            <a:prstDash val="solid"/>
          </a:ln>
        </p:spPr>
      </p:sp>
      <p:sp>
        <p:nvSpPr>
          <p:cNvPr id="142" name=""/>
          <p:cNvSpPr>
            <a:spLocks noGrp="1"/>
          </p:cNvSpPr>
          <p:nvPr/>
        </p:nvSpPr>
        <p:spPr>
          <a:xfrm>
            <a:off x="6509450" y="2514600"/>
            <a:ext cx="4689222" cy="2500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9D4E24"/>
                </a:solidFill>
                <a:latin typeface="Arial"/>
                <a:ea typeface="Arial"/>
                <a:cs typeface="Arial"/>
              </a:rPr>
              <a:t>MODELED + DIRECTIONAL</a:t>
            </a:r>
          </a:p>
        </p:txBody>
      </p:sp>
      <p:sp>
        <p:nvSpPr>
          <p:cNvPr id="143" name=""/>
          <p:cNvSpPr>
            <a:spLocks noGrp="1"/>
          </p:cNvSpPr>
          <p:nvPr/>
        </p:nvSpPr>
        <p:spPr>
          <a:xfrm>
            <a:off x="6509450" y="2994420"/>
            <a:ext cx="91440" cy="91440"/>
          </a:xfrm>
          <a:prstGeom prst="rect">
            <a:avLst/>
          </a:prstGeom>
          <a:solidFill>
            <a:srgbClr val="C9783E"/>
          </a:solidFill>
          <a:ln w="0">
            <a:noFill/>
            <a:prstDash val="solid"/>
          </a:ln>
        </p:spPr>
      </p:sp>
      <p:sp>
        <p:nvSpPr>
          <p:cNvPr id="144" name=""/>
          <p:cNvSpPr>
            <a:spLocks noGrp="1"/>
          </p:cNvSpPr>
          <p:nvPr/>
        </p:nvSpPr>
        <p:spPr>
          <a:xfrm>
            <a:off x="6738050" y="2925840"/>
            <a:ext cx="4460622" cy="700000"/>
          </a:xfrm>
          <a:prstGeom prst="rect">
            <a:avLst/>
          </a:prstGeom>
          <a:noFill/>
          <a:ln w="0">
            <a:noFill/>
            <a:prstDash val="solid"/>
          </a:ln>
        </p:spPr>
        <p:txBody>
          <a:bodyPr wrap="square" lIns="0" tIns="0" rIns="0" bIns="0" anchor="t">
            <a:normAutofit fontScale="100000"/>
          </a:bodyPr>
          <a:lstStyle/>
          <a:p>
            <a:pPr algn="l">
              <a:lnSpc>
                <a:spcPct val="110000"/>
              </a:lnSpc>
              <a:buNone/>
            </a:pPr>
            <a:r>
              <a:rPr sz="1050" b="0" i="0">
                <a:solidFill>
                  <a:srgbClr val="6A6F73"/>
                </a:solidFill>
                <a:latin typeface="Arial"/>
                <a:ea typeface="Arial"/>
                <a:cs typeface="Arial"/>
              </a:rPr>
              <a:t>State every input, exclusion and scope-equivalence assumption.</a:t>
            </a:r>
          </a:p>
        </p:txBody>
      </p:sp>
      <p:sp>
        <p:nvSpPr>
          <p:cNvPr id="145" name=""/>
          <p:cNvSpPr>
            <a:spLocks noGrp="1"/>
          </p:cNvSpPr>
          <p:nvPr/>
        </p:nvSpPr>
        <p:spPr>
          <a:xfrm>
            <a:off x="6509450" y="3725940"/>
            <a:ext cx="91440" cy="91440"/>
          </a:xfrm>
          <a:prstGeom prst="rect">
            <a:avLst/>
          </a:prstGeom>
          <a:solidFill>
            <a:srgbClr val="C9783E"/>
          </a:solidFill>
          <a:ln w="0">
            <a:noFill/>
            <a:prstDash val="solid"/>
          </a:ln>
        </p:spPr>
      </p:sp>
      <p:sp>
        <p:nvSpPr>
          <p:cNvPr id="146" name=""/>
          <p:cNvSpPr>
            <a:spLocks noGrp="1"/>
          </p:cNvSpPr>
          <p:nvPr/>
        </p:nvSpPr>
        <p:spPr>
          <a:xfrm>
            <a:off x="6738050" y="3657360"/>
            <a:ext cx="4460622" cy="700000"/>
          </a:xfrm>
          <a:prstGeom prst="rect">
            <a:avLst/>
          </a:prstGeom>
          <a:noFill/>
          <a:ln w="0">
            <a:noFill/>
            <a:prstDash val="solid"/>
          </a:ln>
        </p:spPr>
        <p:txBody>
          <a:bodyPr wrap="square" lIns="0" tIns="0" rIns="0" bIns="0" anchor="t">
            <a:normAutofit fontScale="100000"/>
          </a:bodyPr>
          <a:lstStyle/>
          <a:p>
            <a:pPr algn="l">
              <a:lnSpc>
                <a:spcPct val="110000"/>
              </a:lnSpc>
              <a:buNone/>
            </a:pPr>
            <a:r>
              <a:rPr sz="1050" b="0" i="0">
                <a:solidFill>
                  <a:srgbClr val="6A6F73"/>
                </a:solidFill>
                <a:latin typeface="Arial"/>
                <a:ea typeface="Arial"/>
                <a:cs typeface="Arial"/>
              </a:rPr>
              <a:t>Include engineering, factory work, freight, FAT and residual field work.</a:t>
            </a:r>
          </a:p>
        </p:txBody>
      </p:sp>
      <p:sp>
        <p:nvSpPr>
          <p:cNvPr id="147" name=""/>
          <p:cNvSpPr>
            <a:spLocks noGrp="1"/>
          </p:cNvSpPr>
          <p:nvPr/>
        </p:nvSpPr>
        <p:spPr>
          <a:xfrm>
            <a:off x="6509450" y="4457460"/>
            <a:ext cx="91440" cy="91440"/>
          </a:xfrm>
          <a:prstGeom prst="rect">
            <a:avLst/>
          </a:prstGeom>
          <a:solidFill>
            <a:srgbClr val="C9783E"/>
          </a:solidFill>
          <a:ln w="0">
            <a:noFill/>
            <a:prstDash val="solid"/>
          </a:ln>
        </p:spPr>
      </p:sp>
      <p:sp>
        <p:nvSpPr>
          <p:cNvPr id="148" name=""/>
          <p:cNvSpPr>
            <a:spLocks noGrp="1"/>
          </p:cNvSpPr>
          <p:nvPr/>
        </p:nvSpPr>
        <p:spPr>
          <a:xfrm>
            <a:off x="6738050" y="4388880"/>
            <a:ext cx="4460622" cy="700000"/>
          </a:xfrm>
          <a:prstGeom prst="rect">
            <a:avLst/>
          </a:prstGeom>
          <a:noFill/>
          <a:ln w="0">
            <a:noFill/>
            <a:prstDash val="solid"/>
          </a:ln>
        </p:spPr>
        <p:txBody>
          <a:bodyPr wrap="square" lIns="0" tIns="0" rIns="0" bIns="0" anchor="t">
            <a:normAutofit fontScale="100000"/>
          </a:bodyPr>
          <a:lstStyle/>
          <a:p>
            <a:pPr algn="l">
              <a:lnSpc>
                <a:spcPct val="110000"/>
              </a:lnSpc>
              <a:buNone/>
            </a:pPr>
            <a:r>
              <a:rPr sz="1050" b="0" i="0">
                <a:solidFill>
                  <a:srgbClr val="6A6F73"/>
                </a:solidFill>
                <a:latin typeface="Arial"/>
                <a:ea typeface="Arial"/>
                <a:cs typeface="Arial"/>
              </a:rPr>
              <a:t>Test whether the activity leaves the critical path before treating elapsed-time compression as schedule impact.</a:t>
            </a:r>
          </a:p>
        </p:txBody>
      </p:sp>
      <p:sp>
        <p:nvSpPr>
          <p:cNvPr id="149" name=""/>
          <p:cNvSpPr>
            <a:spLocks noGrp="1"/>
          </p:cNvSpPr>
          <p:nvPr/>
        </p:nvSpPr>
        <p:spPr>
          <a:xfrm>
            <a:off x="719138" y="5760720"/>
            <a:ext cx="10753724" cy="400000"/>
          </a:xfrm>
          <a:prstGeom prst="rect">
            <a:avLst/>
          </a:prstGeom>
          <a:solidFill>
            <a:srgbClr val="17191C"/>
          </a:solidFill>
          <a:ln w="0">
            <a:noFill/>
            <a:prstDash val="solid"/>
          </a:ln>
        </p:spPr>
      </p:sp>
      <p:sp>
        <p:nvSpPr>
          <p:cNvPr id="150" name=""/>
          <p:cNvSpPr>
            <a:spLocks noGrp="1"/>
          </p:cNvSpPr>
          <p:nvPr/>
        </p:nvSpPr>
        <p:spPr>
          <a:xfrm>
            <a:off x="719138" y="5760720"/>
            <a:ext cx="10753724" cy="400000"/>
          </a:xfrm>
          <a:prstGeom prst="rect">
            <a:avLst/>
          </a:prstGeom>
          <a:noFill/>
          <a:ln w="0">
            <a:noFill/>
            <a:prstDash val="solid"/>
          </a:ln>
        </p:spPr>
        <p:txBody>
          <a:bodyPr wrap="square" lIns="0" tIns="0" rIns="0" bIns="0" anchor="ctr">
            <a:normAutofit fontScale="100000"/>
          </a:bodyPr>
          <a:lstStyle/>
          <a:p>
            <a:pPr algn="ctr">
              <a:lnSpc>
                <a:spcPct val="100000"/>
              </a:lnSpc>
              <a:buNone/>
            </a:pPr>
            <a:r>
              <a:rPr sz="882" b="1" i="0">
                <a:solidFill>
                  <a:srgbClr val="FFFFFF"/>
                </a:solidFill>
                <a:latin typeface="Arial"/>
                <a:ea typeface="Arial"/>
                <a:cs typeface="Arial"/>
              </a:rPr>
              <a:t>DO NOT TURN A SCREENING MODEL INTO AN NRG OUTCOME.</a:t>
            </a:r>
          </a:p>
        </p:txBody>
      </p:sp>
      <p:sp>
        <p:nvSpPr>
          <p:cNvPr id="151" name=""/>
          <p:cNvSpPr>
            <a:spLocks noGrp="1"/>
          </p:cNvSpPr>
          <p:nvPr/>
        </p:nvSpPr>
        <p:spPr>
          <a:xfrm>
            <a:off x="719138" y="6355080"/>
            <a:ext cx="10753724" cy="250000"/>
          </a:xfrm>
          <a:prstGeom prst="rect">
            <a:avLst/>
          </a:prstGeom>
          <a:noFill/>
          <a:ln w="0">
            <a:noFill/>
            <a:prstDash val="solid"/>
          </a:ln>
        </p:spPr>
        <p:txBody>
          <a:bodyPr wrap="square" lIns="0" tIns="0" rIns="0" bIns="0" anchor="t">
            <a:normAutofit fontScale="100000"/>
          </a:bodyPr>
          <a:lstStyle/>
          <a:p>
            <a:pPr algn="ctr">
              <a:lnSpc>
                <a:spcPct val="100000"/>
              </a:lnSpc>
              <a:buNone/>
            </a:pPr>
            <a:r>
              <a:rPr sz="900" b="0" i="1">
                <a:solidFill>
                  <a:srgbClr val="6A6F73"/>
                </a:solidFill>
                <a:latin typeface="Arial"/>
                <a:ea typeface="Arial"/>
                <a:cs typeface="Arial"/>
              </a:rPr>
              <a:t>Release gate: source permission, scope equivalence and NRG-specific validation approved.</a:t>
            </a:r>
          </a:p>
        </p:txBody>
      </p:sp>
    </p:spTree>
  </p:cSld>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6F3EE"/>
        </a:solidFill>
      </p:bgPr>
    </p:bg>
    <p:spTree>
      <p:nvGrpSpPr>
        <p:cNvPr id="1" name=""/>
        <p:cNvGrpSpPr/>
        <p:nvPr/>
      </p:nvGrpSpPr>
      <p:grpSpPr>
        <a:xfrm/>
      </p:grpSpPr>
      <p:sp>
        <p:nvSpPr>
          <p:cNvPr id="130" name=""/>
          <p:cNvSpPr>
            <a:spLocks noGrp="1"/>
          </p:cNvSpPr>
          <p:nvPr/>
        </p:nvSpPr>
        <p:spPr>
          <a:xfrm>
            <a:off x="0" y="0"/>
            <a:ext cx="12192000" cy="57150"/>
          </a:xfrm>
          <a:prstGeom prst="rect">
            <a:avLst/>
          </a:prstGeom>
          <a:solidFill>
            <a:srgbClr val="C9783E"/>
          </a:solidFill>
          <a:ln w="0">
            <a:noFill/>
            <a:prstDash val="solid"/>
          </a:ln>
        </p:spPr>
      </p:sp>
      <p:pic>
        <p:nvPicPr>
          <p:cNvPr id="131" name=""/>
          <p:cNvPicPr>
            <a:picLocks noChangeAspect="1"/>
          </p:cNvPicPr>
          <p:nvPr/>
        </p:nvPicPr>
        <p:blipFill>
          <a:blip r:embed="rId1"/>
          <a:stretch/>
        </p:blipFill>
        <p:spPr>
          <a:xfrm>
            <a:off x="719138" y="200025"/>
            <a:ext cx="2066925" cy="590550"/>
          </a:xfrm>
          <a:prstGeom prst="rect">
            <a:avLst/>
          </a:prstGeom>
        </p:spPr>
      </p:pic>
      <p:sp>
        <p:nvSpPr>
          <p:cNvPr id="132" name=""/>
          <p:cNvSpPr>
            <a:spLocks noGrp="1"/>
          </p:cNvSpPr>
          <p:nvPr/>
        </p:nvSpPr>
        <p:spPr>
          <a:xfrm>
            <a:off x="7325360" y="323850"/>
            <a:ext cx="3600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819" b="1" i="0">
                <a:solidFill>
                  <a:srgbClr val="9D4E24"/>
                </a:solidFill>
                <a:latin typeface="Arial"/>
                <a:ea typeface="Arial"/>
                <a:cs typeface="Arial"/>
              </a:rPr>
              <a:t>APPENDIX A6 · SITE-MODEL BASIS</a:t>
            </a:r>
          </a:p>
        </p:txBody>
      </p:sp>
      <p:sp>
        <p:nvSpPr>
          <p:cNvPr id="133" name=""/>
          <p:cNvSpPr>
            <a:spLocks noGrp="1"/>
          </p:cNvSpPr>
          <p:nvPr/>
        </p:nvSpPr>
        <p:spPr>
          <a:xfrm>
            <a:off x="11060000" y="323850"/>
            <a:ext cx="600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819" b="1" i="0">
                <a:solidFill>
                  <a:srgbClr val="8B9094"/>
                </a:solidFill>
                <a:latin typeface="Arial"/>
                <a:ea typeface="Arial"/>
                <a:cs typeface="Arial"/>
              </a:rPr>
              <a:t>17</a:t>
            </a:r>
          </a:p>
        </p:txBody>
      </p:sp>
      <p:sp>
        <p:nvSpPr>
          <p:cNvPr id="134" name=""/>
          <p:cNvSpPr>
            <a:spLocks noGrp="1"/>
          </p:cNvSpPr>
          <p:nvPr/>
        </p:nvSpPr>
        <p:spPr>
          <a:xfrm>
            <a:off x="719138" y="1280160"/>
            <a:ext cx="10753724" cy="800000"/>
          </a:xfrm>
          <a:prstGeom prst="rect">
            <a:avLst/>
          </a:prstGeom>
          <a:noFill/>
          <a:ln w="0">
            <a:noFill/>
            <a:prstDash val="solid"/>
          </a:ln>
        </p:spPr>
        <p:txBody>
          <a:bodyPr wrap="square" lIns="0" tIns="0" rIns="0" bIns="0" anchor="t">
            <a:normAutofit fontScale="100000"/>
          </a:bodyPr>
          <a:lstStyle/>
          <a:p>
            <a:pPr algn="l">
              <a:lnSpc>
                <a:spcPct val="104000"/>
              </a:lnSpc>
              <a:buNone/>
            </a:pPr>
            <a:r>
              <a:rPr sz="2850" b="1" i="0">
                <a:solidFill>
                  <a:srgbClr val="17191C"/>
                </a:solidFill>
                <a:latin typeface="Arial"/>
                <a:ea typeface="Arial"/>
                <a:cs typeface="Arial"/>
              </a:rPr>
              <a:t>The plant-zone map is grounded in a routed 3×1 reference model.</a:t>
            </a:r>
          </a:p>
        </p:txBody>
      </p:sp>
      <p:sp>
        <p:nvSpPr>
          <p:cNvPr id="135" name=""/>
          <p:cNvSpPr>
            <a:spLocks noGrp="1"/>
          </p:cNvSpPr>
          <p:nvPr/>
        </p:nvSpPr>
        <p:spPr>
          <a:xfrm>
            <a:off x="719138" y="2286000"/>
            <a:ext cx="10753724" cy="300000"/>
          </a:xfrm>
          <a:prstGeom prst="rect">
            <a:avLst/>
          </a:prstGeom>
          <a:noFill/>
          <a:ln w="0">
            <a:noFill/>
            <a:prstDash val="solid"/>
          </a:ln>
        </p:spPr>
        <p:txBody>
          <a:bodyPr wrap="square" lIns="0" tIns="0" rIns="0" bIns="0" anchor="t">
            <a:normAutofit fontScale="100000"/>
          </a:bodyPr>
          <a:lstStyle/>
          <a:p>
            <a:pPr algn="l">
              <a:lnSpc>
                <a:spcPct val="108000"/>
              </a:lnSpc>
              <a:buNone/>
            </a:pPr>
            <a:r>
              <a:rPr sz="1050" b="0" i="0">
                <a:solidFill>
                  <a:srgbClr val="6A6F73"/>
                </a:solidFill>
                <a:latin typeface="Arial"/>
                <a:ea typeface="Arial"/>
                <a:cs typeface="Arial"/>
              </a:rPr>
              <a:t>Every figure below comes from the routed Rev 89 geometry — built before any RFQ existed.</a:t>
            </a:r>
          </a:p>
        </p:txBody>
      </p:sp>
      <p:sp>
        <p:nvSpPr>
          <p:cNvPr id="136" name=""/>
          <p:cNvSpPr>
            <a:spLocks noGrp="1"/>
          </p:cNvSpPr>
          <p:nvPr/>
        </p:nvSpPr>
        <p:spPr>
          <a:xfrm>
            <a:off x="719138" y="2606040"/>
            <a:ext cx="3703320"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134" b="1" i="0">
                <a:solidFill>
                  <a:srgbClr val="9D4E24"/>
                </a:solidFill>
                <a:latin typeface="Arial"/>
                <a:ea typeface="Arial"/>
                <a:cs typeface="Arial"/>
              </a:rPr>
              <a:t>96 SCHEDULE RECORDS</a:t>
            </a:r>
          </a:p>
        </p:txBody>
      </p:sp>
      <p:sp>
        <p:nvSpPr>
          <p:cNvPr id="137" name=""/>
          <p:cNvSpPr>
            <a:spLocks noGrp="1"/>
          </p:cNvSpPr>
          <p:nvPr/>
        </p:nvSpPr>
        <p:spPr>
          <a:xfrm>
            <a:off x="4645660" y="2628900"/>
            <a:ext cx="6827202" cy="48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NGCC master cable schedule Rev M21 — geometry-governed quantities, not factored estimates.</a:t>
            </a:r>
          </a:p>
        </p:txBody>
      </p:sp>
      <p:sp>
        <p:nvSpPr>
          <p:cNvPr id="138" name=""/>
          <p:cNvSpPr>
            <a:spLocks noGrp="1"/>
          </p:cNvSpPr>
          <p:nvPr/>
        </p:nvSpPr>
        <p:spPr>
          <a:xfrm>
            <a:off x="719138" y="3200400"/>
            <a:ext cx="10753724" cy="9525"/>
          </a:xfrm>
          <a:prstGeom prst="rect">
            <a:avLst/>
          </a:prstGeom>
          <a:solidFill>
            <a:srgbClr val="D8D1C8"/>
          </a:solidFill>
          <a:ln w="0">
            <a:noFill/>
            <a:prstDash val="solid"/>
          </a:ln>
        </p:spPr>
      </p:sp>
      <p:sp>
        <p:nvSpPr>
          <p:cNvPr id="139" name=""/>
          <p:cNvSpPr>
            <a:spLocks noGrp="1"/>
          </p:cNvSpPr>
          <p:nvPr/>
        </p:nvSpPr>
        <p:spPr>
          <a:xfrm>
            <a:off x="719138" y="3337560"/>
            <a:ext cx="3703320"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134" b="1" i="0">
                <a:solidFill>
                  <a:srgbClr val="9D4E24"/>
                </a:solidFill>
                <a:latin typeface="Arial"/>
                <a:ea typeface="Arial"/>
                <a:cs typeface="Arial"/>
              </a:rPr>
              <a:t>1,784 CIRCUITS ROUTED</a:t>
            </a:r>
          </a:p>
        </p:txBody>
      </p:sp>
      <p:sp>
        <p:nvSpPr>
          <p:cNvPr id="140" name=""/>
          <p:cNvSpPr>
            <a:spLocks noGrp="1"/>
          </p:cNvSpPr>
          <p:nvPr/>
        </p:nvSpPr>
        <p:spPr>
          <a:xfrm>
            <a:off x="4645660" y="3360420"/>
            <a:ext cx="6827202" cy="48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2,478 physical runs routed through the Rev 89 site geometry, across every plant zone in slide 5.</a:t>
            </a:r>
          </a:p>
        </p:txBody>
      </p:sp>
      <p:sp>
        <p:nvSpPr>
          <p:cNvPr id="141" name=""/>
          <p:cNvSpPr>
            <a:spLocks noGrp="1"/>
          </p:cNvSpPr>
          <p:nvPr/>
        </p:nvSpPr>
        <p:spPr>
          <a:xfrm>
            <a:off x="719138" y="3931920"/>
            <a:ext cx="10753724" cy="9525"/>
          </a:xfrm>
          <a:prstGeom prst="rect">
            <a:avLst/>
          </a:prstGeom>
          <a:solidFill>
            <a:srgbClr val="D8D1C8"/>
          </a:solidFill>
          <a:ln w="0">
            <a:noFill/>
            <a:prstDash val="solid"/>
          </a:ln>
        </p:spPr>
      </p:sp>
      <p:sp>
        <p:nvSpPr>
          <p:cNvPr id="142" name=""/>
          <p:cNvSpPr>
            <a:spLocks noGrp="1"/>
          </p:cNvSpPr>
          <p:nvPr/>
        </p:nvSpPr>
        <p:spPr>
          <a:xfrm>
            <a:off x="719138" y="4069080"/>
            <a:ext cx="3703320"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134" b="1" i="0">
                <a:solidFill>
                  <a:srgbClr val="9D4E24"/>
                </a:solidFill>
                <a:latin typeface="Arial"/>
                <a:ea typeface="Arial"/>
                <a:cs typeface="Arial"/>
              </a:rPr>
              <a:t>1,136,255 PROCUREMENT FT</a:t>
            </a:r>
          </a:p>
        </p:txBody>
      </p:sp>
      <p:sp>
        <p:nvSpPr>
          <p:cNvPr id="143" name=""/>
          <p:cNvSpPr>
            <a:spLocks noGrp="1"/>
          </p:cNvSpPr>
          <p:nvPr/>
        </p:nvSpPr>
        <p:spPr>
          <a:xfrm>
            <a:off x="4645660" y="4091940"/>
            <a:ext cx="6827202" cy="48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Approximately 1.14M ft of cable derived from routed lengths plus engineering allowances.</a:t>
            </a:r>
          </a:p>
        </p:txBody>
      </p:sp>
      <p:sp>
        <p:nvSpPr>
          <p:cNvPr id="144" name=""/>
          <p:cNvSpPr>
            <a:spLocks noGrp="1"/>
          </p:cNvSpPr>
          <p:nvPr/>
        </p:nvSpPr>
        <p:spPr>
          <a:xfrm>
            <a:off x="719138" y="4663440"/>
            <a:ext cx="10753724" cy="9525"/>
          </a:xfrm>
          <a:prstGeom prst="rect">
            <a:avLst/>
          </a:prstGeom>
          <a:solidFill>
            <a:srgbClr val="D8D1C8"/>
          </a:solidFill>
          <a:ln w="0">
            <a:noFill/>
            <a:prstDash val="solid"/>
          </a:ln>
        </p:spPr>
      </p:sp>
      <p:sp>
        <p:nvSpPr>
          <p:cNvPr id="145" name=""/>
          <p:cNvSpPr>
            <a:spLocks noGrp="1"/>
          </p:cNvSpPr>
          <p:nvPr/>
        </p:nvSpPr>
        <p:spPr>
          <a:xfrm>
            <a:off x="719138" y="4800600"/>
            <a:ext cx="3703320"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134" b="1" i="0">
                <a:solidFill>
                  <a:srgbClr val="9D4E24"/>
                </a:solidFill>
                <a:latin typeface="Arial"/>
                <a:ea typeface="Arial"/>
                <a:cs typeface="Arial"/>
              </a:rPr>
              <a:t>563,091 LB COPPER</a:t>
            </a:r>
          </a:p>
        </p:txBody>
      </p:sp>
      <p:sp>
        <p:nvSpPr>
          <p:cNvPr id="146" name=""/>
          <p:cNvSpPr>
            <a:spLocks noGrp="1"/>
          </p:cNvSpPr>
          <p:nvPr/>
        </p:nvSpPr>
        <p:spPr>
          <a:xfrm>
            <a:off x="4645660" y="4823460"/>
            <a:ext cx="6827202" cy="48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About 0.50 lb of copper per foot on average — commodity exposure quantified before procurement.</a:t>
            </a:r>
          </a:p>
        </p:txBody>
      </p:sp>
      <p:sp>
        <p:nvSpPr>
          <p:cNvPr id="147" name=""/>
          <p:cNvSpPr>
            <a:spLocks noGrp="1"/>
          </p:cNvSpPr>
          <p:nvPr/>
        </p:nvSpPr>
        <p:spPr>
          <a:xfrm>
            <a:off x="719138" y="5623560"/>
            <a:ext cx="10753724" cy="2500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a:ea typeface="Arial"/>
                <a:cs typeface="Arial"/>
              </a:rPr>
              <a:t>Published Southwire record: 15M+ ft of HV underground cable with zero in-service failures.</a:t>
            </a:r>
          </a:p>
        </p:txBody>
      </p:sp>
      <p:sp>
        <p:nvSpPr>
          <p:cNvPr id="148" name=""/>
          <p:cNvSpPr>
            <a:spLocks noGrp="1"/>
          </p:cNvSpPr>
          <p:nvPr/>
        </p:nvSpPr>
        <p:spPr>
          <a:xfrm>
            <a:off x="719138" y="6315000"/>
            <a:ext cx="10753724" cy="400000"/>
          </a:xfrm>
          <a:prstGeom prst="rect">
            <a:avLst/>
          </a:prstGeom>
          <a:solidFill>
            <a:srgbClr val="17191C"/>
          </a:solidFill>
          <a:ln w="0">
            <a:noFill/>
            <a:prstDash val="solid"/>
          </a:ln>
        </p:spPr>
      </p:sp>
      <p:sp>
        <p:nvSpPr>
          <p:cNvPr id="149" name=""/>
          <p:cNvSpPr>
            <a:spLocks noGrp="1"/>
          </p:cNvSpPr>
          <p:nvPr/>
        </p:nvSpPr>
        <p:spPr>
          <a:xfrm>
            <a:off x="719138" y="6315000"/>
            <a:ext cx="10753724" cy="400000"/>
          </a:xfrm>
          <a:prstGeom prst="rect">
            <a:avLst/>
          </a:prstGeom>
          <a:noFill/>
          <a:ln w="0">
            <a:noFill/>
            <a:prstDash val="solid"/>
          </a:ln>
        </p:spPr>
        <p:txBody>
          <a:bodyPr wrap="square" lIns="0" tIns="0" rIns="0" bIns="0" anchor="ctr">
            <a:normAutofit fontScale="100000"/>
          </a:bodyPr>
          <a:lstStyle/>
          <a:p>
            <a:pPr algn="ctr">
              <a:lnSpc>
                <a:spcPct val="100000"/>
              </a:lnSpc>
              <a:buNone/>
            </a:pPr>
            <a:r>
              <a:rPr sz="882" b="1" i="0">
                <a:solidFill>
                  <a:srgbClr val="FFFFFF"/>
                </a:solidFill>
                <a:latin typeface="Arial"/>
                <a:ea typeface="Arial"/>
                <a:cs typeface="Arial"/>
              </a:rPr>
              <a:t>THE MODEL BEHIND SLIDE 5 — CONCEPT, NOT FOR CONSTRUCTION; STOCK NUMBERS REQUIRE CONDUCTOR SIZING.</a:t>
            </a:r>
          </a:p>
        </p:txBody>
      </p:sp>
    </p:spTree>
  </p:cSld>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6F3EE"/>
        </a:solidFill>
      </p:bgPr>
    </p:bg>
    <p:spTree>
      <p:nvGrpSpPr>
        <p:cNvPr id="1" name=""/>
        <p:cNvGrpSpPr/>
        <p:nvPr/>
      </p:nvGrpSpPr>
      <p:grpSpPr>
        <a:xfrm/>
      </p:grpSpPr>
      <p:sp>
        <p:nvSpPr>
          <p:cNvPr id="152" name=""/>
          <p:cNvSpPr>
            <a:spLocks noGrp="1"/>
          </p:cNvSpPr>
          <p:nvPr/>
        </p:nvSpPr>
        <p:spPr>
          <a:xfrm>
            <a:off x="0" y="0"/>
            <a:ext cx="12192000" cy="57150"/>
          </a:xfrm>
          <a:prstGeom prst="rect">
            <a:avLst/>
          </a:prstGeom>
          <a:solidFill>
            <a:srgbClr val="C9783E"/>
          </a:solidFill>
          <a:ln w="0">
            <a:noFill/>
            <a:prstDash val="solid"/>
          </a:ln>
        </p:spPr>
      </p:sp>
      <p:pic>
        <p:nvPicPr>
          <p:cNvPr id="153" name=""/>
          <p:cNvPicPr>
            <a:picLocks noChangeAspect="1"/>
          </p:cNvPicPr>
          <p:nvPr/>
        </p:nvPicPr>
        <p:blipFill>
          <a:blip r:embed="rId1"/>
          <a:stretch/>
        </p:blipFill>
        <p:spPr>
          <a:xfrm>
            <a:off x="719138" y="200025"/>
            <a:ext cx="2066925" cy="590550"/>
          </a:xfrm>
          <a:prstGeom prst="rect">
            <a:avLst/>
          </a:prstGeom>
        </p:spPr>
      </p:pic>
      <p:sp>
        <p:nvSpPr>
          <p:cNvPr id="154" name=""/>
          <p:cNvSpPr>
            <a:spLocks noGrp="1"/>
          </p:cNvSpPr>
          <p:nvPr/>
        </p:nvSpPr>
        <p:spPr>
          <a:xfrm>
            <a:off x="7325360" y="323850"/>
            <a:ext cx="3600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819" b="1" i="0">
                <a:solidFill>
                  <a:srgbClr val="9D4E24"/>
                </a:solidFill>
                <a:latin typeface="Arial"/>
                <a:ea typeface="Arial"/>
                <a:cs typeface="Arial"/>
              </a:rPr>
              <a:t>APPENDIX A7 · SK-120 REFERENCE</a:t>
            </a:r>
          </a:p>
        </p:txBody>
      </p:sp>
      <p:sp>
        <p:nvSpPr>
          <p:cNvPr id="155" name=""/>
          <p:cNvSpPr>
            <a:spLocks noGrp="1"/>
          </p:cNvSpPr>
          <p:nvPr/>
        </p:nvSpPr>
        <p:spPr>
          <a:xfrm>
            <a:off x="11060000" y="323850"/>
            <a:ext cx="600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819" b="1" i="0">
                <a:solidFill>
                  <a:srgbClr val="8B9094"/>
                </a:solidFill>
                <a:latin typeface="Arial"/>
                <a:ea typeface="Arial"/>
                <a:cs typeface="Arial"/>
              </a:rPr>
              <a:t>18</a:t>
            </a:r>
          </a:p>
        </p:txBody>
      </p:sp>
      <p:pic>
        <p:nvPicPr>
          <p:cNvPr id="156" name=""/>
          <p:cNvPicPr>
            <a:picLocks noChangeAspect="1"/>
          </p:cNvPicPr>
          <p:nvPr/>
        </p:nvPicPr>
        <p:blipFill>
          <a:blip r:embed="Rsk120"/>
          <a:stretch/>
        </p:blipFill>
        <p:spPr>
          <a:xfrm>
            <a:off x="1011152" y="950000"/>
            <a:ext cx="10169696" cy="5570220"/>
          </a:xfrm>
          <a:prstGeom prst="rect">
            <a:avLst/>
          </a:prstGeom>
        </p:spPr>
      </p:pic>
      <p:sp>
        <p:nvSpPr>
          <p:cNvPr id="157" name=""/>
          <p:cNvSpPr>
            <a:spLocks noGrp="1"/>
          </p:cNvSpPr>
          <p:nvPr/>
        </p:nvSpPr>
        <p:spPr>
          <a:xfrm>
            <a:off x="719138" y="6640000"/>
            <a:ext cx="10753724" cy="200000"/>
          </a:xfrm>
          <a:prstGeom prst="rect">
            <a:avLst/>
          </a:prstGeom>
          <a:noFill/>
          <a:ln w="0">
            <a:noFill/>
            <a:prstDash val="solid"/>
          </a:ln>
        </p:spPr>
        <p:txBody>
          <a:bodyPr wrap="square" lIns="0" tIns="0" rIns="0" bIns="0" anchor="t">
            <a:normAutofit fontScale="100000"/>
          </a:bodyPr>
          <a:lstStyle/>
          <a:p>
            <a:pPr algn="ctr">
              <a:lnSpc>
                <a:spcPct val="100000"/>
              </a:lnSpc>
              <a:buNone/>
            </a:pPr>
            <a:r>
              <a:rPr sz="900" b="0" i="1">
                <a:solidFill>
                  <a:srgbClr val="6A6F73"/>
                </a:solidFill>
                <a:latin typeface="Arial"/>
                <a:ea typeface="Arial"/>
                <a:cs typeface="Arial"/>
              </a:rPr>
              <a:t>SK-120 · 3×1 NGCC · Rev 89 site model · 16 zones with per-zone cable applications · concept, not for construction · print at 34″ for site-walk use.</a:t>
            </a:r>
          </a:p>
        </p:txBody>
      </p:sp>
    </p:spTree>
  </p:cSld>
</p:sld>
</file>

<file path=ppt/slides/slide18.xml><?xml version="1.0" encoding="utf-8"?>
<p:sld xmlns:p="http://schemas.openxmlformats.org/presentationml/2006/main">
  <p:cSld>
    <p:bg>
      <p:bgPr>
        <a:solidFill xmlns:a="http://schemas.openxmlformats.org/drawingml/2006/main">
          <a:srgbClr val="22252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6A8162B-F601-4993-98BE-8D3BBB6944A4}"/>
              </a:ext>
            </a:extLst>
          </p:cNvPr>
          <p:cNvSpPr>
            <a:spLocks xmlns:a="http://schemas.openxmlformats.org/drawingml/2006/main" noGrp="1"/>
          </p:cNvSpPr>
          <p:nvPr/>
        </p:nvSpPr>
        <p:spPr>
          <a:xfrm xmlns:a="http://schemas.openxmlformats.org/drawingml/2006/main" rot="0">
            <a:off x="0" y="0"/>
            <a:ext cx="12192000" cy="5715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7ee1c5f2262e4319"/>
          <a:srcRect xmlns:a="http://schemas.openxmlformats.org/drawingml/2006/main" l="8771" t="0" r="8771" b="0"/>
          <a:stretch xmlns:a="http://schemas.openxmlformats.org/drawingml/2006/main">
            <a:fillRect l="0" t="0" r="0" b="0"/>
          </a:stretch>
        </p:blipFill>
        <p:spPr>
          <a:xfrm xmlns:a="http://schemas.openxmlformats.org/drawingml/2006/main">
            <a:off x="552450" y="209550"/>
            <a:ext cx="2457450" cy="41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8FD36E9-20DA-46F1-ACA1-252C5BC610D1}"/>
              </a:ext>
            </a:extLst>
          </p:cNvPr>
          <p:cNvSpPr>
            <a:spLocks xmlns:a="http://schemas.openxmlformats.org/drawingml/2006/main" noGrp="1"/>
          </p:cNvSpPr>
          <p:nvPr/>
        </p:nvSpPr>
        <p:spPr>
          <a:xfrm xmlns:a="http://schemas.openxmlformats.org/drawingml/2006/main">
            <a:off x="8096250" y="3238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19" b="1" i="0">
                <a:solidFill>
                  <a:srgbClr val="E3A06D"/>
                </a:solidFill>
                <a:latin typeface="Arial"/>
                <a:ea typeface="Arial"/>
                <a:cs typeface="Arial"/>
              </a:defRPr>
            </a:pPr>
            <a:r>
              <a:rPr sz="819" b="1" i="0">
                <a:solidFill>
                  <a:srgbClr val="E3A06D"/>
                </a:solidFill>
                <a:latin typeface="Arial"/>
                <a:ea typeface="Arial"/>
                <a:cs typeface="Arial"/>
              </a:rPr>
              <a:t>APPENDIX A8 · SKID SCENARIO</a:t>
            </a:r>
          </a:p>
        </p:txBody>
      </p:sp>
      <p:sp>
        <p:nvSpPr>
          <p:cNvPr id="4" name="">
            <a:extLst xmlns:a="http://schemas.openxmlformats.org/drawingml/2006/main">
              <a:ext uri="{FF2B5EF4-FFF2-40B4-BE49-F238E27FC236}">
                <a16:creationId xmlns:a16="http://schemas.microsoft.com/office/drawing/2014/main" id="{00E4AB5C-7EC8-420D-B720-AC3E8A2FEB4D}"/>
              </a:ext>
            </a:extLst>
          </p:cNvPr>
          <p:cNvSpPr>
            <a:spLocks xmlns:a="http://schemas.openxmlformats.org/drawingml/2006/main" noGrp="1"/>
          </p:cNvSpPr>
          <p:nvPr/>
        </p:nvSpPr>
        <p:spPr>
          <a:xfrm xmlns:a="http://schemas.openxmlformats.org/drawingml/2006/main">
            <a:off x="11334750" y="3238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19" b="1" i="0">
                <a:solidFill>
                  <a:srgbClr val="8B9094"/>
                </a:solidFill>
                <a:latin typeface="Arial"/>
                <a:ea typeface="Arial"/>
                <a:cs typeface="Arial"/>
              </a:defRPr>
            </a:pPr>
            <a:r>
              <a:rPr sz="819" b="1" i="0">
                <a:solidFill>
                  <a:srgbClr val="8B9094"/>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3678909B-CBB8-472D-9EB7-45D22A318EED}"/>
              </a:ext>
            </a:extLst>
          </p:cNvPr>
          <p:cNvSpPr>
            <a:spLocks xmlns:a="http://schemas.openxmlformats.org/drawingml/2006/main" noGrp="1"/>
          </p:cNvSpPr>
          <p:nvPr/>
        </p:nvSpPr>
        <p:spPr>
          <a:xfrm xmlns:a="http://schemas.openxmlformats.org/drawingml/2006/main">
            <a:off x="552450" y="876300"/>
            <a:ext cx="1104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82" b="1" i="0">
                <a:solidFill>
                  <a:srgbClr val="E3A06D"/>
                </a:solidFill>
                <a:latin typeface="Arial"/>
                <a:ea typeface="Arial"/>
                <a:cs typeface="Arial"/>
              </a:defRPr>
            </a:pPr>
            <a:r>
              <a:rPr sz="882" b="1" i="0">
                <a:solidFill>
                  <a:srgbClr val="E3A06D"/>
                </a:solidFill>
                <a:latin typeface="Arial"/>
                <a:ea typeface="Arial"/>
                <a:cs typeface="Arial"/>
              </a:rPr>
              <a:t>INTERNAL ILLUSTRATIVE MODEL  |  NOT A CUSTOMER OR NRG RESULT</a:t>
            </a:r>
          </a:p>
        </p:txBody>
      </p:sp>
      <p:sp>
        <p:nvSpPr>
          <p:cNvPr id="6" name="">
            <a:extLst xmlns:a="http://schemas.openxmlformats.org/drawingml/2006/main">
              <a:ext uri="{FF2B5EF4-FFF2-40B4-BE49-F238E27FC236}">
                <a16:creationId xmlns:a16="http://schemas.microsoft.com/office/drawing/2014/main" id="{588CB839-CF33-46DF-BEAB-0097A59E0ECC}"/>
              </a:ext>
            </a:extLst>
          </p:cNvPr>
          <p:cNvSpPr>
            <a:spLocks xmlns:a="http://schemas.openxmlformats.org/drawingml/2006/main" noGrp="1"/>
          </p:cNvSpPr>
          <p:nvPr/>
        </p:nvSpPr>
        <p:spPr>
          <a:xfrm xmlns:a="http://schemas.openxmlformats.org/drawingml/2006/main">
            <a:off x="552450" y="1181100"/>
            <a:ext cx="1104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763"/>
          </a:bodyPr>
          <a:lstStyle xmlns:a="http://schemas.openxmlformats.org/drawingml/2006/main"/>
          <a:p xmlns:a="http://schemas.openxmlformats.org/drawingml/2006/main">
            <a:pPr algn="l">
              <a:lnSpc>
                <a:spcPct val="94000"/>
              </a:lnSpc>
              <a:buNone/>
              <a:defRPr sz="2775" b="1" i="0">
                <a:solidFill>
                  <a:srgbClr val="FFFFFF"/>
                </a:solidFill>
                <a:latin typeface="Arial"/>
                <a:ea typeface="Arial"/>
                <a:cs typeface="Arial"/>
              </a:defRPr>
            </a:pPr>
            <a:r>
              <a:rPr sz="2775" b="1" i="0">
                <a:solidFill>
                  <a:srgbClr val="FFFFFF"/>
                </a:solidFill>
                <a:latin typeface="Arial"/>
                <a:ea typeface="Arial"/>
                <a:cs typeface="Arial"/>
              </a:rPr>
              <a:t>Repeatable skid interfaces are a prefabrication candidate—not a promised result.</a:t>
            </a:r>
          </a:p>
        </p:txBody>
      </p:sp>
      <p:sp>
        <p:nvSpPr>
          <p:cNvPr id="7" name="">
            <a:extLst xmlns:a="http://schemas.openxmlformats.org/drawingml/2006/main">
              <a:ext uri="{FF2B5EF4-FFF2-40B4-BE49-F238E27FC236}">
                <a16:creationId xmlns:a16="http://schemas.microsoft.com/office/drawing/2014/main" id="{7463E3EC-1859-40FD-913D-354070C70FBE}"/>
              </a:ext>
            </a:extLst>
          </p:cNvPr>
          <p:cNvSpPr>
            <a:spLocks xmlns:a="http://schemas.openxmlformats.org/drawingml/2006/main" noGrp="1"/>
          </p:cNvSpPr>
          <p:nvPr/>
        </p:nvSpPr>
        <p:spPr>
          <a:xfrm xmlns:a="http://schemas.openxmlformats.org/drawingml/2006/main">
            <a:off x="552450" y="1914525"/>
            <a:ext cx="800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C8CBCE"/>
                </a:solidFill>
                <a:latin typeface="Arial"/>
                <a:ea typeface="Arial"/>
                <a:cs typeface="Arial"/>
              </a:defRPr>
            </a:pPr>
            <a:r>
              <a:rPr sz="1350" b="0" i="0">
                <a:solidFill>
                  <a:srgbClr val="C8CBCE"/>
                </a:solidFill>
                <a:latin typeface="Arial"/>
                <a:ea typeface="Arial"/>
                <a:cs typeface="Arial"/>
              </a:rPr>
              <a:t>Supplied 50 MW power-distribution skid scenario | timing is directional and unvalidated</a:t>
            </a:r>
          </a:p>
        </p:txBody>
      </p:sp>
      <p:sp>
        <p:nvSpPr>
          <p:cNvPr id="8" name="">
            <a:extLst xmlns:a="http://schemas.openxmlformats.org/drawingml/2006/main">
              <a:ext uri="{FF2B5EF4-FFF2-40B4-BE49-F238E27FC236}">
                <a16:creationId xmlns:a16="http://schemas.microsoft.com/office/drawing/2014/main" id="{E1C04A89-F9F2-44AE-A653-9601C86D134C}"/>
              </a:ext>
            </a:extLst>
          </p:cNvPr>
          <p:cNvSpPr>
            <a:spLocks xmlns:a="http://schemas.openxmlformats.org/drawingml/2006/main" noGrp="1"/>
          </p:cNvSpPr>
          <p:nvPr/>
        </p:nvSpPr>
        <p:spPr>
          <a:xfrm xmlns:a="http://schemas.openxmlformats.org/drawingml/2006/main">
            <a:off x="742950" y="2600325"/>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ctr">
              <a:lnSpc>
                <a:spcPct val="100000"/>
              </a:lnSpc>
              <a:buNone/>
              <a:defRPr sz="4788" b="1" i="0">
                <a:solidFill>
                  <a:srgbClr val="FFFFFF"/>
                </a:solidFill>
                <a:latin typeface="Arial"/>
                <a:ea typeface="Arial"/>
                <a:cs typeface="Arial"/>
              </a:defRPr>
            </a:pPr>
            <a:r>
              <a:rPr sz="4788" b="1" i="0">
                <a:solidFill>
                  <a:srgbClr val="FFFFFF"/>
                </a:solidFill>
                <a:latin typeface="Arial"/>
                <a:ea typeface="Arial"/>
                <a:cs typeface="Arial"/>
              </a:rPr>
              <a:t>8–12 wks</a:t>
            </a:r>
          </a:p>
        </p:txBody>
      </p:sp>
      <p:sp>
        <p:nvSpPr>
          <p:cNvPr id="9" name="">
            <a:extLst xmlns:a="http://schemas.openxmlformats.org/drawingml/2006/main">
              <a:ext uri="{FF2B5EF4-FFF2-40B4-BE49-F238E27FC236}">
                <a16:creationId xmlns:a16="http://schemas.microsoft.com/office/drawing/2014/main" id="{7D18F05E-D3A7-4725-AF7B-22D702CBA0A5}"/>
              </a:ext>
            </a:extLst>
          </p:cNvPr>
          <p:cNvSpPr>
            <a:spLocks xmlns:a="http://schemas.openxmlformats.org/drawingml/2006/main" noGrp="1"/>
          </p:cNvSpPr>
          <p:nvPr/>
        </p:nvSpPr>
        <p:spPr>
          <a:xfrm xmlns:a="http://schemas.openxmlformats.org/drawingml/2006/main">
            <a:off x="742950" y="3476625"/>
            <a:ext cx="3333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2000"/>
              </a:lnSpc>
              <a:buNone/>
              <a:defRPr sz="1071" b="1" i="0">
                <a:solidFill>
                  <a:srgbClr val="8B9094"/>
                </a:solidFill>
                <a:latin typeface="Arial"/>
                <a:ea typeface="Arial"/>
                <a:cs typeface="Arial"/>
              </a:defRPr>
            </a:pPr>
            <a:r>
              <a:rPr sz="1071" b="1" i="0">
                <a:solidFill>
                  <a:srgbClr val="8B9094"/>
                </a:solidFill>
                <a:latin typeface="Arial"/>
                <a:ea typeface="Arial"/>
                <a:cs typeface="Arial"/>
              </a:rPr>
              <a:t>SUPPLIED FIELD-BUILD MODEL</a:t>
            </a:r>
          </a:p>
          <a:p xmlns:a="http://schemas.openxmlformats.org/drawingml/2006/main">
            <a:pPr algn="ctr">
              <a:lnSpc>
                <a:spcPct val="92000"/>
              </a:lnSpc>
              <a:buNone/>
              <a:defRPr sz="1071" b="1" i="0">
                <a:solidFill>
                  <a:srgbClr val="8B9094"/>
                </a:solidFill>
                <a:latin typeface="Arial"/>
                <a:ea typeface="Arial"/>
                <a:cs typeface="Arial"/>
              </a:defRPr>
            </a:pPr>
            <a:r>
              <a:rPr sz="1071" b="1" i="0">
                <a:solidFill>
                  <a:srgbClr val="8B9094"/>
                </a:solidFill>
                <a:latin typeface="Arial"/>
                <a:ea typeface="Arial"/>
                <a:cs typeface="Arial"/>
              </a:rPr>
              <a:t>INSTALL + COMMISSION</a:t>
            </a:r>
          </a:p>
        </p:txBody>
      </p:sp>
      <p:sp>
        <p:nvSpPr>
          <p:cNvPr id="10" name="">
            <a:extLst xmlns:a="http://schemas.openxmlformats.org/drawingml/2006/main">
              <a:ext uri="{FF2B5EF4-FFF2-40B4-BE49-F238E27FC236}">
                <a16:creationId xmlns:a16="http://schemas.microsoft.com/office/drawing/2014/main" id="{F58F02CA-DBD3-4859-AF3F-1D044E927AC0}"/>
              </a:ext>
            </a:extLst>
          </p:cNvPr>
          <p:cNvSpPr>
            <a:spLocks xmlns:a="http://schemas.openxmlformats.org/drawingml/2006/main" noGrp="1"/>
          </p:cNvSpPr>
          <p:nvPr/>
        </p:nvSpPr>
        <p:spPr>
          <a:xfrm xmlns:a="http://schemas.openxmlformats.org/drawingml/2006/main" rot="0">
            <a:off x="4781550" y="2933700"/>
            <a:ext cx="2095500" cy="466725"/>
          </a:xfrm>
          <a:prstGeom xmlns:a="http://schemas.openxmlformats.org/drawingml/2006/main" prst="rightArrow">
            <a:avLst/>
          </a:prstGeom>
          <a:solidFill xmlns:a="http://schemas.openxmlformats.org/drawingml/2006/main">
            <a:srgbClr val="C9783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CDFB9DE-7765-4137-85DE-D711A3251BD0}"/>
              </a:ext>
            </a:extLst>
          </p:cNvPr>
          <p:cNvSpPr>
            <a:spLocks xmlns:a="http://schemas.openxmlformats.org/drawingml/2006/main" noGrp="1"/>
          </p:cNvSpPr>
          <p:nvPr/>
        </p:nvSpPr>
        <p:spPr>
          <a:xfrm xmlns:a="http://schemas.openxmlformats.org/drawingml/2006/main">
            <a:off x="7600950" y="2600325"/>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ctr">
              <a:lnSpc>
                <a:spcPct val="100000"/>
              </a:lnSpc>
              <a:buNone/>
              <a:defRPr sz="4788" b="1" i="0">
                <a:solidFill>
                  <a:srgbClr val="E3A06D"/>
                </a:solidFill>
                <a:latin typeface="Arial"/>
                <a:ea typeface="Arial"/>
                <a:cs typeface="Arial"/>
              </a:defRPr>
            </a:pPr>
            <a:r>
              <a:rPr sz="4788" b="1" i="0">
                <a:solidFill>
                  <a:srgbClr val="E3A06D"/>
                </a:solidFill>
                <a:latin typeface="Arial"/>
                <a:ea typeface="Arial"/>
                <a:cs typeface="Arial"/>
              </a:rPr>
              <a:t>2–4 wks</a:t>
            </a:r>
          </a:p>
        </p:txBody>
      </p:sp>
      <p:sp>
        <p:nvSpPr>
          <p:cNvPr id="12" name="">
            <a:extLst xmlns:a="http://schemas.openxmlformats.org/drawingml/2006/main">
              <a:ext uri="{FF2B5EF4-FFF2-40B4-BE49-F238E27FC236}">
                <a16:creationId xmlns:a16="http://schemas.microsoft.com/office/drawing/2014/main" id="{901E448B-AC8F-4D77-A10F-EB3D44F665CE}"/>
              </a:ext>
            </a:extLst>
          </p:cNvPr>
          <p:cNvSpPr>
            <a:spLocks xmlns:a="http://schemas.openxmlformats.org/drawingml/2006/main" noGrp="1"/>
          </p:cNvSpPr>
          <p:nvPr/>
        </p:nvSpPr>
        <p:spPr>
          <a:xfrm xmlns:a="http://schemas.openxmlformats.org/drawingml/2006/main">
            <a:off x="7600950" y="3476625"/>
            <a:ext cx="3333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2000"/>
              </a:lnSpc>
              <a:buNone/>
              <a:defRPr sz="1071" b="1" i="0">
                <a:solidFill>
                  <a:srgbClr val="8B9094"/>
                </a:solidFill>
                <a:latin typeface="Arial"/>
                <a:ea typeface="Arial"/>
                <a:cs typeface="Arial"/>
              </a:defRPr>
            </a:pPr>
            <a:r>
              <a:rPr sz="1071" b="1" i="0">
                <a:solidFill>
                  <a:srgbClr val="8B9094"/>
                </a:solidFill>
                <a:latin typeface="Arial"/>
                <a:ea typeface="Arial"/>
                <a:cs typeface="Arial"/>
              </a:rPr>
              <a:t>SUPPLIED PREFAB MODEL</a:t>
            </a:r>
          </a:p>
          <a:p xmlns:a="http://schemas.openxmlformats.org/drawingml/2006/main">
            <a:pPr algn="ctr">
              <a:lnSpc>
                <a:spcPct val="92000"/>
              </a:lnSpc>
              <a:buNone/>
              <a:defRPr sz="1071" b="1" i="0">
                <a:solidFill>
                  <a:srgbClr val="8B9094"/>
                </a:solidFill>
                <a:latin typeface="Arial"/>
                <a:ea typeface="Arial"/>
                <a:cs typeface="Arial"/>
              </a:defRPr>
            </a:pPr>
            <a:r>
              <a:rPr sz="1071" b="1" i="0">
                <a:solidFill>
                  <a:srgbClr val="8B9094"/>
                </a:solidFill>
                <a:latin typeface="Arial"/>
                <a:ea typeface="Arial"/>
                <a:cs typeface="Arial"/>
              </a:rPr>
              <a:t>INSTALL + COMMISSION</a:t>
            </a:r>
          </a:p>
        </p:txBody>
      </p:sp>
      <p:sp>
        <p:nvSpPr>
          <p:cNvPr id="13" name="">
            <a:extLst xmlns:a="http://schemas.openxmlformats.org/drawingml/2006/main">
              <a:ext uri="{FF2B5EF4-FFF2-40B4-BE49-F238E27FC236}">
                <a16:creationId xmlns:a16="http://schemas.microsoft.com/office/drawing/2014/main" id="{08791E57-1617-48F4-B221-E3DE343A13C2}"/>
              </a:ext>
            </a:extLst>
          </p:cNvPr>
          <p:cNvSpPr>
            <a:spLocks xmlns:a="http://schemas.openxmlformats.org/drawingml/2006/main" noGrp="1"/>
          </p:cNvSpPr>
          <p:nvPr/>
        </p:nvSpPr>
        <p:spPr>
          <a:xfrm xmlns:a="http://schemas.openxmlformats.org/drawingml/2006/main" rot="0">
            <a:off x="552450" y="4219575"/>
            <a:ext cx="5257800" cy="1562100"/>
          </a:xfrm>
          <a:prstGeom xmlns:a="http://schemas.openxmlformats.org/drawingml/2006/main" prst="rect">
            <a:avLst/>
          </a:prstGeom>
          <a:solidFill xmlns:a="http://schemas.openxmlformats.org/drawingml/2006/main">
            <a:srgbClr val="2B2E32"/>
          </a:solidFill>
          <a:ln xmlns:a="http://schemas.openxmlformats.org/drawingml/2006/main" w="9525">
            <a:solidFill>
              <a:srgbClr val="41454A"/>
            </a:solidFill>
            <a:prstDash val="solid"/>
          </a:ln>
        </p:spPr>
      </p:sp>
      <p:sp>
        <p:nvSpPr>
          <p:cNvPr id="14" name="">
            <a:extLst xmlns:a="http://schemas.openxmlformats.org/drawingml/2006/main">
              <a:ext uri="{FF2B5EF4-FFF2-40B4-BE49-F238E27FC236}">
                <a16:creationId xmlns:a16="http://schemas.microsoft.com/office/drawing/2014/main" id="{15390F3D-24E2-43A3-BC80-0B27D9B2161F}"/>
              </a:ext>
            </a:extLst>
          </p:cNvPr>
          <p:cNvSpPr>
            <a:spLocks xmlns:a="http://schemas.openxmlformats.org/drawingml/2006/main" noGrp="1"/>
          </p:cNvSpPr>
          <p:nvPr/>
        </p:nvSpPr>
        <p:spPr>
          <a:xfrm xmlns:a="http://schemas.openxmlformats.org/drawingml/2006/main">
            <a:off x="781050" y="4438650"/>
            <a:ext cx="466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08" b="1" i="0">
                <a:solidFill>
                  <a:srgbClr val="E3A06D"/>
                </a:solidFill>
                <a:latin typeface="Arial"/>
                <a:ea typeface="Arial"/>
                <a:cs typeface="Arial"/>
              </a:defRPr>
            </a:pPr>
            <a:r>
              <a:rPr sz="1008" b="1" i="0">
                <a:solidFill>
                  <a:srgbClr val="E3A06D"/>
                </a:solidFill>
                <a:latin typeface="Arial"/>
                <a:ea typeface="Arial"/>
                <a:cs typeface="Arial"/>
              </a:rPr>
              <a:t>WHAT IT SUGGESTS</a:t>
            </a:r>
          </a:p>
        </p:txBody>
      </p:sp>
      <p:sp>
        <p:nvSpPr>
          <p:cNvPr id="15" name="">
            <a:extLst xmlns:a="http://schemas.openxmlformats.org/drawingml/2006/main">
              <a:ext uri="{FF2B5EF4-FFF2-40B4-BE49-F238E27FC236}">
                <a16:creationId xmlns:a16="http://schemas.microsoft.com/office/drawing/2014/main" id="{E3017E22-8AA6-4ADE-B06E-95252889AC45}"/>
              </a:ext>
            </a:extLst>
          </p:cNvPr>
          <p:cNvSpPr>
            <a:spLocks xmlns:a="http://schemas.openxmlformats.org/drawingml/2006/main" noGrp="1"/>
          </p:cNvSpPr>
          <p:nvPr/>
        </p:nvSpPr>
        <p:spPr>
          <a:xfrm xmlns:a="http://schemas.openxmlformats.org/drawingml/2006/main">
            <a:off x="781050" y="4867275"/>
            <a:ext cx="4619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FFFFFF"/>
                </a:solidFill>
                <a:latin typeface="Arial"/>
                <a:ea typeface="Arial"/>
                <a:cs typeface="Arial"/>
              </a:defRPr>
            </a:pPr>
            <a:r>
              <a:rPr sz="1500" b="1" i="0">
                <a:solidFill>
                  <a:srgbClr val="FFFFFF"/>
                </a:solidFill>
                <a:latin typeface="Arial"/>
                <a:ea typeface="Arial"/>
                <a:cs typeface="Arial"/>
              </a:rPr>
              <a:t>Pretested, prelabeled harnesses may reduce onsite interfaces and congestion.</a:t>
            </a:r>
          </a:p>
        </p:txBody>
      </p:sp>
      <p:sp>
        <p:nvSpPr>
          <p:cNvPr id="16" name="">
            <a:extLst xmlns:a="http://schemas.openxmlformats.org/drawingml/2006/main">
              <a:ext uri="{FF2B5EF4-FFF2-40B4-BE49-F238E27FC236}">
                <a16:creationId xmlns:a16="http://schemas.microsoft.com/office/drawing/2014/main" id="{C5681D7F-D168-416D-9DD9-FF7CA804773E}"/>
              </a:ext>
            </a:extLst>
          </p:cNvPr>
          <p:cNvSpPr>
            <a:spLocks xmlns:a="http://schemas.openxmlformats.org/drawingml/2006/main" noGrp="1"/>
          </p:cNvSpPr>
          <p:nvPr/>
        </p:nvSpPr>
        <p:spPr>
          <a:xfrm xmlns:a="http://schemas.openxmlformats.org/drawingml/2006/main" rot="0">
            <a:off x="6057900" y="4219575"/>
            <a:ext cx="5581650" cy="1562100"/>
          </a:xfrm>
          <a:prstGeom xmlns:a="http://schemas.openxmlformats.org/drawingml/2006/main" prst="rect">
            <a:avLst/>
          </a:prstGeom>
          <a:solidFill xmlns:a="http://schemas.openxmlformats.org/drawingml/2006/main">
            <a:srgbClr val="2B2E32"/>
          </a:solidFill>
          <a:ln xmlns:a="http://schemas.openxmlformats.org/drawingml/2006/main" w="9525">
            <a:solidFill>
              <a:srgbClr val="41454A"/>
            </a:solidFill>
            <a:prstDash val="solid"/>
          </a:ln>
        </p:spPr>
      </p:sp>
      <p:sp>
        <p:nvSpPr>
          <p:cNvPr id="17" name="">
            <a:extLst xmlns:a="http://schemas.openxmlformats.org/drawingml/2006/main">
              <a:ext uri="{FF2B5EF4-FFF2-40B4-BE49-F238E27FC236}">
                <a16:creationId xmlns:a16="http://schemas.microsoft.com/office/drawing/2014/main" id="{C2AC47E8-FE43-444A-BF93-C7020872ACCF}"/>
              </a:ext>
            </a:extLst>
          </p:cNvPr>
          <p:cNvSpPr>
            <a:spLocks xmlns:a="http://schemas.openxmlformats.org/drawingml/2006/main" noGrp="1"/>
          </p:cNvSpPr>
          <p:nvPr/>
        </p:nvSpPr>
        <p:spPr>
          <a:xfrm xmlns:a="http://schemas.openxmlformats.org/drawingml/2006/main">
            <a:off x="6286500" y="4438650"/>
            <a:ext cx="504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08" b="1" i="0">
                <a:solidFill>
                  <a:srgbClr val="E3A06D"/>
                </a:solidFill>
                <a:latin typeface="Arial"/>
                <a:ea typeface="Arial"/>
                <a:cs typeface="Arial"/>
              </a:defRPr>
            </a:pPr>
            <a:r>
              <a:rPr sz="1008" b="1" i="0">
                <a:solidFill>
                  <a:srgbClr val="E3A06D"/>
                </a:solidFill>
                <a:latin typeface="Arial"/>
                <a:ea typeface="Arial"/>
                <a:cs typeface="Arial"/>
              </a:rPr>
              <a:t>WHAT IT DOES NOT PROVE</a:t>
            </a:r>
          </a:p>
        </p:txBody>
      </p:sp>
      <p:sp>
        <p:nvSpPr>
          <p:cNvPr id="18" name="">
            <a:extLst xmlns:a="http://schemas.openxmlformats.org/drawingml/2006/main">
              <a:ext uri="{FF2B5EF4-FFF2-40B4-BE49-F238E27FC236}">
                <a16:creationId xmlns:a16="http://schemas.microsoft.com/office/drawing/2014/main" id="{7980DF4B-9080-43AC-805A-3D9F6E0B4A60}"/>
              </a:ext>
            </a:extLst>
          </p:cNvPr>
          <p:cNvSpPr>
            <a:spLocks xmlns:a="http://schemas.openxmlformats.org/drawingml/2006/main" noGrp="1"/>
          </p:cNvSpPr>
          <p:nvPr/>
        </p:nvSpPr>
        <p:spPr>
          <a:xfrm xmlns:a="http://schemas.openxmlformats.org/drawingml/2006/main">
            <a:off x="6286500" y="4867275"/>
            <a:ext cx="49530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FFFFFF"/>
                </a:solidFill>
                <a:latin typeface="Arial"/>
                <a:ea typeface="Arial"/>
                <a:cs typeface="Arial"/>
              </a:defRPr>
            </a:pPr>
            <a:r>
              <a:rPr sz="1500" b="1" i="0">
                <a:solidFill>
                  <a:srgbClr val="FFFFFF"/>
                </a:solidFill>
                <a:latin typeface="Arial"/>
                <a:ea typeface="Arial"/>
                <a:cs typeface="Arial"/>
              </a:rPr>
              <a:t>Net savings, a six-to-eight-week gain or lower commissioning risk.</a:t>
            </a:r>
          </a:p>
        </p:txBody>
      </p:sp>
      <p:sp>
        <p:nvSpPr>
          <p:cNvPr id="19" name="">
            <a:extLst xmlns:a="http://schemas.openxmlformats.org/drawingml/2006/main">
              <a:ext uri="{FF2B5EF4-FFF2-40B4-BE49-F238E27FC236}">
                <a16:creationId xmlns:a16="http://schemas.microsoft.com/office/drawing/2014/main" id="{C91D27FB-5F84-48E5-842F-1B2511CCEC66}"/>
              </a:ext>
            </a:extLst>
          </p:cNvPr>
          <p:cNvSpPr>
            <a:spLocks xmlns:a="http://schemas.openxmlformats.org/drawingml/2006/main" noGrp="1"/>
          </p:cNvSpPr>
          <p:nvPr/>
        </p:nvSpPr>
        <p:spPr>
          <a:xfrm xmlns:a="http://schemas.openxmlformats.org/drawingml/2006/main">
            <a:off x="552450" y="6143625"/>
            <a:ext cx="11087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0" i="1">
                <a:solidFill>
                  <a:srgbClr val="8B9094"/>
                </a:solidFill>
                <a:latin typeface="Arial"/>
                <a:ea typeface="Arial"/>
                <a:cs typeface="Arial"/>
              </a:defRPr>
            </a:pPr>
            <a:r>
              <a:rPr sz="1050" b="0" i="1">
                <a:solidFill>
                  <a:srgbClr val="8B9094"/>
                </a:solidFill>
                <a:latin typeface="Arial"/>
                <a:ea typeface="Arial"/>
                <a:cs typeface="Arial"/>
              </a:rPr>
              <a:t>Validate scope, crew plan, factory cost, freight, work rules, commissioning and schedule logic.</a:t>
            </a:r>
          </a:p>
        </p:txBody>
      </p:sp>
    </p:spTree>
    <p:extLst>
      <p:ext uri="{BB962C8B-B14F-4D97-AF65-F5344CB8AC3E}">
        <p14:creationId xmlns:p14="http://schemas.microsoft.com/office/powerpoint/2010/main" val="1722348828"/>
      </p:ext>
    </p:extLst>
  </p:cSld>
</p:sld>
</file>

<file path=ppt/slides/slide19.xml><?xml version="1.0" encoding="utf-8"?>
<p:sld xmlns:p="http://schemas.openxmlformats.org/presentationml/2006/main" xmlns:a="http://schemas.openxmlformats.org/drawingml/2006/main">
  <p:cSld>
    <p:bg>
      <p:bgPr>
        <a:solidFill xmlns:a="http://schemas.openxmlformats.org/drawingml/2006/main">
          <a:srgbClr val="22252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6A8162B-F601-4993-98BE-8D3BBB6944A4}"/>
              </a:ext>
            </a:extLst>
          </p:cNvPr>
          <p:cNvSpPr>
            <a:spLocks xmlns:a="http://schemas.openxmlformats.org/drawingml/2006/main" noGrp="1"/>
          </p:cNvSpPr>
          <p:nvPr/>
        </p:nvSpPr>
        <p:spPr>
          <a:xfrm xmlns:a="http://schemas.openxmlformats.org/drawingml/2006/main" rot="0">
            <a:off x="0" y="0"/>
            <a:ext cx="12192000" cy="5715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7ee1c5f2262e4319"/>
          <a:srcRect xmlns:a="http://schemas.openxmlformats.org/drawingml/2006/main" l="8771" t="0" r="8771" b="0"/>
          <a:stretch xmlns:a="http://schemas.openxmlformats.org/drawingml/2006/main">
            <a:fillRect l="0" t="0" r="0" b="0"/>
          </a:stretch>
        </p:blipFill>
        <p:spPr>
          <a:xfrm xmlns:a="http://schemas.openxmlformats.org/drawingml/2006/main">
            <a:off x="552450" y="209550"/>
            <a:ext cx="2457450" cy="41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8FD36E9-20DA-46F1-ACA1-252C5BC610D1}"/>
              </a:ext>
            </a:extLst>
          </p:cNvPr>
          <p:cNvSpPr>
            <a:spLocks xmlns:a="http://schemas.openxmlformats.org/drawingml/2006/main" noGrp="1"/>
          </p:cNvSpPr>
          <p:nvPr/>
        </p:nvSpPr>
        <p:spPr>
          <a:xfrm xmlns:a="http://schemas.openxmlformats.org/drawingml/2006/main">
            <a:off x="8096250" y="3238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19" b="1" i="0">
                <a:solidFill>
                  <a:srgbClr val="E3A06D"/>
                </a:solidFill>
                <a:latin typeface="Arial"/>
                <a:ea typeface="Arial"/>
                <a:cs typeface="Arial"/>
              </a:defRPr>
            </a:pPr>
            <a:r>
              <a:rPr sz="819" b="1" i="0">
                <a:solidFill>
                  <a:srgbClr val="E3A06D"/>
                </a:solidFill>
                <a:latin typeface="Arial"/>
                <a:ea typeface="Arial"/>
                <a:cs typeface="Arial"/>
              </a:rPr>
              <a:t>APPENDIX A9 · ADVANCED CONDUCTOR</a:t>
            </a:r>
          </a:p>
        </p:txBody>
      </p:sp>
      <p:sp>
        <p:nvSpPr>
          <p:cNvPr id="4" name="">
            <a:extLst xmlns:a="http://schemas.openxmlformats.org/drawingml/2006/main">
              <a:ext uri="{FF2B5EF4-FFF2-40B4-BE49-F238E27FC236}">
                <a16:creationId xmlns:a16="http://schemas.microsoft.com/office/drawing/2014/main" id="{00E4AB5C-7EC8-420D-B720-AC3E8A2FEB4D}"/>
              </a:ext>
            </a:extLst>
          </p:cNvPr>
          <p:cNvSpPr>
            <a:spLocks xmlns:a="http://schemas.openxmlformats.org/drawingml/2006/main" noGrp="1"/>
          </p:cNvSpPr>
          <p:nvPr/>
        </p:nvSpPr>
        <p:spPr>
          <a:xfrm xmlns:a="http://schemas.openxmlformats.org/drawingml/2006/main">
            <a:off x="11334750" y="3238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19" b="1" i="0">
                <a:solidFill>
                  <a:srgbClr val="8B9094"/>
                </a:solidFill>
                <a:latin typeface="Arial"/>
                <a:ea typeface="Arial"/>
                <a:cs typeface="Arial"/>
              </a:defRPr>
            </a:pPr>
            <a:r>
              <a:rPr sz="819" b="1" i="0">
                <a:solidFill>
                  <a:srgbClr val="8B9094"/>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3678909B-CBB8-472D-9EB7-45D22A318EED}"/>
              </a:ext>
            </a:extLst>
          </p:cNvPr>
          <p:cNvSpPr>
            <a:spLocks xmlns:a="http://schemas.openxmlformats.org/drawingml/2006/main" noGrp="1"/>
          </p:cNvSpPr>
          <p:nvPr/>
        </p:nvSpPr>
        <p:spPr>
          <a:xfrm xmlns:a="http://schemas.openxmlformats.org/drawingml/2006/main">
            <a:off x="552450" y="876300"/>
            <a:ext cx="1104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82" b="1" i="0">
                <a:solidFill>
                  <a:srgbClr val="E3A06D"/>
                </a:solidFill>
                <a:latin typeface="Arial"/>
                <a:ea typeface="Arial"/>
                <a:cs typeface="Arial"/>
              </a:defRPr>
            </a:pPr>
            <a:r>
              <a:rPr sz="882" b="1" i="0">
                <a:solidFill>
                  <a:srgbClr val="E3A06D"/>
                </a:solidFill>
                <a:latin typeface="Arial"/>
                <a:ea typeface="Arial"/>
                <a:cs typeface="Arial"/>
              </a:rPr>
              <a:t>PUBLISHED ADJACENT CASE  |  ANONYMOUS UTILITY  |  NOT AN NRG RESULT</a:t>
            </a:r>
          </a:p>
        </p:txBody>
      </p:sp>
      <p:sp>
        <p:nvSpPr>
          <p:cNvPr id="6" name="">
            <a:extLst xmlns:a="http://schemas.openxmlformats.org/drawingml/2006/main">
              <a:ext uri="{FF2B5EF4-FFF2-40B4-BE49-F238E27FC236}">
                <a16:creationId xmlns:a16="http://schemas.microsoft.com/office/drawing/2014/main" id="{588CB839-CF33-46DF-BEAB-0097A59E0ECC}"/>
              </a:ext>
            </a:extLst>
          </p:cNvPr>
          <p:cNvSpPr>
            <a:spLocks xmlns:a="http://schemas.openxmlformats.org/drawingml/2006/main" noGrp="1"/>
          </p:cNvSpPr>
          <p:nvPr/>
        </p:nvSpPr>
        <p:spPr>
          <a:xfrm xmlns:a="http://schemas.openxmlformats.org/drawingml/2006/main">
            <a:off x="552450" y="1181100"/>
            <a:ext cx="1104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763"/>
          </a:bodyPr>
          <a:lstStyle xmlns:a="http://schemas.openxmlformats.org/drawingml/2006/main"/>
          <a:p xmlns:a="http://schemas.openxmlformats.org/drawingml/2006/main">
            <a:pPr algn="l">
              <a:lnSpc>
                <a:spcPct val="94000"/>
              </a:lnSpc>
              <a:buNone/>
              <a:defRPr sz="2775" b="1" i="0">
                <a:solidFill>
                  <a:srgbClr val="FFFFFF"/>
                </a:solidFill>
                <a:latin typeface="Arial"/>
                <a:ea typeface="Arial"/>
                <a:cs typeface="Arial"/>
              </a:defRPr>
            </a:pPr>
            <a:r>
              <a:rPr sz="2775" b="1" i="0">
                <a:solidFill>
                  <a:srgbClr val="FFFFFF"/>
                </a:solidFill>
                <a:latin typeface="Arial"/>
                <a:ea typeface="Arial"/>
                <a:cs typeface="Arial"/>
              </a:rPr>
              <a:t>A 138-kV crossing case shows where a conductor screen can change the rebuild question.</a:t>
            </a:r>
          </a:p>
        </p:txBody>
      </p:sp>
      <p:sp>
        <p:nvSpPr>
          <p:cNvPr id="7" name="">
            <a:extLst xmlns:a="http://schemas.openxmlformats.org/drawingml/2006/main">
              <a:ext uri="{FF2B5EF4-FFF2-40B4-BE49-F238E27FC236}">
                <a16:creationId xmlns:a16="http://schemas.microsoft.com/office/drawing/2014/main" id="{7463E3EC-1859-40FD-913D-354070C70FBE}"/>
              </a:ext>
            </a:extLst>
          </p:cNvPr>
          <p:cNvSpPr>
            <a:spLocks xmlns:a="http://schemas.openxmlformats.org/drawingml/2006/main" noGrp="1"/>
          </p:cNvSpPr>
          <p:nvPr/>
        </p:nvSpPr>
        <p:spPr>
          <a:xfrm xmlns:a="http://schemas.openxmlformats.org/drawingml/2006/main">
            <a:off x="552450" y="1914525"/>
            <a:ext cx="800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C8CBCE"/>
                </a:solidFill>
                <a:latin typeface="Arial"/>
                <a:ea typeface="Arial"/>
                <a:cs typeface="Arial"/>
              </a:defRPr>
            </a:pPr>
            <a:r>
              <a:rPr sz="1350" b="0" i="0">
                <a:solidFill>
                  <a:srgbClr val="C8CBCE"/>
                </a:solidFill>
                <a:latin typeface="Arial"/>
                <a:ea typeface="Arial"/>
                <a:cs typeface="Arial"/>
              </a:rPr>
              <a:t>Published Southwire river-crossing comparison under specific engineering assumptions</a:t>
            </a:r>
          </a:p>
        </p:txBody>
      </p:sp>
      <p:sp>
        <p:nvSpPr>
          <p:cNvPr id="8" name="">
            <a:extLst xmlns:a="http://schemas.openxmlformats.org/drawingml/2006/main">
              <a:ext uri="{FF2B5EF4-FFF2-40B4-BE49-F238E27FC236}">
                <a16:creationId xmlns:a16="http://schemas.microsoft.com/office/drawing/2014/main" id="{E1C04A89-F9F2-44AE-A653-9601C86D134C}"/>
              </a:ext>
            </a:extLst>
          </p:cNvPr>
          <p:cNvSpPr>
            <a:spLocks xmlns:a="http://schemas.openxmlformats.org/drawingml/2006/main" noGrp="1"/>
          </p:cNvSpPr>
          <p:nvPr/>
        </p:nvSpPr>
        <p:spPr>
          <a:xfrm xmlns:a="http://schemas.openxmlformats.org/drawingml/2006/main">
            <a:off x="742950" y="2600325"/>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ctr">
              <a:lnSpc>
                <a:spcPct val="100000"/>
              </a:lnSpc>
              <a:buNone/>
              <a:defRPr sz="4788" b="1" i="0">
                <a:solidFill>
                  <a:srgbClr val="FFFFFF"/>
                </a:solidFill>
                <a:latin typeface="Arial"/>
                <a:ea typeface="Arial"/>
                <a:cs typeface="Arial"/>
              </a:defRPr>
            </a:pPr>
            <a:r>
              <a:rPr sz="4788" b="1" i="0">
                <a:solidFill>
                  <a:srgbClr val="FFFFFF"/>
                </a:solidFill>
                <a:latin typeface="Arial"/>
                <a:ea typeface="Arial"/>
                <a:cs typeface="Arial"/>
              </a:rPr>
              <a:t>730 A</a:t>
            </a:r>
          </a:p>
        </p:txBody>
      </p:sp>
      <p:sp>
        <p:nvSpPr>
          <p:cNvPr id="9" name="">
            <a:extLst xmlns:a="http://schemas.openxmlformats.org/drawingml/2006/main">
              <a:ext uri="{FF2B5EF4-FFF2-40B4-BE49-F238E27FC236}">
                <a16:creationId xmlns:a16="http://schemas.microsoft.com/office/drawing/2014/main" id="{7D18F05E-D3A7-4725-AF7B-22D702CBA0A5}"/>
              </a:ext>
            </a:extLst>
          </p:cNvPr>
          <p:cNvSpPr>
            <a:spLocks xmlns:a="http://schemas.openxmlformats.org/drawingml/2006/main" noGrp="1"/>
          </p:cNvSpPr>
          <p:nvPr/>
        </p:nvSpPr>
        <p:spPr>
          <a:xfrm xmlns:a="http://schemas.openxmlformats.org/drawingml/2006/main">
            <a:off x="742950" y="3476625"/>
            <a:ext cx="3333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2000"/>
              </a:lnSpc>
              <a:buNone/>
              <a:defRPr sz="1071" b="1" i="0">
                <a:solidFill>
                  <a:srgbClr val="8B9094"/>
                </a:solidFill>
                <a:latin typeface="Arial"/>
                <a:ea typeface="Arial"/>
                <a:cs typeface="Arial"/>
              </a:defRPr>
            </a:pPr>
            <a:r>
              <a:rPr sz="1071" b="1" i="0">
                <a:solidFill>
                  <a:srgbClr val="8B9094"/>
                </a:solidFill>
                <a:latin typeface="Arial"/>
                <a:ea typeface="Arial"/>
                <a:cs typeface="Arial"/>
              </a:rPr>
              <a:t>EXISTING 795 KCMIL DRAKE ACSR</a:t>
            </a:r>
          </a:p>
          <a:p xmlns:a="http://schemas.openxmlformats.org/drawingml/2006/main">
            <a:pPr algn="ctr">
              <a:lnSpc>
                <a:spcPct val="92000"/>
              </a:lnSpc>
              <a:buNone/>
              <a:defRPr sz="1071" b="1" i="0">
                <a:solidFill>
                  <a:srgbClr val="8B9094"/>
                </a:solidFill>
                <a:latin typeface="Arial"/>
                <a:ea typeface="Arial"/>
                <a:cs typeface="Arial"/>
              </a:defRPr>
            </a:pPr>
            <a:r>
              <a:rPr sz="1071" b="1" i="0">
                <a:solidFill>
                  <a:srgbClr val="8B9094"/>
                </a:solidFill>
                <a:latin typeface="Arial"/>
                <a:ea typeface="Arial"/>
                <a:cs typeface="Arial"/>
              </a:rPr>
              <a:t>98.0 FT CALCULATED FINAL SAG</a:t>
            </a:r>
          </a:p>
        </p:txBody>
      </p:sp>
      <p:sp>
        <p:nvSpPr>
          <p:cNvPr id="10" name="">
            <a:extLst xmlns:a="http://schemas.openxmlformats.org/drawingml/2006/main">
              <a:ext uri="{FF2B5EF4-FFF2-40B4-BE49-F238E27FC236}">
                <a16:creationId xmlns:a16="http://schemas.microsoft.com/office/drawing/2014/main" id="{F58F02CA-DBD3-4859-AF3F-1D044E927AC0}"/>
              </a:ext>
            </a:extLst>
          </p:cNvPr>
          <p:cNvSpPr>
            <a:spLocks xmlns:a="http://schemas.openxmlformats.org/drawingml/2006/main" noGrp="1"/>
          </p:cNvSpPr>
          <p:nvPr/>
        </p:nvSpPr>
        <p:spPr>
          <a:xfrm xmlns:a="http://schemas.openxmlformats.org/drawingml/2006/main" rot="0">
            <a:off x="4781550" y="2933700"/>
            <a:ext cx="2095500" cy="466725"/>
          </a:xfrm>
          <a:prstGeom xmlns:a="http://schemas.openxmlformats.org/drawingml/2006/main" prst="rightArrow">
            <a:avLst/>
          </a:prstGeom>
          <a:solidFill xmlns:a="http://schemas.openxmlformats.org/drawingml/2006/main">
            <a:srgbClr val="C9783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CDFB9DE-7765-4137-85DE-D711A3251BD0}"/>
              </a:ext>
            </a:extLst>
          </p:cNvPr>
          <p:cNvSpPr>
            <a:spLocks xmlns:a="http://schemas.openxmlformats.org/drawingml/2006/main" noGrp="1"/>
          </p:cNvSpPr>
          <p:nvPr/>
        </p:nvSpPr>
        <p:spPr>
          <a:xfrm xmlns:a="http://schemas.openxmlformats.org/drawingml/2006/main">
            <a:off x="7600950" y="2600325"/>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ctr">
              <a:lnSpc>
                <a:spcPct val="100000"/>
              </a:lnSpc>
              <a:buNone/>
              <a:defRPr sz="4788" b="1" i="0">
                <a:solidFill>
                  <a:srgbClr val="E3A06D"/>
                </a:solidFill>
                <a:latin typeface="Arial"/>
                <a:ea typeface="Arial"/>
                <a:cs typeface="Arial"/>
              </a:defRPr>
            </a:pPr>
            <a:r>
              <a:rPr sz="4788" b="1" i="0">
                <a:solidFill>
                  <a:srgbClr val="E3A06D"/>
                </a:solidFill>
                <a:latin typeface="Arial"/>
                <a:ea typeface="Arial"/>
                <a:cs typeface="Arial"/>
              </a:rPr>
              <a:t>1,050 A</a:t>
            </a:r>
          </a:p>
        </p:txBody>
      </p:sp>
      <p:sp>
        <p:nvSpPr>
          <p:cNvPr id="12" name="">
            <a:extLst xmlns:a="http://schemas.openxmlformats.org/drawingml/2006/main">
              <a:ext uri="{FF2B5EF4-FFF2-40B4-BE49-F238E27FC236}">
                <a16:creationId xmlns:a16="http://schemas.microsoft.com/office/drawing/2014/main" id="{901E448B-AC8F-4D77-A10F-EB3D44F665CE}"/>
              </a:ext>
            </a:extLst>
          </p:cNvPr>
          <p:cNvSpPr>
            <a:spLocks xmlns:a="http://schemas.openxmlformats.org/drawingml/2006/main" noGrp="1"/>
          </p:cNvSpPr>
          <p:nvPr/>
        </p:nvSpPr>
        <p:spPr>
          <a:xfrm xmlns:a="http://schemas.openxmlformats.org/drawingml/2006/main">
            <a:off x="7600950" y="3476625"/>
            <a:ext cx="3333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2000"/>
              </a:lnSpc>
              <a:buNone/>
              <a:defRPr sz="1071" b="1" i="0">
                <a:solidFill>
                  <a:srgbClr val="8B9094"/>
                </a:solidFill>
                <a:latin typeface="Arial"/>
                <a:ea typeface="Arial"/>
                <a:cs typeface="Arial"/>
              </a:defRPr>
            </a:pPr>
            <a:r>
              <a:rPr sz="1071" b="1" i="0">
                <a:solidFill>
                  <a:srgbClr val="8B9094"/>
                </a:solidFill>
                <a:latin typeface="Arial"/>
                <a:ea typeface="Arial"/>
                <a:cs typeface="Arial"/>
              </a:rPr>
              <a:t>477 KCMIL C7 SOLUTION</a:t>
            </a:r>
          </a:p>
          <a:p xmlns:a="http://schemas.openxmlformats.org/drawingml/2006/main">
            <a:pPr algn="ctr">
              <a:lnSpc>
                <a:spcPct val="92000"/>
              </a:lnSpc>
              <a:buNone/>
              <a:defRPr sz="1071" b="1" i="0">
                <a:solidFill>
                  <a:srgbClr val="8B9094"/>
                </a:solidFill>
                <a:latin typeface="Arial"/>
                <a:ea typeface="Arial"/>
                <a:cs typeface="Arial"/>
              </a:defRPr>
            </a:pPr>
            <a:r>
              <a:rPr sz="1071" b="1" i="0">
                <a:solidFill>
                  <a:srgbClr val="8B9094"/>
                </a:solidFill>
                <a:latin typeface="Arial"/>
                <a:ea typeface="Arial"/>
                <a:cs typeface="Arial"/>
              </a:rPr>
              <a:t>33.5 FT CALCULATED FINAL SAG</a:t>
            </a:r>
          </a:p>
        </p:txBody>
      </p:sp>
      <p:sp>
        <p:nvSpPr>
          <p:cNvPr id="13" name="">
            <a:extLst xmlns:a="http://schemas.openxmlformats.org/drawingml/2006/main">
              <a:ext uri="{FF2B5EF4-FFF2-40B4-BE49-F238E27FC236}">
                <a16:creationId xmlns:a16="http://schemas.microsoft.com/office/drawing/2014/main" id="{08791E57-1617-48F4-B221-E3DE343A13C2}"/>
              </a:ext>
            </a:extLst>
          </p:cNvPr>
          <p:cNvSpPr>
            <a:spLocks xmlns:a="http://schemas.openxmlformats.org/drawingml/2006/main" noGrp="1"/>
          </p:cNvSpPr>
          <p:nvPr/>
        </p:nvSpPr>
        <p:spPr>
          <a:xfrm xmlns:a="http://schemas.openxmlformats.org/drawingml/2006/main" rot="0">
            <a:off x="552450" y="4219575"/>
            <a:ext cx="5257800" cy="1562100"/>
          </a:xfrm>
          <a:prstGeom xmlns:a="http://schemas.openxmlformats.org/drawingml/2006/main" prst="rect">
            <a:avLst/>
          </a:prstGeom>
          <a:solidFill xmlns:a="http://schemas.openxmlformats.org/drawingml/2006/main">
            <a:srgbClr val="2B2E32"/>
          </a:solidFill>
          <a:ln xmlns:a="http://schemas.openxmlformats.org/drawingml/2006/main" w="9525">
            <a:solidFill>
              <a:srgbClr val="41454A"/>
            </a:solidFill>
            <a:prstDash val="solid"/>
          </a:ln>
        </p:spPr>
      </p:sp>
      <p:sp>
        <p:nvSpPr>
          <p:cNvPr id="14" name="">
            <a:extLst xmlns:a="http://schemas.openxmlformats.org/drawingml/2006/main">
              <a:ext uri="{FF2B5EF4-FFF2-40B4-BE49-F238E27FC236}">
                <a16:creationId xmlns:a16="http://schemas.microsoft.com/office/drawing/2014/main" id="{15390F3D-24E2-43A3-BC80-0B27D9B2161F}"/>
              </a:ext>
            </a:extLst>
          </p:cNvPr>
          <p:cNvSpPr>
            <a:spLocks xmlns:a="http://schemas.openxmlformats.org/drawingml/2006/main" noGrp="1"/>
          </p:cNvSpPr>
          <p:nvPr/>
        </p:nvSpPr>
        <p:spPr>
          <a:xfrm xmlns:a="http://schemas.openxmlformats.org/drawingml/2006/main">
            <a:off x="781050" y="4438650"/>
            <a:ext cx="466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08" b="1" i="0">
                <a:solidFill>
                  <a:srgbClr val="E3A06D"/>
                </a:solidFill>
                <a:latin typeface="Arial"/>
                <a:ea typeface="Arial"/>
                <a:cs typeface="Arial"/>
              </a:defRPr>
            </a:pPr>
            <a:r>
              <a:rPr sz="1008" b="1" i="0">
                <a:solidFill>
                  <a:srgbClr val="E3A06D"/>
                </a:solidFill>
                <a:latin typeface="Arial"/>
                <a:ea typeface="Arial"/>
                <a:cs typeface="Arial"/>
              </a:rPr>
              <a:t>WHAT IT SUGGESTS</a:t>
            </a:r>
          </a:p>
        </p:txBody>
      </p:sp>
      <p:sp>
        <p:nvSpPr>
          <p:cNvPr id="15" name="">
            <a:extLst xmlns:a="http://schemas.openxmlformats.org/drawingml/2006/main">
              <a:ext uri="{FF2B5EF4-FFF2-40B4-BE49-F238E27FC236}">
                <a16:creationId xmlns:a16="http://schemas.microsoft.com/office/drawing/2014/main" id="{E3017E22-8AA6-4ADE-B06E-95252889AC45}"/>
              </a:ext>
            </a:extLst>
          </p:cNvPr>
          <p:cNvSpPr>
            <a:spLocks xmlns:a="http://schemas.openxmlformats.org/drawingml/2006/main" noGrp="1"/>
          </p:cNvSpPr>
          <p:nvPr/>
        </p:nvSpPr>
        <p:spPr>
          <a:xfrm xmlns:a="http://schemas.openxmlformats.org/drawingml/2006/main">
            <a:off x="781050" y="4867275"/>
            <a:ext cx="4619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FFFFFF"/>
                </a:solidFill>
                <a:latin typeface="Arial"/>
                <a:ea typeface="Arial"/>
                <a:cs typeface="Arial"/>
              </a:defRPr>
            </a:pPr>
            <a:r>
              <a:rPr sz="1500" b="1" i="0">
                <a:solidFill>
                  <a:srgbClr val="FFFFFF"/>
                </a:solidFill>
                <a:latin typeface="Arial"/>
                <a:ea typeface="Arial"/>
                <a:cs typeface="Arial"/>
              </a:rPr>
              <a:t>Advanced conductor may avoid a full rebuild where line conditions permit.</a:t>
            </a:r>
          </a:p>
        </p:txBody>
      </p:sp>
      <p:sp>
        <p:nvSpPr>
          <p:cNvPr id="16" name="">
            <a:extLst xmlns:a="http://schemas.openxmlformats.org/drawingml/2006/main">
              <a:ext uri="{FF2B5EF4-FFF2-40B4-BE49-F238E27FC236}">
                <a16:creationId xmlns:a16="http://schemas.microsoft.com/office/drawing/2014/main" id="{C5681D7F-D168-416D-9DD9-FF7CA804773E}"/>
              </a:ext>
            </a:extLst>
          </p:cNvPr>
          <p:cNvSpPr>
            <a:spLocks xmlns:a="http://schemas.openxmlformats.org/drawingml/2006/main" noGrp="1"/>
          </p:cNvSpPr>
          <p:nvPr/>
        </p:nvSpPr>
        <p:spPr>
          <a:xfrm xmlns:a="http://schemas.openxmlformats.org/drawingml/2006/main" rot="0">
            <a:off x="6057900" y="4219575"/>
            <a:ext cx="5581650" cy="1562100"/>
          </a:xfrm>
          <a:prstGeom xmlns:a="http://schemas.openxmlformats.org/drawingml/2006/main" prst="rect">
            <a:avLst/>
          </a:prstGeom>
          <a:solidFill xmlns:a="http://schemas.openxmlformats.org/drawingml/2006/main">
            <a:srgbClr val="2B2E32"/>
          </a:solidFill>
          <a:ln xmlns:a="http://schemas.openxmlformats.org/drawingml/2006/main" w="9525">
            <a:solidFill>
              <a:srgbClr val="41454A"/>
            </a:solidFill>
            <a:prstDash val="solid"/>
          </a:ln>
        </p:spPr>
      </p:sp>
      <p:sp>
        <p:nvSpPr>
          <p:cNvPr id="17" name="">
            <a:extLst xmlns:a="http://schemas.openxmlformats.org/drawingml/2006/main">
              <a:ext uri="{FF2B5EF4-FFF2-40B4-BE49-F238E27FC236}">
                <a16:creationId xmlns:a16="http://schemas.microsoft.com/office/drawing/2014/main" id="{C2AC47E8-FE43-444A-BF93-C7020872ACCF}"/>
              </a:ext>
            </a:extLst>
          </p:cNvPr>
          <p:cNvSpPr>
            <a:spLocks xmlns:a="http://schemas.openxmlformats.org/drawingml/2006/main" noGrp="1"/>
          </p:cNvSpPr>
          <p:nvPr/>
        </p:nvSpPr>
        <p:spPr>
          <a:xfrm xmlns:a="http://schemas.openxmlformats.org/drawingml/2006/main">
            <a:off x="6286500" y="4438650"/>
            <a:ext cx="504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08" b="1" i="0">
                <a:solidFill>
                  <a:srgbClr val="E3A06D"/>
                </a:solidFill>
                <a:latin typeface="Arial"/>
                <a:ea typeface="Arial"/>
                <a:cs typeface="Arial"/>
              </a:defRPr>
            </a:pPr>
            <a:r>
              <a:rPr sz="1008" b="1" i="0">
                <a:solidFill>
                  <a:srgbClr val="E3A06D"/>
                </a:solidFill>
                <a:latin typeface="Arial"/>
                <a:ea typeface="Arial"/>
                <a:cs typeface="Arial"/>
              </a:rPr>
              <a:t>WHAT IT DOES NOT PROVE</a:t>
            </a:r>
          </a:p>
        </p:txBody>
      </p:sp>
      <p:sp>
        <p:nvSpPr>
          <p:cNvPr id="18" name="">
            <a:extLst xmlns:a="http://schemas.openxmlformats.org/drawingml/2006/main">
              <a:ext uri="{FF2B5EF4-FFF2-40B4-BE49-F238E27FC236}">
                <a16:creationId xmlns:a16="http://schemas.microsoft.com/office/drawing/2014/main" id="{7980DF4B-9080-43AC-805A-3D9F6E0B4A60}"/>
              </a:ext>
            </a:extLst>
          </p:cNvPr>
          <p:cNvSpPr>
            <a:spLocks xmlns:a="http://schemas.openxmlformats.org/drawingml/2006/main" noGrp="1"/>
          </p:cNvSpPr>
          <p:nvPr/>
        </p:nvSpPr>
        <p:spPr>
          <a:xfrm xmlns:a="http://schemas.openxmlformats.org/drawingml/2006/main">
            <a:off x="6286500" y="4867275"/>
            <a:ext cx="49530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FFFFFF"/>
                </a:solidFill>
                <a:latin typeface="Arial"/>
                <a:ea typeface="Arial"/>
                <a:cs typeface="Arial"/>
              </a:defRPr>
            </a:pPr>
            <a:r>
              <a:rPr sz="1500" b="1" i="0">
                <a:solidFill>
                  <a:srgbClr val="FFFFFF"/>
                </a:solidFill>
                <a:latin typeface="Arial"/>
                <a:ea typeface="Arial"/>
                <a:cs typeface="Arial"/>
              </a:rPr>
              <a:t>NRG transfer capability, corridor fit, cost or schedule.</a:t>
            </a:r>
          </a:p>
        </p:txBody>
      </p:sp>
      <p:sp>
        <p:nvSpPr>
          <p:cNvPr id="19" name="">
            <a:extLst xmlns:a="http://schemas.openxmlformats.org/drawingml/2006/main">
              <a:ext uri="{FF2B5EF4-FFF2-40B4-BE49-F238E27FC236}">
                <a16:creationId xmlns:a16="http://schemas.microsoft.com/office/drawing/2014/main" id="{C91D27FB-5F84-48E5-842F-1B2511CCEC66}"/>
              </a:ext>
            </a:extLst>
          </p:cNvPr>
          <p:cNvSpPr>
            <a:spLocks xmlns:a="http://schemas.openxmlformats.org/drawingml/2006/main" noGrp="1"/>
          </p:cNvSpPr>
          <p:nvPr/>
        </p:nvSpPr>
        <p:spPr>
          <a:xfrm xmlns:a="http://schemas.openxmlformats.org/drawingml/2006/main">
            <a:off x="552450" y="6143625"/>
            <a:ext cx="11087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0" i="1">
                <a:solidFill>
                  <a:srgbClr val="8B9094"/>
                </a:solidFill>
                <a:latin typeface="Arial"/>
                <a:ea typeface="Arial"/>
                <a:cs typeface="Arial"/>
              </a:defRPr>
            </a:pPr>
            <a:r>
              <a:rPr sz="1050" b="0" i="1">
                <a:solidFill>
                  <a:srgbClr val="8B9094"/>
                </a:solidFill>
                <a:latin typeface="Arial"/>
                <a:ea typeface="Arial"/>
                <a:cs typeface="Arial"/>
              </a:rPr>
              <a:t>Require transmission-owner power-flow, structure, clearance, terminal, outage and permit validation.</a:t>
            </a:r>
          </a:p>
        </p:txBody>
      </p:sp>
      <p:sp>
        <p:nvSpPr>
          <p:cNvPr id="101" name=""/>
          <p:cNvSpPr>
            <a:spLocks noGrp="1"/>
          </p:cNvSpPr>
          <p:nvPr/>
        </p:nvSpPr>
        <p:spPr>
          <a:xfrm>
            <a:off x="719138" y="5852160"/>
            <a:ext cx="10753724" cy="260000"/>
          </a:xfrm>
          <a:prstGeom prst="rect">
            <a:avLst/>
          </a:prstGeom>
          <a:noFill/>
          <a:ln w="0">
            <a:noFill/>
            <a:prstDash val="solid"/>
          </a:ln>
        </p:spPr>
        <p:txBody>
          <a:bodyPr wrap="square" lIns="0" tIns="0" rIns="0" bIns="0" anchor="ctr">
            <a:normAutofit fontScale="100000"/>
          </a:bodyPr>
          <a:lstStyle/>
          <a:p>
            <a:pPr algn="ctr">
              <a:lnSpc>
                <a:spcPct val="100000"/>
              </a:lnSpc>
              <a:buNone/>
            </a:pPr>
            <a:r>
              <a:rPr sz="798" b="1" i="0">
                <a:solidFill>
                  <a:srgbClr val="C9783E"/>
                </a:solidFill>
                <a:latin typeface="Arial"/>
                <a:ea typeface="Arial"/>
                <a:cs typeface="Arial"/>
              </a:rPr>
              <a:t>WHY AN IPP CARES: GENERATOR-FUNDED NETWORK UPGRADES · THE GEN-TIE THE GENERATOR OWNS · UPRATE THERMAL LIMITS · IN-SERVICE CORRIDOR HEADROOM VS. A NEW QUEUE POSITION.</a:t>
            </a:r>
          </a:p>
        </p:txBody>
      </p:sp>
    </p:spTree>
    <p:extLst>
      <p:ext uri="{BB962C8B-B14F-4D97-AF65-F5344CB8AC3E}">
        <p14:creationId xmlns:p14="http://schemas.microsoft.com/office/powerpoint/2010/main" val="1722348828"/>
      </p:ext>
    </p:extLst>
  </p:cSld>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6F3EE"/>
        </a:solidFill>
      </p:bgPr>
    </p:bg>
    <p:spTree>
      <p:nvGrpSpPr>
        <p:cNvPr id="1" name=""/>
        <p:cNvGrpSpPr/>
        <p:nvPr/>
      </p:nvGrpSpPr>
      <p:grpSpPr>
        <a:xfrm/>
      </p:grpSpPr>
      <p:sp>
        <p:nvSpPr>
          <p:cNvPr id="158" name=""/>
          <p:cNvSpPr>
            <a:spLocks noGrp="1"/>
          </p:cNvSpPr>
          <p:nvPr/>
        </p:nvSpPr>
        <p:spPr>
          <a:xfrm>
            <a:off x="0" y="0"/>
            <a:ext cx="12192000" cy="57150"/>
          </a:xfrm>
          <a:prstGeom prst="rect">
            <a:avLst/>
          </a:prstGeom>
          <a:solidFill>
            <a:srgbClr val="C9783E"/>
          </a:solidFill>
          <a:ln w="0">
            <a:noFill/>
            <a:prstDash val="solid"/>
          </a:ln>
        </p:spPr>
      </p:sp>
      <p:pic>
        <p:nvPicPr>
          <p:cNvPr id="159" name=""/>
          <p:cNvPicPr>
            <a:picLocks noChangeAspect="1"/>
          </p:cNvPicPr>
          <p:nvPr/>
        </p:nvPicPr>
        <p:blipFill>
          <a:blip r:embed="rId1"/>
          <a:stretch/>
        </p:blipFill>
        <p:spPr>
          <a:xfrm>
            <a:off x="719138" y="200025"/>
            <a:ext cx="2066925" cy="590550"/>
          </a:xfrm>
          <a:prstGeom prst="rect">
            <a:avLst/>
          </a:prstGeom>
        </p:spPr>
      </p:pic>
      <p:sp>
        <p:nvSpPr>
          <p:cNvPr id="160" name=""/>
          <p:cNvSpPr>
            <a:spLocks noGrp="1"/>
          </p:cNvSpPr>
          <p:nvPr/>
        </p:nvSpPr>
        <p:spPr>
          <a:xfrm>
            <a:off x="7325360" y="323850"/>
            <a:ext cx="3600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819" b="1" i="0">
                <a:solidFill>
                  <a:srgbClr val="9D4E24"/>
                </a:solidFill>
                <a:latin typeface="Arial"/>
                <a:ea typeface="Arial"/>
                <a:cs typeface="Arial"/>
              </a:rPr>
              <a:t>APPENDIX A10 · DEPLOYMENT MODES</a:t>
            </a:r>
          </a:p>
        </p:txBody>
      </p:sp>
      <p:sp>
        <p:nvSpPr>
          <p:cNvPr id="161" name=""/>
          <p:cNvSpPr>
            <a:spLocks noGrp="1"/>
          </p:cNvSpPr>
          <p:nvPr/>
        </p:nvSpPr>
        <p:spPr>
          <a:xfrm>
            <a:off x="11060000" y="323850"/>
            <a:ext cx="600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819" b="1" i="0">
                <a:solidFill>
                  <a:srgbClr val="8B9094"/>
                </a:solidFill>
                <a:latin typeface="Arial"/>
                <a:ea typeface="Arial"/>
                <a:cs typeface="Arial"/>
              </a:rPr>
              <a:t>21</a:t>
            </a:r>
          </a:p>
        </p:txBody>
      </p:sp>
      <p:sp>
        <p:nvSpPr>
          <p:cNvPr id="162" name=""/>
          <p:cNvSpPr>
            <a:spLocks noGrp="1"/>
          </p:cNvSpPr>
          <p:nvPr/>
        </p:nvSpPr>
        <p:spPr>
          <a:xfrm>
            <a:off x="719138" y="1005840"/>
            <a:ext cx="85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C9783E"/>
                </a:solidFill>
                <a:latin typeface="Arial"/>
                <a:ea typeface="Arial"/>
                <a:cs typeface="Arial"/>
              </a:rPr>
              <a:t>ONE SYSTEM · THREE ASSET STATES</a:t>
            </a:r>
          </a:p>
        </p:txBody>
      </p:sp>
      <p:sp>
        <p:nvSpPr>
          <p:cNvPr id="163" name=""/>
          <p:cNvSpPr>
            <a:spLocks noGrp="1"/>
          </p:cNvSpPr>
          <p:nvPr/>
        </p:nvSpPr>
        <p:spPr>
          <a:xfrm>
            <a:off x="719138" y="1280160"/>
            <a:ext cx="10753724" cy="800000"/>
          </a:xfrm>
          <a:prstGeom prst="rect">
            <a:avLst/>
          </a:prstGeom>
          <a:noFill/>
          <a:ln w="0">
            <a:noFill/>
            <a:prstDash val="solid"/>
          </a:ln>
        </p:spPr>
        <p:txBody>
          <a:bodyPr wrap="square" lIns="0" tIns="0" rIns="0" bIns="0" anchor="t">
            <a:normAutofit fontScale="100000"/>
          </a:bodyPr>
          <a:lstStyle/>
          <a:p>
            <a:pPr algn="l">
              <a:lnSpc>
                <a:spcPct val="104000"/>
              </a:lnSpc>
              <a:buNone/>
            </a:pPr>
            <a:r>
              <a:rPr sz="2850" b="1" i="0">
                <a:solidFill>
                  <a:srgbClr val="17191C"/>
                </a:solidFill>
                <a:latin typeface="Arial"/>
                <a:ea typeface="Arial"/>
                <a:cs typeface="Arial"/>
              </a:rPr>
              <a:t>The governance model stays constant; the deployment path changes by asset state.</a:t>
            </a:r>
          </a:p>
        </p:txBody>
      </p:sp>
      <p:sp>
        <p:nvSpPr>
          <p:cNvPr id="164" name=""/>
          <p:cNvSpPr>
            <a:spLocks noGrp="1"/>
          </p:cNvSpPr>
          <p:nvPr/>
        </p:nvSpPr>
        <p:spPr>
          <a:xfrm>
            <a:off x="719138" y="2331720"/>
            <a:ext cx="3200000" cy="27432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9D4E24"/>
                </a:solidFill>
                <a:latin typeface="Arial"/>
                <a:ea typeface="Arial"/>
                <a:cs typeface="Arial"/>
              </a:rPr>
              <a:t>NEW BUILD</a:t>
            </a:r>
          </a:p>
        </p:txBody>
      </p:sp>
      <p:sp>
        <p:nvSpPr>
          <p:cNvPr id="165" name=""/>
          <p:cNvSpPr>
            <a:spLocks noGrp="1"/>
          </p:cNvSpPr>
          <p:nvPr/>
        </p:nvSpPr>
        <p:spPr>
          <a:xfrm>
            <a:off x="4114800" y="2343150"/>
            <a:ext cx="7358062" cy="560000"/>
          </a:xfrm>
          <a:prstGeom prst="rect">
            <a:avLst/>
          </a:prstGeom>
          <a:noFill/>
          <a:ln w="0">
            <a:noFill/>
            <a:prstDash val="solid"/>
          </a:ln>
        </p:spPr>
        <p:txBody>
          <a:bodyPr wrap="square" lIns="0" tIns="0" rIns="0" bIns="0" anchor="t">
            <a:normAutofit fontScale="100000"/>
          </a:bodyPr>
          <a:lstStyle/>
          <a:p>
            <a:pPr algn="l">
              <a:lnSpc>
                <a:spcPct val="106000"/>
              </a:lnSpc>
              <a:buNone/>
            </a:pPr>
            <a:r>
              <a:rPr sz="1050" b="0" i="0">
                <a:solidFill>
                  <a:srgbClr val="6A6F73"/>
                </a:solidFill>
                <a:latin typeface="Arial"/>
                <a:ea typeface="Arial"/>
                <a:cs typeface="Arial"/>
              </a:rPr>
              <a:t>Standardize package interfaces, reserve capacity and sequence releases by workface.</a:t>
            </a:r>
          </a:p>
        </p:txBody>
      </p:sp>
      <p:sp>
        <p:nvSpPr>
          <p:cNvPr id="166" name=""/>
          <p:cNvSpPr>
            <a:spLocks noGrp="1"/>
          </p:cNvSpPr>
          <p:nvPr/>
        </p:nvSpPr>
        <p:spPr>
          <a:xfrm>
            <a:off x="719138" y="2960370"/>
            <a:ext cx="10753724" cy="9525"/>
          </a:xfrm>
          <a:prstGeom prst="rect">
            <a:avLst/>
          </a:prstGeom>
          <a:solidFill>
            <a:srgbClr val="D8D1C8"/>
          </a:solidFill>
          <a:ln w="0">
            <a:noFill/>
            <a:prstDash val="solid"/>
          </a:ln>
        </p:spPr>
      </p:sp>
      <p:sp>
        <p:nvSpPr>
          <p:cNvPr id="167" name=""/>
          <p:cNvSpPr>
            <a:spLocks noGrp="1"/>
          </p:cNvSpPr>
          <p:nvPr/>
        </p:nvSpPr>
        <p:spPr>
          <a:xfrm>
            <a:off x="719138" y="3131820"/>
            <a:ext cx="3200000" cy="27432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9D4E24"/>
                </a:solidFill>
                <a:latin typeface="Arial"/>
                <a:ea typeface="Arial"/>
                <a:cs typeface="Arial"/>
              </a:rPr>
              <a:t>CONVERSION / UPRATE</a:t>
            </a:r>
          </a:p>
        </p:txBody>
      </p:sp>
      <p:sp>
        <p:nvSpPr>
          <p:cNvPr id="168" name=""/>
          <p:cNvSpPr>
            <a:spLocks noGrp="1"/>
          </p:cNvSpPr>
          <p:nvPr/>
        </p:nvSpPr>
        <p:spPr>
          <a:xfrm>
            <a:off x="4114800" y="3143250"/>
            <a:ext cx="7358062" cy="560000"/>
          </a:xfrm>
          <a:prstGeom prst="rect">
            <a:avLst/>
          </a:prstGeom>
          <a:noFill/>
          <a:ln w="0">
            <a:noFill/>
            <a:prstDash val="solid"/>
          </a:ln>
        </p:spPr>
        <p:txBody>
          <a:bodyPr wrap="square" lIns="0" tIns="0" rIns="0" bIns="0" anchor="t">
            <a:normAutofit fontScale="100000"/>
          </a:bodyPr>
          <a:lstStyle/>
          <a:p>
            <a:pPr algn="l">
              <a:lnSpc>
                <a:spcPct val="106000"/>
              </a:lnSpc>
              <a:buNone/>
            </a:pPr>
            <a:r>
              <a:rPr sz="1050" b="0" i="0">
                <a:solidFill>
                  <a:srgbClr val="6A6F73"/>
                </a:solidFill>
                <a:latin typeface="Arial"/>
                <a:ea typeface="Arial"/>
                <a:cs typeface="Arial"/>
              </a:rPr>
              <a:t>Revalidate duty, routes and terminals; map brownfield interfaces; stage work around outage constraints.</a:t>
            </a:r>
          </a:p>
        </p:txBody>
      </p:sp>
      <p:sp>
        <p:nvSpPr>
          <p:cNvPr id="169" name=""/>
          <p:cNvSpPr>
            <a:spLocks noGrp="1"/>
          </p:cNvSpPr>
          <p:nvPr/>
        </p:nvSpPr>
        <p:spPr>
          <a:xfrm>
            <a:off x="719138" y="3760470"/>
            <a:ext cx="10753724" cy="9525"/>
          </a:xfrm>
          <a:prstGeom prst="rect">
            <a:avLst/>
          </a:prstGeom>
          <a:solidFill>
            <a:srgbClr val="D8D1C8"/>
          </a:solidFill>
          <a:ln w="0">
            <a:noFill/>
            <a:prstDash val="solid"/>
          </a:ln>
        </p:spPr>
      </p:sp>
      <p:sp>
        <p:nvSpPr>
          <p:cNvPr id="170" name=""/>
          <p:cNvSpPr>
            <a:spLocks noGrp="1"/>
          </p:cNvSpPr>
          <p:nvPr/>
        </p:nvSpPr>
        <p:spPr>
          <a:xfrm>
            <a:off x="719138" y="3931920"/>
            <a:ext cx="3200000" cy="27432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9D4E24"/>
                </a:solidFill>
                <a:latin typeface="Arial"/>
                <a:ea typeface="Arial"/>
                <a:cs typeface="Arial"/>
              </a:rPr>
              <a:t>OPERATING FLEET / OUTAGE</a:t>
            </a:r>
          </a:p>
        </p:txBody>
      </p:sp>
      <p:sp>
        <p:nvSpPr>
          <p:cNvPr id="171" name=""/>
          <p:cNvSpPr>
            <a:spLocks noGrp="1"/>
          </p:cNvSpPr>
          <p:nvPr/>
        </p:nvSpPr>
        <p:spPr>
          <a:xfrm>
            <a:off x="4114800" y="3943350"/>
            <a:ext cx="7358062" cy="560000"/>
          </a:xfrm>
          <a:prstGeom prst="rect">
            <a:avLst/>
          </a:prstGeom>
          <a:noFill/>
          <a:ln w="0">
            <a:noFill/>
            <a:prstDash val="solid"/>
          </a:ln>
        </p:spPr>
        <p:txBody>
          <a:bodyPr wrap="square" lIns="0" tIns="0" rIns="0" bIns="0" anchor="t">
            <a:normAutofit fontScale="100000"/>
          </a:bodyPr>
          <a:lstStyle/>
          <a:p>
            <a:pPr algn="l">
              <a:lnSpc>
                <a:spcPct val="106000"/>
              </a:lnSpc>
              <a:buNone/>
            </a:pPr>
            <a:r>
              <a:rPr sz="1050" b="0" i="0">
                <a:solidFill>
                  <a:srgbClr val="6A6F73"/>
                </a:solidFill>
                <a:latin typeface="Arial"/>
                <a:ea typeface="Arial"/>
                <a:cs typeface="Arial"/>
              </a:rPr>
              <a:t>Screen condition and criticality; evaluate replacement, eligible rejuvenation or outage spares; align material to outage windows.</a:t>
            </a:r>
          </a:p>
        </p:txBody>
      </p:sp>
      <p:sp>
        <p:nvSpPr>
          <p:cNvPr id="172" name=""/>
          <p:cNvSpPr>
            <a:spLocks noGrp="1"/>
          </p:cNvSpPr>
          <p:nvPr/>
        </p:nvSpPr>
        <p:spPr>
          <a:xfrm>
            <a:off x="719138" y="4560570"/>
            <a:ext cx="10753724" cy="9525"/>
          </a:xfrm>
          <a:prstGeom prst="rect">
            <a:avLst/>
          </a:prstGeom>
          <a:solidFill>
            <a:srgbClr val="D8D1C8"/>
          </a:solidFill>
          <a:ln w="0">
            <a:noFill/>
            <a:prstDash val="solid"/>
          </a:ln>
        </p:spPr>
      </p:sp>
      <p:sp>
        <p:nvSpPr>
          <p:cNvPr id="173" name=""/>
          <p:cNvSpPr>
            <a:spLocks noGrp="1"/>
          </p:cNvSpPr>
          <p:nvPr/>
        </p:nvSpPr>
        <p:spPr>
          <a:xfrm>
            <a:off x="719138" y="4732020"/>
            <a:ext cx="3200000" cy="27432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9D4E24"/>
                </a:solidFill>
                <a:latin typeface="Arial"/>
                <a:ea typeface="Arial"/>
                <a:cs typeface="Arial"/>
              </a:rPr>
              <a:t>COMMON GOVERNANCE RAIL</a:t>
            </a:r>
          </a:p>
        </p:txBody>
      </p:sp>
      <p:sp>
        <p:nvSpPr>
          <p:cNvPr id="174" name=""/>
          <p:cNvSpPr>
            <a:spLocks noGrp="1"/>
          </p:cNvSpPr>
          <p:nvPr/>
        </p:nvSpPr>
        <p:spPr>
          <a:xfrm>
            <a:off x="4114800" y="4743450"/>
            <a:ext cx="7358062" cy="560000"/>
          </a:xfrm>
          <a:prstGeom prst="rect">
            <a:avLst/>
          </a:prstGeom>
          <a:noFill/>
          <a:ln w="0">
            <a:noFill/>
            <a:prstDash val="solid"/>
          </a:ln>
        </p:spPr>
        <p:txBody>
          <a:bodyPr wrap="square" lIns="0" tIns="0" rIns="0" bIns="0" anchor="t">
            <a:normAutofit fontScale="100000"/>
          </a:bodyPr>
          <a:lstStyle/>
          <a:p>
            <a:pPr algn="l">
              <a:lnSpc>
                <a:spcPct val="106000"/>
              </a:lnSpc>
              <a:buNone/>
            </a:pPr>
            <a:r>
              <a:rPr sz="1050" b="0" i="0">
                <a:solidFill>
                  <a:srgbClr val="6A6F73"/>
                </a:solidFill>
                <a:latin typeface="Arial"/>
                <a:ea typeface="Arial"/>
                <a:cs typeface="Arial"/>
              </a:rPr>
              <a:t>Owner priorities, EPC/EOR design authority, OEM interfaces and contractor means and methods remain intact.</a:t>
            </a:r>
          </a:p>
        </p:txBody>
      </p:sp>
      <p:sp>
        <p:nvSpPr>
          <p:cNvPr id="175" name=""/>
          <p:cNvSpPr>
            <a:spLocks noGrp="1"/>
          </p:cNvSpPr>
          <p:nvPr/>
        </p:nvSpPr>
        <p:spPr>
          <a:xfrm>
            <a:off x="719138" y="6315000"/>
            <a:ext cx="10753724" cy="400000"/>
          </a:xfrm>
          <a:prstGeom prst="rect">
            <a:avLst/>
          </a:prstGeom>
          <a:solidFill>
            <a:srgbClr val="17191C"/>
          </a:solidFill>
          <a:ln w="0">
            <a:noFill/>
            <a:prstDash val="solid"/>
          </a:ln>
        </p:spPr>
      </p:sp>
      <p:sp>
        <p:nvSpPr>
          <p:cNvPr id="176" name=""/>
          <p:cNvSpPr>
            <a:spLocks noGrp="1"/>
          </p:cNvSpPr>
          <p:nvPr/>
        </p:nvSpPr>
        <p:spPr>
          <a:xfrm>
            <a:off x="719138" y="6315000"/>
            <a:ext cx="10753724" cy="400000"/>
          </a:xfrm>
          <a:prstGeom prst="rect">
            <a:avLst/>
          </a:prstGeom>
          <a:noFill/>
          <a:ln w="0">
            <a:noFill/>
            <a:prstDash val="solid"/>
          </a:ln>
        </p:spPr>
        <p:txBody>
          <a:bodyPr wrap="square" lIns="0" tIns="0" rIns="0" bIns="0" anchor="ctr">
            <a:normAutofit fontScale="100000"/>
          </a:bodyPr>
          <a:lstStyle/>
          <a:p>
            <a:pPr algn="ctr">
              <a:lnSpc>
                <a:spcPct val="100000"/>
              </a:lnSpc>
              <a:buNone/>
            </a:pPr>
            <a:r>
              <a:rPr sz="882" b="1" i="0">
                <a:solidFill>
                  <a:srgbClr val="FFFFFF"/>
                </a:solidFill>
                <a:latin typeface="Arial"/>
                <a:ea typeface="Arial"/>
                <a:cs typeface="Arial"/>
              </a:rPr>
              <a:t>SAME COORDINATION RAIL. DIFFERENT ENGINEERING BASIS, RISK GATES AND OWNERS.</a:t>
            </a:r>
          </a:p>
        </p:txBody>
      </p:sp>
    </p:spTree>
  </p:cSld>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6F3EE"/>
        </a:solidFill>
      </p:bgPr>
    </p:bg>
    <p:spTree>
      <p:nvGrpSpPr>
        <p:cNvPr id="1" name=""/>
        <p:cNvGrpSpPr/>
        <p:nvPr/>
      </p:nvGrpSpPr>
      <p:grpSpPr>
        <a:xfrm/>
      </p:grpSpPr>
      <p:sp>
        <p:nvSpPr>
          <p:cNvPr id="150" name=""/>
          <p:cNvSpPr>
            <a:spLocks noGrp="1"/>
          </p:cNvSpPr>
          <p:nvPr/>
        </p:nvSpPr>
        <p:spPr>
          <a:xfrm>
            <a:off x="0" y="0"/>
            <a:ext cx="12192000" cy="57150"/>
          </a:xfrm>
          <a:prstGeom prst="rect">
            <a:avLst/>
          </a:prstGeom>
          <a:solidFill>
            <a:srgbClr val="C9783E"/>
          </a:solidFill>
          <a:ln w="0">
            <a:noFill/>
            <a:prstDash val="solid"/>
          </a:ln>
        </p:spPr>
      </p:sp>
      <p:pic>
        <p:nvPicPr>
          <p:cNvPr id="151" name=""/>
          <p:cNvPicPr>
            <a:picLocks noChangeAspect="1"/>
          </p:cNvPicPr>
          <p:nvPr/>
        </p:nvPicPr>
        <p:blipFill>
          <a:blip r:embed="rId1"/>
          <a:stretch/>
        </p:blipFill>
        <p:spPr>
          <a:xfrm>
            <a:off x="719138" y="200025"/>
            <a:ext cx="2066925" cy="590550"/>
          </a:xfrm>
          <a:prstGeom prst="rect">
            <a:avLst/>
          </a:prstGeom>
        </p:spPr>
      </p:pic>
      <p:sp>
        <p:nvSpPr>
          <p:cNvPr id="152" name=""/>
          <p:cNvSpPr>
            <a:spLocks noGrp="1"/>
          </p:cNvSpPr>
          <p:nvPr/>
        </p:nvSpPr>
        <p:spPr>
          <a:xfrm>
            <a:off x="7325360" y="323850"/>
            <a:ext cx="3600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819" b="1" i="0">
                <a:solidFill>
                  <a:srgbClr val="9D4E24"/>
                </a:solidFill>
                <a:latin typeface="Arial"/>
                <a:ea typeface="Arial"/>
                <a:cs typeface="Arial"/>
              </a:rPr>
              <a:t>APPENDIX A11 · PROJECT OF INTEREST</a:t>
            </a:r>
          </a:p>
        </p:txBody>
      </p:sp>
      <p:sp>
        <p:nvSpPr>
          <p:cNvPr id="153" name=""/>
          <p:cNvSpPr>
            <a:spLocks noGrp="1"/>
          </p:cNvSpPr>
          <p:nvPr/>
        </p:nvSpPr>
        <p:spPr>
          <a:xfrm>
            <a:off x="11060000" y="323850"/>
            <a:ext cx="600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819" b="1" i="0">
                <a:solidFill>
                  <a:srgbClr val="8B9094"/>
                </a:solidFill>
                <a:latin typeface="Arial"/>
                <a:ea typeface="Arial"/>
                <a:cs typeface="Arial"/>
              </a:rPr>
              <a:t>22</a:t>
            </a:r>
          </a:p>
        </p:txBody>
      </p:sp>
      <p:sp>
        <p:nvSpPr>
          <p:cNvPr id="154" name=""/>
          <p:cNvSpPr>
            <a:spLocks noGrp="1"/>
          </p:cNvSpPr>
          <p:nvPr/>
        </p:nvSpPr>
        <p:spPr>
          <a:xfrm>
            <a:off x="719138" y="1005840"/>
            <a:ext cx="85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C9783E"/>
                </a:solidFill>
                <a:latin typeface="Arial"/>
                <a:ea typeface="Arial"/>
                <a:cs typeface="Arial"/>
              </a:rPr>
              <a:t>CEDAR BAYOU UNIT 5 · BAYTOWN, TEXAS (CHAMBERS COUNTY)</a:t>
            </a:r>
          </a:p>
        </p:txBody>
      </p:sp>
      <p:sp>
        <p:nvSpPr>
          <p:cNvPr id="155" name=""/>
          <p:cNvSpPr>
            <a:spLocks noGrp="1"/>
          </p:cNvSpPr>
          <p:nvPr/>
        </p:nvSpPr>
        <p:spPr>
          <a:xfrm>
            <a:off x="719138" y="1280160"/>
            <a:ext cx="10753724" cy="800000"/>
          </a:xfrm>
          <a:prstGeom prst="rect">
            <a:avLst/>
          </a:prstGeom>
          <a:noFill/>
          <a:ln w="0">
            <a:noFill/>
            <a:prstDash val="solid"/>
          </a:ln>
        </p:spPr>
        <p:txBody>
          <a:bodyPr wrap="square" lIns="0" tIns="0" rIns="0" bIns="0" anchor="t">
            <a:normAutofit fontScale="100000"/>
          </a:bodyPr>
          <a:lstStyle/>
          <a:p>
            <a:pPr algn="l">
              <a:lnSpc>
                <a:spcPct val="104000"/>
              </a:lnSpc>
              <a:buNone/>
            </a:pPr>
            <a:r>
              <a:rPr sz="2850" b="1" i="0">
                <a:solidFill>
                  <a:srgbClr val="17191C"/>
                </a:solidFill>
                <a:latin typeface="Arial"/>
                <a:ea typeface="Arial"/>
                <a:cs typeface="Arial"/>
              </a:rPr>
              <a:t>Cedar Bayou Unit 5 is one potential live-scope candidate.</a:t>
            </a:r>
          </a:p>
        </p:txBody>
      </p:sp>
      <p:sp>
        <p:nvSpPr>
          <p:cNvPr id="156" name=""/>
          <p:cNvSpPr>
            <a:spLocks noGrp="1"/>
          </p:cNvSpPr>
          <p:nvPr/>
        </p:nvSpPr>
        <p:spPr>
          <a:xfrm>
            <a:off x="719138" y="1950720"/>
            <a:ext cx="10753724" cy="500000"/>
          </a:xfrm>
          <a:prstGeom prst="rect">
            <a:avLst/>
          </a:prstGeom>
          <a:noFill/>
          <a:ln w="0">
            <a:noFill/>
            <a:prstDash val="solid"/>
          </a:ln>
        </p:spPr>
        <p:txBody>
          <a:bodyPr wrap="square" lIns="0" tIns="0" rIns="0" bIns="0" anchor="t">
            <a:normAutofit fontScale="100000"/>
          </a:bodyPr>
          <a:lstStyle/>
          <a:p>
            <a:pPr algn="l">
              <a:lnSpc>
                <a:spcPct val="108000"/>
              </a:lnSpc>
              <a:buNone/>
            </a:pPr>
            <a:r>
              <a:rPr sz="1050" b="0" i="0">
                <a:solidFill>
                  <a:srgbClr val="6A6F73"/>
                </a:solidFill>
                <a:latin typeface="Arial"/>
                <a:ea typeface="Arial"/>
                <a:cs typeface="Arial"/>
              </a:rPr>
              <a:t>A 721 MW combined-cycle brownfield expansion at NRG's existing Cedar Bayou station — the anchor TEF unit in the NRG / GE Vernova / Kiewit framework, in active construction toward a mid-2028 COD.</a:t>
            </a:r>
          </a:p>
        </p:txBody>
      </p:sp>
      <p:sp>
        <p:nvSpPr>
          <p:cNvPr id="157" name=""/>
          <p:cNvSpPr>
            <a:spLocks noGrp="1"/>
          </p:cNvSpPr>
          <p:nvPr/>
        </p:nvSpPr>
        <p:spPr>
          <a:xfrm>
            <a:off x="719138" y="2606040"/>
            <a:ext cx="49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19" b="1" i="0">
                <a:solidFill>
                  <a:srgbClr val="9D4E24"/>
                </a:solidFill>
                <a:latin typeface="Arial"/>
                <a:ea typeface="Arial"/>
                <a:cs typeface="Arial"/>
              </a:rPr>
              <a:t>PROJECT FACTS — VALIDATED AUG 2026</a:t>
            </a:r>
          </a:p>
        </p:txBody>
      </p:sp>
      <p:sp>
        <p:nvSpPr>
          <p:cNvPr id="158" name=""/>
          <p:cNvSpPr>
            <a:spLocks noGrp="1"/>
          </p:cNvSpPr>
          <p:nvPr/>
        </p:nvSpPr>
        <p:spPr>
          <a:xfrm>
            <a:off x="719138" y="2925840"/>
            <a:ext cx="49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9D4E24"/>
                </a:solidFill>
                <a:latin typeface="Arial"/>
                <a:ea typeface="Arial"/>
                <a:cs typeface="Arial"/>
              </a:rPr>
              <a:t>721 MW CCGT · BROWNFIELD</a:t>
            </a:r>
          </a:p>
        </p:txBody>
      </p:sp>
      <p:sp>
        <p:nvSpPr>
          <p:cNvPr id="159" name=""/>
          <p:cNvSpPr>
            <a:spLocks noGrp="1"/>
          </p:cNvSpPr>
          <p:nvPr/>
        </p:nvSpPr>
        <p:spPr>
          <a:xfrm>
            <a:off x="719138" y="3154440"/>
            <a:ext cx="4900000" cy="560000"/>
          </a:xfrm>
          <a:prstGeom prst="rect">
            <a:avLst/>
          </a:prstGeom>
          <a:noFill/>
          <a:ln w="0">
            <a:noFill/>
            <a:prstDash val="solid"/>
          </a:ln>
        </p:spPr>
        <p:txBody>
          <a:bodyPr wrap="square" lIns="0" tIns="0" rIns="0" bIns="0" anchor="t">
            <a:normAutofit fontScale="100000"/>
          </a:bodyPr>
          <a:lstStyle/>
          <a:p>
            <a:pPr algn="l">
              <a:lnSpc>
                <a:spcPct val="106000"/>
              </a:lnSpc>
              <a:buNone/>
            </a:pPr>
            <a:r>
              <a:rPr sz="975" b="0" i="0">
                <a:solidFill>
                  <a:srgbClr val="6A6F73"/>
                </a:solidFill>
                <a:latin typeface="Arial"/>
                <a:ea typeface="Arial"/>
                <a:cs typeface="Arial"/>
              </a:rPr>
              <a:t>GE Vernova H-class train at the existing station; ERCOT Houston Load Zone; existing 345 kV switchyard, cooling water and site infrastructure.</a:t>
            </a:r>
          </a:p>
        </p:txBody>
      </p:sp>
      <p:sp>
        <p:nvSpPr>
          <p:cNvPr id="160" name=""/>
          <p:cNvSpPr>
            <a:spLocks noGrp="1"/>
          </p:cNvSpPr>
          <p:nvPr/>
        </p:nvSpPr>
        <p:spPr>
          <a:xfrm>
            <a:off x="719138" y="3725940"/>
            <a:ext cx="49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9D4E24"/>
                </a:solidFill>
                <a:latin typeface="Arial"/>
                <a:ea typeface="Arial"/>
                <a:cs typeface="Arial"/>
              </a:rPr>
              <a:t>$562M TEF LOAN · 3% · 20-YEAR</a:t>
            </a:r>
          </a:p>
        </p:txBody>
      </p:sp>
      <p:sp>
        <p:nvSpPr>
          <p:cNvPr id="161" name=""/>
          <p:cNvSpPr>
            <a:spLocks noGrp="1"/>
          </p:cNvSpPr>
          <p:nvPr/>
        </p:nvSpPr>
        <p:spPr>
          <a:xfrm>
            <a:off x="719138" y="3954540"/>
            <a:ext cx="4900000" cy="560000"/>
          </a:xfrm>
          <a:prstGeom prst="rect">
            <a:avLst/>
          </a:prstGeom>
          <a:noFill/>
          <a:ln w="0">
            <a:noFill/>
            <a:prstDash val="solid"/>
          </a:ln>
        </p:spPr>
        <p:txBody>
          <a:bodyPr wrap="square" lIns="0" tIns="0" rIns="0" bIns="0" anchor="t">
            <a:normAutofit fontScale="100000"/>
          </a:bodyPr>
          <a:lstStyle/>
          <a:p>
            <a:pPr algn="l">
              <a:lnSpc>
                <a:spcPct val="106000"/>
              </a:lnSpc>
              <a:buNone/>
            </a:pPr>
            <a:r>
              <a:rPr sz="975" b="0" i="0">
                <a:solidFill>
                  <a:srgbClr val="6A6F73"/>
                </a:solidFill>
                <a:latin typeface="Arial"/>
                <a:ea typeface="Arial"/>
                <a:cs typeface="Arial"/>
              </a:rPr>
              <a:t>Signed September 2025 — 60% of the $936M project cost; part of $1.15B TEF financing plus $66M tax abatements across the three-unit program.</a:t>
            </a:r>
          </a:p>
        </p:txBody>
      </p:sp>
      <p:sp>
        <p:nvSpPr>
          <p:cNvPr id="162" name=""/>
          <p:cNvSpPr>
            <a:spLocks noGrp="1"/>
          </p:cNvSpPr>
          <p:nvPr/>
        </p:nvSpPr>
        <p:spPr>
          <a:xfrm>
            <a:off x="719138" y="4526040"/>
            <a:ext cx="49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9D4E24"/>
                </a:solidFill>
                <a:latin typeface="Arial"/>
                <a:ea typeface="Arial"/>
                <a:cs typeface="Arial"/>
              </a:rPr>
              <a:t>COD TARGET MID-2028</a:t>
            </a:r>
          </a:p>
        </p:txBody>
      </p:sp>
      <p:sp>
        <p:nvSpPr>
          <p:cNvPr id="163" name=""/>
          <p:cNvSpPr>
            <a:spLocks noGrp="1"/>
          </p:cNvSpPr>
          <p:nvPr/>
        </p:nvSpPr>
        <p:spPr>
          <a:xfrm>
            <a:off x="719138" y="4754640"/>
            <a:ext cx="4900000" cy="560000"/>
          </a:xfrm>
          <a:prstGeom prst="rect">
            <a:avLst/>
          </a:prstGeom>
          <a:noFill/>
          <a:ln w="0">
            <a:noFill/>
            <a:prstDash val="solid"/>
          </a:ln>
        </p:spPr>
        <p:txBody>
          <a:bodyPr wrap="square" lIns="0" tIns="0" rIns="0" bIns="0" anchor="t">
            <a:normAutofit fontScale="100000"/>
          </a:bodyPr>
          <a:lstStyle/>
          <a:p>
            <a:pPr algn="l">
              <a:lnSpc>
                <a:spcPct val="106000"/>
              </a:lnSpc>
              <a:buNone/>
            </a:pPr>
            <a:r>
              <a:rPr sz="975" b="0" i="0">
                <a:solidFill>
                  <a:srgbClr val="6A6F73"/>
                </a:solidFill>
                <a:latin typeface="Arial"/>
                <a:ea typeface="Arial"/>
                <a:cs typeface="Arial"/>
              </a:rPr>
              <a:t>First TEF unit to advance construction; T.H. Wharton (415 MW) completes mid-2026, Greens Bayou 6 follows in 2028.</a:t>
            </a:r>
          </a:p>
        </p:txBody>
      </p:sp>
      <p:sp>
        <p:nvSpPr>
          <p:cNvPr id="164" name=""/>
          <p:cNvSpPr>
            <a:spLocks noGrp="1"/>
          </p:cNvSpPr>
          <p:nvPr/>
        </p:nvSpPr>
        <p:spPr>
          <a:xfrm>
            <a:off x="719138" y="5326140"/>
            <a:ext cx="49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9D4E24"/>
                </a:solidFill>
                <a:latin typeface="Arial"/>
                <a:ea typeface="Arial"/>
                <a:cs typeface="Arial"/>
              </a:rPr>
              <a:t>EPC: TIC / KIEWIT · OEM: GE VERNOVA</a:t>
            </a:r>
          </a:p>
        </p:txBody>
      </p:sp>
      <p:sp>
        <p:nvSpPr>
          <p:cNvPr id="165" name=""/>
          <p:cNvSpPr>
            <a:spLocks noGrp="1"/>
          </p:cNvSpPr>
          <p:nvPr/>
        </p:nvSpPr>
        <p:spPr>
          <a:xfrm>
            <a:off x="719138" y="5554740"/>
            <a:ext cx="4900000" cy="560000"/>
          </a:xfrm>
          <a:prstGeom prst="rect">
            <a:avLst/>
          </a:prstGeom>
          <a:noFill/>
          <a:ln w="0">
            <a:noFill/>
            <a:prstDash val="solid"/>
          </a:ln>
        </p:spPr>
        <p:txBody>
          <a:bodyPr wrap="square" lIns="0" tIns="0" rIns="0" bIns="0" anchor="t">
            <a:normAutofit fontScale="100000"/>
          </a:bodyPr>
          <a:lstStyle/>
          <a:p>
            <a:pPr algn="l">
              <a:lnSpc>
                <a:spcPct val="106000"/>
              </a:lnSpc>
              <a:buNone/>
            </a:pPr>
            <a:r>
              <a:rPr sz="975" b="0" i="0">
                <a:solidFill>
                  <a:srgbClr val="6A6F73"/>
                </a:solidFill>
                <a:latin typeface="Arial"/>
                <a:ea typeface="Arial"/>
                <a:cs typeface="Arial"/>
              </a:rPr>
              <a:t>Delivered under the 5.4 GW development framework — 1.2 GW in service by 2029, 1.2 GW by 2030, 3 GW more through 2032.</a:t>
            </a:r>
          </a:p>
        </p:txBody>
      </p:sp>
      <p:sp>
        <p:nvSpPr>
          <p:cNvPr id="166" name=""/>
          <p:cNvSpPr>
            <a:spLocks noGrp="1"/>
          </p:cNvSpPr>
          <p:nvPr/>
        </p:nvSpPr>
        <p:spPr>
          <a:xfrm>
            <a:off x="6120130" y="2606040"/>
            <a:ext cx="535273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19" b="1" i="0">
                <a:solidFill>
                  <a:srgbClr val="9D4E24"/>
                </a:solidFill>
                <a:latin typeface="Arial"/>
                <a:ea typeface="Arial"/>
                <a:cs typeface="Arial"/>
              </a:rPr>
              <a:t>SCOPE THAT WOULD BE IN PLAY</a:t>
            </a:r>
          </a:p>
        </p:txBody>
      </p:sp>
      <p:sp>
        <p:nvSpPr>
          <p:cNvPr id="167" name=""/>
          <p:cNvSpPr>
            <a:spLocks noGrp="1"/>
          </p:cNvSpPr>
          <p:nvPr/>
        </p:nvSpPr>
        <p:spPr>
          <a:xfrm>
            <a:off x="6120130" y="2984840"/>
            <a:ext cx="91440" cy="91440"/>
          </a:xfrm>
          <a:prstGeom prst="rect">
            <a:avLst/>
          </a:prstGeom>
          <a:solidFill>
            <a:srgbClr val="C9783E"/>
          </a:solidFill>
          <a:ln w="0">
            <a:noFill/>
            <a:prstDash val="solid"/>
          </a:ln>
        </p:spPr>
      </p:sp>
      <p:sp>
        <p:nvSpPr>
          <p:cNvPr id="168" name=""/>
          <p:cNvSpPr>
            <a:spLocks noGrp="1"/>
          </p:cNvSpPr>
          <p:nvPr/>
        </p:nvSpPr>
        <p:spPr>
          <a:xfrm>
            <a:off x="6348730" y="2925840"/>
            <a:ext cx="5124132" cy="4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HV generator leads and brownfield 345 kV switchyard tie-in for the H-class train</a:t>
            </a:r>
          </a:p>
        </p:txBody>
      </p:sp>
      <p:sp>
        <p:nvSpPr>
          <p:cNvPr id="169" name=""/>
          <p:cNvSpPr>
            <a:spLocks noGrp="1"/>
          </p:cNvSpPr>
          <p:nvPr/>
        </p:nvSpPr>
        <p:spPr>
          <a:xfrm>
            <a:off x="6120130" y="3442040"/>
            <a:ext cx="91440" cy="91440"/>
          </a:xfrm>
          <a:prstGeom prst="rect">
            <a:avLst/>
          </a:prstGeom>
          <a:solidFill>
            <a:srgbClr val="C9783E"/>
          </a:solidFill>
          <a:ln w="0">
            <a:noFill/>
            <a:prstDash val="solid"/>
          </a:ln>
        </p:spPr>
      </p:sp>
      <p:sp>
        <p:nvSpPr>
          <p:cNvPr id="170" name=""/>
          <p:cNvSpPr>
            <a:spLocks noGrp="1"/>
          </p:cNvSpPr>
          <p:nvPr/>
        </p:nvSpPr>
        <p:spPr>
          <a:xfrm>
            <a:off x="6348730" y="3383040"/>
            <a:ext cx="5124132" cy="4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MV plant auxiliary distribution, 5–35 kV, across the new unit and interfaces</a:t>
            </a:r>
          </a:p>
        </p:txBody>
      </p:sp>
      <p:sp>
        <p:nvSpPr>
          <p:cNvPr id="171" name=""/>
          <p:cNvSpPr>
            <a:spLocks noGrp="1"/>
          </p:cNvSpPr>
          <p:nvPr/>
        </p:nvSpPr>
        <p:spPr>
          <a:xfrm>
            <a:off x="6120130" y="3899240"/>
            <a:ext cx="91440" cy="91440"/>
          </a:xfrm>
          <a:prstGeom prst="rect">
            <a:avLst/>
          </a:prstGeom>
          <a:solidFill>
            <a:srgbClr val="C9783E"/>
          </a:solidFill>
          <a:ln w="0">
            <a:noFill/>
            <a:prstDash val="solid"/>
          </a:ln>
        </p:spPr>
      </p:sp>
      <p:sp>
        <p:nvSpPr>
          <p:cNvPr id="172" name=""/>
          <p:cNvSpPr>
            <a:spLocks noGrp="1"/>
          </p:cNvSpPr>
          <p:nvPr/>
        </p:nvSpPr>
        <p:spPr>
          <a:xfrm>
            <a:off x="6348730" y="3840240"/>
            <a:ext cx="5124132" cy="4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LV 600 V power and control — turbine hall, HRSG and balance of plant</a:t>
            </a:r>
          </a:p>
        </p:txBody>
      </p:sp>
      <p:sp>
        <p:nvSpPr>
          <p:cNvPr id="173" name=""/>
          <p:cNvSpPr>
            <a:spLocks noGrp="1"/>
          </p:cNvSpPr>
          <p:nvPr/>
        </p:nvSpPr>
        <p:spPr>
          <a:xfrm>
            <a:off x="6120130" y="4356440"/>
            <a:ext cx="91440" cy="91440"/>
          </a:xfrm>
          <a:prstGeom prst="rect">
            <a:avLst/>
          </a:prstGeom>
          <a:solidFill>
            <a:srgbClr val="C9783E"/>
          </a:solidFill>
          <a:ln w="0">
            <a:noFill/>
            <a:prstDash val="solid"/>
          </a:ln>
        </p:spPr>
      </p:sp>
      <p:sp>
        <p:nvSpPr>
          <p:cNvPr id="174" name=""/>
          <p:cNvSpPr>
            <a:spLocks noGrp="1"/>
          </p:cNvSpPr>
          <p:nvPr/>
        </p:nvSpPr>
        <p:spPr>
          <a:xfrm>
            <a:off x="6348730" y="4297440"/>
            <a:ext cx="5124132" cy="4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I&amp;C, DCS and fiber — integration with the existing station and ERCOT SCADA</a:t>
            </a:r>
          </a:p>
        </p:txBody>
      </p:sp>
      <p:sp>
        <p:nvSpPr>
          <p:cNvPr id="175" name=""/>
          <p:cNvSpPr>
            <a:spLocks noGrp="1"/>
          </p:cNvSpPr>
          <p:nvPr/>
        </p:nvSpPr>
        <p:spPr>
          <a:xfrm>
            <a:off x="6120130" y="4813640"/>
            <a:ext cx="91440" cy="91440"/>
          </a:xfrm>
          <a:prstGeom prst="rect">
            <a:avLst/>
          </a:prstGeom>
          <a:solidFill>
            <a:srgbClr val="C9783E"/>
          </a:solidFill>
          <a:ln w="0">
            <a:noFill/>
            <a:prstDash val="solid"/>
          </a:ln>
        </p:spPr>
      </p:sp>
      <p:sp>
        <p:nvSpPr>
          <p:cNvPr id="176" name=""/>
          <p:cNvSpPr>
            <a:spLocks noGrp="1"/>
          </p:cNvSpPr>
          <p:nvPr/>
        </p:nvSpPr>
        <p:spPr>
          <a:xfrm>
            <a:off x="6348730" y="4754640"/>
            <a:ext cx="5124132" cy="4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Grounding-grid extension into the heritage plant grid</a:t>
            </a:r>
          </a:p>
        </p:txBody>
      </p:sp>
      <p:sp>
        <p:nvSpPr>
          <p:cNvPr id="177" name=""/>
          <p:cNvSpPr>
            <a:spLocks noGrp="1"/>
          </p:cNvSpPr>
          <p:nvPr/>
        </p:nvSpPr>
        <p:spPr>
          <a:xfrm>
            <a:off x="6120130" y="5270840"/>
            <a:ext cx="91440" cy="91440"/>
          </a:xfrm>
          <a:prstGeom prst="rect">
            <a:avLst/>
          </a:prstGeom>
          <a:solidFill>
            <a:srgbClr val="C9783E"/>
          </a:solidFill>
          <a:ln w="0">
            <a:noFill/>
            <a:prstDash val="solid"/>
          </a:ln>
        </p:spPr>
      </p:sp>
      <p:sp>
        <p:nvSpPr>
          <p:cNvPr id="178" name=""/>
          <p:cNvSpPr>
            <a:spLocks noGrp="1"/>
          </p:cNvSpPr>
          <p:nvPr/>
        </p:nvSpPr>
        <p:spPr>
          <a:xfrm>
            <a:off x="6348730" y="5211840"/>
            <a:ext cx="5124132" cy="4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Sequenced reels, cut lengths and kits against 2026–2028 procurement windows</a:t>
            </a:r>
          </a:p>
        </p:txBody>
      </p:sp>
      <p:sp>
        <p:nvSpPr>
          <p:cNvPr id="179" name=""/>
          <p:cNvSpPr>
            <a:spLocks noGrp="1"/>
          </p:cNvSpPr>
          <p:nvPr/>
        </p:nvSpPr>
        <p:spPr>
          <a:xfrm>
            <a:off x="6120130" y="5728040"/>
            <a:ext cx="91440" cy="91440"/>
          </a:xfrm>
          <a:prstGeom prst="rect">
            <a:avLst/>
          </a:prstGeom>
          <a:solidFill>
            <a:srgbClr val="C9783E"/>
          </a:solidFill>
          <a:ln w="0">
            <a:noFill/>
            <a:prstDash val="solid"/>
          </a:ln>
        </p:spPr>
      </p:sp>
      <p:sp>
        <p:nvSpPr>
          <p:cNvPr id="180" name=""/>
          <p:cNvSpPr>
            <a:spLocks noGrp="1"/>
          </p:cNvSpPr>
          <p:nvPr/>
        </p:nvSpPr>
        <p:spPr>
          <a:xfrm>
            <a:off x="6348730" y="5669040"/>
            <a:ext cx="5124132" cy="4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Post-COD continuity — records, spares and MRO carried into the operating fleet</a:t>
            </a:r>
          </a:p>
        </p:txBody>
      </p:sp>
      <p:sp>
        <p:nvSpPr>
          <p:cNvPr id="181" name=""/>
          <p:cNvSpPr>
            <a:spLocks noGrp="1"/>
          </p:cNvSpPr>
          <p:nvPr/>
        </p:nvSpPr>
        <p:spPr>
          <a:xfrm>
            <a:off x="719138" y="6032500"/>
            <a:ext cx="10753724" cy="200000"/>
          </a:xfrm>
          <a:prstGeom prst="rect">
            <a:avLst/>
          </a:prstGeom>
          <a:noFill/>
          <a:ln w="0">
            <a:noFill/>
            <a:prstDash val="solid"/>
          </a:ln>
        </p:spPr>
        <p:txBody>
          <a:bodyPr wrap="square" lIns="0" tIns="0" rIns="0" bIns="0" anchor="t">
            <a:normAutofit fontScale="100000"/>
          </a:bodyPr>
          <a:lstStyle/>
          <a:p>
            <a:pPr algn="l">
              <a:lnSpc>
                <a:spcPct val="100000"/>
              </a:lnSpc>
              <a:buNone/>
            </a:pPr>
            <a:r>
              <a:rPr sz="825" b="0" i="1">
                <a:solidFill>
                  <a:srgbClr val="6A6F73"/>
                </a:solidFill>
                <a:latin typeface="Arial"/>
                <a:ea typeface="Arial"/>
                <a:cs typeface="Arial"/>
              </a:rPr>
              <a:t>Validated against public sources, Aug 2026: PUCT / Texas Energy Fund announcements, Utility Dive, NRG investor materials. Capacity reported 689–721 MW across sources; 721 MW per the PUCT loan announcement.</a:t>
            </a:r>
          </a:p>
        </p:txBody>
      </p:sp>
      <p:sp>
        <p:nvSpPr>
          <p:cNvPr id="182" name=""/>
          <p:cNvSpPr>
            <a:spLocks noGrp="1"/>
          </p:cNvSpPr>
          <p:nvPr/>
        </p:nvSpPr>
        <p:spPr>
          <a:xfrm>
            <a:off x="719138" y="6315000"/>
            <a:ext cx="10753724" cy="400000"/>
          </a:xfrm>
          <a:prstGeom prst="rect">
            <a:avLst/>
          </a:prstGeom>
          <a:solidFill>
            <a:srgbClr val="17191C"/>
          </a:solidFill>
          <a:ln w="0">
            <a:noFill/>
            <a:prstDash val="solid"/>
          </a:ln>
        </p:spPr>
      </p:sp>
      <p:sp>
        <p:nvSpPr>
          <p:cNvPr id="183" name=""/>
          <p:cNvSpPr>
            <a:spLocks noGrp="1"/>
          </p:cNvSpPr>
          <p:nvPr/>
        </p:nvSpPr>
        <p:spPr>
          <a:xfrm>
            <a:off x="719138" y="6315000"/>
            <a:ext cx="10753724" cy="400000"/>
          </a:xfrm>
          <a:prstGeom prst="rect">
            <a:avLst/>
          </a:prstGeom>
          <a:noFill/>
          <a:ln w="0">
            <a:noFill/>
            <a:prstDash val="solid"/>
          </a:ln>
        </p:spPr>
        <p:txBody>
          <a:bodyPr wrap="square" lIns="0" tIns="0" rIns="0" bIns="0" anchor="ctr">
            <a:normAutofit fontScale="100000"/>
          </a:bodyPr>
          <a:lstStyle/>
          <a:p>
            <a:pPr algn="ctr">
              <a:lnSpc>
                <a:spcPct val="100000"/>
              </a:lnSpc>
              <a:buNone/>
            </a:pPr>
            <a:r>
              <a:rPr sz="882" b="1" i="0">
                <a:solidFill>
                  <a:srgbClr val="FFFFFF"/>
                </a:solidFill>
                <a:latin typeface="Arial"/>
                <a:ea typeface="Arial"/>
                <a:cs typeface="Arial"/>
              </a:rPr>
              <a:t>ILLUSTRATIVE CANDIDATE ONLY </a:t>
            </a:r>
            <a:r>
              <a:rPr sz="882" b="1" i="0">
                <a:solidFill>
                  <a:srgbClr val="C9783E"/>
                </a:solidFill>
                <a:latin typeface="Arial"/>
                <a:ea typeface="Arial"/>
                <a:cs typeface="Arial"/>
              </a:rPr>
              <a:t>— NRG SELECTS THE STARTING SCOPE.</a:t>
            </a:r>
          </a:p>
        </p:txBody>
      </p:sp>
    </p:spTree>
  </p:cSld>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6F3EE"/>
        </a:solidFill>
      </p:bgPr>
    </p:bg>
    <p:spTree>
      <p:nvGrpSpPr>
        <p:cNvPr id="1" name=""/>
        <p:cNvGrpSpPr/>
        <p:nvPr/>
      </p:nvGrpSpPr>
      <p:grpSpPr>
        <a:xfrm/>
      </p:grpSpPr>
      <p:sp>
        <p:nvSpPr>
          <p:cNvPr id="177" name=""/>
          <p:cNvSpPr>
            <a:spLocks noGrp="1"/>
          </p:cNvSpPr>
          <p:nvPr/>
        </p:nvSpPr>
        <p:spPr>
          <a:xfrm>
            <a:off x="0" y="0"/>
            <a:ext cx="12192000" cy="57150"/>
          </a:xfrm>
          <a:prstGeom prst="rect">
            <a:avLst/>
          </a:prstGeom>
          <a:solidFill>
            <a:srgbClr val="C9783E"/>
          </a:solidFill>
          <a:ln w="0">
            <a:noFill/>
            <a:prstDash val="solid"/>
          </a:ln>
        </p:spPr>
      </p:sp>
      <p:pic>
        <p:nvPicPr>
          <p:cNvPr id="178" name=""/>
          <p:cNvPicPr>
            <a:picLocks noChangeAspect="1"/>
          </p:cNvPicPr>
          <p:nvPr/>
        </p:nvPicPr>
        <p:blipFill>
          <a:blip r:embed="rId1"/>
          <a:stretch/>
        </p:blipFill>
        <p:spPr>
          <a:xfrm>
            <a:off x="719138" y="200025"/>
            <a:ext cx="2066925" cy="590550"/>
          </a:xfrm>
          <a:prstGeom prst="rect">
            <a:avLst/>
          </a:prstGeom>
        </p:spPr>
      </p:pic>
      <p:sp>
        <p:nvSpPr>
          <p:cNvPr id="179" name=""/>
          <p:cNvSpPr>
            <a:spLocks noGrp="1"/>
          </p:cNvSpPr>
          <p:nvPr/>
        </p:nvSpPr>
        <p:spPr>
          <a:xfrm>
            <a:off x="7325360" y="323850"/>
            <a:ext cx="3600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819" b="1" i="0">
                <a:solidFill>
                  <a:srgbClr val="9D4E24"/>
                </a:solidFill>
                <a:latin typeface="Arial"/>
                <a:ea typeface="Arial"/>
                <a:cs typeface="Arial"/>
              </a:rPr>
              <a:t>APPENDIX A12 · FINANCE + ESG</a:t>
            </a:r>
          </a:p>
        </p:txBody>
      </p:sp>
      <p:sp>
        <p:nvSpPr>
          <p:cNvPr id="180" name=""/>
          <p:cNvSpPr>
            <a:spLocks noGrp="1"/>
          </p:cNvSpPr>
          <p:nvPr/>
        </p:nvSpPr>
        <p:spPr>
          <a:xfrm>
            <a:off x="11060000" y="323850"/>
            <a:ext cx="600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819" b="1" i="0">
                <a:solidFill>
                  <a:srgbClr val="8B9094"/>
                </a:solidFill>
                <a:latin typeface="Arial"/>
                <a:ea typeface="Arial"/>
                <a:cs typeface="Arial"/>
              </a:rPr>
              <a:t>23</a:t>
            </a:r>
          </a:p>
        </p:txBody>
      </p:sp>
      <p:sp>
        <p:nvSpPr>
          <p:cNvPr id="181" name=""/>
          <p:cNvSpPr>
            <a:spLocks noGrp="1"/>
          </p:cNvSpPr>
          <p:nvPr/>
        </p:nvSpPr>
        <p:spPr>
          <a:xfrm>
            <a:off x="719138" y="1005840"/>
            <a:ext cx="85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C9783E"/>
                </a:solidFill>
                <a:latin typeface="Arial"/>
                <a:ea typeface="Arial"/>
                <a:cs typeface="Arial"/>
              </a:rPr>
              <a:t>EARLY ENGAGEMENT, UNDERWRITING-GRADE DOCUMENTATION</a:t>
            </a:r>
          </a:p>
        </p:txBody>
      </p:sp>
      <p:sp>
        <p:nvSpPr>
          <p:cNvPr id="182" name=""/>
          <p:cNvSpPr>
            <a:spLocks noGrp="1"/>
          </p:cNvSpPr>
          <p:nvPr/>
        </p:nvSpPr>
        <p:spPr>
          <a:xfrm>
            <a:off x="719138" y="1280160"/>
            <a:ext cx="10753724" cy="800000"/>
          </a:xfrm>
          <a:prstGeom prst="rect">
            <a:avLst/>
          </a:prstGeom>
          <a:noFill/>
          <a:ln w="0">
            <a:noFill/>
            <a:prstDash val="solid"/>
          </a:ln>
        </p:spPr>
        <p:txBody>
          <a:bodyPr wrap="square" lIns="0" tIns="0" rIns="0" bIns="0" anchor="t">
            <a:normAutofit fontScale="100000"/>
          </a:bodyPr>
          <a:lstStyle/>
          <a:p>
            <a:pPr algn="l">
              <a:lnSpc>
                <a:spcPct val="104000"/>
              </a:lnSpc>
              <a:buNone/>
            </a:pPr>
            <a:r>
              <a:rPr sz="2850" b="1" i="0">
                <a:solidFill>
                  <a:srgbClr val="17191C"/>
                </a:solidFill>
                <a:latin typeface="Arial"/>
                <a:ea typeface="Arial"/>
                <a:cs typeface="Arial"/>
              </a:rPr>
              <a:t>What early engagement includes — and what finance gets out of it.</a:t>
            </a:r>
          </a:p>
        </p:txBody>
      </p:sp>
      <p:sp>
        <p:nvSpPr>
          <p:cNvPr id="183" name=""/>
          <p:cNvSpPr>
            <a:spLocks noGrp="1"/>
          </p:cNvSpPr>
          <p:nvPr/>
        </p:nvSpPr>
        <p:spPr>
          <a:xfrm>
            <a:off x="719138" y="2286000"/>
            <a:ext cx="10753724" cy="300000"/>
          </a:xfrm>
          <a:prstGeom prst="rect">
            <a:avLst/>
          </a:prstGeom>
          <a:noFill/>
          <a:ln w="0">
            <a:noFill/>
            <a:prstDash val="solid"/>
          </a:ln>
        </p:spPr>
        <p:txBody>
          <a:bodyPr wrap="square" lIns="0" tIns="0" rIns="0" bIns="0" anchor="t">
            <a:normAutofit fontScale="100000"/>
          </a:bodyPr>
          <a:lstStyle/>
          <a:p>
            <a:pPr algn="l">
              <a:lnSpc>
                <a:spcPct val="108000"/>
              </a:lnSpc>
              <a:buNone/>
            </a:pPr>
            <a:r>
              <a:rPr sz="1050" b="0" i="0">
                <a:solidFill>
                  <a:srgbClr val="6A6F73"/>
                </a:solidFill>
                <a:latin typeface="Arial"/>
                <a:ea typeface="Arial"/>
                <a:cs typeface="Arial"/>
              </a:rPr>
              <a:t>Technical readiness converts into underwriting inputs: cost, schedule, sourcing and carbon visibility before the EPC bid hardens contingency.</a:t>
            </a:r>
          </a:p>
        </p:txBody>
      </p:sp>
      <p:sp>
        <p:nvSpPr>
          <p:cNvPr id="184" name=""/>
          <p:cNvSpPr>
            <a:spLocks noGrp="1"/>
          </p:cNvSpPr>
          <p:nvPr/>
        </p:nvSpPr>
        <p:spPr>
          <a:xfrm>
            <a:off x="719138" y="2697480"/>
            <a:ext cx="49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19" b="1" i="0">
                <a:solidFill>
                  <a:srgbClr val="9D4E24"/>
                </a:solidFill>
                <a:latin typeface="Arial"/>
                <a:ea typeface="Arial"/>
                <a:cs typeface="Arial"/>
              </a:rPr>
              <a:t>PRE-EPC OFFERINGS</a:t>
            </a:r>
          </a:p>
        </p:txBody>
      </p:sp>
      <p:sp>
        <p:nvSpPr>
          <p:cNvPr id="185" name=""/>
          <p:cNvSpPr>
            <a:spLocks noGrp="1"/>
          </p:cNvSpPr>
          <p:nvPr/>
        </p:nvSpPr>
        <p:spPr>
          <a:xfrm>
            <a:off x="719138" y="3076280"/>
            <a:ext cx="91440" cy="91440"/>
          </a:xfrm>
          <a:prstGeom prst="rect">
            <a:avLst/>
          </a:prstGeom>
          <a:solidFill>
            <a:srgbClr val="C9783E"/>
          </a:solidFill>
          <a:ln w="0">
            <a:noFill/>
            <a:prstDash val="solid"/>
          </a:ln>
        </p:spPr>
      </p:sp>
      <p:sp>
        <p:nvSpPr>
          <p:cNvPr id="186" name=""/>
          <p:cNvSpPr>
            <a:spLocks noGrp="1"/>
          </p:cNvSpPr>
          <p:nvPr/>
        </p:nvSpPr>
        <p:spPr>
          <a:xfrm>
            <a:off x="947738" y="3017280"/>
            <a:ext cx="4671400" cy="5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Master planning workshop — conceptual design and interface mapping for complex sites</a:t>
            </a:r>
          </a:p>
        </p:txBody>
      </p:sp>
      <p:sp>
        <p:nvSpPr>
          <p:cNvPr id="187" name=""/>
          <p:cNvSpPr>
            <a:spLocks noGrp="1"/>
          </p:cNvSpPr>
          <p:nvPr/>
        </p:nvSpPr>
        <p:spPr>
          <a:xfrm>
            <a:off x="719138" y="3670640"/>
            <a:ext cx="91440" cy="91440"/>
          </a:xfrm>
          <a:prstGeom prst="rect">
            <a:avLst/>
          </a:prstGeom>
          <a:solidFill>
            <a:srgbClr val="C9783E"/>
          </a:solidFill>
          <a:ln w="0">
            <a:noFill/>
            <a:prstDash val="solid"/>
          </a:ln>
        </p:spPr>
      </p:sp>
      <p:sp>
        <p:nvSpPr>
          <p:cNvPr id="188" name=""/>
          <p:cNvSpPr>
            <a:spLocks noGrp="1"/>
          </p:cNvSpPr>
          <p:nvPr/>
        </p:nvSpPr>
        <p:spPr>
          <a:xfrm>
            <a:off x="947738" y="3611640"/>
            <a:ext cx="4671400" cy="5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Conceptual cable solution design and electrical spine architecture</a:t>
            </a:r>
          </a:p>
        </p:txBody>
      </p:sp>
      <p:sp>
        <p:nvSpPr>
          <p:cNvPr id="189" name=""/>
          <p:cNvSpPr>
            <a:spLocks noGrp="1"/>
          </p:cNvSpPr>
          <p:nvPr/>
        </p:nvSpPr>
        <p:spPr>
          <a:xfrm>
            <a:off x="719138" y="4265000"/>
            <a:ext cx="91440" cy="91440"/>
          </a:xfrm>
          <a:prstGeom prst="rect">
            <a:avLst/>
          </a:prstGeom>
          <a:solidFill>
            <a:srgbClr val="C9783E"/>
          </a:solidFill>
          <a:ln w="0">
            <a:noFill/>
            <a:prstDash val="solid"/>
          </a:ln>
        </p:spPr>
      </p:sp>
      <p:sp>
        <p:nvSpPr>
          <p:cNvPr id="190" name=""/>
          <p:cNvSpPr>
            <a:spLocks noGrp="1"/>
          </p:cNvSpPr>
          <p:nvPr/>
        </p:nvSpPr>
        <p:spPr>
          <a:xfrm>
            <a:off x="947738" y="4206000"/>
            <a:ext cx="4671400" cy="5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Procurement risk register and schedule visibility</a:t>
            </a:r>
          </a:p>
        </p:txBody>
      </p:sp>
      <p:sp>
        <p:nvSpPr>
          <p:cNvPr id="191" name=""/>
          <p:cNvSpPr>
            <a:spLocks noGrp="1"/>
          </p:cNvSpPr>
          <p:nvPr/>
        </p:nvSpPr>
        <p:spPr>
          <a:xfrm>
            <a:off x="719138" y="4859360"/>
            <a:ext cx="91440" cy="91440"/>
          </a:xfrm>
          <a:prstGeom prst="rect">
            <a:avLst/>
          </a:prstGeom>
          <a:solidFill>
            <a:srgbClr val="C9783E"/>
          </a:solidFill>
          <a:ln w="0">
            <a:noFill/>
            <a:prstDash val="solid"/>
          </a:ln>
        </p:spPr>
      </p:sp>
      <p:sp>
        <p:nvSpPr>
          <p:cNvPr id="192" name=""/>
          <p:cNvSpPr>
            <a:spLocks noGrp="1"/>
          </p:cNvSpPr>
          <p:nvPr/>
        </p:nvSpPr>
        <p:spPr>
          <a:xfrm>
            <a:off x="947738" y="4800360"/>
            <a:ext cx="4671400" cy="5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Capacity allocation and commodity (Cu/Al) exposure hedging support</a:t>
            </a:r>
          </a:p>
        </p:txBody>
      </p:sp>
      <p:sp>
        <p:nvSpPr>
          <p:cNvPr id="193" name=""/>
          <p:cNvSpPr>
            <a:spLocks noGrp="1"/>
          </p:cNvSpPr>
          <p:nvPr/>
        </p:nvSpPr>
        <p:spPr>
          <a:xfrm>
            <a:off x="719138" y="5453720"/>
            <a:ext cx="91440" cy="91440"/>
          </a:xfrm>
          <a:prstGeom prst="rect">
            <a:avLst/>
          </a:prstGeom>
          <a:solidFill>
            <a:srgbClr val="C9783E"/>
          </a:solidFill>
          <a:ln w="0">
            <a:noFill/>
            <a:prstDash val="solid"/>
          </a:ln>
        </p:spPr>
      </p:sp>
      <p:sp>
        <p:nvSpPr>
          <p:cNvPr id="194" name=""/>
          <p:cNvSpPr>
            <a:spLocks noGrp="1"/>
          </p:cNvSpPr>
          <p:nvPr/>
        </p:nvSpPr>
        <p:spPr>
          <a:xfrm>
            <a:off x="947738" y="5394720"/>
            <a:ext cx="4671400" cy="5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Domestic supply strategy — U.S.-made resilience for TEF and local-content goals</a:t>
            </a:r>
          </a:p>
        </p:txBody>
      </p:sp>
      <p:sp>
        <p:nvSpPr>
          <p:cNvPr id="195" name=""/>
          <p:cNvSpPr>
            <a:spLocks noGrp="1"/>
          </p:cNvSpPr>
          <p:nvPr/>
        </p:nvSpPr>
        <p:spPr>
          <a:xfrm>
            <a:off x="6120130" y="2697480"/>
            <a:ext cx="535273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19" b="1" i="0">
                <a:solidFill>
                  <a:srgbClr val="9D4E24"/>
                </a:solidFill>
                <a:latin typeface="Arial"/>
                <a:ea typeface="Arial"/>
                <a:cs typeface="Arial"/>
              </a:rPr>
              <a:t>DOCUMENTATION FOR FINANCE + ESG</a:t>
            </a:r>
          </a:p>
        </p:txBody>
      </p:sp>
      <p:sp>
        <p:nvSpPr>
          <p:cNvPr id="196" name=""/>
          <p:cNvSpPr>
            <a:spLocks noGrp="1"/>
          </p:cNvSpPr>
          <p:nvPr/>
        </p:nvSpPr>
        <p:spPr>
          <a:xfrm>
            <a:off x="6120130" y="3076280"/>
            <a:ext cx="91440" cy="91440"/>
          </a:xfrm>
          <a:prstGeom prst="rect">
            <a:avLst/>
          </a:prstGeom>
          <a:solidFill>
            <a:srgbClr val="C9783E"/>
          </a:solidFill>
          <a:ln w="0">
            <a:noFill/>
            <a:prstDash val="solid"/>
          </a:ln>
        </p:spPr>
      </p:sp>
      <p:sp>
        <p:nvSpPr>
          <p:cNvPr id="197" name=""/>
          <p:cNvSpPr>
            <a:spLocks noGrp="1"/>
          </p:cNvSpPr>
          <p:nvPr/>
        </p:nvSpPr>
        <p:spPr>
          <a:xfrm>
            <a:off x="6348730" y="3017280"/>
            <a:ext cx="5124132" cy="5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Transparent BOMs and cost-allocation records supporting asset classification and depreciation — tax treatment confirmed per project</a:t>
            </a:r>
          </a:p>
        </p:txBody>
      </p:sp>
      <p:sp>
        <p:nvSpPr>
          <p:cNvPr id="198" name=""/>
          <p:cNvSpPr>
            <a:spLocks noGrp="1"/>
          </p:cNvSpPr>
          <p:nvPr/>
        </p:nvSpPr>
        <p:spPr>
          <a:xfrm>
            <a:off x="6120130" y="3670640"/>
            <a:ext cx="91440" cy="91440"/>
          </a:xfrm>
          <a:prstGeom prst="rect">
            <a:avLst/>
          </a:prstGeom>
          <a:solidFill>
            <a:srgbClr val="C9783E"/>
          </a:solidFill>
          <a:ln w="0">
            <a:noFill/>
            <a:prstDash val="solid"/>
          </a:ln>
        </p:spPr>
      </p:sp>
      <p:sp>
        <p:nvSpPr>
          <p:cNvPr id="199" name=""/>
          <p:cNvSpPr>
            <a:spLocks noGrp="1"/>
          </p:cNvSpPr>
          <p:nvPr/>
        </p:nvSpPr>
        <p:spPr>
          <a:xfrm>
            <a:off x="6348730" y="3611640"/>
            <a:ext cx="5124132" cy="5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Verified EPDs for low-embodied-carbon procurement</a:t>
            </a:r>
          </a:p>
        </p:txBody>
      </p:sp>
      <p:sp>
        <p:nvSpPr>
          <p:cNvPr id="200" name=""/>
          <p:cNvSpPr>
            <a:spLocks noGrp="1"/>
          </p:cNvSpPr>
          <p:nvPr/>
        </p:nvSpPr>
        <p:spPr>
          <a:xfrm>
            <a:off x="6120130" y="4265000"/>
            <a:ext cx="91440" cy="91440"/>
          </a:xfrm>
          <a:prstGeom prst="rect">
            <a:avLst/>
          </a:prstGeom>
          <a:solidFill>
            <a:srgbClr val="C9783E"/>
          </a:solidFill>
          <a:ln w="0">
            <a:noFill/>
            <a:prstDash val="solid"/>
          </a:ln>
        </p:spPr>
      </p:sp>
      <p:sp>
        <p:nvSpPr>
          <p:cNvPr id="201" name=""/>
          <p:cNvSpPr>
            <a:spLocks noGrp="1"/>
          </p:cNvSpPr>
          <p:nvPr/>
        </p:nvSpPr>
        <p:spPr>
          <a:xfrm>
            <a:off x="6348730" y="4206000"/>
            <a:ext cx="5124132" cy="5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Scope 3 cradle-to-gate carbon data for ESG-linked financing and hyperscaler offtaker requirements</a:t>
            </a:r>
          </a:p>
        </p:txBody>
      </p:sp>
      <p:sp>
        <p:nvSpPr>
          <p:cNvPr id="202" name=""/>
          <p:cNvSpPr>
            <a:spLocks noGrp="1"/>
          </p:cNvSpPr>
          <p:nvPr/>
        </p:nvSpPr>
        <p:spPr>
          <a:xfrm>
            <a:off x="6120130" y="4859360"/>
            <a:ext cx="91440" cy="91440"/>
          </a:xfrm>
          <a:prstGeom prst="rect">
            <a:avLst/>
          </a:prstGeom>
          <a:solidFill>
            <a:srgbClr val="C9783E"/>
          </a:solidFill>
          <a:ln w="0">
            <a:noFill/>
            <a:prstDash val="solid"/>
          </a:ln>
        </p:spPr>
      </p:sp>
      <p:sp>
        <p:nvSpPr>
          <p:cNvPr id="203" name=""/>
          <p:cNvSpPr>
            <a:spLocks noGrp="1"/>
          </p:cNvSpPr>
          <p:nvPr/>
        </p:nvSpPr>
        <p:spPr>
          <a:xfrm>
            <a:off x="6348730" y="4800360"/>
            <a:ext cx="5124132" cy="5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Recycled-content integration and optimized logistics (circular economy)</a:t>
            </a:r>
          </a:p>
        </p:txBody>
      </p:sp>
      <p:sp>
        <p:nvSpPr>
          <p:cNvPr id="204" name=""/>
          <p:cNvSpPr>
            <a:spLocks noGrp="1"/>
          </p:cNvSpPr>
          <p:nvPr/>
        </p:nvSpPr>
        <p:spPr>
          <a:xfrm>
            <a:off x="6120130" y="5453720"/>
            <a:ext cx="91440" cy="91440"/>
          </a:xfrm>
          <a:prstGeom prst="rect">
            <a:avLst/>
          </a:prstGeom>
          <a:solidFill>
            <a:srgbClr val="C9783E"/>
          </a:solidFill>
          <a:ln w="0">
            <a:noFill/>
            <a:prstDash val="solid"/>
          </a:ln>
        </p:spPr>
      </p:sp>
      <p:sp>
        <p:nvSpPr>
          <p:cNvPr id="205" name=""/>
          <p:cNvSpPr>
            <a:spLocks noGrp="1"/>
          </p:cNvSpPr>
          <p:nvPr/>
        </p:nvSpPr>
        <p:spPr>
          <a:xfrm>
            <a:off x="6348730" y="5394720"/>
            <a:ext cx="5124132" cy="5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Auditable domestic-content documentation for TEF and investor reporting</a:t>
            </a:r>
          </a:p>
        </p:txBody>
      </p:sp>
      <p:sp>
        <p:nvSpPr>
          <p:cNvPr id="206" name=""/>
          <p:cNvSpPr>
            <a:spLocks noGrp="1"/>
          </p:cNvSpPr>
          <p:nvPr/>
        </p:nvSpPr>
        <p:spPr>
          <a:xfrm>
            <a:off x="719138" y="6032500"/>
            <a:ext cx="10753724" cy="200000"/>
          </a:xfrm>
          <a:prstGeom prst="rect">
            <a:avLst/>
          </a:prstGeom>
          <a:noFill/>
          <a:ln w="0">
            <a:noFill/>
            <a:prstDash val="solid"/>
          </a:ln>
        </p:spPr>
        <p:txBody>
          <a:bodyPr wrap="square" lIns="0" tIns="0" rIns="0" bIns="0" anchor="t">
            <a:normAutofit fontScale="100000"/>
          </a:bodyPr>
          <a:lstStyle/>
          <a:p>
            <a:pPr algn="l">
              <a:lnSpc>
                <a:spcPct val="100000"/>
              </a:lnSpc>
              <a:buNone/>
            </a:pPr>
            <a:r>
              <a:rPr sz="825" b="0" i="1">
                <a:solidFill>
                  <a:srgbClr val="6A6F73"/>
                </a:solidFill>
                <a:latin typeface="Arial"/>
                <a:ea typeface="Arial"/>
                <a:cs typeface="Arial"/>
              </a:rPr>
              <a:t>Conceptual commercial positioning — offerings, documentation and tax applicability are scoped and confirmed per project.</a:t>
            </a:r>
          </a:p>
        </p:txBody>
      </p:sp>
      <p:sp>
        <p:nvSpPr>
          <p:cNvPr id="207" name=""/>
          <p:cNvSpPr>
            <a:spLocks noGrp="1"/>
          </p:cNvSpPr>
          <p:nvPr/>
        </p:nvSpPr>
        <p:spPr>
          <a:xfrm>
            <a:off x="719138" y="6315000"/>
            <a:ext cx="10753724" cy="400000"/>
          </a:xfrm>
          <a:prstGeom prst="rect">
            <a:avLst/>
          </a:prstGeom>
          <a:solidFill>
            <a:srgbClr val="17191C"/>
          </a:solidFill>
          <a:ln w="0">
            <a:noFill/>
            <a:prstDash val="solid"/>
          </a:ln>
        </p:spPr>
      </p:sp>
      <p:sp>
        <p:nvSpPr>
          <p:cNvPr id="208" name=""/>
          <p:cNvSpPr>
            <a:spLocks noGrp="1"/>
          </p:cNvSpPr>
          <p:nvPr/>
        </p:nvSpPr>
        <p:spPr>
          <a:xfrm>
            <a:off x="719138" y="6315000"/>
            <a:ext cx="10753724" cy="400000"/>
          </a:xfrm>
          <a:prstGeom prst="rect">
            <a:avLst/>
          </a:prstGeom>
          <a:noFill/>
          <a:ln w="0">
            <a:noFill/>
            <a:prstDash val="solid"/>
          </a:ln>
        </p:spPr>
        <p:txBody>
          <a:bodyPr wrap="square" lIns="0" tIns="0" rIns="0" bIns="0" anchor="ctr">
            <a:normAutofit fontScale="100000"/>
          </a:bodyPr>
          <a:lstStyle/>
          <a:p>
            <a:pPr algn="ctr">
              <a:lnSpc>
                <a:spcPct val="100000"/>
              </a:lnSpc>
              <a:buNone/>
            </a:pPr>
            <a:r>
              <a:rPr sz="882" b="1" i="0">
                <a:solidFill>
                  <a:srgbClr val="FFFFFF"/>
                </a:solidFill>
                <a:latin typeface="Arial"/>
                <a:ea typeface="Arial"/>
                <a:cs typeface="Arial"/>
              </a:rPr>
              <a:t>COST, SCHEDULE, SOURCING AND CARBON VISIBILITY — BEFORE THE EPC BID PRICES THE UNCERTAINTY AS CONTINGENCY.</a:t>
            </a:r>
          </a:p>
        </p:txBody>
      </p:sp>
    </p:spTree>
  </p:cSld>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6F3EE"/>
        </a:solidFill>
      </p:bgPr>
    </p:bg>
    <p:spTree>
      <p:nvGrpSpPr>
        <p:cNvPr id="1" name=""/>
        <p:cNvGrpSpPr/>
        <p:nvPr/>
      </p:nvGrpSpPr>
      <p:grpSpPr>
        <a:xfrm/>
      </p:grpSpPr>
      <p:sp>
        <p:nvSpPr>
          <p:cNvPr id="209" name=""/>
          <p:cNvSpPr>
            <a:spLocks noGrp="1"/>
          </p:cNvSpPr>
          <p:nvPr/>
        </p:nvSpPr>
        <p:spPr>
          <a:xfrm>
            <a:off x="0" y="0"/>
            <a:ext cx="12192000" cy="57150"/>
          </a:xfrm>
          <a:prstGeom prst="rect">
            <a:avLst/>
          </a:prstGeom>
          <a:solidFill>
            <a:srgbClr val="C9783E"/>
          </a:solidFill>
          <a:ln w="0">
            <a:noFill/>
            <a:prstDash val="solid"/>
          </a:ln>
        </p:spPr>
      </p:sp>
      <p:pic>
        <p:nvPicPr>
          <p:cNvPr id="210" name=""/>
          <p:cNvPicPr>
            <a:picLocks noChangeAspect="1"/>
          </p:cNvPicPr>
          <p:nvPr/>
        </p:nvPicPr>
        <p:blipFill>
          <a:blip r:embed="rId1"/>
          <a:stretch/>
        </p:blipFill>
        <p:spPr>
          <a:xfrm>
            <a:off x="719138" y="200025"/>
            <a:ext cx="2066925" cy="590550"/>
          </a:xfrm>
          <a:prstGeom prst="rect">
            <a:avLst/>
          </a:prstGeom>
        </p:spPr>
      </p:pic>
      <p:sp>
        <p:nvSpPr>
          <p:cNvPr id="211" name=""/>
          <p:cNvSpPr>
            <a:spLocks noGrp="1"/>
          </p:cNvSpPr>
          <p:nvPr/>
        </p:nvSpPr>
        <p:spPr>
          <a:xfrm>
            <a:off x="7325360" y="323850"/>
            <a:ext cx="3600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819" b="1" i="0">
                <a:solidFill>
                  <a:srgbClr val="9D4E24"/>
                </a:solidFill>
                <a:latin typeface="Arial"/>
                <a:ea typeface="Arial"/>
                <a:cs typeface="Arial"/>
              </a:rPr>
              <a:t>APPENDIX A13 · CABLE PLATFORM</a:t>
            </a:r>
          </a:p>
        </p:txBody>
      </p:sp>
      <p:sp>
        <p:nvSpPr>
          <p:cNvPr id="212" name=""/>
          <p:cNvSpPr>
            <a:spLocks noGrp="1"/>
          </p:cNvSpPr>
          <p:nvPr/>
        </p:nvSpPr>
        <p:spPr>
          <a:xfrm>
            <a:off x="11060000" y="323850"/>
            <a:ext cx="600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819" b="1" i="0">
                <a:solidFill>
                  <a:srgbClr val="8B9094"/>
                </a:solidFill>
                <a:latin typeface="Arial"/>
                <a:ea typeface="Arial"/>
                <a:cs typeface="Arial"/>
              </a:rPr>
              <a:t>24</a:t>
            </a:r>
          </a:p>
        </p:txBody>
      </p:sp>
      <p:sp>
        <p:nvSpPr>
          <p:cNvPr id="213" name=""/>
          <p:cNvSpPr>
            <a:spLocks noGrp="1"/>
          </p:cNvSpPr>
          <p:nvPr/>
        </p:nvSpPr>
        <p:spPr>
          <a:xfrm>
            <a:off x="719138" y="1005840"/>
            <a:ext cx="85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C9783E"/>
                </a:solidFill>
                <a:latin typeface="Arial"/>
                <a:ea typeface="Arial"/>
                <a:cs typeface="Arial"/>
              </a:rPr>
              <a:t>ONE PLATFORM — PLANT SCOPE AND PACKAGED SCOPE</a:t>
            </a:r>
          </a:p>
        </p:txBody>
      </p:sp>
      <p:sp>
        <p:nvSpPr>
          <p:cNvPr id="214" name=""/>
          <p:cNvSpPr>
            <a:spLocks noGrp="1"/>
          </p:cNvSpPr>
          <p:nvPr/>
        </p:nvSpPr>
        <p:spPr>
          <a:xfrm>
            <a:off x="719138" y="1280160"/>
            <a:ext cx="10753724" cy="800000"/>
          </a:xfrm>
          <a:prstGeom prst="rect">
            <a:avLst/>
          </a:prstGeom>
          <a:noFill/>
          <a:ln w="0">
            <a:noFill/>
            <a:prstDash val="solid"/>
          </a:ln>
        </p:spPr>
        <p:txBody>
          <a:bodyPr wrap="square" lIns="0" tIns="0" rIns="0" bIns="0" anchor="t">
            <a:normAutofit fontScale="100000"/>
          </a:bodyPr>
          <a:lstStyle/>
          <a:p>
            <a:pPr algn="l">
              <a:lnSpc>
                <a:spcPct val="104000"/>
              </a:lnSpc>
              <a:buNone/>
            </a:pPr>
            <a:r>
              <a:rPr sz="2850" b="1" i="0">
                <a:solidFill>
                  <a:srgbClr val="17191C"/>
                </a:solidFill>
                <a:latin typeface="Arial"/>
                <a:ea typeface="Arial"/>
                <a:cs typeface="Arial"/>
              </a:rPr>
              <a:t>One platform from generator to grid — and inside every package.</a:t>
            </a:r>
          </a:p>
        </p:txBody>
      </p:sp>
      <p:sp>
        <p:nvSpPr>
          <p:cNvPr id="215" name=""/>
          <p:cNvSpPr>
            <a:spLocks noGrp="1"/>
          </p:cNvSpPr>
          <p:nvPr/>
        </p:nvSpPr>
        <p:spPr>
          <a:xfrm>
            <a:off x="719138" y="2286000"/>
            <a:ext cx="10753724" cy="300000"/>
          </a:xfrm>
          <a:prstGeom prst="rect">
            <a:avLst/>
          </a:prstGeom>
          <a:noFill/>
          <a:ln w="0">
            <a:noFill/>
            <a:prstDash val="solid"/>
          </a:ln>
        </p:spPr>
        <p:txBody>
          <a:bodyPr wrap="square" lIns="0" tIns="0" rIns="0" bIns="0" anchor="t">
            <a:normAutofit fontScale="100000"/>
          </a:bodyPr>
          <a:lstStyle/>
          <a:p>
            <a:pPr algn="l">
              <a:lnSpc>
                <a:spcPct val="108000"/>
              </a:lnSpc>
              <a:buNone/>
            </a:pPr>
            <a:r>
              <a:rPr sz="1050" b="0" i="0">
                <a:solidFill>
                  <a:srgbClr val="6A6F73"/>
                </a:solidFill>
                <a:latin typeface="Arial"/>
                <a:ea typeface="Arial"/>
                <a:cs typeface="Arial"/>
              </a:rPr>
              <a:t>Every run in the plant-zone map resolves to a named product family — one supplier, one spec basis, domestic manufacture.</a:t>
            </a:r>
          </a:p>
        </p:txBody>
      </p:sp>
      <p:sp>
        <p:nvSpPr>
          <p:cNvPr id="216" name=""/>
          <p:cNvSpPr>
            <a:spLocks noGrp="1"/>
          </p:cNvSpPr>
          <p:nvPr/>
        </p:nvSpPr>
        <p:spPr>
          <a:xfrm>
            <a:off x="719138" y="2697480"/>
            <a:ext cx="49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19" b="1" i="0">
                <a:solidFill>
                  <a:srgbClr val="9D4E24"/>
                </a:solidFill>
                <a:latin typeface="Arial"/>
                <a:ea typeface="Arial"/>
                <a:cs typeface="Arial"/>
              </a:rPr>
              <a:t>PLANT SCOPE — GENERATOR TO GRID</a:t>
            </a:r>
          </a:p>
        </p:txBody>
      </p:sp>
      <p:sp>
        <p:nvSpPr>
          <p:cNvPr id="217" name=""/>
          <p:cNvSpPr>
            <a:spLocks noGrp="1"/>
          </p:cNvSpPr>
          <p:nvPr/>
        </p:nvSpPr>
        <p:spPr>
          <a:xfrm>
            <a:off x="719138" y="3017280"/>
            <a:ext cx="49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9D4E24"/>
                </a:solidFill>
                <a:latin typeface="Arial"/>
                <a:ea typeface="Arial"/>
                <a:cs typeface="Arial"/>
              </a:rPr>
              <a:t>HVUD HIGH-VOLTAGE UNDERGROUND · 69–400 kV</a:t>
            </a:r>
          </a:p>
        </p:txBody>
      </p:sp>
      <p:sp>
        <p:nvSpPr>
          <p:cNvPr id="218" name=""/>
          <p:cNvSpPr>
            <a:spLocks noGrp="1"/>
          </p:cNvSpPr>
          <p:nvPr/>
        </p:nvSpPr>
        <p:spPr>
          <a:xfrm>
            <a:off x="719138" y="3245880"/>
            <a:ext cx="4900000" cy="400000"/>
          </a:xfrm>
          <a:prstGeom prst="rect">
            <a:avLst/>
          </a:prstGeom>
          <a:noFill/>
          <a:ln w="0">
            <a:noFill/>
            <a:prstDash val="solid"/>
          </a:ln>
        </p:spPr>
        <p:txBody>
          <a:bodyPr wrap="square" lIns="0" tIns="0" rIns="0" bIns="0" anchor="t">
            <a:normAutofit fontScale="100000"/>
          </a:bodyPr>
          <a:lstStyle/>
          <a:p>
            <a:pPr algn="l">
              <a:lnSpc>
                <a:spcPct val="105000"/>
              </a:lnSpc>
              <a:buNone/>
            </a:pPr>
            <a:r>
              <a:rPr sz="975" b="0" i="0">
                <a:solidFill>
                  <a:srgbClr val="6A6F73"/>
                </a:solidFill>
                <a:latin typeface="Arial"/>
                <a:ea typeface="Arial"/>
                <a:cs typeface="Arial"/>
              </a:rPr>
              <a:t>XLPE underground interconnect; HVUD3 (138 kV) and HVUD4 (230 kV) carry gen-tie, behind-the-meter and bulk interconnect duty.</a:t>
            </a:r>
          </a:p>
        </p:txBody>
      </p:sp>
      <p:sp>
        <p:nvSpPr>
          <p:cNvPr id="219" name=""/>
          <p:cNvSpPr>
            <a:spLocks noGrp="1"/>
          </p:cNvSpPr>
          <p:nvPr/>
        </p:nvSpPr>
        <p:spPr>
          <a:xfrm>
            <a:off x="719138" y="3657360"/>
            <a:ext cx="49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9D4E24"/>
                </a:solidFill>
                <a:latin typeface="Arial"/>
                <a:ea typeface="Arial"/>
                <a:cs typeface="Arial"/>
              </a:rPr>
              <a:t>MV-105 · NL-EPR · 5–35 kV</a:t>
            </a:r>
          </a:p>
        </p:txBody>
      </p:sp>
      <p:sp>
        <p:nvSpPr>
          <p:cNvPr id="220" name=""/>
          <p:cNvSpPr>
            <a:spLocks noGrp="1"/>
          </p:cNvSpPr>
          <p:nvPr/>
        </p:nvSpPr>
        <p:spPr>
          <a:xfrm>
            <a:off x="719138" y="3885960"/>
            <a:ext cx="4900000" cy="400000"/>
          </a:xfrm>
          <a:prstGeom prst="rect">
            <a:avLst/>
          </a:prstGeom>
          <a:noFill/>
          <a:ln w="0">
            <a:noFill/>
            <a:prstDash val="solid"/>
          </a:ln>
        </p:spPr>
        <p:txBody>
          <a:bodyPr wrap="square" lIns="0" tIns="0" rIns="0" bIns="0" anchor="t">
            <a:normAutofit fontScale="100000"/>
          </a:bodyPr>
          <a:lstStyle/>
          <a:p>
            <a:pPr algn="l">
              <a:lnSpc>
                <a:spcPct val="105000"/>
              </a:lnSpc>
              <a:buNone/>
            </a:pPr>
            <a:r>
              <a:rPr sz="975" b="0" i="0">
                <a:solidFill>
                  <a:srgbClr val="6A6F73"/>
                </a:solidFill>
                <a:latin typeface="Arial"/>
                <a:ea typeface="Arial"/>
                <a:cs typeface="Arial"/>
              </a:rPr>
              <a:t>The plant collection and auxiliary backbone — 105°C rated, low-friction jacket, tray and duct-bank installation economics.</a:t>
            </a:r>
          </a:p>
        </p:txBody>
      </p:sp>
      <p:sp>
        <p:nvSpPr>
          <p:cNvPr id="221" name=""/>
          <p:cNvSpPr>
            <a:spLocks noGrp="1"/>
          </p:cNvSpPr>
          <p:nvPr/>
        </p:nvSpPr>
        <p:spPr>
          <a:xfrm>
            <a:off x="719138" y="4297440"/>
            <a:ext cx="49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9D4E24"/>
                </a:solidFill>
                <a:latin typeface="Arial"/>
                <a:ea typeface="Arial"/>
                <a:cs typeface="Arial"/>
              </a:rPr>
              <a:t>LV 600 V POWER, CONTROL &amp; BUILDING WIRE</a:t>
            </a:r>
          </a:p>
        </p:txBody>
      </p:sp>
      <p:sp>
        <p:nvSpPr>
          <p:cNvPr id="222" name=""/>
          <p:cNvSpPr>
            <a:spLocks noGrp="1"/>
          </p:cNvSpPr>
          <p:nvPr/>
        </p:nvSpPr>
        <p:spPr>
          <a:xfrm>
            <a:off x="719138" y="4526040"/>
            <a:ext cx="4900000" cy="400000"/>
          </a:xfrm>
          <a:prstGeom prst="rect">
            <a:avLst/>
          </a:prstGeom>
          <a:noFill/>
          <a:ln w="0">
            <a:noFill/>
            <a:prstDash val="solid"/>
          </a:ln>
        </p:spPr>
        <p:txBody>
          <a:bodyPr wrap="square" lIns="0" tIns="0" rIns="0" bIns="0" anchor="t">
            <a:normAutofit fontScale="100000"/>
          </a:bodyPr>
          <a:lstStyle/>
          <a:p>
            <a:pPr algn="l">
              <a:lnSpc>
                <a:spcPct val="105000"/>
              </a:lnSpc>
              <a:buNone/>
            </a:pPr>
            <a:r>
              <a:rPr sz="975" b="0" i="0">
                <a:solidFill>
                  <a:srgbClr val="6A6F73"/>
                </a:solidFill>
                <a:latin typeface="Arial"/>
                <a:ea typeface="Arial"/>
                <a:cs typeface="Arial"/>
              </a:rPr>
              <a:t>Feeders, motor circuits and unit auxiliary distribution across the plant.</a:t>
            </a:r>
          </a:p>
        </p:txBody>
      </p:sp>
      <p:sp>
        <p:nvSpPr>
          <p:cNvPr id="223" name=""/>
          <p:cNvSpPr>
            <a:spLocks noGrp="1"/>
          </p:cNvSpPr>
          <p:nvPr/>
        </p:nvSpPr>
        <p:spPr>
          <a:xfrm>
            <a:off x="719138" y="4937520"/>
            <a:ext cx="49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9D4E24"/>
                </a:solidFill>
                <a:latin typeface="Arial"/>
                <a:ea typeface="Arial"/>
                <a:cs typeface="Arial"/>
              </a:rPr>
              <a:t>I&amp;C, COMMS &amp; TRANSMISSION CONDUCTOR</a:t>
            </a:r>
          </a:p>
        </p:txBody>
      </p:sp>
      <p:sp>
        <p:nvSpPr>
          <p:cNvPr id="224" name=""/>
          <p:cNvSpPr>
            <a:spLocks noGrp="1"/>
          </p:cNvSpPr>
          <p:nvPr/>
        </p:nvSpPr>
        <p:spPr>
          <a:xfrm>
            <a:off x="719138" y="5166120"/>
            <a:ext cx="4900000" cy="400000"/>
          </a:xfrm>
          <a:prstGeom prst="rect">
            <a:avLst/>
          </a:prstGeom>
          <a:noFill/>
          <a:ln w="0">
            <a:noFill/>
            <a:prstDash val="solid"/>
          </a:ln>
        </p:spPr>
        <p:txBody>
          <a:bodyPr wrap="square" lIns="0" tIns="0" rIns="0" bIns="0" anchor="t">
            <a:normAutofit fontScale="100000"/>
          </a:bodyPr>
          <a:lstStyle/>
          <a:p>
            <a:pPr algn="l">
              <a:lnSpc>
                <a:spcPct val="105000"/>
              </a:lnSpc>
              <a:buNone/>
            </a:pPr>
            <a:r>
              <a:rPr sz="975" b="0" i="0">
                <a:solidFill>
                  <a:srgbClr val="6A6F73"/>
                </a:solidFill>
                <a:latin typeface="Arial"/>
                <a:ea typeface="Arial"/>
                <a:cs typeface="Arial"/>
              </a:rPr>
              <a:t>DCS, protection and metering cable; industrial Ethernet and fiber; ACSR / ACSS / OPGW where overhead is the route.</a:t>
            </a:r>
          </a:p>
        </p:txBody>
      </p:sp>
      <p:sp>
        <p:nvSpPr>
          <p:cNvPr id="225" name=""/>
          <p:cNvSpPr>
            <a:spLocks noGrp="1"/>
          </p:cNvSpPr>
          <p:nvPr/>
        </p:nvSpPr>
        <p:spPr>
          <a:xfrm>
            <a:off x="719138" y="5577600"/>
            <a:ext cx="49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9D4E24"/>
                </a:solidFill>
                <a:latin typeface="Arial"/>
                <a:ea typeface="Arial"/>
                <a:cs typeface="Arial"/>
              </a:rPr>
              <a:t>GROUNDING &amp; BONDING</a:t>
            </a:r>
          </a:p>
        </p:txBody>
      </p:sp>
      <p:sp>
        <p:nvSpPr>
          <p:cNvPr id="226" name=""/>
          <p:cNvSpPr>
            <a:spLocks noGrp="1"/>
          </p:cNvSpPr>
          <p:nvPr/>
        </p:nvSpPr>
        <p:spPr>
          <a:xfrm>
            <a:off x="719138" y="5806200"/>
            <a:ext cx="4900000" cy="400000"/>
          </a:xfrm>
          <a:prstGeom prst="rect">
            <a:avLst/>
          </a:prstGeom>
          <a:noFill/>
          <a:ln w="0">
            <a:noFill/>
            <a:prstDash val="solid"/>
          </a:ln>
        </p:spPr>
        <p:txBody>
          <a:bodyPr wrap="square" lIns="0" tIns="0" rIns="0" bIns="0" anchor="t">
            <a:normAutofit fontScale="100000"/>
          </a:bodyPr>
          <a:lstStyle/>
          <a:p>
            <a:pPr algn="l">
              <a:lnSpc>
                <a:spcPct val="105000"/>
              </a:lnSpc>
              <a:buNone/>
            </a:pPr>
            <a:r>
              <a:rPr sz="975" b="0" i="0">
                <a:solidFill>
                  <a:srgbClr val="6A6F73"/>
                </a:solidFill>
                <a:latin typeface="Arial"/>
                <a:ea typeface="Arial"/>
                <a:cs typeface="Arial"/>
              </a:rPr>
              <a:t>Bare copper and bonding conductor — the grid that ties the whole electrical system to earth.</a:t>
            </a:r>
          </a:p>
        </p:txBody>
      </p:sp>
      <p:sp>
        <p:nvSpPr>
          <p:cNvPr id="227" name=""/>
          <p:cNvSpPr>
            <a:spLocks noGrp="1"/>
          </p:cNvSpPr>
          <p:nvPr/>
        </p:nvSpPr>
        <p:spPr>
          <a:xfrm>
            <a:off x="6120130" y="2697480"/>
            <a:ext cx="535273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19" b="1" i="0">
                <a:solidFill>
                  <a:srgbClr val="9D4E24"/>
                </a:solidFill>
                <a:latin typeface="Arial"/>
                <a:ea typeface="Arial"/>
                <a:cs typeface="Arial"/>
              </a:rPr>
              <a:t>PACKAGED &amp; MODULAR SCOPE — 8 APPLICATION FAMILIES</a:t>
            </a:r>
          </a:p>
        </p:txBody>
      </p:sp>
      <p:sp>
        <p:nvSpPr>
          <p:cNvPr id="228" name=""/>
          <p:cNvSpPr>
            <a:spLocks noGrp="1"/>
          </p:cNvSpPr>
          <p:nvPr/>
        </p:nvSpPr>
        <p:spPr>
          <a:xfrm>
            <a:off x="6120130" y="3017280"/>
            <a:ext cx="535273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9D4E24"/>
                </a:solidFill>
                <a:latin typeface="Arial"/>
                <a:ea typeface="Arial"/>
                <a:cs typeface="Arial"/>
              </a:rPr>
              <a:t>2.4–35 kV AND 600 V–2 kV · BUY AMERICA</a:t>
            </a:r>
          </a:p>
        </p:txBody>
      </p:sp>
      <p:sp>
        <p:nvSpPr>
          <p:cNvPr id="229" name=""/>
          <p:cNvSpPr>
            <a:spLocks noGrp="1"/>
          </p:cNvSpPr>
          <p:nvPr/>
        </p:nvSpPr>
        <p:spPr>
          <a:xfrm>
            <a:off x="6120130" y="3245880"/>
            <a:ext cx="5352732" cy="400000"/>
          </a:xfrm>
          <a:prstGeom prst="rect">
            <a:avLst/>
          </a:prstGeom>
          <a:noFill/>
          <a:ln w="0">
            <a:noFill/>
            <a:prstDash val="solid"/>
          </a:ln>
        </p:spPr>
        <p:txBody>
          <a:bodyPr wrap="square" lIns="0" tIns="0" rIns="0" bIns="0" anchor="t">
            <a:normAutofit fontScale="100000"/>
          </a:bodyPr>
          <a:lstStyle/>
          <a:p>
            <a:pPr algn="l">
              <a:lnSpc>
                <a:spcPct val="105000"/>
              </a:lnSpc>
              <a:buNone/>
            </a:pPr>
            <a:r>
              <a:rPr sz="975" b="0" i="0">
                <a:solidFill>
                  <a:srgbClr val="6A6F73"/>
                </a:solidFill>
                <a:latin typeface="Arial"/>
                <a:ea typeface="Arial"/>
                <a:cs typeface="Arial"/>
              </a:rPr>
              <a:t>Every wire and cable application that lives inside — or connects — factory-built power packages, kitted to build sequence.</a:t>
            </a:r>
          </a:p>
        </p:txBody>
      </p:sp>
      <p:sp>
        <p:nvSpPr>
          <p:cNvPr id="230" name=""/>
          <p:cNvSpPr>
            <a:spLocks noGrp="1"/>
          </p:cNvSpPr>
          <p:nvPr/>
        </p:nvSpPr>
        <p:spPr>
          <a:xfrm>
            <a:off x="6120130" y="3657360"/>
            <a:ext cx="535273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9D4E24"/>
                </a:solidFill>
                <a:latin typeface="Arial"/>
                <a:ea typeface="Arial"/>
                <a:cs typeface="Arial"/>
              </a:rPr>
              <a:t>E-HOUSES · CONTAINERIZED SUBSTATIONS · SWITCHGEAR</a:t>
            </a:r>
          </a:p>
        </p:txBody>
      </p:sp>
      <p:sp>
        <p:nvSpPr>
          <p:cNvPr id="231" name=""/>
          <p:cNvSpPr>
            <a:spLocks noGrp="1"/>
          </p:cNvSpPr>
          <p:nvPr/>
        </p:nvSpPr>
        <p:spPr>
          <a:xfrm>
            <a:off x="6120130" y="3885960"/>
            <a:ext cx="5352732" cy="400000"/>
          </a:xfrm>
          <a:prstGeom prst="rect">
            <a:avLst/>
          </a:prstGeom>
          <a:noFill/>
          <a:ln w="0">
            <a:noFill/>
            <a:prstDash val="solid"/>
          </a:ln>
        </p:spPr>
        <p:txBody>
          <a:bodyPr wrap="square" lIns="0" tIns="0" rIns="0" bIns="0" anchor="t">
            <a:normAutofit fontScale="100000"/>
          </a:bodyPr>
          <a:lstStyle/>
          <a:p>
            <a:pPr algn="l">
              <a:lnSpc>
                <a:spcPct val="105000"/>
              </a:lnSpc>
              <a:buNone/>
            </a:pPr>
            <a:r>
              <a:rPr sz="975" b="0" i="0">
                <a:solidFill>
                  <a:srgbClr val="6A6F73"/>
                </a:solidFill>
                <a:latin typeface="Arial"/>
                <a:ea typeface="Arial"/>
                <a:cs typeface="Arial"/>
              </a:rPr>
              <a:t>Power control rooms, MV switchgear lineups, LV switchboard and MCC packages.</a:t>
            </a:r>
          </a:p>
        </p:txBody>
      </p:sp>
      <p:sp>
        <p:nvSpPr>
          <p:cNvPr id="232" name=""/>
          <p:cNvSpPr>
            <a:spLocks noGrp="1"/>
          </p:cNvSpPr>
          <p:nvPr/>
        </p:nvSpPr>
        <p:spPr>
          <a:xfrm>
            <a:off x="6120130" y="4297440"/>
            <a:ext cx="535273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9D4E24"/>
                </a:solidFill>
                <a:latin typeface="Arial"/>
                <a:ea typeface="Arial"/>
                <a:cs typeface="Arial"/>
              </a:rPr>
              <a:t>TRANSFORMER · BESS · GENSET · PROCESS SKIDS</a:t>
            </a:r>
          </a:p>
        </p:txBody>
      </p:sp>
      <p:sp>
        <p:nvSpPr>
          <p:cNvPr id="233" name=""/>
          <p:cNvSpPr>
            <a:spLocks noGrp="1"/>
          </p:cNvSpPr>
          <p:nvPr/>
        </p:nvSpPr>
        <p:spPr>
          <a:xfrm>
            <a:off x="6120130" y="4526040"/>
            <a:ext cx="5352732" cy="400000"/>
          </a:xfrm>
          <a:prstGeom prst="rect">
            <a:avLst/>
          </a:prstGeom>
          <a:noFill/>
          <a:ln w="0">
            <a:noFill/>
            <a:prstDash val="solid"/>
          </a:ln>
        </p:spPr>
        <p:txBody>
          <a:bodyPr wrap="square" lIns="0" tIns="0" rIns="0" bIns="0" anchor="t">
            <a:normAutofit fontScale="100000"/>
          </a:bodyPr>
          <a:lstStyle/>
          <a:p>
            <a:pPr algn="l">
              <a:lnSpc>
                <a:spcPct val="105000"/>
              </a:lnSpc>
              <a:buNone/>
            </a:pPr>
            <a:r>
              <a:rPr sz="975" b="0" i="0">
                <a:solidFill>
                  <a:srgbClr val="6A6F73"/>
                </a:solidFill>
                <a:latin typeface="Arial"/>
                <a:ea typeface="Arial"/>
                <a:cs typeface="Arial"/>
              </a:rPr>
              <a:t>Transformer packages, BESS containers, generator packages and process / pump skids.</a:t>
            </a:r>
          </a:p>
        </p:txBody>
      </p:sp>
      <p:sp>
        <p:nvSpPr>
          <p:cNvPr id="234" name=""/>
          <p:cNvSpPr>
            <a:spLocks noGrp="1"/>
          </p:cNvSpPr>
          <p:nvPr/>
        </p:nvSpPr>
        <p:spPr>
          <a:xfrm>
            <a:off x="6120130" y="4937520"/>
            <a:ext cx="535273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9D4E24"/>
                </a:solidFill>
                <a:latin typeface="Arial"/>
                <a:ea typeface="Arial"/>
                <a:cs typeface="Arial"/>
              </a:rPr>
              <a:t>SIMPULL, PRE-CUTS &amp; KITTING</a:t>
            </a:r>
          </a:p>
        </p:txBody>
      </p:sp>
      <p:sp>
        <p:nvSpPr>
          <p:cNvPr id="235" name=""/>
          <p:cNvSpPr>
            <a:spLocks noGrp="1"/>
          </p:cNvSpPr>
          <p:nvPr/>
        </p:nvSpPr>
        <p:spPr>
          <a:xfrm>
            <a:off x="6120130" y="5166120"/>
            <a:ext cx="5352732" cy="400000"/>
          </a:xfrm>
          <a:prstGeom prst="rect">
            <a:avLst/>
          </a:prstGeom>
          <a:noFill/>
          <a:ln w="0">
            <a:noFill/>
            <a:prstDash val="solid"/>
          </a:ln>
        </p:spPr>
        <p:txBody>
          <a:bodyPr wrap="square" lIns="0" tIns="0" rIns="0" bIns="0" anchor="t">
            <a:normAutofit fontScale="100000"/>
          </a:bodyPr>
          <a:lstStyle/>
          <a:p>
            <a:pPr algn="l">
              <a:lnSpc>
                <a:spcPct val="105000"/>
              </a:lnSpc>
              <a:buNone/>
            </a:pPr>
            <a:r>
              <a:rPr sz="975" b="0" i="0">
                <a:solidFill>
                  <a:srgbClr val="6A6F73"/>
                </a:solidFill>
                <a:latin typeface="Arial"/>
                <a:ea typeface="Arial"/>
                <a:cs typeface="Arial"/>
              </a:rPr>
              <a:t>Low-friction pulling technology, cut-to-length labeled reels and staged kits — energization-ready, less field labor.</a:t>
            </a:r>
          </a:p>
        </p:txBody>
      </p:sp>
      <p:sp>
        <p:nvSpPr>
          <p:cNvPr id="236" name=""/>
          <p:cNvSpPr>
            <a:spLocks noGrp="1"/>
          </p:cNvSpPr>
          <p:nvPr/>
        </p:nvSpPr>
        <p:spPr>
          <a:xfrm>
            <a:off x="6120130" y="5577600"/>
            <a:ext cx="535273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9D4E24"/>
                </a:solidFill>
                <a:latin typeface="Arial"/>
                <a:ea typeface="Arial"/>
                <a:cs typeface="Arial"/>
              </a:rPr>
              <a:t>ONE SUPPLIER, WHOLE PACKAGE</a:t>
            </a:r>
          </a:p>
        </p:txBody>
      </p:sp>
      <p:sp>
        <p:nvSpPr>
          <p:cNvPr id="237" name=""/>
          <p:cNvSpPr>
            <a:spLocks noGrp="1"/>
          </p:cNvSpPr>
          <p:nvPr/>
        </p:nvSpPr>
        <p:spPr>
          <a:xfrm>
            <a:off x="6120130" y="5806200"/>
            <a:ext cx="5352732" cy="400000"/>
          </a:xfrm>
          <a:prstGeom prst="rect">
            <a:avLst/>
          </a:prstGeom>
          <a:noFill/>
          <a:ln w="0">
            <a:noFill/>
            <a:prstDash val="solid"/>
          </a:ln>
        </p:spPr>
        <p:txBody>
          <a:bodyPr wrap="square" lIns="0" tIns="0" rIns="0" bIns="0" anchor="t">
            <a:normAutofit fontScale="100000"/>
          </a:bodyPr>
          <a:lstStyle/>
          <a:p>
            <a:pPr algn="l">
              <a:lnSpc>
                <a:spcPct val="105000"/>
              </a:lnSpc>
              <a:buNone/>
            </a:pPr>
            <a:r>
              <a:rPr sz="975" b="0" i="0">
                <a:solidFill>
                  <a:srgbClr val="6A6F73"/>
                </a:solidFill>
                <a:latin typeface="Arial"/>
                <a:ea typeface="Arial"/>
                <a:cs typeface="Arial"/>
              </a:rPr>
              <a:t>MV, LV, control, VFD, grounding, data and DC from a single domestic source — one procurement line item per package.</a:t>
            </a:r>
          </a:p>
        </p:txBody>
      </p:sp>
      <p:sp>
        <p:nvSpPr>
          <p:cNvPr id="238" name=""/>
          <p:cNvSpPr>
            <a:spLocks noGrp="1"/>
          </p:cNvSpPr>
          <p:nvPr/>
        </p:nvSpPr>
        <p:spPr>
          <a:xfrm>
            <a:off x="719138" y="6315000"/>
            <a:ext cx="10753724" cy="400000"/>
          </a:xfrm>
          <a:prstGeom prst="rect">
            <a:avLst/>
          </a:prstGeom>
          <a:solidFill>
            <a:srgbClr val="17191C"/>
          </a:solidFill>
          <a:ln w="0">
            <a:noFill/>
            <a:prstDash val="solid"/>
          </a:ln>
        </p:spPr>
      </p:sp>
      <p:sp>
        <p:nvSpPr>
          <p:cNvPr id="239" name=""/>
          <p:cNvSpPr>
            <a:spLocks noGrp="1"/>
          </p:cNvSpPr>
          <p:nvPr/>
        </p:nvSpPr>
        <p:spPr>
          <a:xfrm>
            <a:off x="719138" y="6315000"/>
            <a:ext cx="10753724" cy="400000"/>
          </a:xfrm>
          <a:prstGeom prst="rect">
            <a:avLst/>
          </a:prstGeom>
          <a:noFill/>
          <a:ln w="0">
            <a:noFill/>
            <a:prstDash val="solid"/>
          </a:ln>
        </p:spPr>
        <p:txBody>
          <a:bodyPr wrap="square" lIns="0" tIns="0" rIns="0" bIns="0" anchor="ctr">
            <a:normAutofit fontScale="100000"/>
          </a:bodyPr>
          <a:lstStyle/>
          <a:p>
            <a:pPr algn="ctr">
              <a:lnSpc>
                <a:spcPct val="100000"/>
              </a:lnSpc>
              <a:buNone/>
            </a:pPr>
            <a:r>
              <a:rPr sz="882" b="1" i="0">
                <a:solidFill>
                  <a:srgbClr val="FFFFFF"/>
                </a:solidFill>
                <a:latin typeface="Arial"/>
                <a:ea typeface="Arial"/>
                <a:cs typeface="Arial"/>
              </a:rPr>
              <a:t>TWO LEAVE-BEHIND CATALOGUES ACCOMPANY THIS DECK — IPP CABLE CATALOGUE (PLANT) · PACKAGED POWER E-CATALOGUE (SKIDS).</a:t>
            </a:r>
          </a:p>
        </p:txBody>
      </p:sp>
    </p:spTree>
  </p:cSld>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6F3EE"/>
        </a:solidFill>
      </p:bgPr>
    </p:bg>
    <p:spTree>
      <p:nvGrpSpPr>
        <p:cNvPr id="1" name=""/>
        <p:cNvGrpSpPr/>
        <p:nvPr/>
      </p:nvGrpSpPr>
      <p:grpSpPr>
        <a:xfrm/>
      </p:grpSpPr>
      <p:sp>
        <p:nvSpPr>
          <p:cNvPr id="240" name=""/>
          <p:cNvSpPr>
            <a:spLocks noGrp="1"/>
          </p:cNvSpPr>
          <p:nvPr/>
        </p:nvSpPr>
        <p:spPr>
          <a:xfrm>
            <a:off x="0" y="0"/>
            <a:ext cx="12192000" cy="57150"/>
          </a:xfrm>
          <a:prstGeom prst="rect">
            <a:avLst/>
          </a:prstGeom>
          <a:solidFill>
            <a:srgbClr val="C9783E"/>
          </a:solidFill>
          <a:ln w="0">
            <a:noFill/>
            <a:prstDash val="solid"/>
          </a:ln>
        </p:spPr>
      </p:sp>
      <p:pic>
        <p:nvPicPr>
          <p:cNvPr id="241" name=""/>
          <p:cNvPicPr>
            <a:picLocks noChangeAspect="1"/>
          </p:cNvPicPr>
          <p:nvPr/>
        </p:nvPicPr>
        <p:blipFill>
          <a:blip r:embed="rId1"/>
          <a:stretch/>
        </p:blipFill>
        <p:spPr>
          <a:xfrm>
            <a:off x="719138" y="200025"/>
            <a:ext cx="2066925" cy="590550"/>
          </a:xfrm>
          <a:prstGeom prst="rect">
            <a:avLst/>
          </a:prstGeom>
        </p:spPr>
      </p:pic>
      <p:sp>
        <p:nvSpPr>
          <p:cNvPr id="242" name=""/>
          <p:cNvSpPr>
            <a:spLocks noGrp="1"/>
          </p:cNvSpPr>
          <p:nvPr/>
        </p:nvSpPr>
        <p:spPr>
          <a:xfrm>
            <a:off x="7325360" y="323850"/>
            <a:ext cx="3600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819" b="1" i="0">
                <a:solidFill>
                  <a:srgbClr val="9D4E24"/>
                </a:solidFill>
                <a:latin typeface="Arial"/>
                <a:ea typeface="Arial"/>
                <a:cs typeface="Arial"/>
              </a:rPr>
              <a:t>APPENDIX A14 · OPERATING FLEET</a:t>
            </a:r>
          </a:p>
        </p:txBody>
      </p:sp>
      <p:sp>
        <p:nvSpPr>
          <p:cNvPr id="243" name=""/>
          <p:cNvSpPr>
            <a:spLocks noGrp="1"/>
          </p:cNvSpPr>
          <p:nvPr/>
        </p:nvSpPr>
        <p:spPr>
          <a:xfrm>
            <a:off x="11060000" y="323850"/>
            <a:ext cx="600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819" b="1" i="0">
                <a:solidFill>
                  <a:srgbClr val="8B9094"/>
                </a:solidFill>
                <a:latin typeface="Arial"/>
                <a:ea typeface="Arial"/>
                <a:cs typeface="Arial"/>
              </a:rPr>
              <a:t>25</a:t>
            </a:r>
          </a:p>
        </p:txBody>
      </p:sp>
      <p:sp>
        <p:nvSpPr>
          <p:cNvPr id="244" name=""/>
          <p:cNvSpPr>
            <a:spLocks noGrp="1"/>
          </p:cNvSpPr>
          <p:nvPr/>
        </p:nvSpPr>
        <p:spPr>
          <a:xfrm>
            <a:off x="719138" y="1005840"/>
            <a:ext cx="85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C9783E"/>
                </a:solidFill>
                <a:latin typeface="Arial"/>
                <a:ea typeface="Arial"/>
                <a:cs typeface="Arial"/>
              </a:rPr>
              <a:t>REJUVENATION, BROWNFIELD &amp; SERVICE — FOR THE 25.8 GW FLEET</a:t>
            </a:r>
          </a:p>
        </p:txBody>
      </p:sp>
      <p:sp>
        <p:nvSpPr>
          <p:cNvPr id="245" name=""/>
          <p:cNvSpPr>
            <a:spLocks noGrp="1"/>
          </p:cNvSpPr>
          <p:nvPr/>
        </p:nvSpPr>
        <p:spPr>
          <a:xfrm>
            <a:off x="719138" y="1280160"/>
            <a:ext cx="10753724" cy="800000"/>
          </a:xfrm>
          <a:prstGeom prst="rect">
            <a:avLst/>
          </a:prstGeom>
          <a:noFill/>
          <a:ln w="0">
            <a:noFill/>
            <a:prstDash val="solid"/>
          </a:ln>
        </p:spPr>
        <p:txBody>
          <a:bodyPr wrap="square" lIns="0" tIns="0" rIns="0" bIns="0" anchor="t">
            <a:normAutofit fontScale="100000"/>
          </a:bodyPr>
          <a:lstStyle/>
          <a:p>
            <a:pPr algn="l">
              <a:lnSpc>
                <a:spcPct val="104000"/>
              </a:lnSpc>
              <a:buNone/>
            </a:pPr>
            <a:r>
              <a:rPr sz="2850" b="1" i="0">
                <a:solidFill>
                  <a:srgbClr val="17191C"/>
                </a:solidFill>
                <a:latin typeface="Arial"/>
                <a:ea typeface="Arial"/>
                <a:cs typeface="Arial"/>
              </a:rPr>
              <a:t>Extend asset life without a greenfield rebuild.</a:t>
            </a:r>
          </a:p>
        </p:txBody>
      </p:sp>
      <p:sp>
        <p:nvSpPr>
          <p:cNvPr id="246" name=""/>
          <p:cNvSpPr>
            <a:spLocks noGrp="1"/>
          </p:cNvSpPr>
          <p:nvPr/>
        </p:nvSpPr>
        <p:spPr>
          <a:xfrm>
            <a:off x="719138" y="2286000"/>
            <a:ext cx="10753724" cy="300000"/>
          </a:xfrm>
          <a:prstGeom prst="rect">
            <a:avLst/>
          </a:prstGeom>
          <a:noFill/>
          <a:ln w="0">
            <a:noFill/>
            <a:prstDash val="solid"/>
          </a:ln>
        </p:spPr>
        <p:txBody>
          <a:bodyPr wrap="square" lIns="0" tIns="0" rIns="0" bIns="0" anchor="t">
            <a:normAutofit fontScale="100000"/>
          </a:bodyPr>
          <a:lstStyle/>
          <a:p>
            <a:pPr algn="l">
              <a:lnSpc>
                <a:spcPct val="108000"/>
              </a:lnSpc>
              <a:buNone/>
            </a:pPr>
            <a:r>
              <a:rPr sz="1050" b="0" i="0">
                <a:solidFill>
                  <a:srgbClr val="6A6F73"/>
                </a:solidFill>
                <a:latin typeface="Arial"/>
                <a:ea typeface="Arial"/>
                <a:cs typeface="Arial"/>
              </a:rPr>
              <a:t>Aging cable systems, upgrades and modular additions across an operating fleet — planned around outage schedules, while the plant stays available.</a:t>
            </a:r>
          </a:p>
        </p:txBody>
      </p:sp>
      <p:sp>
        <p:nvSpPr>
          <p:cNvPr id="247" name=""/>
          <p:cNvSpPr>
            <a:spLocks noGrp="1"/>
          </p:cNvSpPr>
          <p:nvPr/>
        </p:nvSpPr>
        <p:spPr>
          <a:xfrm>
            <a:off x="719138" y="2697480"/>
            <a:ext cx="5237862" cy="1005840"/>
          </a:xfrm>
          <a:prstGeom prst="rect">
            <a:avLst/>
          </a:prstGeom>
          <a:solidFill>
            <a:srgbClr val="FFFFFF"/>
          </a:solidFill>
          <a:ln w="9525">
            <a:solidFill>
              <a:srgbClr val="D8D1C8"/>
            </a:solidFill>
            <a:prstDash val="solid"/>
          </a:ln>
        </p:spPr>
      </p:sp>
      <p:sp>
        <p:nvSpPr>
          <p:cNvPr id="248" name=""/>
          <p:cNvSpPr>
            <a:spLocks noGrp="1"/>
          </p:cNvSpPr>
          <p:nvPr/>
        </p:nvSpPr>
        <p:spPr>
          <a:xfrm>
            <a:off x="947738" y="2811780"/>
            <a:ext cx="478066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9D4E24"/>
                </a:solidFill>
                <a:latin typeface="Arial"/>
                <a:ea typeface="Arial"/>
                <a:cs typeface="Arial"/>
              </a:rPr>
              <a:t>ELECTRICAL SPINE REJUVENATION</a:t>
            </a:r>
          </a:p>
        </p:txBody>
      </p:sp>
      <p:sp>
        <p:nvSpPr>
          <p:cNvPr id="249" name=""/>
          <p:cNvSpPr>
            <a:spLocks noGrp="1"/>
          </p:cNvSpPr>
          <p:nvPr/>
        </p:nvSpPr>
        <p:spPr>
          <a:xfrm>
            <a:off x="947738" y="3086100"/>
            <a:ext cx="4780662" cy="540000"/>
          </a:xfrm>
          <a:prstGeom prst="rect">
            <a:avLst/>
          </a:prstGeom>
          <a:noFill/>
          <a:ln w="0">
            <a:noFill/>
            <a:prstDash val="solid"/>
          </a:ln>
        </p:spPr>
        <p:txBody>
          <a:bodyPr wrap="square" lIns="0" tIns="0" rIns="0" bIns="0" anchor="t">
            <a:normAutofit fontScale="100000"/>
          </a:bodyPr>
          <a:lstStyle/>
          <a:p>
            <a:pPr algn="l">
              <a:lnSpc>
                <a:spcPct val="106000"/>
              </a:lnSpc>
              <a:buNone/>
            </a:pPr>
            <a:r>
              <a:rPr sz="975" b="0" i="0">
                <a:solidFill>
                  <a:srgbClr val="6A6F73"/>
                </a:solidFill>
                <a:latin typeface="Arial"/>
                <a:ea typeface="Arial"/>
                <a:cs typeface="Arial"/>
              </a:rPr>
              <a:t>Assessment, planning and phased replacement of aging MV / LV cable, grounding, tray and fiber — while the plant remains operational.</a:t>
            </a:r>
          </a:p>
        </p:txBody>
      </p:sp>
      <p:sp>
        <p:nvSpPr>
          <p:cNvPr id="250" name=""/>
          <p:cNvSpPr>
            <a:spLocks noGrp="1"/>
          </p:cNvSpPr>
          <p:nvPr/>
        </p:nvSpPr>
        <p:spPr>
          <a:xfrm>
            <a:off x="6235130" y="2697480"/>
            <a:ext cx="5237862" cy="1005840"/>
          </a:xfrm>
          <a:prstGeom prst="rect">
            <a:avLst/>
          </a:prstGeom>
          <a:solidFill>
            <a:srgbClr val="FFFFFF"/>
          </a:solidFill>
          <a:ln w="9525">
            <a:solidFill>
              <a:srgbClr val="D8D1C8"/>
            </a:solidFill>
            <a:prstDash val="solid"/>
          </a:ln>
        </p:spPr>
      </p:sp>
      <p:sp>
        <p:nvSpPr>
          <p:cNvPr id="251" name=""/>
          <p:cNvSpPr>
            <a:spLocks noGrp="1"/>
          </p:cNvSpPr>
          <p:nvPr/>
        </p:nvSpPr>
        <p:spPr>
          <a:xfrm>
            <a:off x="6463730" y="2811780"/>
            <a:ext cx="478066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9D4E24"/>
                </a:solidFill>
                <a:latin typeface="Arial"/>
                <a:ea typeface="Arial"/>
                <a:cs typeface="Arial"/>
              </a:rPr>
              <a:t>CABLE REPLACEMENT PROGRAMS</a:t>
            </a:r>
          </a:p>
        </p:txBody>
      </p:sp>
      <p:sp>
        <p:nvSpPr>
          <p:cNvPr id="252" name=""/>
          <p:cNvSpPr>
            <a:spLocks noGrp="1"/>
          </p:cNvSpPr>
          <p:nvPr/>
        </p:nvSpPr>
        <p:spPr>
          <a:xfrm>
            <a:off x="6463730" y="3086100"/>
            <a:ext cx="4780662" cy="540000"/>
          </a:xfrm>
          <a:prstGeom prst="rect">
            <a:avLst/>
          </a:prstGeom>
          <a:noFill/>
          <a:ln w="0">
            <a:noFill/>
            <a:prstDash val="solid"/>
          </a:ln>
        </p:spPr>
        <p:txBody>
          <a:bodyPr wrap="square" lIns="0" tIns="0" rIns="0" bIns="0" anchor="t">
            <a:normAutofit fontScale="100000"/>
          </a:bodyPr>
          <a:lstStyle/>
          <a:p>
            <a:pPr algn="l">
              <a:lnSpc>
                <a:spcPct val="106000"/>
              </a:lnSpc>
              <a:buNone/>
            </a:pPr>
            <a:r>
              <a:rPr sz="975" b="0" i="0">
                <a:solidFill>
                  <a:srgbClr val="6A6F73"/>
                </a:solidFill>
                <a:latin typeface="Arial"/>
                <a:ea typeface="Arial"/>
                <a:cs typeface="Arial"/>
              </a:rPr>
              <a:t>Fast-track domestic supply of power, control and instrumentation cable for planned outages or emergency replacement.</a:t>
            </a:r>
          </a:p>
        </p:txBody>
      </p:sp>
      <p:sp>
        <p:nvSpPr>
          <p:cNvPr id="253" name=""/>
          <p:cNvSpPr>
            <a:spLocks noGrp="1"/>
          </p:cNvSpPr>
          <p:nvPr/>
        </p:nvSpPr>
        <p:spPr>
          <a:xfrm>
            <a:off x="719138" y="3877056"/>
            <a:ext cx="5237862" cy="1005840"/>
          </a:xfrm>
          <a:prstGeom prst="rect">
            <a:avLst/>
          </a:prstGeom>
          <a:solidFill>
            <a:srgbClr val="FFFFFF"/>
          </a:solidFill>
          <a:ln w="9525">
            <a:solidFill>
              <a:srgbClr val="D8D1C8"/>
            </a:solidFill>
            <a:prstDash val="solid"/>
          </a:ln>
        </p:spPr>
      </p:sp>
      <p:sp>
        <p:nvSpPr>
          <p:cNvPr id="254" name=""/>
          <p:cNvSpPr>
            <a:spLocks noGrp="1"/>
          </p:cNvSpPr>
          <p:nvPr/>
        </p:nvSpPr>
        <p:spPr>
          <a:xfrm>
            <a:off x="947738" y="3991356"/>
            <a:ext cx="478066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9D4E24"/>
                </a:solidFill>
                <a:latin typeface="Arial"/>
                <a:ea typeface="Arial"/>
                <a:cs typeface="Arial"/>
              </a:rPr>
              <a:t>BROWNFIELD UPGRADES &amp; REPOWER</a:t>
            </a:r>
          </a:p>
        </p:txBody>
      </p:sp>
      <p:sp>
        <p:nvSpPr>
          <p:cNvPr id="255" name=""/>
          <p:cNvSpPr>
            <a:spLocks noGrp="1"/>
          </p:cNvSpPr>
          <p:nvPr/>
        </p:nvSpPr>
        <p:spPr>
          <a:xfrm>
            <a:off x="947738" y="4265676"/>
            <a:ext cx="4780662" cy="540000"/>
          </a:xfrm>
          <a:prstGeom prst="rect">
            <a:avLst/>
          </a:prstGeom>
          <a:noFill/>
          <a:ln w="0">
            <a:noFill/>
            <a:prstDash val="solid"/>
          </a:ln>
        </p:spPr>
        <p:txBody>
          <a:bodyPr wrap="square" lIns="0" tIns="0" rIns="0" bIns="0" anchor="t">
            <a:normAutofit fontScale="100000"/>
          </a:bodyPr>
          <a:lstStyle/>
          <a:p>
            <a:pPr algn="l">
              <a:lnSpc>
                <a:spcPct val="106000"/>
              </a:lnSpc>
              <a:buNone/>
            </a:pPr>
            <a:r>
              <a:rPr sz="975" b="0" i="0">
                <a:solidFill>
                  <a:srgbClr val="6A6F73"/>
                </a:solidFill>
                <a:latin typeface="Arial"/>
                <a:ea typeface="Arial"/>
                <a:cs typeface="Arial"/>
              </a:rPr>
              <a:t>Electrical scope for turbine upgrades, generator replacements, emissions retrofits and balance-of-plant modernization.</a:t>
            </a:r>
          </a:p>
        </p:txBody>
      </p:sp>
      <p:sp>
        <p:nvSpPr>
          <p:cNvPr id="256" name=""/>
          <p:cNvSpPr>
            <a:spLocks noGrp="1"/>
          </p:cNvSpPr>
          <p:nvPr/>
        </p:nvSpPr>
        <p:spPr>
          <a:xfrm>
            <a:off x="6235130" y="3877056"/>
            <a:ext cx="5237862" cy="1005840"/>
          </a:xfrm>
          <a:prstGeom prst="rect">
            <a:avLst/>
          </a:prstGeom>
          <a:solidFill>
            <a:srgbClr val="FFFFFF"/>
          </a:solidFill>
          <a:ln w="9525">
            <a:solidFill>
              <a:srgbClr val="D8D1C8"/>
            </a:solidFill>
            <a:prstDash val="solid"/>
          </a:ln>
        </p:spPr>
      </p:sp>
      <p:sp>
        <p:nvSpPr>
          <p:cNvPr id="257" name=""/>
          <p:cNvSpPr>
            <a:spLocks noGrp="1"/>
          </p:cNvSpPr>
          <p:nvPr/>
        </p:nvSpPr>
        <p:spPr>
          <a:xfrm>
            <a:off x="6463730" y="3991356"/>
            <a:ext cx="478066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9D4E24"/>
                </a:solidFill>
                <a:latin typeface="Arial"/>
                <a:ea typeface="Arial"/>
                <a:cs typeface="Arial"/>
              </a:rPr>
              <a:t>MODULAR POWER ADDITIONS</a:t>
            </a:r>
          </a:p>
        </p:txBody>
      </p:sp>
      <p:sp>
        <p:nvSpPr>
          <p:cNvPr id="258" name=""/>
          <p:cNvSpPr>
            <a:spLocks noGrp="1"/>
          </p:cNvSpPr>
          <p:nvPr/>
        </p:nvSpPr>
        <p:spPr>
          <a:xfrm>
            <a:off x="6463730" y="4265676"/>
            <a:ext cx="4780662" cy="540000"/>
          </a:xfrm>
          <a:prstGeom prst="rect">
            <a:avLst/>
          </a:prstGeom>
          <a:noFill/>
          <a:ln w="0">
            <a:noFill/>
            <a:prstDash val="solid"/>
          </a:ln>
        </p:spPr>
        <p:txBody>
          <a:bodyPr wrap="square" lIns="0" tIns="0" rIns="0" bIns="0" anchor="t">
            <a:normAutofit fontScale="100000"/>
          </a:bodyPr>
          <a:lstStyle/>
          <a:p>
            <a:pPr algn="l">
              <a:lnSpc>
                <a:spcPct val="106000"/>
              </a:lnSpc>
              <a:buNone/>
            </a:pPr>
            <a:r>
              <a:rPr sz="975" b="0" i="0">
                <a:solidFill>
                  <a:srgbClr val="6A6F73"/>
                </a:solidFill>
                <a:latin typeface="Arial"/>
                <a:ea typeface="Arial"/>
                <a:cs typeface="Arial"/>
              </a:rPr>
              <a:t>E-houses, skids, switchgear, UPS and black-start capability — auxiliary loads or new behind-the-meter offtakers.</a:t>
            </a:r>
          </a:p>
        </p:txBody>
      </p:sp>
      <p:sp>
        <p:nvSpPr>
          <p:cNvPr id="259" name=""/>
          <p:cNvSpPr>
            <a:spLocks noGrp="1"/>
          </p:cNvSpPr>
          <p:nvPr/>
        </p:nvSpPr>
        <p:spPr>
          <a:xfrm>
            <a:off x="719138" y="5056632"/>
            <a:ext cx="5237862" cy="1005840"/>
          </a:xfrm>
          <a:prstGeom prst="rect">
            <a:avLst/>
          </a:prstGeom>
          <a:solidFill>
            <a:srgbClr val="FFFFFF"/>
          </a:solidFill>
          <a:ln w="9525">
            <a:solidFill>
              <a:srgbClr val="D8D1C8"/>
            </a:solidFill>
            <a:prstDash val="solid"/>
          </a:ln>
        </p:spPr>
      </p:sp>
      <p:sp>
        <p:nvSpPr>
          <p:cNvPr id="260" name=""/>
          <p:cNvSpPr>
            <a:spLocks noGrp="1"/>
          </p:cNvSpPr>
          <p:nvPr/>
        </p:nvSpPr>
        <p:spPr>
          <a:xfrm>
            <a:off x="947738" y="5170932"/>
            <a:ext cx="478066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9D4E24"/>
                </a:solidFill>
                <a:latin typeface="Arial"/>
                <a:ea typeface="Arial"/>
                <a:cs typeface="Arial"/>
              </a:rPr>
              <a:t>RELIABILITY &amp; CONDITION SUPPORT</a:t>
            </a:r>
          </a:p>
        </p:txBody>
      </p:sp>
      <p:sp>
        <p:nvSpPr>
          <p:cNvPr id="261" name=""/>
          <p:cNvSpPr>
            <a:spLocks noGrp="1"/>
          </p:cNvSpPr>
          <p:nvPr/>
        </p:nvSpPr>
        <p:spPr>
          <a:xfrm>
            <a:off x="947738" y="5445252"/>
            <a:ext cx="4780662" cy="540000"/>
          </a:xfrm>
          <a:prstGeom prst="rect">
            <a:avLst/>
          </a:prstGeom>
          <a:noFill/>
          <a:ln w="0">
            <a:noFill/>
            <a:prstDash val="solid"/>
          </a:ln>
        </p:spPr>
        <p:txBody>
          <a:bodyPr wrap="square" lIns="0" tIns="0" rIns="0" bIns="0" anchor="t">
            <a:normAutofit fontScale="100000"/>
          </a:bodyPr>
          <a:lstStyle/>
          <a:p>
            <a:pPr algn="l">
              <a:lnSpc>
                <a:spcPct val="106000"/>
              </a:lnSpc>
              <a:buNone/>
            </a:pPr>
            <a:r>
              <a:rPr sz="975" b="0" i="0">
                <a:solidFill>
                  <a:srgbClr val="6A6F73"/>
                </a:solidFill>
                <a:latin typeface="Arial"/>
                <a:ea typeface="Arial"/>
                <a:cs typeface="Arial"/>
              </a:rPr>
              <a:t>System assessments, thermal-imaging coordination, failure analysis and prioritized replacement planning.</a:t>
            </a:r>
          </a:p>
        </p:txBody>
      </p:sp>
      <p:sp>
        <p:nvSpPr>
          <p:cNvPr id="262" name=""/>
          <p:cNvSpPr>
            <a:spLocks noGrp="1"/>
          </p:cNvSpPr>
          <p:nvPr/>
        </p:nvSpPr>
        <p:spPr>
          <a:xfrm>
            <a:off x="6235130" y="5056632"/>
            <a:ext cx="5237862" cy="1005840"/>
          </a:xfrm>
          <a:prstGeom prst="rect">
            <a:avLst/>
          </a:prstGeom>
          <a:solidFill>
            <a:srgbClr val="FFFFFF"/>
          </a:solidFill>
          <a:ln w="9525">
            <a:solidFill>
              <a:srgbClr val="D8D1C8"/>
            </a:solidFill>
            <a:prstDash val="solid"/>
          </a:ln>
        </p:spPr>
      </p:sp>
      <p:sp>
        <p:nvSpPr>
          <p:cNvPr id="263" name=""/>
          <p:cNvSpPr>
            <a:spLocks noGrp="1"/>
          </p:cNvSpPr>
          <p:nvPr/>
        </p:nvSpPr>
        <p:spPr>
          <a:xfrm>
            <a:off x="6463730" y="5170932"/>
            <a:ext cx="478066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9D4E24"/>
                </a:solidFill>
                <a:latin typeface="Arial"/>
                <a:ea typeface="Arial"/>
                <a:cs typeface="Arial"/>
              </a:rPr>
              <a:t>SERVICE &amp; LONG-TERM AGREEMENTS</a:t>
            </a:r>
          </a:p>
        </p:txBody>
      </p:sp>
      <p:sp>
        <p:nvSpPr>
          <p:cNvPr id="264" name=""/>
          <p:cNvSpPr>
            <a:spLocks noGrp="1"/>
          </p:cNvSpPr>
          <p:nvPr/>
        </p:nvSpPr>
        <p:spPr>
          <a:xfrm>
            <a:off x="6463730" y="5445252"/>
            <a:ext cx="4780662" cy="540000"/>
          </a:xfrm>
          <a:prstGeom prst="rect">
            <a:avLst/>
          </a:prstGeom>
          <a:noFill/>
          <a:ln w="0">
            <a:noFill/>
            <a:prstDash val="solid"/>
          </a:ln>
        </p:spPr>
        <p:txBody>
          <a:bodyPr wrap="square" lIns="0" tIns="0" rIns="0" bIns="0" anchor="t">
            <a:normAutofit fontScale="100000"/>
          </a:bodyPr>
          <a:lstStyle/>
          <a:p>
            <a:pPr algn="l">
              <a:lnSpc>
                <a:spcPct val="106000"/>
              </a:lnSpc>
              <a:buNone/>
            </a:pPr>
            <a:r>
              <a:rPr sz="975" b="0" i="0">
                <a:solidFill>
                  <a:srgbClr val="6A6F73"/>
                </a:solidFill>
                <a:latin typeface="Arial"/>
                <a:ea typeface="Arial"/>
                <a:cs typeface="Arial"/>
              </a:rPr>
              <a:t>Support contracts, inventory programs and rapid-response replacement capability for operating fleets.</a:t>
            </a:r>
          </a:p>
        </p:txBody>
      </p:sp>
      <p:sp>
        <p:nvSpPr>
          <p:cNvPr id="265" name=""/>
          <p:cNvSpPr>
            <a:spLocks noGrp="1"/>
          </p:cNvSpPr>
          <p:nvPr/>
        </p:nvSpPr>
        <p:spPr>
          <a:xfrm>
            <a:off x="719138" y="6110000"/>
            <a:ext cx="10753724" cy="200000"/>
          </a:xfrm>
          <a:prstGeom prst="rect">
            <a:avLst/>
          </a:prstGeom>
          <a:noFill/>
          <a:ln w="0">
            <a:noFill/>
            <a:prstDash val="solid"/>
          </a:ln>
        </p:spPr>
        <p:txBody>
          <a:bodyPr wrap="square" lIns="0" tIns="0" rIns="0" bIns="0" anchor="t">
            <a:normAutofit fontScale="100000"/>
          </a:bodyPr>
          <a:lstStyle/>
          <a:p>
            <a:pPr algn="l">
              <a:lnSpc>
                <a:spcPct val="100000"/>
              </a:lnSpc>
              <a:buNone/>
            </a:pPr>
            <a:r>
              <a:rPr sz="825" b="0" i="1">
                <a:solidFill>
                  <a:srgbClr val="6A6F73"/>
                </a:solidFill>
                <a:latin typeface="Arial"/>
                <a:ea typeface="Arial"/>
                <a:cs typeface="Arial"/>
              </a:rPr>
              <a:t>Engagements begin with one focused 60–90 minute session across the fleet, then tailored proposals per plant — phased to outage schedules.</a:t>
            </a:r>
          </a:p>
        </p:txBody>
      </p:sp>
      <p:sp>
        <p:nvSpPr>
          <p:cNvPr id="266" name=""/>
          <p:cNvSpPr>
            <a:spLocks noGrp="1"/>
          </p:cNvSpPr>
          <p:nvPr/>
        </p:nvSpPr>
        <p:spPr>
          <a:xfrm>
            <a:off x="719138" y="6315000"/>
            <a:ext cx="10753724" cy="400000"/>
          </a:xfrm>
          <a:prstGeom prst="rect">
            <a:avLst/>
          </a:prstGeom>
          <a:solidFill>
            <a:srgbClr val="17191C"/>
          </a:solidFill>
          <a:ln w="0">
            <a:noFill/>
            <a:prstDash val="solid"/>
          </a:ln>
        </p:spPr>
      </p:sp>
      <p:sp>
        <p:nvSpPr>
          <p:cNvPr id="267" name=""/>
          <p:cNvSpPr>
            <a:spLocks noGrp="1"/>
          </p:cNvSpPr>
          <p:nvPr/>
        </p:nvSpPr>
        <p:spPr>
          <a:xfrm>
            <a:off x="719138" y="6315000"/>
            <a:ext cx="10753724" cy="400000"/>
          </a:xfrm>
          <a:prstGeom prst="rect">
            <a:avLst/>
          </a:prstGeom>
          <a:noFill/>
          <a:ln w="0">
            <a:noFill/>
            <a:prstDash val="solid"/>
          </a:ln>
        </p:spPr>
        <p:txBody>
          <a:bodyPr wrap="square" lIns="0" tIns="0" rIns="0" bIns="0" anchor="ctr">
            <a:normAutofit fontScale="100000"/>
          </a:bodyPr>
          <a:lstStyle/>
          <a:p>
            <a:pPr algn="ctr">
              <a:lnSpc>
                <a:spcPct val="100000"/>
              </a:lnSpc>
              <a:buNone/>
            </a:pPr>
            <a:r>
              <a:rPr sz="882" b="1" i="0">
                <a:solidFill>
                  <a:srgbClr val="FFFFFF"/>
                </a:solidFill>
                <a:latin typeface="Arial"/>
                <a:ea typeface="Arial"/>
                <a:cs typeface="Arial"/>
              </a:rPr>
              <a:t>MINIMIZED DOWNTIME · EXTENDED ASSET LIFE · LOWER TOTAL COST THAN FULL REPLACEMENT — PHASED TO OUTAGE SCHEDULES.</a:t>
            </a:r>
          </a:p>
        </p:txBody>
      </p:sp>
    </p:spTree>
  </p:cSld>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6F3EE"/>
        </a:solidFill>
      </p:bgPr>
    </p:bg>
    <p:spTree>
      <p:nvGrpSpPr>
        <p:cNvPr id="1" name=""/>
        <p:cNvGrpSpPr/>
        <p:nvPr/>
      </p:nvGrpSpPr>
      <p:grpSpPr>
        <a:xfrm/>
      </p:grpSpPr>
      <p:sp>
        <p:nvSpPr>
          <p:cNvPr id="184" name=""/>
          <p:cNvSpPr>
            <a:spLocks noGrp="1"/>
          </p:cNvSpPr>
          <p:nvPr/>
        </p:nvSpPr>
        <p:spPr>
          <a:xfrm>
            <a:off x="0" y="0"/>
            <a:ext cx="12192000" cy="57150"/>
          </a:xfrm>
          <a:prstGeom prst="rect">
            <a:avLst/>
          </a:prstGeom>
          <a:solidFill>
            <a:srgbClr val="C9783E"/>
          </a:solidFill>
          <a:ln w="0">
            <a:noFill/>
            <a:prstDash val="solid"/>
          </a:ln>
        </p:spPr>
      </p:sp>
      <p:pic>
        <p:nvPicPr>
          <p:cNvPr id="185" name=""/>
          <p:cNvPicPr>
            <a:picLocks noChangeAspect="1"/>
          </p:cNvPicPr>
          <p:nvPr/>
        </p:nvPicPr>
        <p:blipFill>
          <a:blip r:embed="rId1"/>
          <a:stretch/>
        </p:blipFill>
        <p:spPr>
          <a:xfrm>
            <a:off x="719138" y="200025"/>
            <a:ext cx="2066925" cy="590550"/>
          </a:xfrm>
          <a:prstGeom prst="rect">
            <a:avLst/>
          </a:prstGeom>
        </p:spPr>
      </p:pic>
      <p:sp>
        <p:nvSpPr>
          <p:cNvPr id="186" name=""/>
          <p:cNvSpPr>
            <a:spLocks noGrp="1"/>
          </p:cNvSpPr>
          <p:nvPr/>
        </p:nvSpPr>
        <p:spPr>
          <a:xfrm>
            <a:off x="7325360" y="323850"/>
            <a:ext cx="3600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819" b="1" i="0">
                <a:solidFill>
                  <a:srgbClr val="9D4E24"/>
                </a:solidFill>
                <a:latin typeface="Arial"/>
                <a:ea typeface="Arial"/>
                <a:cs typeface="Arial"/>
              </a:rPr>
              <a:t>APPENDIX A15 · BENCHMARK MATH</a:t>
            </a:r>
          </a:p>
        </p:txBody>
      </p:sp>
      <p:sp>
        <p:nvSpPr>
          <p:cNvPr id="187" name=""/>
          <p:cNvSpPr>
            <a:spLocks noGrp="1"/>
          </p:cNvSpPr>
          <p:nvPr/>
        </p:nvSpPr>
        <p:spPr>
          <a:xfrm>
            <a:off x="11060000" y="323850"/>
            <a:ext cx="600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819" b="1" i="0">
                <a:solidFill>
                  <a:srgbClr val="8B9094"/>
                </a:solidFill>
                <a:latin typeface="Arial"/>
                <a:ea typeface="Arial"/>
                <a:cs typeface="Arial"/>
              </a:rPr>
              <a:t>26</a:t>
            </a:r>
          </a:p>
        </p:txBody>
      </p:sp>
      <p:sp>
        <p:nvSpPr>
          <p:cNvPr id="188" name=""/>
          <p:cNvSpPr>
            <a:spLocks noGrp="1"/>
          </p:cNvSpPr>
          <p:nvPr/>
        </p:nvSpPr>
        <p:spPr>
          <a:xfrm>
            <a:off x="719138" y="1005840"/>
            <a:ext cx="85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2" b="1" i="0">
                <a:solidFill>
                  <a:srgbClr val="C9783E"/>
                </a:solidFill>
                <a:latin typeface="Arial"/>
                <a:ea typeface="Arial"/>
                <a:cs typeface="Arial"/>
              </a:rPr>
              <a:t>GROSS FIELD-LABOR MATH — PER CENTRAL SPINE</a:t>
            </a:r>
          </a:p>
        </p:txBody>
      </p:sp>
      <p:sp>
        <p:nvSpPr>
          <p:cNvPr id="189" name=""/>
          <p:cNvSpPr>
            <a:spLocks noGrp="1"/>
          </p:cNvSpPr>
          <p:nvPr/>
        </p:nvSpPr>
        <p:spPr>
          <a:xfrm>
            <a:off x="719138" y="1280160"/>
            <a:ext cx="10753724" cy="800000"/>
          </a:xfrm>
          <a:prstGeom prst="rect">
            <a:avLst/>
          </a:prstGeom>
          <a:noFill/>
          <a:ln w="0">
            <a:noFill/>
            <a:prstDash val="solid"/>
          </a:ln>
        </p:spPr>
        <p:txBody>
          <a:bodyPr wrap="square" lIns="0" tIns="0" rIns="0" bIns="0" anchor="t">
            <a:normAutofit fontScale="100000"/>
          </a:bodyPr>
          <a:lstStyle/>
          <a:p>
            <a:pPr algn="l">
              <a:lnSpc>
                <a:spcPct val="104000"/>
              </a:lnSpc>
              <a:buNone/>
            </a:pPr>
            <a:r>
              <a:rPr sz="2850" b="1" i="0">
                <a:solidFill>
                  <a:srgbClr val="17191C"/>
                </a:solidFill>
                <a:latin typeface="Arial"/>
                <a:ea typeface="Arial"/>
                <a:cs typeface="Arial"/>
              </a:rPr>
              <a:t>What the 4,400 → 880 hours are worth, before net.</a:t>
            </a:r>
          </a:p>
        </p:txBody>
      </p:sp>
      <p:sp>
        <p:nvSpPr>
          <p:cNvPr id="190" name=""/>
          <p:cNvSpPr>
            <a:spLocks noGrp="1"/>
          </p:cNvSpPr>
          <p:nvPr/>
        </p:nvSpPr>
        <p:spPr>
          <a:xfrm>
            <a:off x="719138" y="2011680"/>
            <a:ext cx="10753724" cy="300000"/>
          </a:xfrm>
          <a:prstGeom prst="rect">
            <a:avLst/>
          </a:prstGeom>
          <a:noFill/>
          <a:ln w="0">
            <a:noFill/>
            <a:prstDash val="solid"/>
          </a:ln>
        </p:spPr>
        <p:txBody>
          <a:bodyPr wrap="square" lIns="0" tIns="0" rIns="0" bIns="0" anchor="t">
            <a:normAutofit fontScale="100000"/>
          </a:bodyPr>
          <a:lstStyle/>
          <a:p>
            <a:pPr algn="l">
              <a:lnSpc>
                <a:spcPct val="108000"/>
              </a:lnSpc>
              <a:buNone/>
            </a:pPr>
            <a:r>
              <a:rPr sz="1050" b="0" i="0">
                <a:solidFill>
                  <a:srgbClr val="6A6F73"/>
                </a:solidFill>
                <a:latin typeface="Arial"/>
                <a:ea typeface="Arial"/>
                <a:cs typeface="Arial"/>
              </a:rPr>
              <a:t>The arithmetic behind slide 9, at a $95/hr fully burdened field-labor rate. This is the template A5 requires to be rebuilt with NRG inputs — not a result.</a:t>
            </a:r>
          </a:p>
        </p:txBody>
      </p:sp>
      <p:sp>
        <p:nvSpPr>
          <p:cNvPr id="191" name=""/>
          <p:cNvSpPr>
            <a:spLocks noGrp="1"/>
          </p:cNvSpPr>
          <p:nvPr/>
        </p:nvSpPr>
        <p:spPr>
          <a:xfrm>
            <a:off x="719138" y="2560320"/>
            <a:ext cx="3378908" cy="2606040"/>
          </a:xfrm>
          <a:prstGeom prst="rect">
            <a:avLst/>
          </a:prstGeom>
          <a:solidFill>
            <a:srgbClr val="FFFFFF"/>
          </a:solidFill>
          <a:ln w="9525">
            <a:solidFill>
              <a:srgbClr val="D8D1C8"/>
            </a:solidFill>
            <a:prstDash val="solid"/>
          </a:ln>
        </p:spPr>
      </p:sp>
      <p:sp>
        <p:nvSpPr>
          <p:cNvPr id="192" name=""/>
          <p:cNvSpPr>
            <a:spLocks noGrp="1"/>
          </p:cNvSpPr>
          <p:nvPr/>
        </p:nvSpPr>
        <p:spPr>
          <a:xfrm>
            <a:off x="947738" y="278892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19" b="1" i="0">
                <a:solidFill>
                  <a:srgbClr val="9D4E24"/>
                </a:solidFill>
                <a:latin typeface="Arial"/>
                <a:ea typeface="Arial"/>
                <a:cs typeface="Arial"/>
              </a:rPr>
              <a:t>TODAY · FIELD-BUILT</a:t>
            </a:r>
          </a:p>
        </p:txBody>
      </p:sp>
      <p:sp>
        <p:nvSpPr>
          <p:cNvPr id="193" name=""/>
          <p:cNvSpPr>
            <a:spLocks noGrp="1"/>
          </p:cNvSpPr>
          <p:nvPr/>
        </p:nvSpPr>
        <p:spPr>
          <a:xfrm>
            <a:off x="947738" y="3108960"/>
            <a:ext cx="2921708" cy="640080"/>
          </a:xfrm>
          <a:prstGeom prst="rect">
            <a:avLst/>
          </a:prstGeom>
          <a:noFill/>
          <a:ln w="0">
            <a:noFill/>
            <a:prstDash val="solid"/>
          </a:ln>
        </p:spPr>
        <p:txBody>
          <a:bodyPr wrap="square" lIns="0" tIns="0" rIns="0" bIns="0" anchor="t">
            <a:normAutofit fontScale="100000"/>
          </a:bodyPr>
          <a:lstStyle/>
          <a:p>
            <a:pPr algn="l">
              <a:lnSpc>
                <a:spcPct val="100000"/>
              </a:lnSpc>
              <a:buNone/>
            </a:pPr>
            <a:r>
              <a:rPr sz="3400" b="1" i="0">
                <a:solidFill>
                  <a:srgbClr val="17191C"/>
                </a:solidFill>
                <a:latin typeface="Arial"/>
                <a:ea typeface="Arial"/>
                <a:cs typeface="Arial"/>
              </a:rPr>
              <a:t>$418,000</a:t>
            </a:r>
          </a:p>
        </p:txBody>
      </p:sp>
      <p:sp>
        <p:nvSpPr>
          <p:cNvPr id="194" name=""/>
          <p:cNvSpPr>
            <a:spLocks noGrp="1"/>
          </p:cNvSpPr>
          <p:nvPr/>
        </p:nvSpPr>
        <p:spPr>
          <a:xfrm>
            <a:off x="947738" y="374904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75" b="0" i="0">
                <a:solidFill>
                  <a:srgbClr val="6A6F73"/>
                </a:solidFill>
                <a:latin typeface="Arial"/>
                <a:ea typeface="Arial"/>
                <a:cs typeface="Arial"/>
              </a:rPr>
              <a:t>field labor per spine</a:t>
            </a:r>
          </a:p>
        </p:txBody>
      </p:sp>
      <p:sp>
        <p:nvSpPr>
          <p:cNvPr id="195" name=""/>
          <p:cNvSpPr>
            <a:spLocks noGrp="1"/>
          </p:cNvSpPr>
          <p:nvPr/>
        </p:nvSpPr>
        <p:spPr>
          <a:xfrm>
            <a:off x="947738" y="4160520"/>
            <a:ext cx="2921708"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050" b="0" i="0">
                <a:solidFill>
                  <a:srgbClr val="17191C"/>
                </a:solidFill>
                <a:latin typeface="Arial"/>
                <a:ea typeface="Arial"/>
                <a:cs typeface="Arial"/>
              </a:rPr>
              <a:t>4,400 man-hours × $95/hr</a:t>
            </a:r>
          </a:p>
        </p:txBody>
      </p:sp>
      <p:sp>
        <p:nvSpPr>
          <p:cNvPr id="196" name=""/>
          <p:cNvSpPr>
            <a:spLocks noGrp="1"/>
          </p:cNvSpPr>
          <p:nvPr/>
        </p:nvSpPr>
        <p:spPr>
          <a:xfrm>
            <a:off x="947738" y="4434840"/>
            <a:ext cx="2921708"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050" b="0" i="0">
                <a:solidFill>
                  <a:srgbClr val="17191C"/>
                </a:solidFill>
                <a:latin typeface="Arial"/>
                <a:ea typeface="Arial"/>
                <a:cs typeface="Arial"/>
              </a:rPr>
              <a:t>27 installers × 2 shifts × 2 weeks</a:t>
            </a:r>
          </a:p>
        </p:txBody>
      </p:sp>
      <p:sp>
        <p:nvSpPr>
          <p:cNvPr id="197" name=""/>
          <p:cNvSpPr>
            <a:spLocks noGrp="1"/>
          </p:cNvSpPr>
          <p:nvPr/>
        </p:nvSpPr>
        <p:spPr>
          <a:xfrm>
            <a:off x="947738" y="4709160"/>
            <a:ext cx="2921708"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6A6F73"/>
                </a:solidFill>
                <a:latin typeface="Arial"/>
                <a:ea typeface="Arial"/>
                <a:cs typeface="Arial"/>
              </a:rPr>
              <a:t>High variability, rework risk</a:t>
            </a:r>
          </a:p>
        </p:txBody>
      </p:sp>
      <p:sp>
        <p:nvSpPr>
          <p:cNvPr id="198" name=""/>
          <p:cNvSpPr>
            <a:spLocks noGrp="1"/>
          </p:cNvSpPr>
          <p:nvPr/>
        </p:nvSpPr>
        <p:spPr>
          <a:xfrm>
            <a:off x="4406546" y="2560320"/>
            <a:ext cx="3378908" cy="2606040"/>
          </a:xfrm>
          <a:prstGeom prst="rect">
            <a:avLst/>
          </a:prstGeom>
          <a:solidFill>
            <a:srgbClr val="FFFFFF"/>
          </a:solidFill>
          <a:ln w="9525">
            <a:solidFill>
              <a:srgbClr val="D8D1C8"/>
            </a:solidFill>
            <a:prstDash val="solid"/>
          </a:ln>
        </p:spPr>
      </p:sp>
      <p:sp>
        <p:nvSpPr>
          <p:cNvPr id="199" name=""/>
          <p:cNvSpPr>
            <a:spLocks noGrp="1"/>
          </p:cNvSpPr>
          <p:nvPr/>
        </p:nvSpPr>
        <p:spPr>
          <a:xfrm>
            <a:off x="4635146" y="278892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19" b="1" i="0">
                <a:solidFill>
                  <a:srgbClr val="9D4E24"/>
                </a:solidFill>
                <a:latin typeface="Arial"/>
                <a:ea typeface="Arial"/>
                <a:cs typeface="Arial"/>
              </a:rPr>
              <a:t>WITH CONNECTORIZED ASSEMBLY</a:t>
            </a:r>
          </a:p>
        </p:txBody>
      </p:sp>
      <p:sp>
        <p:nvSpPr>
          <p:cNvPr id="200" name=""/>
          <p:cNvSpPr>
            <a:spLocks noGrp="1"/>
          </p:cNvSpPr>
          <p:nvPr/>
        </p:nvSpPr>
        <p:spPr>
          <a:xfrm>
            <a:off x="4635146" y="3108960"/>
            <a:ext cx="2921708" cy="640080"/>
          </a:xfrm>
          <a:prstGeom prst="rect">
            <a:avLst/>
          </a:prstGeom>
          <a:noFill/>
          <a:ln w="0">
            <a:noFill/>
            <a:prstDash val="solid"/>
          </a:ln>
        </p:spPr>
        <p:txBody>
          <a:bodyPr wrap="square" lIns="0" tIns="0" rIns="0" bIns="0" anchor="t">
            <a:normAutofit fontScale="100000"/>
          </a:bodyPr>
          <a:lstStyle/>
          <a:p>
            <a:pPr algn="l">
              <a:lnSpc>
                <a:spcPct val="100000"/>
              </a:lnSpc>
              <a:buNone/>
            </a:pPr>
            <a:r>
              <a:rPr sz="3400" b="1" i="0">
                <a:solidFill>
                  <a:srgbClr val="9D4E24"/>
                </a:solidFill>
                <a:latin typeface="Arial"/>
                <a:ea typeface="Arial"/>
                <a:cs typeface="Arial"/>
              </a:rPr>
              <a:t>$83,600</a:t>
            </a:r>
          </a:p>
        </p:txBody>
      </p:sp>
      <p:sp>
        <p:nvSpPr>
          <p:cNvPr id="201" name=""/>
          <p:cNvSpPr>
            <a:spLocks noGrp="1"/>
          </p:cNvSpPr>
          <p:nvPr/>
        </p:nvSpPr>
        <p:spPr>
          <a:xfrm>
            <a:off x="4635146" y="374904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75" b="0" i="0">
                <a:solidFill>
                  <a:srgbClr val="6A6F73"/>
                </a:solidFill>
                <a:latin typeface="Arial"/>
                <a:ea typeface="Arial"/>
                <a:cs typeface="Arial"/>
              </a:rPr>
              <a:t>field labor per spine</a:t>
            </a:r>
          </a:p>
        </p:txBody>
      </p:sp>
      <p:sp>
        <p:nvSpPr>
          <p:cNvPr id="202" name=""/>
          <p:cNvSpPr>
            <a:spLocks noGrp="1"/>
          </p:cNvSpPr>
          <p:nvPr/>
        </p:nvSpPr>
        <p:spPr>
          <a:xfrm>
            <a:off x="4635146" y="4160520"/>
            <a:ext cx="2921708"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050" b="0" i="0">
                <a:solidFill>
                  <a:srgbClr val="17191C"/>
                </a:solidFill>
                <a:latin typeface="Arial"/>
                <a:ea typeface="Arial"/>
                <a:cs typeface="Arial"/>
              </a:rPr>
              <a:t>~880 man-hours × $95/hr</a:t>
            </a:r>
          </a:p>
        </p:txBody>
      </p:sp>
      <p:sp>
        <p:nvSpPr>
          <p:cNvPr id="203" name=""/>
          <p:cNvSpPr>
            <a:spLocks noGrp="1"/>
          </p:cNvSpPr>
          <p:nvPr/>
        </p:nvSpPr>
        <p:spPr>
          <a:xfrm>
            <a:off x="4635146" y="4434840"/>
            <a:ext cx="2921708"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050" b="0" i="0">
                <a:solidFill>
                  <a:srgbClr val="17191C"/>
                </a:solidFill>
                <a:latin typeface="Arial"/>
                <a:ea typeface="Arial"/>
                <a:cs typeface="Arial"/>
              </a:rPr>
              <a:t>~6 installers × 1 shift × ~3 days</a:t>
            </a:r>
          </a:p>
        </p:txBody>
      </p:sp>
      <p:sp>
        <p:nvSpPr>
          <p:cNvPr id="204" name=""/>
          <p:cNvSpPr>
            <a:spLocks noGrp="1"/>
          </p:cNvSpPr>
          <p:nvPr/>
        </p:nvSpPr>
        <p:spPr>
          <a:xfrm>
            <a:off x="4635146" y="4709160"/>
            <a:ext cx="2921708"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6A6F73"/>
                </a:solidFill>
                <a:latin typeface="Arial"/>
                <a:ea typeface="Arial"/>
                <a:cs typeface="Arial"/>
              </a:rPr>
              <a:t>Factory-validated, plug-and-play</a:t>
            </a:r>
          </a:p>
        </p:txBody>
      </p:sp>
      <p:sp>
        <p:nvSpPr>
          <p:cNvPr id="205" name=""/>
          <p:cNvSpPr>
            <a:spLocks noGrp="1"/>
          </p:cNvSpPr>
          <p:nvPr/>
        </p:nvSpPr>
        <p:spPr>
          <a:xfrm>
            <a:off x="8093954" y="2560320"/>
            <a:ext cx="3378908" cy="2606040"/>
          </a:xfrm>
          <a:prstGeom prst="rect">
            <a:avLst/>
          </a:prstGeom>
          <a:solidFill>
            <a:srgbClr val="C9783E"/>
          </a:solidFill>
          <a:ln w="0">
            <a:noFill/>
            <a:prstDash val="solid"/>
          </a:ln>
        </p:spPr>
      </p:sp>
      <p:sp>
        <p:nvSpPr>
          <p:cNvPr id="206" name=""/>
          <p:cNvSpPr>
            <a:spLocks noGrp="1"/>
          </p:cNvSpPr>
          <p:nvPr/>
        </p:nvSpPr>
        <p:spPr>
          <a:xfrm>
            <a:off x="8322554" y="278892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19" b="1" i="0">
                <a:solidFill>
                  <a:srgbClr val="FFFFFF"/>
                </a:solidFill>
                <a:latin typeface="Arial"/>
                <a:ea typeface="Arial"/>
                <a:cs typeface="Arial"/>
              </a:rPr>
              <a:t>GROSS DELTA PER SPINE</a:t>
            </a:r>
          </a:p>
        </p:txBody>
      </p:sp>
      <p:sp>
        <p:nvSpPr>
          <p:cNvPr id="207" name=""/>
          <p:cNvSpPr>
            <a:spLocks noGrp="1"/>
          </p:cNvSpPr>
          <p:nvPr/>
        </p:nvSpPr>
        <p:spPr>
          <a:xfrm>
            <a:off x="8322554" y="3108960"/>
            <a:ext cx="2921708" cy="640080"/>
          </a:xfrm>
          <a:prstGeom prst="rect">
            <a:avLst/>
          </a:prstGeom>
          <a:noFill/>
          <a:ln w="0">
            <a:noFill/>
            <a:prstDash val="solid"/>
          </a:ln>
        </p:spPr>
        <p:txBody>
          <a:bodyPr wrap="square" lIns="0" tIns="0" rIns="0" bIns="0" anchor="t">
            <a:normAutofit fontScale="100000"/>
          </a:bodyPr>
          <a:lstStyle/>
          <a:p>
            <a:pPr algn="l">
              <a:lnSpc>
                <a:spcPct val="100000"/>
              </a:lnSpc>
              <a:buNone/>
            </a:pPr>
            <a:r>
              <a:rPr sz="3400" b="1" i="0">
                <a:solidFill>
                  <a:srgbClr val="FFFFFF"/>
                </a:solidFill>
                <a:latin typeface="Arial"/>
                <a:ea typeface="Arial"/>
                <a:cs typeface="Arial"/>
              </a:rPr>
              <a:t>$334K</a:t>
            </a:r>
          </a:p>
        </p:txBody>
      </p:sp>
      <p:sp>
        <p:nvSpPr>
          <p:cNvPr id="208" name=""/>
          <p:cNvSpPr>
            <a:spLocks noGrp="1"/>
          </p:cNvSpPr>
          <p:nvPr/>
        </p:nvSpPr>
        <p:spPr>
          <a:xfrm>
            <a:off x="8322554" y="374904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75" b="0" i="0">
                <a:solidFill>
                  <a:srgbClr val="FFFFFF"/>
                </a:solidFill>
                <a:latin typeface="Arial"/>
                <a:ea typeface="Arial"/>
                <a:cs typeface="Arial"/>
              </a:rPr>
              <a:t>~80% of field-labor cost</a:t>
            </a:r>
          </a:p>
        </p:txBody>
      </p:sp>
      <p:sp>
        <p:nvSpPr>
          <p:cNvPr id="209" name=""/>
          <p:cNvSpPr>
            <a:spLocks noGrp="1"/>
          </p:cNvSpPr>
          <p:nvPr/>
        </p:nvSpPr>
        <p:spPr>
          <a:xfrm>
            <a:off x="8322554" y="411480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756" b="1" i="0">
                <a:solidFill>
                  <a:srgbClr val="FFFFFF"/>
                </a:solidFill>
                <a:latin typeface="Arial"/>
                <a:ea typeface="Arial"/>
                <a:cs typeface="Arial"/>
              </a:rPr>
              <a:t>IF IT REPEATS (GROSS, ILLUSTRATIVE)</a:t>
            </a:r>
          </a:p>
        </p:txBody>
      </p:sp>
      <p:sp>
        <p:nvSpPr>
          <p:cNvPr id="210" name=""/>
          <p:cNvSpPr>
            <a:spLocks noGrp="1"/>
          </p:cNvSpPr>
          <p:nvPr/>
        </p:nvSpPr>
        <p:spPr>
          <a:xfrm>
            <a:off x="8322554" y="438912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FFFFFF"/>
                </a:solidFill>
                <a:latin typeface="Arial"/>
                <a:ea typeface="Arial"/>
                <a:cs typeface="Arial"/>
              </a:rPr>
              <a:t>10 spines  →  $3.3M</a:t>
            </a:r>
          </a:p>
        </p:txBody>
      </p:sp>
      <p:sp>
        <p:nvSpPr>
          <p:cNvPr id="211" name=""/>
          <p:cNvSpPr>
            <a:spLocks noGrp="1"/>
          </p:cNvSpPr>
          <p:nvPr/>
        </p:nvSpPr>
        <p:spPr>
          <a:xfrm>
            <a:off x="8322554" y="461772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FFFFFF"/>
                </a:solidFill>
                <a:latin typeface="Arial"/>
                <a:ea typeface="Arial"/>
                <a:cs typeface="Arial"/>
              </a:rPr>
              <a:t>50 spines  →  $16.7M</a:t>
            </a:r>
          </a:p>
        </p:txBody>
      </p:sp>
      <p:sp>
        <p:nvSpPr>
          <p:cNvPr id="212" name=""/>
          <p:cNvSpPr>
            <a:spLocks noGrp="1"/>
          </p:cNvSpPr>
          <p:nvPr/>
        </p:nvSpPr>
        <p:spPr>
          <a:xfrm>
            <a:off x="8322554" y="484632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FFFFFF"/>
                </a:solidFill>
                <a:latin typeface="Arial"/>
                <a:ea typeface="Arial"/>
                <a:cs typeface="Arial"/>
              </a:rPr>
              <a:t>100 spines  →  $33.4M</a:t>
            </a:r>
          </a:p>
        </p:txBody>
      </p:sp>
      <p:sp>
        <p:nvSpPr>
          <p:cNvPr id="213" name=""/>
          <p:cNvSpPr>
            <a:spLocks noGrp="1"/>
          </p:cNvSpPr>
          <p:nvPr/>
        </p:nvSpPr>
        <p:spPr>
          <a:xfrm>
            <a:off x="719138" y="5349240"/>
            <a:ext cx="10753724" cy="300000"/>
          </a:xfrm>
          <a:prstGeom prst="rect">
            <a:avLst/>
          </a:prstGeom>
          <a:noFill/>
          <a:ln w="0">
            <a:noFill/>
            <a:prstDash val="solid"/>
          </a:ln>
        </p:spPr>
        <p:txBody>
          <a:bodyPr wrap="square" lIns="0" tIns="0" rIns="0" bIns="0" anchor="t">
            <a:normAutofit fontScale="100000"/>
          </a:bodyPr>
          <a:lstStyle/>
          <a:p>
            <a:pPr algn="l">
              <a:lnSpc>
                <a:spcPct val="106000"/>
              </a:lnSpc>
              <a:buNone/>
            </a:pPr>
            <a:r>
              <a:rPr sz="900" b="0" i="1">
                <a:solidFill>
                  <a:srgbClr val="6A6F73"/>
                </a:solidFill>
                <a:latin typeface="Arial"/>
                <a:ea typeface="Arial"/>
                <a:cs typeface="Arial"/>
              </a:rPr>
              <a:t>ASSUMPTIONS  ·  $95/hr fully burdened (wage + benefits + overtime + supervision)  ·  4,400 hours observed on one site-built spine in an adjacent market, May 2026  ·  ~80% field-labor reduction typical for prefabricated interconnect  ·  one spine = one central electrical spine serving repeated generation modules.</a:t>
            </a:r>
          </a:p>
        </p:txBody>
      </p:sp>
      <p:sp>
        <p:nvSpPr>
          <p:cNvPr id="214" name=""/>
          <p:cNvSpPr>
            <a:spLocks noGrp="1"/>
          </p:cNvSpPr>
          <p:nvPr/>
        </p:nvSpPr>
        <p:spPr>
          <a:xfrm>
            <a:off x="719138" y="5852160"/>
            <a:ext cx="10753724" cy="300000"/>
          </a:xfrm>
          <a:prstGeom prst="rect">
            <a:avLst/>
          </a:prstGeom>
          <a:noFill/>
          <a:ln w="0">
            <a:noFill/>
            <a:prstDash val="solid"/>
          </a:ln>
        </p:spPr>
        <p:txBody>
          <a:bodyPr wrap="square" lIns="0" tIns="0" rIns="0" bIns="0" anchor="t">
            <a:normAutofit fontScale="100000"/>
          </a:bodyPr>
          <a:lstStyle/>
          <a:p>
            <a:pPr algn="l">
              <a:lnSpc>
                <a:spcPct val="106000"/>
              </a:lnSpc>
              <a:buNone/>
            </a:pPr>
            <a:r>
              <a:rPr sz="975" b="1" i="0">
                <a:solidFill>
                  <a:srgbClr val="17191C"/>
                </a:solidFill>
                <a:latin typeface="Arial"/>
                <a:ea typeface="Arial"/>
                <a:cs typeface="Arial"/>
              </a:rPr>
              <a:t>NOT NET.  Subtract the assembly premium, engineering, factory labor, freight, factory acceptance and commissioning — and prefabrication does not automatically remove an activity from the critical path.</a:t>
            </a:r>
          </a:p>
        </p:txBody>
      </p:sp>
      <p:sp>
        <p:nvSpPr>
          <p:cNvPr id="215" name=""/>
          <p:cNvSpPr>
            <a:spLocks noGrp="1"/>
          </p:cNvSpPr>
          <p:nvPr/>
        </p:nvSpPr>
        <p:spPr>
          <a:xfrm>
            <a:off x="719138" y="6315000"/>
            <a:ext cx="10753724" cy="400000"/>
          </a:xfrm>
          <a:prstGeom prst="rect">
            <a:avLst/>
          </a:prstGeom>
          <a:solidFill>
            <a:srgbClr val="17191C"/>
          </a:solidFill>
          <a:ln w="0">
            <a:noFill/>
            <a:prstDash val="solid"/>
          </a:ln>
        </p:spPr>
      </p:sp>
      <p:sp>
        <p:nvSpPr>
          <p:cNvPr id="216" name=""/>
          <p:cNvSpPr>
            <a:spLocks noGrp="1"/>
          </p:cNvSpPr>
          <p:nvPr/>
        </p:nvSpPr>
        <p:spPr>
          <a:xfrm>
            <a:off x="719138" y="6315000"/>
            <a:ext cx="10753724" cy="400000"/>
          </a:xfrm>
          <a:prstGeom prst="rect">
            <a:avLst/>
          </a:prstGeom>
          <a:noFill/>
          <a:ln w="0">
            <a:noFill/>
            <a:prstDash val="solid"/>
          </a:ln>
        </p:spPr>
        <p:txBody>
          <a:bodyPr wrap="square" lIns="0" tIns="0" rIns="0" bIns="0" anchor="ctr">
            <a:normAutofit fontScale="100000"/>
          </a:bodyPr>
          <a:lstStyle/>
          <a:p>
            <a:pPr algn="ctr">
              <a:lnSpc>
                <a:spcPct val="100000"/>
              </a:lnSpc>
              <a:buNone/>
            </a:pPr>
            <a:r>
              <a:rPr sz="882" b="1" i="0">
                <a:solidFill>
                  <a:srgbClr val="FFFFFF"/>
                </a:solidFill>
                <a:latin typeface="Arial"/>
                <a:ea typeface="Arial"/>
                <a:cs typeface="Arial"/>
              </a:rPr>
              <a:t>GROSS TEMPLATE ONLY — REBUILD WITH NRG SCOPE, LABOR RATES AND SCHEDULE LOGIC BEFORE ANY CLAIM (SEE A5).</a:t>
            </a:r>
          </a:p>
        </p:txBody>
      </p:sp>
    </p:spTree>
  </p:cSld>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6F3EE"/>
        </a:solidFill>
      </p:bgPr>
    </p:bg>
    <p:spTree>
      <p:nvGrpSpPr>
        <p:cNvPr id="1" name=""/>
        <p:cNvGrpSpPr/>
        <p:nvPr/>
      </p:nvGrpSpPr>
      <p:grpSpPr>
        <a:xfrm/>
      </p:grpSpPr>
      <p:sp>
        <p:nvSpPr>
          <p:cNvPr id="101" name=""/>
          <p:cNvSpPr>
            <a:spLocks noGrp="1"/>
          </p:cNvSpPr>
          <p:nvPr/>
        </p:nvSpPr>
        <p:spPr>
          <a:xfrm>
            <a:off x="0" y="0"/>
            <a:ext cx="12192000" cy="57150"/>
          </a:xfrm>
          <a:prstGeom prst="rect">
            <a:avLst/>
          </a:prstGeom>
          <a:solidFill>
            <a:srgbClr val="C9783E"/>
          </a:solidFill>
          <a:ln w="0">
            <a:noFill/>
            <a:prstDash val="solid"/>
          </a:ln>
        </p:spPr>
      </p:sp>
      <p:pic>
        <p:nvPicPr>
          <p:cNvPr id="102" name=""/>
          <p:cNvPicPr>
            <a:picLocks noChangeAspect="1"/>
          </p:cNvPicPr>
          <p:nvPr/>
        </p:nvPicPr>
        <p:blipFill>
          <a:blip r:embed="rId1"/>
          <a:stretch/>
        </p:blipFill>
        <p:spPr>
          <a:xfrm>
            <a:off x="719138" y="200025"/>
            <a:ext cx="2066925" cy="590550"/>
          </a:xfrm>
          <a:prstGeom prst="rect">
            <a:avLst/>
          </a:prstGeom>
        </p:spPr>
      </p:pic>
      <p:sp>
        <p:nvSpPr>
          <p:cNvPr id="103" name=""/>
          <p:cNvSpPr>
            <a:spLocks noGrp="1"/>
          </p:cNvSpPr>
          <p:nvPr/>
        </p:nvSpPr>
        <p:spPr>
          <a:xfrm>
            <a:off x="7325360" y="323850"/>
            <a:ext cx="3600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820" b="1" i="0">
                <a:solidFill>
                  <a:srgbClr val="9D4E24"/>
                </a:solidFill>
                <a:latin typeface="Arial"/>
                <a:ea typeface="Arial"/>
                <a:cs typeface="Arial"/>
              </a:rPr>
              <a:t>APPENDIX A1 · WHO WE ARE</a:t>
            </a:r>
          </a:p>
        </p:txBody>
      </p:sp>
      <p:sp>
        <p:nvSpPr>
          <p:cNvPr id="104" name=""/>
          <p:cNvSpPr>
            <a:spLocks noGrp="1"/>
          </p:cNvSpPr>
          <p:nvPr/>
        </p:nvSpPr>
        <p:spPr>
          <a:xfrm>
            <a:off x="11060000" y="323850"/>
            <a:ext cx="600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820" b="1" i="0">
                <a:solidFill>
                  <a:srgbClr val="8B9094"/>
                </a:solidFill>
                <a:latin typeface="Arial"/>
                <a:ea typeface="Arial"/>
                <a:cs typeface="Arial"/>
              </a:rPr>
              <a:t>12</a:t>
            </a:r>
          </a:p>
        </p:txBody>
      </p:sp>
      <p:sp>
        <p:nvSpPr>
          <p:cNvPr id="105" name=""/>
          <p:cNvSpPr>
            <a:spLocks noGrp="1"/>
          </p:cNvSpPr>
          <p:nvPr/>
        </p:nvSpPr>
        <p:spPr>
          <a:xfrm>
            <a:off x="719138" y="1005840"/>
            <a:ext cx="10753724"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0" b="1" i="0">
                <a:solidFill>
                  <a:srgbClr val="C9783E"/>
                </a:solidFill>
                <a:latin typeface="Arial"/>
                <a:ea typeface="Arial"/>
                <a:cs typeface="Arial"/>
              </a:rPr>
              <a:t>SOUTHWIRE AT A GLANCE  ·  PUBLISHED FIGURES · 2025 REVENUE PER FORBES 2026</a:t>
            </a:r>
          </a:p>
        </p:txBody>
      </p:sp>
      <p:sp>
        <p:nvSpPr>
          <p:cNvPr id="106" name=""/>
          <p:cNvSpPr>
            <a:spLocks noGrp="1"/>
          </p:cNvSpPr>
          <p:nvPr/>
        </p:nvSpPr>
        <p:spPr>
          <a:xfrm>
            <a:off x="719138" y="1280160"/>
            <a:ext cx="10753724" cy="500000"/>
          </a:xfrm>
          <a:prstGeom prst="rect">
            <a:avLst/>
          </a:prstGeom>
          <a:noFill/>
          <a:ln w="0">
            <a:noFill/>
            <a:prstDash val="solid"/>
          </a:ln>
        </p:spPr>
        <p:txBody>
          <a:bodyPr wrap="square" lIns="0" tIns="0" rIns="0" bIns="0" anchor="t">
            <a:normAutofit fontScale="100000"/>
          </a:bodyPr>
          <a:lstStyle/>
          <a:p>
            <a:pPr algn="l">
              <a:lnSpc>
                <a:spcPct val="104000"/>
              </a:lnSpc>
              <a:buNone/>
            </a:pPr>
            <a:r>
              <a:rPr sz="2850" b="1" i="0">
                <a:solidFill>
                  <a:srgbClr val="17191C"/>
                </a:solidFill>
                <a:latin typeface="Arial"/>
                <a:ea typeface="Arial"/>
                <a:cs typeface="Arial"/>
              </a:rPr>
              <a:t>A family-held American manufacturer, founded in 1950.</a:t>
            </a:r>
          </a:p>
        </p:txBody>
      </p:sp>
      <p:sp>
        <p:nvSpPr>
          <p:cNvPr id="107" name=""/>
          <p:cNvSpPr>
            <a:spLocks noGrp="1"/>
          </p:cNvSpPr>
          <p:nvPr/>
        </p:nvSpPr>
        <p:spPr>
          <a:xfrm>
            <a:off x="719138" y="1874520"/>
            <a:ext cx="10753724" cy="500000"/>
          </a:xfrm>
          <a:prstGeom prst="rect">
            <a:avLst/>
          </a:prstGeom>
          <a:noFill/>
          <a:ln w="0">
            <a:noFill/>
            <a:prstDash val="solid"/>
          </a:ln>
        </p:spPr>
        <p:txBody>
          <a:bodyPr wrap="square" lIns="0" tIns="0" rIns="0" bIns="0" anchor="t">
            <a:normAutofit fontScale="100000"/>
          </a:bodyPr>
          <a:lstStyle/>
          <a:p>
            <a:pPr algn="l">
              <a:lnSpc>
                <a:spcPct val="108000"/>
              </a:lnSpc>
              <a:buNone/>
            </a:pPr>
            <a:r>
              <a:rPr sz="975" b="0" i="0">
                <a:solidFill>
                  <a:srgbClr val="6A6F73"/>
                </a:solidFill>
                <a:latin typeface="Arial"/>
                <a:ea typeface="Arial"/>
                <a:cs typeface="Arial"/>
              </a:rPr>
              <a:t>Roy Richards founded Southwire after the poles his crews built stood wireless for months after World War II. Starting with 12 employees and three secondhand machines in Carrollton, Georgia, Southwire remains family-held and vertically integrated — from copper rod through finished cable.</a:t>
            </a:r>
          </a:p>
        </p:txBody>
      </p:sp>
      <p:sp>
        <p:nvSpPr>
          <p:cNvPr id="108" name=""/>
          <p:cNvSpPr>
            <a:spLocks noGrp="1"/>
          </p:cNvSpPr>
          <p:nvPr/>
        </p:nvSpPr>
        <p:spPr>
          <a:xfrm>
            <a:off x="719138" y="2560320"/>
            <a:ext cx="2004340" cy="800100"/>
          </a:xfrm>
          <a:prstGeom prst="rect">
            <a:avLst/>
          </a:prstGeom>
          <a:solidFill>
            <a:srgbClr val="FFFFFF"/>
          </a:solidFill>
          <a:ln w="9525">
            <a:solidFill>
              <a:srgbClr val="D8D1C8"/>
            </a:solidFill>
            <a:prstDash val="solid"/>
          </a:ln>
        </p:spPr>
      </p:sp>
      <p:sp>
        <p:nvSpPr>
          <p:cNvPr id="109" name=""/>
          <p:cNvSpPr>
            <a:spLocks noGrp="1"/>
          </p:cNvSpPr>
          <p:nvPr/>
        </p:nvSpPr>
        <p:spPr>
          <a:xfrm>
            <a:off x="879158" y="2683510"/>
            <a:ext cx="1684300" cy="411480"/>
          </a:xfrm>
          <a:prstGeom prst="rect">
            <a:avLst/>
          </a:prstGeom>
          <a:noFill/>
          <a:ln w="0">
            <a:noFill/>
            <a:prstDash val="solid"/>
          </a:ln>
        </p:spPr>
        <p:txBody>
          <a:bodyPr wrap="square" lIns="0" tIns="0" rIns="0" bIns="0" anchor="t">
            <a:normAutofit fontScale="100000"/>
          </a:bodyPr>
          <a:lstStyle/>
          <a:p>
            <a:pPr algn="l">
              <a:lnSpc>
                <a:spcPct val="100000"/>
              </a:lnSpc>
              <a:buNone/>
            </a:pPr>
            <a:r>
              <a:rPr sz="1900" b="1" i="0">
                <a:solidFill>
                  <a:srgbClr val="9D4E24"/>
                </a:solidFill>
                <a:latin typeface="Arial"/>
                <a:ea typeface="Arial"/>
                <a:cs typeface="Arial"/>
              </a:rPr>
              <a:t>1950</a:t>
            </a:r>
          </a:p>
        </p:txBody>
      </p:sp>
      <p:sp>
        <p:nvSpPr>
          <p:cNvPr id="110" name=""/>
          <p:cNvSpPr>
            <a:spLocks noGrp="1"/>
          </p:cNvSpPr>
          <p:nvPr/>
        </p:nvSpPr>
        <p:spPr>
          <a:xfrm>
            <a:off x="879158" y="3106420"/>
            <a:ext cx="1684300" cy="200000"/>
          </a:xfrm>
          <a:prstGeom prst="rect">
            <a:avLst/>
          </a:prstGeom>
          <a:noFill/>
          <a:ln w="0">
            <a:noFill/>
            <a:prstDash val="solid"/>
          </a:ln>
        </p:spPr>
        <p:txBody>
          <a:bodyPr wrap="square" lIns="0" tIns="0" rIns="0" bIns="0" anchor="t">
            <a:normAutofit fontScale="100000"/>
          </a:bodyPr>
          <a:lstStyle/>
          <a:p>
            <a:pPr algn="l">
              <a:lnSpc>
                <a:spcPct val="100000"/>
              </a:lnSpc>
              <a:buNone/>
            </a:pPr>
            <a:r>
              <a:rPr sz="700" b="1" i="0">
                <a:solidFill>
                  <a:srgbClr val="6A6F73"/>
                </a:solidFill>
                <a:latin typeface="Arial"/>
                <a:ea typeface="Arial"/>
                <a:cs typeface="Arial"/>
              </a:rPr>
              <a:t>FOUNDED · CARROLLTON, GA</a:t>
            </a:r>
          </a:p>
        </p:txBody>
      </p:sp>
      <p:sp>
        <p:nvSpPr>
          <p:cNvPr id="111" name=""/>
          <p:cNvSpPr>
            <a:spLocks noGrp="1"/>
          </p:cNvSpPr>
          <p:nvPr/>
        </p:nvSpPr>
        <p:spPr>
          <a:xfrm>
            <a:off x="2906484" y="2560320"/>
            <a:ext cx="2004340" cy="800100"/>
          </a:xfrm>
          <a:prstGeom prst="rect">
            <a:avLst/>
          </a:prstGeom>
          <a:solidFill>
            <a:srgbClr val="FFFFFF"/>
          </a:solidFill>
          <a:ln w="9525">
            <a:solidFill>
              <a:srgbClr val="D8D1C8"/>
            </a:solidFill>
            <a:prstDash val="solid"/>
          </a:ln>
        </p:spPr>
      </p:sp>
      <p:sp>
        <p:nvSpPr>
          <p:cNvPr id="112" name=""/>
          <p:cNvSpPr>
            <a:spLocks noGrp="1"/>
          </p:cNvSpPr>
          <p:nvPr/>
        </p:nvSpPr>
        <p:spPr>
          <a:xfrm>
            <a:off x="3066504" y="2683510"/>
            <a:ext cx="1684300" cy="411480"/>
          </a:xfrm>
          <a:prstGeom prst="rect">
            <a:avLst/>
          </a:prstGeom>
          <a:noFill/>
          <a:ln w="0">
            <a:noFill/>
            <a:prstDash val="solid"/>
          </a:ln>
        </p:spPr>
        <p:txBody>
          <a:bodyPr wrap="square" lIns="0" tIns="0" rIns="0" bIns="0" anchor="t">
            <a:normAutofit fontScale="100000"/>
          </a:bodyPr>
          <a:lstStyle/>
          <a:p>
            <a:pPr algn="l">
              <a:lnSpc>
                <a:spcPct val="100000"/>
              </a:lnSpc>
              <a:buNone/>
            </a:pPr>
            <a:r>
              <a:rPr sz="1900" b="1" i="0">
                <a:solidFill>
                  <a:srgbClr val="9D4E24"/>
                </a:solidFill>
                <a:latin typeface="Arial"/>
                <a:ea typeface="Arial"/>
                <a:cs typeface="Arial"/>
              </a:rPr>
              <a:t>9,000+</a:t>
            </a:r>
          </a:p>
        </p:txBody>
      </p:sp>
      <p:sp>
        <p:nvSpPr>
          <p:cNvPr id="113" name=""/>
          <p:cNvSpPr>
            <a:spLocks noGrp="1"/>
          </p:cNvSpPr>
          <p:nvPr/>
        </p:nvSpPr>
        <p:spPr>
          <a:xfrm>
            <a:off x="3066504" y="3106420"/>
            <a:ext cx="1684300" cy="200000"/>
          </a:xfrm>
          <a:prstGeom prst="rect">
            <a:avLst/>
          </a:prstGeom>
          <a:noFill/>
          <a:ln w="0">
            <a:noFill/>
            <a:prstDash val="solid"/>
          </a:ln>
        </p:spPr>
        <p:txBody>
          <a:bodyPr wrap="square" lIns="0" tIns="0" rIns="0" bIns="0" anchor="t">
            <a:normAutofit fontScale="100000"/>
          </a:bodyPr>
          <a:lstStyle/>
          <a:p>
            <a:pPr algn="l">
              <a:lnSpc>
                <a:spcPct val="100000"/>
              </a:lnSpc>
              <a:buNone/>
            </a:pPr>
            <a:r>
              <a:rPr sz="700" b="1" i="0">
                <a:solidFill>
                  <a:srgbClr val="6A6F73"/>
                </a:solidFill>
                <a:latin typeface="Arial"/>
                <a:ea typeface="Arial"/>
                <a:cs typeface="Arial"/>
              </a:rPr>
              <a:t>EMPLOYEES WORLDWIDE</a:t>
            </a:r>
          </a:p>
        </p:txBody>
      </p:sp>
      <p:sp>
        <p:nvSpPr>
          <p:cNvPr id="114" name=""/>
          <p:cNvSpPr>
            <a:spLocks noGrp="1"/>
          </p:cNvSpPr>
          <p:nvPr/>
        </p:nvSpPr>
        <p:spPr>
          <a:xfrm>
            <a:off x="5093830" y="2560320"/>
            <a:ext cx="2004340" cy="800100"/>
          </a:xfrm>
          <a:prstGeom prst="rect">
            <a:avLst/>
          </a:prstGeom>
          <a:solidFill>
            <a:srgbClr val="FFFFFF"/>
          </a:solidFill>
          <a:ln w="9525">
            <a:solidFill>
              <a:srgbClr val="D8D1C8"/>
            </a:solidFill>
            <a:prstDash val="solid"/>
          </a:ln>
        </p:spPr>
      </p:sp>
      <p:sp>
        <p:nvSpPr>
          <p:cNvPr id="115" name=""/>
          <p:cNvSpPr>
            <a:spLocks noGrp="1"/>
          </p:cNvSpPr>
          <p:nvPr/>
        </p:nvSpPr>
        <p:spPr>
          <a:xfrm>
            <a:off x="5253850" y="2683510"/>
            <a:ext cx="1684300" cy="411480"/>
          </a:xfrm>
          <a:prstGeom prst="rect">
            <a:avLst/>
          </a:prstGeom>
          <a:noFill/>
          <a:ln w="0">
            <a:noFill/>
            <a:prstDash val="solid"/>
          </a:ln>
        </p:spPr>
        <p:txBody>
          <a:bodyPr wrap="square" lIns="0" tIns="0" rIns="0" bIns="0" anchor="t">
            <a:normAutofit fontScale="100000"/>
          </a:bodyPr>
          <a:lstStyle/>
          <a:p>
            <a:pPr algn="l">
              <a:lnSpc>
                <a:spcPct val="100000"/>
              </a:lnSpc>
              <a:buNone/>
            </a:pPr>
            <a:r>
              <a:rPr sz="1900" b="1" i="0">
                <a:solidFill>
                  <a:srgbClr val="9D4E24"/>
                </a:solidFill>
                <a:latin typeface="Arial"/>
                <a:ea typeface="Arial"/>
                <a:cs typeface="Arial"/>
              </a:rPr>
              <a:t>$9.7B</a:t>
            </a:r>
          </a:p>
        </p:txBody>
      </p:sp>
      <p:sp>
        <p:nvSpPr>
          <p:cNvPr id="116" name=""/>
          <p:cNvSpPr>
            <a:spLocks noGrp="1"/>
          </p:cNvSpPr>
          <p:nvPr/>
        </p:nvSpPr>
        <p:spPr>
          <a:xfrm>
            <a:off x="5253850" y="3106420"/>
            <a:ext cx="1684300" cy="200000"/>
          </a:xfrm>
          <a:prstGeom prst="rect">
            <a:avLst/>
          </a:prstGeom>
          <a:noFill/>
          <a:ln w="0">
            <a:noFill/>
            <a:prstDash val="solid"/>
          </a:ln>
        </p:spPr>
        <p:txBody>
          <a:bodyPr wrap="square" lIns="0" tIns="0" rIns="0" bIns="0" anchor="t">
            <a:normAutofit fontScale="100000"/>
          </a:bodyPr>
          <a:lstStyle/>
          <a:p>
            <a:pPr algn="l">
              <a:lnSpc>
                <a:spcPct val="100000"/>
              </a:lnSpc>
              <a:buNone/>
            </a:pPr>
            <a:r>
              <a:rPr sz="700" b="1" i="0">
                <a:solidFill>
                  <a:srgbClr val="6A6F73"/>
                </a:solidFill>
                <a:latin typeface="Arial"/>
                <a:ea typeface="Arial"/>
                <a:cs typeface="Arial"/>
              </a:rPr>
              <a:t>2025 REVENUE · FORBES EST.</a:t>
            </a:r>
          </a:p>
        </p:txBody>
      </p:sp>
      <p:sp>
        <p:nvSpPr>
          <p:cNvPr id="117" name=""/>
          <p:cNvSpPr>
            <a:spLocks noGrp="1"/>
          </p:cNvSpPr>
          <p:nvPr/>
        </p:nvSpPr>
        <p:spPr>
          <a:xfrm>
            <a:off x="7281176" y="2560320"/>
            <a:ext cx="2004340" cy="800100"/>
          </a:xfrm>
          <a:prstGeom prst="rect">
            <a:avLst/>
          </a:prstGeom>
          <a:solidFill>
            <a:srgbClr val="FFFFFF"/>
          </a:solidFill>
          <a:ln w="9525">
            <a:solidFill>
              <a:srgbClr val="D8D1C8"/>
            </a:solidFill>
            <a:prstDash val="solid"/>
          </a:ln>
        </p:spPr>
      </p:sp>
      <p:sp>
        <p:nvSpPr>
          <p:cNvPr id="118" name=""/>
          <p:cNvSpPr>
            <a:spLocks noGrp="1"/>
          </p:cNvSpPr>
          <p:nvPr/>
        </p:nvSpPr>
        <p:spPr>
          <a:xfrm>
            <a:off x="7441196" y="2683510"/>
            <a:ext cx="1684300" cy="411480"/>
          </a:xfrm>
          <a:prstGeom prst="rect">
            <a:avLst/>
          </a:prstGeom>
          <a:noFill/>
          <a:ln w="0">
            <a:noFill/>
            <a:prstDash val="solid"/>
          </a:ln>
        </p:spPr>
        <p:txBody>
          <a:bodyPr wrap="square" lIns="0" tIns="0" rIns="0" bIns="0" anchor="t">
            <a:normAutofit fontScale="100000"/>
          </a:bodyPr>
          <a:lstStyle/>
          <a:p>
            <a:pPr algn="l">
              <a:lnSpc>
                <a:spcPct val="100000"/>
              </a:lnSpc>
              <a:buNone/>
            </a:pPr>
            <a:r>
              <a:rPr sz="1900" b="1" i="0">
                <a:solidFill>
                  <a:srgbClr val="9D4E24"/>
                </a:solidFill>
                <a:latin typeface="Arial"/>
                <a:ea typeface="Arial"/>
                <a:cs typeface="Arial"/>
              </a:rPr>
              <a:t>12</a:t>
            </a:r>
          </a:p>
        </p:txBody>
      </p:sp>
      <p:sp>
        <p:nvSpPr>
          <p:cNvPr id="119" name=""/>
          <p:cNvSpPr>
            <a:spLocks noGrp="1"/>
          </p:cNvSpPr>
          <p:nvPr/>
        </p:nvSpPr>
        <p:spPr>
          <a:xfrm>
            <a:off x="7441196" y="3106420"/>
            <a:ext cx="1684300" cy="200000"/>
          </a:xfrm>
          <a:prstGeom prst="rect">
            <a:avLst/>
          </a:prstGeom>
          <a:noFill/>
          <a:ln w="0">
            <a:noFill/>
            <a:prstDash val="solid"/>
          </a:ln>
        </p:spPr>
        <p:txBody>
          <a:bodyPr wrap="square" lIns="0" tIns="0" rIns="0" bIns="0" anchor="t">
            <a:normAutofit fontScale="100000"/>
          </a:bodyPr>
          <a:lstStyle/>
          <a:p>
            <a:pPr algn="l">
              <a:lnSpc>
                <a:spcPct val="100000"/>
              </a:lnSpc>
              <a:buNone/>
            </a:pPr>
            <a:r>
              <a:rPr sz="700" b="1" i="0">
                <a:solidFill>
                  <a:srgbClr val="6A6F73"/>
                </a:solidFill>
                <a:latin typeface="Arial"/>
                <a:ea typeface="Arial"/>
                <a:cs typeface="Arial"/>
              </a:rPr>
              <a:t>INDUSTRIES SERVED</a:t>
            </a:r>
          </a:p>
        </p:txBody>
      </p:sp>
      <p:sp>
        <p:nvSpPr>
          <p:cNvPr id="120" name=""/>
          <p:cNvSpPr>
            <a:spLocks noGrp="1"/>
          </p:cNvSpPr>
          <p:nvPr/>
        </p:nvSpPr>
        <p:spPr>
          <a:xfrm>
            <a:off x="9468522" y="2560320"/>
            <a:ext cx="2004340" cy="800100"/>
          </a:xfrm>
          <a:prstGeom prst="rect">
            <a:avLst/>
          </a:prstGeom>
          <a:solidFill>
            <a:srgbClr val="FFFFFF"/>
          </a:solidFill>
          <a:ln w="9525">
            <a:solidFill>
              <a:srgbClr val="D8D1C8"/>
            </a:solidFill>
            <a:prstDash val="solid"/>
          </a:ln>
        </p:spPr>
      </p:sp>
      <p:sp>
        <p:nvSpPr>
          <p:cNvPr id="121" name=""/>
          <p:cNvSpPr>
            <a:spLocks noGrp="1"/>
          </p:cNvSpPr>
          <p:nvPr/>
        </p:nvSpPr>
        <p:spPr>
          <a:xfrm>
            <a:off x="9628542" y="2683510"/>
            <a:ext cx="1684300" cy="411480"/>
          </a:xfrm>
          <a:prstGeom prst="rect">
            <a:avLst/>
          </a:prstGeom>
          <a:noFill/>
          <a:ln w="0">
            <a:noFill/>
            <a:prstDash val="solid"/>
          </a:ln>
        </p:spPr>
        <p:txBody>
          <a:bodyPr wrap="square" lIns="0" tIns="0" rIns="0" bIns="0" anchor="t">
            <a:normAutofit fontScale="100000"/>
          </a:bodyPr>
          <a:lstStyle/>
          <a:p>
            <a:pPr algn="l">
              <a:lnSpc>
                <a:spcPct val="100000"/>
              </a:lnSpc>
              <a:buNone/>
            </a:pPr>
            <a:r>
              <a:rPr sz="1900" b="1" i="0">
                <a:solidFill>
                  <a:srgbClr val="9D4E24"/>
                </a:solidFill>
                <a:latin typeface="Arial"/>
                <a:ea typeface="Arial"/>
                <a:cs typeface="Arial"/>
              </a:rPr>
              <a:t>7</a:t>
            </a:r>
          </a:p>
        </p:txBody>
      </p:sp>
      <p:sp>
        <p:nvSpPr>
          <p:cNvPr id="122" name=""/>
          <p:cNvSpPr>
            <a:spLocks noGrp="1"/>
          </p:cNvSpPr>
          <p:nvPr/>
        </p:nvSpPr>
        <p:spPr>
          <a:xfrm>
            <a:off x="9628542" y="3106420"/>
            <a:ext cx="1684300" cy="200000"/>
          </a:xfrm>
          <a:prstGeom prst="rect">
            <a:avLst/>
          </a:prstGeom>
          <a:noFill/>
          <a:ln w="0">
            <a:noFill/>
            <a:prstDash val="solid"/>
          </a:ln>
        </p:spPr>
        <p:txBody>
          <a:bodyPr wrap="square" lIns="0" tIns="0" rIns="0" bIns="0" anchor="t">
            <a:normAutofit fontScale="100000"/>
          </a:bodyPr>
          <a:lstStyle/>
          <a:p>
            <a:pPr algn="l">
              <a:lnSpc>
                <a:spcPct val="100000"/>
              </a:lnSpc>
              <a:buNone/>
            </a:pPr>
            <a:r>
              <a:rPr sz="700" b="1" i="0">
                <a:solidFill>
                  <a:srgbClr val="6A6F73"/>
                </a:solidFill>
                <a:latin typeface="Arial"/>
                <a:ea typeface="Arial"/>
                <a:cs typeface="Arial"/>
              </a:rPr>
              <a:t>COPPER MARK SITES</a:t>
            </a:r>
          </a:p>
        </p:txBody>
      </p:sp>
      <p:sp>
        <p:nvSpPr>
          <p:cNvPr id="123" name=""/>
          <p:cNvSpPr>
            <a:spLocks noGrp="1"/>
          </p:cNvSpPr>
          <p:nvPr/>
        </p:nvSpPr>
        <p:spPr>
          <a:xfrm>
            <a:off x="719138" y="3611880"/>
            <a:ext cx="60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0" b="1" i="0">
                <a:solidFill>
                  <a:srgbClr val="9D4E24"/>
                </a:solidFill>
                <a:latin typeface="Arial"/>
                <a:ea typeface="Arial"/>
                <a:cs typeface="Arial"/>
              </a:rPr>
              <a:t>WHAT WE MAKE</a:t>
            </a:r>
          </a:p>
        </p:txBody>
      </p:sp>
      <p:sp>
        <p:nvSpPr>
          <p:cNvPr id="124" name=""/>
          <p:cNvSpPr>
            <a:spLocks noGrp="1"/>
          </p:cNvSpPr>
          <p:nvPr/>
        </p:nvSpPr>
        <p:spPr>
          <a:xfrm>
            <a:off x="719138" y="3931920"/>
            <a:ext cx="3300000" cy="480000"/>
          </a:xfrm>
          <a:prstGeom prst="rect">
            <a:avLst/>
          </a:prstGeom>
          <a:noFill/>
          <a:ln w="0">
            <a:noFill/>
            <a:prstDash val="solid"/>
          </a:ln>
        </p:spPr>
        <p:txBody>
          <a:bodyPr wrap="square" lIns="0" tIns="0" rIns="0" bIns="0" anchor="t">
            <a:normAutofit fontScale="100000"/>
          </a:bodyPr>
          <a:lstStyle/>
          <a:p>
            <a:pPr algn="l">
              <a:lnSpc>
                <a:spcPct val="104000"/>
              </a:lnSpc>
              <a:buNone/>
            </a:pPr>
            <a:r>
              <a:rPr sz="900" b="1" i="0">
                <a:solidFill>
                  <a:srgbClr val="17191C"/>
                </a:solidFill>
                <a:latin typeface="Arial"/>
                <a:ea typeface="Arial"/>
                <a:cs typeface="Arial"/>
              </a:rPr>
              <a:t>High voltage underground</a:t>
            </a:r>
            <a:r>
              <a:rPr sz="900" b="0" i="0">
                <a:solidFill>
                  <a:srgbClr val="6A6F73"/>
                </a:solidFill>
                <a:latin typeface="Arial"/>
                <a:ea typeface="Arial"/>
                <a:cs typeface="Arial"/>
              </a:rPr>
              <a:t> — 69–500 kV cable, accessories, installation engineering and field testing.</a:t>
            </a:r>
          </a:p>
        </p:txBody>
      </p:sp>
      <p:sp>
        <p:nvSpPr>
          <p:cNvPr id="125" name=""/>
          <p:cNvSpPr>
            <a:spLocks noGrp="1"/>
          </p:cNvSpPr>
          <p:nvPr/>
        </p:nvSpPr>
        <p:spPr>
          <a:xfrm>
            <a:off x="4219138" y="3931920"/>
            <a:ext cx="3300000" cy="480000"/>
          </a:xfrm>
          <a:prstGeom prst="rect">
            <a:avLst/>
          </a:prstGeom>
          <a:noFill/>
          <a:ln w="0">
            <a:noFill/>
            <a:prstDash val="solid"/>
          </a:ln>
        </p:spPr>
        <p:txBody>
          <a:bodyPr wrap="square" lIns="0" tIns="0" rIns="0" bIns="0" anchor="t">
            <a:normAutofit fontScale="100000"/>
          </a:bodyPr>
          <a:lstStyle/>
          <a:p>
            <a:pPr algn="l">
              <a:lnSpc>
                <a:spcPct val="104000"/>
              </a:lnSpc>
              <a:buNone/>
            </a:pPr>
            <a:r>
              <a:rPr sz="900" b="1" i="0">
                <a:solidFill>
                  <a:srgbClr val="17191C"/>
                </a:solidFill>
                <a:latin typeface="Arial"/>
                <a:ea typeface="Arial"/>
                <a:cs typeface="Arial"/>
              </a:rPr>
              <a:t>Medium &amp; low voltage</a:t>
            </a:r>
            <a:r>
              <a:rPr sz="900" b="0" i="0">
                <a:solidFill>
                  <a:srgbClr val="6A6F73"/>
                </a:solidFill>
                <a:latin typeface="Arial"/>
                <a:ea typeface="Arial"/>
                <a:cs typeface="Arial"/>
              </a:rPr>
              <a:t> — 5–35 kV EPR/XLPE; 600 V power and control; tray-rated TC-ER.</a:t>
            </a:r>
          </a:p>
        </p:txBody>
      </p:sp>
      <p:sp>
        <p:nvSpPr>
          <p:cNvPr id="126" name=""/>
          <p:cNvSpPr>
            <a:spLocks noGrp="1"/>
          </p:cNvSpPr>
          <p:nvPr/>
        </p:nvSpPr>
        <p:spPr>
          <a:xfrm>
            <a:off x="719138" y="4434840"/>
            <a:ext cx="3300000" cy="480000"/>
          </a:xfrm>
          <a:prstGeom prst="rect">
            <a:avLst/>
          </a:prstGeom>
          <a:noFill/>
          <a:ln w="0">
            <a:noFill/>
            <a:prstDash val="solid"/>
          </a:ln>
        </p:spPr>
        <p:txBody>
          <a:bodyPr wrap="square" lIns="0" tIns="0" rIns="0" bIns="0" anchor="t">
            <a:normAutofit fontScale="100000"/>
          </a:bodyPr>
          <a:lstStyle/>
          <a:p>
            <a:pPr algn="l">
              <a:lnSpc>
                <a:spcPct val="104000"/>
              </a:lnSpc>
              <a:buNone/>
            </a:pPr>
            <a:r>
              <a:rPr sz="900" b="1" i="0">
                <a:solidFill>
                  <a:srgbClr val="17191C"/>
                </a:solidFill>
                <a:latin typeface="Arial"/>
                <a:ea typeface="Arial"/>
                <a:cs typeface="Arial"/>
              </a:rPr>
              <a:t>Instrumentation &amp; comms</a:t>
            </a:r>
            <a:r>
              <a:rPr sz="900" b="0" i="0">
                <a:solidFill>
                  <a:srgbClr val="6A6F73"/>
                </a:solidFill>
                <a:latin typeface="Arial"/>
                <a:ea typeface="Arial"/>
                <a:cs typeface="Arial"/>
              </a:rPr>
              <a:t> — shielded pairs and triads, thermocouple, industrial Ethernet and fiber.</a:t>
            </a:r>
          </a:p>
        </p:txBody>
      </p:sp>
      <p:sp>
        <p:nvSpPr>
          <p:cNvPr id="127" name=""/>
          <p:cNvSpPr>
            <a:spLocks noGrp="1"/>
          </p:cNvSpPr>
          <p:nvPr/>
        </p:nvSpPr>
        <p:spPr>
          <a:xfrm>
            <a:off x="4219138" y="4434840"/>
            <a:ext cx="3300000" cy="480000"/>
          </a:xfrm>
          <a:prstGeom prst="rect">
            <a:avLst/>
          </a:prstGeom>
          <a:noFill/>
          <a:ln w="0">
            <a:noFill/>
            <a:prstDash val="solid"/>
          </a:ln>
        </p:spPr>
        <p:txBody>
          <a:bodyPr wrap="square" lIns="0" tIns="0" rIns="0" bIns="0" anchor="t">
            <a:normAutofit fontScale="100000"/>
          </a:bodyPr>
          <a:lstStyle/>
          <a:p>
            <a:pPr algn="l">
              <a:lnSpc>
                <a:spcPct val="104000"/>
              </a:lnSpc>
              <a:buNone/>
            </a:pPr>
            <a:r>
              <a:rPr sz="900" b="1" i="0">
                <a:solidFill>
                  <a:srgbClr val="17191C"/>
                </a:solidFill>
                <a:latin typeface="Arial"/>
                <a:ea typeface="Arial"/>
                <a:cs typeface="Arial"/>
              </a:rPr>
              <a:t>Overhead conductors</a:t>
            </a:r>
            <a:r>
              <a:rPr sz="900" b="0" i="0">
                <a:solidFill>
                  <a:srgbClr val="6A6F73"/>
                </a:solidFill>
                <a:latin typeface="Arial"/>
                <a:ea typeface="Arial"/>
                <a:cs typeface="Arial"/>
              </a:rPr>
              <a:t> — C7 composite-core, ACSS/TW, vibration-resistant, high-emissivity.</a:t>
            </a:r>
          </a:p>
        </p:txBody>
      </p:sp>
      <p:sp>
        <p:nvSpPr>
          <p:cNvPr id="128" name=""/>
          <p:cNvSpPr>
            <a:spLocks noGrp="1"/>
          </p:cNvSpPr>
          <p:nvPr/>
        </p:nvSpPr>
        <p:spPr>
          <a:xfrm>
            <a:off x="719138" y="4937760"/>
            <a:ext cx="3300000" cy="480000"/>
          </a:xfrm>
          <a:prstGeom prst="rect">
            <a:avLst/>
          </a:prstGeom>
          <a:noFill/>
          <a:ln w="0">
            <a:noFill/>
            <a:prstDash val="solid"/>
          </a:ln>
        </p:spPr>
        <p:txBody>
          <a:bodyPr wrap="square" lIns="0" tIns="0" rIns="0" bIns="0" anchor="t">
            <a:normAutofit fontScale="100000"/>
          </a:bodyPr>
          <a:lstStyle/>
          <a:p>
            <a:pPr algn="l">
              <a:lnSpc>
                <a:spcPct val="104000"/>
              </a:lnSpc>
              <a:buNone/>
            </a:pPr>
            <a:r>
              <a:rPr sz="900" b="1" i="0">
                <a:solidFill>
                  <a:srgbClr val="17191C"/>
                </a:solidFill>
                <a:latin typeface="Arial"/>
                <a:ea typeface="Arial"/>
                <a:cs typeface="Arial"/>
              </a:rPr>
              <a:t>Classified &amp; circuit integrity</a:t>
            </a:r>
            <a:r>
              <a:rPr sz="900" b="0" i="0">
                <a:solidFill>
                  <a:srgbClr val="6A6F73"/>
                </a:solidFill>
                <a:latin typeface="Arial"/>
                <a:ea typeface="Arial"/>
                <a:cs typeface="Arial"/>
              </a:rPr>
              <a:t> — MC-HL, two-hour-rated cable and splice kits.</a:t>
            </a:r>
          </a:p>
        </p:txBody>
      </p:sp>
      <p:sp>
        <p:nvSpPr>
          <p:cNvPr id="129" name=""/>
          <p:cNvSpPr>
            <a:spLocks noGrp="1"/>
          </p:cNvSpPr>
          <p:nvPr/>
        </p:nvSpPr>
        <p:spPr>
          <a:xfrm>
            <a:off x="4219138" y="4937760"/>
            <a:ext cx="3300000" cy="480000"/>
          </a:xfrm>
          <a:prstGeom prst="rect">
            <a:avLst/>
          </a:prstGeom>
          <a:noFill/>
          <a:ln w="0">
            <a:noFill/>
            <a:prstDash val="solid"/>
          </a:ln>
        </p:spPr>
        <p:txBody>
          <a:bodyPr wrap="square" lIns="0" tIns="0" rIns="0" bIns="0" anchor="t">
            <a:normAutofit fontScale="100000"/>
          </a:bodyPr>
          <a:lstStyle/>
          <a:p>
            <a:pPr algn="l">
              <a:lnSpc>
                <a:spcPct val="104000"/>
              </a:lnSpc>
              <a:buNone/>
            </a:pPr>
            <a:r>
              <a:rPr sz="900" b="1" i="0">
                <a:solidFill>
                  <a:srgbClr val="17191C"/>
                </a:solidFill>
                <a:latin typeface="Arial"/>
                <a:ea typeface="Arial"/>
                <a:cs typeface="Arial"/>
              </a:rPr>
              <a:t>Modular &amp; factory-built power</a:t>
            </a:r>
            <a:r>
              <a:rPr sz="900" b="0" i="0">
                <a:solidFill>
                  <a:srgbClr val="6A6F73"/>
                </a:solidFill>
                <a:latin typeface="Arial"/>
                <a:ea typeface="Arial"/>
                <a:cs typeface="Arial"/>
              </a:rPr>
              <a:t> — fine-strand flexible, VFD and tray cable; whips and job kits.</a:t>
            </a:r>
          </a:p>
        </p:txBody>
      </p:sp>
      <p:sp>
        <p:nvSpPr>
          <p:cNvPr id="130" name=""/>
          <p:cNvSpPr>
            <a:spLocks noGrp="1"/>
          </p:cNvSpPr>
          <p:nvPr/>
        </p:nvSpPr>
        <p:spPr>
          <a:xfrm>
            <a:off x="719138" y="5440680"/>
            <a:ext cx="3300000" cy="480000"/>
          </a:xfrm>
          <a:prstGeom prst="rect">
            <a:avLst/>
          </a:prstGeom>
          <a:noFill/>
          <a:ln w="0">
            <a:noFill/>
            <a:prstDash val="solid"/>
          </a:ln>
        </p:spPr>
        <p:txBody>
          <a:bodyPr wrap="square" lIns="0" tIns="0" rIns="0" bIns="0" anchor="t">
            <a:normAutofit fontScale="100000"/>
          </a:bodyPr>
          <a:lstStyle/>
          <a:p>
            <a:pPr algn="l">
              <a:lnSpc>
                <a:spcPct val="104000"/>
              </a:lnSpc>
              <a:buNone/>
            </a:pPr>
            <a:r>
              <a:rPr sz="900" b="1" i="0">
                <a:solidFill>
                  <a:srgbClr val="17191C"/>
                </a:solidFill>
                <a:latin typeface="Arial"/>
                <a:ea typeface="Arial"/>
                <a:cs typeface="Arial"/>
              </a:rPr>
              <a:t>Data center assemblies</a:t>
            </a:r>
            <a:r>
              <a:rPr sz="900" b="0" i="0">
                <a:solidFill>
                  <a:srgbClr val="6A6F73"/>
                </a:solidFill>
                <a:latin typeface="Arial"/>
                <a:ea typeface="Arial"/>
                <a:cs typeface="Arial"/>
              </a:rPr>
              <a:t> — UL-listed, built, labeled, tested, drum-packed to schedule.</a:t>
            </a:r>
          </a:p>
        </p:txBody>
      </p:sp>
      <p:sp>
        <p:nvSpPr>
          <p:cNvPr id="131" name=""/>
          <p:cNvSpPr>
            <a:spLocks noGrp="1"/>
          </p:cNvSpPr>
          <p:nvPr/>
        </p:nvSpPr>
        <p:spPr>
          <a:xfrm>
            <a:off x="4219138" y="5440680"/>
            <a:ext cx="3300000" cy="480000"/>
          </a:xfrm>
          <a:prstGeom prst="rect">
            <a:avLst/>
          </a:prstGeom>
          <a:noFill/>
          <a:ln w="0">
            <a:noFill/>
            <a:prstDash val="solid"/>
          </a:ln>
        </p:spPr>
        <p:txBody>
          <a:bodyPr wrap="square" lIns="0" tIns="0" rIns="0" bIns="0" anchor="t">
            <a:normAutofit fontScale="100000"/>
          </a:bodyPr>
          <a:lstStyle/>
          <a:p>
            <a:pPr algn="l">
              <a:lnSpc>
                <a:spcPct val="104000"/>
              </a:lnSpc>
              <a:buNone/>
            </a:pPr>
            <a:r>
              <a:rPr sz="900" b="1" i="0">
                <a:solidFill>
                  <a:srgbClr val="17191C"/>
                </a:solidFill>
                <a:latin typeface="Arial"/>
                <a:ea typeface="Arial"/>
                <a:cs typeface="Arial"/>
              </a:rPr>
              <a:t>Accessories &amp; raceway</a:t>
            </a:r>
            <a:r>
              <a:rPr sz="900" b="0" i="0">
                <a:solidFill>
                  <a:srgbClr val="6A6F73"/>
                </a:solidFill>
                <a:latin typeface="Arial"/>
                <a:ea typeface="Arial"/>
                <a:cs typeface="Arial"/>
              </a:rPr>
              <a:t> — lugs, grounding, duct-bank accessories and pulling gear.</a:t>
            </a:r>
          </a:p>
        </p:txBody>
      </p:sp>
      <p:sp>
        <p:nvSpPr>
          <p:cNvPr id="132" name=""/>
          <p:cNvSpPr>
            <a:spLocks noGrp="1"/>
          </p:cNvSpPr>
          <p:nvPr/>
        </p:nvSpPr>
        <p:spPr>
          <a:xfrm>
            <a:off x="8000000" y="3611880"/>
            <a:ext cx="347286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880" b="1" i="0">
                <a:solidFill>
                  <a:srgbClr val="9D4E24"/>
                </a:solidFill>
                <a:latin typeface="Arial"/>
                <a:ea typeface="Arial"/>
                <a:cs typeface="Arial"/>
              </a:rPr>
              <a:t>WHAT WE DO</a:t>
            </a:r>
          </a:p>
        </p:txBody>
      </p:sp>
      <p:sp>
        <p:nvSpPr>
          <p:cNvPr id="133" name=""/>
          <p:cNvSpPr>
            <a:spLocks noGrp="1"/>
          </p:cNvSpPr>
          <p:nvPr/>
        </p:nvSpPr>
        <p:spPr>
          <a:xfrm>
            <a:off x="8000000" y="3931920"/>
            <a:ext cx="1700000" cy="270000"/>
          </a:xfrm>
          <a:prstGeom prst="rect">
            <a:avLst/>
          </a:prstGeom>
          <a:noFill/>
          <a:ln w="0">
            <a:noFill/>
            <a:prstDash val="solid"/>
          </a:ln>
        </p:spPr>
        <p:txBody>
          <a:bodyPr wrap="square" lIns="0" tIns="0" rIns="0" bIns="0" anchor="t">
            <a:normAutofit fontScale="100000"/>
          </a:bodyPr>
          <a:lstStyle/>
          <a:p>
            <a:pPr algn="l">
              <a:lnSpc>
                <a:spcPct val="100000"/>
              </a:lnSpc>
              <a:buNone/>
            </a:pPr>
            <a:r>
              <a:rPr sz="800" b="0" i="0">
                <a:solidFill>
                  <a:srgbClr val="6A6F73"/>
                </a:solidFill>
                <a:latin typeface="Arial"/>
                <a:ea typeface="Arial"/>
                <a:cs typeface="Arial"/>
              </a:rPr>
              <a:t>HV underground transmission</a:t>
            </a:r>
          </a:p>
        </p:txBody>
      </p:sp>
      <p:sp>
        <p:nvSpPr>
          <p:cNvPr id="134" name=""/>
          <p:cNvSpPr>
            <a:spLocks noGrp="1"/>
          </p:cNvSpPr>
          <p:nvPr/>
        </p:nvSpPr>
        <p:spPr>
          <a:xfrm>
            <a:off x="9790000" y="3931920"/>
            <a:ext cx="1700000" cy="270000"/>
          </a:xfrm>
          <a:prstGeom prst="rect">
            <a:avLst/>
          </a:prstGeom>
          <a:noFill/>
          <a:ln w="0">
            <a:noFill/>
            <a:prstDash val="solid"/>
          </a:ln>
        </p:spPr>
        <p:txBody>
          <a:bodyPr wrap="square" lIns="0" tIns="0" rIns="0" bIns="0" anchor="t">
            <a:normAutofit fontScale="100000"/>
          </a:bodyPr>
          <a:lstStyle/>
          <a:p>
            <a:pPr algn="l">
              <a:lnSpc>
                <a:spcPct val="100000"/>
              </a:lnSpc>
              <a:buNone/>
            </a:pPr>
            <a:r>
              <a:rPr sz="800" b="0" i="0">
                <a:solidFill>
                  <a:srgbClr val="6A6F73"/>
                </a:solidFill>
                <a:latin typeface="Arial"/>
                <a:ea typeface="Arial"/>
                <a:cs typeface="Arial"/>
              </a:rPr>
              <a:t>Cable rejuvenation</a:t>
            </a:r>
          </a:p>
        </p:txBody>
      </p:sp>
      <p:sp>
        <p:nvSpPr>
          <p:cNvPr id="135" name=""/>
          <p:cNvSpPr>
            <a:spLocks noGrp="1"/>
          </p:cNvSpPr>
          <p:nvPr/>
        </p:nvSpPr>
        <p:spPr>
          <a:xfrm>
            <a:off x="8000000" y="4221920"/>
            <a:ext cx="1700000" cy="270000"/>
          </a:xfrm>
          <a:prstGeom prst="rect">
            <a:avLst/>
          </a:prstGeom>
          <a:noFill/>
          <a:ln w="0">
            <a:noFill/>
            <a:prstDash val="solid"/>
          </a:ln>
        </p:spPr>
        <p:txBody>
          <a:bodyPr wrap="square" lIns="0" tIns="0" rIns="0" bIns="0" anchor="t">
            <a:normAutofit fontScale="100000"/>
          </a:bodyPr>
          <a:lstStyle/>
          <a:p>
            <a:pPr algn="l">
              <a:lnSpc>
                <a:spcPct val="100000"/>
              </a:lnSpc>
              <a:buNone/>
            </a:pPr>
            <a:r>
              <a:rPr sz="800" b="0" i="0">
                <a:solidFill>
                  <a:srgbClr val="6A6F73"/>
                </a:solidFill>
                <a:latin typeface="Arial"/>
                <a:ea typeface="Arial"/>
                <a:cs typeface="Arial"/>
              </a:rPr>
              <a:t>Contractor solutions</a:t>
            </a:r>
          </a:p>
        </p:txBody>
      </p:sp>
      <p:sp>
        <p:nvSpPr>
          <p:cNvPr id="136" name=""/>
          <p:cNvSpPr>
            <a:spLocks noGrp="1"/>
          </p:cNvSpPr>
          <p:nvPr/>
        </p:nvSpPr>
        <p:spPr>
          <a:xfrm>
            <a:off x="9790000" y="4221920"/>
            <a:ext cx="1700000" cy="270000"/>
          </a:xfrm>
          <a:prstGeom prst="rect">
            <a:avLst/>
          </a:prstGeom>
          <a:noFill/>
          <a:ln w="0">
            <a:noFill/>
            <a:prstDash val="solid"/>
          </a:ln>
        </p:spPr>
        <p:txBody>
          <a:bodyPr wrap="square" lIns="0" tIns="0" rIns="0" bIns="0" anchor="t">
            <a:normAutofit fontScale="100000"/>
          </a:bodyPr>
          <a:lstStyle/>
          <a:p>
            <a:pPr algn="l">
              <a:lnSpc>
                <a:spcPct val="100000"/>
              </a:lnSpc>
              <a:buNone/>
            </a:pPr>
            <a:r>
              <a:rPr sz="800" b="0" i="0">
                <a:solidFill>
                  <a:srgbClr val="6A6F73"/>
                </a:solidFill>
                <a:latin typeface="Arial"/>
                <a:ea typeface="Arial"/>
                <a:cs typeface="Arial"/>
              </a:rPr>
              <a:t>Speed to Power services</a:t>
            </a:r>
          </a:p>
        </p:txBody>
      </p:sp>
      <p:sp>
        <p:nvSpPr>
          <p:cNvPr id="137" name=""/>
          <p:cNvSpPr>
            <a:spLocks noGrp="1"/>
          </p:cNvSpPr>
          <p:nvPr/>
        </p:nvSpPr>
        <p:spPr>
          <a:xfrm>
            <a:off x="8000000" y="4511920"/>
            <a:ext cx="1700000" cy="270000"/>
          </a:xfrm>
          <a:prstGeom prst="rect">
            <a:avLst/>
          </a:prstGeom>
          <a:noFill/>
          <a:ln w="0">
            <a:noFill/>
            <a:prstDash val="solid"/>
          </a:ln>
        </p:spPr>
        <p:txBody>
          <a:bodyPr wrap="square" lIns="0" tIns="0" rIns="0" bIns="0" anchor="t">
            <a:normAutofit fontScale="100000"/>
          </a:bodyPr>
          <a:lstStyle/>
          <a:p>
            <a:pPr algn="l">
              <a:lnSpc>
                <a:spcPct val="100000"/>
              </a:lnSpc>
              <a:buNone/>
            </a:pPr>
            <a:r>
              <a:rPr sz="800" b="0" i="0">
                <a:solidFill>
                  <a:srgbClr val="6A6F73"/>
                </a:solidFill>
                <a:latin typeface="Arial"/>
                <a:ea typeface="Arial"/>
                <a:cs typeface="Arial"/>
              </a:rPr>
              <a:t>Project services</a:t>
            </a:r>
          </a:p>
        </p:txBody>
      </p:sp>
      <p:sp>
        <p:nvSpPr>
          <p:cNvPr id="138" name=""/>
          <p:cNvSpPr>
            <a:spLocks noGrp="1"/>
          </p:cNvSpPr>
          <p:nvPr/>
        </p:nvSpPr>
        <p:spPr>
          <a:xfrm>
            <a:off x="9790000" y="4511920"/>
            <a:ext cx="1700000" cy="270000"/>
          </a:xfrm>
          <a:prstGeom prst="rect">
            <a:avLst/>
          </a:prstGeom>
          <a:noFill/>
          <a:ln w="0">
            <a:noFill/>
            <a:prstDash val="solid"/>
          </a:ln>
        </p:spPr>
        <p:txBody>
          <a:bodyPr wrap="square" lIns="0" tIns="0" rIns="0" bIns="0" anchor="t">
            <a:normAutofit fontScale="100000"/>
          </a:bodyPr>
          <a:lstStyle/>
          <a:p>
            <a:pPr algn="l">
              <a:lnSpc>
                <a:spcPct val="100000"/>
              </a:lnSpc>
              <a:buNone/>
            </a:pPr>
            <a:r>
              <a:rPr sz="800" b="0" i="0">
                <a:solidFill>
                  <a:srgbClr val="6A6F73"/>
                </a:solidFill>
                <a:latin typeface="Arial"/>
                <a:ea typeface="Arial"/>
                <a:cs typeface="Arial"/>
              </a:rPr>
              <a:t>Storm activation team</a:t>
            </a:r>
          </a:p>
        </p:txBody>
      </p:sp>
      <p:sp>
        <p:nvSpPr>
          <p:cNvPr id="139" name=""/>
          <p:cNvSpPr>
            <a:spLocks noGrp="1"/>
          </p:cNvSpPr>
          <p:nvPr/>
        </p:nvSpPr>
        <p:spPr>
          <a:xfrm>
            <a:off x="8000000" y="4801920"/>
            <a:ext cx="1700000" cy="270000"/>
          </a:xfrm>
          <a:prstGeom prst="rect">
            <a:avLst/>
          </a:prstGeom>
          <a:noFill/>
          <a:ln w="0">
            <a:noFill/>
            <a:prstDash val="solid"/>
          </a:ln>
        </p:spPr>
        <p:txBody>
          <a:bodyPr wrap="square" lIns="0" tIns="0" rIns="0" bIns="0" anchor="t">
            <a:normAutofit fontScale="100000"/>
          </a:bodyPr>
          <a:lstStyle/>
          <a:p>
            <a:pPr algn="l">
              <a:lnSpc>
                <a:spcPct val="100000"/>
              </a:lnSpc>
              <a:buNone/>
            </a:pPr>
            <a:r>
              <a:rPr sz="800" b="0" i="0">
                <a:solidFill>
                  <a:srgbClr val="6A6F73"/>
                </a:solidFill>
                <a:latin typeface="Arial"/>
                <a:ea typeface="Arial"/>
                <a:cs typeface="Arial"/>
              </a:rPr>
              <a:t>Field assessment services</a:t>
            </a:r>
          </a:p>
        </p:txBody>
      </p:sp>
      <p:sp>
        <p:nvSpPr>
          <p:cNvPr id="140" name=""/>
          <p:cNvSpPr>
            <a:spLocks noGrp="1"/>
          </p:cNvSpPr>
          <p:nvPr/>
        </p:nvSpPr>
        <p:spPr>
          <a:xfrm>
            <a:off x="9790000" y="4801920"/>
            <a:ext cx="1700000" cy="270000"/>
          </a:xfrm>
          <a:prstGeom prst="rect">
            <a:avLst/>
          </a:prstGeom>
          <a:noFill/>
          <a:ln w="0">
            <a:noFill/>
            <a:prstDash val="solid"/>
          </a:ln>
        </p:spPr>
        <p:txBody>
          <a:bodyPr wrap="square" lIns="0" tIns="0" rIns="0" bIns="0" anchor="t">
            <a:normAutofit fontScale="100000"/>
          </a:bodyPr>
          <a:lstStyle/>
          <a:p>
            <a:pPr algn="l">
              <a:lnSpc>
                <a:spcPct val="100000"/>
              </a:lnSpc>
              <a:buNone/>
            </a:pPr>
            <a:r>
              <a:rPr sz="800" b="0" i="0">
                <a:solidFill>
                  <a:srgbClr val="6A6F73"/>
                </a:solidFill>
                <a:latin typeface="Arial"/>
                <a:ea typeface="Arial"/>
                <a:cs typeface="Arial"/>
              </a:rPr>
              <a:t>Reel tracking system</a:t>
            </a:r>
          </a:p>
        </p:txBody>
      </p:sp>
      <p:sp>
        <p:nvSpPr>
          <p:cNvPr id="141" name=""/>
          <p:cNvSpPr>
            <a:spLocks noGrp="1"/>
          </p:cNvSpPr>
          <p:nvPr/>
        </p:nvSpPr>
        <p:spPr>
          <a:xfrm>
            <a:off x="8000000" y="5091920"/>
            <a:ext cx="1700000" cy="270000"/>
          </a:xfrm>
          <a:prstGeom prst="rect">
            <a:avLst/>
          </a:prstGeom>
          <a:noFill/>
          <a:ln w="0">
            <a:noFill/>
            <a:prstDash val="solid"/>
          </a:ln>
        </p:spPr>
        <p:txBody>
          <a:bodyPr wrap="square" lIns="0" tIns="0" rIns="0" bIns="0" anchor="t">
            <a:normAutofit fontScale="100000"/>
          </a:bodyPr>
          <a:lstStyle/>
          <a:p>
            <a:pPr algn="l">
              <a:lnSpc>
                <a:spcPct val="100000"/>
              </a:lnSpc>
              <a:buNone/>
            </a:pPr>
            <a:r>
              <a:rPr sz="800" b="0" i="0">
                <a:solidFill>
                  <a:srgbClr val="6A6F73"/>
                </a:solidFill>
                <a:latin typeface="Arial"/>
                <a:ea typeface="Arial"/>
                <a:cs typeface="Arial"/>
              </a:rPr>
              <a:t>CableTechSupport™</a:t>
            </a:r>
          </a:p>
        </p:txBody>
      </p:sp>
      <p:sp>
        <p:nvSpPr>
          <p:cNvPr id="142" name=""/>
          <p:cNvSpPr>
            <a:spLocks noGrp="1"/>
          </p:cNvSpPr>
          <p:nvPr/>
        </p:nvSpPr>
        <p:spPr>
          <a:xfrm>
            <a:off x="9790000" y="5091920"/>
            <a:ext cx="1700000" cy="270000"/>
          </a:xfrm>
          <a:prstGeom prst="rect">
            <a:avLst/>
          </a:prstGeom>
          <a:noFill/>
          <a:ln w="0">
            <a:noFill/>
            <a:prstDash val="solid"/>
          </a:ln>
        </p:spPr>
        <p:txBody>
          <a:bodyPr wrap="square" lIns="0" tIns="0" rIns="0" bIns="0" anchor="t">
            <a:normAutofit fontScale="100000"/>
          </a:bodyPr>
          <a:lstStyle/>
          <a:p>
            <a:pPr algn="l">
              <a:lnSpc>
                <a:spcPct val="100000"/>
              </a:lnSpc>
              <a:buNone/>
            </a:pPr>
            <a:r>
              <a:rPr sz="800" b="0" i="0">
                <a:solidFill>
                  <a:srgbClr val="6A6F73"/>
                </a:solidFill>
                <a:latin typeface="Arial"/>
                <a:ea typeface="Arial"/>
                <a:cs typeface="Arial"/>
              </a:rPr>
              <a:t>Solutions University</a:t>
            </a:r>
          </a:p>
        </p:txBody>
      </p:sp>
      <p:sp>
        <p:nvSpPr>
          <p:cNvPr id="143" name=""/>
          <p:cNvSpPr>
            <a:spLocks noGrp="1"/>
          </p:cNvSpPr>
          <p:nvPr/>
        </p:nvSpPr>
        <p:spPr>
          <a:xfrm>
            <a:off x="8000000" y="5381920"/>
            <a:ext cx="1700000" cy="270000"/>
          </a:xfrm>
          <a:prstGeom prst="rect">
            <a:avLst/>
          </a:prstGeom>
          <a:noFill/>
          <a:ln w="0">
            <a:noFill/>
            <a:prstDash val="solid"/>
          </a:ln>
        </p:spPr>
        <p:txBody>
          <a:bodyPr wrap="square" lIns="0" tIns="0" rIns="0" bIns="0" anchor="t">
            <a:normAutofit fontScale="100000"/>
          </a:bodyPr>
          <a:lstStyle/>
          <a:p>
            <a:pPr algn="l">
              <a:lnSpc>
                <a:spcPct val="100000"/>
              </a:lnSpc>
              <a:buNone/>
            </a:pPr>
            <a:r>
              <a:rPr sz="800" b="0" i="0">
                <a:solidFill>
                  <a:srgbClr val="6A6F73"/>
                </a:solidFill>
                <a:latin typeface="Arial"/>
                <a:ea typeface="Arial"/>
                <a:cs typeface="Arial"/>
              </a:rPr>
              <a:t>Utility services</a:t>
            </a:r>
          </a:p>
        </p:txBody>
      </p:sp>
      <p:sp>
        <p:nvSpPr>
          <p:cNvPr id="144" name=""/>
          <p:cNvSpPr>
            <a:spLocks noGrp="1"/>
          </p:cNvSpPr>
          <p:nvPr/>
        </p:nvSpPr>
        <p:spPr>
          <a:xfrm>
            <a:off x="9790000" y="5381920"/>
            <a:ext cx="1700000" cy="270000"/>
          </a:xfrm>
          <a:prstGeom prst="rect">
            <a:avLst/>
          </a:prstGeom>
          <a:noFill/>
          <a:ln w="0">
            <a:noFill/>
            <a:prstDash val="solid"/>
          </a:ln>
        </p:spPr>
        <p:txBody>
          <a:bodyPr wrap="square" lIns="0" tIns="0" rIns="0" bIns="0" anchor="t">
            <a:normAutofit fontScale="100000"/>
          </a:bodyPr>
          <a:lstStyle/>
          <a:p>
            <a:pPr algn="l">
              <a:lnSpc>
                <a:spcPct val="100000"/>
              </a:lnSpc>
              <a:buNone/>
            </a:pPr>
            <a:r>
              <a:rPr sz="800" b="0" i="0">
                <a:solidFill>
                  <a:srgbClr val="6A6F73"/>
                </a:solidFill>
                <a:latin typeface="Arial"/>
                <a:ea typeface="Arial"/>
                <a:cs typeface="Arial"/>
              </a:rPr>
              <a:t>Grid resiliency assessments</a:t>
            </a:r>
          </a:p>
        </p:txBody>
      </p:sp>
      <p:sp>
        <p:nvSpPr>
          <p:cNvPr id="145" name=""/>
          <p:cNvSpPr>
            <a:spLocks noGrp="1"/>
          </p:cNvSpPr>
          <p:nvPr/>
        </p:nvSpPr>
        <p:spPr>
          <a:xfrm>
            <a:off x="719138" y="5980000"/>
            <a:ext cx="10753724" cy="240000"/>
          </a:xfrm>
          <a:prstGeom prst="rect">
            <a:avLst/>
          </a:prstGeom>
          <a:noFill/>
          <a:ln w="0">
            <a:noFill/>
            <a:prstDash val="solid"/>
          </a:ln>
        </p:spPr>
        <p:txBody>
          <a:bodyPr wrap="square" lIns="0" tIns="0" rIns="0" bIns="0" anchor="t">
            <a:normAutofit fontScale="100000"/>
          </a:bodyPr>
          <a:lstStyle/>
          <a:p>
            <a:pPr algn="l">
              <a:lnSpc>
                <a:spcPct val="100000"/>
              </a:lnSpc>
              <a:buNone/>
            </a:pPr>
            <a:r>
              <a:rPr sz="750" b="1" i="0">
                <a:solidFill>
                  <a:srgbClr val="9D4E24"/>
                </a:solidFill>
                <a:latin typeface="Arial"/>
                <a:ea typeface="Arial"/>
                <a:cs typeface="Arial"/>
              </a:rPr>
              <a:t>INDEPENDENT COVERAGE — FORBES, JUL 5, 2026:   </a:t>
            </a:r>
            <a:r>
              <a:rPr sz="820" b="1" i="1">
                <a:solidFill>
                  <a:srgbClr val="17191C"/>
                </a:solidFill>
                <a:latin typeface="Arial"/>
                <a:ea typeface="Arial"/>
                <a:cs typeface="Arial"/>
              </a:rPr>
              <a:t>“AI Data Centers Are Set To Electrify This $13 Billion Family’s 76-Year-Old Company”</a:t>
            </a:r>
          </a:p>
        </p:txBody>
      </p:sp>
      <p:sp>
        <p:nvSpPr>
          <p:cNvPr id="146" name=""/>
          <p:cNvSpPr>
            <a:spLocks noGrp="1"/>
          </p:cNvSpPr>
          <p:nvPr/>
        </p:nvSpPr>
        <p:spPr>
          <a:xfrm>
            <a:off x="719138" y="6260000"/>
            <a:ext cx="10753724" cy="520000"/>
          </a:xfrm>
          <a:prstGeom prst="rect">
            <a:avLst/>
          </a:prstGeom>
          <a:solidFill>
            <a:srgbClr val="17191C"/>
          </a:solidFill>
          <a:ln w="0">
            <a:noFill/>
            <a:prstDash val="solid"/>
          </a:ln>
        </p:spPr>
      </p:sp>
      <p:sp>
        <p:nvSpPr>
          <p:cNvPr id="147" name=""/>
          <p:cNvSpPr>
            <a:spLocks noGrp="1"/>
          </p:cNvSpPr>
          <p:nvPr/>
        </p:nvSpPr>
        <p:spPr>
          <a:xfrm>
            <a:off x="833438" y="6320000"/>
            <a:ext cx="3363908" cy="180000"/>
          </a:xfrm>
          <a:prstGeom prst="rect">
            <a:avLst/>
          </a:prstGeom>
          <a:noFill/>
          <a:ln w="0">
            <a:noFill/>
            <a:prstDash val="solid"/>
          </a:ln>
        </p:spPr>
        <p:txBody>
          <a:bodyPr wrap="square" lIns="0" tIns="0" rIns="0" bIns="0" anchor="t">
            <a:normAutofit fontScale="100000"/>
          </a:bodyPr>
          <a:lstStyle/>
          <a:p>
            <a:pPr algn="l">
              <a:lnSpc>
                <a:spcPct val="100000"/>
              </a:lnSpc>
              <a:buNone/>
            </a:pPr>
            <a:r>
              <a:rPr sz="650" b="1" i="0">
                <a:solidFill>
                  <a:srgbClr val="C9783E"/>
                </a:solidFill>
                <a:latin typeface="Arial"/>
                <a:ea typeface="Arial"/>
                <a:cs typeface="Arial"/>
              </a:rPr>
              <a:t>COPPER TECHNOLOGY</a:t>
            </a:r>
          </a:p>
        </p:txBody>
      </p:sp>
      <p:sp>
        <p:nvSpPr>
          <p:cNvPr id="148" name=""/>
          <p:cNvSpPr>
            <a:spLocks noGrp="1"/>
          </p:cNvSpPr>
          <p:nvPr/>
        </p:nvSpPr>
        <p:spPr>
          <a:xfrm>
            <a:off x="833438" y="6500000"/>
            <a:ext cx="3363908" cy="260000"/>
          </a:xfrm>
          <a:prstGeom prst="rect">
            <a:avLst/>
          </a:prstGeom>
          <a:noFill/>
          <a:ln w="0">
            <a:noFill/>
            <a:prstDash val="solid"/>
          </a:ln>
        </p:spPr>
        <p:txBody>
          <a:bodyPr wrap="square" lIns="0" tIns="0" rIns="0" bIns="0" anchor="t">
            <a:normAutofit fontScale="100000"/>
          </a:bodyPr>
          <a:lstStyle/>
          <a:p>
            <a:pPr algn="l">
              <a:lnSpc>
                <a:spcPct val="102000"/>
              </a:lnSpc>
              <a:buNone/>
            </a:pPr>
            <a:r>
              <a:rPr sz="780" b="1" i="0">
                <a:solidFill>
                  <a:srgbClr val="FFFFFF"/>
                </a:solidFill>
                <a:latin typeface="Arial"/>
                <a:ea typeface="Arial"/>
                <a:cs typeface="Arial"/>
              </a:rPr>
              <a:t>Half of the world's copper rod passes through a Southwire SCR® system.</a:t>
            </a:r>
          </a:p>
        </p:txBody>
      </p:sp>
      <p:sp>
        <p:nvSpPr>
          <p:cNvPr id="149" name=""/>
          <p:cNvSpPr>
            <a:spLocks noGrp="1"/>
          </p:cNvSpPr>
          <p:nvPr/>
        </p:nvSpPr>
        <p:spPr>
          <a:xfrm>
            <a:off x="4311646" y="6320000"/>
            <a:ext cx="3363908" cy="180000"/>
          </a:xfrm>
          <a:prstGeom prst="rect">
            <a:avLst/>
          </a:prstGeom>
          <a:noFill/>
          <a:ln w="0">
            <a:noFill/>
            <a:prstDash val="solid"/>
          </a:ln>
        </p:spPr>
        <p:txBody>
          <a:bodyPr wrap="square" lIns="0" tIns="0" rIns="0" bIns="0" anchor="t">
            <a:normAutofit fontScale="100000"/>
          </a:bodyPr>
          <a:lstStyle/>
          <a:p>
            <a:pPr algn="l">
              <a:lnSpc>
                <a:spcPct val="100000"/>
              </a:lnSpc>
              <a:buNone/>
            </a:pPr>
            <a:r>
              <a:rPr sz="650" b="1" i="0">
                <a:solidFill>
                  <a:srgbClr val="C9783E"/>
                </a:solidFill>
                <a:latin typeface="Arial"/>
                <a:ea typeface="Arial"/>
                <a:cs typeface="Arial"/>
              </a:rPr>
              <a:t>U.S. POWER GRID</a:t>
            </a:r>
          </a:p>
        </p:txBody>
      </p:sp>
      <p:sp>
        <p:nvSpPr>
          <p:cNvPr id="150" name=""/>
          <p:cNvSpPr>
            <a:spLocks noGrp="1"/>
          </p:cNvSpPr>
          <p:nvPr/>
        </p:nvSpPr>
        <p:spPr>
          <a:xfrm>
            <a:off x="4311646" y="6500000"/>
            <a:ext cx="3363908" cy="260000"/>
          </a:xfrm>
          <a:prstGeom prst="rect">
            <a:avLst/>
          </a:prstGeom>
          <a:noFill/>
          <a:ln w="0">
            <a:noFill/>
            <a:prstDash val="solid"/>
          </a:ln>
        </p:spPr>
        <p:txBody>
          <a:bodyPr wrap="square" lIns="0" tIns="0" rIns="0" bIns="0" anchor="t">
            <a:normAutofit fontScale="100000"/>
          </a:bodyPr>
          <a:lstStyle/>
          <a:p>
            <a:pPr algn="l">
              <a:lnSpc>
                <a:spcPct val="102000"/>
              </a:lnSpc>
              <a:buNone/>
            </a:pPr>
            <a:r>
              <a:rPr sz="780" b="1" i="0">
                <a:solidFill>
                  <a:srgbClr val="FFFFFF"/>
                </a:solidFill>
                <a:latin typeface="Arial"/>
                <a:ea typeface="Arial"/>
                <a:cs typeface="Arial"/>
              </a:rPr>
              <a:t>We produce half of the wire and cable that moves U.S. electricity.</a:t>
            </a:r>
          </a:p>
        </p:txBody>
      </p:sp>
      <p:sp>
        <p:nvSpPr>
          <p:cNvPr id="151" name=""/>
          <p:cNvSpPr>
            <a:spLocks noGrp="1"/>
          </p:cNvSpPr>
          <p:nvPr/>
        </p:nvSpPr>
        <p:spPr>
          <a:xfrm>
            <a:off x="7789854" y="6320000"/>
            <a:ext cx="3363908" cy="180000"/>
          </a:xfrm>
          <a:prstGeom prst="rect">
            <a:avLst/>
          </a:prstGeom>
          <a:noFill/>
          <a:ln w="0">
            <a:noFill/>
            <a:prstDash val="solid"/>
          </a:ln>
        </p:spPr>
        <p:txBody>
          <a:bodyPr wrap="square" lIns="0" tIns="0" rIns="0" bIns="0" anchor="t">
            <a:normAutofit fontScale="100000"/>
          </a:bodyPr>
          <a:lstStyle/>
          <a:p>
            <a:pPr algn="l">
              <a:lnSpc>
                <a:spcPct val="100000"/>
              </a:lnSpc>
              <a:buNone/>
            </a:pPr>
            <a:r>
              <a:rPr sz="650" b="1" i="0">
                <a:solidFill>
                  <a:srgbClr val="C9783E"/>
                </a:solidFill>
                <a:latin typeface="Arial"/>
                <a:ea typeface="Arial"/>
                <a:cs typeface="Arial"/>
              </a:rPr>
              <a:t>AMERICAN HOMES</a:t>
            </a:r>
          </a:p>
        </p:txBody>
      </p:sp>
      <p:sp>
        <p:nvSpPr>
          <p:cNvPr id="152" name=""/>
          <p:cNvSpPr>
            <a:spLocks noGrp="1"/>
          </p:cNvSpPr>
          <p:nvPr/>
        </p:nvSpPr>
        <p:spPr>
          <a:xfrm>
            <a:off x="7789854" y="6500000"/>
            <a:ext cx="3363908" cy="260000"/>
          </a:xfrm>
          <a:prstGeom prst="rect">
            <a:avLst/>
          </a:prstGeom>
          <a:noFill/>
          <a:ln w="0">
            <a:noFill/>
            <a:prstDash val="solid"/>
          </a:ln>
        </p:spPr>
        <p:txBody>
          <a:bodyPr wrap="square" lIns="0" tIns="0" rIns="0" bIns="0" anchor="t">
            <a:normAutofit fontScale="100000"/>
          </a:bodyPr>
          <a:lstStyle/>
          <a:p>
            <a:pPr algn="l">
              <a:lnSpc>
                <a:spcPct val="102000"/>
              </a:lnSpc>
              <a:buNone/>
            </a:pPr>
            <a:r>
              <a:rPr sz="780" b="1" i="0">
                <a:solidFill>
                  <a:srgbClr val="FFFFFF"/>
                </a:solidFill>
                <a:latin typeface="Arial"/>
                <a:ea typeface="Arial"/>
                <a:cs typeface="Arial"/>
              </a:rPr>
              <a:t>Half of American homes contain wiring produced by Southwire.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oboto Condense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Condense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Southwire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Protecting Time to Power - Combined Rev14</dc:title>
  <dc:subject>NRG executive working discussion - combined Rev13 narrative and Rev10 evidence</dc:subject>
  <dc:creator>Stephan Hardt | Southwire</dc:creator>
  <cp:lastModifiedBy>Stephan Hardt | Southwire</cp:lastModifiedBy>
  <cp:revision>1</cp:revision>
  <dcterms:created xsi:type="dcterms:W3CDTF">2026-08-14T01:31:56Z</dcterms:created>
  <dcterms:modified xsi:type="dcterms:W3CDTF">2026-08-14T01:31:56Z</dcterms:modified>
</cp:coreProperties>
</file>