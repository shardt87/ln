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B57"/>
        </a:solidFill>
      </p:bgPr>
    </p:bg>
    <p:spTree>
      <p:nvGrpSpPr>
        <p:cNvPr id="1" name=""/>
        <p:cNvGrpSpPr/>
        <p:nvPr/>
      </p:nvGrpSpPr>
      <p:grpSpPr>
        <a:xfrm>
          <a:off x="0" y="0"/>
          <a:ext cx="0" cy="0"/>
          <a:chOff x="0" y="0"/>
          <a:chExt cx="0" cy="0"/>
        </a:xfrm>
      </p:grpSpPr>
      <p:sp>
        <p:nvSpPr>
          <p:cNvPr id="2" name="Text 0"/>
          <p:cNvSpPr/>
          <p:nvPr/>
        </p:nvSpPr>
        <p:spPr>
          <a:xfrm>
            <a:off x="502920" y="1371600"/>
            <a:ext cx="11183112" cy="320040"/>
          </a:xfrm>
          <a:prstGeom prst="rect">
            <a:avLst/>
          </a:prstGeom>
          <a:noFill/>
          <a:ln/>
        </p:spPr>
        <p:txBody>
          <a:bodyPr wrap="square" lIns="0" tIns="0" rIns="0" bIns="0" rtlCol="0" anchor="ctr"/>
          <a:lstStyle/>
          <a:p>
            <a:pPr indent="0" marL="0">
              <a:buNone/>
            </a:pPr>
            <a:r>
              <a:rPr lang="en-US" sz="1300" b="1" spc="300" kern="0" dirty="0">
                <a:solidFill>
                  <a:srgbClr val="9FB8CE"/>
                </a:solidFill>
                <a:latin typeface="Calibri" pitchFamily="34" charset="0"/>
                <a:ea typeface="Calibri" pitchFamily="34" charset="-122"/>
                <a:cs typeface="Calibri" pitchFamily="34" charset="-120"/>
              </a:rPr>
              <a:t>SOUTHWIRE | ENTERPRISE STRATEGY</a:t>
            </a:r>
            <a:endParaRPr lang="en-US" sz="1300" dirty="0"/>
          </a:p>
        </p:txBody>
      </p:sp>
      <p:sp>
        <p:nvSpPr>
          <p:cNvPr id="3" name="Text 1"/>
          <p:cNvSpPr/>
          <p:nvPr/>
        </p:nvSpPr>
        <p:spPr>
          <a:xfrm>
            <a:off x="502920" y="1828800"/>
            <a:ext cx="11183112" cy="77724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Enterprise Power Generation</a:t>
            </a:r>
            <a:endParaRPr lang="en-US" sz="4400" dirty="0"/>
          </a:p>
        </p:txBody>
      </p:sp>
      <p:sp>
        <p:nvSpPr>
          <p:cNvPr id="4" name="Text 2"/>
          <p:cNvSpPr/>
          <p:nvPr/>
        </p:nvSpPr>
        <p:spPr>
          <a:xfrm>
            <a:off x="502920" y="2651760"/>
            <a:ext cx="11183112" cy="45720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Version 0 decision pack and pre-read for the August 20 working session</a:t>
            </a:r>
            <a:endParaRPr lang="en-US" sz="2000" dirty="0"/>
          </a:p>
        </p:txBody>
      </p:sp>
      <p:sp>
        <p:nvSpPr>
          <p:cNvPr id="5" name="Text 3"/>
          <p:cNvSpPr/>
          <p:nvPr/>
        </p:nvSpPr>
        <p:spPr>
          <a:xfrm>
            <a:off x="502920" y="3703320"/>
            <a:ext cx="8686800" cy="1463040"/>
          </a:xfrm>
          <a:prstGeom prst="rect">
            <a:avLst/>
          </a:prstGeom>
          <a:noFill/>
          <a:ln/>
        </p:spPr>
        <p:txBody>
          <a:bodyPr wrap="square" lIns="0" tIns="0" rIns="0" bIns="0" rtlCol="0" anchor="ctr"/>
          <a:lstStyle/>
          <a:p>
            <a:pPr indent="0" marL="0">
              <a:lnSpc>
                <a:spcPts val="2200"/>
              </a:lnSpc>
              <a:buNone/>
            </a:pPr>
            <a:r>
              <a:rPr lang="en-US" sz="1300" dirty="0">
                <a:solidFill>
                  <a:srgbClr val="9FB8CE"/>
                </a:solidFill>
                <a:latin typeface="Calibri" pitchFamily="34" charset="0"/>
                <a:ea typeface="Calibri" pitchFamily="34" charset="-122"/>
                <a:cs typeface="Calibri" pitchFamily="34" charset="-120"/>
              </a:rPr>
              <a:t>Decision session:  </a:t>
            </a:r>
            <a:pPr indent="0" marL="0">
              <a:lnSpc>
                <a:spcPts val="2200"/>
              </a:lnSpc>
              <a:buNone/>
            </a:pPr>
            <a:r>
              <a:rPr lang="en-US" sz="1300" dirty="0">
                <a:solidFill>
                  <a:srgbClr val="FFFFFF"/>
                </a:solidFill>
                <a:latin typeface="Calibri" pitchFamily="34" charset="0"/>
                <a:ea typeface="Calibri" pitchFamily="34" charset="-122"/>
                <a:cs typeface="Calibri" pitchFamily="34" charset="-120"/>
              </a:rPr>
              <a:t>Thursday, August 20, 2026, 9:00 a.m. to 1:00 p.m.
</a:t>
            </a:r>
            <a:pPr indent="0" marL="0">
              <a:lnSpc>
                <a:spcPts val="2200"/>
              </a:lnSpc>
              <a:buNone/>
            </a:pPr>
            <a:r>
              <a:rPr lang="en-US" sz="1300" dirty="0">
                <a:solidFill>
                  <a:srgbClr val="9FB8CE"/>
                </a:solidFill>
                <a:latin typeface="Calibri" pitchFamily="34" charset="0"/>
                <a:ea typeface="Calibri" pitchFamily="34" charset="-122"/>
                <a:cs typeface="Calibri" pitchFamily="34" charset="-120"/>
              </a:rPr>
              <a:t>Participants:  </a:t>
            </a:r>
            <a:pPr indent="0" marL="0">
              <a:lnSpc>
                <a:spcPts val="2200"/>
              </a:lnSpc>
              <a:buNone/>
            </a:pPr>
            <a:r>
              <a:rPr lang="en-US" sz="1300" dirty="0">
                <a:solidFill>
                  <a:srgbClr val="FFFFFF"/>
                </a:solidFill>
                <a:latin typeface="Calibri" pitchFamily="34" charset="0"/>
                <a:ea typeface="Calibri" pitchFamily="34" charset="-122"/>
                <a:cs typeface="Calibri" pitchFamily="34" charset="-120"/>
              </a:rPr>
              <a:t>Marc Hall (sponsor) and Stephan Hardt
</a:t>
            </a:r>
            <a:pPr indent="0" marL="0">
              <a:lnSpc>
                <a:spcPts val="2200"/>
              </a:lnSpc>
              <a:buNone/>
            </a:pPr>
            <a:r>
              <a:rPr lang="en-US" sz="1300" dirty="0">
                <a:solidFill>
                  <a:srgbClr val="9FB8CE"/>
                </a:solidFill>
                <a:latin typeface="Calibri" pitchFamily="34" charset="0"/>
                <a:ea typeface="Calibri" pitchFamily="34" charset="-122"/>
                <a:cs typeface="Calibri" pitchFamily="34" charset="-120"/>
              </a:rPr>
              <a:t>Governance:  </a:t>
            </a:r>
            <a:pPr indent="0" marL="0">
              <a:lnSpc>
                <a:spcPts val="2200"/>
              </a:lnSpc>
              <a:buNone/>
            </a:pPr>
            <a:r>
              <a:rPr lang="en-US" sz="1300" dirty="0">
                <a:solidFill>
                  <a:srgbClr val="FFFFFF"/>
                </a:solidFill>
                <a:latin typeface="Calibri" pitchFamily="34" charset="0"/>
                <a:ea typeface="Calibri" pitchFamily="34" charset="-122"/>
                <a:cs typeface="Calibri" pitchFamily="34" charset="-120"/>
              </a:rPr>
              <a:t>Amber ratifies, modifies, or stops the pilot at the September checkpoint
</a:t>
            </a:r>
            <a:pPr indent="0" marL="0">
              <a:lnSpc>
                <a:spcPts val="2200"/>
              </a:lnSpc>
              <a:buNone/>
            </a:pPr>
            <a:r>
              <a:rPr lang="en-US" sz="1300" dirty="0">
                <a:solidFill>
                  <a:srgbClr val="9FB8CE"/>
                </a:solidFill>
                <a:latin typeface="Calibri" pitchFamily="34" charset="0"/>
                <a:ea typeface="Calibri" pitchFamily="34" charset="-122"/>
                <a:cs typeface="Calibri" pitchFamily="34" charset="-120"/>
              </a:rPr>
              <a:t>Evidence base:  </a:t>
            </a:r>
            <a:pPr indent="0" marL="0">
              <a:lnSpc>
                <a:spcPts val="2200"/>
              </a:lnSpc>
              <a:buNone/>
            </a:pPr>
            <a:r>
              <a:rPr lang="en-US" sz="1300" dirty="0">
                <a:solidFill>
                  <a:srgbClr val="FFFFFF"/>
                </a:solidFill>
                <a:latin typeface="Calibri" pitchFamily="34" charset="0"/>
                <a:ea typeface="Calibri" pitchFamily="34" charset="-122"/>
                <a:cs typeface="Calibri" pitchFamily="34" charset="-120"/>
              </a:rPr>
              <a:t>Twelve-source inventory S01 to S12; unreconciled figures labeled directional</a:t>
            </a:r>
            <a:endParaRPr lang="en-US" sz="1300" dirty="0"/>
          </a:p>
        </p:txBody>
      </p:sp>
      <p:sp>
        <p:nvSpPr>
          <p:cNvPr id="6" name="Text 4"/>
          <p:cNvSpPr/>
          <p:nvPr/>
        </p:nvSpPr>
        <p:spPr>
          <a:xfrm>
            <a:off x="502920" y="6263640"/>
            <a:ext cx="11183112" cy="274320"/>
          </a:xfrm>
          <a:prstGeom prst="rect">
            <a:avLst/>
          </a:prstGeom>
          <a:noFill/>
          <a:ln/>
        </p:spPr>
        <p:txBody>
          <a:bodyPr wrap="square" lIns="0" tIns="0" rIns="0" bIns="0" rtlCol="0" anchor="ctr"/>
          <a:lstStyle/>
          <a:p>
            <a:pPr indent="0" marL="0">
              <a:buNone/>
            </a:pPr>
            <a:r>
              <a:rPr lang="en-US" sz="900" b="1" spc="150" kern="0" dirty="0">
                <a:solidFill>
                  <a:srgbClr val="9FB8CE"/>
                </a:solidFill>
                <a:latin typeface="Calibri" pitchFamily="34" charset="0"/>
                <a:ea typeface="Calibri" pitchFamily="34" charset="-122"/>
                <a:cs typeface="Calibri" pitchFamily="34" charset="-120"/>
              </a:rPr>
              <a:t>INTERNAL WORKING DRAFT | NOT AN APPROVED MANDATE | CONTAINS DIRECTIONAL FIGURES FROZEN FROM EXTERNAL USE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3112" cy="256032"/>
          </a:xfrm>
          <a:prstGeom prst="rect">
            <a:avLst/>
          </a:prstGeom>
          <a:noFill/>
          <a:ln/>
        </p:spPr>
        <p:txBody>
          <a:bodyPr wrap="square" lIns="0" tIns="0" rIns="0" bIns="0" rtlCol="0" anchor="ctr"/>
          <a:lstStyle/>
          <a:p>
            <a:pPr indent="0" marL="0">
              <a:buNone/>
            </a:pPr>
            <a:r>
              <a:rPr lang="en-US" sz="1100" b="1" spc="200" kern="0" dirty="0">
                <a:solidFill>
                  <a:srgbClr val="0F6E84"/>
                </a:solidFill>
                <a:latin typeface="Calibri" pitchFamily="34" charset="0"/>
                <a:ea typeface="Calibri" pitchFamily="34" charset="-122"/>
                <a:cs typeface="Calibri" pitchFamily="34" charset="-120"/>
              </a:rPr>
              <a:t>EXECUTIVE SUMMARY</a:t>
            </a:r>
            <a:endParaRPr lang="en-US" sz="1100" dirty="0"/>
          </a:p>
        </p:txBody>
      </p:sp>
      <p:sp>
        <p:nvSpPr>
          <p:cNvPr id="3" name="Text 1"/>
          <p:cNvSpPr/>
          <p:nvPr/>
        </p:nvSpPr>
        <p:spPr>
          <a:xfrm>
            <a:off x="502920" y="530352"/>
            <a:ext cx="11183112" cy="777240"/>
          </a:xfrm>
          <a:prstGeom prst="rect">
            <a:avLst/>
          </a:prstGeom>
          <a:noFill/>
          <a:ln/>
        </p:spPr>
        <p:txBody>
          <a:bodyPr wrap="square" lIns="0" tIns="0" rIns="0" bIns="0" rtlCol="0" anchor="t"/>
          <a:lstStyle/>
          <a:p>
            <a:pPr indent="0" marL="0">
              <a:buNone/>
            </a:pPr>
            <a:r>
              <a:rPr lang="en-US" sz="2100" b="1" dirty="0">
                <a:solidFill>
                  <a:srgbClr val="1F3B57"/>
                </a:solidFill>
                <a:latin typeface="Calibri" pitchFamily="34" charset="0"/>
                <a:ea typeface="Calibri" pitchFamily="34" charset="-122"/>
                <a:cs typeface="Calibri" pitchFamily="34" charset="-120"/>
              </a:rPr>
              <a:t>The opportunity is real enough to organize and not yet proven enough to reorganize: launch a 90-day federated pilot</a:t>
            </a:r>
            <a:endParaRPr lang="en-US" sz="2100" dirty="0"/>
          </a:p>
        </p:txBody>
      </p:sp>
      <p:sp>
        <p:nvSpPr>
          <p:cNvPr id="4" name="Text 2"/>
          <p:cNvSpPr/>
          <p:nvPr/>
        </p:nvSpPr>
        <p:spPr>
          <a:xfrm>
            <a:off x="502920" y="6473952"/>
            <a:ext cx="10085832" cy="274320"/>
          </a:xfrm>
          <a:prstGeom prst="rect">
            <a:avLst/>
          </a:prstGeom>
          <a:noFill/>
          <a:ln/>
        </p:spPr>
        <p:txBody>
          <a:bodyPr wrap="square" lIns="0" tIns="0" rIns="0" bIns="0" rtlCol="0" anchor="ctr"/>
          <a:lstStyle/>
          <a:p>
            <a:pPr indent="0" marL="0">
              <a:buNone/>
            </a:pPr>
            <a:r>
              <a:rPr lang="en-US" sz="850" dirty="0">
                <a:solidFill>
                  <a:srgbClr val="5B6573"/>
                </a:solidFill>
                <a:latin typeface="Calibri" pitchFamily="34" charset="0"/>
                <a:ea typeface="Calibri" pitchFamily="34" charset="-122"/>
                <a:cs typeface="Calibri" pitchFamily="34" charset="-120"/>
              </a:rPr>
              <a:t>Source: S01 working brief; S03 IPP midyear review; S04 corrected OEM summary; S08 account board; S09 Rev89C; S10 NRG teaser</a:t>
            </a:r>
            <a:endParaRPr lang="en-US" sz="850" dirty="0"/>
          </a:p>
        </p:txBody>
      </p:sp>
      <p:sp>
        <p:nvSpPr>
          <p:cNvPr id="5" name="Text 3"/>
          <p:cNvSpPr/>
          <p:nvPr/>
        </p:nvSpPr>
        <p:spPr>
          <a:xfrm>
            <a:off x="10268712" y="6473952"/>
            <a:ext cx="1417320" cy="274320"/>
          </a:xfrm>
          <a:prstGeom prst="rect">
            <a:avLst/>
          </a:prstGeom>
          <a:noFill/>
          <a:ln/>
        </p:spPr>
        <p:txBody>
          <a:bodyPr wrap="square" lIns="0" tIns="0" rIns="0" bIns="0" rtlCol="0" anchor="ctr"/>
          <a:lstStyle/>
          <a:p>
            <a:pPr algn="r" indent="0" marL="0">
              <a:buNone/>
            </a:pPr>
            <a:r>
              <a:rPr lang="en-US" sz="850" dirty="0">
                <a:solidFill>
                  <a:srgbClr val="5B6573"/>
                </a:solidFill>
                <a:latin typeface="Calibri" pitchFamily="34" charset="0"/>
                <a:ea typeface="Calibri" pitchFamily="34" charset="-122"/>
                <a:cs typeface="Calibri" pitchFamily="34" charset="-120"/>
              </a:rPr>
              <a:t>SOUTHWIRE POWERGEN | v0  </a:t>
            </a:r>
            <a:pPr algn="r" indent="0" marL="0">
              <a:buNone/>
            </a:pPr>
            <a:r>
              <a:rPr lang="en-US" sz="850" b="1" dirty="0">
                <a:solidFill>
                  <a:srgbClr val="1F3B57"/>
                </a:solidFill>
                <a:latin typeface="Calibri" pitchFamily="34" charset="0"/>
                <a:ea typeface="Calibri" pitchFamily="34" charset="-122"/>
                <a:cs typeface="Calibri" pitchFamily="34" charset="-120"/>
              </a:rPr>
              <a:t>1</a:t>
            </a:r>
            <a:endParaRPr lang="en-US" sz="850" dirty="0"/>
          </a:p>
        </p:txBody>
      </p:sp>
      <p:sp>
        <p:nvSpPr>
          <p:cNvPr id="6" name="Shape 4"/>
          <p:cNvSpPr/>
          <p:nvPr/>
        </p:nvSpPr>
        <p:spPr>
          <a:xfrm>
            <a:off x="502920" y="1417320"/>
            <a:ext cx="11183112" cy="1298448"/>
          </a:xfrm>
          <a:prstGeom prst="rect">
            <a:avLst/>
          </a:prstGeom>
          <a:solidFill>
            <a:srgbClr val="F7F9FB"/>
          </a:solidFill>
          <a:ln w="9525">
            <a:solidFill>
              <a:srgbClr val="C9D2DB"/>
            </a:solidFill>
            <a:prstDash val="solid"/>
          </a:ln>
        </p:spPr>
      </p:sp>
      <p:sp>
        <p:nvSpPr>
          <p:cNvPr id="7" name="Shape 5"/>
          <p:cNvSpPr/>
          <p:nvPr/>
        </p:nvSpPr>
        <p:spPr>
          <a:xfrm>
            <a:off x="667512" y="1581912"/>
            <a:ext cx="1508760" cy="310896"/>
          </a:xfrm>
          <a:prstGeom prst="rect">
            <a:avLst/>
          </a:prstGeom>
          <a:solidFill>
            <a:srgbClr val="1F3B57"/>
          </a:solidFill>
          <a:ln/>
        </p:spPr>
      </p:sp>
      <p:sp>
        <p:nvSpPr>
          <p:cNvPr id="8" name="Text 6"/>
          <p:cNvSpPr/>
          <p:nvPr/>
        </p:nvSpPr>
        <p:spPr>
          <a:xfrm>
            <a:off x="667512" y="1581912"/>
            <a:ext cx="150876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SITUATION</a:t>
            </a:r>
            <a:endParaRPr lang="en-US" sz="1100" dirty="0"/>
          </a:p>
        </p:txBody>
      </p:sp>
      <p:sp>
        <p:nvSpPr>
          <p:cNvPr id="9" name="Text 7"/>
          <p:cNvSpPr/>
          <p:nvPr/>
        </p:nvSpPr>
        <p:spPr>
          <a:xfrm>
            <a:off x="2423160" y="1536192"/>
            <a:ext cx="9034272" cy="1078992"/>
          </a:xfrm>
          <a:prstGeom prst="rect">
            <a:avLst/>
          </a:prstGeom>
          <a:noFill/>
          <a:ln/>
        </p:spPr>
        <p:txBody>
          <a:bodyPr wrap="square" lIns="0" tIns="0" rIns="0" bIns="0" rtlCol="0" anchor="ctr"/>
          <a:lstStyle/>
          <a:p>
            <a:pPr indent="0" marL="0">
              <a:lnSpc>
                <a:spcPts val="1600"/>
              </a:lnSpc>
              <a:buNone/>
            </a:pPr>
            <a:r>
              <a:rPr lang="en-US" sz="1250" dirty="0">
                <a:solidFill>
                  <a:srgbClr val="2A2F36"/>
                </a:solidFill>
                <a:latin typeface="Calibri" pitchFamily="34" charset="0"/>
                <a:ea typeface="Calibri" pitchFamily="34" charset="-122"/>
                <a:cs typeface="Calibri" pitchFamily="34" charset="-120"/>
              </a:rPr>
              <a:t>Real momentum on several fronts at once: an IPP funnel narrowed from 500+ signals to 17 items labeled actionable, an OEM model holding 55 priorities and 31 Tier 1 candidates, a Time to Power customer proposition, and established Utility and Renewables businesses positioned as the foundation.</a:t>
            </a:r>
            <a:endParaRPr lang="en-US" sz="1250" dirty="0"/>
          </a:p>
        </p:txBody>
      </p:sp>
      <p:sp>
        <p:nvSpPr>
          <p:cNvPr id="10" name="Shape 8"/>
          <p:cNvSpPr/>
          <p:nvPr/>
        </p:nvSpPr>
        <p:spPr>
          <a:xfrm>
            <a:off x="502920" y="2862072"/>
            <a:ext cx="11183112" cy="1298448"/>
          </a:xfrm>
          <a:prstGeom prst="rect">
            <a:avLst/>
          </a:prstGeom>
          <a:solidFill>
            <a:srgbClr val="F7F9FB"/>
          </a:solidFill>
          <a:ln w="9525">
            <a:solidFill>
              <a:srgbClr val="C9D2DB"/>
            </a:solidFill>
            <a:prstDash val="solid"/>
          </a:ln>
        </p:spPr>
      </p:sp>
      <p:sp>
        <p:nvSpPr>
          <p:cNvPr id="11" name="Shape 9"/>
          <p:cNvSpPr/>
          <p:nvPr/>
        </p:nvSpPr>
        <p:spPr>
          <a:xfrm>
            <a:off x="667512" y="3026664"/>
            <a:ext cx="1508760" cy="310896"/>
          </a:xfrm>
          <a:prstGeom prst="rect">
            <a:avLst/>
          </a:prstGeom>
          <a:solidFill>
            <a:srgbClr val="B07A2A"/>
          </a:solidFill>
          <a:ln/>
        </p:spPr>
      </p:sp>
      <p:sp>
        <p:nvSpPr>
          <p:cNvPr id="12" name="Text 10"/>
          <p:cNvSpPr/>
          <p:nvPr/>
        </p:nvSpPr>
        <p:spPr>
          <a:xfrm>
            <a:off x="667512" y="3026664"/>
            <a:ext cx="150876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COMPLICATION</a:t>
            </a:r>
            <a:endParaRPr lang="en-US" sz="1100" dirty="0"/>
          </a:p>
        </p:txBody>
      </p:sp>
      <p:sp>
        <p:nvSpPr>
          <p:cNvPr id="13" name="Text 11"/>
          <p:cNvSpPr/>
          <p:nvPr/>
        </p:nvSpPr>
        <p:spPr>
          <a:xfrm>
            <a:off x="2423160" y="2980944"/>
            <a:ext cx="9034272" cy="1078992"/>
          </a:xfrm>
          <a:prstGeom prst="rect">
            <a:avLst/>
          </a:prstGeom>
          <a:noFill/>
          <a:ln/>
        </p:spPr>
        <p:txBody>
          <a:bodyPr wrap="square" lIns="0" tIns="0" rIns="0" bIns="0" rtlCol="0" anchor="ctr"/>
          <a:lstStyle/>
          <a:p>
            <a:pPr indent="0" marL="0">
              <a:lnSpc>
                <a:spcPts val="1600"/>
              </a:lnSpc>
              <a:buNone/>
            </a:pPr>
            <a:r>
              <a:rPr lang="en-US" sz="1250" dirty="0">
                <a:solidFill>
                  <a:srgbClr val="2A2F36"/>
                </a:solidFill>
                <a:latin typeface="Calibri" pitchFamily="34" charset="0"/>
                <a:ea typeface="Calibri" pitchFamily="34" charset="-122"/>
                <a:cs typeface="Calibri" pitchFamily="34" charset="-120"/>
              </a:rPr>
              <a:t>Not yet one operating system. Foundation visibility is incomplete, nine governance items remain open, market and quote figures conflict across versions, the strongest labor proof is an adjacent unverified case, and leadership has cautioned on channel conflict while route and credit rules stay undecided. No source establishes enterprise authority.</a:t>
            </a:r>
            <a:endParaRPr lang="en-US" sz="1250" dirty="0"/>
          </a:p>
        </p:txBody>
      </p:sp>
      <p:sp>
        <p:nvSpPr>
          <p:cNvPr id="14" name="Shape 12"/>
          <p:cNvSpPr/>
          <p:nvPr/>
        </p:nvSpPr>
        <p:spPr>
          <a:xfrm>
            <a:off x="502920" y="4306824"/>
            <a:ext cx="11183112" cy="1298448"/>
          </a:xfrm>
          <a:prstGeom prst="rect">
            <a:avLst/>
          </a:prstGeom>
          <a:solidFill>
            <a:srgbClr val="F7F9FB"/>
          </a:solidFill>
          <a:ln w="9525">
            <a:solidFill>
              <a:srgbClr val="C9D2DB"/>
            </a:solidFill>
            <a:prstDash val="solid"/>
          </a:ln>
        </p:spPr>
      </p:sp>
      <p:sp>
        <p:nvSpPr>
          <p:cNvPr id="15" name="Shape 13"/>
          <p:cNvSpPr/>
          <p:nvPr/>
        </p:nvSpPr>
        <p:spPr>
          <a:xfrm>
            <a:off x="667512" y="4471416"/>
            <a:ext cx="1508760" cy="310896"/>
          </a:xfrm>
          <a:prstGeom prst="rect">
            <a:avLst/>
          </a:prstGeom>
          <a:solidFill>
            <a:srgbClr val="0F6E84"/>
          </a:solidFill>
          <a:ln/>
        </p:spPr>
      </p:sp>
      <p:sp>
        <p:nvSpPr>
          <p:cNvPr id="16" name="Text 14"/>
          <p:cNvSpPr/>
          <p:nvPr/>
        </p:nvSpPr>
        <p:spPr>
          <a:xfrm>
            <a:off x="667512" y="4471416"/>
            <a:ext cx="150876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RESOLUTION</a:t>
            </a:r>
            <a:endParaRPr lang="en-US" sz="1100" dirty="0"/>
          </a:p>
        </p:txBody>
      </p:sp>
      <p:sp>
        <p:nvSpPr>
          <p:cNvPr id="17" name="Text 15"/>
          <p:cNvSpPr/>
          <p:nvPr/>
        </p:nvSpPr>
        <p:spPr>
          <a:xfrm>
            <a:off x="2423160" y="4425696"/>
            <a:ext cx="9034272" cy="1078992"/>
          </a:xfrm>
          <a:prstGeom prst="rect">
            <a:avLst/>
          </a:prstGeom>
          <a:noFill/>
          <a:ln/>
        </p:spPr>
        <p:txBody>
          <a:bodyPr wrap="square" lIns="0" tIns="0" rIns="0" bIns="0" rtlCol="0" anchor="ctr"/>
          <a:lstStyle/>
          <a:p>
            <a:pPr indent="0" marL="0">
              <a:lnSpc>
                <a:spcPts val="1600"/>
              </a:lnSpc>
              <a:buNone/>
            </a:pPr>
            <a:r>
              <a:rPr lang="en-US" sz="1250" dirty="0">
                <a:solidFill>
                  <a:srgbClr val="2A2F36"/>
                </a:solidFill>
                <a:latin typeface="Calibri" pitchFamily="34" charset="0"/>
                <a:ea typeface="Calibri" pitchFamily="34" charset="-122"/>
                <a:cs typeface="Calibri" pitchFamily="34" charset="-120"/>
              </a:rPr>
              <a:t>Run PowerGen as a federated platform for a 90-day pilot, August 21 to November 18. Marc authorizes the interim launch Thursday; Amber ratifies, modifies, or stops in September. PowerGen orchestrates; businesses keep every commercial and P&amp;L authority they hold today. Two validation priorities now, one conditional, everything else mapped.</a:t>
            </a:r>
            <a:endParaRPr lang="en-US" sz="1250" dirty="0"/>
          </a:p>
        </p:txBody>
      </p:sp>
      <p:sp>
        <p:nvSpPr>
          <p:cNvPr id="18" name="Shape 16"/>
          <p:cNvSpPr/>
          <p:nvPr/>
        </p:nvSpPr>
        <p:spPr>
          <a:xfrm>
            <a:off x="502920" y="5769864"/>
            <a:ext cx="11183112" cy="566928"/>
          </a:xfrm>
          <a:prstGeom prst="rect">
            <a:avLst/>
          </a:prstGeom>
          <a:solidFill>
            <a:srgbClr val="1F3B57"/>
          </a:solidFill>
          <a:ln w="9525">
            <a:solidFill>
              <a:srgbClr val="C9D2DB"/>
            </a:solidFill>
            <a:prstDash val="solid"/>
          </a:ln>
        </p:spPr>
      </p:sp>
      <p:sp>
        <p:nvSpPr>
          <p:cNvPr id="19" name="Text 17"/>
          <p:cNvSpPr/>
          <p:nvPr/>
        </p:nvSpPr>
        <p:spPr>
          <a:xfrm>
            <a:off x="685800" y="5769864"/>
            <a:ext cx="10817352" cy="566928"/>
          </a:xfrm>
          <a:prstGeom prst="rect">
            <a:avLst/>
          </a:prstGeom>
          <a:noFill/>
          <a:ln/>
        </p:spPr>
        <p:txBody>
          <a:bodyPr wrap="square" lIns="0" tIns="0" rIns="0" bIns="0" rtlCol="0" anchor="ctr"/>
          <a:lstStyle/>
          <a:p>
            <a:pPr indent="0" marL="0">
              <a:buNone/>
            </a:pPr>
            <a:r>
              <a:rPr lang="en-US" sz="1400" b="1" dirty="0">
                <a:solidFill>
                  <a:srgbClr val="9FB8CE"/>
                </a:solidFill>
                <a:latin typeface="Calibri" pitchFamily="34" charset="0"/>
                <a:ea typeface="Calibri" pitchFamily="34" charset="-122"/>
                <a:cs typeface="Calibri" pitchFamily="34" charset="-120"/>
              </a:rPr>
              <a:t>Governing thought:  </a:t>
            </a:r>
            <a:pPr indent="0" marL="0">
              <a:buNone/>
            </a:pPr>
            <a:r>
              <a:rPr lang="en-US" sz="1400" dirty="0">
                <a:solidFill>
                  <a:srgbClr val="FFFFFF"/>
                </a:solidFill>
                <a:latin typeface="Calibri" pitchFamily="34" charset="0"/>
                <a:ea typeface="Calibri" pitchFamily="34" charset="-122"/>
                <a:cs typeface="Calibri" pitchFamily="34" charset="-120"/>
              </a:rPr>
              <a:t>buy 90 days of evidence with a pilot that changes decision-making without changing ownership.</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3112" cy="256032"/>
          </a:xfrm>
          <a:prstGeom prst="rect">
            <a:avLst/>
          </a:prstGeom>
          <a:noFill/>
          <a:ln/>
        </p:spPr>
        <p:txBody>
          <a:bodyPr wrap="square" lIns="0" tIns="0" rIns="0" bIns="0" rtlCol="0" anchor="ctr"/>
          <a:lstStyle/>
          <a:p>
            <a:pPr indent="0" marL="0">
              <a:buNone/>
            </a:pPr>
            <a:r>
              <a:rPr lang="en-US" sz="1100" b="1" spc="200" kern="0" dirty="0">
                <a:solidFill>
                  <a:srgbClr val="0F6E84"/>
                </a:solidFill>
                <a:latin typeface="Calibri" pitchFamily="34" charset="0"/>
                <a:ea typeface="Calibri" pitchFamily="34" charset="-122"/>
                <a:cs typeface="Calibri" pitchFamily="34" charset="-120"/>
              </a:rPr>
              <a:t>CURRENT STATE</a:t>
            </a:r>
            <a:endParaRPr lang="en-US" sz="1100" dirty="0"/>
          </a:p>
        </p:txBody>
      </p:sp>
      <p:sp>
        <p:nvSpPr>
          <p:cNvPr id="3" name="Text 1"/>
          <p:cNvSpPr/>
          <p:nvPr/>
        </p:nvSpPr>
        <p:spPr>
          <a:xfrm>
            <a:off x="502920" y="530352"/>
            <a:ext cx="11183112" cy="777240"/>
          </a:xfrm>
          <a:prstGeom prst="rect">
            <a:avLst/>
          </a:prstGeom>
          <a:noFill/>
          <a:ln/>
        </p:spPr>
        <p:txBody>
          <a:bodyPr wrap="square" lIns="0" tIns="0" rIns="0" bIns="0" rtlCol="0" anchor="t"/>
          <a:lstStyle/>
          <a:p>
            <a:pPr indent="0" marL="0">
              <a:buNone/>
            </a:pPr>
            <a:r>
              <a:rPr lang="en-US" sz="2100" b="1" dirty="0">
                <a:solidFill>
                  <a:srgbClr val="1F3B57"/>
                </a:solidFill>
                <a:latin typeface="Calibri" pitchFamily="34" charset="0"/>
                <a:ea typeface="Calibri" pitchFamily="34" charset="-122"/>
                <a:cs typeface="Calibri" pitchFamily="34" charset="-120"/>
              </a:rPr>
              <a:t>Nine activity lanes, three levels of evidence depth: targeting is developed where the foundation is still unmapped</a:t>
            </a:r>
            <a:endParaRPr lang="en-US" sz="2100" dirty="0"/>
          </a:p>
        </p:txBody>
      </p:sp>
      <p:sp>
        <p:nvSpPr>
          <p:cNvPr id="4" name="Text 2"/>
          <p:cNvSpPr/>
          <p:nvPr/>
        </p:nvSpPr>
        <p:spPr>
          <a:xfrm>
            <a:off x="502920" y="6473952"/>
            <a:ext cx="10085832" cy="274320"/>
          </a:xfrm>
          <a:prstGeom prst="rect">
            <a:avLst/>
          </a:prstGeom>
          <a:noFill/>
          <a:ln/>
        </p:spPr>
        <p:txBody>
          <a:bodyPr wrap="square" lIns="0" tIns="0" rIns="0" bIns="0" rtlCol="0" anchor="ctr"/>
          <a:lstStyle/>
          <a:p>
            <a:pPr indent="0" marL="0">
              <a:buNone/>
            </a:pPr>
            <a:r>
              <a:rPr lang="en-US" sz="850" dirty="0">
                <a:solidFill>
                  <a:srgbClr val="5B6573"/>
                </a:solidFill>
                <a:latin typeface="Calibri" pitchFamily="34" charset="0"/>
                <a:ea typeface="Calibri" pitchFamily="34" charset="-122"/>
                <a:cs typeface="Calibri" pitchFamily="34" charset="-120"/>
              </a:rPr>
              <a:t>Source: S01 pp.3, 6; S02 pp.1-2; S03 pp.1-8; S08 Governance Board; S09 Executive Targets; S10 pp.5-18; S12 pp.4-25. Depth ratings are inferences from source coverage, not performance judgments.</a:t>
            </a:r>
            <a:endParaRPr lang="en-US" sz="850" dirty="0"/>
          </a:p>
        </p:txBody>
      </p:sp>
      <p:sp>
        <p:nvSpPr>
          <p:cNvPr id="5" name="Text 3"/>
          <p:cNvSpPr/>
          <p:nvPr/>
        </p:nvSpPr>
        <p:spPr>
          <a:xfrm>
            <a:off x="10268712" y="6473952"/>
            <a:ext cx="1417320" cy="274320"/>
          </a:xfrm>
          <a:prstGeom prst="rect">
            <a:avLst/>
          </a:prstGeom>
          <a:noFill/>
          <a:ln/>
        </p:spPr>
        <p:txBody>
          <a:bodyPr wrap="square" lIns="0" tIns="0" rIns="0" bIns="0" rtlCol="0" anchor="ctr"/>
          <a:lstStyle/>
          <a:p>
            <a:pPr algn="r" indent="0" marL="0">
              <a:buNone/>
            </a:pPr>
            <a:r>
              <a:rPr lang="en-US" sz="850" dirty="0">
                <a:solidFill>
                  <a:srgbClr val="5B6573"/>
                </a:solidFill>
                <a:latin typeface="Calibri" pitchFamily="34" charset="0"/>
                <a:ea typeface="Calibri" pitchFamily="34" charset="-122"/>
                <a:cs typeface="Calibri" pitchFamily="34" charset="-120"/>
              </a:rPr>
              <a:t>SOUTHWIRE POWERGEN | v0  </a:t>
            </a:r>
            <a:pPr algn="r" indent="0" marL="0">
              <a:buNone/>
            </a:pPr>
            <a:r>
              <a:rPr lang="en-US" sz="850" b="1" dirty="0">
                <a:solidFill>
                  <a:srgbClr val="1F3B57"/>
                </a:solidFill>
                <a:latin typeface="Calibri" pitchFamily="34" charset="0"/>
                <a:ea typeface="Calibri" pitchFamily="34" charset="-122"/>
                <a:cs typeface="Calibri" pitchFamily="34" charset="-120"/>
              </a:rPr>
              <a:t>2</a:t>
            </a:r>
            <a:endParaRPr lang="en-US" sz="850" dirty="0"/>
          </a:p>
        </p:txBody>
      </p:sp>
      <p:sp>
        <p:nvSpPr>
          <p:cNvPr id="6" name="Shape 4"/>
          <p:cNvSpPr/>
          <p:nvPr/>
        </p:nvSpPr>
        <p:spPr>
          <a:xfrm>
            <a:off x="502920" y="1463040"/>
            <a:ext cx="3575304" cy="1481328"/>
          </a:xfrm>
          <a:prstGeom prst="rect">
            <a:avLst/>
          </a:prstGeom>
          <a:solidFill>
            <a:srgbClr val="F7F9FB"/>
          </a:solidFill>
          <a:ln w="9525">
            <a:solidFill>
              <a:srgbClr val="C9D2DB"/>
            </a:solidFill>
            <a:prstDash val="solid"/>
          </a:ln>
        </p:spPr>
      </p:sp>
      <p:sp>
        <p:nvSpPr>
          <p:cNvPr id="7" name="Text 5"/>
          <p:cNvSpPr/>
          <p:nvPr/>
        </p:nvSpPr>
        <p:spPr>
          <a:xfrm>
            <a:off x="640080" y="1554480"/>
            <a:ext cx="2340864" cy="502920"/>
          </a:xfrm>
          <a:prstGeom prst="rect">
            <a:avLst/>
          </a:prstGeom>
          <a:noFill/>
          <a:ln/>
        </p:spPr>
        <p:txBody>
          <a:bodyPr wrap="square" lIns="0" tIns="0" rIns="0" bIns="0" rtlCol="0" anchor="t"/>
          <a:lstStyle/>
          <a:p>
            <a:pPr indent="0" marL="0">
              <a:buNone/>
            </a:pPr>
            <a:r>
              <a:rPr lang="en-US" sz="1200" b="1" dirty="0">
                <a:solidFill>
                  <a:srgbClr val="1F3B57"/>
                </a:solidFill>
                <a:latin typeface="Calibri" pitchFamily="34" charset="0"/>
                <a:ea typeface="Calibri" pitchFamily="34" charset="-122"/>
                <a:cs typeface="Calibri" pitchFamily="34" charset="-120"/>
              </a:rPr>
              <a:t>IPP conventional gas</a:t>
            </a:r>
            <a:endParaRPr lang="en-US" sz="1200" dirty="0"/>
          </a:p>
        </p:txBody>
      </p:sp>
      <p:sp>
        <p:nvSpPr>
          <p:cNvPr id="8" name="Shape 6"/>
          <p:cNvSpPr/>
          <p:nvPr/>
        </p:nvSpPr>
        <p:spPr>
          <a:xfrm>
            <a:off x="2999232" y="1581912"/>
            <a:ext cx="932688" cy="237744"/>
          </a:xfrm>
          <a:prstGeom prst="roundRect">
            <a:avLst>
              <a:gd name="adj" fmla="val 50000"/>
            </a:avLst>
          </a:prstGeom>
          <a:solidFill>
            <a:srgbClr val="3E7C4F"/>
          </a:solidFill>
          <a:ln/>
        </p:spPr>
      </p:sp>
      <p:sp>
        <p:nvSpPr>
          <p:cNvPr id="9" name="Text 7"/>
          <p:cNvSpPr/>
          <p:nvPr/>
        </p:nvSpPr>
        <p:spPr>
          <a:xfrm>
            <a:off x="2999232" y="1577340"/>
            <a:ext cx="932688" cy="24688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DEVELOPED</a:t>
            </a:r>
            <a:endParaRPr lang="en-US" sz="850" dirty="0"/>
          </a:p>
        </p:txBody>
      </p:sp>
      <p:sp>
        <p:nvSpPr>
          <p:cNvPr id="10" name="Text 8"/>
          <p:cNvSpPr/>
          <p:nvPr/>
        </p:nvSpPr>
        <p:spPr>
          <a:xfrm>
            <a:off x="640080" y="2029968"/>
            <a:ext cx="3300984" cy="868680"/>
          </a:xfrm>
          <a:prstGeom prst="rect">
            <a:avLst/>
          </a:prstGeom>
          <a:noFill/>
          <a:ln/>
        </p:spPr>
        <p:txBody>
          <a:bodyPr wrap="square" lIns="0" tIns="0" rIns="0" bIns="0" rtlCol="0" anchor="t"/>
          <a:lstStyle/>
          <a:p>
            <a:pPr indent="0" marL="0">
              <a:lnSpc>
                <a:spcPts val="1200"/>
              </a:lnSpc>
              <a:buNone/>
            </a:pPr>
            <a:r>
              <a:rPr lang="en-US" sz="950" dirty="0">
                <a:solidFill>
                  <a:srgbClr val="2A2F36"/>
                </a:solidFill>
                <a:latin typeface="Calibri" pitchFamily="34" charset="0"/>
                <a:ea typeface="Calibri" pitchFamily="34" charset="-122"/>
                <a:cs typeface="Calibri" pitchFamily="34" charset="-120"/>
              </a:rPr>
              <a:t>500+ to 29 to 17 funnel; account rows exist; pursuit leadership and routes unresolved</a:t>
            </a:r>
            <a:endParaRPr lang="en-US" sz="950" dirty="0"/>
          </a:p>
        </p:txBody>
      </p:sp>
      <p:sp>
        <p:nvSpPr>
          <p:cNvPr id="11" name="Shape 9"/>
          <p:cNvSpPr/>
          <p:nvPr/>
        </p:nvSpPr>
        <p:spPr>
          <a:xfrm>
            <a:off x="4306824" y="1463040"/>
            <a:ext cx="3575304" cy="1481328"/>
          </a:xfrm>
          <a:prstGeom prst="rect">
            <a:avLst/>
          </a:prstGeom>
          <a:solidFill>
            <a:srgbClr val="F7F9FB"/>
          </a:solidFill>
          <a:ln w="9525">
            <a:solidFill>
              <a:srgbClr val="C9D2DB"/>
            </a:solidFill>
            <a:prstDash val="solid"/>
          </a:ln>
        </p:spPr>
      </p:sp>
      <p:sp>
        <p:nvSpPr>
          <p:cNvPr id="12" name="Text 10"/>
          <p:cNvSpPr/>
          <p:nvPr/>
        </p:nvSpPr>
        <p:spPr>
          <a:xfrm>
            <a:off x="4443984" y="1554480"/>
            <a:ext cx="2340864" cy="502920"/>
          </a:xfrm>
          <a:prstGeom prst="rect">
            <a:avLst/>
          </a:prstGeom>
          <a:noFill/>
          <a:ln/>
        </p:spPr>
        <p:txBody>
          <a:bodyPr wrap="square" lIns="0" tIns="0" rIns="0" bIns="0" rtlCol="0" anchor="t"/>
          <a:lstStyle/>
          <a:p>
            <a:pPr indent="0" marL="0">
              <a:buNone/>
            </a:pPr>
            <a:r>
              <a:rPr lang="en-US" sz="1200" b="1" dirty="0">
                <a:solidFill>
                  <a:srgbClr val="1F3B57"/>
                </a:solidFill>
                <a:latin typeface="Calibri" pitchFamily="34" charset="0"/>
                <a:ea typeface="Calibri" pitchFamily="34" charset="-122"/>
                <a:cs typeface="Calibri" pitchFamily="34" charset="-120"/>
              </a:rPr>
              <a:t>OEM / modular platforms</a:t>
            </a:r>
            <a:endParaRPr lang="en-US" sz="1200" dirty="0"/>
          </a:p>
        </p:txBody>
      </p:sp>
      <p:sp>
        <p:nvSpPr>
          <p:cNvPr id="13" name="Shape 11"/>
          <p:cNvSpPr/>
          <p:nvPr/>
        </p:nvSpPr>
        <p:spPr>
          <a:xfrm>
            <a:off x="6803136" y="1581912"/>
            <a:ext cx="932688" cy="237744"/>
          </a:xfrm>
          <a:prstGeom prst="roundRect">
            <a:avLst>
              <a:gd name="adj" fmla="val 50000"/>
            </a:avLst>
          </a:prstGeom>
          <a:solidFill>
            <a:srgbClr val="3E7C4F"/>
          </a:solidFill>
          <a:ln/>
        </p:spPr>
      </p:sp>
      <p:sp>
        <p:nvSpPr>
          <p:cNvPr id="14" name="Text 12"/>
          <p:cNvSpPr/>
          <p:nvPr/>
        </p:nvSpPr>
        <p:spPr>
          <a:xfrm>
            <a:off x="6803136" y="1577340"/>
            <a:ext cx="932688" cy="24688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DEVELOPED</a:t>
            </a:r>
            <a:endParaRPr lang="en-US" sz="850" dirty="0"/>
          </a:p>
        </p:txBody>
      </p:sp>
      <p:sp>
        <p:nvSpPr>
          <p:cNvPr id="15" name="Text 13"/>
          <p:cNvSpPr/>
          <p:nvPr/>
        </p:nvSpPr>
        <p:spPr>
          <a:xfrm>
            <a:off x="4443984" y="2029968"/>
            <a:ext cx="3300984" cy="868680"/>
          </a:xfrm>
          <a:prstGeom prst="rect">
            <a:avLst/>
          </a:prstGeom>
          <a:noFill/>
          <a:ln/>
        </p:spPr>
        <p:txBody>
          <a:bodyPr wrap="square" lIns="0" tIns="0" rIns="0" bIns="0" rtlCol="0" anchor="t"/>
          <a:lstStyle/>
          <a:p>
            <a:pPr indent="0" marL="0">
              <a:lnSpc>
                <a:spcPts val="1200"/>
              </a:lnSpc>
              <a:buNone/>
            </a:pPr>
            <a:r>
              <a:rPr lang="en-US" sz="950" dirty="0">
                <a:solidFill>
                  <a:srgbClr val="2A2F36"/>
                </a:solidFill>
                <a:latin typeface="Calibri" pitchFamily="34" charset="0"/>
                <a:ea typeface="Calibri" pitchFamily="34" charset="-122"/>
                <a:cs typeface="Calibri" pitchFamily="34" charset="-120"/>
              </a:rPr>
              <a:t>55 priorities, 31 Tier 1 in Rev89C; all modeled candidates; quotes unreconciled</a:t>
            </a:r>
            <a:endParaRPr lang="en-US" sz="950" dirty="0"/>
          </a:p>
        </p:txBody>
      </p:sp>
      <p:sp>
        <p:nvSpPr>
          <p:cNvPr id="16" name="Shape 14"/>
          <p:cNvSpPr/>
          <p:nvPr/>
        </p:nvSpPr>
        <p:spPr>
          <a:xfrm>
            <a:off x="8110728" y="1463040"/>
            <a:ext cx="3575304" cy="1481328"/>
          </a:xfrm>
          <a:prstGeom prst="rect">
            <a:avLst/>
          </a:prstGeom>
          <a:solidFill>
            <a:srgbClr val="F7F9FB"/>
          </a:solidFill>
          <a:ln w="9525">
            <a:solidFill>
              <a:srgbClr val="C9D2DB"/>
            </a:solidFill>
            <a:prstDash val="solid"/>
          </a:ln>
        </p:spPr>
      </p:sp>
      <p:sp>
        <p:nvSpPr>
          <p:cNvPr id="17" name="Text 15"/>
          <p:cNvSpPr/>
          <p:nvPr/>
        </p:nvSpPr>
        <p:spPr>
          <a:xfrm>
            <a:off x="8247888" y="1554480"/>
            <a:ext cx="2340864" cy="502920"/>
          </a:xfrm>
          <a:prstGeom prst="rect">
            <a:avLst/>
          </a:prstGeom>
          <a:noFill/>
          <a:ln/>
        </p:spPr>
        <p:txBody>
          <a:bodyPr wrap="square" lIns="0" tIns="0" rIns="0" bIns="0" rtlCol="0" anchor="t"/>
          <a:lstStyle/>
          <a:p>
            <a:pPr indent="0" marL="0">
              <a:buNone/>
            </a:pPr>
            <a:r>
              <a:rPr lang="en-US" sz="1200" b="1" dirty="0">
                <a:solidFill>
                  <a:srgbClr val="1F3B57"/>
                </a:solidFill>
                <a:latin typeface="Calibri" pitchFamily="34" charset="0"/>
                <a:ea typeface="Calibri" pitchFamily="34" charset="-122"/>
                <a:cs typeface="Calibri" pitchFamily="34" charset="-120"/>
              </a:rPr>
              <a:t>EPC / owner’s engineer</a:t>
            </a:r>
            <a:endParaRPr lang="en-US" sz="1200" dirty="0"/>
          </a:p>
        </p:txBody>
      </p:sp>
      <p:sp>
        <p:nvSpPr>
          <p:cNvPr id="18" name="Shape 16"/>
          <p:cNvSpPr/>
          <p:nvPr/>
        </p:nvSpPr>
        <p:spPr>
          <a:xfrm>
            <a:off x="10607040" y="1581912"/>
            <a:ext cx="932688" cy="237744"/>
          </a:xfrm>
          <a:prstGeom prst="roundRect">
            <a:avLst>
              <a:gd name="adj" fmla="val 50000"/>
            </a:avLst>
          </a:prstGeom>
          <a:solidFill>
            <a:srgbClr val="B07A2A"/>
          </a:solidFill>
          <a:ln/>
        </p:spPr>
      </p:sp>
      <p:sp>
        <p:nvSpPr>
          <p:cNvPr id="19" name="Text 17"/>
          <p:cNvSpPr/>
          <p:nvPr/>
        </p:nvSpPr>
        <p:spPr>
          <a:xfrm>
            <a:off x="10607040" y="1577340"/>
            <a:ext cx="932688" cy="24688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PARTIAL</a:t>
            </a:r>
            <a:endParaRPr lang="en-US" sz="850" dirty="0"/>
          </a:p>
        </p:txBody>
      </p:sp>
      <p:sp>
        <p:nvSpPr>
          <p:cNvPr id="20" name="Text 18"/>
          <p:cNvSpPr/>
          <p:nvPr/>
        </p:nvSpPr>
        <p:spPr>
          <a:xfrm>
            <a:off x="8247888" y="2029968"/>
            <a:ext cx="3300984" cy="868680"/>
          </a:xfrm>
          <a:prstGeom prst="rect">
            <a:avLst/>
          </a:prstGeom>
          <a:noFill/>
          <a:ln/>
        </p:spPr>
        <p:txBody>
          <a:bodyPr wrap="square" lIns="0" tIns="0" rIns="0" bIns="0" rtlCol="0" anchor="t"/>
          <a:lstStyle/>
          <a:p>
            <a:pPr indent="0" marL="0">
              <a:lnSpc>
                <a:spcPts val="1200"/>
              </a:lnSpc>
              <a:buNone/>
            </a:pPr>
            <a:r>
              <a:rPr lang="en-US" sz="950" dirty="0">
                <a:solidFill>
                  <a:srgbClr val="2A2F36"/>
                </a:solidFill>
                <a:latin typeface="Calibri" pitchFamily="34" charset="0"/>
                <a:ea typeface="Calibri" pitchFamily="34" charset="-122"/>
                <a:cs typeface="Calibri" pitchFamily="34" charset="-120"/>
              </a:rPr>
              <a:t>Account rows exist; no reconciled stage summary; treated as a cross-cutting route</a:t>
            </a:r>
            <a:endParaRPr lang="en-US" sz="950" dirty="0"/>
          </a:p>
        </p:txBody>
      </p:sp>
      <p:sp>
        <p:nvSpPr>
          <p:cNvPr id="21" name="Shape 19"/>
          <p:cNvSpPr/>
          <p:nvPr/>
        </p:nvSpPr>
        <p:spPr>
          <a:xfrm>
            <a:off x="502920" y="3145536"/>
            <a:ext cx="3575304" cy="1481328"/>
          </a:xfrm>
          <a:prstGeom prst="rect">
            <a:avLst/>
          </a:prstGeom>
          <a:solidFill>
            <a:srgbClr val="F7F9FB"/>
          </a:solidFill>
          <a:ln w="9525">
            <a:solidFill>
              <a:srgbClr val="C9D2DB"/>
            </a:solidFill>
            <a:prstDash val="solid"/>
          </a:ln>
        </p:spPr>
      </p:sp>
      <p:sp>
        <p:nvSpPr>
          <p:cNvPr id="22" name="Text 20"/>
          <p:cNvSpPr/>
          <p:nvPr/>
        </p:nvSpPr>
        <p:spPr>
          <a:xfrm>
            <a:off x="640080" y="3236976"/>
            <a:ext cx="2340864" cy="502920"/>
          </a:xfrm>
          <a:prstGeom prst="rect">
            <a:avLst/>
          </a:prstGeom>
          <a:noFill/>
          <a:ln/>
        </p:spPr>
        <p:txBody>
          <a:bodyPr wrap="square" lIns="0" tIns="0" rIns="0" bIns="0" rtlCol="0" anchor="t"/>
          <a:lstStyle/>
          <a:p>
            <a:pPr indent="0" marL="0">
              <a:buNone/>
            </a:pPr>
            <a:r>
              <a:rPr lang="en-US" sz="1200" b="1" dirty="0">
                <a:solidFill>
                  <a:srgbClr val="1F3B57"/>
                </a:solidFill>
                <a:latin typeface="Calibri" pitchFamily="34" charset="0"/>
                <a:ea typeface="Calibri" pitchFamily="34" charset="-122"/>
                <a:cs typeface="Calibri" pitchFamily="34" charset="-120"/>
              </a:rPr>
              <a:t>Utility &amp; Renewables foundation</a:t>
            </a:r>
            <a:endParaRPr lang="en-US" sz="1200" dirty="0"/>
          </a:p>
        </p:txBody>
      </p:sp>
      <p:sp>
        <p:nvSpPr>
          <p:cNvPr id="23" name="Shape 21"/>
          <p:cNvSpPr/>
          <p:nvPr/>
        </p:nvSpPr>
        <p:spPr>
          <a:xfrm>
            <a:off x="2999232" y="3264408"/>
            <a:ext cx="932688" cy="237744"/>
          </a:xfrm>
          <a:prstGeom prst="roundRect">
            <a:avLst>
              <a:gd name="adj" fmla="val 50000"/>
            </a:avLst>
          </a:prstGeom>
          <a:solidFill>
            <a:srgbClr val="9C3D3D"/>
          </a:solidFill>
          <a:ln/>
        </p:spPr>
      </p:sp>
      <p:sp>
        <p:nvSpPr>
          <p:cNvPr id="24" name="Text 22"/>
          <p:cNvSpPr/>
          <p:nvPr/>
        </p:nvSpPr>
        <p:spPr>
          <a:xfrm>
            <a:off x="2999232" y="3259836"/>
            <a:ext cx="932688" cy="24688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MISSING</a:t>
            </a:r>
            <a:endParaRPr lang="en-US" sz="850" dirty="0"/>
          </a:p>
        </p:txBody>
      </p:sp>
      <p:sp>
        <p:nvSpPr>
          <p:cNvPr id="25" name="Text 23"/>
          <p:cNvSpPr/>
          <p:nvPr/>
        </p:nvSpPr>
        <p:spPr>
          <a:xfrm>
            <a:off x="640080" y="3712464"/>
            <a:ext cx="3300984" cy="868680"/>
          </a:xfrm>
          <a:prstGeom prst="rect">
            <a:avLst/>
          </a:prstGeom>
          <a:noFill/>
          <a:ln/>
        </p:spPr>
        <p:txBody>
          <a:bodyPr wrap="square" lIns="0" tIns="0" rIns="0" bIns="0" rtlCol="0" anchor="t"/>
          <a:lstStyle/>
          <a:p>
            <a:pPr indent="0" marL="0">
              <a:lnSpc>
                <a:spcPts val="1200"/>
              </a:lnSpc>
              <a:buNone/>
            </a:pPr>
            <a:r>
              <a:rPr lang="en-US" sz="950" dirty="0">
                <a:solidFill>
                  <a:srgbClr val="2A2F36"/>
                </a:solidFill>
                <a:latin typeface="Calibri" pitchFamily="34" charset="0"/>
                <a:ea typeface="Calibri" pitchFamily="34" charset="-122"/>
                <a:cs typeface="Calibri" pitchFamily="34" charset="-120"/>
              </a:rPr>
              <a:t>Named the foundation; accounts, pipeline, and channel commitments not yet mapped</a:t>
            </a:r>
            <a:endParaRPr lang="en-US" sz="950" dirty="0"/>
          </a:p>
        </p:txBody>
      </p:sp>
      <p:sp>
        <p:nvSpPr>
          <p:cNvPr id="26" name="Shape 24"/>
          <p:cNvSpPr/>
          <p:nvPr/>
        </p:nvSpPr>
        <p:spPr>
          <a:xfrm>
            <a:off x="4306824" y="3145536"/>
            <a:ext cx="3575304" cy="1481328"/>
          </a:xfrm>
          <a:prstGeom prst="rect">
            <a:avLst/>
          </a:prstGeom>
          <a:solidFill>
            <a:srgbClr val="F7F9FB"/>
          </a:solidFill>
          <a:ln w="9525">
            <a:solidFill>
              <a:srgbClr val="C9D2DB"/>
            </a:solidFill>
            <a:prstDash val="solid"/>
          </a:ln>
        </p:spPr>
      </p:sp>
      <p:sp>
        <p:nvSpPr>
          <p:cNvPr id="27" name="Text 25"/>
          <p:cNvSpPr/>
          <p:nvPr/>
        </p:nvSpPr>
        <p:spPr>
          <a:xfrm>
            <a:off x="4443984" y="3236976"/>
            <a:ext cx="2340864" cy="502920"/>
          </a:xfrm>
          <a:prstGeom prst="rect">
            <a:avLst/>
          </a:prstGeom>
          <a:noFill/>
          <a:ln/>
        </p:spPr>
        <p:txBody>
          <a:bodyPr wrap="square" lIns="0" tIns="0" rIns="0" bIns="0" rtlCol="0" anchor="t"/>
          <a:lstStyle/>
          <a:p>
            <a:pPr indent="0" marL="0">
              <a:buNone/>
            </a:pPr>
            <a:r>
              <a:rPr lang="en-US" sz="1200" b="1" dirty="0">
                <a:solidFill>
                  <a:srgbClr val="1F3B57"/>
                </a:solidFill>
                <a:latin typeface="Calibri" pitchFamily="34" charset="0"/>
                <a:ea typeface="Calibri" pitchFamily="34" charset="-122"/>
                <a:cs typeface="Calibri" pitchFamily="34" charset="-120"/>
              </a:rPr>
              <a:t>Prefab &amp; assemblies</a:t>
            </a:r>
            <a:endParaRPr lang="en-US" sz="1200" dirty="0"/>
          </a:p>
        </p:txBody>
      </p:sp>
      <p:sp>
        <p:nvSpPr>
          <p:cNvPr id="28" name="Shape 26"/>
          <p:cNvSpPr/>
          <p:nvPr/>
        </p:nvSpPr>
        <p:spPr>
          <a:xfrm>
            <a:off x="6803136" y="3264408"/>
            <a:ext cx="932688" cy="237744"/>
          </a:xfrm>
          <a:prstGeom prst="roundRect">
            <a:avLst>
              <a:gd name="adj" fmla="val 50000"/>
            </a:avLst>
          </a:prstGeom>
          <a:solidFill>
            <a:srgbClr val="B07A2A"/>
          </a:solidFill>
          <a:ln/>
        </p:spPr>
      </p:sp>
      <p:sp>
        <p:nvSpPr>
          <p:cNvPr id="29" name="Text 27"/>
          <p:cNvSpPr/>
          <p:nvPr/>
        </p:nvSpPr>
        <p:spPr>
          <a:xfrm>
            <a:off x="6803136" y="3259836"/>
            <a:ext cx="932688" cy="24688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PARTIAL</a:t>
            </a:r>
            <a:endParaRPr lang="en-US" sz="850" dirty="0"/>
          </a:p>
        </p:txBody>
      </p:sp>
      <p:sp>
        <p:nvSpPr>
          <p:cNvPr id="30" name="Text 28"/>
          <p:cNvSpPr/>
          <p:nvPr/>
        </p:nvSpPr>
        <p:spPr>
          <a:xfrm>
            <a:off x="4443984" y="3712464"/>
            <a:ext cx="3300984" cy="868680"/>
          </a:xfrm>
          <a:prstGeom prst="rect">
            <a:avLst/>
          </a:prstGeom>
          <a:noFill/>
          <a:ln/>
        </p:spPr>
        <p:txBody>
          <a:bodyPr wrap="square" lIns="0" tIns="0" rIns="0" bIns="0" rtlCol="0" anchor="t"/>
          <a:lstStyle/>
          <a:p>
            <a:pPr indent="0" marL="0">
              <a:lnSpc>
                <a:spcPts val="1200"/>
              </a:lnSpc>
              <a:buNone/>
            </a:pPr>
            <a:r>
              <a:rPr lang="en-US" sz="950" dirty="0">
                <a:solidFill>
                  <a:srgbClr val="2A2F36"/>
                </a:solidFill>
                <a:latin typeface="Calibri" pitchFamily="34" charset="0"/>
                <a:ea typeface="Calibri" pitchFamily="34" charset="-122"/>
                <a:cs typeface="Calibri" pitchFamily="34" charset="-120"/>
              </a:rPr>
              <a:t>Offer concepts and adjacent proof; no delivery model, warranty, or economics owner</a:t>
            </a:r>
            <a:endParaRPr lang="en-US" sz="950" dirty="0"/>
          </a:p>
        </p:txBody>
      </p:sp>
      <p:sp>
        <p:nvSpPr>
          <p:cNvPr id="31" name="Shape 29"/>
          <p:cNvSpPr/>
          <p:nvPr/>
        </p:nvSpPr>
        <p:spPr>
          <a:xfrm>
            <a:off x="8110728" y="3145536"/>
            <a:ext cx="3575304" cy="1481328"/>
          </a:xfrm>
          <a:prstGeom prst="rect">
            <a:avLst/>
          </a:prstGeom>
          <a:solidFill>
            <a:srgbClr val="F7F9FB"/>
          </a:solidFill>
          <a:ln w="9525">
            <a:solidFill>
              <a:srgbClr val="C9D2DB"/>
            </a:solidFill>
            <a:prstDash val="solid"/>
          </a:ln>
        </p:spPr>
      </p:sp>
      <p:sp>
        <p:nvSpPr>
          <p:cNvPr id="32" name="Text 30"/>
          <p:cNvSpPr/>
          <p:nvPr/>
        </p:nvSpPr>
        <p:spPr>
          <a:xfrm>
            <a:off x="8247888" y="3236976"/>
            <a:ext cx="2340864" cy="502920"/>
          </a:xfrm>
          <a:prstGeom prst="rect">
            <a:avLst/>
          </a:prstGeom>
          <a:noFill/>
          <a:ln/>
        </p:spPr>
        <p:txBody>
          <a:bodyPr wrap="square" lIns="0" tIns="0" rIns="0" bIns="0" rtlCol="0" anchor="t"/>
          <a:lstStyle/>
          <a:p>
            <a:pPr indent="0" marL="0">
              <a:buNone/>
            </a:pPr>
            <a:r>
              <a:rPr lang="en-US" sz="1200" b="1" dirty="0">
                <a:solidFill>
                  <a:srgbClr val="1F3B57"/>
                </a:solidFill>
                <a:latin typeface="Calibri" pitchFamily="34" charset="0"/>
                <a:ea typeface="Calibri" pitchFamily="34" charset="-122"/>
                <a:cs typeface="Calibri" pitchFamily="34" charset="-120"/>
              </a:rPr>
              <a:t>Repower / brownfield</a:t>
            </a:r>
            <a:endParaRPr lang="en-US" sz="1200" dirty="0"/>
          </a:p>
        </p:txBody>
      </p:sp>
      <p:sp>
        <p:nvSpPr>
          <p:cNvPr id="33" name="Shape 31"/>
          <p:cNvSpPr/>
          <p:nvPr/>
        </p:nvSpPr>
        <p:spPr>
          <a:xfrm>
            <a:off x="10607040" y="3264408"/>
            <a:ext cx="932688" cy="237744"/>
          </a:xfrm>
          <a:prstGeom prst="roundRect">
            <a:avLst>
              <a:gd name="adj" fmla="val 50000"/>
            </a:avLst>
          </a:prstGeom>
          <a:solidFill>
            <a:srgbClr val="9C3D3D"/>
          </a:solidFill>
          <a:ln/>
        </p:spPr>
      </p:sp>
      <p:sp>
        <p:nvSpPr>
          <p:cNvPr id="34" name="Text 32"/>
          <p:cNvSpPr/>
          <p:nvPr/>
        </p:nvSpPr>
        <p:spPr>
          <a:xfrm>
            <a:off x="10607040" y="3259836"/>
            <a:ext cx="932688" cy="24688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MISSING</a:t>
            </a:r>
            <a:endParaRPr lang="en-US" sz="850" dirty="0"/>
          </a:p>
        </p:txBody>
      </p:sp>
      <p:sp>
        <p:nvSpPr>
          <p:cNvPr id="35" name="Text 33"/>
          <p:cNvSpPr/>
          <p:nvPr/>
        </p:nvSpPr>
        <p:spPr>
          <a:xfrm>
            <a:off x="8247888" y="3712464"/>
            <a:ext cx="3300984" cy="868680"/>
          </a:xfrm>
          <a:prstGeom prst="rect">
            <a:avLst/>
          </a:prstGeom>
          <a:noFill/>
          <a:ln/>
        </p:spPr>
        <p:txBody>
          <a:bodyPr wrap="square" lIns="0" tIns="0" rIns="0" bIns="0" rtlCol="0" anchor="t"/>
          <a:lstStyle/>
          <a:p>
            <a:pPr indent="0" marL="0">
              <a:lnSpc>
                <a:spcPts val="1200"/>
              </a:lnSpc>
              <a:buNone/>
            </a:pPr>
            <a:r>
              <a:rPr lang="en-US" sz="950" dirty="0">
                <a:solidFill>
                  <a:srgbClr val="2A2F36"/>
                </a:solidFill>
                <a:latin typeface="Calibri" pitchFamily="34" charset="0"/>
                <a:ea typeface="Calibri" pitchFamily="34" charset="-122"/>
                <a:cs typeface="Calibri" pitchFamily="34" charset="-120"/>
              </a:rPr>
              <a:t>Customer proposition exists; no sourced enterprise project list</a:t>
            </a:r>
            <a:endParaRPr lang="en-US" sz="950" dirty="0"/>
          </a:p>
        </p:txBody>
      </p:sp>
      <p:sp>
        <p:nvSpPr>
          <p:cNvPr id="36" name="Shape 34"/>
          <p:cNvSpPr/>
          <p:nvPr/>
        </p:nvSpPr>
        <p:spPr>
          <a:xfrm>
            <a:off x="502920" y="4828032"/>
            <a:ext cx="3575304" cy="1481328"/>
          </a:xfrm>
          <a:prstGeom prst="rect">
            <a:avLst/>
          </a:prstGeom>
          <a:solidFill>
            <a:srgbClr val="F7F9FB"/>
          </a:solidFill>
          <a:ln w="9525">
            <a:solidFill>
              <a:srgbClr val="C9D2DB"/>
            </a:solidFill>
            <a:prstDash val="solid"/>
          </a:ln>
        </p:spPr>
      </p:sp>
      <p:sp>
        <p:nvSpPr>
          <p:cNvPr id="37" name="Text 35"/>
          <p:cNvSpPr/>
          <p:nvPr/>
        </p:nvSpPr>
        <p:spPr>
          <a:xfrm>
            <a:off x="640080" y="4919472"/>
            <a:ext cx="2340864" cy="502920"/>
          </a:xfrm>
          <a:prstGeom prst="rect">
            <a:avLst/>
          </a:prstGeom>
          <a:noFill/>
          <a:ln/>
        </p:spPr>
        <p:txBody>
          <a:bodyPr wrap="square" lIns="0" tIns="0" rIns="0" bIns="0" rtlCol="0" anchor="t"/>
          <a:lstStyle/>
          <a:p>
            <a:pPr indent="0" marL="0">
              <a:buNone/>
            </a:pPr>
            <a:r>
              <a:rPr lang="en-US" sz="1200" b="1" dirty="0">
                <a:solidFill>
                  <a:srgbClr val="1F3B57"/>
                </a:solidFill>
                <a:latin typeface="Calibri" pitchFamily="34" charset="0"/>
                <a:ea typeface="Calibri" pitchFamily="34" charset="-122"/>
                <a:cs typeface="Calibri" pitchFamily="34" charset="-120"/>
              </a:rPr>
              <a:t>Data Center / BTM</a:t>
            </a:r>
            <a:endParaRPr lang="en-US" sz="1200" dirty="0"/>
          </a:p>
        </p:txBody>
      </p:sp>
      <p:sp>
        <p:nvSpPr>
          <p:cNvPr id="38" name="Shape 36"/>
          <p:cNvSpPr/>
          <p:nvPr/>
        </p:nvSpPr>
        <p:spPr>
          <a:xfrm>
            <a:off x="2999232" y="4946904"/>
            <a:ext cx="932688" cy="237744"/>
          </a:xfrm>
          <a:prstGeom prst="roundRect">
            <a:avLst>
              <a:gd name="adj" fmla="val 50000"/>
            </a:avLst>
          </a:prstGeom>
          <a:solidFill>
            <a:srgbClr val="9C3D3D"/>
          </a:solidFill>
          <a:ln/>
        </p:spPr>
      </p:sp>
      <p:sp>
        <p:nvSpPr>
          <p:cNvPr id="39" name="Text 37"/>
          <p:cNvSpPr/>
          <p:nvPr/>
        </p:nvSpPr>
        <p:spPr>
          <a:xfrm>
            <a:off x="2999232" y="4942332"/>
            <a:ext cx="932688" cy="24688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MISSING</a:t>
            </a:r>
            <a:endParaRPr lang="en-US" sz="850" dirty="0"/>
          </a:p>
        </p:txBody>
      </p:sp>
      <p:sp>
        <p:nvSpPr>
          <p:cNvPr id="40" name="Text 38"/>
          <p:cNvSpPr/>
          <p:nvPr/>
        </p:nvSpPr>
        <p:spPr>
          <a:xfrm>
            <a:off x="640080" y="5394960"/>
            <a:ext cx="3300984" cy="868680"/>
          </a:xfrm>
          <a:prstGeom prst="rect">
            <a:avLst/>
          </a:prstGeom>
          <a:noFill/>
          <a:ln/>
        </p:spPr>
        <p:txBody>
          <a:bodyPr wrap="square" lIns="0" tIns="0" rIns="0" bIns="0" rtlCol="0" anchor="t"/>
          <a:lstStyle/>
          <a:p>
            <a:pPr indent="0" marL="0">
              <a:lnSpc>
                <a:spcPts val="1200"/>
              </a:lnSpc>
              <a:buNone/>
            </a:pPr>
            <a:r>
              <a:rPr lang="en-US" sz="950" dirty="0">
                <a:solidFill>
                  <a:srgbClr val="2A2F36"/>
                </a:solidFill>
                <a:latin typeface="Calibri" pitchFamily="34" charset="0"/>
                <a:ea typeface="Calibri" pitchFamily="34" charset="-122"/>
                <a:cs typeface="Calibri" pitchFamily="34" charset="-120"/>
              </a:rPr>
              <a:t>Strategically referenced; no account, project, or overlap map</a:t>
            </a:r>
            <a:endParaRPr lang="en-US" sz="950" dirty="0"/>
          </a:p>
        </p:txBody>
      </p:sp>
      <p:sp>
        <p:nvSpPr>
          <p:cNvPr id="41" name="Shape 39"/>
          <p:cNvSpPr/>
          <p:nvPr/>
        </p:nvSpPr>
        <p:spPr>
          <a:xfrm>
            <a:off x="4306824" y="4828032"/>
            <a:ext cx="3575304" cy="1481328"/>
          </a:xfrm>
          <a:prstGeom prst="rect">
            <a:avLst/>
          </a:prstGeom>
          <a:solidFill>
            <a:srgbClr val="F7F9FB"/>
          </a:solidFill>
          <a:ln w="9525">
            <a:solidFill>
              <a:srgbClr val="C9D2DB"/>
            </a:solidFill>
            <a:prstDash val="solid"/>
          </a:ln>
        </p:spPr>
      </p:sp>
      <p:sp>
        <p:nvSpPr>
          <p:cNvPr id="42" name="Text 40"/>
          <p:cNvSpPr/>
          <p:nvPr/>
        </p:nvSpPr>
        <p:spPr>
          <a:xfrm>
            <a:off x="4443984" y="4919472"/>
            <a:ext cx="2340864" cy="502920"/>
          </a:xfrm>
          <a:prstGeom prst="rect">
            <a:avLst/>
          </a:prstGeom>
          <a:noFill/>
          <a:ln/>
        </p:spPr>
        <p:txBody>
          <a:bodyPr wrap="square" lIns="0" tIns="0" rIns="0" bIns="0" rtlCol="0" anchor="t"/>
          <a:lstStyle/>
          <a:p>
            <a:pPr indent="0" marL="0">
              <a:buNone/>
            </a:pPr>
            <a:r>
              <a:rPr lang="en-US" sz="1200" b="1" dirty="0">
                <a:solidFill>
                  <a:srgbClr val="1F3B57"/>
                </a:solidFill>
                <a:latin typeface="Calibri" pitchFamily="34" charset="0"/>
                <a:ea typeface="Calibri" pitchFamily="34" charset="-122"/>
                <a:cs typeface="Calibri" pitchFamily="34" charset="-120"/>
              </a:rPr>
              <a:t>Nuclear / SMR</a:t>
            </a:r>
            <a:endParaRPr lang="en-US" sz="1200" dirty="0"/>
          </a:p>
        </p:txBody>
      </p:sp>
      <p:sp>
        <p:nvSpPr>
          <p:cNvPr id="43" name="Shape 41"/>
          <p:cNvSpPr/>
          <p:nvPr/>
        </p:nvSpPr>
        <p:spPr>
          <a:xfrm>
            <a:off x="6803136" y="4946904"/>
            <a:ext cx="932688" cy="237744"/>
          </a:xfrm>
          <a:prstGeom prst="roundRect">
            <a:avLst>
              <a:gd name="adj" fmla="val 50000"/>
            </a:avLst>
          </a:prstGeom>
          <a:solidFill>
            <a:srgbClr val="9C3D3D"/>
          </a:solidFill>
          <a:ln/>
        </p:spPr>
      </p:sp>
      <p:sp>
        <p:nvSpPr>
          <p:cNvPr id="44" name="Text 42"/>
          <p:cNvSpPr/>
          <p:nvPr/>
        </p:nvSpPr>
        <p:spPr>
          <a:xfrm>
            <a:off x="6803136" y="4942332"/>
            <a:ext cx="932688" cy="24688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MISSING</a:t>
            </a:r>
            <a:endParaRPr lang="en-US" sz="850" dirty="0"/>
          </a:p>
        </p:txBody>
      </p:sp>
      <p:sp>
        <p:nvSpPr>
          <p:cNvPr id="45" name="Text 43"/>
          <p:cNvSpPr/>
          <p:nvPr/>
        </p:nvSpPr>
        <p:spPr>
          <a:xfrm>
            <a:off x="4443984" y="5394960"/>
            <a:ext cx="3300984" cy="868680"/>
          </a:xfrm>
          <a:prstGeom prst="rect">
            <a:avLst/>
          </a:prstGeom>
          <a:noFill/>
          <a:ln/>
        </p:spPr>
        <p:txBody>
          <a:bodyPr wrap="square" lIns="0" tIns="0" rIns="0" bIns="0" rtlCol="0" anchor="t"/>
          <a:lstStyle/>
          <a:p>
            <a:pPr indent="0" marL="0">
              <a:lnSpc>
                <a:spcPts val="1200"/>
              </a:lnSpc>
              <a:buNone/>
            </a:pPr>
            <a:r>
              <a:rPr lang="en-US" sz="950" dirty="0">
                <a:solidFill>
                  <a:srgbClr val="2A2F36"/>
                </a:solidFill>
                <a:latin typeface="Calibri" pitchFamily="34" charset="0"/>
                <a:ea typeface="Calibri" pitchFamily="34" charset="-122"/>
                <a:cs typeface="Calibri" pitchFamily="34" charset="-120"/>
              </a:rPr>
              <a:t>Strategic lane only; qualification and capability needs unknown</a:t>
            </a:r>
            <a:endParaRPr lang="en-US" sz="950" dirty="0"/>
          </a:p>
        </p:txBody>
      </p:sp>
      <p:sp>
        <p:nvSpPr>
          <p:cNvPr id="46" name="Shape 44"/>
          <p:cNvSpPr/>
          <p:nvPr/>
        </p:nvSpPr>
        <p:spPr>
          <a:xfrm>
            <a:off x="8110728" y="4828032"/>
            <a:ext cx="3575304" cy="1481328"/>
          </a:xfrm>
          <a:prstGeom prst="rect">
            <a:avLst/>
          </a:prstGeom>
          <a:solidFill>
            <a:srgbClr val="F7F9FB"/>
          </a:solidFill>
          <a:ln w="9525">
            <a:solidFill>
              <a:srgbClr val="C9D2DB"/>
            </a:solidFill>
            <a:prstDash val="solid"/>
          </a:ln>
        </p:spPr>
      </p:sp>
      <p:sp>
        <p:nvSpPr>
          <p:cNvPr id="47" name="Text 45"/>
          <p:cNvSpPr/>
          <p:nvPr/>
        </p:nvSpPr>
        <p:spPr>
          <a:xfrm>
            <a:off x="8247888" y="4919472"/>
            <a:ext cx="2340864" cy="502920"/>
          </a:xfrm>
          <a:prstGeom prst="rect">
            <a:avLst/>
          </a:prstGeom>
          <a:noFill/>
          <a:ln/>
        </p:spPr>
        <p:txBody>
          <a:bodyPr wrap="square" lIns="0" tIns="0" rIns="0" bIns="0" rtlCol="0" anchor="t"/>
          <a:lstStyle/>
          <a:p>
            <a:pPr indent="0" marL="0">
              <a:buNone/>
            </a:pPr>
            <a:r>
              <a:rPr lang="en-US" sz="1200" b="1" dirty="0">
                <a:solidFill>
                  <a:srgbClr val="1F3B57"/>
                </a:solidFill>
                <a:latin typeface="Calibri" pitchFamily="34" charset="0"/>
                <a:ea typeface="Calibri" pitchFamily="34" charset="-122"/>
                <a:cs typeface="Calibri" pitchFamily="34" charset="-120"/>
              </a:rPr>
              <a:t>Enterprise enablers</a:t>
            </a:r>
            <a:endParaRPr lang="en-US" sz="1200" dirty="0"/>
          </a:p>
        </p:txBody>
      </p:sp>
      <p:sp>
        <p:nvSpPr>
          <p:cNvPr id="48" name="Shape 46"/>
          <p:cNvSpPr/>
          <p:nvPr/>
        </p:nvSpPr>
        <p:spPr>
          <a:xfrm>
            <a:off x="10607040" y="4946904"/>
            <a:ext cx="932688" cy="237744"/>
          </a:xfrm>
          <a:prstGeom prst="roundRect">
            <a:avLst>
              <a:gd name="adj" fmla="val 50000"/>
            </a:avLst>
          </a:prstGeom>
          <a:solidFill>
            <a:srgbClr val="B07A2A"/>
          </a:solidFill>
          <a:ln/>
        </p:spPr>
      </p:sp>
      <p:sp>
        <p:nvSpPr>
          <p:cNvPr id="49" name="Text 47"/>
          <p:cNvSpPr/>
          <p:nvPr/>
        </p:nvSpPr>
        <p:spPr>
          <a:xfrm>
            <a:off x="10607040" y="4942332"/>
            <a:ext cx="932688" cy="24688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PARTIAL</a:t>
            </a:r>
            <a:endParaRPr lang="en-US" sz="850" dirty="0"/>
          </a:p>
        </p:txBody>
      </p:sp>
      <p:sp>
        <p:nvSpPr>
          <p:cNvPr id="50" name="Text 48"/>
          <p:cNvSpPr/>
          <p:nvPr/>
        </p:nvSpPr>
        <p:spPr>
          <a:xfrm>
            <a:off x="8247888" y="5394960"/>
            <a:ext cx="3300984" cy="868680"/>
          </a:xfrm>
          <a:prstGeom prst="rect">
            <a:avLst/>
          </a:prstGeom>
          <a:noFill/>
          <a:ln/>
        </p:spPr>
        <p:txBody>
          <a:bodyPr wrap="square" lIns="0" tIns="0" rIns="0" bIns="0" rtlCol="0" anchor="t"/>
          <a:lstStyle/>
          <a:p>
            <a:pPr indent="0" marL="0">
              <a:lnSpc>
                <a:spcPts val="1200"/>
              </a:lnSpc>
              <a:buNone/>
            </a:pPr>
            <a:r>
              <a:rPr lang="en-US" sz="950" dirty="0">
                <a:solidFill>
                  <a:srgbClr val="2A2F36"/>
                </a:solidFill>
                <a:latin typeface="Calibri" pitchFamily="34" charset="0"/>
                <a:ea typeface="Calibri" pitchFamily="34" charset="-122"/>
                <a:cs typeface="Calibri" pitchFamily="34" charset="-120"/>
              </a:rPr>
              <a:t>Governance and trackers exist; no common stages, commitments, or single project ID</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3112" cy="256032"/>
          </a:xfrm>
          <a:prstGeom prst="rect">
            <a:avLst/>
          </a:prstGeom>
          <a:noFill/>
          <a:ln/>
        </p:spPr>
        <p:txBody>
          <a:bodyPr wrap="square" lIns="0" tIns="0" rIns="0" bIns="0" rtlCol="0" anchor="ctr"/>
          <a:lstStyle/>
          <a:p>
            <a:pPr indent="0" marL="0">
              <a:buNone/>
            </a:pPr>
            <a:r>
              <a:rPr lang="en-US" sz="1100" b="1" spc="200" kern="0" dirty="0">
                <a:solidFill>
                  <a:srgbClr val="0F6E84"/>
                </a:solidFill>
                <a:latin typeface="Calibri" pitchFamily="34" charset="0"/>
                <a:ea typeface="Calibri" pitchFamily="34" charset="-122"/>
                <a:cs typeface="Calibri" pitchFamily="34" charset="-120"/>
              </a:rPr>
              <a:t>EVIDENCE BASE</a:t>
            </a:r>
            <a:endParaRPr lang="en-US" sz="1100" dirty="0"/>
          </a:p>
        </p:txBody>
      </p:sp>
      <p:sp>
        <p:nvSpPr>
          <p:cNvPr id="3" name="Text 1"/>
          <p:cNvSpPr/>
          <p:nvPr/>
        </p:nvSpPr>
        <p:spPr>
          <a:xfrm>
            <a:off x="502920" y="530352"/>
            <a:ext cx="11183112" cy="777240"/>
          </a:xfrm>
          <a:prstGeom prst="rect">
            <a:avLst/>
          </a:prstGeom>
          <a:noFill/>
          <a:ln/>
        </p:spPr>
        <p:txBody>
          <a:bodyPr wrap="square" lIns="0" tIns="0" rIns="0" bIns="0" rtlCol="0" anchor="t"/>
          <a:lstStyle/>
          <a:p>
            <a:pPr indent="0" marL="0">
              <a:buNone/>
            </a:pPr>
            <a:r>
              <a:rPr lang="en-US" sz="2100" b="1" dirty="0">
                <a:solidFill>
                  <a:srgbClr val="1F3B57"/>
                </a:solidFill>
                <a:latin typeface="Calibri" pitchFamily="34" charset="0"/>
                <a:ea typeface="Calibri" pitchFamily="34" charset="-122"/>
                <a:cs typeface="Calibri" pitchFamily="34" charset="-120"/>
              </a:rPr>
              <a:t>Two developed funnels prove targeting discipline, not pipeline: every count is a stage, and no source shows a qualified opportunity</a:t>
            </a:r>
            <a:endParaRPr lang="en-US" sz="2100" dirty="0"/>
          </a:p>
        </p:txBody>
      </p:sp>
      <p:sp>
        <p:nvSpPr>
          <p:cNvPr id="4" name="Text 2"/>
          <p:cNvSpPr/>
          <p:nvPr/>
        </p:nvSpPr>
        <p:spPr>
          <a:xfrm>
            <a:off x="502920" y="6473952"/>
            <a:ext cx="10085832" cy="274320"/>
          </a:xfrm>
          <a:prstGeom prst="rect">
            <a:avLst/>
          </a:prstGeom>
          <a:noFill/>
          <a:ln/>
        </p:spPr>
        <p:txBody>
          <a:bodyPr wrap="square" lIns="0" tIns="0" rIns="0" bIns="0" rtlCol="0" anchor="ctr"/>
          <a:lstStyle/>
          <a:p>
            <a:pPr indent="0" marL="0">
              <a:buNone/>
            </a:pPr>
            <a:r>
              <a:rPr lang="en-US" sz="850" dirty="0">
                <a:solidFill>
                  <a:srgbClr val="5B6573"/>
                </a:solidFill>
                <a:latin typeface="Calibri" pitchFamily="34" charset="0"/>
                <a:ea typeface="Calibri" pitchFamily="34" charset="-122"/>
                <a:cs typeface="Calibri" pitchFamily="34" charset="-120"/>
              </a:rPr>
              <a:t>Source: S03 pp.1, 3, 5-6 (IPP); S04 p.1 and S09 Executive Targets!A5:I5 (OEM). S09 Method &amp; Assumptions!B14:B15: every OEM entry is a modeled candidate.</a:t>
            </a:r>
            <a:endParaRPr lang="en-US" sz="850" dirty="0"/>
          </a:p>
        </p:txBody>
      </p:sp>
      <p:sp>
        <p:nvSpPr>
          <p:cNvPr id="5" name="Text 3"/>
          <p:cNvSpPr/>
          <p:nvPr/>
        </p:nvSpPr>
        <p:spPr>
          <a:xfrm>
            <a:off x="10268712" y="6473952"/>
            <a:ext cx="1417320" cy="274320"/>
          </a:xfrm>
          <a:prstGeom prst="rect">
            <a:avLst/>
          </a:prstGeom>
          <a:noFill/>
          <a:ln/>
        </p:spPr>
        <p:txBody>
          <a:bodyPr wrap="square" lIns="0" tIns="0" rIns="0" bIns="0" rtlCol="0" anchor="ctr"/>
          <a:lstStyle/>
          <a:p>
            <a:pPr algn="r" indent="0" marL="0">
              <a:buNone/>
            </a:pPr>
            <a:r>
              <a:rPr lang="en-US" sz="850" dirty="0">
                <a:solidFill>
                  <a:srgbClr val="5B6573"/>
                </a:solidFill>
                <a:latin typeface="Calibri" pitchFamily="34" charset="0"/>
                <a:ea typeface="Calibri" pitchFamily="34" charset="-122"/>
                <a:cs typeface="Calibri" pitchFamily="34" charset="-120"/>
              </a:rPr>
              <a:t>SOUTHWIRE POWERGEN | v0  </a:t>
            </a:r>
            <a:pPr algn="r" indent="0" marL="0">
              <a:buNone/>
            </a:pPr>
            <a:r>
              <a:rPr lang="en-US" sz="850" b="1" dirty="0">
                <a:solidFill>
                  <a:srgbClr val="1F3B57"/>
                </a:solidFill>
                <a:latin typeface="Calibri" pitchFamily="34" charset="0"/>
                <a:ea typeface="Calibri" pitchFamily="34" charset="-122"/>
                <a:cs typeface="Calibri" pitchFamily="34" charset="-120"/>
              </a:rPr>
              <a:t>3</a:t>
            </a:r>
            <a:endParaRPr lang="en-US" sz="850" dirty="0"/>
          </a:p>
        </p:txBody>
      </p:sp>
      <p:sp>
        <p:nvSpPr>
          <p:cNvPr id="6" name="Text 4"/>
          <p:cNvSpPr/>
          <p:nvPr/>
        </p:nvSpPr>
        <p:spPr>
          <a:xfrm>
            <a:off x="594360" y="1463040"/>
            <a:ext cx="5120640" cy="320040"/>
          </a:xfrm>
          <a:prstGeom prst="rect">
            <a:avLst/>
          </a:prstGeom>
          <a:noFill/>
          <a:ln/>
        </p:spPr>
        <p:txBody>
          <a:bodyPr wrap="square" lIns="0" tIns="0" rIns="0" bIns="0" rtlCol="0" anchor="ctr"/>
          <a:lstStyle/>
          <a:p>
            <a:pPr indent="0" marL="0">
              <a:buNone/>
            </a:pPr>
            <a:r>
              <a:rPr lang="en-US" sz="1400" b="1" dirty="0">
                <a:solidFill>
                  <a:srgbClr val="1F3B57"/>
                </a:solidFill>
                <a:latin typeface="Calibri" pitchFamily="34" charset="0"/>
                <a:ea typeface="Calibri" pitchFamily="34" charset="-122"/>
                <a:cs typeface="Calibri" pitchFamily="34" charset="-120"/>
              </a:rPr>
              <a:t>IPP conventional gas (S03)</a:t>
            </a:r>
            <a:endParaRPr lang="en-US" sz="1400" dirty="0"/>
          </a:p>
        </p:txBody>
      </p:sp>
      <p:sp>
        <p:nvSpPr>
          <p:cNvPr id="7" name="Shape 5"/>
          <p:cNvSpPr/>
          <p:nvPr/>
        </p:nvSpPr>
        <p:spPr>
          <a:xfrm>
            <a:off x="594360" y="1874520"/>
            <a:ext cx="4937760" cy="530352"/>
          </a:xfrm>
          <a:prstGeom prst="rect">
            <a:avLst/>
          </a:prstGeom>
          <a:solidFill>
            <a:srgbClr val="2C4E70"/>
          </a:solidFill>
          <a:ln w="12700">
            <a:solidFill>
              <a:srgbClr val="FFFFFF"/>
            </a:solidFill>
            <a:prstDash val="solid"/>
          </a:ln>
        </p:spPr>
      </p:sp>
      <p:sp>
        <p:nvSpPr>
          <p:cNvPr id="8" name="Text 6"/>
          <p:cNvSpPr/>
          <p:nvPr/>
        </p:nvSpPr>
        <p:spPr>
          <a:xfrm>
            <a:off x="594360" y="1874520"/>
            <a:ext cx="4937760" cy="53035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500+   </a:t>
            </a:r>
            <a:pPr algn="ctr" indent="0" marL="0">
              <a:buNone/>
            </a:pPr>
            <a:r>
              <a:rPr lang="en-US" sz="1000" dirty="0">
                <a:solidFill>
                  <a:srgbClr val="FFFFFF"/>
                </a:solidFill>
                <a:latin typeface="Calibri" pitchFamily="34" charset="0"/>
                <a:ea typeface="Calibri" pitchFamily="34" charset="-122"/>
                <a:cs typeface="Calibri" pitchFamily="34" charset="-120"/>
              </a:rPr>
              <a:t>market signals</a:t>
            </a:r>
            <a:endParaRPr lang="en-US" sz="1500" dirty="0"/>
          </a:p>
        </p:txBody>
      </p:sp>
      <p:sp>
        <p:nvSpPr>
          <p:cNvPr id="9" name="Shape 7"/>
          <p:cNvSpPr/>
          <p:nvPr/>
        </p:nvSpPr>
        <p:spPr>
          <a:xfrm>
            <a:off x="1063447" y="2514600"/>
            <a:ext cx="3999586" cy="530352"/>
          </a:xfrm>
          <a:prstGeom prst="rect">
            <a:avLst/>
          </a:prstGeom>
          <a:solidFill>
            <a:srgbClr val="2C4E70"/>
          </a:solidFill>
          <a:ln w="12700">
            <a:solidFill>
              <a:srgbClr val="FFFFFF"/>
            </a:solidFill>
            <a:prstDash val="solid"/>
          </a:ln>
        </p:spPr>
      </p:sp>
      <p:sp>
        <p:nvSpPr>
          <p:cNvPr id="10" name="Text 8"/>
          <p:cNvSpPr/>
          <p:nvPr/>
        </p:nvSpPr>
        <p:spPr>
          <a:xfrm>
            <a:off x="1063447" y="2514600"/>
            <a:ext cx="3999586" cy="53035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29   </a:t>
            </a:r>
            <a:pPr algn="ctr" indent="0" marL="0">
              <a:buNone/>
            </a:pPr>
            <a:r>
              <a:rPr lang="en-US" sz="1000" dirty="0">
                <a:solidFill>
                  <a:srgbClr val="FFFFFF"/>
                </a:solidFill>
                <a:latin typeface="Calibri" pitchFamily="34" charset="0"/>
                <a:ea typeface="Calibri" pitchFamily="34" charset="-122"/>
                <a:cs typeface="Calibri" pitchFamily="34" charset="-120"/>
              </a:rPr>
              <a:t>reviewed items</a:t>
            </a:r>
            <a:endParaRPr lang="en-US" sz="1500" dirty="0"/>
          </a:p>
        </p:txBody>
      </p:sp>
      <p:sp>
        <p:nvSpPr>
          <p:cNvPr id="11" name="Shape 9"/>
          <p:cNvSpPr/>
          <p:nvPr/>
        </p:nvSpPr>
        <p:spPr>
          <a:xfrm>
            <a:off x="1532534" y="3154680"/>
            <a:ext cx="3061411" cy="530352"/>
          </a:xfrm>
          <a:prstGeom prst="rect">
            <a:avLst/>
          </a:prstGeom>
          <a:solidFill>
            <a:srgbClr val="2C4E70"/>
          </a:solidFill>
          <a:ln w="12700">
            <a:solidFill>
              <a:srgbClr val="FFFFFF"/>
            </a:solidFill>
            <a:prstDash val="solid"/>
          </a:ln>
        </p:spPr>
      </p:sp>
      <p:sp>
        <p:nvSpPr>
          <p:cNvPr id="12" name="Text 10"/>
          <p:cNvSpPr/>
          <p:nvPr/>
        </p:nvSpPr>
        <p:spPr>
          <a:xfrm>
            <a:off x="1532534" y="3154680"/>
            <a:ext cx="3061411" cy="53035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17   </a:t>
            </a:r>
            <a:pPr algn="ctr" indent="0" marL="0">
              <a:buNone/>
            </a:pPr>
            <a:r>
              <a:rPr lang="en-US" sz="1000" dirty="0">
                <a:solidFill>
                  <a:srgbClr val="FFFFFF"/>
                </a:solidFill>
                <a:latin typeface="Calibri" pitchFamily="34" charset="0"/>
                <a:ea typeface="Calibri" pitchFamily="34" charset="-122"/>
                <a:cs typeface="Calibri" pitchFamily="34" charset="-120"/>
              </a:rPr>
              <a:t>labeled actionable</a:t>
            </a:r>
            <a:endParaRPr lang="en-US" sz="1500" dirty="0"/>
          </a:p>
        </p:txBody>
      </p:sp>
      <p:sp>
        <p:nvSpPr>
          <p:cNvPr id="13" name="Shape 11"/>
          <p:cNvSpPr/>
          <p:nvPr/>
        </p:nvSpPr>
        <p:spPr>
          <a:xfrm>
            <a:off x="2001622" y="3794760"/>
            <a:ext cx="2123237" cy="530352"/>
          </a:xfrm>
          <a:prstGeom prst="rect">
            <a:avLst/>
          </a:prstGeom>
          <a:solidFill>
            <a:srgbClr val="0F6E84"/>
          </a:solidFill>
          <a:ln w="12700">
            <a:solidFill>
              <a:srgbClr val="FFFFFF"/>
            </a:solidFill>
            <a:prstDash val="solid"/>
          </a:ln>
        </p:spPr>
      </p:sp>
      <p:sp>
        <p:nvSpPr>
          <p:cNvPr id="14" name="Text 12"/>
          <p:cNvSpPr/>
          <p:nvPr/>
        </p:nvSpPr>
        <p:spPr>
          <a:xfrm>
            <a:off x="2001622" y="3794760"/>
            <a:ext cx="2123237" cy="53035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3-5   </a:t>
            </a:r>
            <a:pPr algn="ctr" indent="0" marL="0">
              <a:buNone/>
            </a:pPr>
            <a:r>
              <a:rPr lang="en-US" sz="1000" dirty="0">
                <a:solidFill>
                  <a:srgbClr val="FFFFFF"/>
                </a:solidFill>
                <a:latin typeface="Calibri" pitchFamily="34" charset="0"/>
                <a:ea typeface="Calibri" pitchFamily="34" charset="-122"/>
                <a:cs typeface="Calibri" pitchFamily="34" charset="-120"/>
              </a:rPr>
              <a:t>recommended focus</a:t>
            </a:r>
            <a:endParaRPr lang="en-US" sz="1500" dirty="0"/>
          </a:p>
        </p:txBody>
      </p:sp>
      <p:sp>
        <p:nvSpPr>
          <p:cNvPr id="15" name="Text 13"/>
          <p:cNvSpPr/>
          <p:nvPr/>
        </p:nvSpPr>
        <p:spPr>
          <a:xfrm>
            <a:off x="594360" y="4480560"/>
            <a:ext cx="4937760" cy="685800"/>
          </a:xfrm>
          <a:prstGeom prst="rect">
            <a:avLst/>
          </a:prstGeom>
          <a:noFill/>
          <a:ln/>
        </p:spPr>
        <p:txBody>
          <a:bodyPr wrap="square" lIns="0" tIns="0" rIns="0" bIns="0" rtlCol="0" anchor="ctr"/>
          <a:lstStyle/>
          <a:p>
            <a:pPr indent="0" marL="0">
              <a:lnSpc>
                <a:spcPts val="1300"/>
              </a:lnSpc>
              <a:buNone/>
            </a:pPr>
            <a:r>
              <a:rPr lang="en-US" sz="1000" dirty="0">
                <a:solidFill>
                  <a:srgbClr val="5B6573"/>
                </a:solidFill>
                <a:latin typeface="Calibri" pitchFamily="34" charset="0"/>
                <a:ea typeface="Calibri" pitchFamily="34" charset="-122"/>
                <a:cs typeface="Calibri" pitchFamily="34" charset="-120"/>
              </a:rPr>
              <a:t>Stages are distinct and must stay separated; the account board flags relationship-versus-stage errors (S08).</a:t>
            </a:r>
            <a:endParaRPr lang="en-US" sz="1000" dirty="0"/>
          </a:p>
        </p:txBody>
      </p:sp>
      <p:sp>
        <p:nvSpPr>
          <p:cNvPr id="16" name="Text 14"/>
          <p:cNvSpPr/>
          <p:nvPr/>
        </p:nvSpPr>
        <p:spPr>
          <a:xfrm>
            <a:off x="6309360" y="1463040"/>
            <a:ext cx="5120640" cy="320040"/>
          </a:xfrm>
          <a:prstGeom prst="rect">
            <a:avLst/>
          </a:prstGeom>
          <a:noFill/>
          <a:ln/>
        </p:spPr>
        <p:txBody>
          <a:bodyPr wrap="square" lIns="0" tIns="0" rIns="0" bIns="0" rtlCol="0" anchor="ctr"/>
          <a:lstStyle/>
          <a:p>
            <a:pPr indent="0" marL="0">
              <a:buNone/>
            </a:pPr>
            <a:r>
              <a:rPr lang="en-US" sz="1400" b="1" dirty="0">
                <a:solidFill>
                  <a:srgbClr val="1F3B57"/>
                </a:solidFill>
                <a:latin typeface="Calibri" pitchFamily="34" charset="0"/>
                <a:ea typeface="Calibri" pitchFamily="34" charset="-122"/>
                <a:cs typeface="Calibri" pitchFamily="34" charset="-120"/>
              </a:rPr>
              <a:t>OEM / modular (S04, S09)</a:t>
            </a:r>
            <a:endParaRPr lang="en-US" sz="1400" dirty="0"/>
          </a:p>
        </p:txBody>
      </p:sp>
      <p:sp>
        <p:nvSpPr>
          <p:cNvPr id="17" name="Shape 15"/>
          <p:cNvSpPr/>
          <p:nvPr/>
        </p:nvSpPr>
        <p:spPr>
          <a:xfrm>
            <a:off x="6309360" y="1874520"/>
            <a:ext cx="4937760" cy="530352"/>
          </a:xfrm>
          <a:prstGeom prst="rect">
            <a:avLst/>
          </a:prstGeom>
          <a:solidFill>
            <a:srgbClr val="2C4E70"/>
          </a:solidFill>
          <a:ln w="12700">
            <a:solidFill>
              <a:srgbClr val="FFFFFF"/>
            </a:solidFill>
            <a:prstDash val="solid"/>
          </a:ln>
        </p:spPr>
      </p:sp>
      <p:sp>
        <p:nvSpPr>
          <p:cNvPr id="18" name="Text 16"/>
          <p:cNvSpPr/>
          <p:nvPr/>
        </p:nvSpPr>
        <p:spPr>
          <a:xfrm>
            <a:off x="6309360" y="1874520"/>
            <a:ext cx="4937760" cy="53035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300   </a:t>
            </a:r>
            <a:pPr algn="ctr" indent="0" marL="0">
              <a:buNone/>
            </a:pPr>
            <a:r>
              <a:rPr lang="en-US" sz="1000" dirty="0">
                <a:solidFill>
                  <a:srgbClr val="FFFFFF"/>
                </a:solidFill>
                <a:latin typeface="Calibri" pitchFamily="34" charset="0"/>
                <a:ea typeface="Calibri" pitchFamily="34" charset="-122"/>
                <a:cs typeface="Calibri" pitchFamily="34" charset="-120"/>
              </a:rPr>
              <a:t>names screened</a:t>
            </a:r>
            <a:endParaRPr lang="en-US" sz="1500" dirty="0"/>
          </a:p>
        </p:txBody>
      </p:sp>
      <p:sp>
        <p:nvSpPr>
          <p:cNvPr id="19" name="Shape 17"/>
          <p:cNvSpPr/>
          <p:nvPr/>
        </p:nvSpPr>
        <p:spPr>
          <a:xfrm>
            <a:off x="6778447" y="2514600"/>
            <a:ext cx="3999586" cy="530352"/>
          </a:xfrm>
          <a:prstGeom prst="rect">
            <a:avLst/>
          </a:prstGeom>
          <a:solidFill>
            <a:srgbClr val="2C4E70"/>
          </a:solidFill>
          <a:ln w="12700">
            <a:solidFill>
              <a:srgbClr val="FFFFFF"/>
            </a:solidFill>
            <a:prstDash val="solid"/>
          </a:ln>
        </p:spPr>
      </p:sp>
      <p:sp>
        <p:nvSpPr>
          <p:cNvPr id="20" name="Text 18"/>
          <p:cNvSpPr/>
          <p:nvPr/>
        </p:nvSpPr>
        <p:spPr>
          <a:xfrm>
            <a:off x="6778447" y="2514600"/>
            <a:ext cx="3999586" cy="53035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100   </a:t>
            </a:r>
            <a:pPr algn="ctr" indent="0" marL="0">
              <a:buNone/>
            </a:pPr>
            <a:r>
              <a:rPr lang="en-US" sz="1000" dirty="0">
                <a:solidFill>
                  <a:srgbClr val="FFFFFF"/>
                </a:solidFill>
                <a:latin typeface="Calibri" pitchFamily="34" charset="0"/>
                <a:ea typeface="Calibri" pitchFamily="34" charset="-122"/>
                <a:cs typeface="Calibri" pitchFamily="34" charset="-120"/>
              </a:rPr>
              <a:t>candidates</a:t>
            </a:r>
            <a:endParaRPr lang="en-US" sz="1500" dirty="0"/>
          </a:p>
        </p:txBody>
      </p:sp>
      <p:sp>
        <p:nvSpPr>
          <p:cNvPr id="21" name="Shape 19"/>
          <p:cNvSpPr/>
          <p:nvPr/>
        </p:nvSpPr>
        <p:spPr>
          <a:xfrm>
            <a:off x="7247534" y="3154680"/>
            <a:ext cx="3061411" cy="530352"/>
          </a:xfrm>
          <a:prstGeom prst="rect">
            <a:avLst/>
          </a:prstGeom>
          <a:solidFill>
            <a:srgbClr val="2C4E70"/>
          </a:solidFill>
          <a:ln w="12700">
            <a:solidFill>
              <a:srgbClr val="FFFFFF"/>
            </a:solidFill>
            <a:prstDash val="solid"/>
          </a:ln>
        </p:spPr>
      </p:sp>
      <p:sp>
        <p:nvSpPr>
          <p:cNvPr id="22" name="Text 20"/>
          <p:cNvSpPr/>
          <p:nvPr/>
        </p:nvSpPr>
        <p:spPr>
          <a:xfrm>
            <a:off x="7247534" y="3154680"/>
            <a:ext cx="3061411" cy="53035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55   </a:t>
            </a:r>
            <a:pPr algn="ctr" indent="0" marL="0">
              <a:buNone/>
            </a:pPr>
            <a:r>
              <a:rPr lang="en-US" sz="1000" dirty="0">
                <a:solidFill>
                  <a:srgbClr val="FFFFFF"/>
                </a:solidFill>
                <a:latin typeface="Calibri" pitchFamily="34" charset="0"/>
                <a:ea typeface="Calibri" pitchFamily="34" charset="-122"/>
                <a:cs typeface="Calibri" pitchFamily="34" charset="-120"/>
              </a:rPr>
              <a:t>priorities</a:t>
            </a:r>
            <a:endParaRPr lang="en-US" sz="1500" dirty="0"/>
          </a:p>
        </p:txBody>
      </p:sp>
      <p:sp>
        <p:nvSpPr>
          <p:cNvPr id="23" name="Shape 21"/>
          <p:cNvSpPr/>
          <p:nvPr/>
        </p:nvSpPr>
        <p:spPr>
          <a:xfrm>
            <a:off x="7716622" y="3794760"/>
            <a:ext cx="2123237" cy="530352"/>
          </a:xfrm>
          <a:prstGeom prst="rect">
            <a:avLst/>
          </a:prstGeom>
          <a:solidFill>
            <a:srgbClr val="0F6E84"/>
          </a:solidFill>
          <a:ln w="12700">
            <a:solidFill>
              <a:srgbClr val="FFFFFF"/>
            </a:solidFill>
            <a:prstDash val="solid"/>
          </a:ln>
        </p:spPr>
      </p:sp>
      <p:sp>
        <p:nvSpPr>
          <p:cNvPr id="24" name="Text 22"/>
          <p:cNvSpPr/>
          <p:nvPr/>
        </p:nvSpPr>
        <p:spPr>
          <a:xfrm>
            <a:off x="7716622" y="3794760"/>
            <a:ext cx="2123237" cy="53035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31   </a:t>
            </a:r>
            <a:pPr algn="ctr" indent="0" marL="0">
              <a:buNone/>
            </a:pPr>
            <a:r>
              <a:rPr lang="en-US" sz="1000" dirty="0">
                <a:solidFill>
                  <a:srgbClr val="FFFFFF"/>
                </a:solidFill>
                <a:latin typeface="Calibri" pitchFamily="34" charset="0"/>
                <a:ea typeface="Calibri" pitchFamily="34" charset="-122"/>
                <a:cs typeface="Calibri" pitchFamily="34" charset="-120"/>
              </a:rPr>
              <a:t>Tier 1 (S04 says 30)</a:t>
            </a:r>
            <a:endParaRPr lang="en-US" sz="1500" dirty="0"/>
          </a:p>
        </p:txBody>
      </p:sp>
      <p:sp>
        <p:nvSpPr>
          <p:cNvPr id="25" name="Text 23"/>
          <p:cNvSpPr/>
          <p:nvPr/>
        </p:nvSpPr>
        <p:spPr>
          <a:xfrm>
            <a:off x="6309360" y="4480560"/>
            <a:ext cx="4937760" cy="685800"/>
          </a:xfrm>
          <a:prstGeom prst="rect">
            <a:avLst/>
          </a:prstGeom>
          <a:noFill/>
          <a:ln/>
        </p:spPr>
        <p:txBody>
          <a:bodyPr wrap="square" lIns="0" tIns="0" rIns="0" bIns="0" rtlCol="0" anchor="ctr"/>
          <a:lstStyle/>
          <a:p>
            <a:pPr indent="0" marL="0">
              <a:lnSpc>
                <a:spcPts val="1300"/>
              </a:lnSpc>
              <a:buNone/>
            </a:pPr>
            <a:r>
              <a:rPr lang="en-US" sz="1000" dirty="0">
                <a:solidFill>
                  <a:srgbClr val="5B6573"/>
                </a:solidFill>
                <a:latin typeface="Calibri" pitchFamily="34" charset="0"/>
                <a:ea typeface="Calibri" pitchFamily="34" charset="-122"/>
                <a:cs typeface="Calibri" pitchFamily="34" charset="-120"/>
              </a:rPr>
              <a:t>All rows are modeled candidates, not incumbents, awards, or engaged accounts. 30-vs-31 count is an open conflict (C07).</a:t>
            </a:r>
            <a:endParaRPr lang="en-US" sz="1000" dirty="0"/>
          </a:p>
        </p:txBody>
      </p:sp>
      <p:sp>
        <p:nvSpPr>
          <p:cNvPr id="26" name="Shape 24"/>
          <p:cNvSpPr/>
          <p:nvPr/>
        </p:nvSpPr>
        <p:spPr>
          <a:xfrm>
            <a:off x="502920" y="5806440"/>
            <a:ext cx="11183112" cy="502920"/>
          </a:xfrm>
          <a:prstGeom prst="rect">
            <a:avLst/>
          </a:prstGeom>
          <a:solidFill>
            <a:srgbClr val="EDF1F5"/>
          </a:solidFill>
          <a:ln w="9525">
            <a:solidFill>
              <a:srgbClr val="C9D2DB"/>
            </a:solidFill>
            <a:prstDash val="solid"/>
          </a:ln>
        </p:spPr>
      </p:sp>
      <p:sp>
        <p:nvSpPr>
          <p:cNvPr id="27" name="Text 25"/>
          <p:cNvSpPr/>
          <p:nvPr/>
        </p:nvSpPr>
        <p:spPr>
          <a:xfrm>
            <a:off x="685800" y="5806440"/>
            <a:ext cx="10817352" cy="502920"/>
          </a:xfrm>
          <a:prstGeom prst="rect">
            <a:avLst/>
          </a:prstGeom>
          <a:noFill/>
          <a:ln/>
        </p:spPr>
        <p:txBody>
          <a:bodyPr wrap="square" lIns="0" tIns="0" rIns="0" bIns="0" rtlCol="0" anchor="ctr"/>
          <a:lstStyle/>
          <a:p>
            <a:pPr indent="0" marL="0">
              <a:buNone/>
            </a:pPr>
            <a:r>
              <a:rPr lang="en-US" sz="1150" b="1" dirty="0">
                <a:solidFill>
                  <a:srgbClr val="1F3B57"/>
                </a:solidFill>
                <a:latin typeface="Calibri" pitchFamily="34" charset="0"/>
                <a:ea typeface="Calibri" pitchFamily="34" charset="-122"/>
                <a:cs typeface="Calibri" pitchFamily="34" charset="-120"/>
              </a:rPr>
              <a:t>Rule for Thursday:  </a:t>
            </a:r>
            <a:pPr indent="0" marL="0">
              <a:buNone/>
            </a:pPr>
            <a:r>
              <a:rPr lang="en-US" sz="1150" dirty="0">
                <a:solidFill>
                  <a:srgbClr val="2A2F36"/>
                </a:solidFill>
                <a:latin typeface="Calibri" pitchFamily="34" charset="0"/>
                <a:ea typeface="Calibri" pitchFamily="34" charset="-122"/>
                <a:cs typeface="Calibri" pitchFamily="34" charset="-120"/>
              </a:rPr>
              <a:t>a candidate or a relationship is never counted as an opportunity; Candidate, Contacted, Engaged, Qualified, RFP, Quoted, Awarded, and Booked remain separate stages.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3112" cy="256032"/>
          </a:xfrm>
          <a:prstGeom prst="rect">
            <a:avLst/>
          </a:prstGeom>
          <a:noFill/>
          <a:ln/>
        </p:spPr>
        <p:txBody>
          <a:bodyPr wrap="square" lIns="0" tIns="0" rIns="0" bIns="0" rtlCol="0" anchor="ctr"/>
          <a:lstStyle/>
          <a:p>
            <a:pPr indent="0" marL="0">
              <a:buNone/>
            </a:pPr>
            <a:r>
              <a:rPr lang="en-US" sz="1100" b="1" spc="200" kern="0" dirty="0">
                <a:solidFill>
                  <a:srgbClr val="0F6E84"/>
                </a:solidFill>
                <a:latin typeface="Calibri" pitchFamily="34" charset="0"/>
                <a:ea typeface="Calibri" pitchFamily="34" charset="-122"/>
                <a:cs typeface="Calibri" pitchFamily="34" charset="-120"/>
              </a:rPr>
              <a:t>EVIDENCE DISCIPLINE</a:t>
            </a:r>
            <a:endParaRPr lang="en-US" sz="1100" dirty="0"/>
          </a:p>
        </p:txBody>
      </p:sp>
      <p:sp>
        <p:nvSpPr>
          <p:cNvPr id="3" name="Text 1"/>
          <p:cNvSpPr/>
          <p:nvPr/>
        </p:nvSpPr>
        <p:spPr>
          <a:xfrm>
            <a:off x="502920" y="530352"/>
            <a:ext cx="11183112" cy="777240"/>
          </a:xfrm>
          <a:prstGeom prst="rect">
            <a:avLst/>
          </a:prstGeom>
          <a:noFill/>
          <a:ln/>
        </p:spPr>
        <p:txBody>
          <a:bodyPr wrap="square" lIns="0" tIns="0" rIns="0" bIns="0" rtlCol="0" anchor="t"/>
          <a:lstStyle/>
          <a:p>
            <a:pPr indent="0" marL="0">
              <a:buNone/>
            </a:pPr>
            <a:r>
              <a:rPr lang="en-US" sz="2100" b="1" dirty="0">
                <a:solidFill>
                  <a:srgbClr val="1F3B57"/>
                </a:solidFill>
                <a:latin typeface="Calibri" pitchFamily="34" charset="0"/>
                <a:ea typeface="Calibri" pitchFamily="34" charset="-122"/>
                <a:cs typeface="Calibri" pitchFamily="34" charset="-120"/>
              </a:rPr>
              <a:t>The figures are material and unreconciled: they stay internal and labeled directional until Finance signs one auditable set</a:t>
            </a:r>
            <a:endParaRPr lang="en-US" sz="2100" dirty="0"/>
          </a:p>
        </p:txBody>
      </p:sp>
      <p:sp>
        <p:nvSpPr>
          <p:cNvPr id="4" name="Text 2"/>
          <p:cNvSpPr/>
          <p:nvPr/>
        </p:nvSpPr>
        <p:spPr>
          <a:xfrm>
            <a:off x="502920" y="6473952"/>
            <a:ext cx="10085832" cy="274320"/>
          </a:xfrm>
          <a:prstGeom prst="rect">
            <a:avLst/>
          </a:prstGeom>
          <a:noFill/>
          <a:ln/>
        </p:spPr>
        <p:txBody>
          <a:bodyPr wrap="square" lIns="0" tIns="0" rIns="0" bIns="0" rtlCol="0" anchor="ctr"/>
          <a:lstStyle/>
          <a:p>
            <a:pPr indent="0" marL="0">
              <a:buNone/>
            </a:pPr>
            <a:r>
              <a:rPr lang="en-US" sz="850" dirty="0">
                <a:solidFill>
                  <a:srgbClr val="5B6573"/>
                </a:solidFill>
                <a:latin typeface="Calibri" pitchFamily="34" charset="0"/>
                <a:ea typeface="Calibri" pitchFamily="34" charset="-122"/>
                <a:cs typeface="Calibri" pitchFamily="34" charset="-120"/>
              </a:rPr>
              <a:t>Source: conflict ledger C01-C07 (01_Evidence_and_Conflict_Ledger); S03 p.2; S04 p.1; S06 pp.1-2; S10 p.11. Reconciliation due September 4 (mobilization plan).</a:t>
            </a:r>
            <a:endParaRPr lang="en-US" sz="850" dirty="0"/>
          </a:p>
        </p:txBody>
      </p:sp>
      <p:sp>
        <p:nvSpPr>
          <p:cNvPr id="5" name="Text 3"/>
          <p:cNvSpPr/>
          <p:nvPr/>
        </p:nvSpPr>
        <p:spPr>
          <a:xfrm>
            <a:off x="10268712" y="6473952"/>
            <a:ext cx="1417320" cy="274320"/>
          </a:xfrm>
          <a:prstGeom prst="rect">
            <a:avLst/>
          </a:prstGeom>
          <a:noFill/>
          <a:ln/>
        </p:spPr>
        <p:txBody>
          <a:bodyPr wrap="square" lIns="0" tIns="0" rIns="0" bIns="0" rtlCol="0" anchor="ctr"/>
          <a:lstStyle/>
          <a:p>
            <a:pPr algn="r" indent="0" marL="0">
              <a:buNone/>
            </a:pPr>
            <a:r>
              <a:rPr lang="en-US" sz="850" dirty="0">
                <a:solidFill>
                  <a:srgbClr val="5B6573"/>
                </a:solidFill>
                <a:latin typeface="Calibri" pitchFamily="34" charset="0"/>
                <a:ea typeface="Calibri" pitchFamily="34" charset="-122"/>
                <a:cs typeface="Calibri" pitchFamily="34" charset="-120"/>
              </a:rPr>
              <a:t>SOUTHWIRE POWERGEN | v0  </a:t>
            </a:r>
            <a:pPr algn="r" indent="0" marL="0">
              <a:buNone/>
            </a:pPr>
            <a:r>
              <a:rPr lang="en-US" sz="850" b="1" dirty="0">
                <a:solidFill>
                  <a:srgbClr val="1F3B57"/>
                </a:solidFill>
                <a:latin typeface="Calibri" pitchFamily="34" charset="0"/>
                <a:ea typeface="Calibri" pitchFamily="34" charset="-122"/>
                <a:cs typeface="Calibri" pitchFamily="34" charset="-120"/>
              </a:rPr>
              <a:t>4</a:t>
            </a:r>
            <a:endParaRPr lang="en-US" sz="850" dirty="0"/>
          </a:p>
        </p:txBody>
      </p:sp>
      <p:sp>
        <p:nvSpPr>
          <p:cNvPr id="6" name="Shape 4"/>
          <p:cNvSpPr/>
          <p:nvPr/>
        </p:nvSpPr>
        <p:spPr>
          <a:xfrm>
            <a:off x="502920" y="1481328"/>
            <a:ext cx="1965960" cy="384048"/>
          </a:xfrm>
          <a:prstGeom prst="rect">
            <a:avLst/>
          </a:prstGeom>
          <a:solidFill>
            <a:srgbClr val="1F3B57"/>
          </a:solidFill>
          <a:ln w="9525">
            <a:solidFill>
              <a:srgbClr val="FFFFFF"/>
            </a:solidFill>
            <a:prstDash val="solid"/>
          </a:ln>
        </p:spPr>
      </p:sp>
      <p:sp>
        <p:nvSpPr>
          <p:cNvPr id="7" name="Text 5"/>
          <p:cNvSpPr/>
          <p:nvPr/>
        </p:nvSpPr>
        <p:spPr>
          <a:xfrm>
            <a:off x="612648" y="1481328"/>
            <a:ext cx="174650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Figure</a:t>
            </a:r>
            <a:endParaRPr lang="en-US" sz="1100" dirty="0"/>
          </a:p>
        </p:txBody>
      </p:sp>
      <p:sp>
        <p:nvSpPr>
          <p:cNvPr id="8" name="Shape 6"/>
          <p:cNvSpPr/>
          <p:nvPr/>
        </p:nvSpPr>
        <p:spPr>
          <a:xfrm>
            <a:off x="2468880" y="1481328"/>
            <a:ext cx="4663440" cy="384048"/>
          </a:xfrm>
          <a:prstGeom prst="rect">
            <a:avLst/>
          </a:prstGeom>
          <a:solidFill>
            <a:srgbClr val="1F3B57"/>
          </a:solidFill>
          <a:ln w="9525">
            <a:solidFill>
              <a:srgbClr val="FFFFFF"/>
            </a:solidFill>
            <a:prstDash val="solid"/>
          </a:ln>
        </p:spPr>
      </p:sp>
      <p:sp>
        <p:nvSpPr>
          <p:cNvPr id="9" name="Text 7"/>
          <p:cNvSpPr/>
          <p:nvPr/>
        </p:nvSpPr>
        <p:spPr>
          <a:xfrm>
            <a:off x="2578608" y="1481328"/>
            <a:ext cx="444398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Conflicting versions in the sources</a:t>
            </a:r>
            <a:endParaRPr lang="en-US" sz="1100" dirty="0"/>
          </a:p>
        </p:txBody>
      </p:sp>
      <p:sp>
        <p:nvSpPr>
          <p:cNvPr id="10" name="Shape 8"/>
          <p:cNvSpPr/>
          <p:nvPr/>
        </p:nvSpPr>
        <p:spPr>
          <a:xfrm>
            <a:off x="7132320" y="1481328"/>
            <a:ext cx="4553712" cy="384048"/>
          </a:xfrm>
          <a:prstGeom prst="rect">
            <a:avLst/>
          </a:prstGeom>
          <a:solidFill>
            <a:srgbClr val="1F3B57"/>
          </a:solidFill>
          <a:ln w="9525">
            <a:solidFill>
              <a:srgbClr val="FFFFFF"/>
            </a:solidFill>
            <a:prstDash val="solid"/>
          </a:ln>
        </p:spPr>
      </p:sp>
      <p:sp>
        <p:nvSpPr>
          <p:cNvPr id="11" name="Text 9"/>
          <p:cNvSpPr/>
          <p:nvPr/>
        </p:nvSpPr>
        <p:spPr>
          <a:xfrm>
            <a:off x="7242048" y="1481328"/>
            <a:ext cx="4334256"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Treatment until reconciled</a:t>
            </a:r>
            <a:endParaRPr lang="en-US" sz="1100" dirty="0"/>
          </a:p>
        </p:txBody>
      </p:sp>
      <p:sp>
        <p:nvSpPr>
          <p:cNvPr id="12" name="Shape 10"/>
          <p:cNvSpPr/>
          <p:nvPr/>
        </p:nvSpPr>
        <p:spPr>
          <a:xfrm>
            <a:off x="502920" y="1865376"/>
            <a:ext cx="1965960" cy="713232"/>
          </a:xfrm>
          <a:prstGeom prst="rect">
            <a:avLst/>
          </a:prstGeom>
          <a:solidFill>
            <a:srgbClr val="FFFFFF"/>
          </a:solidFill>
          <a:ln w="9525">
            <a:solidFill>
              <a:srgbClr val="C9D2DB"/>
            </a:solidFill>
            <a:prstDash val="solid"/>
          </a:ln>
        </p:spPr>
      </p:sp>
      <p:sp>
        <p:nvSpPr>
          <p:cNvPr id="13" name="Text 11"/>
          <p:cNvSpPr/>
          <p:nvPr/>
        </p:nvSpPr>
        <p:spPr>
          <a:xfrm>
            <a:off x="612648" y="1911096"/>
            <a:ext cx="1746504" cy="621792"/>
          </a:xfrm>
          <a:prstGeom prst="rect">
            <a:avLst/>
          </a:prstGeom>
          <a:noFill/>
          <a:ln/>
        </p:spPr>
        <p:txBody>
          <a:bodyPr wrap="square" lIns="0" tIns="0" rIns="0" bIns="0" rtlCol="0" anchor="ctr"/>
          <a:lstStyle/>
          <a:p>
            <a:pPr indent="0" marL="0">
              <a:lnSpc>
                <a:spcPts val="1200"/>
              </a:lnSpc>
              <a:buNone/>
            </a:pPr>
            <a:r>
              <a:rPr lang="en-US" sz="1100" b="1" dirty="0">
                <a:solidFill>
                  <a:srgbClr val="1F3B57"/>
                </a:solidFill>
                <a:latin typeface="Calibri" pitchFamily="34" charset="0"/>
                <a:ea typeface="Calibri" pitchFamily="34" charset="-122"/>
                <a:cs typeface="Calibri" pitchFamily="34" charset="-120"/>
              </a:rPr>
              <a:t>OEM market size</a:t>
            </a:r>
            <a:endParaRPr lang="en-US" sz="1100" dirty="0"/>
          </a:p>
        </p:txBody>
      </p:sp>
      <p:sp>
        <p:nvSpPr>
          <p:cNvPr id="14" name="Shape 12"/>
          <p:cNvSpPr/>
          <p:nvPr/>
        </p:nvSpPr>
        <p:spPr>
          <a:xfrm>
            <a:off x="2468880" y="1865376"/>
            <a:ext cx="4663440" cy="713232"/>
          </a:xfrm>
          <a:prstGeom prst="rect">
            <a:avLst/>
          </a:prstGeom>
          <a:solidFill>
            <a:srgbClr val="FFFFFF"/>
          </a:solidFill>
          <a:ln w="9525">
            <a:solidFill>
              <a:srgbClr val="C9D2DB"/>
            </a:solidFill>
            <a:prstDash val="solid"/>
          </a:ln>
        </p:spPr>
      </p:sp>
      <p:sp>
        <p:nvSpPr>
          <p:cNvPr id="15" name="Text 13"/>
          <p:cNvSpPr/>
          <p:nvPr/>
        </p:nvSpPr>
        <p:spPr>
          <a:xfrm>
            <a:off x="2578608" y="1911096"/>
            <a:ext cx="4443984" cy="621792"/>
          </a:xfrm>
          <a:prstGeom prst="rect">
            <a:avLst/>
          </a:prstGeom>
          <a:noFill/>
          <a:ln/>
        </p:spPr>
        <p:txBody>
          <a:bodyPr wrap="square" lIns="0" tIns="0" rIns="0" bIns="0" rtlCol="0" anchor="ctr"/>
          <a:lstStyle/>
          <a:p>
            <a:pPr indent="0" marL="0">
              <a:lnSpc>
                <a:spcPts val="1200"/>
              </a:lnSpc>
              <a:buNone/>
            </a:pPr>
            <a:r>
              <a:rPr lang="en-US" sz="1000" dirty="0">
                <a:solidFill>
                  <a:srgbClr val="2A2F36"/>
                </a:solidFill>
                <a:latin typeface="Calibri" pitchFamily="34" charset="0"/>
                <a:ea typeface="Calibri" pitchFamily="34" charset="-122"/>
                <a:cs typeface="Calibri" pitchFamily="34" charset="-120"/>
              </a:rPr>
              <a:t>Superseded $12.575B gross estimate with overlap (S06) vs corrected ~$1.8B directional model (S04)</a:t>
            </a:r>
            <a:endParaRPr lang="en-US" sz="1000" dirty="0"/>
          </a:p>
        </p:txBody>
      </p:sp>
      <p:sp>
        <p:nvSpPr>
          <p:cNvPr id="16" name="Shape 14"/>
          <p:cNvSpPr/>
          <p:nvPr/>
        </p:nvSpPr>
        <p:spPr>
          <a:xfrm>
            <a:off x="7132320" y="1865376"/>
            <a:ext cx="4553712" cy="713232"/>
          </a:xfrm>
          <a:prstGeom prst="rect">
            <a:avLst/>
          </a:prstGeom>
          <a:solidFill>
            <a:srgbClr val="FFFFFF"/>
          </a:solidFill>
          <a:ln w="9525">
            <a:solidFill>
              <a:srgbClr val="C9D2DB"/>
            </a:solidFill>
            <a:prstDash val="solid"/>
          </a:ln>
        </p:spPr>
      </p:sp>
      <p:sp>
        <p:nvSpPr>
          <p:cNvPr id="17" name="Text 15"/>
          <p:cNvSpPr/>
          <p:nvPr/>
        </p:nvSpPr>
        <p:spPr>
          <a:xfrm>
            <a:off x="7242048" y="1911096"/>
            <a:ext cx="4334256" cy="621792"/>
          </a:xfrm>
          <a:prstGeom prst="rect">
            <a:avLst/>
          </a:prstGeom>
          <a:noFill/>
          <a:ln/>
        </p:spPr>
        <p:txBody>
          <a:bodyPr wrap="square" lIns="0" tIns="0" rIns="0" bIns="0" rtlCol="0" anchor="ctr"/>
          <a:lstStyle/>
          <a:p>
            <a:pPr indent="0" marL="0">
              <a:lnSpc>
                <a:spcPts val="1200"/>
              </a:lnSpc>
              <a:buNone/>
            </a:pPr>
            <a:r>
              <a:rPr lang="en-US" sz="1000" dirty="0">
                <a:solidFill>
                  <a:srgbClr val="2A2F36"/>
                </a:solidFill>
                <a:latin typeface="Calibri" pitchFamily="34" charset="0"/>
                <a:ea typeface="Calibri" pitchFamily="34" charset="-122"/>
                <a:cs typeface="Calibri" pitchFamily="34" charset="-120"/>
              </a:rPr>
              <a:t>Use ~$1.8B only, labeled directional; never repeat $12.575B as current</a:t>
            </a:r>
            <a:endParaRPr lang="en-US" sz="1000" dirty="0"/>
          </a:p>
        </p:txBody>
      </p:sp>
      <p:sp>
        <p:nvSpPr>
          <p:cNvPr id="18" name="Shape 16"/>
          <p:cNvSpPr/>
          <p:nvPr/>
        </p:nvSpPr>
        <p:spPr>
          <a:xfrm>
            <a:off x="502920" y="2578608"/>
            <a:ext cx="1965960" cy="713232"/>
          </a:xfrm>
          <a:prstGeom prst="rect">
            <a:avLst/>
          </a:prstGeom>
          <a:solidFill>
            <a:srgbClr val="F7F9FB"/>
          </a:solidFill>
          <a:ln w="9525">
            <a:solidFill>
              <a:srgbClr val="C9D2DB"/>
            </a:solidFill>
            <a:prstDash val="solid"/>
          </a:ln>
        </p:spPr>
      </p:sp>
      <p:sp>
        <p:nvSpPr>
          <p:cNvPr id="19" name="Text 17"/>
          <p:cNvSpPr/>
          <p:nvPr/>
        </p:nvSpPr>
        <p:spPr>
          <a:xfrm>
            <a:off x="612648" y="2624328"/>
            <a:ext cx="1746504" cy="621792"/>
          </a:xfrm>
          <a:prstGeom prst="rect">
            <a:avLst/>
          </a:prstGeom>
          <a:noFill/>
          <a:ln/>
        </p:spPr>
        <p:txBody>
          <a:bodyPr wrap="square" lIns="0" tIns="0" rIns="0" bIns="0" rtlCol="0" anchor="ctr"/>
          <a:lstStyle/>
          <a:p>
            <a:pPr indent="0" marL="0">
              <a:lnSpc>
                <a:spcPts val="1200"/>
              </a:lnSpc>
              <a:buNone/>
            </a:pPr>
            <a:r>
              <a:rPr lang="en-US" sz="1100" b="1" dirty="0">
                <a:solidFill>
                  <a:srgbClr val="1F3B57"/>
                </a:solidFill>
                <a:latin typeface="Calibri" pitchFamily="34" charset="0"/>
                <a:ea typeface="Calibri" pitchFamily="34" charset="-122"/>
                <a:cs typeface="Calibri" pitchFamily="34" charset="-120"/>
              </a:rPr>
              <a:t>Quote activity</a:t>
            </a:r>
            <a:endParaRPr lang="en-US" sz="1100" dirty="0"/>
          </a:p>
        </p:txBody>
      </p:sp>
      <p:sp>
        <p:nvSpPr>
          <p:cNvPr id="20" name="Shape 18"/>
          <p:cNvSpPr/>
          <p:nvPr/>
        </p:nvSpPr>
        <p:spPr>
          <a:xfrm>
            <a:off x="2468880" y="2578608"/>
            <a:ext cx="4663440" cy="713232"/>
          </a:xfrm>
          <a:prstGeom prst="rect">
            <a:avLst/>
          </a:prstGeom>
          <a:solidFill>
            <a:srgbClr val="F7F9FB"/>
          </a:solidFill>
          <a:ln w="9525">
            <a:solidFill>
              <a:srgbClr val="C9D2DB"/>
            </a:solidFill>
            <a:prstDash val="solid"/>
          </a:ln>
        </p:spPr>
      </p:sp>
      <p:sp>
        <p:nvSpPr>
          <p:cNvPr id="21" name="Text 19"/>
          <p:cNvSpPr/>
          <p:nvPr/>
        </p:nvSpPr>
        <p:spPr>
          <a:xfrm>
            <a:off x="2578608" y="2624328"/>
            <a:ext cx="4443984" cy="621792"/>
          </a:xfrm>
          <a:prstGeom prst="rect">
            <a:avLst/>
          </a:prstGeom>
          <a:noFill/>
          <a:ln/>
        </p:spPr>
        <p:txBody>
          <a:bodyPr wrap="square" lIns="0" tIns="0" rIns="0" bIns="0" rtlCol="0" anchor="ctr"/>
          <a:lstStyle/>
          <a:p>
            <a:pPr indent="0" marL="0">
              <a:lnSpc>
                <a:spcPts val="1200"/>
              </a:lnSpc>
              <a:buNone/>
            </a:pPr>
            <a:r>
              <a:rPr lang="en-US" sz="1000" dirty="0">
                <a:solidFill>
                  <a:srgbClr val="2A2F36"/>
                </a:solidFill>
                <a:latin typeface="Calibri" pitchFamily="34" charset="0"/>
                <a:ea typeface="Calibri" pitchFamily="34" charset="-122"/>
                <a:cs typeface="Calibri" pitchFamily="34" charset="-120"/>
              </a:rPr>
              <a:t>More than $20M (S06) vs $9.7M pending reconciliation (S04)</a:t>
            </a:r>
            <a:endParaRPr lang="en-US" sz="1000" dirty="0"/>
          </a:p>
        </p:txBody>
      </p:sp>
      <p:sp>
        <p:nvSpPr>
          <p:cNvPr id="22" name="Shape 20"/>
          <p:cNvSpPr/>
          <p:nvPr/>
        </p:nvSpPr>
        <p:spPr>
          <a:xfrm>
            <a:off x="7132320" y="2578608"/>
            <a:ext cx="4553712" cy="713232"/>
          </a:xfrm>
          <a:prstGeom prst="rect">
            <a:avLst/>
          </a:prstGeom>
          <a:solidFill>
            <a:srgbClr val="F7F9FB"/>
          </a:solidFill>
          <a:ln w="9525">
            <a:solidFill>
              <a:srgbClr val="C9D2DB"/>
            </a:solidFill>
            <a:prstDash val="solid"/>
          </a:ln>
        </p:spPr>
      </p:sp>
      <p:sp>
        <p:nvSpPr>
          <p:cNvPr id="23" name="Text 21"/>
          <p:cNvSpPr/>
          <p:nvPr/>
        </p:nvSpPr>
        <p:spPr>
          <a:xfrm>
            <a:off x="7242048" y="2624328"/>
            <a:ext cx="4334256" cy="621792"/>
          </a:xfrm>
          <a:prstGeom prst="rect">
            <a:avLst/>
          </a:prstGeom>
          <a:noFill/>
          <a:ln/>
        </p:spPr>
        <p:txBody>
          <a:bodyPr wrap="square" lIns="0" tIns="0" rIns="0" bIns="0" rtlCol="0" anchor="ctr"/>
          <a:lstStyle/>
          <a:p>
            <a:pPr indent="0" marL="0">
              <a:lnSpc>
                <a:spcPts val="1200"/>
              </a:lnSpc>
              <a:buNone/>
            </a:pPr>
            <a:r>
              <a:rPr lang="en-US" sz="1000" dirty="0">
                <a:solidFill>
                  <a:srgbClr val="2A2F36"/>
                </a:solidFill>
                <a:latin typeface="Calibri" pitchFamily="34" charset="0"/>
                <a:ea typeface="Calibri" pitchFamily="34" charset="-122"/>
                <a:cs typeface="Calibri" pitchFamily="34" charset="-120"/>
              </a:rPr>
              <a:t>TBD in any executive thesis until a quote-level export supports one number</a:t>
            </a:r>
            <a:endParaRPr lang="en-US" sz="1000" dirty="0"/>
          </a:p>
        </p:txBody>
      </p:sp>
      <p:sp>
        <p:nvSpPr>
          <p:cNvPr id="24" name="Shape 22"/>
          <p:cNvSpPr/>
          <p:nvPr/>
        </p:nvSpPr>
        <p:spPr>
          <a:xfrm>
            <a:off x="502920" y="3291840"/>
            <a:ext cx="1965960" cy="713232"/>
          </a:xfrm>
          <a:prstGeom prst="rect">
            <a:avLst/>
          </a:prstGeom>
          <a:solidFill>
            <a:srgbClr val="FFFFFF"/>
          </a:solidFill>
          <a:ln w="9525">
            <a:solidFill>
              <a:srgbClr val="C9D2DB"/>
            </a:solidFill>
            <a:prstDash val="solid"/>
          </a:ln>
        </p:spPr>
      </p:sp>
      <p:sp>
        <p:nvSpPr>
          <p:cNvPr id="25" name="Text 23"/>
          <p:cNvSpPr/>
          <p:nvPr/>
        </p:nvSpPr>
        <p:spPr>
          <a:xfrm>
            <a:off x="612648" y="3337560"/>
            <a:ext cx="1746504" cy="621792"/>
          </a:xfrm>
          <a:prstGeom prst="rect">
            <a:avLst/>
          </a:prstGeom>
          <a:noFill/>
          <a:ln/>
        </p:spPr>
        <p:txBody>
          <a:bodyPr wrap="square" lIns="0" tIns="0" rIns="0" bIns="0" rtlCol="0" anchor="ctr"/>
          <a:lstStyle/>
          <a:p>
            <a:pPr indent="0" marL="0">
              <a:lnSpc>
                <a:spcPts val="1200"/>
              </a:lnSpc>
              <a:buNone/>
            </a:pPr>
            <a:r>
              <a:rPr lang="en-US" sz="1100" b="1" dirty="0">
                <a:solidFill>
                  <a:srgbClr val="1F3B57"/>
                </a:solidFill>
                <a:latin typeface="Calibri" pitchFamily="34" charset="0"/>
                <a:ea typeface="Calibri" pitchFamily="34" charset="-122"/>
                <a:cs typeface="Calibri" pitchFamily="34" charset="-120"/>
              </a:rPr>
              <a:t>Tier 1 count</a:t>
            </a:r>
            <a:endParaRPr lang="en-US" sz="1100" dirty="0"/>
          </a:p>
        </p:txBody>
      </p:sp>
      <p:sp>
        <p:nvSpPr>
          <p:cNvPr id="26" name="Shape 24"/>
          <p:cNvSpPr/>
          <p:nvPr/>
        </p:nvSpPr>
        <p:spPr>
          <a:xfrm>
            <a:off x="2468880" y="3291840"/>
            <a:ext cx="4663440" cy="713232"/>
          </a:xfrm>
          <a:prstGeom prst="rect">
            <a:avLst/>
          </a:prstGeom>
          <a:solidFill>
            <a:srgbClr val="FFFFFF"/>
          </a:solidFill>
          <a:ln w="9525">
            <a:solidFill>
              <a:srgbClr val="C9D2DB"/>
            </a:solidFill>
            <a:prstDash val="solid"/>
          </a:ln>
        </p:spPr>
      </p:sp>
      <p:sp>
        <p:nvSpPr>
          <p:cNvPr id="27" name="Text 25"/>
          <p:cNvSpPr/>
          <p:nvPr/>
        </p:nvSpPr>
        <p:spPr>
          <a:xfrm>
            <a:off x="2578608" y="3337560"/>
            <a:ext cx="4443984" cy="621792"/>
          </a:xfrm>
          <a:prstGeom prst="rect">
            <a:avLst/>
          </a:prstGeom>
          <a:noFill/>
          <a:ln/>
        </p:spPr>
        <p:txBody>
          <a:bodyPr wrap="square" lIns="0" tIns="0" rIns="0" bIns="0" rtlCol="0" anchor="ctr"/>
          <a:lstStyle/>
          <a:p>
            <a:pPr indent="0" marL="0">
              <a:lnSpc>
                <a:spcPts val="1200"/>
              </a:lnSpc>
              <a:buNone/>
            </a:pPr>
            <a:r>
              <a:rPr lang="en-US" sz="1000" dirty="0">
                <a:solidFill>
                  <a:srgbClr val="2A2F36"/>
                </a:solidFill>
                <a:latin typeface="Calibri" pitchFamily="34" charset="0"/>
                <a:ea typeface="Calibri" pitchFamily="34" charset="-122"/>
                <a:cs typeface="Calibri" pitchFamily="34" charset="-120"/>
              </a:rPr>
              <a:t>30 (S04) vs 31 calculated in Rev89C (S09)</a:t>
            </a:r>
            <a:endParaRPr lang="en-US" sz="1000" dirty="0"/>
          </a:p>
        </p:txBody>
      </p:sp>
      <p:sp>
        <p:nvSpPr>
          <p:cNvPr id="28" name="Shape 26"/>
          <p:cNvSpPr/>
          <p:nvPr/>
        </p:nvSpPr>
        <p:spPr>
          <a:xfrm>
            <a:off x="7132320" y="3291840"/>
            <a:ext cx="4553712" cy="713232"/>
          </a:xfrm>
          <a:prstGeom prst="rect">
            <a:avLst/>
          </a:prstGeom>
          <a:solidFill>
            <a:srgbClr val="FFFFFF"/>
          </a:solidFill>
          <a:ln w="9525">
            <a:solidFill>
              <a:srgbClr val="C9D2DB"/>
            </a:solidFill>
            <a:prstDash val="solid"/>
          </a:ln>
        </p:spPr>
      </p:sp>
      <p:sp>
        <p:nvSpPr>
          <p:cNvPr id="29" name="Text 27"/>
          <p:cNvSpPr/>
          <p:nvPr/>
        </p:nvSpPr>
        <p:spPr>
          <a:xfrm>
            <a:off x="7242048" y="3337560"/>
            <a:ext cx="4334256" cy="621792"/>
          </a:xfrm>
          <a:prstGeom prst="rect">
            <a:avLst/>
          </a:prstGeom>
          <a:noFill/>
          <a:ln/>
        </p:spPr>
        <p:txBody>
          <a:bodyPr wrap="square" lIns="0" tIns="0" rIns="0" bIns="0" rtlCol="0" anchor="ctr"/>
          <a:lstStyle/>
          <a:p>
            <a:pPr indent="0" marL="0">
              <a:lnSpc>
                <a:spcPts val="1200"/>
              </a:lnSpc>
              <a:buNone/>
            </a:pPr>
            <a:r>
              <a:rPr lang="en-US" sz="1000" dirty="0">
                <a:solidFill>
                  <a:srgbClr val="2A2F36"/>
                </a:solidFill>
                <a:latin typeface="Calibri" pitchFamily="34" charset="0"/>
                <a:ea typeface="Calibri" pitchFamily="34" charset="-122"/>
                <a:cs typeface="Calibri" pitchFamily="34" charset="-120"/>
              </a:rPr>
              <a:t>Say 31 only when citing Rev89C; otherwise approximately 30</a:t>
            </a:r>
            <a:endParaRPr lang="en-US" sz="1000" dirty="0"/>
          </a:p>
        </p:txBody>
      </p:sp>
      <p:sp>
        <p:nvSpPr>
          <p:cNvPr id="30" name="Shape 28"/>
          <p:cNvSpPr/>
          <p:nvPr/>
        </p:nvSpPr>
        <p:spPr>
          <a:xfrm>
            <a:off x="502920" y="4005072"/>
            <a:ext cx="1965960" cy="713232"/>
          </a:xfrm>
          <a:prstGeom prst="rect">
            <a:avLst/>
          </a:prstGeom>
          <a:solidFill>
            <a:srgbClr val="F7F9FB"/>
          </a:solidFill>
          <a:ln w="9525">
            <a:solidFill>
              <a:srgbClr val="C9D2DB"/>
            </a:solidFill>
            <a:prstDash val="solid"/>
          </a:ln>
        </p:spPr>
      </p:sp>
      <p:sp>
        <p:nvSpPr>
          <p:cNvPr id="31" name="Text 29"/>
          <p:cNvSpPr/>
          <p:nvPr/>
        </p:nvSpPr>
        <p:spPr>
          <a:xfrm>
            <a:off x="612648" y="4050792"/>
            <a:ext cx="1746504" cy="621792"/>
          </a:xfrm>
          <a:prstGeom prst="rect">
            <a:avLst/>
          </a:prstGeom>
          <a:noFill/>
          <a:ln/>
        </p:spPr>
        <p:txBody>
          <a:bodyPr wrap="square" lIns="0" tIns="0" rIns="0" bIns="0" rtlCol="0" anchor="ctr"/>
          <a:lstStyle/>
          <a:p>
            <a:pPr indent="0" marL="0">
              <a:lnSpc>
                <a:spcPts val="1200"/>
              </a:lnSpc>
              <a:buNone/>
            </a:pPr>
            <a:r>
              <a:rPr lang="en-US" sz="1100" b="1" dirty="0">
                <a:solidFill>
                  <a:srgbClr val="1F3B57"/>
                </a:solidFill>
                <a:latin typeface="Calibri" pitchFamily="34" charset="0"/>
                <a:ea typeface="Calibri" pitchFamily="34" charset="-122"/>
                <a:cs typeface="Calibri" pitchFamily="34" charset="-120"/>
              </a:rPr>
              <a:t>Labor benchmark</a:t>
            </a:r>
            <a:endParaRPr lang="en-US" sz="1100" dirty="0"/>
          </a:p>
        </p:txBody>
      </p:sp>
      <p:sp>
        <p:nvSpPr>
          <p:cNvPr id="32" name="Shape 30"/>
          <p:cNvSpPr/>
          <p:nvPr/>
        </p:nvSpPr>
        <p:spPr>
          <a:xfrm>
            <a:off x="2468880" y="4005072"/>
            <a:ext cx="4663440" cy="713232"/>
          </a:xfrm>
          <a:prstGeom prst="rect">
            <a:avLst/>
          </a:prstGeom>
          <a:solidFill>
            <a:srgbClr val="F7F9FB"/>
          </a:solidFill>
          <a:ln w="9525">
            <a:solidFill>
              <a:srgbClr val="C9D2DB"/>
            </a:solidFill>
            <a:prstDash val="solid"/>
          </a:ln>
        </p:spPr>
      </p:sp>
      <p:sp>
        <p:nvSpPr>
          <p:cNvPr id="33" name="Text 31"/>
          <p:cNvSpPr/>
          <p:nvPr/>
        </p:nvSpPr>
        <p:spPr>
          <a:xfrm>
            <a:off x="2578608" y="4050792"/>
            <a:ext cx="4443984" cy="621792"/>
          </a:xfrm>
          <a:prstGeom prst="rect">
            <a:avLst/>
          </a:prstGeom>
          <a:noFill/>
          <a:ln/>
        </p:spPr>
        <p:txBody>
          <a:bodyPr wrap="square" lIns="0" tIns="0" rIns="0" bIns="0" rtlCol="0" anchor="ctr"/>
          <a:lstStyle/>
          <a:p>
            <a:pPr indent="0" marL="0">
              <a:lnSpc>
                <a:spcPts val="1200"/>
              </a:lnSpc>
              <a:buNone/>
            </a:pPr>
            <a:r>
              <a:rPr lang="en-US" sz="1000" dirty="0">
                <a:solidFill>
                  <a:srgbClr val="2A2F36"/>
                </a:solidFill>
                <a:latin typeface="Calibri" pitchFamily="34" charset="0"/>
                <a:ea typeface="Calibri" pitchFamily="34" charset="-122"/>
                <a:cs typeface="Calibri" pitchFamily="34" charset="-120"/>
              </a:rPr>
              <a:t>4,400 to ~880 hours, adjacent case, not an NRG result (S10)</a:t>
            </a:r>
            <a:endParaRPr lang="en-US" sz="1000" dirty="0"/>
          </a:p>
        </p:txBody>
      </p:sp>
      <p:sp>
        <p:nvSpPr>
          <p:cNvPr id="34" name="Shape 32"/>
          <p:cNvSpPr/>
          <p:nvPr/>
        </p:nvSpPr>
        <p:spPr>
          <a:xfrm>
            <a:off x="7132320" y="4005072"/>
            <a:ext cx="4553712" cy="713232"/>
          </a:xfrm>
          <a:prstGeom prst="rect">
            <a:avLst/>
          </a:prstGeom>
          <a:solidFill>
            <a:srgbClr val="F7F9FB"/>
          </a:solidFill>
          <a:ln w="9525">
            <a:solidFill>
              <a:srgbClr val="C9D2DB"/>
            </a:solidFill>
            <a:prstDash val="solid"/>
          </a:ln>
        </p:spPr>
      </p:sp>
      <p:sp>
        <p:nvSpPr>
          <p:cNvPr id="35" name="Text 33"/>
          <p:cNvSpPr/>
          <p:nvPr/>
        </p:nvSpPr>
        <p:spPr>
          <a:xfrm>
            <a:off x="7242048" y="4050792"/>
            <a:ext cx="4334256" cy="621792"/>
          </a:xfrm>
          <a:prstGeom prst="rect">
            <a:avLst/>
          </a:prstGeom>
          <a:noFill/>
          <a:ln/>
        </p:spPr>
        <p:txBody>
          <a:bodyPr wrap="square" lIns="0" tIns="0" rIns="0" bIns="0" rtlCol="0" anchor="ctr"/>
          <a:lstStyle/>
          <a:p>
            <a:pPr indent="0" marL="0">
              <a:lnSpc>
                <a:spcPts val="1200"/>
              </a:lnSpc>
              <a:buNone/>
            </a:pPr>
            <a:r>
              <a:rPr lang="en-US" sz="1000" dirty="0">
                <a:solidFill>
                  <a:srgbClr val="2A2F36"/>
                </a:solidFill>
                <a:latin typeface="Calibri" pitchFamily="34" charset="0"/>
                <a:ea typeface="Calibri" pitchFamily="34" charset="-122"/>
                <a:cs typeface="Calibri" pitchFamily="34" charset="-120"/>
              </a:rPr>
              <a:t>Internal only with verification qualifier until baseline, scope, and contribution validate</a:t>
            </a:r>
            <a:endParaRPr lang="en-US" sz="1000" dirty="0"/>
          </a:p>
        </p:txBody>
      </p:sp>
      <p:sp>
        <p:nvSpPr>
          <p:cNvPr id="36" name="Shape 34"/>
          <p:cNvSpPr/>
          <p:nvPr/>
        </p:nvSpPr>
        <p:spPr>
          <a:xfrm>
            <a:off x="502920" y="4718304"/>
            <a:ext cx="1965960" cy="713232"/>
          </a:xfrm>
          <a:prstGeom prst="rect">
            <a:avLst/>
          </a:prstGeom>
          <a:solidFill>
            <a:srgbClr val="FFFFFF"/>
          </a:solidFill>
          <a:ln w="9525">
            <a:solidFill>
              <a:srgbClr val="C9D2DB"/>
            </a:solidFill>
            <a:prstDash val="solid"/>
          </a:ln>
        </p:spPr>
      </p:sp>
      <p:sp>
        <p:nvSpPr>
          <p:cNvPr id="37" name="Text 35"/>
          <p:cNvSpPr/>
          <p:nvPr/>
        </p:nvSpPr>
        <p:spPr>
          <a:xfrm>
            <a:off x="612648" y="4764024"/>
            <a:ext cx="1746504" cy="621792"/>
          </a:xfrm>
          <a:prstGeom prst="rect">
            <a:avLst/>
          </a:prstGeom>
          <a:noFill/>
          <a:ln/>
        </p:spPr>
        <p:txBody>
          <a:bodyPr wrap="square" lIns="0" tIns="0" rIns="0" bIns="0" rtlCol="0" anchor="ctr"/>
          <a:lstStyle/>
          <a:p>
            <a:pPr indent="0" marL="0">
              <a:lnSpc>
                <a:spcPts val="1200"/>
              </a:lnSpc>
              <a:buNone/>
            </a:pPr>
            <a:r>
              <a:rPr lang="en-US" sz="1100" b="1" dirty="0">
                <a:solidFill>
                  <a:srgbClr val="1F3B57"/>
                </a:solidFill>
                <a:latin typeface="Calibri" pitchFamily="34" charset="0"/>
                <a:ea typeface="Calibri" pitchFamily="34" charset="-122"/>
                <a:cs typeface="Calibri" pitchFamily="34" charset="-120"/>
              </a:rPr>
              <a:t>IPP planning figures</a:t>
            </a:r>
            <a:endParaRPr lang="en-US" sz="1100" dirty="0"/>
          </a:p>
        </p:txBody>
      </p:sp>
      <p:sp>
        <p:nvSpPr>
          <p:cNvPr id="38" name="Shape 36"/>
          <p:cNvSpPr/>
          <p:nvPr/>
        </p:nvSpPr>
        <p:spPr>
          <a:xfrm>
            <a:off x="2468880" y="4718304"/>
            <a:ext cx="4663440" cy="713232"/>
          </a:xfrm>
          <a:prstGeom prst="rect">
            <a:avLst/>
          </a:prstGeom>
          <a:solidFill>
            <a:srgbClr val="FFFFFF"/>
          </a:solidFill>
          <a:ln w="9525">
            <a:solidFill>
              <a:srgbClr val="C9D2DB"/>
            </a:solidFill>
            <a:prstDash val="solid"/>
          </a:ln>
        </p:spPr>
      </p:sp>
      <p:sp>
        <p:nvSpPr>
          <p:cNvPr id="39" name="Text 37"/>
          <p:cNvSpPr/>
          <p:nvPr/>
        </p:nvSpPr>
        <p:spPr>
          <a:xfrm>
            <a:off x="2578608" y="4764024"/>
            <a:ext cx="4443984" cy="621792"/>
          </a:xfrm>
          <a:prstGeom prst="rect">
            <a:avLst/>
          </a:prstGeom>
          <a:noFill/>
          <a:ln/>
        </p:spPr>
        <p:txBody>
          <a:bodyPr wrap="square" lIns="0" tIns="0" rIns="0" bIns="0" rtlCol="0" anchor="ctr"/>
          <a:lstStyle/>
          <a:p>
            <a:pPr indent="0" marL="0">
              <a:lnSpc>
                <a:spcPts val="1200"/>
              </a:lnSpc>
              <a:buNone/>
            </a:pPr>
            <a:r>
              <a:rPr lang="en-US" sz="1000" dirty="0">
                <a:solidFill>
                  <a:srgbClr val="2A2F36"/>
                </a:solidFill>
                <a:latin typeface="Calibri" pitchFamily="34" charset="0"/>
                <a:ea typeface="Calibri" pitchFamily="34" charset="-122"/>
                <a:cs typeface="Calibri" pitchFamily="34" charset="-120"/>
              </a:rPr>
              <a:t>63 GW, $140-160B, ~$2B ambition, $248M buying wave (S03)</a:t>
            </a:r>
            <a:endParaRPr lang="en-US" sz="1000" dirty="0"/>
          </a:p>
        </p:txBody>
      </p:sp>
      <p:sp>
        <p:nvSpPr>
          <p:cNvPr id="40" name="Shape 38"/>
          <p:cNvSpPr/>
          <p:nvPr/>
        </p:nvSpPr>
        <p:spPr>
          <a:xfrm>
            <a:off x="7132320" y="4718304"/>
            <a:ext cx="4553712" cy="713232"/>
          </a:xfrm>
          <a:prstGeom prst="rect">
            <a:avLst/>
          </a:prstGeom>
          <a:solidFill>
            <a:srgbClr val="FFFFFF"/>
          </a:solidFill>
          <a:ln w="9525">
            <a:solidFill>
              <a:srgbClr val="C9D2DB"/>
            </a:solidFill>
            <a:prstDash val="solid"/>
          </a:ln>
        </p:spPr>
      </p:sp>
      <p:sp>
        <p:nvSpPr>
          <p:cNvPr id="41" name="Text 39"/>
          <p:cNvSpPr/>
          <p:nvPr/>
        </p:nvSpPr>
        <p:spPr>
          <a:xfrm>
            <a:off x="7242048" y="4764024"/>
            <a:ext cx="4334256" cy="621792"/>
          </a:xfrm>
          <a:prstGeom prst="rect">
            <a:avLst/>
          </a:prstGeom>
          <a:noFill/>
          <a:ln/>
        </p:spPr>
        <p:txBody>
          <a:bodyPr wrap="square" lIns="0" tIns="0" rIns="0" bIns="0" rtlCol="0" anchor="ctr"/>
          <a:lstStyle/>
          <a:p>
            <a:pPr indent="0" marL="0">
              <a:lnSpc>
                <a:spcPts val="1200"/>
              </a:lnSpc>
              <a:buNone/>
            </a:pPr>
            <a:r>
              <a:rPr lang="en-US" sz="1000" dirty="0">
                <a:solidFill>
                  <a:srgbClr val="2A2F36"/>
                </a:solidFill>
                <a:latin typeface="Calibri" pitchFamily="34" charset="0"/>
                <a:ea typeface="Calibri" pitchFamily="34" charset="-122"/>
                <a:cs typeface="Calibri" pitchFamily="34" charset="-120"/>
              </a:rPr>
              <a:t>Reported planning assumptions with definitions and dates attached; never comparable to OEM TAM</a:t>
            </a:r>
            <a:endParaRPr lang="en-US" sz="1000" dirty="0"/>
          </a:p>
        </p:txBody>
      </p:sp>
      <p:sp>
        <p:nvSpPr>
          <p:cNvPr id="42" name="Shape 40"/>
          <p:cNvSpPr/>
          <p:nvPr/>
        </p:nvSpPr>
        <p:spPr>
          <a:xfrm>
            <a:off x="502920" y="5541264"/>
            <a:ext cx="11183112" cy="548640"/>
          </a:xfrm>
          <a:prstGeom prst="rect">
            <a:avLst/>
          </a:prstGeom>
          <a:solidFill>
            <a:srgbClr val="1F3B57"/>
          </a:solidFill>
          <a:ln w="9525">
            <a:solidFill>
              <a:srgbClr val="C9D2DB"/>
            </a:solidFill>
            <a:prstDash val="solid"/>
          </a:ln>
        </p:spPr>
      </p:sp>
      <p:sp>
        <p:nvSpPr>
          <p:cNvPr id="43" name="Text 41"/>
          <p:cNvSpPr/>
          <p:nvPr/>
        </p:nvSpPr>
        <p:spPr>
          <a:xfrm>
            <a:off x="685800" y="5541264"/>
            <a:ext cx="10817352" cy="548640"/>
          </a:xfrm>
          <a:prstGeom prst="rect">
            <a:avLst/>
          </a:prstGeom>
          <a:noFill/>
          <a:ln/>
        </p:spPr>
        <p:txBody>
          <a:bodyPr wrap="square" lIns="0" tIns="0" rIns="0" bIns="0" rtlCol="0" anchor="ctr"/>
          <a:lstStyle/>
          <a:p>
            <a:pPr indent="0" marL="0">
              <a:buNone/>
            </a:pPr>
            <a:r>
              <a:rPr lang="en-US" sz="1200" b="1" dirty="0">
                <a:solidFill>
                  <a:srgbClr val="9FB8CE"/>
                </a:solidFill>
                <a:latin typeface="Calibri" pitchFamily="34" charset="0"/>
                <a:ea typeface="Calibri" pitchFamily="34" charset="-122"/>
                <a:cs typeface="Calibri" pitchFamily="34" charset="-120"/>
              </a:rPr>
              <a:t>Guardrail issued August 21:  </a:t>
            </a:r>
            <a:pPr indent="0" marL="0">
              <a:buNone/>
            </a:pPr>
            <a:r>
              <a:rPr lang="en-US" sz="1200" dirty="0">
                <a:solidFill>
                  <a:srgbClr val="FFFFFF"/>
                </a:solidFill>
                <a:latin typeface="Calibri" pitchFamily="34" charset="0"/>
                <a:ea typeface="Calibri" pitchFamily="34" charset="-122"/>
                <a:cs typeface="Calibri" pitchFamily="34" charset="-120"/>
              </a:rPr>
              <a:t>executive and external use of all unreconciled figures is frozen; every internal use carries the word directional and its source.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3112" cy="256032"/>
          </a:xfrm>
          <a:prstGeom prst="rect">
            <a:avLst/>
          </a:prstGeom>
          <a:noFill/>
          <a:ln/>
        </p:spPr>
        <p:txBody>
          <a:bodyPr wrap="square" lIns="0" tIns="0" rIns="0" bIns="0" rtlCol="0" anchor="ctr"/>
          <a:lstStyle/>
          <a:p>
            <a:pPr indent="0" marL="0">
              <a:buNone/>
            </a:pPr>
            <a:r>
              <a:rPr lang="en-US" sz="1100" b="1" spc="200" kern="0" dirty="0">
                <a:solidFill>
                  <a:srgbClr val="0F6E84"/>
                </a:solidFill>
                <a:latin typeface="Calibri" pitchFamily="34" charset="0"/>
                <a:ea typeface="Calibri" pitchFamily="34" charset="-122"/>
                <a:cs typeface="Calibri" pitchFamily="34" charset="-120"/>
              </a:rPr>
              <a:t>MARKET ARCHITECTURE</a:t>
            </a:r>
            <a:endParaRPr lang="en-US" sz="1100" dirty="0"/>
          </a:p>
        </p:txBody>
      </p:sp>
      <p:sp>
        <p:nvSpPr>
          <p:cNvPr id="3" name="Text 1"/>
          <p:cNvSpPr/>
          <p:nvPr/>
        </p:nvSpPr>
        <p:spPr>
          <a:xfrm>
            <a:off x="502920" y="530352"/>
            <a:ext cx="11183112" cy="777240"/>
          </a:xfrm>
          <a:prstGeom prst="rect">
            <a:avLst/>
          </a:prstGeom>
          <a:noFill/>
          <a:ln/>
        </p:spPr>
        <p:txBody>
          <a:bodyPr wrap="square" lIns="0" tIns="0" rIns="0" bIns="0" rtlCol="0" anchor="t"/>
          <a:lstStyle/>
          <a:p>
            <a:pPr indent="0" marL="0">
              <a:buNone/>
            </a:pPr>
            <a:r>
              <a:rPr lang="en-US" sz="2100" b="1" dirty="0">
                <a:solidFill>
                  <a:srgbClr val="1F3B57"/>
                </a:solidFill>
                <a:latin typeface="Calibri" pitchFamily="34" charset="0"/>
                <a:ea typeface="Calibri" pitchFamily="34" charset="-122"/>
                <a:cs typeface="Calibri" pitchFamily="34" charset="-120"/>
              </a:rPr>
              <a:t>Five dimensions kept apart prevent double counting: every pursuit is classified on all five before it enters the pipeline</a:t>
            </a:r>
            <a:endParaRPr lang="en-US" sz="2100" dirty="0"/>
          </a:p>
        </p:txBody>
      </p:sp>
      <p:sp>
        <p:nvSpPr>
          <p:cNvPr id="4" name="Text 2"/>
          <p:cNvSpPr/>
          <p:nvPr/>
        </p:nvSpPr>
        <p:spPr>
          <a:xfrm>
            <a:off x="502920" y="6473952"/>
            <a:ext cx="10085832" cy="274320"/>
          </a:xfrm>
          <a:prstGeom prst="rect">
            <a:avLst/>
          </a:prstGeom>
          <a:noFill/>
          <a:ln/>
        </p:spPr>
        <p:txBody>
          <a:bodyPr wrap="square" lIns="0" tIns="0" rIns="0" bIns="0" rtlCol="0" anchor="ctr"/>
          <a:lstStyle/>
          <a:p>
            <a:pPr indent="0" marL="0">
              <a:buNone/>
            </a:pPr>
            <a:r>
              <a:rPr lang="en-US" sz="850" dirty="0">
                <a:solidFill>
                  <a:srgbClr val="5B6573"/>
                </a:solidFill>
                <a:latin typeface="Calibri" pitchFamily="34" charset="0"/>
                <a:ea typeface="Calibri" pitchFamily="34" charset="-122"/>
                <a:cs typeface="Calibri" pitchFamily="34" charset="-120"/>
              </a:rPr>
              <a:t>Source: S01 working brief (market architecture); S09 Method &amp; Assumptions (control points); S12 pp.24-25 (decision rights). Framework is a recommendation.</a:t>
            </a:r>
            <a:endParaRPr lang="en-US" sz="850" dirty="0"/>
          </a:p>
        </p:txBody>
      </p:sp>
      <p:sp>
        <p:nvSpPr>
          <p:cNvPr id="5" name="Text 3"/>
          <p:cNvSpPr/>
          <p:nvPr/>
        </p:nvSpPr>
        <p:spPr>
          <a:xfrm>
            <a:off x="10268712" y="6473952"/>
            <a:ext cx="1417320" cy="274320"/>
          </a:xfrm>
          <a:prstGeom prst="rect">
            <a:avLst/>
          </a:prstGeom>
          <a:noFill/>
          <a:ln/>
        </p:spPr>
        <p:txBody>
          <a:bodyPr wrap="square" lIns="0" tIns="0" rIns="0" bIns="0" rtlCol="0" anchor="ctr"/>
          <a:lstStyle/>
          <a:p>
            <a:pPr algn="r" indent="0" marL="0">
              <a:buNone/>
            </a:pPr>
            <a:r>
              <a:rPr lang="en-US" sz="850" dirty="0">
                <a:solidFill>
                  <a:srgbClr val="5B6573"/>
                </a:solidFill>
                <a:latin typeface="Calibri" pitchFamily="34" charset="0"/>
                <a:ea typeface="Calibri" pitchFamily="34" charset="-122"/>
                <a:cs typeface="Calibri" pitchFamily="34" charset="-120"/>
              </a:rPr>
              <a:t>SOUTHWIRE POWERGEN | v0  </a:t>
            </a:r>
            <a:pPr algn="r" indent="0" marL="0">
              <a:buNone/>
            </a:pPr>
            <a:r>
              <a:rPr lang="en-US" sz="850" b="1" dirty="0">
                <a:solidFill>
                  <a:srgbClr val="1F3B57"/>
                </a:solidFill>
                <a:latin typeface="Calibri" pitchFamily="34" charset="0"/>
                <a:ea typeface="Calibri" pitchFamily="34" charset="-122"/>
                <a:cs typeface="Calibri" pitchFamily="34" charset="-120"/>
              </a:rPr>
              <a:t>5</a:t>
            </a:r>
            <a:endParaRPr lang="en-US" sz="850" dirty="0"/>
          </a:p>
        </p:txBody>
      </p:sp>
      <p:sp>
        <p:nvSpPr>
          <p:cNvPr id="6" name="Shape 4"/>
          <p:cNvSpPr/>
          <p:nvPr/>
        </p:nvSpPr>
        <p:spPr>
          <a:xfrm>
            <a:off x="502920" y="1481328"/>
            <a:ext cx="502920" cy="804672"/>
          </a:xfrm>
          <a:prstGeom prst="rect">
            <a:avLst/>
          </a:prstGeom>
          <a:solidFill>
            <a:srgbClr val="1F3B57"/>
          </a:solidFill>
          <a:ln/>
        </p:spPr>
      </p:sp>
      <p:sp>
        <p:nvSpPr>
          <p:cNvPr id="7" name="Text 5"/>
          <p:cNvSpPr/>
          <p:nvPr/>
        </p:nvSpPr>
        <p:spPr>
          <a:xfrm>
            <a:off x="502920" y="1481328"/>
            <a:ext cx="502920" cy="804672"/>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8" name="Shape 6"/>
          <p:cNvSpPr/>
          <p:nvPr/>
        </p:nvSpPr>
        <p:spPr>
          <a:xfrm>
            <a:off x="1005840" y="1481328"/>
            <a:ext cx="2651760" cy="804672"/>
          </a:xfrm>
          <a:prstGeom prst="rect">
            <a:avLst/>
          </a:prstGeom>
          <a:solidFill>
            <a:srgbClr val="EDF1F5"/>
          </a:solidFill>
          <a:ln w="9525">
            <a:solidFill>
              <a:srgbClr val="C9D2DB"/>
            </a:solidFill>
            <a:prstDash val="solid"/>
          </a:ln>
        </p:spPr>
      </p:sp>
      <p:sp>
        <p:nvSpPr>
          <p:cNvPr id="9" name="Text 7"/>
          <p:cNvSpPr/>
          <p:nvPr/>
        </p:nvSpPr>
        <p:spPr>
          <a:xfrm>
            <a:off x="1161288" y="1481328"/>
            <a:ext cx="2468880" cy="804672"/>
          </a:xfrm>
          <a:prstGeom prst="rect">
            <a:avLst/>
          </a:prstGeom>
          <a:noFill/>
          <a:ln/>
        </p:spPr>
        <p:txBody>
          <a:bodyPr wrap="square" lIns="0" tIns="0" rIns="0" bIns="0" rtlCol="0" anchor="ctr"/>
          <a:lstStyle/>
          <a:p>
            <a:pPr indent="0" marL="0">
              <a:buNone/>
            </a:pPr>
            <a:r>
              <a:rPr lang="en-US" sz="1300" b="1" dirty="0">
                <a:solidFill>
                  <a:srgbClr val="1F3B57"/>
                </a:solidFill>
                <a:latin typeface="Calibri" pitchFamily="34" charset="0"/>
                <a:ea typeface="Calibri" pitchFamily="34" charset="-122"/>
                <a:cs typeface="Calibri" pitchFamily="34" charset="-120"/>
              </a:rPr>
              <a:t>Market arenas</a:t>
            </a:r>
            <a:endParaRPr lang="en-US" sz="1300" dirty="0"/>
          </a:p>
        </p:txBody>
      </p:sp>
      <p:sp>
        <p:nvSpPr>
          <p:cNvPr id="10" name="Shape 8"/>
          <p:cNvSpPr/>
          <p:nvPr/>
        </p:nvSpPr>
        <p:spPr>
          <a:xfrm>
            <a:off x="3794760" y="1554480"/>
            <a:ext cx="2584704" cy="658368"/>
          </a:xfrm>
          <a:prstGeom prst="rect">
            <a:avLst/>
          </a:prstGeom>
          <a:solidFill>
            <a:srgbClr val="FFFFFF"/>
          </a:solidFill>
          <a:ln w="12700">
            <a:solidFill>
              <a:srgbClr val="0F6E84"/>
            </a:solidFill>
            <a:prstDash val="solid"/>
          </a:ln>
        </p:spPr>
      </p:sp>
      <p:sp>
        <p:nvSpPr>
          <p:cNvPr id="11" name="Text 9"/>
          <p:cNvSpPr/>
          <p:nvPr/>
        </p:nvSpPr>
        <p:spPr>
          <a:xfrm>
            <a:off x="3840480" y="1554480"/>
            <a:ext cx="2493264" cy="658368"/>
          </a:xfrm>
          <a:prstGeom prst="rect">
            <a:avLst/>
          </a:prstGeom>
          <a:noFill/>
          <a:ln/>
        </p:spPr>
        <p:txBody>
          <a:bodyPr wrap="square" lIns="0" tIns="0" rIns="0" bIns="0" rtlCol="0" anchor="ctr"/>
          <a:lstStyle/>
          <a:p>
            <a:pPr algn="ctr" indent="0" marL="0">
              <a:lnSpc>
                <a:spcPts val="1200"/>
              </a:lnSpc>
              <a:buNone/>
            </a:pPr>
            <a:r>
              <a:rPr lang="en-US" sz="1050" dirty="0">
                <a:solidFill>
                  <a:srgbClr val="2A2F36"/>
                </a:solidFill>
                <a:latin typeface="Calibri" pitchFamily="34" charset="0"/>
                <a:ea typeface="Calibri" pitchFamily="34" charset="-122"/>
                <a:cs typeface="Calibri" pitchFamily="34" charset="-120"/>
              </a:rPr>
              <a:t>Conventional thermal</a:t>
            </a:r>
            <a:endParaRPr lang="en-US" sz="1050" dirty="0"/>
          </a:p>
        </p:txBody>
      </p:sp>
      <p:sp>
        <p:nvSpPr>
          <p:cNvPr id="12" name="Shape 10"/>
          <p:cNvSpPr/>
          <p:nvPr/>
        </p:nvSpPr>
        <p:spPr>
          <a:xfrm>
            <a:off x="6516624" y="1554480"/>
            <a:ext cx="2584704" cy="658368"/>
          </a:xfrm>
          <a:prstGeom prst="rect">
            <a:avLst/>
          </a:prstGeom>
          <a:solidFill>
            <a:srgbClr val="FFFFFF"/>
          </a:solidFill>
          <a:ln w="12700">
            <a:solidFill>
              <a:srgbClr val="0F6E84"/>
            </a:solidFill>
            <a:prstDash val="solid"/>
          </a:ln>
        </p:spPr>
      </p:sp>
      <p:sp>
        <p:nvSpPr>
          <p:cNvPr id="13" name="Text 11"/>
          <p:cNvSpPr/>
          <p:nvPr/>
        </p:nvSpPr>
        <p:spPr>
          <a:xfrm>
            <a:off x="6562344" y="1554480"/>
            <a:ext cx="2493264" cy="658368"/>
          </a:xfrm>
          <a:prstGeom prst="rect">
            <a:avLst/>
          </a:prstGeom>
          <a:noFill/>
          <a:ln/>
        </p:spPr>
        <p:txBody>
          <a:bodyPr wrap="square" lIns="0" tIns="0" rIns="0" bIns="0" rtlCol="0" anchor="ctr"/>
          <a:lstStyle/>
          <a:p>
            <a:pPr algn="ctr" indent="0" marL="0">
              <a:lnSpc>
                <a:spcPts val="1200"/>
              </a:lnSpc>
              <a:buNone/>
            </a:pPr>
            <a:r>
              <a:rPr lang="en-US" sz="1050" dirty="0">
                <a:solidFill>
                  <a:srgbClr val="2A2F36"/>
                </a:solidFill>
                <a:latin typeface="Calibri" pitchFamily="34" charset="0"/>
                <a:ea typeface="Calibri" pitchFamily="34" charset="-122"/>
                <a:cs typeface="Calibri" pitchFamily="34" charset="-120"/>
              </a:rPr>
              <a:t>Renewables and storage</a:t>
            </a:r>
            <a:endParaRPr lang="en-US" sz="1050" dirty="0"/>
          </a:p>
        </p:txBody>
      </p:sp>
      <p:sp>
        <p:nvSpPr>
          <p:cNvPr id="14" name="Shape 12"/>
          <p:cNvSpPr/>
          <p:nvPr/>
        </p:nvSpPr>
        <p:spPr>
          <a:xfrm>
            <a:off x="9238488" y="1554480"/>
            <a:ext cx="2584704" cy="658368"/>
          </a:xfrm>
          <a:prstGeom prst="rect">
            <a:avLst/>
          </a:prstGeom>
          <a:solidFill>
            <a:srgbClr val="FFFFFF"/>
          </a:solidFill>
          <a:ln w="12700">
            <a:solidFill>
              <a:srgbClr val="0F6E84"/>
            </a:solidFill>
            <a:prstDash val="solid"/>
          </a:ln>
        </p:spPr>
      </p:sp>
      <p:sp>
        <p:nvSpPr>
          <p:cNvPr id="15" name="Text 13"/>
          <p:cNvSpPr/>
          <p:nvPr/>
        </p:nvSpPr>
        <p:spPr>
          <a:xfrm>
            <a:off x="9284208" y="1554480"/>
            <a:ext cx="2493264" cy="658368"/>
          </a:xfrm>
          <a:prstGeom prst="rect">
            <a:avLst/>
          </a:prstGeom>
          <a:noFill/>
          <a:ln/>
        </p:spPr>
        <p:txBody>
          <a:bodyPr wrap="square" lIns="0" tIns="0" rIns="0" bIns="0" rtlCol="0" anchor="ctr"/>
          <a:lstStyle/>
          <a:p>
            <a:pPr algn="ctr" indent="0" marL="0">
              <a:lnSpc>
                <a:spcPts val="1200"/>
              </a:lnSpc>
              <a:buNone/>
            </a:pPr>
            <a:r>
              <a:rPr lang="en-US" sz="1050" dirty="0">
                <a:solidFill>
                  <a:srgbClr val="2A2F36"/>
                </a:solidFill>
                <a:latin typeface="Calibri" pitchFamily="34" charset="0"/>
                <a:ea typeface="Calibri" pitchFamily="34" charset="-122"/>
                <a:cs typeface="Calibri" pitchFamily="34" charset="-120"/>
              </a:rPr>
              <a:t>Nuclear</a:t>
            </a:r>
            <a:endParaRPr lang="en-US" sz="1050" dirty="0"/>
          </a:p>
        </p:txBody>
      </p:sp>
      <p:sp>
        <p:nvSpPr>
          <p:cNvPr id="16" name="Shape 14"/>
          <p:cNvSpPr/>
          <p:nvPr/>
        </p:nvSpPr>
        <p:spPr>
          <a:xfrm>
            <a:off x="502920" y="2432304"/>
            <a:ext cx="502920" cy="804672"/>
          </a:xfrm>
          <a:prstGeom prst="rect">
            <a:avLst/>
          </a:prstGeom>
          <a:solidFill>
            <a:srgbClr val="1F3B57"/>
          </a:solidFill>
          <a:ln/>
        </p:spPr>
      </p:sp>
      <p:sp>
        <p:nvSpPr>
          <p:cNvPr id="17" name="Text 15"/>
          <p:cNvSpPr/>
          <p:nvPr/>
        </p:nvSpPr>
        <p:spPr>
          <a:xfrm>
            <a:off x="502920" y="2432304"/>
            <a:ext cx="502920" cy="804672"/>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8" name="Shape 16"/>
          <p:cNvSpPr/>
          <p:nvPr/>
        </p:nvSpPr>
        <p:spPr>
          <a:xfrm>
            <a:off x="1005840" y="2432304"/>
            <a:ext cx="2651760" cy="804672"/>
          </a:xfrm>
          <a:prstGeom prst="rect">
            <a:avLst/>
          </a:prstGeom>
          <a:solidFill>
            <a:srgbClr val="EDF1F5"/>
          </a:solidFill>
          <a:ln w="9525">
            <a:solidFill>
              <a:srgbClr val="C9D2DB"/>
            </a:solidFill>
            <a:prstDash val="solid"/>
          </a:ln>
        </p:spPr>
      </p:sp>
      <p:sp>
        <p:nvSpPr>
          <p:cNvPr id="19" name="Text 17"/>
          <p:cNvSpPr/>
          <p:nvPr/>
        </p:nvSpPr>
        <p:spPr>
          <a:xfrm>
            <a:off x="1161288" y="2432304"/>
            <a:ext cx="2468880" cy="804672"/>
          </a:xfrm>
          <a:prstGeom prst="rect">
            <a:avLst/>
          </a:prstGeom>
          <a:noFill/>
          <a:ln/>
        </p:spPr>
        <p:txBody>
          <a:bodyPr wrap="square" lIns="0" tIns="0" rIns="0" bIns="0" rtlCol="0" anchor="ctr"/>
          <a:lstStyle/>
          <a:p>
            <a:pPr indent="0" marL="0">
              <a:buNone/>
            </a:pPr>
            <a:r>
              <a:rPr lang="en-US" sz="1300" b="1" dirty="0">
                <a:solidFill>
                  <a:srgbClr val="1F3B57"/>
                </a:solidFill>
                <a:latin typeface="Calibri" pitchFamily="34" charset="0"/>
                <a:ea typeface="Calibri" pitchFamily="34" charset="-122"/>
                <a:cs typeface="Calibri" pitchFamily="34" charset="-120"/>
              </a:rPr>
              <a:t>Asset lifecycle</a:t>
            </a:r>
            <a:endParaRPr lang="en-US" sz="1300" dirty="0"/>
          </a:p>
        </p:txBody>
      </p:sp>
      <p:sp>
        <p:nvSpPr>
          <p:cNvPr id="20" name="Shape 18"/>
          <p:cNvSpPr/>
          <p:nvPr/>
        </p:nvSpPr>
        <p:spPr>
          <a:xfrm>
            <a:off x="3794760" y="2505456"/>
            <a:ext cx="2584704" cy="658368"/>
          </a:xfrm>
          <a:prstGeom prst="rect">
            <a:avLst/>
          </a:prstGeom>
          <a:solidFill>
            <a:srgbClr val="FFFFFF"/>
          </a:solidFill>
          <a:ln w="12700">
            <a:solidFill>
              <a:srgbClr val="0F6E84"/>
            </a:solidFill>
            <a:prstDash val="solid"/>
          </a:ln>
        </p:spPr>
      </p:sp>
      <p:sp>
        <p:nvSpPr>
          <p:cNvPr id="21" name="Text 19"/>
          <p:cNvSpPr/>
          <p:nvPr/>
        </p:nvSpPr>
        <p:spPr>
          <a:xfrm>
            <a:off x="3840480" y="2505456"/>
            <a:ext cx="2493264" cy="658368"/>
          </a:xfrm>
          <a:prstGeom prst="rect">
            <a:avLst/>
          </a:prstGeom>
          <a:noFill/>
          <a:ln/>
        </p:spPr>
        <p:txBody>
          <a:bodyPr wrap="square" lIns="0" tIns="0" rIns="0" bIns="0" rtlCol="0" anchor="ctr"/>
          <a:lstStyle/>
          <a:p>
            <a:pPr algn="ctr" indent="0" marL="0">
              <a:lnSpc>
                <a:spcPts val="1200"/>
              </a:lnSpc>
              <a:buNone/>
            </a:pPr>
            <a:r>
              <a:rPr lang="en-US" sz="1050" dirty="0">
                <a:solidFill>
                  <a:srgbClr val="2A2F36"/>
                </a:solidFill>
                <a:latin typeface="Calibri" pitchFamily="34" charset="0"/>
                <a:ea typeface="Calibri" pitchFamily="34" charset="-122"/>
                <a:cs typeface="Calibri" pitchFamily="34" charset="-120"/>
              </a:rPr>
              <a:t>Greenfield</a:t>
            </a:r>
            <a:endParaRPr lang="en-US" sz="1050" dirty="0"/>
          </a:p>
        </p:txBody>
      </p:sp>
      <p:sp>
        <p:nvSpPr>
          <p:cNvPr id="22" name="Shape 20"/>
          <p:cNvSpPr/>
          <p:nvPr/>
        </p:nvSpPr>
        <p:spPr>
          <a:xfrm>
            <a:off x="6516624" y="2505456"/>
            <a:ext cx="2584704" cy="658368"/>
          </a:xfrm>
          <a:prstGeom prst="rect">
            <a:avLst/>
          </a:prstGeom>
          <a:solidFill>
            <a:srgbClr val="FFFFFF"/>
          </a:solidFill>
          <a:ln w="12700">
            <a:solidFill>
              <a:srgbClr val="0F6E84"/>
            </a:solidFill>
            <a:prstDash val="solid"/>
          </a:ln>
        </p:spPr>
      </p:sp>
      <p:sp>
        <p:nvSpPr>
          <p:cNvPr id="23" name="Text 21"/>
          <p:cNvSpPr/>
          <p:nvPr/>
        </p:nvSpPr>
        <p:spPr>
          <a:xfrm>
            <a:off x="6562344" y="2505456"/>
            <a:ext cx="2493264" cy="658368"/>
          </a:xfrm>
          <a:prstGeom prst="rect">
            <a:avLst/>
          </a:prstGeom>
          <a:noFill/>
          <a:ln/>
        </p:spPr>
        <p:txBody>
          <a:bodyPr wrap="square" lIns="0" tIns="0" rIns="0" bIns="0" rtlCol="0" anchor="ctr"/>
          <a:lstStyle/>
          <a:p>
            <a:pPr algn="ctr" indent="0" marL="0">
              <a:lnSpc>
                <a:spcPts val="1200"/>
              </a:lnSpc>
              <a:buNone/>
            </a:pPr>
            <a:r>
              <a:rPr lang="en-US" sz="1050" dirty="0">
                <a:solidFill>
                  <a:srgbClr val="2A2F36"/>
                </a:solidFill>
                <a:latin typeface="Calibri" pitchFamily="34" charset="0"/>
                <a:ea typeface="Calibri" pitchFamily="34" charset="-122"/>
                <a:cs typeface="Calibri" pitchFamily="34" charset="-120"/>
              </a:rPr>
              <a:t>Expansion, repower, uprate</a:t>
            </a:r>
            <a:endParaRPr lang="en-US" sz="1050" dirty="0"/>
          </a:p>
        </p:txBody>
      </p:sp>
      <p:sp>
        <p:nvSpPr>
          <p:cNvPr id="24" name="Shape 22"/>
          <p:cNvSpPr/>
          <p:nvPr/>
        </p:nvSpPr>
        <p:spPr>
          <a:xfrm>
            <a:off x="9238488" y="2505456"/>
            <a:ext cx="2584704" cy="658368"/>
          </a:xfrm>
          <a:prstGeom prst="rect">
            <a:avLst/>
          </a:prstGeom>
          <a:solidFill>
            <a:srgbClr val="FFFFFF"/>
          </a:solidFill>
          <a:ln w="12700">
            <a:solidFill>
              <a:srgbClr val="0F6E84"/>
            </a:solidFill>
            <a:prstDash val="solid"/>
          </a:ln>
        </p:spPr>
      </p:sp>
      <p:sp>
        <p:nvSpPr>
          <p:cNvPr id="25" name="Text 23"/>
          <p:cNvSpPr/>
          <p:nvPr/>
        </p:nvSpPr>
        <p:spPr>
          <a:xfrm>
            <a:off x="9284208" y="2505456"/>
            <a:ext cx="2493264" cy="658368"/>
          </a:xfrm>
          <a:prstGeom prst="rect">
            <a:avLst/>
          </a:prstGeom>
          <a:noFill/>
          <a:ln/>
        </p:spPr>
        <p:txBody>
          <a:bodyPr wrap="square" lIns="0" tIns="0" rIns="0" bIns="0" rtlCol="0" anchor="ctr"/>
          <a:lstStyle/>
          <a:p>
            <a:pPr algn="ctr" indent="0" marL="0">
              <a:lnSpc>
                <a:spcPts val="1200"/>
              </a:lnSpc>
              <a:buNone/>
            </a:pPr>
            <a:r>
              <a:rPr lang="en-US" sz="1050" dirty="0">
                <a:solidFill>
                  <a:srgbClr val="2A2F36"/>
                </a:solidFill>
                <a:latin typeface="Calibri" pitchFamily="34" charset="0"/>
                <a:ea typeface="Calibri" pitchFamily="34" charset="-122"/>
                <a:cs typeface="Calibri" pitchFamily="34" charset="-120"/>
              </a:rPr>
              <a:t>Brownfield sustainment and retrofit</a:t>
            </a:r>
            <a:endParaRPr lang="en-US" sz="1050" dirty="0"/>
          </a:p>
        </p:txBody>
      </p:sp>
      <p:sp>
        <p:nvSpPr>
          <p:cNvPr id="26" name="Shape 24"/>
          <p:cNvSpPr/>
          <p:nvPr/>
        </p:nvSpPr>
        <p:spPr>
          <a:xfrm>
            <a:off x="502920" y="3383280"/>
            <a:ext cx="502920" cy="804672"/>
          </a:xfrm>
          <a:prstGeom prst="rect">
            <a:avLst/>
          </a:prstGeom>
          <a:solidFill>
            <a:srgbClr val="1F3B57"/>
          </a:solidFill>
          <a:ln/>
        </p:spPr>
      </p:sp>
      <p:sp>
        <p:nvSpPr>
          <p:cNvPr id="27" name="Text 25"/>
          <p:cNvSpPr/>
          <p:nvPr/>
        </p:nvSpPr>
        <p:spPr>
          <a:xfrm>
            <a:off x="502920" y="3383280"/>
            <a:ext cx="502920" cy="804672"/>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8" name="Shape 26"/>
          <p:cNvSpPr/>
          <p:nvPr/>
        </p:nvSpPr>
        <p:spPr>
          <a:xfrm>
            <a:off x="1005840" y="3383280"/>
            <a:ext cx="2651760" cy="804672"/>
          </a:xfrm>
          <a:prstGeom prst="rect">
            <a:avLst/>
          </a:prstGeom>
          <a:solidFill>
            <a:srgbClr val="EDF1F5"/>
          </a:solidFill>
          <a:ln w="9525">
            <a:solidFill>
              <a:srgbClr val="C9D2DB"/>
            </a:solidFill>
            <a:prstDash val="solid"/>
          </a:ln>
        </p:spPr>
      </p:sp>
      <p:sp>
        <p:nvSpPr>
          <p:cNvPr id="29" name="Text 27"/>
          <p:cNvSpPr/>
          <p:nvPr/>
        </p:nvSpPr>
        <p:spPr>
          <a:xfrm>
            <a:off x="1161288" y="3383280"/>
            <a:ext cx="2468880" cy="804672"/>
          </a:xfrm>
          <a:prstGeom prst="rect">
            <a:avLst/>
          </a:prstGeom>
          <a:noFill/>
          <a:ln/>
        </p:spPr>
        <p:txBody>
          <a:bodyPr wrap="square" lIns="0" tIns="0" rIns="0" bIns="0" rtlCol="0" anchor="ctr"/>
          <a:lstStyle/>
          <a:p>
            <a:pPr indent="0" marL="0">
              <a:buNone/>
            </a:pPr>
            <a:r>
              <a:rPr lang="en-US" sz="1300" b="1" dirty="0">
                <a:solidFill>
                  <a:srgbClr val="1F3B57"/>
                </a:solidFill>
                <a:latin typeface="Calibri" pitchFamily="34" charset="0"/>
                <a:ea typeface="Calibri" pitchFamily="34" charset="-122"/>
                <a:cs typeface="Calibri" pitchFamily="34" charset="-120"/>
              </a:rPr>
              <a:t>Owner economics</a:t>
            </a:r>
            <a:endParaRPr lang="en-US" sz="1300" dirty="0"/>
          </a:p>
        </p:txBody>
      </p:sp>
      <p:sp>
        <p:nvSpPr>
          <p:cNvPr id="30" name="Shape 28"/>
          <p:cNvSpPr/>
          <p:nvPr/>
        </p:nvSpPr>
        <p:spPr>
          <a:xfrm>
            <a:off x="3794760" y="3456432"/>
            <a:ext cx="2584704" cy="658368"/>
          </a:xfrm>
          <a:prstGeom prst="rect">
            <a:avLst/>
          </a:prstGeom>
          <a:solidFill>
            <a:srgbClr val="FFFFFF"/>
          </a:solidFill>
          <a:ln w="12700">
            <a:solidFill>
              <a:srgbClr val="0F6E84"/>
            </a:solidFill>
            <a:prstDash val="solid"/>
          </a:ln>
        </p:spPr>
      </p:sp>
      <p:sp>
        <p:nvSpPr>
          <p:cNvPr id="31" name="Text 29"/>
          <p:cNvSpPr/>
          <p:nvPr/>
        </p:nvSpPr>
        <p:spPr>
          <a:xfrm>
            <a:off x="3840480" y="3456432"/>
            <a:ext cx="2493264" cy="658368"/>
          </a:xfrm>
          <a:prstGeom prst="rect">
            <a:avLst/>
          </a:prstGeom>
          <a:noFill/>
          <a:ln/>
        </p:spPr>
        <p:txBody>
          <a:bodyPr wrap="square" lIns="0" tIns="0" rIns="0" bIns="0" rtlCol="0" anchor="ctr"/>
          <a:lstStyle/>
          <a:p>
            <a:pPr algn="ctr" indent="0" marL="0">
              <a:lnSpc>
                <a:spcPts val="1200"/>
              </a:lnSpc>
              <a:buNone/>
            </a:pPr>
            <a:r>
              <a:rPr lang="en-US" sz="1050" dirty="0">
                <a:solidFill>
                  <a:srgbClr val="2A2F36"/>
                </a:solidFill>
                <a:latin typeface="Calibri" pitchFamily="34" charset="0"/>
                <a:ea typeface="Calibri" pitchFamily="34" charset="-122"/>
                <a:cs typeface="Calibri" pitchFamily="34" charset="-120"/>
              </a:rPr>
              <a:t>Regulated utility</a:t>
            </a:r>
            <a:endParaRPr lang="en-US" sz="1050" dirty="0"/>
          </a:p>
        </p:txBody>
      </p:sp>
      <p:sp>
        <p:nvSpPr>
          <p:cNvPr id="32" name="Shape 30"/>
          <p:cNvSpPr/>
          <p:nvPr/>
        </p:nvSpPr>
        <p:spPr>
          <a:xfrm>
            <a:off x="6516624" y="3456432"/>
            <a:ext cx="2584704" cy="658368"/>
          </a:xfrm>
          <a:prstGeom prst="rect">
            <a:avLst/>
          </a:prstGeom>
          <a:solidFill>
            <a:srgbClr val="FFFFFF"/>
          </a:solidFill>
          <a:ln w="12700">
            <a:solidFill>
              <a:srgbClr val="0F6E84"/>
            </a:solidFill>
            <a:prstDash val="solid"/>
          </a:ln>
        </p:spPr>
      </p:sp>
      <p:sp>
        <p:nvSpPr>
          <p:cNvPr id="33" name="Text 31"/>
          <p:cNvSpPr/>
          <p:nvPr/>
        </p:nvSpPr>
        <p:spPr>
          <a:xfrm>
            <a:off x="6562344" y="3456432"/>
            <a:ext cx="2493264" cy="658368"/>
          </a:xfrm>
          <a:prstGeom prst="rect">
            <a:avLst/>
          </a:prstGeom>
          <a:noFill/>
          <a:ln/>
        </p:spPr>
        <p:txBody>
          <a:bodyPr wrap="square" lIns="0" tIns="0" rIns="0" bIns="0" rtlCol="0" anchor="ctr"/>
          <a:lstStyle/>
          <a:p>
            <a:pPr algn="ctr" indent="0" marL="0">
              <a:lnSpc>
                <a:spcPts val="1200"/>
              </a:lnSpc>
              <a:buNone/>
            </a:pPr>
            <a:r>
              <a:rPr lang="en-US" sz="1050" dirty="0">
                <a:solidFill>
                  <a:srgbClr val="2A2F36"/>
                </a:solidFill>
                <a:latin typeface="Calibri" pitchFamily="34" charset="0"/>
                <a:ea typeface="Calibri" pitchFamily="34" charset="-122"/>
                <a:cs typeface="Calibri" pitchFamily="34" charset="-120"/>
              </a:rPr>
              <a:t>IPP or merchant owner</a:t>
            </a:r>
            <a:endParaRPr lang="en-US" sz="1050" dirty="0"/>
          </a:p>
        </p:txBody>
      </p:sp>
      <p:sp>
        <p:nvSpPr>
          <p:cNvPr id="34" name="Shape 32"/>
          <p:cNvSpPr/>
          <p:nvPr/>
        </p:nvSpPr>
        <p:spPr>
          <a:xfrm>
            <a:off x="9238488" y="3456432"/>
            <a:ext cx="2584704" cy="658368"/>
          </a:xfrm>
          <a:prstGeom prst="rect">
            <a:avLst/>
          </a:prstGeom>
          <a:solidFill>
            <a:srgbClr val="FFFFFF"/>
          </a:solidFill>
          <a:ln w="12700">
            <a:solidFill>
              <a:srgbClr val="0F6E84"/>
            </a:solidFill>
            <a:prstDash val="solid"/>
          </a:ln>
        </p:spPr>
      </p:sp>
      <p:sp>
        <p:nvSpPr>
          <p:cNvPr id="35" name="Text 33"/>
          <p:cNvSpPr/>
          <p:nvPr/>
        </p:nvSpPr>
        <p:spPr>
          <a:xfrm>
            <a:off x="9284208" y="3456432"/>
            <a:ext cx="2493264" cy="658368"/>
          </a:xfrm>
          <a:prstGeom prst="rect">
            <a:avLst/>
          </a:prstGeom>
          <a:noFill/>
          <a:ln/>
        </p:spPr>
        <p:txBody>
          <a:bodyPr wrap="square" lIns="0" tIns="0" rIns="0" bIns="0" rtlCol="0" anchor="ctr"/>
          <a:lstStyle/>
          <a:p>
            <a:pPr algn="ctr" indent="0" marL="0">
              <a:lnSpc>
                <a:spcPts val="1200"/>
              </a:lnSpc>
              <a:buNone/>
            </a:pPr>
            <a:r>
              <a:rPr lang="en-US" sz="1050" dirty="0">
                <a:solidFill>
                  <a:srgbClr val="2A2F36"/>
                </a:solidFill>
                <a:latin typeface="Calibri" pitchFamily="34" charset="0"/>
                <a:ea typeface="Calibri" pitchFamily="34" charset="-122"/>
                <a:cs typeface="Calibri" pitchFamily="34" charset="-120"/>
              </a:rPr>
              <a:t>Industrial or behind-the-meter owner</a:t>
            </a:r>
            <a:endParaRPr lang="en-US" sz="1050" dirty="0"/>
          </a:p>
        </p:txBody>
      </p:sp>
      <p:sp>
        <p:nvSpPr>
          <p:cNvPr id="36" name="Shape 34"/>
          <p:cNvSpPr/>
          <p:nvPr/>
        </p:nvSpPr>
        <p:spPr>
          <a:xfrm>
            <a:off x="502920" y="4334256"/>
            <a:ext cx="502920" cy="804672"/>
          </a:xfrm>
          <a:prstGeom prst="rect">
            <a:avLst/>
          </a:prstGeom>
          <a:solidFill>
            <a:srgbClr val="1F3B57"/>
          </a:solidFill>
          <a:ln/>
        </p:spPr>
      </p:sp>
      <p:sp>
        <p:nvSpPr>
          <p:cNvPr id="37" name="Text 35"/>
          <p:cNvSpPr/>
          <p:nvPr/>
        </p:nvSpPr>
        <p:spPr>
          <a:xfrm>
            <a:off x="502920" y="4334256"/>
            <a:ext cx="502920" cy="804672"/>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38" name="Shape 36"/>
          <p:cNvSpPr/>
          <p:nvPr/>
        </p:nvSpPr>
        <p:spPr>
          <a:xfrm>
            <a:off x="1005840" y="4334256"/>
            <a:ext cx="2651760" cy="804672"/>
          </a:xfrm>
          <a:prstGeom prst="rect">
            <a:avLst/>
          </a:prstGeom>
          <a:solidFill>
            <a:srgbClr val="EDF1F5"/>
          </a:solidFill>
          <a:ln w="9525">
            <a:solidFill>
              <a:srgbClr val="C9D2DB"/>
            </a:solidFill>
            <a:prstDash val="solid"/>
          </a:ln>
        </p:spPr>
      </p:sp>
      <p:sp>
        <p:nvSpPr>
          <p:cNvPr id="39" name="Text 37"/>
          <p:cNvSpPr/>
          <p:nvPr/>
        </p:nvSpPr>
        <p:spPr>
          <a:xfrm>
            <a:off x="1161288" y="4334256"/>
            <a:ext cx="2468880" cy="804672"/>
          </a:xfrm>
          <a:prstGeom prst="rect">
            <a:avLst/>
          </a:prstGeom>
          <a:noFill/>
          <a:ln/>
        </p:spPr>
        <p:txBody>
          <a:bodyPr wrap="square" lIns="0" tIns="0" rIns="0" bIns="0" rtlCol="0" anchor="ctr"/>
          <a:lstStyle/>
          <a:p>
            <a:pPr indent="0" marL="0">
              <a:buNone/>
            </a:pPr>
            <a:r>
              <a:rPr lang="en-US" sz="1300" b="1" dirty="0">
                <a:solidFill>
                  <a:srgbClr val="1F3B57"/>
                </a:solidFill>
                <a:latin typeface="Calibri" pitchFamily="34" charset="0"/>
                <a:ea typeface="Calibri" pitchFamily="34" charset="-122"/>
                <a:cs typeface="Calibri" pitchFamily="34" charset="-120"/>
              </a:rPr>
              <a:t>Commercial control points</a:t>
            </a:r>
            <a:endParaRPr lang="en-US" sz="1300" dirty="0"/>
          </a:p>
        </p:txBody>
      </p:sp>
      <p:sp>
        <p:nvSpPr>
          <p:cNvPr id="40" name="Shape 38"/>
          <p:cNvSpPr/>
          <p:nvPr/>
        </p:nvSpPr>
        <p:spPr>
          <a:xfrm>
            <a:off x="3794760" y="4407408"/>
            <a:ext cx="1495958" cy="658368"/>
          </a:xfrm>
          <a:prstGeom prst="rect">
            <a:avLst/>
          </a:prstGeom>
          <a:solidFill>
            <a:srgbClr val="FFFFFF"/>
          </a:solidFill>
          <a:ln w="12700">
            <a:solidFill>
              <a:srgbClr val="0F6E84"/>
            </a:solidFill>
            <a:prstDash val="solid"/>
          </a:ln>
        </p:spPr>
      </p:sp>
      <p:sp>
        <p:nvSpPr>
          <p:cNvPr id="41" name="Text 39"/>
          <p:cNvSpPr/>
          <p:nvPr/>
        </p:nvSpPr>
        <p:spPr>
          <a:xfrm>
            <a:off x="3840480" y="4407408"/>
            <a:ext cx="1404518" cy="658368"/>
          </a:xfrm>
          <a:prstGeom prst="rect">
            <a:avLst/>
          </a:prstGeom>
          <a:noFill/>
          <a:ln/>
        </p:spPr>
        <p:txBody>
          <a:bodyPr wrap="square" lIns="0" tIns="0" rIns="0" bIns="0" rtlCol="0" anchor="ctr"/>
          <a:lstStyle/>
          <a:p>
            <a:pPr algn="ctr" indent="0" marL="0">
              <a:lnSpc>
                <a:spcPts val="1200"/>
              </a:lnSpc>
              <a:buNone/>
            </a:pPr>
            <a:r>
              <a:rPr lang="en-US" sz="1050" dirty="0">
                <a:solidFill>
                  <a:srgbClr val="2A2F36"/>
                </a:solidFill>
                <a:latin typeface="Calibri" pitchFamily="34" charset="0"/>
                <a:ea typeface="Calibri" pitchFamily="34" charset="-122"/>
                <a:cs typeface="Calibri" pitchFamily="34" charset="-120"/>
              </a:rPr>
              <a:t>Owner / developer</a:t>
            </a:r>
            <a:endParaRPr lang="en-US" sz="1050" dirty="0"/>
          </a:p>
        </p:txBody>
      </p:sp>
      <p:sp>
        <p:nvSpPr>
          <p:cNvPr id="42" name="Shape 40"/>
          <p:cNvSpPr/>
          <p:nvPr/>
        </p:nvSpPr>
        <p:spPr>
          <a:xfrm>
            <a:off x="5427878" y="4407408"/>
            <a:ext cx="1495958" cy="658368"/>
          </a:xfrm>
          <a:prstGeom prst="rect">
            <a:avLst/>
          </a:prstGeom>
          <a:solidFill>
            <a:srgbClr val="FFFFFF"/>
          </a:solidFill>
          <a:ln w="12700">
            <a:solidFill>
              <a:srgbClr val="0F6E84"/>
            </a:solidFill>
            <a:prstDash val="solid"/>
          </a:ln>
        </p:spPr>
      </p:sp>
      <p:sp>
        <p:nvSpPr>
          <p:cNvPr id="43" name="Text 41"/>
          <p:cNvSpPr/>
          <p:nvPr/>
        </p:nvSpPr>
        <p:spPr>
          <a:xfrm>
            <a:off x="5473598" y="4407408"/>
            <a:ext cx="1404518" cy="658368"/>
          </a:xfrm>
          <a:prstGeom prst="rect">
            <a:avLst/>
          </a:prstGeom>
          <a:noFill/>
          <a:ln/>
        </p:spPr>
        <p:txBody>
          <a:bodyPr wrap="square" lIns="0" tIns="0" rIns="0" bIns="0" rtlCol="0" anchor="ctr"/>
          <a:lstStyle/>
          <a:p>
            <a:pPr algn="ctr" indent="0" marL="0">
              <a:lnSpc>
                <a:spcPts val="1200"/>
              </a:lnSpc>
              <a:buNone/>
            </a:pPr>
            <a:r>
              <a:rPr lang="en-US" sz="1050" dirty="0">
                <a:solidFill>
                  <a:srgbClr val="2A2F36"/>
                </a:solidFill>
                <a:latin typeface="Calibri" pitchFamily="34" charset="0"/>
                <a:ea typeface="Calibri" pitchFamily="34" charset="-122"/>
                <a:cs typeface="Calibri" pitchFamily="34" charset="-120"/>
              </a:rPr>
              <a:t>Engineer / EPC</a:t>
            </a:r>
            <a:endParaRPr lang="en-US" sz="1050" dirty="0"/>
          </a:p>
        </p:txBody>
      </p:sp>
      <p:sp>
        <p:nvSpPr>
          <p:cNvPr id="44" name="Shape 42"/>
          <p:cNvSpPr/>
          <p:nvPr/>
        </p:nvSpPr>
        <p:spPr>
          <a:xfrm>
            <a:off x="7060997" y="4407408"/>
            <a:ext cx="1495958" cy="658368"/>
          </a:xfrm>
          <a:prstGeom prst="rect">
            <a:avLst/>
          </a:prstGeom>
          <a:solidFill>
            <a:srgbClr val="FFFFFF"/>
          </a:solidFill>
          <a:ln w="12700">
            <a:solidFill>
              <a:srgbClr val="0F6E84"/>
            </a:solidFill>
            <a:prstDash val="solid"/>
          </a:ln>
        </p:spPr>
      </p:sp>
      <p:sp>
        <p:nvSpPr>
          <p:cNvPr id="45" name="Text 43"/>
          <p:cNvSpPr/>
          <p:nvPr/>
        </p:nvSpPr>
        <p:spPr>
          <a:xfrm>
            <a:off x="7106717" y="4407408"/>
            <a:ext cx="1404518" cy="658368"/>
          </a:xfrm>
          <a:prstGeom prst="rect">
            <a:avLst/>
          </a:prstGeom>
          <a:noFill/>
          <a:ln/>
        </p:spPr>
        <p:txBody>
          <a:bodyPr wrap="square" lIns="0" tIns="0" rIns="0" bIns="0" rtlCol="0" anchor="ctr"/>
          <a:lstStyle/>
          <a:p>
            <a:pPr algn="ctr" indent="0" marL="0">
              <a:lnSpc>
                <a:spcPts val="1200"/>
              </a:lnSpc>
              <a:buNone/>
            </a:pPr>
            <a:r>
              <a:rPr lang="en-US" sz="1050" dirty="0">
                <a:solidFill>
                  <a:srgbClr val="2A2F36"/>
                </a:solidFill>
                <a:latin typeface="Calibri" pitchFamily="34" charset="0"/>
                <a:ea typeface="Calibri" pitchFamily="34" charset="-122"/>
                <a:cs typeface="Calibri" pitchFamily="34" charset="-120"/>
              </a:rPr>
              <a:t>OEM / modular integrator</a:t>
            </a:r>
            <a:endParaRPr lang="en-US" sz="1050" dirty="0"/>
          </a:p>
        </p:txBody>
      </p:sp>
      <p:sp>
        <p:nvSpPr>
          <p:cNvPr id="46" name="Shape 44"/>
          <p:cNvSpPr/>
          <p:nvPr/>
        </p:nvSpPr>
        <p:spPr>
          <a:xfrm>
            <a:off x="8694115" y="4407408"/>
            <a:ext cx="1495958" cy="658368"/>
          </a:xfrm>
          <a:prstGeom prst="rect">
            <a:avLst/>
          </a:prstGeom>
          <a:solidFill>
            <a:srgbClr val="FFFFFF"/>
          </a:solidFill>
          <a:ln w="12700">
            <a:solidFill>
              <a:srgbClr val="0F6E84"/>
            </a:solidFill>
            <a:prstDash val="solid"/>
          </a:ln>
        </p:spPr>
      </p:sp>
      <p:sp>
        <p:nvSpPr>
          <p:cNvPr id="47" name="Text 45"/>
          <p:cNvSpPr/>
          <p:nvPr/>
        </p:nvSpPr>
        <p:spPr>
          <a:xfrm>
            <a:off x="8739835" y="4407408"/>
            <a:ext cx="1404518" cy="658368"/>
          </a:xfrm>
          <a:prstGeom prst="rect">
            <a:avLst/>
          </a:prstGeom>
          <a:noFill/>
          <a:ln/>
        </p:spPr>
        <p:txBody>
          <a:bodyPr wrap="square" lIns="0" tIns="0" rIns="0" bIns="0" rtlCol="0" anchor="ctr"/>
          <a:lstStyle/>
          <a:p>
            <a:pPr algn="ctr" indent="0" marL="0">
              <a:lnSpc>
                <a:spcPts val="1200"/>
              </a:lnSpc>
              <a:buNone/>
            </a:pPr>
            <a:r>
              <a:rPr lang="en-US" sz="1050" dirty="0">
                <a:solidFill>
                  <a:srgbClr val="2A2F36"/>
                </a:solidFill>
                <a:latin typeface="Calibri" pitchFamily="34" charset="0"/>
                <a:ea typeface="Calibri" pitchFamily="34" charset="-122"/>
                <a:cs typeface="Calibri" pitchFamily="34" charset="-120"/>
              </a:rPr>
              <a:t>Contractor / prefab shop</a:t>
            </a:r>
            <a:endParaRPr lang="en-US" sz="1050" dirty="0"/>
          </a:p>
        </p:txBody>
      </p:sp>
      <p:sp>
        <p:nvSpPr>
          <p:cNvPr id="48" name="Shape 46"/>
          <p:cNvSpPr/>
          <p:nvPr/>
        </p:nvSpPr>
        <p:spPr>
          <a:xfrm>
            <a:off x="10327234" y="4407408"/>
            <a:ext cx="1495958" cy="658368"/>
          </a:xfrm>
          <a:prstGeom prst="rect">
            <a:avLst/>
          </a:prstGeom>
          <a:solidFill>
            <a:srgbClr val="FFFFFF"/>
          </a:solidFill>
          <a:ln w="12700">
            <a:solidFill>
              <a:srgbClr val="0F6E84"/>
            </a:solidFill>
            <a:prstDash val="solid"/>
          </a:ln>
        </p:spPr>
      </p:sp>
      <p:sp>
        <p:nvSpPr>
          <p:cNvPr id="49" name="Text 47"/>
          <p:cNvSpPr/>
          <p:nvPr/>
        </p:nvSpPr>
        <p:spPr>
          <a:xfrm>
            <a:off x="10372954" y="4407408"/>
            <a:ext cx="1404518" cy="658368"/>
          </a:xfrm>
          <a:prstGeom prst="rect">
            <a:avLst/>
          </a:prstGeom>
          <a:noFill/>
          <a:ln/>
        </p:spPr>
        <p:txBody>
          <a:bodyPr wrap="square" lIns="0" tIns="0" rIns="0" bIns="0" rtlCol="0" anchor="ctr"/>
          <a:lstStyle/>
          <a:p>
            <a:pPr algn="ctr" indent="0" marL="0">
              <a:lnSpc>
                <a:spcPts val="1200"/>
              </a:lnSpc>
              <a:buNone/>
            </a:pPr>
            <a:r>
              <a:rPr lang="en-US" sz="1050" dirty="0">
                <a:solidFill>
                  <a:srgbClr val="2A2F36"/>
                </a:solidFill>
                <a:latin typeface="Calibri" pitchFamily="34" charset="0"/>
                <a:ea typeface="Calibri" pitchFamily="34" charset="-122"/>
                <a:cs typeface="Calibri" pitchFamily="34" charset="-120"/>
              </a:rPr>
              <a:t>Distributor / agent</a:t>
            </a:r>
            <a:endParaRPr lang="en-US" sz="1050" dirty="0"/>
          </a:p>
        </p:txBody>
      </p:sp>
      <p:sp>
        <p:nvSpPr>
          <p:cNvPr id="50" name="Shape 48"/>
          <p:cNvSpPr/>
          <p:nvPr/>
        </p:nvSpPr>
        <p:spPr>
          <a:xfrm>
            <a:off x="502920" y="5285232"/>
            <a:ext cx="502920" cy="804672"/>
          </a:xfrm>
          <a:prstGeom prst="rect">
            <a:avLst/>
          </a:prstGeom>
          <a:solidFill>
            <a:srgbClr val="1F3B57"/>
          </a:solidFill>
          <a:ln/>
        </p:spPr>
      </p:sp>
      <p:sp>
        <p:nvSpPr>
          <p:cNvPr id="51" name="Text 49"/>
          <p:cNvSpPr/>
          <p:nvPr/>
        </p:nvSpPr>
        <p:spPr>
          <a:xfrm>
            <a:off x="502920" y="5285232"/>
            <a:ext cx="502920" cy="804672"/>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52" name="Shape 50"/>
          <p:cNvSpPr/>
          <p:nvPr/>
        </p:nvSpPr>
        <p:spPr>
          <a:xfrm>
            <a:off x="1005840" y="5285232"/>
            <a:ext cx="2651760" cy="804672"/>
          </a:xfrm>
          <a:prstGeom prst="rect">
            <a:avLst/>
          </a:prstGeom>
          <a:solidFill>
            <a:srgbClr val="EDF1F5"/>
          </a:solidFill>
          <a:ln w="9525">
            <a:solidFill>
              <a:srgbClr val="C9D2DB"/>
            </a:solidFill>
            <a:prstDash val="solid"/>
          </a:ln>
        </p:spPr>
      </p:sp>
      <p:sp>
        <p:nvSpPr>
          <p:cNvPr id="53" name="Text 51"/>
          <p:cNvSpPr/>
          <p:nvPr/>
        </p:nvSpPr>
        <p:spPr>
          <a:xfrm>
            <a:off x="1161288" y="5285232"/>
            <a:ext cx="2468880" cy="804672"/>
          </a:xfrm>
          <a:prstGeom prst="rect">
            <a:avLst/>
          </a:prstGeom>
          <a:noFill/>
          <a:ln/>
        </p:spPr>
        <p:txBody>
          <a:bodyPr wrap="square" lIns="0" tIns="0" rIns="0" bIns="0" rtlCol="0" anchor="ctr"/>
          <a:lstStyle/>
          <a:p>
            <a:pPr indent="0" marL="0">
              <a:buNone/>
            </a:pPr>
            <a:r>
              <a:rPr lang="en-US" sz="1300" b="1" dirty="0">
                <a:solidFill>
                  <a:srgbClr val="1F3B57"/>
                </a:solidFill>
                <a:latin typeface="Calibri" pitchFamily="34" charset="0"/>
                <a:ea typeface="Calibri" pitchFamily="34" charset="-122"/>
                <a:cs typeface="Calibri" pitchFamily="34" charset="-120"/>
              </a:rPr>
              <a:t>Delivery model</a:t>
            </a:r>
            <a:endParaRPr lang="en-US" sz="1300" dirty="0"/>
          </a:p>
        </p:txBody>
      </p:sp>
      <p:sp>
        <p:nvSpPr>
          <p:cNvPr id="54" name="Shape 52"/>
          <p:cNvSpPr/>
          <p:nvPr/>
        </p:nvSpPr>
        <p:spPr>
          <a:xfrm>
            <a:off x="3794760" y="5358384"/>
            <a:ext cx="2584704" cy="658368"/>
          </a:xfrm>
          <a:prstGeom prst="rect">
            <a:avLst/>
          </a:prstGeom>
          <a:solidFill>
            <a:srgbClr val="FFFFFF"/>
          </a:solidFill>
          <a:ln w="12700">
            <a:solidFill>
              <a:srgbClr val="0F6E84"/>
            </a:solidFill>
            <a:prstDash val="solid"/>
          </a:ln>
        </p:spPr>
      </p:sp>
      <p:sp>
        <p:nvSpPr>
          <p:cNvPr id="55" name="Text 53"/>
          <p:cNvSpPr/>
          <p:nvPr/>
        </p:nvSpPr>
        <p:spPr>
          <a:xfrm>
            <a:off x="3840480" y="5358384"/>
            <a:ext cx="2493264" cy="658368"/>
          </a:xfrm>
          <a:prstGeom prst="rect">
            <a:avLst/>
          </a:prstGeom>
          <a:noFill/>
          <a:ln/>
        </p:spPr>
        <p:txBody>
          <a:bodyPr wrap="square" lIns="0" tIns="0" rIns="0" bIns="0" rtlCol="0" anchor="ctr"/>
          <a:lstStyle/>
          <a:p>
            <a:pPr algn="ctr" indent="0" marL="0">
              <a:lnSpc>
                <a:spcPts val="1200"/>
              </a:lnSpc>
              <a:buNone/>
            </a:pPr>
            <a:r>
              <a:rPr lang="en-US" sz="1050" dirty="0">
                <a:solidFill>
                  <a:srgbClr val="2A2F36"/>
                </a:solidFill>
                <a:latin typeface="Calibri" pitchFamily="34" charset="0"/>
                <a:ea typeface="Calibri" pitchFamily="34" charset="-122"/>
                <a:cs typeface="Calibri" pitchFamily="34" charset="-120"/>
              </a:rPr>
              <a:t>Site-built</a:t>
            </a:r>
            <a:endParaRPr lang="en-US" sz="1050" dirty="0"/>
          </a:p>
        </p:txBody>
      </p:sp>
      <p:sp>
        <p:nvSpPr>
          <p:cNvPr id="56" name="Shape 54"/>
          <p:cNvSpPr/>
          <p:nvPr/>
        </p:nvSpPr>
        <p:spPr>
          <a:xfrm>
            <a:off x="6516624" y="5358384"/>
            <a:ext cx="2584704" cy="658368"/>
          </a:xfrm>
          <a:prstGeom prst="rect">
            <a:avLst/>
          </a:prstGeom>
          <a:solidFill>
            <a:srgbClr val="FFFFFF"/>
          </a:solidFill>
          <a:ln w="12700">
            <a:solidFill>
              <a:srgbClr val="0F6E84"/>
            </a:solidFill>
            <a:prstDash val="solid"/>
          </a:ln>
        </p:spPr>
      </p:sp>
      <p:sp>
        <p:nvSpPr>
          <p:cNvPr id="57" name="Text 55"/>
          <p:cNvSpPr/>
          <p:nvPr/>
        </p:nvSpPr>
        <p:spPr>
          <a:xfrm>
            <a:off x="6562344" y="5358384"/>
            <a:ext cx="2493264" cy="658368"/>
          </a:xfrm>
          <a:prstGeom prst="rect">
            <a:avLst/>
          </a:prstGeom>
          <a:noFill/>
          <a:ln/>
        </p:spPr>
        <p:txBody>
          <a:bodyPr wrap="square" lIns="0" tIns="0" rIns="0" bIns="0" rtlCol="0" anchor="ctr"/>
          <a:lstStyle/>
          <a:p>
            <a:pPr algn="ctr" indent="0" marL="0">
              <a:lnSpc>
                <a:spcPts val="1200"/>
              </a:lnSpc>
              <a:buNone/>
            </a:pPr>
            <a:r>
              <a:rPr lang="en-US" sz="1050" dirty="0">
                <a:solidFill>
                  <a:srgbClr val="2A2F36"/>
                </a:solidFill>
                <a:latin typeface="Calibri" pitchFamily="34" charset="0"/>
                <a:ea typeface="Calibri" pitchFamily="34" charset="-122"/>
                <a:cs typeface="Calibri" pitchFamily="34" charset="-120"/>
              </a:rPr>
              <a:t>Factory-assembled / prefabricated</a:t>
            </a:r>
            <a:endParaRPr lang="en-US" sz="1050" dirty="0"/>
          </a:p>
        </p:txBody>
      </p:sp>
      <p:sp>
        <p:nvSpPr>
          <p:cNvPr id="58" name="Shape 56"/>
          <p:cNvSpPr/>
          <p:nvPr/>
        </p:nvSpPr>
        <p:spPr>
          <a:xfrm>
            <a:off x="9238488" y="5358384"/>
            <a:ext cx="2584704" cy="658368"/>
          </a:xfrm>
          <a:prstGeom prst="rect">
            <a:avLst/>
          </a:prstGeom>
          <a:solidFill>
            <a:srgbClr val="FFFFFF"/>
          </a:solidFill>
          <a:ln w="12700">
            <a:solidFill>
              <a:srgbClr val="0F6E84"/>
            </a:solidFill>
            <a:prstDash val="solid"/>
          </a:ln>
        </p:spPr>
      </p:sp>
      <p:sp>
        <p:nvSpPr>
          <p:cNvPr id="59" name="Text 57"/>
          <p:cNvSpPr/>
          <p:nvPr/>
        </p:nvSpPr>
        <p:spPr>
          <a:xfrm>
            <a:off x="9284208" y="5358384"/>
            <a:ext cx="2493264" cy="658368"/>
          </a:xfrm>
          <a:prstGeom prst="rect">
            <a:avLst/>
          </a:prstGeom>
          <a:noFill/>
          <a:ln/>
        </p:spPr>
        <p:txBody>
          <a:bodyPr wrap="square" lIns="0" tIns="0" rIns="0" bIns="0" rtlCol="0" anchor="ctr"/>
          <a:lstStyle/>
          <a:p>
            <a:pPr algn="ctr" indent="0" marL="0">
              <a:lnSpc>
                <a:spcPts val="1200"/>
              </a:lnSpc>
              <a:buNone/>
            </a:pPr>
            <a:r>
              <a:rPr lang="en-US" sz="1050" dirty="0">
                <a:solidFill>
                  <a:srgbClr val="2A2F36"/>
                </a:solidFill>
                <a:latin typeface="Calibri" pitchFamily="34" charset="0"/>
                <a:ea typeface="Calibri" pitchFamily="34" charset="-122"/>
                <a:cs typeface="Calibri" pitchFamily="34" charset="-120"/>
              </a:rPr>
              <a:t>Packaged / modular</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3112" cy="256032"/>
          </a:xfrm>
          <a:prstGeom prst="rect">
            <a:avLst/>
          </a:prstGeom>
          <a:noFill/>
          <a:ln/>
        </p:spPr>
        <p:txBody>
          <a:bodyPr wrap="square" lIns="0" tIns="0" rIns="0" bIns="0" rtlCol="0" anchor="ctr"/>
          <a:lstStyle/>
          <a:p>
            <a:pPr indent="0" marL="0">
              <a:buNone/>
            </a:pPr>
            <a:r>
              <a:rPr lang="en-US" sz="1100" b="1" spc="200" kern="0" dirty="0">
                <a:solidFill>
                  <a:srgbClr val="0F6E84"/>
                </a:solidFill>
                <a:latin typeface="Calibri" pitchFamily="34" charset="0"/>
                <a:ea typeface="Calibri" pitchFamily="34" charset="-122"/>
                <a:cs typeface="Calibri" pitchFamily="34" charset="-120"/>
              </a:rPr>
              <a:t>WHERE TO PLAY</a:t>
            </a:r>
            <a:endParaRPr lang="en-US" sz="1100" dirty="0"/>
          </a:p>
        </p:txBody>
      </p:sp>
      <p:sp>
        <p:nvSpPr>
          <p:cNvPr id="3" name="Text 1"/>
          <p:cNvSpPr/>
          <p:nvPr/>
        </p:nvSpPr>
        <p:spPr>
          <a:xfrm>
            <a:off x="502920" y="530352"/>
            <a:ext cx="11183112" cy="777240"/>
          </a:xfrm>
          <a:prstGeom prst="rect">
            <a:avLst/>
          </a:prstGeom>
          <a:noFill/>
          <a:ln/>
        </p:spPr>
        <p:txBody>
          <a:bodyPr wrap="square" lIns="0" tIns="0" rIns="0" bIns="0" rtlCol="0" anchor="t"/>
          <a:lstStyle/>
          <a:p>
            <a:pPr indent="0" marL="0">
              <a:buNone/>
            </a:pPr>
            <a:r>
              <a:rPr lang="en-US" sz="2100" b="1" dirty="0">
                <a:solidFill>
                  <a:srgbClr val="1F3B57"/>
                </a:solidFill>
                <a:latin typeface="Calibri" pitchFamily="34" charset="0"/>
                <a:ea typeface="Calibri" pitchFamily="34" charset="-122"/>
                <a:cs typeface="Calibri" pitchFamily="34" charset="-120"/>
              </a:rPr>
              <a:t>Force-ranking on eight weighted criteria supports a narrow start: two priorities validate now, one is conditional, two map only</a:t>
            </a:r>
            <a:endParaRPr lang="en-US" sz="2100" dirty="0"/>
          </a:p>
        </p:txBody>
      </p:sp>
      <p:sp>
        <p:nvSpPr>
          <p:cNvPr id="4" name="Text 2"/>
          <p:cNvSpPr/>
          <p:nvPr/>
        </p:nvSpPr>
        <p:spPr>
          <a:xfrm>
            <a:off x="502920" y="6473952"/>
            <a:ext cx="10085832" cy="274320"/>
          </a:xfrm>
          <a:prstGeom prst="rect">
            <a:avLst/>
          </a:prstGeom>
          <a:noFill/>
          <a:ln/>
        </p:spPr>
        <p:txBody>
          <a:bodyPr wrap="square" lIns="0" tIns="0" rIns="0" bIns="0" rtlCol="0" anchor="ctr"/>
          <a:lstStyle/>
          <a:p>
            <a:pPr indent="0" marL="0">
              <a:buNone/>
            </a:pPr>
            <a:r>
              <a:rPr lang="en-US" sz="850" dirty="0">
                <a:solidFill>
                  <a:srgbClr val="5B6573"/>
                </a:solidFill>
                <a:latin typeface="Calibri" pitchFamily="34" charset="0"/>
                <a:ea typeface="Calibri" pitchFamily="34" charset="-122"/>
                <a:cs typeface="Calibri" pitchFamily="34" charset="-120"/>
              </a:rPr>
              <a:t>Source: 05_Thursday_Decision_Workshop, portfolio force-ranking. Scores are initial recommendations; unknowns capped at 3; veto gates apply.</a:t>
            </a:r>
            <a:endParaRPr lang="en-US" sz="850" dirty="0"/>
          </a:p>
        </p:txBody>
      </p:sp>
      <p:sp>
        <p:nvSpPr>
          <p:cNvPr id="5" name="Text 3"/>
          <p:cNvSpPr/>
          <p:nvPr/>
        </p:nvSpPr>
        <p:spPr>
          <a:xfrm>
            <a:off x="10268712" y="6473952"/>
            <a:ext cx="1417320" cy="274320"/>
          </a:xfrm>
          <a:prstGeom prst="rect">
            <a:avLst/>
          </a:prstGeom>
          <a:noFill/>
          <a:ln/>
        </p:spPr>
        <p:txBody>
          <a:bodyPr wrap="square" lIns="0" tIns="0" rIns="0" bIns="0" rtlCol="0" anchor="ctr"/>
          <a:lstStyle/>
          <a:p>
            <a:pPr algn="r" indent="0" marL="0">
              <a:buNone/>
            </a:pPr>
            <a:r>
              <a:rPr lang="en-US" sz="850" dirty="0">
                <a:solidFill>
                  <a:srgbClr val="5B6573"/>
                </a:solidFill>
                <a:latin typeface="Calibri" pitchFamily="34" charset="0"/>
                <a:ea typeface="Calibri" pitchFamily="34" charset="-122"/>
                <a:cs typeface="Calibri" pitchFamily="34" charset="-120"/>
              </a:rPr>
              <a:t>SOUTHWIRE POWERGEN | v0  </a:t>
            </a:r>
            <a:pPr algn="r" indent="0" marL="0">
              <a:buNone/>
            </a:pPr>
            <a:r>
              <a:rPr lang="en-US" sz="850" b="1" dirty="0">
                <a:solidFill>
                  <a:srgbClr val="1F3B57"/>
                </a:solidFill>
                <a:latin typeface="Calibri" pitchFamily="34" charset="0"/>
                <a:ea typeface="Calibri" pitchFamily="34" charset="-122"/>
                <a:cs typeface="Calibri" pitchFamily="34" charset="-120"/>
              </a:rPr>
              <a:t>6</a:t>
            </a:r>
            <a:endParaRPr lang="en-US" sz="850" dirty="0"/>
          </a:p>
        </p:txBody>
      </p:sp>
      <p:sp>
        <p:nvSpPr>
          <p:cNvPr id="6" name="Text 4"/>
          <p:cNvSpPr/>
          <p:nvPr/>
        </p:nvSpPr>
        <p:spPr>
          <a:xfrm>
            <a:off x="3657600" y="1417320"/>
            <a:ext cx="4206240" cy="274320"/>
          </a:xfrm>
          <a:prstGeom prst="rect">
            <a:avLst/>
          </a:prstGeom>
          <a:noFill/>
          <a:ln/>
        </p:spPr>
        <p:txBody>
          <a:bodyPr wrap="square" lIns="0" tIns="0" rIns="0" bIns="0" rtlCol="0" anchor="ctr"/>
          <a:lstStyle/>
          <a:p>
            <a:pPr indent="0" marL="0">
              <a:buNone/>
            </a:pPr>
            <a:r>
              <a:rPr lang="en-US" sz="1000" b="1" dirty="0">
                <a:solidFill>
                  <a:srgbClr val="5B6573"/>
                </a:solidFill>
                <a:latin typeface="Calibri" pitchFamily="34" charset="0"/>
                <a:ea typeface="Calibri" pitchFamily="34" charset="-122"/>
                <a:cs typeface="Calibri" pitchFamily="34" charset="-120"/>
              </a:rPr>
              <a:t>Weighted score (of 5)</a:t>
            </a:r>
            <a:endParaRPr lang="en-US" sz="1000" dirty="0"/>
          </a:p>
        </p:txBody>
      </p:sp>
      <p:sp>
        <p:nvSpPr>
          <p:cNvPr id="7" name="Text 5"/>
          <p:cNvSpPr/>
          <p:nvPr/>
        </p:nvSpPr>
        <p:spPr>
          <a:xfrm>
            <a:off x="502920" y="1719072"/>
            <a:ext cx="3017520" cy="749808"/>
          </a:xfrm>
          <a:prstGeom prst="rect">
            <a:avLst/>
          </a:prstGeom>
          <a:noFill/>
          <a:ln/>
        </p:spPr>
        <p:txBody>
          <a:bodyPr wrap="square" lIns="0" tIns="0" rIns="0" bIns="0" rtlCol="0" anchor="ctr"/>
          <a:lstStyle/>
          <a:p>
            <a:pPr indent="0" marL="0">
              <a:lnSpc>
                <a:spcPts val="1400"/>
              </a:lnSpc>
              <a:buNone/>
            </a:pPr>
            <a:r>
              <a:rPr lang="en-US" sz="1200" b="1" dirty="0">
                <a:solidFill>
                  <a:srgbClr val="1F3B57"/>
                </a:solidFill>
                <a:latin typeface="Calibri" pitchFamily="34" charset="0"/>
                <a:ea typeface="Calibri" pitchFamily="34" charset="-122"/>
                <a:cs typeface="Calibri" pitchFamily="34" charset="-120"/>
              </a:rPr>
              <a:t>New-build gas project capture</a:t>
            </a:r>
            <a:endParaRPr lang="en-US" sz="1200" dirty="0"/>
          </a:p>
        </p:txBody>
      </p:sp>
      <p:sp>
        <p:nvSpPr>
          <p:cNvPr id="8" name="Shape 6"/>
          <p:cNvSpPr/>
          <p:nvPr/>
        </p:nvSpPr>
        <p:spPr>
          <a:xfrm>
            <a:off x="3657600" y="1847088"/>
            <a:ext cx="4206240" cy="493776"/>
          </a:xfrm>
          <a:prstGeom prst="rect">
            <a:avLst/>
          </a:prstGeom>
          <a:solidFill>
            <a:srgbClr val="EDF1F5"/>
          </a:solidFill>
          <a:ln/>
        </p:spPr>
      </p:sp>
      <p:sp>
        <p:nvSpPr>
          <p:cNvPr id="9" name="Shape 7"/>
          <p:cNvSpPr/>
          <p:nvPr/>
        </p:nvSpPr>
        <p:spPr>
          <a:xfrm>
            <a:off x="3657600" y="1847088"/>
            <a:ext cx="2944368" cy="493776"/>
          </a:xfrm>
          <a:prstGeom prst="rect">
            <a:avLst/>
          </a:prstGeom>
          <a:solidFill>
            <a:srgbClr val="3E7C4F"/>
          </a:solidFill>
          <a:ln/>
        </p:spPr>
      </p:sp>
      <p:sp>
        <p:nvSpPr>
          <p:cNvPr id="10" name="Text 8"/>
          <p:cNvSpPr/>
          <p:nvPr/>
        </p:nvSpPr>
        <p:spPr>
          <a:xfrm>
            <a:off x="5916168" y="1847088"/>
            <a:ext cx="640080" cy="493776"/>
          </a:xfrm>
          <a:prstGeom prst="rect">
            <a:avLst/>
          </a:prstGeom>
          <a:noFill/>
          <a:ln/>
        </p:spPr>
        <p:txBody>
          <a:bodyPr wrap="square" lIns="0" tIns="0" rIns="0" bIns="0" rtlCol="0" anchor="ctr"/>
          <a:lstStyle/>
          <a:p>
            <a:pPr algn="r" indent="0" marL="0">
              <a:buNone/>
            </a:pPr>
            <a:r>
              <a:rPr lang="en-US" sz="1300" b="1" dirty="0">
                <a:solidFill>
                  <a:srgbClr val="FFFFFF"/>
                </a:solidFill>
                <a:latin typeface="Calibri" pitchFamily="34" charset="0"/>
                <a:ea typeface="Calibri" pitchFamily="34" charset="-122"/>
                <a:cs typeface="Calibri" pitchFamily="34" charset="-120"/>
              </a:rPr>
              <a:t>3.50</a:t>
            </a:r>
            <a:endParaRPr lang="en-US" sz="1300" dirty="0"/>
          </a:p>
        </p:txBody>
      </p:sp>
      <p:sp>
        <p:nvSpPr>
          <p:cNvPr id="11" name="Shape 9"/>
          <p:cNvSpPr/>
          <p:nvPr/>
        </p:nvSpPr>
        <p:spPr>
          <a:xfrm>
            <a:off x="8046720" y="1975104"/>
            <a:ext cx="1170432" cy="237744"/>
          </a:xfrm>
          <a:prstGeom prst="roundRect">
            <a:avLst>
              <a:gd name="adj" fmla="val 50000"/>
            </a:avLst>
          </a:prstGeom>
          <a:solidFill>
            <a:srgbClr val="3E7C4F"/>
          </a:solidFill>
          <a:ln/>
        </p:spPr>
      </p:sp>
      <p:sp>
        <p:nvSpPr>
          <p:cNvPr id="12" name="Text 10"/>
          <p:cNvSpPr/>
          <p:nvPr/>
        </p:nvSpPr>
        <p:spPr>
          <a:xfrm>
            <a:off x="8046720" y="1970532"/>
            <a:ext cx="1170432" cy="24688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VALIDATE NOW</a:t>
            </a:r>
            <a:endParaRPr lang="en-US" sz="850" dirty="0"/>
          </a:p>
        </p:txBody>
      </p:sp>
      <p:sp>
        <p:nvSpPr>
          <p:cNvPr id="13" name="Text 11"/>
          <p:cNvSpPr/>
          <p:nvPr/>
        </p:nvSpPr>
        <p:spPr>
          <a:xfrm>
            <a:off x="9345168" y="1719072"/>
            <a:ext cx="2340864" cy="749808"/>
          </a:xfrm>
          <a:prstGeom prst="rect">
            <a:avLst/>
          </a:prstGeom>
          <a:noFill/>
          <a:ln/>
        </p:spPr>
        <p:txBody>
          <a:bodyPr wrap="square" lIns="0" tIns="0" rIns="0" bIns="0" rtlCol="0" anchor="ctr"/>
          <a:lstStyle/>
          <a:p>
            <a:pPr indent="0" marL="0">
              <a:lnSpc>
                <a:spcPts val="1100"/>
              </a:lnSpc>
              <a:buNone/>
            </a:pPr>
            <a:r>
              <a:rPr lang="en-US" sz="900" dirty="0">
                <a:solidFill>
                  <a:srgbClr val="5B6573"/>
                </a:solidFill>
                <a:latin typeface="Calibri" pitchFamily="34" charset="0"/>
                <a:ea typeface="Calibri" pitchFamily="34" charset="-122"/>
                <a:cs typeface="Calibri" pitchFamily="34" charset="-120"/>
              </a:rPr>
              <a:t>17 items labeled actionable; stage, route, capacity, and economics require validation</a:t>
            </a:r>
            <a:endParaRPr lang="en-US" sz="900" dirty="0"/>
          </a:p>
        </p:txBody>
      </p:sp>
      <p:sp>
        <p:nvSpPr>
          <p:cNvPr id="14" name="Text 12"/>
          <p:cNvSpPr/>
          <p:nvPr/>
        </p:nvSpPr>
        <p:spPr>
          <a:xfrm>
            <a:off x="502920" y="2542032"/>
            <a:ext cx="3017520" cy="749808"/>
          </a:xfrm>
          <a:prstGeom prst="rect">
            <a:avLst/>
          </a:prstGeom>
          <a:noFill/>
          <a:ln/>
        </p:spPr>
        <p:txBody>
          <a:bodyPr wrap="square" lIns="0" tIns="0" rIns="0" bIns="0" rtlCol="0" anchor="ctr"/>
          <a:lstStyle/>
          <a:p>
            <a:pPr indent="0" marL="0">
              <a:lnSpc>
                <a:spcPts val="1400"/>
              </a:lnSpc>
              <a:buNone/>
            </a:pPr>
            <a:r>
              <a:rPr lang="en-US" sz="1200" b="1" dirty="0">
                <a:solidFill>
                  <a:srgbClr val="1F3B57"/>
                </a:solidFill>
                <a:latin typeface="Calibri" pitchFamily="34" charset="0"/>
                <a:ea typeface="Calibri" pitchFamily="34" charset="-122"/>
                <a:cs typeface="Calibri" pitchFamily="34" charset="-120"/>
              </a:rPr>
              <a:t>OEM / modular platform embedding</a:t>
            </a:r>
            <a:endParaRPr lang="en-US" sz="1200" dirty="0"/>
          </a:p>
        </p:txBody>
      </p:sp>
      <p:sp>
        <p:nvSpPr>
          <p:cNvPr id="15" name="Shape 13"/>
          <p:cNvSpPr/>
          <p:nvPr/>
        </p:nvSpPr>
        <p:spPr>
          <a:xfrm>
            <a:off x="3657600" y="2670048"/>
            <a:ext cx="4206240" cy="493776"/>
          </a:xfrm>
          <a:prstGeom prst="rect">
            <a:avLst/>
          </a:prstGeom>
          <a:solidFill>
            <a:srgbClr val="EDF1F5"/>
          </a:solidFill>
          <a:ln/>
        </p:spPr>
      </p:sp>
      <p:sp>
        <p:nvSpPr>
          <p:cNvPr id="16" name="Shape 14"/>
          <p:cNvSpPr/>
          <p:nvPr/>
        </p:nvSpPr>
        <p:spPr>
          <a:xfrm>
            <a:off x="3657600" y="2670048"/>
            <a:ext cx="2818181" cy="493776"/>
          </a:xfrm>
          <a:prstGeom prst="rect">
            <a:avLst/>
          </a:prstGeom>
          <a:solidFill>
            <a:srgbClr val="3E7C4F"/>
          </a:solidFill>
          <a:ln/>
        </p:spPr>
      </p:sp>
      <p:sp>
        <p:nvSpPr>
          <p:cNvPr id="17" name="Text 15"/>
          <p:cNvSpPr/>
          <p:nvPr/>
        </p:nvSpPr>
        <p:spPr>
          <a:xfrm>
            <a:off x="5789981" y="2670048"/>
            <a:ext cx="640080" cy="493776"/>
          </a:xfrm>
          <a:prstGeom prst="rect">
            <a:avLst/>
          </a:prstGeom>
          <a:noFill/>
          <a:ln/>
        </p:spPr>
        <p:txBody>
          <a:bodyPr wrap="square" lIns="0" tIns="0" rIns="0" bIns="0" rtlCol="0" anchor="ctr"/>
          <a:lstStyle/>
          <a:p>
            <a:pPr algn="r" indent="0" marL="0">
              <a:buNone/>
            </a:pPr>
            <a:r>
              <a:rPr lang="en-US" sz="1300" b="1" dirty="0">
                <a:solidFill>
                  <a:srgbClr val="FFFFFF"/>
                </a:solidFill>
                <a:latin typeface="Calibri" pitchFamily="34" charset="0"/>
                <a:ea typeface="Calibri" pitchFamily="34" charset="-122"/>
                <a:cs typeface="Calibri" pitchFamily="34" charset="-120"/>
              </a:rPr>
              <a:t>3.35</a:t>
            </a:r>
            <a:endParaRPr lang="en-US" sz="1300" dirty="0"/>
          </a:p>
        </p:txBody>
      </p:sp>
      <p:sp>
        <p:nvSpPr>
          <p:cNvPr id="18" name="Shape 16"/>
          <p:cNvSpPr/>
          <p:nvPr/>
        </p:nvSpPr>
        <p:spPr>
          <a:xfrm>
            <a:off x="8046720" y="2798064"/>
            <a:ext cx="1170432" cy="237744"/>
          </a:xfrm>
          <a:prstGeom prst="roundRect">
            <a:avLst>
              <a:gd name="adj" fmla="val 50000"/>
            </a:avLst>
          </a:prstGeom>
          <a:solidFill>
            <a:srgbClr val="3E7C4F"/>
          </a:solidFill>
          <a:ln/>
        </p:spPr>
      </p:sp>
      <p:sp>
        <p:nvSpPr>
          <p:cNvPr id="19" name="Text 17"/>
          <p:cNvSpPr/>
          <p:nvPr/>
        </p:nvSpPr>
        <p:spPr>
          <a:xfrm>
            <a:off x="8046720" y="2793492"/>
            <a:ext cx="1170432" cy="24688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VALIDATE NOW</a:t>
            </a:r>
            <a:endParaRPr lang="en-US" sz="850" dirty="0"/>
          </a:p>
        </p:txBody>
      </p:sp>
      <p:sp>
        <p:nvSpPr>
          <p:cNvPr id="20" name="Text 18"/>
          <p:cNvSpPr/>
          <p:nvPr/>
        </p:nvSpPr>
        <p:spPr>
          <a:xfrm>
            <a:off x="9345168" y="2542032"/>
            <a:ext cx="2340864" cy="749808"/>
          </a:xfrm>
          <a:prstGeom prst="rect">
            <a:avLst/>
          </a:prstGeom>
          <a:noFill/>
          <a:ln/>
        </p:spPr>
        <p:txBody>
          <a:bodyPr wrap="square" lIns="0" tIns="0" rIns="0" bIns="0" rtlCol="0" anchor="ctr"/>
          <a:lstStyle/>
          <a:p>
            <a:pPr indent="0" marL="0">
              <a:lnSpc>
                <a:spcPts val="1100"/>
              </a:lnSpc>
              <a:buNone/>
            </a:pPr>
            <a:r>
              <a:rPr lang="en-US" sz="900" dirty="0">
                <a:solidFill>
                  <a:srgbClr val="5B6573"/>
                </a:solidFill>
                <a:latin typeface="Calibri" pitchFamily="34" charset="0"/>
                <a:ea typeface="Calibri" pitchFamily="34" charset="-122"/>
                <a:cs typeface="Calibri" pitchFamily="34" charset="-120"/>
              </a:rPr>
              <a:t>Developed candidate model; buyer, boundary, stage, and economics incomplete</a:t>
            </a:r>
            <a:endParaRPr lang="en-US" sz="900" dirty="0"/>
          </a:p>
        </p:txBody>
      </p:sp>
      <p:sp>
        <p:nvSpPr>
          <p:cNvPr id="21" name="Text 19"/>
          <p:cNvSpPr/>
          <p:nvPr/>
        </p:nvSpPr>
        <p:spPr>
          <a:xfrm>
            <a:off x="502920" y="3364992"/>
            <a:ext cx="3017520" cy="749808"/>
          </a:xfrm>
          <a:prstGeom prst="rect">
            <a:avLst/>
          </a:prstGeom>
          <a:noFill/>
          <a:ln/>
        </p:spPr>
        <p:txBody>
          <a:bodyPr wrap="square" lIns="0" tIns="0" rIns="0" bIns="0" rtlCol="0" anchor="ctr"/>
          <a:lstStyle/>
          <a:p>
            <a:pPr indent="0" marL="0">
              <a:lnSpc>
                <a:spcPts val="1400"/>
              </a:lnSpc>
              <a:buNone/>
            </a:pPr>
            <a:r>
              <a:rPr lang="en-US" sz="1200" b="1" dirty="0">
                <a:solidFill>
                  <a:srgbClr val="1F3B57"/>
                </a:solidFill>
                <a:latin typeface="Calibri" pitchFamily="34" charset="0"/>
                <a:ea typeface="Calibri" pitchFamily="34" charset="-122"/>
                <a:cs typeface="Calibri" pitchFamily="34" charset="-120"/>
              </a:rPr>
              <a:t>Repower / brownfield</a:t>
            </a:r>
            <a:endParaRPr lang="en-US" sz="1200" dirty="0"/>
          </a:p>
        </p:txBody>
      </p:sp>
      <p:sp>
        <p:nvSpPr>
          <p:cNvPr id="22" name="Shape 20"/>
          <p:cNvSpPr/>
          <p:nvPr/>
        </p:nvSpPr>
        <p:spPr>
          <a:xfrm>
            <a:off x="3657600" y="3493008"/>
            <a:ext cx="4206240" cy="493776"/>
          </a:xfrm>
          <a:prstGeom prst="rect">
            <a:avLst/>
          </a:prstGeom>
          <a:solidFill>
            <a:srgbClr val="EDF1F5"/>
          </a:solidFill>
          <a:ln/>
        </p:spPr>
      </p:sp>
      <p:sp>
        <p:nvSpPr>
          <p:cNvPr id="23" name="Shape 21"/>
          <p:cNvSpPr/>
          <p:nvPr/>
        </p:nvSpPr>
        <p:spPr>
          <a:xfrm>
            <a:off x="3657600" y="3493008"/>
            <a:ext cx="2313432" cy="493776"/>
          </a:xfrm>
          <a:prstGeom prst="rect">
            <a:avLst/>
          </a:prstGeom>
          <a:solidFill>
            <a:srgbClr val="B07A2A"/>
          </a:solidFill>
          <a:ln/>
        </p:spPr>
      </p:sp>
      <p:sp>
        <p:nvSpPr>
          <p:cNvPr id="24" name="Text 22"/>
          <p:cNvSpPr/>
          <p:nvPr/>
        </p:nvSpPr>
        <p:spPr>
          <a:xfrm>
            <a:off x="5285232" y="3493008"/>
            <a:ext cx="640080" cy="493776"/>
          </a:xfrm>
          <a:prstGeom prst="rect">
            <a:avLst/>
          </a:prstGeom>
          <a:noFill/>
          <a:ln/>
        </p:spPr>
        <p:txBody>
          <a:bodyPr wrap="square" lIns="0" tIns="0" rIns="0" bIns="0" rtlCol="0" anchor="ctr"/>
          <a:lstStyle/>
          <a:p>
            <a:pPr algn="r" indent="0" marL="0">
              <a:buNone/>
            </a:pPr>
            <a:r>
              <a:rPr lang="en-US" sz="1300" b="1" dirty="0">
                <a:solidFill>
                  <a:srgbClr val="FFFFFF"/>
                </a:solidFill>
                <a:latin typeface="Calibri" pitchFamily="34" charset="0"/>
                <a:ea typeface="Calibri" pitchFamily="34" charset="-122"/>
                <a:cs typeface="Calibri" pitchFamily="34" charset="-120"/>
              </a:rPr>
              <a:t>2.75</a:t>
            </a:r>
            <a:endParaRPr lang="en-US" sz="1300" dirty="0"/>
          </a:p>
        </p:txBody>
      </p:sp>
      <p:sp>
        <p:nvSpPr>
          <p:cNvPr id="25" name="Shape 23"/>
          <p:cNvSpPr/>
          <p:nvPr/>
        </p:nvSpPr>
        <p:spPr>
          <a:xfrm>
            <a:off x="8046720" y="3621024"/>
            <a:ext cx="1170432" cy="237744"/>
          </a:xfrm>
          <a:prstGeom prst="roundRect">
            <a:avLst>
              <a:gd name="adj" fmla="val 50000"/>
            </a:avLst>
          </a:prstGeom>
          <a:solidFill>
            <a:srgbClr val="B07A2A"/>
          </a:solidFill>
          <a:ln/>
        </p:spPr>
      </p:sp>
      <p:sp>
        <p:nvSpPr>
          <p:cNvPr id="26" name="Text 24"/>
          <p:cNvSpPr/>
          <p:nvPr/>
        </p:nvSpPr>
        <p:spPr>
          <a:xfrm>
            <a:off x="8046720" y="3616452"/>
            <a:ext cx="1170432" cy="24688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CONDITIONAL</a:t>
            </a:r>
            <a:endParaRPr lang="en-US" sz="850" dirty="0"/>
          </a:p>
        </p:txBody>
      </p:sp>
      <p:sp>
        <p:nvSpPr>
          <p:cNvPr id="27" name="Text 25"/>
          <p:cNvSpPr/>
          <p:nvPr/>
        </p:nvSpPr>
        <p:spPr>
          <a:xfrm>
            <a:off x="9345168" y="3364992"/>
            <a:ext cx="2340864" cy="749808"/>
          </a:xfrm>
          <a:prstGeom prst="rect">
            <a:avLst/>
          </a:prstGeom>
          <a:noFill/>
          <a:ln/>
        </p:spPr>
        <p:txBody>
          <a:bodyPr wrap="square" lIns="0" tIns="0" rIns="0" bIns="0" rtlCol="0" anchor="ctr"/>
          <a:lstStyle/>
          <a:p>
            <a:pPr indent="0" marL="0">
              <a:lnSpc>
                <a:spcPts val="1100"/>
              </a:lnSpc>
              <a:buNone/>
            </a:pPr>
            <a:r>
              <a:rPr lang="en-US" sz="900" dirty="0">
                <a:solidFill>
                  <a:srgbClr val="5B6573"/>
                </a:solidFill>
                <a:latin typeface="Calibri" pitchFamily="34" charset="0"/>
                <a:ea typeface="Calibri" pitchFamily="34" charset="-122"/>
                <a:cs typeface="Calibri" pitchFamily="34" charset="-120"/>
              </a:rPr>
              <a:t>Proposition exists; activates only with a named sponsor, project, and repeatable hypothesis</a:t>
            </a:r>
            <a:endParaRPr lang="en-US" sz="900" dirty="0"/>
          </a:p>
        </p:txBody>
      </p:sp>
      <p:sp>
        <p:nvSpPr>
          <p:cNvPr id="28" name="Text 26"/>
          <p:cNvSpPr/>
          <p:nvPr/>
        </p:nvSpPr>
        <p:spPr>
          <a:xfrm>
            <a:off x="502920" y="4187952"/>
            <a:ext cx="3017520" cy="749808"/>
          </a:xfrm>
          <a:prstGeom prst="rect">
            <a:avLst/>
          </a:prstGeom>
          <a:noFill/>
          <a:ln/>
        </p:spPr>
        <p:txBody>
          <a:bodyPr wrap="square" lIns="0" tIns="0" rIns="0" bIns="0" rtlCol="0" anchor="ctr"/>
          <a:lstStyle/>
          <a:p>
            <a:pPr indent="0" marL="0">
              <a:lnSpc>
                <a:spcPts val="1400"/>
              </a:lnSpc>
              <a:buNone/>
            </a:pPr>
            <a:r>
              <a:rPr lang="en-US" sz="1200" b="1" dirty="0">
                <a:solidFill>
                  <a:srgbClr val="1F3B57"/>
                </a:solidFill>
                <a:latin typeface="Calibri" pitchFamily="34" charset="0"/>
                <a:ea typeface="Calibri" pitchFamily="34" charset="-122"/>
                <a:cs typeface="Calibri" pitchFamily="34" charset="-120"/>
              </a:rPr>
              <a:t>Data Center / BTM</a:t>
            </a:r>
            <a:endParaRPr lang="en-US" sz="1200" dirty="0"/>
          </a:p>
        </p:txBody>
      </p:sp>
      <p:sp>
        <p:nvSpPr>
          <p:cNvPr id="29" name="Shape 27"/>
          <p:cNvSpPr/>
          <p:nvPr/>
        </p:nvSpPr>
        <p:spPr>
          <a:xfrm>
            <a:off x="3657600" y="4315968"/>
            <a:ext cx="4206240" cy="493776"/>
          </a:xfrm>
          <a:prstGeom prst="rect">
            <a:avLst/>
          </a:prstGeom>
          <a:solidFill>
            <a:srgbClr val="EDF1F5"/>
          </a:solidFill>
          <a:ln/>
        </p:spPr>
      </p:sp>
      <p:sp>
        <p:nvSpPr>
          <p:cNvPr id="30" name="Shape 28"/>
          <p:cNvSpPr/>
          <p:nvPr/>
        </p:nvSpPr>
        <p:spPr>
          <a:xfrm>
            <a:off x="3657600" y="4315968"/>
            <a:ext cx="2187245" cy="493776"/>
          </a:xfrm>
          <a:prstGeom prst="rect">
            <a:avLst/>
          </a:prstGeom>
          <a:solidFill>
            <a:srgbClr val="5B6573"/>
          </a:solidFill>
          <a:ln/>
        </p:spPr>
      </p:sp>
      <p:sp>
        <p:nvSpPr>
          <p:cNvPr id="31" name="Text 29"/>
          <p:cNvSpPr/>
          <p:nvPr/>
        </p:nvSpPr>
        <p:spPr>
          <a:xfrm>
            <a:off x="5159045" y="4315968"/>
            <a:ext cx="640080" cy="493776"/>
          </a:xfrm>
          <a:prstGeom prst="rect">
            <a:avLst/>
          </a:prstGeom>
          <a:noFill/>
          <a:ln/>
        </p:spPr>
        <p:txBody>
          <a:bodyPr wrap="square" lIns="0" tIns="0" rIns="0" bIns="0" rtlCol="0" anchor="ctr"/>
          <a:lstStyle/>
          <a:p>
            <a:pPr algn="r" indent="0" marL="0">
              <a:buNone/>
            </a:pPr>
            <a:r>
              <a:rPr lang="en-US" sz="1300" b="1" dirty="0">
                <a:solidFill>
                  <a:srgbClr val="FFFFFF"/>
                </a:solidFill>
                <a:latin typeface="Calibri" pitchFamily="34" charset="0"/>
                <a:ea typeface="Calibri" pitchFamily="34" charset="-122"/>
                <a:cs typeface="Calibri" pitchFamily="34" charset="-120"/>
              </a:rPr>
              <a:t>2.60</a:t>
            </a:r>
            <a:endParaRPr lang="en-US" sz="1300" dirty="0"/>
          </a:p>
        </p:txBody>
      </p:sp>
      <p:sp>
        <p:nvSpPr>
          <p:cNvPr id="32" name="Shape 30"/>
          <p:cNvSpPr/>
          <p:nvPr/>
        </p:nvSpPr>
        <p:spPr>
          <a:xfrm>
            <a:off x="8046720" y="4443984"/>
            <a:ext cx="1170432" cy="237744"/>
          </a:xfrm>
          <a:prstGeom prst="roundRect">
            <a:avLst>
              <a:gd name="adj" fmla="val 50000"/>
            </a:avLst>
          </a:prstGeom>
          <a:solidFill>
            <a:srgbClr val="5B6573"/>
          </a:solidFill>
          <a:ln/>
        </p:spPr>
      </p:sp>
      <p:sp>
        <p:nvSpPr>
          <p:cNvPr id="33" name="Text 31"/>
          <p:cNvSpPr/>
          <p:nvPr/>
        </p:nvSpPr>
        <p:spPr>
          <a:xfrm>
            <a:off x="8046720" y="4439412"/>
            <a:ext cx="1170432" cy="24688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EVIDENCE MAP</a:t>
            </a:r>
            <a:endParaRPr lang="en-US" sz="850" dirty="0"/>
          </a:p>
        </p:txBody>
      </p:sp>
      <p:sp>
        <p:nvSpPr>
          <p:cNvPr id="34" name="Text 32"/>
          <p:cNvSpPr/>
          <p:nvPr/>
        </p:nvSpPr>
        <p:spPr>
          <a:xfrm>
            <a:off x="9345168" y="4187952"/>
            <a:ext cx="2340864" cy="749808"/>
          </a:xfrm>
          <a:prstGeom prst="rect">
            <a:avLst/>
          </a:prstGeom>
          <a:noFill/>
          <a:ln/>
        </p:spPr>
        <p:txBody>
          <a:bodyPr wrap="square" lIns="0" tIns="0" rIns="0" bIns="0" rtlCol="0" anchor="ctr"/>
          <a:lstStyle/>
          <a:p>
            <a:pPr indent="0" marL="0">
              <a:lnSpc>
                <a:spcPts val="1100"/>
              </a:lnSpc>
              <a:buNone/>
            </a:pPr>
            <a:r>
              <a:rPr lang="en-US" sz="900" dirty="0">
                <a:solidFill>
                  <a:srgbClr val="5B6573"/>
                </a:solidFill>
                <a:latin typeface="Calibri" pitchFamily="34" charset="0"/>
                <a:ea typeface="Calibri" pitchFamily="34" charset="-122"/>
                <a:cs typeface="Calibri" pitchFamily="34" charset="-120"/>
              </a:rPr>
              <a:t>Strategic adjacency; ownership and account overlap missing</a:t>
            </a:r>
            <a:endParaRPr lang="en-US" sz="900" dirty="0"/>
          </a:p>
        </p:txBody>
      </p:sp>
      <p:sp>
        <p:nvSpPr>
          <p:cNvPr id="35" name="Text 33"/>
          <p:cNvSpPr/>
          <p:nvPr/>
        </p:nvSpPr>
        <p:spPr>
          <a:xfrm>
            <a:off x="502920" y="5010912"/>
            <a:ext cx="3017520" cy="749808"/>
          </a:xfrm>
          <a:prstGeom prst="rect">
            <a:avLst/>
          </a:prstGeom>
          <a:noFill/>
          <a:ln/>
        </p:spPr>
        <p:txBody>
          <a:bodyPr wrap="square" lIns="0" tIns="0" rIns="0" bIns="0" rtlCol="0" anchor="ctr"/>
          <a:lstStyle/>
          <a:p>
            <a:pPr indent="0" marL="0">
              <a:lnSpc>
                <a:spcPts val="1400"/>
              </a:lnSpc>
              <a:buNone/>
            </a:pPr>
            <a:r>
              <a:rPr lang="en-US" sz="1200" b="1" dirty="0">
                <a:solidFill>
                  <a:srgbClr val="1F3B57"/>
                </a:solidFill>
                <a:latin typeface="Calibri" pitchFamily="34" charset="0"/>
                <a:ea typeface="Calibri" pitchFamily="34" charset="-122"/>
                <a:cs typeface="Calibri" pitchFamily="34" charset="-120"/>
              </a:rPr>
              <a:t>Nuclear / SMR</a:t>
            </a:r>
            <a:endParaRPr lang="en-US" sz="1200" dirty="0"/>
          </a:p>
        </p:txBody>
      </p:sp>
      <p:sp>
        <p:nvSpPr>
          <p:cNvPr id="36" name="Shape 34"/>
          <p:cNvSpPr/>
          <p:nvPr/>
        </p:nvSpPr>
        <p:spPr>
          <a:xfrm>
            <a:off x="3657600" y="5138928"/>
            <a:ext cx="4206240" cy="493776"/>
          </a:xfrm>
          <a:prstGeom prst="rect">
            <a:avLst/>
          </a:prstGeom>
          <a:solidFill>
            <a:srgbClr val="EDF1F5"/>
          </a:solidFill>
          <a:ln/>
        </p:spPr>
      </p:sp>
      <p:sp>
        <p:nvSpPr>
          <p:cNvPr id="37" name="Shape 35"/>
          <p:cNvSpPr/>
          <p:nvPr/>
        </p:nvSpPr>
        <p:spPr>
          <a:xfrm>
            <a:off x="3657600" y="5138928"/>
            <a:ext cx="1766621" cy="493776"/>
          </a:xfrm>
          <a:prstGeom prst="rect">
            <a:avLst/>
          </a:prstGeom>
          <a:solidFill>
            <a:srgbClr val="5B6573"/>
          </a:solidFill>
          <a:ln/>
        </p:spPr>
      </p:sp>
      <p:sp>
        <p:nvSpPr>
          <p:cNvPr id="38" name="Text 36"/>
          <p:cNvSpPr/>
          <p:nvPr/>
        </p:nvSpPr>
        <p:spPr>
          <a:xfrm>
            <a:off x="4738421" y="5138928"/>
            <a:ext cx="640080" cy="493776"/>
          </a:xfrm>
          <a:prstGeom prst="rect">
            <a:avLst/>
          </a:prstGeom>
          <a:noFill/>
          <a:ln/>
        </p:spPr>
        <p:txBody>
          <a:bodyPr wrap="square" lIns="0" tIns="0" rIns="0" bIns="0" rtlCol="0" anchor="ctr"/>
          <a:lstStyle/>
          <a:p>
            <a:pPr algn="r" indent="0" marL="0">
              <a:buNone/>
            </a:pPr>
            <a:r>
              <a:rPr lang="en-US" sz="1300" b="1" dirty="0">
                <a:solidFill>
                  <a:srgbClr val="FFFFFF"/>
                </a:solidFill>
                <a:latin typeface="Calibri" pitchFamily="34" charset="0"/>
                <a:ea typeface="Calibri" pitchFamily="34" charset="-122"/>
                <a:cs typeface="Calibri" pitchFamily="34" charset="-120"/>
              </a:rPr>
              <a:t>2.10</a:t>
            </a:r>
            <a:endParaRPr lang="en-US" sz="1300" dirty="0"/>
          </a:p>
        </p:txBody>
      </p:sp>
      <p:sp>
        <p:nvSpPr>
          <p:cNvPr id="39" name="Shape 37"/>
          <p:cNvSpPr/>
          <p:nvPr/>
        </p:nvSpPr>
        <p:spPr>
          <a:xfrm>
            <a:off x="8046720" y="5266944"/>
            <a:ext cx="1170432" cy="237744"/>
          </a:xfrm>
          <a:prstGeom prst="roundRect">
            <a:avLst>
              <a:gd name="adj" fmla="val 50000"/>
            </a:avLst>
          </a:prstGeom>
          <a:solidFill>
            <a:srgbClr val="5B6573"/>
          </a:solidFill>
          <a:ln/>
        </p:spPr>
      </p:sp>
      <p:sp>
        <p:nvSpPr>
          <p:cNvPr id="40" name="Text 38"/>
          <p:cNvSpPr/>
          <p:nvPr/>
        </p:nvSpPr>
        <p:spPr>
          <a:xfrm>
            <a:off x="8046720" y="5262372"/>
            <a:ext cx="1170432" cy="24688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EVIDENCE MAP</a:t>
            </a:r>
            <a:endParaRPr lang="en-US" sz="850" dirty="0"/>
          </a:p>
        </p:txBody>
      </p:sp>
      <p:sp>
        <p:nvSpPr>
          <p:cNvPr id="41" name="Text 39"/>
          <p:cNvSpPr/>
          <p:nvPr/>
        </p:nvSpPr>
        <p:spPr>
          <a:xfrm>
            <a:off x="9345168" y="5010912"/>
            <a:ext cx="2340864" cy="749808"/>
          </a:xfrm>
          <a:prstGeom prst="rect">
            <a:avLst/>
          </a:prstGeom>
          <a:noFill/>
          <a:ln/>
        </p:spPr>
        <p:txBody>
          <a:bodyPr wrap="square" lIns="0" tIns="0" rIns="0" bIns="0" rtlCol="0" anchor="ctr"/>
          <a:lstStyle/>
          <a:p>
            <a:pPr indent="0" marL="0">
              <a:lnSpc>
                <a:spcPts val="1100"/>
              </a:lnSpc>
              <a:buNone/>
            </a:pPr>
            <a:r>
              <a:rPr lang="en-US" sz="900" dirty="0">
                <a:solidFill>
                  <a:srgbClr val="5B6573"/>
                </a:solidFill>
                <a:latin typeface="Calibri" pitchFamily="34" charset="0"/>
                <a:ea typeface="Calibri" pitchFamily="34" charset="-122"/>
                <a:cs typeface="Calibri" pitchFamily="34" charset="-120"/>
              </a:rPr>
              <a:t>Long-term interest; capability, qualification, and customer evidence missing</a:t>
            </a:r>
            <a:endParaRPr lang="en-US" sz="900" dirty="0"/>
          </a:p>
        </p:txBody>
      </p:sp>
      <p:sp>
        <p:nvSpPr>
          <p:cNvPr id="42" name="Shape 40"/>
          <p:cNvSpPr/>
          <p:nvPr/>
        </p:nvSpPr>
        <p:spPr>
          <a:xfrm>
            <a:off x="502920" y="5861304"/>
            <a:ext cx="11183112" cy="502920"/>
          </a:xfrm>
          <a:prstGeom prst="rect">
            <a:avLst/>
          </a:prstGeom>
          <a:solidFill>
            <a:srgbClr val="EDF1F5"/>
          </a:solidFill>
          <a:ln w="9525">
            <a:solidFill>
              <a:srgbClr val="C9D2DB"/>
            </a:solidFill>
            <a:prstDash val="solid"/>
          </a:ln>
        </p:spPr>
      </p:sp>
      <p:sp>
        <p:nvSpPr>
          <p:cNvPr id="43" name="Text 41"/>
          <p:cNvSpPr/>
          <p:nvPr/>
        </p:nvSpPr>
        <p:spPr>
          <a:xfrm>
            <a:off x="685800" y="5861304"/>
            <a:ext cx="10817352" cy="502920"/>
          </a:xfrm>
          <a:prstGeom prst="rect">
            <a:avLst/>
          </a:prstGeom>
          <a:noFill/>
          <a:ln/>
        </p:spPr>
        <p:txBody>
          <a:bodyPr wrap="square" lIns="0" tIns="0" rIns="0" bIns="0" rtlCol="0" anchor="ctr"/>
          <a:lstStyle/>
          <a:p>
            <a:pPr indent="0" marL="0">
              <a:lnSpc>
                <a:spcPts val="1200"/>
              </a:lnSpc>
              <a:buNone/>
            </a:pPr>
            <a:r>
              <a:rPr lang="en-US" sz="1000" b="1" dirty="0">
                <a:solidFill>
                  <a:srgbClr val="1F3B57"/>
                </a:solidFill>
                <a:latin typeface="Calibri" pitchFamily="34" charset="0"/>
                <a:ea typeface="Calibri" pitchFamily="34" charset="-122"/>
                <a:cs typeface="Calibri" pitchFamily="34" charset="-120"/>
              </a:rPr>
              <a:t>Criteria and weights:  </a:t>
            </a:r>
            <a:pPr indent="0" marL="0">
              <a:lnSpc>
                <a:spcPts val="1200"/>
              </a:lnSpc>
              <a:buNone/>
            </a:pPr>
            <a:r>
              <a:rPr lang="en-US" sz="1000" dirty="0">
                <a:solidFill>
                  <a:srgbClr val="2A2F36"/>
                </a:solidFill>
                <a:latin typeface="Calibri" pitchFamily="34" charset="0"/>
                <a:ea typeface="Calibri" pitchFamily="34" charset="-122"/>
                <a:cs typeface="Calibri" pitchFamily="34" charset="-120"/>
              </a:rPr>
              <a:t>right to win 20%, urgency 15%, capability readiness 15%, market attractiveness 10%, specification influence 10%, speed to proof 10%, route simplicity 10%, low incremental investment 10%.</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3112" cy="256032"/>
          </a:xfrm>
          <a:prstGeom prst="rect">
            <a:avLst/>
          </a:prstGeom>
          <a:noFill/>
          <a:ln/>
        </p:spPr>
        <p:txBody>
          <a:bodyPr wrap="square" lIns="0" tIns="0" rIns="0" bIns="0" rtlCol="0" anchor="ctr"/>
          <a:lstStyle/>
          <a:p>
            <a:pPr indent="0" marL="0">
              <a:buNone/>
            </a:pPr>
            <a:r>
              <a:rPr lang="en-US" sz="1100" b="1" spc="200" kern="0" dirty="0">
                <a:solidFill>
                  <a:srgbClr val="0F6E84"/>
                </a:solidFill>
                <a:latin typeface="Calibri" pitchFamily="34" charset="0"/>
                <a:ea typeface="Calibri" pitchFamily="34" charset="-122"/>
                <a:cs typeface="Calibri" pitchFamily="34" charset="-120"/>
              </a:rPr>
              <a:t>PORTFOLIO STRUCTURE</a:t>
            </a:r>
            <a:endParaRPr lang="en-US" sz="1100" dirty="0"/>
          </a:p>
        </p:txBody>
      </p:sp>
      <p:sp>
        <p:nvSpPr>
          <p:cNvPr id="3" name="Text 1"/>
          <p:cNvSpPr/>
          <p:nvPr/>
        </p:nvSpPr>
        <p:spPr>
          <a:xfrm>
            <a:off x="502920" y="530352"/>
            <a:ext cx="11183112" cy="777240"/>
          </a:xfrm>
          <a:prstGeom prst="rect">
            <a:avLst/>
          </a:prstGeom>
          <a:noFill/>
          <a:ln/>
        </p:spPr>
        <p:txBody>
          <a:bodyPr wrap="square" lIns="0" tIns="0" rIns="0" bIns="0" rtlCol="0" anchor="t"/>
          <a:lstStyle/>
          <a:p>
            <a:pPr indent="0" marL="0">
              <a:buNone/>
            </a:pPr>
            <a:r>
              <a:rPr lang="en-US" sz="2100" b="1" dirty="0">
                <a:solidFill>
                  <a:srgbClr val="1F3B57"/>
                </a:solidFill>
                <a:latin typeface="Calibri" pitchFamily="34" charset="0"/>
                <a:ea typeface="Calibri" pitchFamily="34" charset="-122"/>
                <a:cs typeface="Calibri" pitchFamily="34" charset="-120"/>
              </a:rPr>
              <a:t>EPC/OE is a route and prefab is an enabler: both serve the two validation priorities rather than competing with them</a:t>
            </a:r>
            <a:endParaRPr lang="en-US" sz="2100" dirty="0"/>
          </a:p>
        </p:txBody>
      </p:sp>
      <p:sp>
        <p:nvSpPr>
          <p:cNvPr id="4" name="Text 2"/>
          <p:cNvSpPr/>
          <p:nvPr/>
        </p:nvSpPr>
        <p:spPr>
          <a:xfrm>
            <a:off x="502920" y="6473952"/>
            <a:ext cx="10085832" cy="274320"/>
          </a:xfrm>
          <a:prstGeom prst="rect">
            <a:avLst/>
          </a:prstGeom>
          <a:noFill/>
          <a:ln/>
        </p:spPr>
        <p:txBody>
          <a:bodyPr wrap="square" lIns="0" tIns="0" rIns="0" bIns="0" rtlCol="0" anchor="ctr"/>
          <a:lstStyle/>
          <a:p>
            <a:pPr indent="0" marL="0">
              <a:buNone/>
            </a:pPr>
            <a:r>
              <a:rPr lang="en-US" sz="850" dirty="0">
                <a:solidFill>
                  <a:srgbClr val="5B6573"/>
                </a:solidFill>
                <a:latin typeface="Calibri" pitchFamily="34" charset="0"/>
                <a:ea typeface="Calibri" pitchFamily="34" charset="-122"/>
                <a:cs typeface="Calibri" pitchFamily="34" charset="-120"/>
              </a:rPr>
              <a:t>Source: 04_Strategy_Thesis_v0 (portfolio sequence); S09 Method &amp; Assumptions!B29 (dual-lane recommendation). Structure is a recommendation for D-01.</a:t>
            </a:r>
            <a:endParaRPr lang="en-US" sz="850" dirty="0"/>
          </a:p>
        </p:txBody>
      </p:sp>
      <p:sp>
        <p:nvSpPr>
          <p:cNvPr id="5" name="Text 3"/>
          <p:cNvSpPr/>
          <p:nvPr/>
        </p:nvSpPr>
        <p:spPr>
          <a:xfrm>
            <a:off x="10268712" y="6473952"/>
            <a:ext cx="1417320" cy="274320"/>
          </a:xfrm>
          <a:prstGeom prst="rect">
            <a:avLst/>
          </a:prstGeom>
          <a:noFill/>
          <a:ln/>
        </p:spPr>
        <p:txBody>
          <a:bodyPr wrap="square" lIns="0" tIns="0" rIns="0" bIns="0" rtlCol="0" anchor="ctr"/>
          <a:lstStyle/>
          <a:p>
            <a:pPr algn="r" indent="0" marL="0">
              <a:buNone/>
            </a:pPr>
            <a:r>
              <a:rPr lang="en-US" sz="850" dirty="0">
                <a:solidFill>
                  <a:srgbClr val="5B6573"/>
                </a:solidFill>
                <a:latin typeface="Calibri" pitchFamily="34" charset="0"/>
                <a:ea typeface="Calibri" pitchFamily="34" charset="-122"/>
                <a:cs typeface="Calibri" pitchFamily="34" charset="-120"/>
              </a:rPr>
              <a:t>SOUTHWIRE POWERGEN | v0  </a:t>
            </a:r>
            <a:pPr algn="r" indent="0" marL="0">
              <a:buNone/>
            </a:pPr>
            <a:r>
              <a:rPr lang="en-US" sz="850" b="1" dirty="0">
                <a:solidFill>
                  <a:srgbClr val="1F3B57"/>
                </a:solidFill>
                <a:latin typeface="Calibri" pitchFamily="34" charset="0"/>
                <a:ea typeface="Calibri" pitchFamily="34" charset="-122"/>
                <a:cs typeface="Calibri" pitchFamily="34" charset="-120"/>
              </a:rPr>
              <a:t>7</a:t>
            </a:r>
            <a:endParaRPr lang="en-US" sz="850" dirty="0"/>
          </a:p>
        </p:txBody>
      </p:sp>
      <p:sp>
        <p:nvSpPr>
          <p:cNvPr id="6" name="Shape 4"/>
          <p:cNvSpPr/>
          <p:nvPr/>
        </p:nvSpPr>
        <p:spPr>
          <a:xfrm>
            <a:off x="502920" y="1417320"/>
            <a:ext cx="1965960" cy="841248"/>
          </a:xfrm>
          <a:prstGeom prst="rect">
            <a:avLst/>
          </a:prstGeom>
          <a:solidFill>
            <a:srgbClr val="3E7C4F"/>
          </a:solidFill>
          <a:ln/>
        </p:spPr>
      </p:sp>
      <p:sp>
        <p:nvSpPr>
          <p:cNvPr id="7" name="Text 5"/>
          <p:cNvSpPr/>
          <p:nvPr/>
        </p:nvSpPr>
        <p:spPr>
          <a:xfrm>
            <a:off x="594360" y="1417320"/>
            <a:ext cx="1783080" cy="841248"/>
          </a:xfrm>
          <a:prstGeom prst="rect">
            <a:avLst/>
          </a:prstGeom>
          <a:noFill/>
          <a:ln/>
        </p:spPr>
        <p:txBody>
          <a:bodyPr wrap="square" lIns="0" tIns="0" rIns="0" bIns="0" rtlCol="0" anchor="ctr"/>
          <a:lstStyle/>
          <a:p>
            <a:pPr indent="0" marL="0">
              <a:lnSpc>
                <a:spcPts val="1400"/>
              </a:lnSpc>
              <a:buNone/>
            </a:pPr>
            <a:r>
              <a:rPr lang="en-US" sz="1100" b="1" dirty="0">
                <a:solidFill>
                  <a:srgbClr val="FFFFFF"/>
                </a:solidFill>
                <a:latin typeface="Calibri" pitchFamily="34" charset="0"/>
                <a:ea typeface="Calibri" pitchFamily="34" charset="-122"/>
                <a:cs typeface="Calibri" pitchFamily="34" charset="-120"/>
              </a:rPr>
              <a:t>VALIDATE NOW</a:t>
            </a:r>
            <a:endParaRPr lang="en-US" sz="1100" dirty="0"/>
          </a:p>
        </p:txBody>
      </p:sp>
      <p:sp>
        <p:nvSpPr>
          <p:cNvPr id="8" name="Shape 6"/>
          <p:cNvSpPr/>
          <p:nvPr/>
        </p:nvSpPr>
        <p:spPr>
          <a:xfrm>
            <a:off x="2651760" y="1417320"/>
            <a:ext cx="4425696" cy="841248"/>
          </a:xfrm>
          <a:prstGeom prst="rect">
            <a:avLst/>
          </a:prstGeom>
          <a:solidFill>
            <a:srgbClr val="F7F9FB"/>
          </a:solidFill>
          <a:ln w="9525">
            <a:solidFill>
              <a:srgbClr val="C9D2DB"/>
            </a:solidFill>
            <a:prstDash val="solid"/>
          </a:ln>
        </p:spPr>
      </p:sp>
      <p:sp>
        <p:nvSpPr>
          <p:cNvPr id="9" name="Text 7"/>
          <p:cNvSpPr/>
          <p:nvPr/>
        </p:nvSpPr>
        <p:spPr>
          <a:xfrm>
            <a:off x="2779776" y="1481328"/>
            <a:ext cx="4169664" cy="274320"/>
          </a:xfrm>
          <a:prstGeom prst="rect">
            <a:avLst/>
          </a:prstGeom>
          <a:noFill/>
          <a:ln/>
        </p:spPr>
        <p:txBody>
          <a:bodyPr wrap="square" lIns="0" tIns="0" rIns="0" bIns="0" rtlCol="0" anchor="ctr"/>
          <a:lstStyle/>
          <a:p>
            <a:pPr indent="0" marL="0">
              <a:buNone/>
            </a:pPr>
            <a:r>
              <a:rPr lang="en-US" sz="1150" b="1" dirty="0">
                <a:solidFill>
                  <a:srgbClr val="1F3B57"/>
                </a:solidFill>
                <a:latin typeface="Calibri" pitchFamily="34" charset="0"/>
                <a:ea typeface="Calibri" pitchFamily="34" charset="-122"/>
                <a:cs typeface="Calibri" pitchFamily="34" charset="-120"/>
              </a:rPr>
              <a:t>New-build gas project capture</a:t>
            </a:r>
            <a:endParaRPr lang="en-US" sz="1150" dirty="0"/>
          </a:p>
        </p:txBody>
      </p:sp>
      <p:sp>
        <p:nvSpPr>
          <p:cNvPr id="10" name="Text 8"/>
          <p:cNvSpPr/>
          <p:nvPr/>
        </p:nvSpPr>
        <p:spPr>
          <a:xfrm>
            <a:off x="2779776" y="1755648"/>
            <a:ext cx="4169664" cy="457200"/>
          </a:xfrm>
          <a:prstGeom prst="rect">
            <a:avLst/>
          </a:prstGeom>
          <a:noFill/>
          <a:ln/>
        </p:spPr>
        <p:txBody>
          <a:bodyPr wrap="square" lIns="0" tIns="0" rIns="0" bIns="0" rtlCol="0" anchor="t"/>
          <a:lstStyle/>
          <a:p>
            <a:pPr indent="0" marL="0">
              <a:lnSpc>
                <a:spcPts val="1150"/>
              </a:lnSpc>
              <a:buNone/>
            </a:pPr>
            <a:r>
              <a:rPr lang="en-US" sz="950" dirty="0">
                <a:solidFill>
                  <a:srgbClr val="2A2F36"/>
                </a:solidFill>
                <a:latin typeface="Calibri" pitchFamily="34" charset="0"/>
                <a:ea typeface="Calibri" pitchFamily="34" charset="-122"/>
                <a:cs typeface="Calibri" pitchFamily="34" charset="-120"/>
              </a:rPr>
              <a:t>Owner/IPP access linked to EPC/OE specification and contractor/channel conversion</a:t>
            </a:r>
            <a:endParaRPr lang="en-US" sz="950" dirty="0"/>
          </a:p>
        </p:txBody>
      </p:sp>
      <p:sp>
        <p:nvSpPr>
          <p:cNvPr id="11" name="Shape 9"/>
          <p:cNvSpPr/>
          <p:nvPr/>
        </p:nvSpPr>
        <p:spPr>
          <a:xfrm>
            <a:off x="7260336" y="1417320"/>
            <a:ext cx="4425696" cy="841248"/>
          </a:xfrm>
          <a:prstGeom prst="rect">
            <a:avLst/>
          </a:prstGeom>
          <a:solidFill>
            <a:srgbClr val="F7F9FB"/>
          </a:solidFill>
          <a:ln w="9525">
            <a:solidFill>
              <a:srgbClr val="C9D2DB"/>
            </a:solidFill>
            <a:prstDash val="solid"/>
          </a:ln>
        </p:spPr>
      </p:sp>
      <p:sp>
        <p:nvSpPr>
          <p:cNvPr id="12" name="Text 10"/>
          <p:cNvSpPr/>
          <p:nvPr/>
        </p:nvSpPr>
        <p:spPr>
          <a:xfrm>
            <a:off x="7388352" y="1481328"/>
            <a:ext cx="4169664" cy="274320"/>
          </a:xfrm>
          <a:prstGeom prst="rect">
            <a:avLst/>
          </a:prstGeom>
          <a:noFill/>
          <a:ln/>
        </p:spPr>
        <p:txBody>
          <a:bodyPr wrap="square" lIns="0" tIns="0" rIns="0" bIns="0" rtlCol="0" anchor="ctr"/>
          <a:lstStyle/>
          <a:p>
            <a:pPr indent="0" marL="0">
              <a:buNone/>
            </a:pPr>
            <a:r>
              <a:rPr lang="en-US" sz="1150" b="1" dirty="0">
                <a:solidFill>
                  <a:srgbClr val="1F3B57"/>
                </a:solidFill>
                <a:latin typeface="Calibri" pitchFamily="34" charset="0"/>
                <a:ea typeface="Calibri" pitchFamily="34" charset="-122"/>
                <a:cs typeface="Calibri" pitchFamily="34" charset="-120"/>
              </a:rPr>
              <a:t>OEM / modular platform embedding</a:t>
            </a:r>
            <a:endParaRPr lang="en-US" sz="1150" dirty="0"/>
          </a:p>
        </p:txBody>
      </p:sp>
      <p:sp>
        <p:nvSpPr>
          <p:cNvPr id="13" name="Text 11"/>
          <p:cNvSpPr/>
          <p:nvPr/>
        </p:nvSpPr>
        <p:spPr>
          <a:xfrm>
            <a:off x="7388352" y="1755648"/>
            <a:ext cx="4169664" cy="457200"/>
          </a:xfrm>
          <a:prstGeom prst="rect">
            <a:avLst/>
          </a:prstGeom>
          <a:noFill/>
          <a:ln/>
        </p:spPr>
        <p:txBody>
          <a:bodyPr wrap="square" lIns="0" tIns="0" rIns="0" bIns="0" rtlCol="0" anchor="t"/>
          <a:lstStyle/>
          <a:p>
            <a:pPr indent="0" marL="0">
              <a:lnSpc>
                <a:spcPts val="1150"/>
              </a:lnSpc>
              <a:buNone/>
            </a:pPr>
            <a:r>
              <a:rPr lang="en-US" sz="950" dirty="0">
                <a:solidFill>
                  <a:srgbClr val="2A2F36"/>
                </a:solidFill>
                <a:latin typeface="Calibri" pitchFamily="34" charset="0"/>
                <a:ea typeface="Calibri" pitchFamily="34" charset="-122"/>
                <a:cs typeface="Calibri" pitchFamily="34" charset="-120"/>
              </a:rPr>
              <a:t>Repeatable factory packages linked to field-order conversion</a:t>
            </a:r>
            <a:endParaRPr lang="en-US" sz="950" dirty="0"/>
          </a:p>
        </p:txBody>
      </p:sp>
      <p:sp>
        <p:nvSpPr>
          <p:cNvPr id="14" name="Shape 12"/>
          <p:cNvSpPr/>
          <p:nvPr/>
        </p:nvSpPr>
        <p:spPr>
          <a:xfrm>
            <a:off x="502920" y="2386584"/>
            <a:ext cx="1965960" cy="841248"/>
          </a:xfrm>
          <a:prstGeom prst="rect">
            <a:avLst/>
          </a:prstGeom>
          <a:solidFill>
            <a:srgbClr val="B07A2A"/>
          </a:solidFill>
          <a:ln/>
        </p:spPr>
      </p:sp>
      <p:sp>
        <p:nvSpPr>
          <p:cNvPr id="15" name="Text 13"/>
          <p:cNvSpPr/>
          <p:nvPr/>
        </p:nvSpPr>
        <p:spPr>
          <a:xfrm>
            <a:off x="594360" y="2386584"/>
            <a:ext cx="1783080" cy="841248"/>
          </a:xfrm>
          <a:prstGeom prst="rect">
            <a:avLst/>
          </a:prstGeom>
          <a:noFill/>
          <a:ln/>
        </p:spPr>
        <p:txBody>
          <a:bodyPr wrap="square" lIns="0" tIns="0" rIns="0" bIns="0" rtlCol="0" anchor="ctr"/>
          <a:lstStyle/>
          <a:p>
            <a:pPr indent="0" marL="0">
              <a:lnSpc>
                <a:spcPts val="1400"/>
              </a:lnSpc>
              <a:buNone/>
            </a:pPr>
            <a:r>
              <a:rPr lang="en-US" sz="1100" b="1" dirty="0">
                <a:solidFill>
                  <a:srgbClr val="FFFFFF"/>
                </a:solidFill>
                <a:latin typeface="Calibri" pitchFamily="34" charset="0"/>
                <a:ea typeface="Calibri" pitchFamily="34" charset="-122"/>
                <a:cs typeface="Calibri" pitchFamily="34" charset="-120"/>
              </a:rPr>
              <a:t>CONDITIONAL</a:t>
            </a:r>
            <a:endParaRPr lang="en-US" sz="1100" dirty="0"/>
          </a:p>
        </p:txBody>
      </p:sp>
      <p:sp>
        <p:nvSpPr>
          <p:cNvPr id="16" name="Shape 14"/>
          <p:cNvSpPr/>
          <p:nvPr/>
        </p:nvSpPr>
        <p:spPr>
          <a:xfrm>
            <a:off x="2651760" y="2386584"/>
            <a:ext cx="9034272" cy="841248"/>
          </a:xfrm>
          <a:prstGeom prst="rect">
            <a:avLst/>
          </a:prstGeom>
          <a:solidFill>
            <a:srgbClr val="F7F9FB"/>
          </a:solidFill>
          <a:ln w="9525">
            <a:solidFill>
              <a:srgbClr val="C9D2DB"/>
            </a:solidFill>
            <a:prstDash val="solid"/>
          </a:ln>
        </p:spPr>
      </p:sp>
      <p:sp>
        <p:nvSpPr>
          <p:cNvPr id="17" name="Text 15"/>
          <p:cNvSpPr/>
          <p:nvPr/>
        </p:nvSpPr>
        <p:spPr>
          <a:xfrm>
            <a:off x="2779776" y="2450592"/>
            <a:ext cx="8778240" cy="274320"/>
          </a:xfrm>
          <a:prstGeom prst="rect">
            <a:avLst/>
          </a:prstGeom>
          <a:noFill/>
          <a:ln/>
        </p:spPr>
        <p:txBody>
          <a:bodyPr wrap="square" lIns="0" tIns="0" rIns="0" bIns="0" rtlCol="0" anchor="ctr"/>
          <a:lstStyle/>
          <a:p>
            <a:pPr indent="0" marL="0">
              <a:buNone/>
            </a:pPr>
            <a:r>
              <a:rPr lang="en-US" sz="1150" b="1" dirty="0">
                <a:solidFill>
                  <a:srgbClr val="1F3B57"/>
                </a:solidFill>
                <a:latin typeface="Calibri" pitchFamily="34" charset="0"/>
                <a:ea typeface="Calibri" pitchFamily="34" charset="-122"/>
                <a:cs typeface="Calibri" pitchFamily="34" charset="-120"/>
              </a:rPr>
              <a:t>Repower / brownfield</a:t>
            </a:r>
            <a:endParaRPr lang="en-US" sz="1150" dirty="0"/>
          </a:p>
        </p:txBody>
      </p:sp>
      <p:sp>
        <p:nvSpPr>
          <p:cNvPr id="18" name="Text 16"/>
          <p:cNvSpPr/>
          <p:nvPr/>
        </p:nvSpPr>
        <p:spPr>
          <a:xfrm>
            <a:off x="2779776" y="2724912"/>
            <a:ext cx="8778240" cy="457200"/>
          </a:xfrm>
          <a:prstGeom prst="rect">
            <a:avLst/>
          </a:prstGeom>
          <a:noFill/>
          <a:ln/>
        </p:spPr>
        <p:txBody>
          <a:bodyPr wrap="square" lIns="0" tIns="0" rIns="0" bIns="0" rtlCol="0" anchor="t"/>
          <a:lstStyle/>
          <a:p>
            <a:pPr indent="0" marL="0">
              <a:lnSpc>
                <a:spcPts val="1150"/>
              </a:lnSpc>
              <a:buNone/>
            </a:pPr>
            <a:r>
              <a:rPr lang="en-US" sz="950" dirty="0">
                <a:solidFill>
                  <a:srgbClr val="2A2F36"/>
                </a:solidFill>
                <a:latin typeface="Calibri" pitchFamily="34" charset="0"/>
                <a:ea typeface="Calibri" pitchFamily="34" charset="-122"/>
                <a:cs typeface="Calibri" pitchFamily="34" charset="-120"/>
              </a:rPr>
              <a:t>Activates only with a named customer sponsor, project, route, and repeatable hypothesis</a:t>
            </a:r>
            <a:endParaRPr lang="en-US" sz="950" dirty="0"/>
          </a:p>
        </p:txBody>
      </p:sp>
      <p:sp>
        <p:nvSpPr>
          <p:cNvPr id="19" name="Shape 17"/>
          <p:cNvSpPr/>
          <p:nvPr/>
        </p:nvSpPr>
        <p:spPr>
          <a:xfrm>
            <a:off x="502920" y="3355848"/>
            <a:ext cx="1965960" cy="841248"/>
          </a:xfrm>
          <a:prstGeom prst="rect">
            <a:avLst/>
          </a:prstGeom>
          <a:solidFill>
            <a:srgbClr val="2C4E70"/>
          </a:solidFill>
          <a:ln/>
        </p:spPr>
      </p:sp>
      <p:sp>
        <p:nvSpPr>
          <p:cNvPr id="20" name="Text 18"/>
          <p:cNvSpPr/>
          <p:nvPr/>
        </p:nvSpPr>
        <p:spPr>
          <a:xfrm>
            <a:off x="594360" y="3355848"/>
            <a:ext cx="1783080" cy="841248"/>
          </a:xfrm>
          <a:prstGeom prst="rect">
            <a:avLst/>
          </a:prstGeom>
          <a:noFill/>
          <a:ln/>
        </p:spPr>
        <p:txBody>
          <a:bodyPr wrap="square" lIns="0" tIns="0" rIns="0" bIns="0" rtlCol="0" anchor="ctr"/>
          <a:lstStyle/>
          <a:p>
            <a:pPr indent="0" marL="0">
              <a:lnSpc>
                <a:spcPts val="1400"/>
              </a:lnSpc>
              <a:buNone/>
            </a:pPr>
            <a:r>
              <a:rPr lang="en-US" sz="1100" b="1" dirty="0">
                <a:solidFill>
                  <a:srgbClr val="FFFFFF"/>
                </a:solidFill>
                <a:latin typeface="Calibri" pitchFamily="34" charset="0"/>
                <a:ea typeface="Calibri" pitchFamily="34" charset="-122"/>
                <a:cs typeface="Calibri" pitchFamily="34" charset="-120"/>
              </a:rPr>
              <a:t>FOUNDATION MAPPING</a:t>
            </a:r>
            <a:endParaRPr lang="en-US" sz="1100" dirty="0"/>
          </a:p>
        </p:txBody>
      </p:sp>
      <p:sp>
        <p:nvSpPr>
          <p:cNvPr id="21" name="Shape 19"/>
          <p:cNvSpPr/>
          <p:nvPr/>
        </p:nvSpPr>
        <p:spPr>
          <a:xfrm>
            <a:off x="2651760" y="3355848"/>
            <a:ext cx="9034272" cy="841248"/>
          </a:xfrm>
          <a:prstGeom prst="rect">
            <a:avLst/>
          </a:prstGeom>
          <a:solidFill>
            <a:srgbClr val="F7F9FB"/>
          </a:solidFill>
          <a:ln w="9525">
            <a:solidFill>
              <a:srgbClr val="C9D2DB"/>
            </a:solidFill>
            <a:prstDash val="solid"/>
          </a:ln>
        </p:spPr>
      </p:sp>
      <p:sp>
        <p:nvSpPr>
          <p:cNvPr id="22" name="Text 20"/>
          <p:cNvSpPr/>
          <p:nvPr/>
        </p:nvSpPr>
        <p:spPr>
          <a:xfrm>
            <a:off x="2779776" y="3419856"/>
            <a:ext cx="8778240" cy="274320"/>
          </a:xfrm>
          <a:prstGeom prst="rect">
            <a:avLst/>
          </a:prstGeom>
          <a:noFill/>
          <a:ln/>
        </p:spPr>
        <p:txBody>
          <a:bodyPr wrap="square" lIns="0" tIns="0" rIns="0" bIns="0" rtlCol="0" anchor="ctr"/>
          <a:lstStyle/>
          <a:p>
            <a:pPr indent="0" marL="0">
              <a:buNone/>
            </a:pPr>
            <a:r>
              <a:rPr lang="en-US" sz="1150" b="1" dirty="0">
                <a:solidFill>
                  <a:srgbClr val="1F3B57"/>
                </a:solidFill>
                <a:latin typeface="Calibri" pitchFamily="34" charset="0"/>
                <a:ea typeface="Calibri" pitchFamily="34" charset="-122"/>
                <a:cs typeface="Calibri" pitchFamily="34" charset="-120"/>
              </a:rPr>
              <a:t>Utility and Renewables</a:t>
            </a:r>
            <a:endParaRPr lang="en-US" sz="1150" dirty="0"/>
          </a:p>
        </p:txBody>
      </p:sp>
      <p:sp>
        <p:nvSpPr>
          <p:cNvPr id="23" name="Text 21"/>
          <p:cNvSpPr/>
          <p:nvPr/>
        </p:nvSpPr>
        <p:spPr>
          <a:xfrm>
            <a:off x="2779776" y="3694176"/>
            <a:ext cx="8778240" cy="457200"/>
          </a:xfrm>
          <a:prstGeom prst="rect">
            <a:avLst/>
          </a:prstGeom>
          <a:noFill/>
          <a:ln/>
        </p:spPr>
        <p:txBody>
          <a:bodyPr wrap="square" lIns="0" tIns="0" rIns="0" bIns="0" rtlCol="0" anchor="t"/>
          <a:lstStyle/>
          <a:p>
            <a:pPr indent="0" marL="0">
              <a:lnSpc>
                <a:spcPts val="1150"/>
              </a:lnSpc>
              <a:buNone/>
            </a:pPr>
            <a:r>
              <a:rPr lang="en-US" sz="950" dirty="0">
                <a:solidFill>
                  <a:srgbClr val="2A2F36"/>
                </a:solidFill>
                <a:latin typeface="Calibri" pitchFamily="34" charset="0"/>
                <a:ea typeface="Calibri" pitchFamily="34" charset="-122"/>
                <a:cs typeface="Calibri" pitchFamily="34" charset="-120"/>
              </a:rPr>
              <a:t>Capabilities, relationships, activity, proof, channels, and handoffs mapped by August 28</a:t>
            </a:r>
            <a:endParaRPr lang="en-US" sz="950" dirty="0"/>
          </a:p>
        </p:txBody>
      </p:sp>
      <p:sp>
        <p:nvSpPr>
          <p:cNvPr id="24" name="Shape 22"/>
          <p:cNvSpPr/>
          <p:nvPr/>
        </p:nvSpPr>
        <p:spPr>
          <a:xfrm>
            <a:off x="502920" y="4325112"/>
            <a:ext cx="1965960" cy="841248"/>
          </a:xfrm>
          <a:prstGeom prst="rect">
            <a:avLst/>
          </a:prstGeom>
          <a:solidFill>
            <a:srgbClr val="5B6573"/>
          </a:solidFill>
          <a:ln/>
        </p:spPr>
      </p:sp>
      <p:sp>
        <p:nvSpPr>
          <p:cNvPr id="25" name="Text 23"/>
          <p:cNvSpPr/>
          <p:nvPr/>
        </p:nvSpPr>
        <p:spPr>
          <a:xfrm>
            <a:off x="594360" y="4325112"/>
            <a:ext cx="1783080" cy="841248"/>
          </a:xfrm>
          <a:prstGeom prst="rect">
            <a:avLst/>
          </a:prstGeom>
          <a:noFill/>
          <a:ln/>
        </p:spPr>
        <p:txBody>
          <a:bodyPr wrap="square" lIns="0" tIns="0" rIns="0" bIns="0" rtlCol="0" anchor="ctr"/>
          <a:lstStyle/>
          <a:p>
            <a:pPr indent="0" marL="0">
              <a:lnSpc>
                <a:spcPts val="1400"/>
              </a:lnSpc>
              <a:buNone/>
            </a:pPr>
            <a:r>
              <a:rPr lang="en-US" sz="1100" b="1" dirty="0">
                <a:solidFill>
                  <a:srgbClr val="FFFFFF"/>
                </a:solidFill>
                <a:latin typeface="Calibri" pitchFamily="34" charset="0"/>
                <a:ea typeface="Calibri" pitchFamily="34" charset="-122"/>
                <a:cs typeface="Calibri" pitchFamily="34" charset="-120"/>
              </a:rPr>
              <a:t>EVIDENCE MAP ONLY</a:t>
            </a:r>
            <a:endParaRPr lang="en-US" sz="1100" dirty="0"/>
          </a:p>
        </p:txBody>
      </p:sp>
      <p:sp>
        <p:nvSpPr>
          <p:cNvPr id="26" name="Shape 24"/>
          <p:cNvSpPr/>
          <p:nvPr/>
        </p:nvSpPr>
        <p:spPr>
          <a:xfrm>
            <a:off x="2651760" y="4325112"/>
            <a:ext cx="4425696" cy="841248"/>
          </a:xfrm>
          <a:prstGeom prst="rect">
            <a:avLst/>
          </a:prstGeom>
          <a:solidFill>
            <a:srgbClr val="F7F9FB"/>
          </a:solidFill>
          <a:ln w="9525">
            <a:solidFill>
              <a:srgbClr val="C9D2DB"/>
            </a:solidFill>
            <a:prstDash val="solid"/>
          </a:ln>
        </p:spPr>
      </p:sp>
      <p:sp>
        <p:nvSpPr>
          <p:cNvPr id="27" name="Text 25"/>
          <p:cNvSpPr/>
          <p:nvPr/>
        </p:nvSpPr>
        <p:spPr>
          <a:xfrm>
            <a:off x="2779776" y="4389120"/>
            <a:ext cx="4169664" cy="274320"/>
          </a:xfrm>
          <a:prstGeom prst="rect">
            <a:avLst/>
          </a:prstGeom>
          <a:noFill/>
          <a:ln/>
        </p:spPr>
        <p:txBody>
          <a:bodyPr wrap="square" lIns="0" tIns="0" rIns="0" bIns="0" rtlCol="0" anchor="ctr"/>
          <a:lstStyle/>
          <a:p>
            <a:pPr indent="0" marL="0">
              <a:buNone/>
            </a:pPr>
            <a:r>
              <a:rPr lang="en-US" sz="1150" b="1" dirty="0">
                <a:solidFill>
                  <a:srgbClr val="1F3B57"/>
                </a:solidFill>
                <a:latin typeface="Calibri" pitchFamily="34" charset="0"/>
                <a:ea typeface="Calibri" pitchFamily="34" charset="-122"/>
                <a:cs typeface="Calibri" pitchFamily="34" charset="-120"/>
              </a:rPr>
              <a:t>Data Center / BTM</a:t>
            </a:r>
            <a:endParaRPr lang="en-US" sz="1150" dirty="0"/>
          </a:p>
        </p:txBody>
      </p:sp>
      <p:sp>
        <p:nvSpPr>
          <p:cNvPr id="28" name="Text 26"/>
          <p:cNvSpPr/>
          <p:nvPr/>
        </p:nvSpPr>
        <p:spPr>
          <a:xfrm>
            <a:off x="2779776" y="4663440"/>
            <a:ext cx="4169664" cy="457200"/>
          </a:xfrm>
          <a:prstGeom prst="rect">
            <a:avLst/>
          </a:prstGeom>
          <a:noFill/>
          <a:ln/>
        </p:spPr>
        <p:txBody>
          <a:bodyPr wrap="square" lIns="0" tIns="0" rIns="0" bIns="0" rtlCol="0" anchor="t"/>
          <a:lstStyle/>
          <a:p>
            <a:pPr indent="0" marL="0">
              <a:lnSpc>
                <a:spcPts val="1150"/>
              </a:lnSpc>
              <a:buNone/>
            </a:pPr>
            <a:r>
              <a:rPr lang="en-US" sz="950" dirty="0">
                <a:solidFill>
                  <a:srgbClr val="2A2F36"/>
                </a:solidFill>
                <a:latin typeface="Calibri" pitchFamily="34" charset="0"/>
                <a:ea typeface="Calibri" pitchFamily="34" charset="-122"/>
                <a:cs typeface="Calibri" pitchFamily="34" charset="-120"/>
              </a:rPr>
              <a:t>Ownership, overlap, and demand mapping; separate sponsor gate before activation</a:t>
            </a:r>
            <a:endParaRPr lang="en-US" sz="950" dirty="0"/>
          </a:p>
        </p:txBody>
      </p:sp>
      <p:sp>
        <p:nvSpPr>
          <p:cNvPr id="29" name="Shape 27"/>
          <p:cNvSpPr/>
          <p:nvPr/>
        </p:nvSpPr>
        <p:spPr>
          <a:xfrm>
            <a:off x="7260336" y="4325112"/>
            <a:ext cx="4425696" cy="841248"/>
          </a:xfrm>
          <a:prstGeom prst="rect">
            <a:avLst/>
          </a:prstGeom>
          <a:solidFill>
            <a:srgbClr val="F7F9FB"/>
          </a:solidFill>
          <a:ln w="9525">
            <a:solidFill>
              <a:srgbClr val="C9D2DB"/>
            </a:solidFill>
            <a:prstDash val="solid"/>
          </a:ln>
        </p:spPr>
      </p:sp>
      <p:sp>
        <p:nvSpPr>
          <p:cNvPr id="30" name="Text 28"/>
          <p:cNvSpPr/>
          <p:nvPr/>
        </p:nvSpPr>
        <p:spPr>
          <a:xfrm>
            <a:off x="7388352" y="4389120"/>
            <a:ext cx="4169664" cy="274320"/>
          </a:xfrm>
          <a:prstGeom prst="rect">
            <a:avLst/>
          </a:prstGeom>
          <a:noFill/>
          <a:ln/>
        </p:spPr>
        <p:txBody>
          <a:bodyPr wrap="square" lIns="0" tIns="0" rIns="0" bIns="0" rtlCol="0" anchor="ctr"/>
          <a:lstStyle/>
          <a:p>
            <a:pPr indent="0" marL="0">
              <a:buNone/>
            </a:pPr>
            <a:r>
              <a:rPr lang="en-US" sz="1150" b="1" dirty="0">
                <a:solidFill>
                  <a:srgbClr val="1F3B57"/>
                </a:solidFill>
                <a:latin typeface="Calibri" pitchFamily="34" charset="0"/>
                <a:ea typeface="Calibri" pitchFamily="34" charset="-122"/>
                <a:cs typeface="Calibri" pitchFamily="34" charset="-120"/>
              </a:rPr>
              <a:t>Nuclear / SMR</a:t>
            </a:r>
            <a:endParaRPr lang="en-US" sz="1150" dirty="0"/>
          </a:p>
        </p:txBody>
      </p:sp>
      <p:sp>
        <p:nvSpPr>
          <p:cNvPr id="31" name="Text 29"/>
          <p:cNvSpPr/>
          <p:nvPr/>
        </p:nvSpPr>
        <p:spPr>
          <a:xfrm>
            <a:off x="7388352" y="4663440"/>
            <a:ext cx="4169664" cy="457200"/>
          </a:xfrm>
          <a:prstGeom prst="rect">
            <a:avLst/>
          </a:prstGeom>
          <a:noFill/>
          <a:ln/>
        </p:spPr>
        <p:txBody>
          <a:bodyPr wrap="square" lIns="0" tIns="0" rIns="0" bIns="0" rtlCol="0" anchor="t"/>
          <a:lstStyle/>
          <a:p>
            <a:pPr indent="0" marL="0">
              <a:lnSpc>
                <a:spcPts val="1150"/>
              </a:lnSpc>
              <a:buNone/>
            </a:pPr>
            <a:r>
              <a:rPr lang="en-US" sz="950" dirty="0">
                <a:solidFill>
                  <a:srgbClr val="2A2F36"/>
                </a:solidFill>
                <a:latin typeface="Calibri" pitchFamily="34" charset="0"/>
                <a:ea typeface="Calibri" pitchFamily="34" charset="-122"/>
                <a:cs typeface="Calibri" pitchFamily="34" charset="-120"/>
              </a:rPr>
              <a:t>Qualification path and entry gate; no commercial resources during the pilot</a:t>
            </a:r>
            <a:endParaRPr lang="en-US" sz="950" dirty="0"/>
          </a:p>
        </p:txBody>
      </p:sp>
      <p:sp>
        <p:nvSpPr>
          <p:cNvPr id="32" name="Shape 30"/>
          <p:cNvSpPr/>
          <p:nvPr/>
        </p:nvSpPr>
        <p:spPr>
          <a:xfrm>
            <a:off x="502920" y="5312664"/>
            <a:ext cx="11183112" cy="420624"/>
          </a:xfrm>
          <a:prstGeom prst="rect">
            <a:avLst/>
          </a:prstGeom>
          <a:solidFill>
            <a:srgbClr val="0F6E84"/>
          </a:solidFill>
          <a:ln/>
        </p:spPr>
      </p:sp>
      <p:sp>
        <p:nvSpPr>
          <p:cNvPr id="33" name="Text 31"/>
          <p:cNvSpPr/>
          <p:nvPr/>
        </p:nvSpPr>
        <p:spPr>
          <a:xfrm>
            <a:off x="685800" y="5312664"/>
            <a:ext cx="10817352" cy="420624"/>
          </a:xfrm>
          <a:prstGeom prst="rect">
            <a:avLst/>
          </a:prstGeom>
          <a:noFill/>
          <a:ln/>
        </p:spPr>
        <p:txBody>
          <a:bodyPr wrap="square" lIns="0" tIns="0" rIns="0" bIns="0" rtlCol="0" anchor="ctr"/>
          <a:lstStyle/>
          <a:p>
            <a:pPr indent="0" marL="0">
              <a:buNone/>
            </a:pPr>
            <a:r>
              <a:rPr lang="en-US" sz="1000" b="1" dirty="0">
                <a:solidFill>
                  <a:srgbClr val="CFE8EE"/>
                </a:solidFill>
                <a:latin typeface="Calibri" pitchFamily="34" charset="0"/>
                <a:ea typeface="Calibri" pitchFamily="34" charset="-122"/>
                <a:cs typeface="Calibri" pitchFamily="34" charset="-120"/>
              </a:rPr>
              <a:t>CROSS-CUTTING ROUTE   </a:t>
            </a:r>
            <a:pPr indent="0" marL="0">
              <a:buNone/>
            </a:pPr>
            <a:r>
              <a:rPr lang="en-US" sz="1100" dirty="0">
                <a:solidFill>
                  <a:srgbClr val="FFFFFF"/>
                </a:solidFill>
                <a:latin typeface="Calibri" pitchFamily="34" charset="0"/>
                <a:ea typeface="Calibri" pitchFamily="34" charset="-122"/>
                <a:cs typeface="Calibri" pitchFamily="34" charset="-120"/>
              </a:rPr>
              <a:t>EPC / owner’s engineer specification influence runs through both validation priorities</a:t>
            </a:r>
            <a:endParaRPr lang="en-US" sz="1000" dirty="0"/>
          </a:p>
        </p:txBody>
      </p:sp>
      <p:sp>
        <p:nvSpPr>
          <p:cNvPr id="34" name="Shape 32"/>
          <p:cNvSpPr/>
          <p:nvPr/>
        </p:nvSpPr>
        <p:spPr>
          <a:xfrm>
            <a:off x="502920" y="5806440"/>
            <a:ext cx="11183112" cy="420624"/>
          </a:xfrm>
          <a:prstGeom prst="rect">
            <a:avLst/>
          </a:prstGeom>
          <a:solidFill>
            <a:srgbClr val="1F3B57"/>
          </a:solidFill>
          <a:ln/>
        </p:spPr>
      </p:sp>
      <p:sp>
        <p:nvSpPr>
          <p:cNvPr id="35" name="Text 33"/>
          <p:cNvSpPr/>
          <p:nvPr/>
        </p:nvSpPr>
        <p:spPr>
          <a:xfrm>
            <a:off x="685800" y="5806440"/>
            <a:ext cx="10817352" cy="420624"/>
          </a:xfrm>
          <a:prstGeom prst="rect">
            <a:avLst/>
          </a:prstGeom>
          <a:noFill/>
          <a:ln/>
        </p:spPr>
        <p:txBody>
          <a:bodyPr wrap="square" lIns="0" tIns="0" rIns="0" bIns="0" rtlCol="0" anchor="ctr"/>
          <a:lstStyle/>
          <a:p>
            <a:pPr indent="0" marL="0">
              <a:buNone/>
            </a:pPr>
            <a:r>
              <a:rPr lang="en-US" sz="1000" b="1" dirty="0">
                <a:solidFill>
                  <a:srgbClr val="9FB8CE"/>
                </a:solidFill>
                <a:latin typeface="Calibri" pitchFamily="34" charset="0"/>
                <a:ea typeface="Calibri" pitchFamily="34" charset="-122"/>
                <a:cs typeface="Calibri" pitchFamily="34" charset="-120"/>
              </a:rPr>
              <a:t>ENABLING CAPABILITIES   </a:t>
            </a:r>
            <a:pPr indent="0" marL="0">
              <a:buNone/>
            </a:pPr>
            <a:r>
              <a:rPr lang="en-US" sz="1100" dirty="0">
                <a:solidFill>
                  <a:srgbClr val="FFFFFF"/>
                </a:solidFill>
                <a:latin typeface="Calibri" pitchFamily="34" charset="0"/>
                <a:ea typeface="Calibri" pitchFamily="34" charset="-122"/>
                <a:cs typeface="Calibri" pitchFamily="34" charset="-120"/>
              </a:rPr>
              <a:t>Application engineering, supply planning, prefab and kitting, manufacturing scale, field support, distribution</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3112" cy="256032"/>
          </a:xfrm>
          <a:prstGeom prst="rect">
            <a:avLst/>
          </a:prstGeom>
          <a:noFill/>
          <a:ln/>
        </p:spPr>
        <p:txBody>
          <a:bodyPr wrap="square" lIns="0" tIns="0" rIns="0" bIns="0" rtlCol="0" anchor="ctr"/>
          <a:lstStyle/>
          <a:p>
            <a:pPr indent="0" marL="0">
              <a:buNone/>
            </a:pPr>
            <a:r>
              <a:rPr lang="en-US" sz="1100" b="1" spc="200" kern="0" dirty="0">
                <a:solidFill>
                  <a:srgbClr val="0F6E84"/>
                </a:solidFill>
                <a:latin typeface="Calibri" pitchFamily="34" charset="0"/>
                <a:ea typeface="Calibri" pitchFamily="34" charset="-122"/>
                <a:cs typeface="Calibri" pitchFamily="34" charset="-120"/>
              </a:rPr>
              <a:t>HOW SOUTHWIRE WINS</a:t>
            </a:r>
            <a:endParaRPr lang="en-US" sz="1100" dirty="0"/>
          </a:p>
        </p:txBody>
      </p:sp>
      <p:sp>
        <p:nvSpPr>
          <p:cNvPr id="3" name="Text 1"/>
          <p:cNvSpPr/>
          <p:nvPr/>
        </p:nvSpPr>
        <p:spPr>
          <a:xfrm>
            <a:off x="502920" y="530352"/>
            <a:ext cx="11183112" cy="777240"/>
          </a:xfrm>
          <a:prstGeom prst="rect">
            <a:avLst/>
          </a:prstGeom>
          <a:noFill/>
          <a:ln/>
        </p:spPr>
        <p:txBody>
          <a:bodyPr wrap="square" lIns="0" tIns="0" rIns="0" bIns="0" rtlCol="0" anchor="t"/>
          <a:lstStyle/>
          <a:p>
            <a:pPr indent="0" marL="0">
              <a:buNone/>
            </a:pPr>
            <a:r>
              <a:rPr lang="en-US" sz="2100" b="1" dirty="0">
                <a:solidFill>
                  <a:srgbClr val="1F3B57"/>
                </a:solidFill>
                <a:latin typeface="Calibri" pitchFamily="34" charset="0"/>
                <a:ea typeface="Calibri" pitchFamily="34" charset="-122"/>
                <a:cs typeface="Calibri" pitchFamily="34" charset="-120"/>
              </a:rPr>
              <a:t>Seven mechanics in commercial order, each testable inside the pilot, none assuming EPC or installation responsibility</a:t>
            </a:r>
            <a:endParaRPr lang="en-US" sz="2100" dirty="0"/>
          </a:p>
        </p:txBody>
      </p:sp>
      <p:sp>
        <p:nvSpPr>
          <p:cNvPr id="4" name="Text 2"/>
          <p:cNvSpPr/>
          <p:nvPr/>
        </p:nvSpPr>
        <p:spPr>
          <a:xfrm>
            <a:off x="502920" y="6473952"/>
            <a:ext cx="10085832" cy="274320"/>
          </a:xfrm>
          <a:prstGeom prst="rect">
            <a:avLst/>
          </a:prstGeom>
          <a:noFill/>
          <a:ln/>
        </p:spPr>
        <p:txBody>
          <a:bodyPr wrap="square" lIns="0" tIns="0" rIns="0" bIns="0" rtlCol="0" anchor="ctr"/>
          <a:lstStyle/>
          <a:p>
            <a:pPr indent="0" marL="0">
              <a:buNone/>
            </a:pPr>
            <a:r>
              <a:rPr lang="en-US" sz="850" dirty="0">
                <a:solidFill>
                  <a:srgbClr val="5B6573"/>
                </a:solidFill>
                <a:latin typeface="Calibri" pitchFamily="34" charset="0"/>
                <a:ea typeface="Calibri" pitchFamily="34" charset="-122"/>
                <a:cs typeface="Calibri" pitchFamily="34" charset="-120"/>
              </a:rPr>
              <a:t>Source: 04_Strategy_Thesis_v0 (how Southwire wins); S09 (boundaries, compatibility); S10 pp.5-8 (proposition); S12 p.24 (decision rights).</a:t>
            </a:r>
            <a:endParaRPr lang="en-US" sz="850" dirty="0"/>
          </a:p>
        </p:txBody>
      </p:sp>
      <p:sp>
        <p:nvSpPr>
          <p:cNvPr id="5" name="Text 3"/>
          <p:cNvSpPr/>
          <p:nvPr/>
        </p:nvSpPr>
        <p:spPr>
          <a:xfrm>
            <a:off x="10268712" y="6473952"/>
            <a:ext cx="1417320" cy="274320"/>
          </a:xfrm>
          <a:prstGeom prst="rect">
            <a:avLst/>
          </a:prstGeom>
          <a:noFill/>
          <a:ln/>
        </p:spPr>
        <p:txBody>
          <a:bodyPr wrap="square" lIns="0" tIns="0" rIns="0" bIns="0" rtlCol="0" anchor="ctr"/>
          <a:lstStyle/>
          <a:p>
            <a:pPr algn="r" indent="0" marL="0">
              <a:buNone/>
            </a:pPr>
            <a:r>
              <a:rPr lang="en-US" sz="850" dirty="0">
                <a:solidFill>
                  <a:srgbClr val="5B6573"/>
                </a:solidFill>
                <a:latin typeface="Calibri" pitchFamily="34" charset="0"/>
                <a:ea typeface="Calibri" pitchFamily="34" charset="-122"/>
                <a:cs typeface="Calibri" pitchFamily="34" charset="-120"/>
              </a:rPr>
              <a:t>SOUTHWIRE POWERGEN | v0  </a:t>
            </a:r>
            <a:pPr algn="r" indent="0" marL="0">
              <a:buNone/>
            </a:pPr>
            <a:r>
              <a:rPr lang="en-US" sz="850" b="1" dirty="0">
                <a:solidFill>
                  <a:srgbClr val="1F3B57"/>
                </a:solidFill>
                <a:latin typeface="Calibri" pitchFamily="34" charset="0"/>
                <a:ea typeface="Calibri" pitchFamily="34" charset="-122"/>
                <a:cs typeface="Calibri" pitchFamily="34" charset="-120"/>
              </a:rPr>
              <a:t>8</a:t>
            </a:r>
            <a:endParaRPr lang="en-US" sz="850" dirty="0"/>
          </a:p>
        </p:txBody>
      </p:sp>
      <p:sp>
        <p:nvSpPr>
          <p:cNvPr id="6" name="Shape 4"/>
          <p:cNvSpPr/>
          <p:nvPr/>
        </p:nvSpPr>
        <p:spPr>
          <a:xfrm>
            <a:off x="502920" y="1481328"/>
            <a:ext cx="2624328" cy="1691640"/>
          </a:xfrm>
          <a:prstGeom prst="rect">
            <a:avLst/>
          </a:prstGeom>
          <a:solidFill>
            <a:srgbClr val="F7F9FB"/>
          </a:solidFill>
          <a:ln w="9525">
            <a:solidFill>
              <a:srgbClr val="C9D2DB"/>
            </a:solidFill>
            <a:prstDash val="solid"/>
          </a:ln>
        </p:spPr>
      </p:sp>
      <p:sp>
        <p:nvSpPr>
          <p:cNvPr id="7" name="Shape 5"/>
          <p:cNvSpPr/>
          <p:nvPr/>
        </p:nvSpPr>
        <p:spPr>
          <a:xfrm>
            <a:off x="630936" y="1609344"/>
            <a:ext cx="384048" cy="384048"/>
          </a:xfrm>
          <a:prstGeom prst="ellipse">
            <a:avLst/>
          </a:prstGeom>
          <a:solidFill>
            <a:srgbClr val="0F6E84"/>
          </a:solidFill>
          <a:ln/>
        </p:spPr>
      </p:sp>
      <p:sp>
        <p:nvSpPr>
          <p:cNvPr id="8" name="Text 6"/>
          <p:cNvSpPr/>
          <p:nvPr/>
        </p:nvSpPr>
        <p:spPr>
          <a:xfrm>
            <a:off x="630936" y="160934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p:nvPr/>
        </p:nvSpPr>
        <p:spPr>
          <a:xfrm>
            <a:off x="1106424" y="1591056"/>
            <a:ext cx="1892808" cy="566928"/>
          </a:xfrm>
          <a:prstGeom prst="rect">
            <a:avLst/>
          </a:prstGeom>
          <a:noFill/>
          <a:ln/>
        </p:spPr>
        <p:txBody>
          <a:bodyPr wrap="square" lIns="0" tIns="0" rIns="0" bIns="0" rtlCol="0" anchor="ctr"/>
          <a:lstStyle/>
          <a:p>
            <a:pPr indent="0" marL="0">
              <a:lnSpc>
                <a:spcPts val="1300"/>
              </a:lnSpc>
              <a:buNone/>
            </a:pPr>
            <a:r>
              <a:rPr lang="en-US" sz="1150" b="1" dirty="0">
                <a:solidFill>
                  <a:srgbClr val="1F3B57"/>
                </a:solidFill>
                <a:latin typeface="Calibri" pitchFamily="34" charset="0"/>
                <a:ea typeface="Calibri" pitchFamily="34" charset="-122"/>
                <a:cs typeface="Calibri" pitchFamily="34" charset="-120"/>
              </a:rPr>
              <a:t>Qualify the actual project</a:t>
            </a:r>
            <a:endParaRPr lang="en-US" sz="1150" dirty="0"/>
          </a:p>
        </p:txBody>
      </p:sp>
      <p:sp>
        <p:nvSpPr>
          <p:cNvPr id="10" name="Text 8"/>
          <p:cNvSpPr/>
          <p:nvPr/>
        </p:nvSpPr>
        <p:spPr>
          <a:xfrm>
            <a:off x="630936" y="2194560"/>
            <a:ext cx="2368296" cy="914400"/>
          </a:xfrm>
          <a:prstGeom prst="rect">
            <a:avLst/>
          </a:prstGeom>
          <a:noFill/>
          <a:ln/>
        </p:spPr>
        <p:txBody>
          <a:bodyPr wrap="square" lIns="0" tIns="0" rIns="0" bIns="0" rtlCol="0" anchor="t"/>
          <a:lstStyle/>
          <a:p>
            <a:pPr indent="0" marL="0">
              <a:lnSpc>
                <a:spcPts val="1200"/>
              </a:lnSpc>
              <a:buNone/>
            </a:pPr>
            <a:r>
              <a:rPr lang="en-US" sz="950" dirty="0">
                <a:solidFill>
                  <a:srgbClr val="2A2F36"/>
                </a:solidFill>
                <a:latin typeface="Calibri" pitchFamily="34" charset="0"/>
                <a:ea typeface="Calibri" pitchFamily="34" charset="-122"/>
                <a:cs typeface="Calibri" pitchFamily="34" charset="-120"/>
              </a:rPr>
              <a:t>Customer, stage, one-lines, vendor list, cable schedule, buying process, next decision</a:t>
            </a:r>
            <a:endParaRPr lang="en-US" sz="950" dirty="0"/>
          </a:p>
        </p:txBody>
      </p:sp>
      <p:sp>
        <p:nvSpPr>
          <p:cNvPr id="11" name="Shape 9"/>
          <p:cNvSpPr/>
          <p:nvPr/>
        </p:nvSpPr>
        <p:spPr>
          <a:xfrm>
            <a:off x="3355848" y="1481328"/>
            <a:ext cx="2624328" cy="1691640"/>
          </a:xfrm>
          <a:prstGeom prst="rect">
            <a:avLst/>
          </a:prstGeom>
          <a:solidFill>
            <a:srgbClr val="F7F9FB"/>
          </a:solidFill>
          <a:ln w="9525">
            <a:solidFill>
              <a:srgbClr val="C9D2DB"/>
            </a:solidFill>
            <a:prstDash val="solid"/>
          </a:ln>
        </p:spPr>
      </p:sp>
      <p:sp>
        <p:nvSpPr>
          <p:cNvPr id="12" name="Shape 10"/>
          <p:cNvSpPr/>
          <p:nvPr/>
        </p:nvSpPr>
        <p:spPr>
          <a:xfrm>
            <a:off x="3483864" y="1609344"/>
            <a:ext cx="384048" cy="384048"/>
          </a:xfrm>
          <a:prstGeom prst="ellipse">
            <a:avLst/>
          </a:prstGeom>
          <a:solidFill>
            <a:srgbClr val="0F6E84"/>
          </a:solidFill>
          <a:ln/>
        </p:spPr>
      </p:sp>
      <p:sp>
        <p:nvSpPr>
          <p:cNvPr id="13" name="Text 11"/>
          <p:cNvSpPr/>
          <p:nvPr/>
        </p:nvSpPr>
        <p:spPr>
          <a:xfrm>
            <a:off x="3483864" y="160934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p:nvPr/>
        </p:nvSpPr>
        <p:spPr>
          <a:xfrm>
            <a:off x="3959352" y="1591056"/>
            <a:ext cx="1892808" cy="566928"/>
          </a:xfrm>
          <a:prstGeom prst="rect">
            <a:avLst/>
          </a:prstGeom>
          <a:noFill/>
          <a:ln/>
        </p:spPr>
        <p:txBody>
          <a:bodyPr wrap="square" lIns="0" tIns="0" rIns="0" bIns="0" rtlCol="0" anchor="ctr"/>
          <a:lstStyle/>
          <a:p>
            <a:pPr indent="0" marL="0">
              <a:lnSpc>
                <a:spcPts val="1300"/>
              </a:lnSpc>
              <a:buNone/>
            </a:pPr>
            <a:r>
              <a:rPr lang="en-US" sz="1150" b="1" dirty="0">
                <a:solidFill>
                  <a:srgbClr val="1F3B57"/>
                </a:solidFill>
                <a:latin typeface="Calibri" pitchFamily="34" charset="0"/>
                <a:ea typeface="Calibri" pitchFamily="34" charset="-122"/>
                <a:cs typeface="Calibri" pitchFamily="34" charset="-120"/>
              </a:rPr>
              <a:t>Enter before specs are fixed</a:t>
            </a:r>
            <a:endParaRPr lang="en-US" sz="1150" dirty="0"/>
          </a:p>
        </p:txBody>
      </p:sp>
      <p:sp>
        <p:nvSpPr>
          <p:cNvPr id="15" name="Text 13"/>
          <p:cNvSpPr/>
          <p:nvPr/>
        </p:nvSpPr>
        <p:spPr>
          <a:xfrm>
            <a:off x="3483864" y="2194560"/>
            <a:ext cx="2368296" cy="914400"/>
          </a:xfrm>
          <a:prstGeom prst="rect">
            <a:avLst/>
          </a:prstGeom>
          <a:noFill/>
          <a:ln/>
        </p:spPr>
        <p:txBody>
          <a:bodyPr wrap="square" lIns="0" tIns="0" rIns="0" bIns="0" rtlCol="0" anchor="t"/>
          <a:lstStyle/>
          <a:p>
            <a:pPr indent="0" marL="0">
              <a:lnSpc>
                <a:spcPts val="1200"/>
              </a:lnSpc>
              <a:buNone/>
            </a:pPr>
            <a:r>
              <a:rPr lang="en-US" sz="950" dirty="0">
                <a:solidFill>
                  <a:srgbClr val="2A2F36"/>
                </a:solidFill>
                <a:latin typeface="Calibri" pitchFamily="34" charset="0"/>
                <a:ea typeface="Calibri" pitchFamily="34" charset="-122"/>
                <a:cs typeface="Calibri" pitchFamily="34" charset="-120"/>
              </a:rPr>
              <a:t>Owner, EPC/OE, and OEM access while standards and interfaces are still open</a:t>
            </a:r>
            <a:endParaRPr lang="en-US" sz="950" dirty="0"/>
          </a:p>
        </p:txBody>
      </p:sp>
      <p:sp>
        <p:nvSpPr>
          <p:cNvPr id="16" name="Shape 14"/>
          <p:cNvSpPr/>
          <p:nvPr/>
        </p:nvSpPr>
        <p:spPr>
          <a:xfrm>
            <a:off x="6208776" y="1481328"/>
            <a:ext cx="2624328" cy="1691640"/>
          </a:xfrm>
          <a:prstGeom prst="rect">
            <a:avLst/>
          </a:prstGeom>
          <a:solidFill>
            <a:srgbClr val="F7F9FB"/>
          </a:solidFill>
          <a:ln w="9525">
            <a:solidFill>
              <a:srgbClr val="C9D2DB"/>
            </a:solidFill>
            <a:prstDash val="solid"/>
          </a:ln>
        </p:spPr>
      </p:sp>
      <p:sp>
        <p:nvSpPr>
          <p:cNvPr id="17" name="Shape 15"/>
          <p:cNvSpPr/>
          <p:nvPr/>
        </p:nvSpPr>
        <p:spPr>
          <a:xfrm>
            <a:off x="6336792" y="1609344"/>
            <a:ext cx="384048" cy="384048"/>
          </a:xfrm>
          <a:prstGeom prst="ellipse">
            <a:avLst/>
          </a:prstGeom>
          <a:solidFill>
            <a:srgbClr val="0F6E84"/>
          </a:solidFill>
          <a:ln/>
        </p:spPr>
      </p:sp>
      <p:sp>
        <p:nvSpPr>
          <p:cNvPr id="18" name="Text 16"/>
          <p:cNvSpPr/>
          <p:nvPr/>
        </p:nvSpPr>
        <p:spPr>
          <a:xfrm>
            <a:off x="6336792" y="160934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p:nvPr/>
        </p:nvSpPr>
        <p:spPr>
          <a:xfrm>
            <a:off x="6812280" y="1591056"/>
            <a:ext cx="1892808" cy="566928"/>
          </a:xfrm>
          <a:prstGeom prst="rect">
            <a:avLst/>
          </a:prstGeom>
          <a:noFill/>
          <a:ln/>
        </p:spPr>
        <p:txBody>
          <a:bodyPr wrap="square" lIns="0" tIns="0" rIns="0" bIns="0" rtlCol="0" anchor="ctr"/>
          <a:lstStyle/>
          <a:p>
            <a:pPr indent="0" marL="0">
              <a:lnSpc>
                <a:spcPts val="1300"/>
              </a:lnSpc>
              <a:buNone/>
            </a:pPr>
            <a:r>
              <a:rPr lang="en-US" sz="1150" b="1" dirty="0">
                <a:solidFill>
                  <a:srgbClr val="1F3B57"/>
                </a:solidFill>
                <a:latin typeface="Calibri" pitchFamily="34" charset="0"/>
                <a:ea typeface="Calibri" pitchFamily="34" charset="-122"/>
                <a:cs typeface="Calibri" pitchFamily="34" charset="-120"/>
              </a:rPr>
              <a:t>Lock the commercial boundary</a:t>
            </a:r>
            <a:endParaRPr lang="en-US" sz="1150" dirty="0"/>
          </a:p>
        </p:txBody>
      </p:sp>
      <p:sp>
        <p:nvSpPr>
          <p:cNvPr id="20" name="Text 18"/>
          <p:cNvSpPr/>
          <p:nvPr/>
        </p:nvSpPr>
        <p:spPr>
          <a:xfrm>
            <a:off x="6336792" y="2194560"/>
            <a:ext cx="2368296" cy="914400"/>
          </a:xfrm>
          <a:prstGeom prst="rect">
            <a:avLst/>
          </a:prstGeom>
          <a:noFill/>
          <a:ln/>
        </p:spPr>
        <p:txBody>
          <a:bodyPr wrap="square" lIns="0" tIns="0" rIns="0" bIns="0" rtlCol="0" anchor="t"/>
          <a:lstStyle/>
          <a:p>
            <a:pPr indent="0" marL="0">
              <a:lnSpc>
                <a:spcPts val="1200"/>
              </a:lnSpc>
              <a:buNone/>
            </a:pPr>
            <a:r>
              <a:rPr lang="en-US" sz="950" dirty="0">
                <a:solidFill>
                  <a:srgbClr val="2A2F36"/>
                </a:solidFill>
                <a:latin typeface="Calibri" pitchFamily="34" charset="0"/>
                <a:ea typeface="Calibri" pitchFamily="34" charset="-122"/>
                <a:cs typeface="Calibri" pitchFamily="34" charset="-120"/>
              </a:rPr>
              <a:t>Factory-wired, owner-furnished, EPC-procured, contractor-installed, distributor-served</a:t>
            </a:r>
            <a:endParaRPr lang="en-US" sz="950" dirty="0"/>
          </a:p>
        </p:txBody>
      </p:sp>
      <p:sp>
        <p:nvSpPr>
          <p:cNvPr id="21" name="Shape 19"/>
          <p:cNvSpPr/>
          <p:nvPr/>
        </p:nvSpPr>
        <p:spPr>
          <a:xfrm>
            <a:off x="9061704" y="1481328"/>
            <a:ext cx="2624328" cy="1691640"/>
          </a:xfrm>
          <a:prstGeom prst="rect">
            <a:avLst/>
          </a:prstGeom>
          <a:solidFill>
            <a:srgbClr val="F7F9FB"/>
          </a:solidFill>
          <a:ln w="9525">
            <a:solidFill>
              <a:srgbClr val="C9D2DB"/>
            </a:solidFill>
            <a:prstDash val="solid"/>
          </a:ln>
        </p:spPr>
      </p:sp>
      <p:sp>
        <p:nvSpPr>
          <p:cNvPr id="22" name="Shape 20"/>
          <p:cNvSpPr/>
          <p:nvPr/>
        </p:nvSpPr>
        <p:spPr>
          <a:xfrm>
            <a:off x="9189720" y="1609344"/>
            <a:ext cx="384048" cy="384048"/>
          </a:xfrm>
          <a:prstGeom prst="ellipse">
            <a:avLst/>
          </a:prstGeom>
          <a:solidFill>
            <a:srgbClr val="0F6E84"/>
          </a:solidFill>
          <a:ln/>
        </p:spPr>
      </p:sp>
      <p:sp>
        <p:nvSpPr>
          <p:cNvPr id="23" name="Text 21"/>
          <p:cNvSpPr/>
          <p:nvPr/>
        </p:nvSpPr>
        <p:spPr>
          <a:xfrm>
            <a:off x="9189720" y="160934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4" name="Text 22"/>
          <p:cNvSpPr/>
          <p:nvPr/>
        </p:nvSpPr>
        <p:spPr>
          <a:xfrm>
            <a:off x="9665208" y="1591056"/>
            <a:ext cx="1892808" cy="566928"/>
          </a:xfrm>
          <a:prstGeom prst="rect">
            <a:avLst/>
          </a:prstGeom>
          <a:noFill/>
          <a:ln/>
        </p:spPr>
        <p:txBody>
          <a:bodyPr wrap="square" lIns="0" tIns="0" rIns="0" bIns="0" rtlCol="0" anchor="ctr"/>
          <a:lstStyle/>
          <a:p>
            <a:pPr indent="0" marL="0">
              <a:lnSpc>
                <a:spcPts val="1300"/>
              </a:lnSpc>
              <a:buNone/>
            </a:pPr>
            <a:r>
              <a:rPr lang="en-US" sz="1150" b="1" dirty="0">
                <a:solidFill>
                  <a:srgbClr val="1F3B57"/>
                </a:solidFill>
                <a:latin typeface="Calibri" pitchFamily="34" charset="0"/>
                <a:ea typeface="Calibri" pitchFamily="34" charset="-122"/>
                <a:cs typeface="Calibri" pitchFamily="34" charset="-120"/>
              </a:rPr>
              <a:t>Engineer compatibility</a:t>
            </a:r>
            <a:endParaRPr lang="en-US" sz="1150" dirty="0"/>
          </a:p>
        </p:txBody>
      </p:sp>
      <p:sp>
        <p:nvSpPr>
          <p:cNvPr id="25" name="Text 23"/>
          <p:cNvSpPr/>
          <p:nvPr/>
        </p:nvSpPr>
        <p:spPr>
          <a:xfrm>
            <a:off x="9189720" y="2194560"/>
            <a:ext cx="2368296" cy="914400"/>
          </a:xfrm>
          <a:prstGeom prst="rect">
            <a:avLst/>
          </a:prstGeom>
          <a:noFill/>
          <a:ln/>
        </p:spPr>
        <p:txBody>
          <a:bodyPr wrap="square" lIns="0" tIns="0" rIns="0" bIns="0" rtlCol="0" anchor="t"/>
          <a:lstStyle/>
          <a:p>
            <a:pPr indent="0" marL="0">
              <a:lnSpc>
                <a:spcPts val="1200"/>
              </a:lnSpc>
              <a:buNone/>
            </a:pPr>
            <a:r>
              <a:rPr lang="en-US" sz="950" dirty="0">
                <a:solidFill>
                  <a:srgbClr val="2A2F36"/>
                </a:solidFill>
                <a:latin typeface="Calibri" pitchFamily="34" charset="0"/>
                <a:ea typeface="Calibri" pitchFamily="34" charset="-122"/>
                <a:cs typeface="Calibri" pitchFamily="34" charset="-120"/>
              </a:rPr>
              <a:t>VFD/motor, hazardous-area, fire, shielding, fiber, bend radius, pulling, termination</a:t>
            </a:r>
            <a:endParaRPr lang="en-US" sz="950" dirty="0"/>
          </a:p>
        </p:txBody>
      </p:sp>
      <p:sp>
        <p:nvSpPr>
          <p:cNvPr id="26" name="Shape 24"/>
          <p:cNvSpPr/>
          <p:nvPr/>
        </p:nvSpPr>
        <p:spPr>
          <a:xfrm>
            <a:off x="502920" y="3355848"/>
            <a:ext cx="2624328" cy="1691640"/>
          </a:xfrm>
          <a:prstGeom prst="rect">
            <a:avLst/>
          </a:prstGeom>
          <a:solidFill>
            <a:srgbClr val="F7F9FB"/>
          </a:solidFill>
          <a:ln w="9525">
            <a:solidFill>
              <a:srgbClr val="C9D2DB"/>
            </a:solidFill>
            <a:prstDash val="solid"/>
          </a:ln>
        </p:spPr>
      </p:sp>
      <p:sp>
        <p:nvSpPr>
          <p:cNvPr id="27" name="Shape 25"/>
          <p:cNvSpPr/>
          <p:nvPr/>
        </p:nvSpPr>
        <p:spPr>
          <a:xfrm>
            <a:off x="630936" y="3483864"/>
            <a:ext cx="384048" cy="384048"/>
          </a:xfrm>
          <a:prstGeom prst="ellipse">
            <a:avLst/>
          </a:prstGeom>
          <a:solidFill>
            <a:srgbClr val="0F6E84"/>
          </a:solidFill>
          <a:ln/>
        </p:spPr>
      </p:sp>
      <p:sp>
        <p:nvSpPr>
          <p:cNvPr id="28" name="Text 26"/>
          <p:cNvSpPr/>
          <p:nvPr/>
        </p:nvSpPr>
        <p:spPr>
          <a:xfrm>
            <a:off x="630936" y="348386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9" name="Text 27"/>
          <p:cNvSpPr/>
          <p:nvPr/>
        </p:nvSpPr>
        <p:spPr>
          <a:xfrm>
            <a:off x="1106424" y="3465576"/>
            <a:ext cx="1892808" cy="566928"/>
          </a:xfrm>
          <a:prstGeom prst="rect">
            <a:avLst/>
          </a:prstGeom>
          <a:noFill/>
          <a:ln/>
        </p:spPr>
        <p:txBody>
          <a:bodyPr wrap="square" lIns="0" tIns="0" rIns="0" bIns="0" rtlCol="0" anchor="ctr"/>
          <a:lstStyle/>
          <a:p>
            <a:pPr indent="0" marL="0">
              <a:lnSpc>
                <a:spcPts val="1300"/>
              </a:lnSpc>
              <a:buNone/>
            </a:pPr>
            <a:r>
              <a:rPr lang="en-US" sz="1150" b="1" dirty="0">
                <a:solidFill>
                  <a:srgbClr val="1F3B57"/>
                </a:solidFill>
                <a:latin typeface="Calibri" pitchFamily="34" charset="0"/>
                <a:ea typeface="Calibri" pitchFamily="34" charset="-122"/>
                <a:cs typeface="Calibri" pitchFamily="34" charset="-120"/>
              </a:rPr>
              <a:t>Standardize repeatability</a:t>
            </a:r>
            <a:endParaRPr lang="en-US" sz="1150" dirty="0"/>
          </a:p>
        </p:txBody>
      </p:sp>
      <p:sp>
        <p:nvSpPr>
          <p:cNvPr id="30" name="Text 28"/>
          <p:cNvSpPr/>
          <p:nvPr/>
        </p:nvSpPr>
        <p:spPr>
          <a:xfrm>
            <a:off x="630936" y="4069080"/>
            <a:ext cx="2368296" cy="914400"/>
          </a:xfrm>
          <a:prstGeom prst="rect">
            <a:avLst/>
          </a:prstGeom>
          <a:noFill/>
          <a:ln/>
        </p:spPr>
        <p:txBody>
          <a:bodyPr wrap="square" lIns="0" tIns="0" rIns="0" bIns="0" rtlCol="0" anchor="t"/>
          <a:lstStyle/>
          <a:p>
            <a:pPr indent="0" marL="0">
              <a:lnSpc>
                <a:spcPts val="1200"/>
              </a:lnSpc>
              <a:buNone/>
            </a:pPr>
            <a:r>
              <a:rPr lang="en-US" sz="950" dirty="0">
                <a:solidFill>
                  <a:srgbClr val="2A2F36"/>
                </a:solidFill>
                <a:latin typeface="Calibri" pitchFamily="34" charset="0"/>
                <a:ea typeface="Calibri" pitchFamily="34" charset="-122"/>
                <a:cs typeface="Calibri" pitchFamily="34" charset="-120"/>
              </a:rPr>
              <a:t>Approved cable families, package BOMs, labeled kits, schedules, interface data</a:t>
            </a:r>
            <a:endParaRPr lang="en-US" sz="950" dirty="0"/>
          </a:p>
        </p:txBody>
      </p:sp>
      <p:sp>
        <p:nvSpPr>
          <p:cNvPr id="31" name="Shape 29"/>
          <p:cNvSpPr/>
          <p:nvPr/>
        </p:nvSpPr>
        <p:spPr>
          <a:xfrm>
            <a:off x="3355848" y="3355848"/>
            <a:ext cx="2624328" cy="1691640"/>
          </a:xfrm>
          <a:prstGeom prst="rect">
            <a:avLst/>
          </a:prstGeom>
          <a:solidFill>
            <a:srgbClr val="F7F9FB"/>
          </a:solidFill>
          <a:ln w="9525">
            <a:solidFill>
              <a:srgbClr val="C9D2DB"/>
            </a:solidFill>
            <a:prstDash val="solid"/>
          </a:ln>
        </p:spPr>
      </p:sp>
      <p:sp>
        <p:nvSpPr>
          <p:cNvPr id="32" name="Shape 30"/>
          <p:cNvSpPr/>
          <p:nvPr/>
        </p:nvSpPr>
        <p:spPr>
          <a:xfrm>
            <a:off x="3483864" y="3483864"/>
            <a:ext cx="384048" cy="384048"/>
          </a:xfrm>
          <a:prstGeom prst="ellipse">
            <a:avLst/>
          </a:prstGeom>
          <a:solidFill>
            <a:srgbClr val="0F6E84"/>
          </a:solidFill>
          <a:ln/>
        </p:spPr>
      </p:sp>
      <p:sp>
        <p:nvSpPr>
          <p:cNvPr id="33" name="Text 31"/>
          <p:cNvSpPr/>
          <p:nvPr/>
        </p:nvSpPr>
        <p:spPr>
          <a:xfrm>
            <a:off x="3483864" y="348386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4" name="Text 32"/>
          <p:cNvSpPr/>
          <p:nvPr/>
        </p:nvSpPr>
        <p:spPr>
          <a:xfrm>
            <a:off x="3959352" y="3465576"/>
            <a:ext cx="1892808" cy="566928"/>
          </a:xfrm>
          <a:prstGeom prst="rect">
            <a:avLst/>
          </a:prstGeom>
          <a:noFill/>
          <a:ln/>
        </p:spPr>
        <p:txBody>
          <a:bodyPr wrap="square" lIns="0" tIns="0" rIns="0" bIns="0" rtlCol="0" anchor="ctr"/>
          <a:lstStyle/>
          <a:p>
            <a:pPr indent="0" marL="0">
              <a:lnSpc>
                <a:spcPts val="1300"/>
              </a:lnSpc>
              <a:buNone/>
            </a:pPr>
            <a:r>
              <a:rPr lang="en-US" sz="1150" b="1" dirty="0">
                <a:solidFill>
                  <a:srgbClr val="1F3B57"/>
                </a:solidFill>
                <a:latin typeface="Calibri" pitchFamily="34" charset="0"/>
                <a:ea typeface="Calibri" pitchFamily="34" charset="-122"/>
                <a:cs typeface="Calibri" pitchFamily="34" charset="-120"/>
              </a:rPr>
              <a:t>Run two lanes in parallel</a:t>
            </a:r>
            <a:endParaRPr lang="en-US" sz="1150" dirty="0"/>
          </a:p>
        </p:txBody>
      </p:sp>
      <p:sp>
        <p:nvSpPr>
          <p:cNvPr id="35" name="Text 33"/>
          <p:cNvSpPr/>
          <p:nvPr/>
        </p:nvSpPr>
        <p:spPr>
          <a:xfrm>
            <a:off x="3483864" y="4069080"/>
            <a:ext cx="2368296" cy="914400"/>
          </a:xfrm>
          <a:prstGeom prst="rect">
            <a:avLst/>
          </a:prstGeom>
          <a:noFill/>
          <a:ln/>
        </p:spPr>
        <p:txBody>
          <a:bodyPr wrap="square" lIns="0" tIns="0" rIns="0" bIns="0" rtlCol="0" anchor="t"/>
          <a:lstStyle/>
          <a:p>
            <a:pPr indent="0" marL="0">
              <a:lnSpc>
                <a:spcPts val="1200"/>
              </a:lnSpc>
              <a:buNone/>
            </a:pPr>
            <a:r>
              <a:rPr lang="en-US" sz="950" dirty="0">
                <a:solidFill>
                  <a:srgbClr val="2A2F36"/>
                </a:solidFill>
                <a:latin typeface="Calibri" pitchFamily="34" charset="0"/>
                <a:ea typeface="Calibri" pitchFamily="34" charset="-122"/>
                <a:cs typeface="Calibri" pitchFamily="34" charset="-120"/>
              </a:rPr>
              <a:t>OEM approval pulls factory specification; EPC/contractor/channel converts field demand</a:t>
            </a:r>
            <a:endParaRPr lang="en-US" sz="950" dirty="0"/>
          </a:p>
        </p:txBody>
      </p:sp>
      <p:sp>
        <p:nvSpPr>
          <p:cNvPr id="36" name="Shape 34"/>
          <p:cNvSpPr/>
          <p:nvPr/>
        </p:nvSpPr>
        <p:spPr>
          <a:xfrm>
            <a:off x="6208776" y="3355848"/>
            <a:ext cx="2624328" cy="1691640"/>
          </a:xfrm>
          <a:prstGeom prst="rect">
            <a:avLst/>
          </a:prstGeom>
          <a:solidFill>
            <a:srgbClr val="EDF1F5"/>
          </a:solidFill>
          <a:ln w="9525">
            <a:solidFill>
              <a:srgbClr val="C9D2DB"/>
            </a:solidFill>
            <a:prstDash val="solid"/>
          </a:ln>
        </p:spPr>
      </p:sp>
      <p:sp>
        <p:nvSpPr>
          <p:cNvPr id="37" name="Shape 35"/>
          <p:cNvSpPr/>
          <p:nvPr/>
        </p:nvSpPr>
        <p:spPr>
          <a:xfrm>
            <a:off x="6336792" y="3483864"/>
            <a:ext cx="384048" cy="384048"/>
          </a:xfrm>
          <a:prstGeom prst="ellipse">
            <a:avLst/>
          </a:prstGeom>
          <a:solidFill>
            <a:srgbClr val="0F6E84"/>
          </a:solidFill>
          <a:ln/>
        </p:spPr>
      </p:sp>
      <p:sp>
        <p:nvSpPr>
          <p:cNvPr id="38" name="Text 36"/>
          <p:cNvSpPr/>
          <p:nvPr/>
        </p:nvSpPr>
        <p:spPr>
          <a:xfrm>
            <a:off x="6336792" y="348386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39" name="Text 37"/>
          <p:cNvSpPr/>
          <p:nvPr/>
        </p:nvSpPr>
        <p:spPr>
          <a:xfrm>
            <a:off x="6812280" y="3465576"/>
            <a:ext cx="1892808" cy="566928"/>
          </a:xfrm>
          <a:prstGeom prst="rect">
            <a:avLst/>
          </a:prstGeom>
          <a:noFill/>
          <a:ln/>
        </p:spPr>
        <p:txBody>
          <a:bodyPr wrap="square" lIns="0" tIns="0" rIns="0" bIns="0" rtlCol="0" anchor="ctr"/>
          <a:lstStyle/>
          <a:p>
            <a:pPr indent="0" marL="0">
              <a:lnSpc>
                <a:spcPts val="1300"/>
              </a:lnSpc>
              <a:buNone/>
            </a:pPr>
            <a:r>
              <a:rPr lang="en-US" sz="1150" b="1" dirty="0">
                <a:solidFill>
                  <a:srgbClr val="1F3B57"/>
                </a:solidFill>
                <a:latin typeface="Calibri" pitchFamily="34" charset="0"/>
                <a:ea typeface="Calibri" pitchFamily="34" charset="-122"/>
                <a:cs typeface="Calibri" pitchFamily="34" charset="-120"/>
              </a:rPr>
              <a:t>Prove value with project evidence</a:t>
            </a:r>
            <a:endParaRPr lang="en-US" sz="1150" dirty="0"/>
          </a:p>
        </p:txBody>
      </p:sp>
      <p:sp>
        <p:nvSpPr>
          <p:cNvPr id="40" name="Text 38"/>
          <p:cNvSpPr/>
          <p:nvPr/>
        </p:nvSpPr>
        <p:spPr>
          <a:xfrm>
            <a:off x="6336792" y="4069080"/>
            <a:ext cx="2368296" cy="914400"/>
          </a:xfrm>
          <a:prstGeom prst="rect">
            <a:avLst/>
          </a:prstGeom>
          <a:noFill/>
          <a:ln/>
        </p:spPr>
        <p:txBody>
          <a:bodyPr wrap="square" lIns="0" tIns="0" rIns="0" bIns="0" rtlCol="0" anchor="t"/>
          <a:lstStyle/>
          <a:p>
            <a:pPr indent="0" marL="0">
              <a:lnSpc>
                <a:spcPts val="1200"/>
              </a:lnSpc>
              <a:buNone/>
            </a:pPr>
            <a:r>
              <a:rPr lang="en-US" sz="950" dirty="0">
                <a:solidFill>
                  <a:srgbClr val="2A2F36"/>
                </a:solidFill>
                <a:latin typeface="Calibri" pitchFamily="34" charset="0"/>
                <a:ea typeface="Calibri" pitchFamily="34" charset="-122"/>
                <a:cs typeface="Calibri" pitchFamily="34" charset="-120"/>
              </a:rPr>
              <a:t>Schedule, labor, supply, and risk outcomes; adjacent results never generalized unverified</a:t>
            </a:r>
            <a:endParaRPr lang="en-US" sz="950" dirty="0"/>
          </a:p>
        </p:txBody>
      </p:sp>
      <p:sp>
        <p:nvSpPr>
          <p:cNvPr id="41" name="Shape 39"/>
          <p:cNvSpPr/>
          <p:nvPr/>
        </p:nvSpPr>
        <p:spPr>
          <a:xfrm>
            <a:off x="9061704" y="3355848"/>
            <a:ext cx="2624328" cy="1691640"/>
          </a:xfrm>
          <a:prstGeom prst="rect">
            <a:avLst/>
          </a:prstGeom>
          <a:solidFill>
            <a:srgbClr val="1F3B57"/>
          </a:solidFill>
          <a:ln w="9525">
            <a:solidFill>
              <a:srgbClr val="C9D2DB"/>
            </a:solidFill>
            <a:prstDash val="solid"/>
          </a:ln>
        </p:spPr>
      </p:sp>
      <p:sp>
        <p:nvSpPr>
          <p:cNvPr id="42" name="Text 40"/>
          <p:cNvSpPr/>
          <p:nvPr/>
        </p:nvSpPr>
        <p:spPr>
          <a:xfrm>
            <a:off x="9189720" y="3483864"/>
            <a:ext cx="2368296" cy="32004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The customer outcome</a:t>
            </a:r>
            <a:endParaRPr lang="en-US" sz="1150" dirty="0"/>
          </a:p>
        </p:txBody>
      </p:sp>
      <p:sp>
        <p:nvSpPr>
          <p:cNvPr id="43" name="Text 41"/>
          <p:cNvSpPr/>
          <p:nvPr/>
        </p:nvSpPr>
        <p:spPr>
          <a:xfrm>
            <a:off x="9189720" y="3813048"/>
            <a:ext cx="2368296" cy="1143000"/>
          </a:xfrm>
          <a:prstGeom prst="rect">
            <a:avLst/>
          </a:prstGeom>
          <a:noFill/>
          <a:ln/>
        </p:spPr>
        <p:txBody>
          <a:bodyPr wrap="square" lIns="0" tIns="0" rIns="0" bIns="0" rtlCol="0" anchor="t"/>
          <a:lstStyle/>
          <a:p>
            <a:pPr indent="0" marL="0">
              <a:lnSpc>
                <a:spcPts val="1250"/>
              </a:lnSpc>
              <a:buNone/>
            </a:pPr>
            <a:r>
              <a:rPr lang="en-US" sz="950" dirty="0">
                <a:solidFill>
                  <a:srgbClr val="DCE6EF"/>
                </a:solidFill>
                <a:latin typeface="Calibri" pitchFamily="34" charset="0"/>
                <a:ea typeface="Calibri" pitchFamily="34" charset="-122"/>
                <a:cs typeface="Calibri" pitchFamily="34" charset="-120"/>
              </a:rPr>
              <a:t>Faster time to power, lower execution and supply risk, better labor productivity, reliable lifecycle performance, within clearly defined product and commercial responsibilities.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3112" cy="256032"/>
          </a:xfrm>
          <a:prstGeom prst="rect">
            <a:avLst/>
          </a:prstGeom>
          <a:noFill/>
          <a:ln/>
        </p:spPr>
        <p:txBody>
          <a:bodyPr wrap="square" lIns="0" tIns="0" rIns="0" bIns="0" rtlCol="0" anchor="ctr"/>
          <a:lstStyle/>
          <a:p>
            <a:pPr indent="0" marL="0">
              <a:buNone/>
            </a:pPr>
            <a:r>
              <a:rPr lang="en-US" sz="1100" b="1" spc="200" kern="0" dirty="0">
                <a:solidFill>
                  <a:srgbClr val="0F6E84"/>
                </a:solidFill>
                <a:latin typeface="Calibri" pitchFamily="34" charset="0"/>
                <a:ea typeface="Calibri" pitchFamily="34" charset="-122"/>
                <a:cs typeface="Calibri" pitchFamily="34" charset="-120"/>
              </a:rPr>
              <a:t>OPERATING MODEL</a:t>
            </a:r>
            <a:endParaRPr lang="en-US" sz="1100" dirty="0"/>
          </a:p>
        </p:txBody>
      </p:sp>
      <p:sp>
        <p:nvSpPr>
          <p:cNvPr id="3" name="Text 1"/>
          <p:cNvSpPr/>
          <p:nvPr/>
        </p:nvSpPr>
        <p:spPr>
          <a:xfrm>
            <a:off x="502920" y="530352"/>
            <a:ext cx="11183112" cy="777240"/>
          </a:xfrm>
          <a:prstGeom prst="rect">
            <a:avLst/>
          </a:prstGeom>
          <a:noFill/>
          <a:ln/>
        </p:spPr>
        <p:txBody>
          <a:bodyPr wrap="square" lIns="0" tIns="0" rIns="0" bIns="0" rtlCol="0" anchor="t"/>
          <a:lstStyle/>
          <a:p>
            <a:pPr indent="0" marL="0">
              <a:buNone/>
            </a:pPr>
            <a:r>
              <a:rPr lang="en-US" sz="2100" b="1" dirty="0">
                <a:solidFill>
                  <a:srgbClr val="1F3B57"/>
                </a:solidFill>
                <a:latin typeface="Calibri" pitchFamily="34" charset="0"/>
                <a:ea typeface="Calibri" pitchFamily="34" charset="-122"/>
                <a:cs typeface="Calibri" pitchFamily="34" charset="-120"/>
              </a:rPr>
              <a:t>Three models were tested against nine criteria: the federated platform is the only one worth a 90-day trial today</a:t>
            </a:r>
            <a:endParaRPr lang="en-US" sz="2100" dirty="0"/>
          </a:p>
        </p:txBody>
      </p:sp>
      <p:sp>
        <p:nvSpPr>
          <p:cNvPr id="4" name="Text 2"/>
          <p:cNvSpPr/>
          <p:nvPr/>
        </p:nvSpPr>
        <p:spPr>
          <a:xfrm>
            <a:off x="502920" y="6473952"/>
            <a:ext cx="10085832" cy="274320"/>
          </a:xfrm>
          <a:prstGeom prst="rect">
            <a:avLst/>
          </a:prstGeom>
          <a:noFill/>
          <a:ln/>
        </p:spPr>
        <p:txBody>
          <a:bodyPr wrap="square" lIns="0" tIns="0" rIns="0" bIns="0" rtlCol="0" anchor="ctr"/>
          <a:lstStyle/>
          <a:p>
            <a:pPr indent="0" marL="0">
              <a:buNone/>
            </a:pPr>
            <a:r>
              <a:rPr lang="en-US" sz="850" dirty="0">
                <a:solidFill>
                  <a:srgbClr val="5B6573"/>
                </a:solidFill>
                <a:latin typeface="Calibri" pitchFamily="34" charset="0"/>
                <a:ea typeface="Calibri" pitchFamily="34" charset="-122"/>
                <a:cs typeface="Calibri" pitchFamily="34" charset="-120"/>
              </a:rPr>
              <a:t>Source: 03_Operating_Model_Options (comparative assessment). Ratings are recommendations, not source facts.</a:t>
            </a:r>
            <a:endParaRPr lang="en-US" sz="850" dirty="0"/>
          </a:p>
        </p:txBody>
      </p:sp>
      <p:sp>
        <p:nvSpPr>
          <p:cNvPr id="5" name="Text 3"/>
          <p:cNvSpPr/>
          <p:nvPr/>
        </p:nvSpPr>
        <p:spPr>
          <a:xfrm>
            <a:off x="10268712" y="6473952"/>
            <a:ext cx="1417320" cy="274320"/>
          </a:xfrm>
          <a:prstGeom prst="rect">
            <a:avLst/>
          </a:prstGeom>
          <a:noFill/>
          <a:ln/>
        </p:spPr>
        <p:txBody>
          <a:bodyPr wrap="square" lIns="0" tIns="0" rIns="0" bIns="0" rtlCol="0" anchor="ctr"/>
          <a:lstStyle/>
          <a:p>
            <a:pPr algn="r" indent="0" marL="0">
              <a:buNone/>
            </a:pPr>
            <a:r>
              <a:rPr lang="en-US" sz="850" dirty="0">
                <a:solidFill>
                  <a:srgbClr val="5B6573"/>
                </a:solidFill>
                <a:latin typeface="Calibri" pitchFamily="34" charset="0"/>
                <a:ea typeface="Calibri" pitchFamily="34" charset="-122"/>
                <a:cs typeface="Calibri" pitchFamily="34" charset="-120"/>
              </a:rPr>
              <a:t>SOUTHWIRE POWERGEN | v0  </a:t>
            </a:r>
            <a:pPr algn="r" indent="0" marL="0">
              <a:buNone/>
            </a:pPr>
            <a:r>
              <a:rPr lang="en-US" sz="850" b="1" dirty="0">
                <a:solidFill>
                  <a:srgbClr val="1F3B57"/>
                </a:solidFill>
                <a:latin typeface="Calibri" pitchFamily="34" charset="0"/>
                <a:ea typeface="Calibri" pitchFamily="34" charset="-122"/>
                <a:cs typeface="Calibri" pitchFamily="34" charset="-120"/>
              </a:rPr>
              <a:t>9</a:t>
            </a:r>
            <a:endParaRPr lang="en-US" sz="850" dirty="0"/>
          </a:p>
        </p:txBody>
      </p:sp>
      <p:sp>
        <p:nvSpPr>
          <p:cNvPr id="6" name="Shape 4"/>
          <p:cNvSpPr/>
          <p:nvPr/>
        </p:nvSpPr>
        <p:spPr>
          <a:xfrm>
            <a:off x="502920" y="1463040"/>
            <a:ext cx="3575304" cy="4206240"/>
          </a:xfrm>
          <a:prstGeom prst="rect">
            <a:avLst/>
          </a:prstGeom>
          <a:solidFill>
            <a:srgbClr val="F7F9FB"/>
          </a:solidFill>
          <a:ln w="9525">
            <a:solidFill>
              <a:srgbClr val="C9D2DB"/>
            </a:solidFill>
            <a:prstDash val="solid"/>
          </a:ln>
        </p:spPr>
      </p:sp>
      <p:sp>
        <p:nvSpPr>
          <p:cNvPr id="7" name="Text 5"/>
          <p:cNvSpPr/>
          <p:nvPr/>
        </p:nvSpPr>
        <p:spPr>
          <a:xfrm>
            <a:off x="667512" y="1600200"/>
            <a:ext cx="3246120" cy="365760"/>
          </a:xfrm>
          <a:prstGeom prst="rect">
            <a:avLst/>
          </a:prstGeom>
          <a:noFill/>
          <a:ln/>
        </p:spPr>
        <p:txBody>
          <a:bodyPr wrap="square" lIns="0" tIns="0" rIns="0" bIns="0" rtlCol="0" anchor="ctr"/>
          <a:lstStyle/>
          <a:p>
            <a:pPr indent="0" marL="0">
              <a:buNone/>
            </a:pPr>
            <a:r>
              <a:rPr lang="en-US" sz="1450" b="1" dirty="0">
                <a:solidFill>
                  <a:srgbClr val="1F3B57"/>
                </a:solidFill>
                <a:latin typeface="Calibri" pitchFamily="34" charset="0"/>
                <a:ea typeface="Calibri" pitchFamily="34" charset="-122"/>
                <a:cs typeface="Calibri" pitchFamily="34" charset="-120"/>
              </a:rPr>
              <a:t>1. BU-led coordination</a:t>
            </a:r>
            <a:endParaRPr lang="en-US" sz="1450" dirty="0"/>
          </a:p>
        </p:txBody>
      </p:sp>
      <p:sp>
        <p:nvSpPr>
          <p:cNvPr id="8" name="Shape 6"/>
          <p:cNvSpPr/>
          <p:nvPr/>
        </p:nvSpPr>
        <p:spPr>
          <a:xfrm>
            <a:off x="667512" y="2011680"/>
            <a:ext cx="3246120" cy="502920"/>
          </a:xfrm>
          <a:prstGeom prst="rect">
            <a:avLst/>
          </a:prstGeom>
          <a:solidFill>
            <a:srgbClr val="5B6573"/>
          </a:solidFill>
          <a:ln/>
        </p:spPr>
      </p:sp>
      <p:sp>
        <p:nvSpPr>
          <p:cNvPr id="9" name="Text 7"/>
          <p:cNvSpPr/>
          <p:nvPr/>
        </p:nvSpPr>
        <p:spPr>
          <a:xfrm>
            <a:off x="722376" y="2011680"/>
            <a:ext cx="3136392" cy="502920"/>
          </a:xfrm>
          <a:prstGeom prst="rect">
            <a:avLst/>
          </a:prstGeom>
          <a:noFill/>
          <a:ln/>
        </p:spPr>
        <p:txBody>
          <a:bodyPr wrap="square" lIns="0" tIns="0" rIns="0" bIns="0" rtlCol="0" anchor="ctr"/>
          <a:lstStyle/>
          <a:p>
            <a:pPr indent="0" marL="0">
              <a:lnSpc>
                <a:spcPts val="1200"/>
              </a:lnSpc>
              <a:buNone/>
            </a:pPr>
            <a:r>
              <a:rPr lang="en-US" sz="1000" b="1" dirty="0">
                <a:solidFill>
                  <a:srgbClr val="FFFFFF"/>
                </a:solidFill>
                <a:latin typeface="Calibri" pitchFamily="34" charset="0"/>
                <a:ea typeface="Calibri" pitchFamily="34" charset="-122"/>
                <a:cs typeface="Calibri" pitchFamily="34" charset="-120"/>
              </a:rPr>
              <a:t>KEEP EXECUTION, NOT THE MODEL</a:t>
            </a:r>
            <a:endParaRPr lang="en-US" sz="1000" dirty="0"/>
          </a:p>
        </p:txBody>
      </p:sp>
      <p:sp>
        <p:nvSpPr>
          <p:cNvPr id="10" name="Text 8"/>
          <p:cNvSpPr/>
          <p:nvPr/>
        </p:nvSpPr>
        <p:spPr>
          <a:xfrm>
            <a:off x="704088" y="2697480"/>
            <a:ext cx="3191256" cy="2834640"/>
          </a:xfrm>
          <a:prstGeom prst="rect">
            <a:avLst/>
          </a:prstGeom>
          <a:noFill/>
          <a:ln/>
        </p:spPr>
        <p:txBody>
          <a:bodyPr wrap="square" lIns="0" tIns="0" rIns="0" bIns="0" rtlCol="0" anchor="t"/>
          <a:lstStyle/>
          <a:p>
            <a:pPr marL="127000" indent="-127000">
              <a:lnSpc>
                <a:spcPts val="1300"/>
              </a:lnSpc>
              <a:spcAft>
                <a:spcPts val="800"/>
              </a:spcAft>
              <a:buSzPct val="100000"/>
              <a:buChar char="–"/>
            </a:pPr>
            <a:r>
              <a:rPr lang="en-US" sz="1050" dirty="0">
                <a:solidFill>
                  <a:srgbClr val="2A2F36"/>
                </a:solidFill>
                <a:latin typeface="Calibri" pitchFamily="34" charset="0"/>
                <a:ea typeface="Calibri" pitchFamily="34" charset="-122"/>
                <a:cs typeface="Calibri" pitchFamily="34" charset="-120"/>
              </a:rPr>
              <a:t>Lowest disruption and cost</a:t>
            </a:r>
            <a:endParaRPr lang="en-US" sz="1050" dirty="0"/>
          </a:p>
          <a:p>
            <a:pPr marL="127000" indent="-127000">
              <a:lnSpc>
                <a:spcPts val="1300"/>
              </a:lnSpc>
              <a:spcAft>
                <a:spcPts val="800"/>
              </a:spcAft>
              <a:buSzPct val="100000"/>
              <a:buChar char="–"/>
            </a:pPr>
            <a:r>
              <a:rPr lang="en-US" sz="1050" dirty="0">
                <a:solidFill>
                  <a:srgbClr val="2A2F36"/>
                </a:solidFill>
                <a:latin typeface="Calibri" pitchFamily="34" charset="0"/>
                <a:ea typeface="Calibri" pitchFamily="34" charset="-122"/>
                <a:cs typeface="Calibri" pitchFamily="34" charset="-120"/>
              </a:rPr>
              <a:t>Preserves fragmented visibility and handoffs</a:t>
            </a:r>
            <a:endParaRPr lang="en-US" sz="1050" dirty="0"/>
          </a:p>
          <a:p>
            <a:pPr marL="127000" indent="-127000">
              <a:lnSpc>
                <a:spcPts val="1300"/>
              </a:lnSpc>
              <a:spcAft>
                <a:spcPts val="800"/>
              </a:spcAft>
              <a:buSzPct val="100000"/>
              <a:buChar char="–"/>
            </a:pPr>
            <a:r>
              <a:rPr lang="en-US" sz="1050" dirty="0">
                <a:solidFill>
                  <a:srgbClr val="2A2F36"/>
                </a:solidFill>
                <a:latin typeface="Calibri" pitchFamily="34" charset="0"/>
                <a:ea typeface="Calibri" pitchFamily="34" charset="-122"/>
                <a:cs typeface="Calibri" pitchFamily="34" charset="-120"/>
              </a:rPr>
              <a:t>No accountable enterprise coordinator</a:t>
            </a:r>
            <a:endParaRPr lang="en-US" sz="1050" dirty="0"/>
          </a:p>
          <a:p>
            <a:pPr marL="127000" indent="-127000">
              <a:lnSpc>
                <a:spcPts val="1300"/>
              </a:lnSpc>
              <a:spcAft>
                <a:spcPts val="800"/>
              </a:spcAft>
              <a:buSzPct val="100000"/>
              <a:buChar char="–"/>
            </a:pPr>
            <a:r>
              <a:rPr lang="en-US" sz="1050" dirty="0">
                <a:solidFill>
                  <a:srgbClr val="2A2F36"/>
                </a:solidFill>
                <a:latin typeface="Calibri" pitchFamily="34" charset="0"/>
                <a:ea typeface="Calibri" pitchFamily="34" charset="-122"/>
                <a:cs typeface="Calibri" pitchFamily="34" charset="-120"/>
              </a:rPr>
              <a:t>High channel-conflict risk from fragmented rules</a:t>
            </a:r>
            <a:endParaRPr lang="en-US" sz="1050" dirty="0"/>
          </a:p>
        </p:txBody>
      </p:sp>
      <p:sp>
        <p:nvSpPr>
          <p:cNvPr id="11" name="Shape 9"/>
          <p:cNvSpPr/>
          <p:nvPr/>
        </p:nvSpPr>
        <p:spPr>
          <a:xfrm>
            <a:off x="4306824" y="1463040"/>
            <a:ext cx="3575304" cy="4206240"/>
          </a:xfrm>
          <a:prstGeom prst="rect">
            <a:avLst/>
          </a:prstGeom>
          <a:solidFill>
            <a:srgbClr val="E4F0F3"/>
          </a:solidFill>
          <a:ln w="9525">
            <a:solidFill>
              <a:srgbClr val="C9D2DB"/>
            </a:solidFill>
            <a:prstDash val="solid"/>
          </a:ln>
        </p:spPr>
      </p:sp>
      <p:sp>
        <p:nvSpPr>
          <p:cNvPr id="12" name="Text 10"/>
          <p:cNvSpPr/>
          <p:nvPr/>
        </p:nvSpPr>
        <p:spPr>
          <a:xfrm>
            <a:off x="4471416" y="1600200"/>
            <a:ext cx="3246120" cy="365760"/>
          </a:xfrm>
          <a:prstGeom prst="rect">
            <a:avLst/>
          </a:prstGeom>
          <a:noFill/>
          <a:ln/>
        </p:spPr>
        <p:txBody>
          <a:bodyPr wrap="square" lIns="0" tIns="0" rIns="0" bIns="0" rtlCol="0" anchor="ctr"/>
          <a:lstStyle/>
          <a:p>
            <a:pPr indent="0" marL="0">
              <a:buNone/>
            </a:pPr>
            <a:r>
              <a:rPr lang="en-US" sz="1450" b="1" dirty="0">
                <a:solidFill>
                  <a:srgbClr val="1F3B57"/>
                </a:solidFill>
                <a:latin typeface="Calibri" pitchFamily="34" charset="0"/>
                <a:ea typeface="Calibri" pitchFamily="34" charset="-122"/>
                <a:cs typeface="Calibri" pitchFamily="34" charset="-120"/>
              </a:rPr>
              <a:t>2. Federated platform</a:t>
            </a:r>
            <a:endParaRPr lang="en-US" sz="1450" dirty="0"/>
          </a:p>
        </p:txBody>
      </p:sp>
      <p:sp>
        <p:nvSpPr>
          <p:cNvPr id="13" name="Shape 11"/>
          <p:cNvSpPr/>
          <p:nvPr/>
        </p:nvSpPr>
        <p:spPr>
          <a:xfrm>
            <a:off x="4471416" y="2011680"/>
            <a:ext cx="3246120" cy="502920"/>
          </a:xfrm>
          <a:prstGeom prst="rect">
            <a:avLst/>
          </a:prstGeom>
          <a:solidFill>
            <a:srgbClr val="0F6E84"/>
          </a:solidFill>
          <a:ln/>
        </p:spPr>
      </p:sp>
      <p:sp>
        <p:nvSpPr>
          <p:cNvPr id="14" name="Text 12"/>
          <p:cNvSpPr/>
          <p:nvPr/>
        </p:nvSpPr>
        <p:spPr>
          <a:xfrm>
            <a:off x="4526280" y="2011680"/>
            <a:ext cx="3136392" cy="502920"/>
          </a:xfrm>
          <a:prstGeom prst="rect">
            <a:avLst/>
          </a:prstGeom>
          <a:noFill/>
          <a:ln/>
        </p:spPr>
        <p:txBody>
          <a:bodyPr wrap="square" lIns="0" tIns="0" rIns="0" bIns="0" rtlCol="0" anchor="ctr"/>
          <a:lstStyle/>
          <a:p>
            <a:pPr indent="0" marL="0">
              <a:lnSpc>
                <a:spcPts val="1200"/>
              </a:lnSpc>
              <a:buNone/>
            </a:pPr>
            <a:r>
              <a:rPr lang="en-US" sz="1000" b="1" dirty="0">
                <a:solidFill>
                  <a:srgbClr val="FFFFFF"/>
                </a:solidFill>
                <a:latin typeface="Calibri" pitchFamily="34" charset="0"/>
                <a:ea typeface="Calibri" pitchFamily="34" charset="-122"/>
                <a:cs typeface="Calibri" pitchFamily="34" charset="-120"/>
              </a:rPr>
              <a:t>RECOMMENDED: 90-DAY PILOT</a:t>
            </a:r>
            <a:endParaRPr lang="en-US" sz="1000" dirty="0"/>
          </a:p>
        </p:txBody>
      </p:sp>
      <p:sp>
        <p:nvSpPr>
          <p:cNvPr id="15" name="Text 13"/>
          <p:cNvSpPr/>
          <p:nvPr/>
        </p:nvSpPr>
        <p:spPr>
          <a:xfrm>
            <a:off x="4507992" y="2697480"/>
            <a:ext cx="3191256" cy="2834640"/>
          </a:xfrm>
          <a:prstGeom prst="rect">
            <a:avLst/>
          </a:prstGeom>
          <a:noFill/>
          <a:ln/>
        </p:spPr>
        <p:txBody>
          <a:bodyPr wrap="square" lIns="0" tIns="0" rIns="0" bIns="0" rtlCol="0" anchor="t"/>
          <a:lstStyle/>
          <a:p>
            <a:pPr marL="127000" indent="-127000">
              <a:lnSpc>
                <a:spcPts val="1300"/>
              </a:lnSpc>
              <a:spcAft>
                <a:spcPts val="800"/>
              </a:spcAft>
              <a:buSzPct val="100000"/>
              <a:buChar char="–"/>
            </a:pPr>
            <a:r>
              <a:rPr lang="en-US" sz="1050" dirty="0">
                <a:solidFill>
                  <a:srgbClr val="2A2F36"/>
                </a:solidFill>
                <a:latin typeface="Calibri" pitchFamily="34" charset="0"/>
                <a:ea typeface="Calibri" pitchFamily="34" charset="-122"/>
                <a:cs typeface="Calibri" pitchFamily="34" charset="-120"/>
              </a:rPr>
              <a:t>One market system; commercial and P&amp;L authority stays put</a:t>
            </a:r>
            <a:endParaRPr lang="en-US" sz="1050" dirty="0"/>
          </a:p>
          <a:p>
            <a:pPr marL="127000" indent="-127000">
              <a:lnSpc>
                <a:spcPts val="1300"/>
              </a:lnSpc>
              <a:spcAft>
                <a:spcPts val="800"/>
              </a:spcAft>
              <a:buSzPct val="100000"/>
              <a:buChar char="–"/>
            </a:pPr>
            <a:r>
              <a:rPr lang="en-US" sz="1050" dirty="0">
                <a:solidFill>
                  <a:srgbClr val="2A2F36"/>
                </a:solidFill>
                <a:latin typeface="Calibri" pitchFamily="34" charset="0"/>
                <a:ea typeface="Calibri" pitchFamily="34" charset="-122"/>
                <a:cs typeface="Calibri" pitchFamily="34" charset="-120"/>
              </a:rPr>
              <a:t>One pursuit lead with distributed execution</a:t>
            </a:r>
            <a:endParaRPr lang="en-US" sz="1050" dirty="0"/>
          </a:p>
          <a:p>
            <a:pPr marL="127000" indent="-127000">
              <a:lnSpc>
                <a:spcPts val="1300"/>
              </a:lnSpc>
              <a:spcAft>
                <a:spcPts val="800"/>
              </a:spcAft>
              <a:buSzPct val="100000"/>
              <a:buChar char="–"/>
            </a:pPr>
            <a:r>
              <a:rPr lang="en-US" sz="1050" dirty="0">
                <a:solidFill>
                  <a:srgbClr val="2A2F36"/>
                </a:solidFill>
                <a:latin typeface="Calibri" pitchFamily="34" charset="0"/>
                <a:ea typeface="Calibri" pitchFamily="34" charset="-122"/>
                <a:cs typeface="Calibri" pitchFamily="34" charset="-120"/>
              </a:rPr>
              <a:t>Needs explicit authority, participation, escalation</a:t>
            </a:r>
            <a:endParaRPr lang="en-US" sz="1050" dirty="0"/>
          </a:p>
          <a:p>
            <a:pPr marL="127000" indent="-127000">
              <a:lnSpc>
                <a:spcPts val="1300"/>
              </a:lnSpc>
              <a:spcAft>
                <a:spcPts val="800"/>
              </a:spcAft>
              <a:buSzPct val="100000"/>
              <a:buChar char="–"/>
            </a:pPr>
            <a:r>
              <a:rPr lang="en-US" sz="1050" dirty="0">
                <a:solidFill>
                  <a:srgbClr val="2A2F36"/>
                </a:solidFill>
                <a:latin typeface="Calibri" pitchFamily="34" charset="0"/>
                <a:ea typeface="Calibri" pitchFamily="34" charset="-122"/>
                <a:cs typeface="Calibri" pitchFamily="34" charset="-120"/>
              </a:rPr>
              <a:t>Best fit with the working mandate and evidence</a:t>
            </a:r>
            <a:endParaRPr lang="en-US" sz="1050" dirty="0"/>
          </a:p>
        </p:txBody>
      </p:sp>
      <p:sp>
        <p:nvSpPr>
          <p:cNvPr id="16" name="Shape 14"/>
          <p:cNvSpPr/>
          <p:nvPr/>
        </p:nvSpPr>
        <p:spPr>
          <a:xfrm>
            <a:off x="8110728" y="1463040"/>
            <a:ext cx="3575304" cy="4206240"/>
          </a:xfrm>
          <a:prstGeom prst="rect">
            <a:avLst/>
          </a:prstGeom>
          <a:solidFill>
            <a:srgbClr val="F7F9FB"/>
          </a:solidFill>
          <a:ln w="9525">
            <a:solidFill>
              <a:srgbClr val="C9D2DB"/>
            </a:solidFill>
            <a:prstDash val="solid"/>
          </a:ln>
        </p:spPr>
      </p:sp>
      <p:sp>
        <p:nvSpPr>
          <p:cNvPr id="17" name="Text 15"/>
          <p:cNvSpPr/>
          <p:nvPr/>
        </p:nvSpPr>
        <p:spPr>
          <a:xfrm>
            <a:off x="8275320" y="1600200"/>
            <a:ext cx="3246120" cy="365760"/>
          </a:xfrm>
          <a:prstGeom prst="rect">
            <a:avLst/>
          </a:prstGeom>
          <a:noFill/>
          <a:ln/>
        </p:spPr>
        <p:txBody>
          <a:bodyPr wrap="square" lIns="0" tIns="0" rIns="0" bIns="0" rtlCol="0" anchor="ctr"/>
          <a:lstStyle/>
          <a:p>
            <a:pPr indent="0" marL="0">
              <a:buNone/>
            </a:pPr>
            <a:r>
              <a:rPr lang="en-US" sz="1450" b="1" dirty="0">
                <a:solidFill>
                  <a:srgbClr val="1F3B57"/>
                </a:solidFill>
                <a:latin typeface="Calibri" pitchFamily="34" charset="0"/>
                <a:ea typeface="Calibri" pitchFamily="34" charset="-122"/>
                <a:cs typeface="Calibri" pitchFamily="34" charset="-120"/>
              </a:rPr>
              <a:t>3. Standalone vertical</a:t>
            </a:r>
            <a:endParaRPr lang="en-US" sz="1450" dirty="0"/>
          </a:p>
        </p:txBody>
      </p:sp>
      <p:sp>
        <p:nvSpPr>
          <p:cNvPr id="18" name="Shape 16"/>
          <p:cNvSpPr/>
          <p:nvPr/>
        </p:nvSpPr>
        <p:spPr>
          <a:xfrm>
            <a:off x="8275320" y="2011680"/>
            <a:ext cx="3246120" cy="502920"/>
          </a:xfrm>
          <a:prstGeom prst="rect">
            <a:avLst/>
          </a:prstGeom>
          <a:solidFill>
            <a:srgbClr val="5B6573"/>
          </a:solidFill>
          <a:ln/>
        </p:spPr>
      </p:sp>
      <p:sp>
        <p:nvSpPr>
          <p:cNvPr id="19" name="Text 17"/>
          <p:cNvSpPr/>
          <p:nvPr/>
        </p:nvSpPr>
        <p:spPr>
          <a:xfrm>
            <a:off x="8330184" y="2011680"/>
            <a:ext cx="3136392" cy="502920"/>
          </a:xfrm>
          <a:prstGeom prst="rect">
            <a:avLst/>
          </a:prstGeom>
          <a:noFill/>
          <a:ln/>
        </p:spPr>
        <p:txBody>
          <a:bodyPr wrap="square" lIns="0" tIns="0" rIns="0" bIns="0" rtlCol="0" anchor="ctr"/>
          <a:lstStyle/>
          <a:p>
            <a:pPr indent="0" marL="0">
              <a:lnSpc>
                <a:spcPts val="1200"/>
              </a:lnSpc>
              <a:buNone/>
            </a:pPr>
            <a:r>
              <a:rPr lang="en-US" sz="1000" b="1" dirty="0">
                <a:solidFill>
                  <a:srgbClr val="FFFFFF"/>
                </a:solidFill>
                <a:latin typeface="Calibri" pitchFamily="34" charset="0"/>
                <a:ea typeface="Calibri" pitchFamily="34" charset="-122"/>
                <a:cs typeface="Calibri" pitchFamily="34" charset="-120"/>
              </a:rPr>
              <a:t>RECONSIDER ONLY WITH PILOT EVIDENCE</a:t>
            </a:r>
            <a:endParaRPr lang="en-US" sz="1000" dirty="0"/>
          </a:p>
        </p:txBody>
      </p:sp>
      <p:sp>
        <p:nvSpPr>
          <p:cNvPr id="20" name="Text 18"/>
          <p:cNvSpPr/>
          <p:nvPr/>
        </p:nvSpPr>
        <p:spPr>
          <a:xfrm>
            <a:off x="8311896" y="2697480"/>
            <a:ext cx="3191256" cy="2834640"/>
          </a:xfrm>
          <a:prstGeom prst="rect">
            <a:avLst/>
          </a:prstGeom>
          <a:noFill/>
          <a:ln/>
        </p:spPr>
        <p:txBody>
          <a:bodyPr wrap="square" lIns="0" tIns="0" rIns="0" bIns="0" rtlCol="0" anchor="t"/>
          <a:lstStyle/>
          <a:p>
            <a:pPr marL="127000" indent="-127000">
              <a:lnSpc>
                <a:spcPts val="1300"/>
              </a:lnSpc>
              <a:spcAft>
                <a:spcPts val="800"/>
              </a:spcAft>
              <a:buSzPct val="100000"/>
              <a:buChar char="–"/>
            </a:pPr>
            <a:r>
              <a:rPr lang="en-US" sz="1050" dirty="0">
                <a:solidFill>
                  <a:srgbClr val="2A2F36"/>
                </a:solidFill>
                <a:latin typeface="Calibri" pitchFamily="34" charset="0"/>
                <a:ea typeface="Calibri" pitchFamily="34" charset="-122"/>
                <a:cs typeface="Calibri" pitchFamily="34" charset="-120"/>
              </a:rPr>
              <a:t>Maximum structural clarity, eventually</a:t>
            </a:r>
            <a:endParaRPr lang="en-US" sz="1050" dirty="0"/>
          </a:p>
          <a:p>
            <a:pPr marL="127000" indent="-127000">
              <a:lnSpc>
                <a:spcPts val="1300"/>
              </a:lnSpc>
              <a:spcAft>
                <a:spcPts val="800"/>
              </a:spcAft>
              <a:buSzPct val="100000"/>
              <a:buChar char="–"/>
            </a:pPr>
            <a:r>
              <a:rPr lang="en-US" sz="1050" dirty="0">
                <a:solidFill>
                  <a:srgbClr val="2A2F36"/>
                </a:solidFill>
                <a:latin typeface="Calibri" pitchFamily="34" charset="0"/>
                <a:ea typeface="Calibri" pitchFamily="34" charset="-122"/>
                <a:cs typeface="Calibri" pitchFamily="34" charset="-120"/>
              </a:rPr>
              <a:t>Highest disruption, resourcing, and P&amp;L conflict</a:t>
            </a:r>
            <a:endParaRPr lang="en-US" sz="1050" dirty="0"/>
          </a:p>
          <a:p>
            <a:pPr marL="127000" indent="-127000">
              <a:lnSpc>
                <a:spcPts val="1300"/>
              </a:lnSpc>
              <a:spcAft>
                <a:spcPts val="800"/>
              </a:spcAft>
              <a:buSzPct val="100000"/>
              <a:buChar char="–"/>
            </a:pPr>
            <a:r>
              <a:rPr lang="en-US" sz="1050" dirty="0">
                <a:solidFill>
                  <a:srgbClr val="2A2F36"/>
                </a:solidFill>
                <a:latin typeface="Calibri" pitchFamily="34" charset="0"/>
                <a:ea typeface="Calibri" pitchFamily="34" charset="-122"/>
                <a:cs typeface="Calibri" pitchFamily="34" charset="-120"/>
              </a:rPr>
              <a:t>Account transfer contested during transition</a:t>
            </a:r>
            <a:endParaRPr lang="en-US" sz="1050" dirty="0"/>
          </a:p>
          <a:p>
            <a:pPr marL="127000" indent="-127000">
              <a:lnSpc>
                <a:spcPts val="1300"/>
              </a:lnSpc>
              <a:spcAft>
                <a:spcPts val="800"/>
              </a:spcAft>
              <a:buSzPct val="100000"/>
              <a:buChar char="–"/>
            </a:pPr>
            <a:r>
              <a:rPr lang="en-US" sz="1050" dirty="0">
                <a:solidFill>
                  <a:srgbClr val="2A2F36"/>
                </a:solidFill>
                <a:latin typeface="Calibri" pitchFamily="34" charset="0"/>
                <a:ea typeface="Calibri" pitchFamily="34" charset="-122"/>
                <a:cs typeface="Calibri" pitchFamily="34" charset="-120"/>
              </a:rPr>
              <a:t>Insufficient current-state and commercial evidence</a:t>
            </a:r>
            <a:endParaRPr lang="en-US" sz="1050" dirty="0"/>
          </a:p>
        </p:txBody>
      </p:sp>
      <p:sp>
        <p:nvSpPr>
          <p:cNvPr id="21" name="Shape 19"/>
          <p:cNvSpPr/>
          <p:nvPr/>
        </p:nvSpPr>
        <p:spPr>
          <a:xfrm>
            <a:off x="502920" y="5806440"/>
            <a:ext cx="11183112" cy="502920"/>
          </a:xfrm>
          <a:prstGeom prst="rect">
            <a:avLst/>
          </a:prstGeom>
          <a:solidFill>
            <a:srgbClr val="1F3B57"/>
          </a:solidFill>
          <a:ln w="9525">
            <a:solidFill>
              <a:srgbClr val="C9D2DB"/>
            </a:solidFill>
            <a:prstDash val="solid"/>
          </a:ln>
        </p:spPr>
      </p:sp>
      <p:sp>
        <p:nvSpPr>
          <p:cNvPr id="22" name="Text 20"/>
          <p:cNvSpPr/>
          <p:nvPr/>
        </p:nvSpPr>
        <p:spPr>
          <a:xfrm>
            <a:off x="685800" y="5806440"/>
            <a:ext cx="10817352" cy="502920"/>
          </a:xfrm>
          <a:prstGeom prst="rect">
            <a:avLst/>
          </a:prstGeom>
          <a:noFill/>
          <a:ln/>
        </p:spPr>
        <p:txBody>
          <a:bodyPr wrap="square" lIns="0" tIns="0" rIns="0" bIns="0" rtlCol="0" anchor="ctr"/>
          <a:lstStyle/>
          <a:p>
            <a:pPr indent="0" marL="0">
              <a:buNone/>
            </a:pPr>
            <a:r>
              <a:rPr lang="en-US" sz="1150" b="1" dirty="0">
                <a:solidFill>
                  <a:srgbClr val="9FB8CE"/>
                </a:solidFill>
                <a:latin typeface="Calibri" pitchFamily="34" charset="0"/>
                <a:ea typeface="Calibri" pitchFamily="34" charset="-122"/>
                <a:cs typeface="Calibri" pitchFamily="34" charset="-120"/>
              </a:rPr>
              <a:t>Structure follows evidence:  </a:t>
            </a:r>
            <a:pPr indent="0" marL="0">
              <a:buNone/>
            </a:pPr>
            <a:r>
              <a:rPr lang="en-US" sz="1150" dirty="0">
                <a:solidFill>
                  <a:srgbClr val="FFFFFF"/>
                </a:solidFill>
                <a:latin typeface="Calibri" pitchFamily="34" charset="0"/>
                <a:ea typeface="Calibri" pitchFamily="34" charset="-122"/>
                <a:cs typeface="Calibri" pitchFamily="34" charset="-120"/>
              </a:rPr>
              <a:t>a vertical is considered only if commercial evidence is real and cross-business decisions still cannot be made under the federated charter.</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3112" cy="256032"/>
          </a:xfrm>
          <a:prstGeom prst="rect">
            <a:avLst/>
          </a:prstGeom>
          <a:noFill/>
          <a:ln/>
        </p:spPr>
        <p:txBody>
          <a:bodyPr wrap="square" lIns="0" tIns="0" rIns="0" bIns="0" rtlCol="0" anchor="ctr"/>
          <a:lstStyle/>
          <a:p>
            <a:pPr indent="0" marL="0">
              <a:buNone/>
            </a:pPr>
            <a:r>
              <a:rPr lang="en-US" sz="1100" b="1" spc="200" kern="0" dirty="0">
                <a:solidFill>
                  <a:srgbClr val="0F6E84"/>
                </a:solidFill>
                <a:latin typeface="Calibri" pitchFamily="34" charset="0"/>
                <a:ea typeface="Calibri" pitchFamily="34" charset="-122"/>
                <a:cs typeface="Calibri" pitchFamily="34" charset="-120"/>
              </a:rPr>
              <a:t>AUTHORITY BOUNDARY</a:t>
            </a:r>
            <a:endParaRPr lang="en-US" sz="1100" dirty="0"/>
          </a:p>
        </p:txBody>
      </p:sp>
      <p:sp>
        <p:nvSpPr>
          <p:cNvPr id="3" name="Text 1"/>
          <p:cNvSpPr/>
          <p:nvPr/>
        </p:nvSpPr>
        <p:spPr>
          <a:xfrm>
            <a:off x="502920" y="530352"/>
            <a:ext cx="11183112" cy="777240"/>
          </a:xfrm>
          <a:prstGeom prst="rect">
            <a:avLst/>
          </a:prstGeom>
          <a:noFill/>
          <a:ln/>
        </p:spPr>
        <p:txBody>
          <a:bodyPr wrap="square" lIns="0" tIns="0" rIns="0" bIns="0" rtlCol="0" anchor="t"/>
          <a:lstStyle/>
          <a:p>
            <a:pPr indent="0" marL="0">
              <a:buNone/>
            </a:pPr>
            <a:r>
              <a:rPr lang="en-US" sz="2100" b="1" dirty="0">
                <a:solidFill>
                  <a:srgbClr val="1F3B57"/>
                </a:solidFill>
                <a:latin typeface="Calibri" pitchFamily="34" charset="0"/>
                <a:ea typeface="Calibri" pitchFamily="34" charset="-122"/>
                <a:cs typeface="Calibri" pitchFamily="34" charset="-120"/>
              </a:rPr>
              <a:t>The pilot changes decision-making, not ownership: what PowerGen runs, what it may never do, what the businesses keep</a:t>
            </a:r>
            <a:endParaRPr lang="en-US" sz="2100" dirty="0"/>
          </a:p>
        </p:txBody>
      </p:sp>
      <p:sp>
        <p:nvSpPr>
          <p:cNvPr id="4" name="Text 2"/>
          <p:cNvSpPr/>
          <p:nvPr/>
        </p:nvSpPr>
        <p:spPr>
          <a:xfrm>
            <a:off x="502920" y="6473952"/>
            <a:ext cx="10085832" cy="274320"/>
          </a:xfrm>
          <a:prstGeom prst="rect">
            <a:avLst/>
          </a:prstGeom>
          <a:noFill/>
          <a:ln/>
        </p:spPr>
        <p:txBody>
          <a:bodyPr wrap="square" lIns="0" tIns="0" rIns="0" bIns="0" rtlCol="0" anchor="ctr"/>
          <a:lstStyle/>
          <a:p>
            <a:pPr indent="0" marL="0">
              <a:buNone/>
            </a:pPr>
            <a:r>
              <a:rPr lang="en-US" sz="850" dirty="0">
                <a:solidFill>
                  <a:srgbClr val="5B6573"/>
                </a:solidFill>
                <a:latin typeface="Calibri" pitchFamily="34" charset="0"/>
                <a:ea typeface="Calibri" pitchFamily="34" charset="-122"/>
                <a:cs typeface="Calibri" pitchFamily="34" charset="-120"/>
              </a:rPr>
              <a:t>Source: 03_Operating_Model_Options (explicit authority boundary, proposed decision rights). Effective only on Marc’s approval of D-03.</a:t>
            </a:r>
            <a:endParaRPr lang="en-US" sz="850" dirty="0"/>
          </a:p>
        </p:txBody>
      </p:sp>
      <p:sp>
        <p:nvSpPr>
          <p:cNvPr id="5" name="Text 3"/>
          <p:cNvSpPr/>
          <p:nvPr/>
        </p:nvSpPr>
        <p:spPr>
          <a:xfrm>
            <a:off x="10268712" y="6473952"/>
            <a:ext cx="1417320" cy="274320"/>
          </a:xfrm>
          <a:prstGeom prst="rect">
            <a:avLst/>
          </a:prstGeom>
          <a:noFill/>
          <a:ln/>
        </p:spPr>
        <p:txBody>
          <a:bodyPr wrap="square" lIns="0" tIns="0" rIns="0" bIns="0" rtlCol="0" anchor="ctr"/>
          <a:lstStyle/>
          <a:p>
            <a:pPr algn="r" indent="0" marL="0">
              <a:buNone/>
            </a:pPr>
            <a:r>
              <a:rPr lang="en-US" sz="850" dirty="0">
                <a:solidFill>
                  <a:srgbClr val="5B6573"/>
                </a:solidFill>
                <a:latin typeface="Calibri" pitchFamily="34" charset="0"/>
                <a:ea typeface="Calibri" pitchFamily="34" charset="-122"/>
                <a:cs typeface="Calibri" pitchFamily="34" charset="-120"/>
              </a:rPr>
              <a:t>SOUTHWIRE POWERGEN | v0  </a:t>
            </a:r>
            <a:pPr algn="r" indent="0" marL="0">
              <a:buNone/>
            </a:pPr>
            <a:r>
              <a:rPr lang="en-US" sz="850" b="1" dirty="0">
                <a:solidFill>
                  <a:srgbClr val="1F3B57"/>
                </a:solidFill>
                <a:latin typeface="Calibri" pitchFamily="34" charset="0"/>
                <a:ea typeface="Calibri" pitchFamily="34" charset="-122"/>
                <a:cs typeface="Calibri" pitchFamily="34" charset="-120"/>
              </a:rPr>
              <a:t>10</a:t>
            </a:r>
            <a:endParaRPr lang="en-US" sz="850" dirty="0"/>
          </a:p>
        </p:txBody>
      </p:sp>
      <p:sp>
        <p:nvSpPr>
          <p:cNvPr id="6" name="Shape 4"/>
          <p:cNvSpPr/>
          <p:nvPr/>
        </p:nvSpPr>
        <p:spPr>
          <a:xfrm>
            <a:off x="502920" y="1463040"/>
            <a:ext cx="3575304" cy="457200"/>
          </a:xfrm>
          <a:prstGeom prst="rect">
            <a:avLst/>
          </a:prstGeom>
          <a:solidFill>
            <a:srgbClr val="0F6E84"/>
          </a:solidFill>
          <a:ln/>
        </p:spPr>
      </p:sp>
      <p:sp>
        <p:nvSpPr>
          <p:cNvPr id="7" name="Text 5"/>
          <p:cNvSpPr/>
          <p:nvPr/>
        </p:nvSpPr>
        <p:spPr>
          <a:xfrm>
            <a:off x="502920" y="1463040"/>
            <a:ext cx="3575304"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POWERGEN RUNS</a:t>
            </a:r>
            <a:endParaRPr lang="en-US" sz="1250" dirty="0"/>
          </a:p>
        </p:txBody>
      </p:sp>
      <p:sp>
        <p:nvSpPr>
          <p:cNvPr id="8" name="Shape 6"/>
          <p:cNvSpPr/>
          <p:nvPr/>
        </p:nvSpPr>
        <p:spPr>
          <a:xfrm>
            <a:off x="502920" y="1920240"/>
            <a:ext cx="3575304" cy="3977640"/>
          </a:xfrm>
          <a:prstGeom prst="rect">
            <a:avLst/>
          </a:prstGeom>
          <a:solidFill>
            <a:srgbClr val="F7F9FB"/>
          </a:solidFill>
          <a:ln w="9525">
            <a:solidFill>
              <a:srgbClr val="C9D2DB"/>
            </a:solidFill>
            <a:prstDash val="solid"/>
          </a:ln>
        </p:spPr>
      </p:sp>
      <p:sp>
        <p:nvSpPr>
          <p:cNvPr id="9" name="Text 7"/>
          <p:cNvSpPr/>
          <p:nvPr/>
        </p:nvSpPr>
        <p:spPr>
          <a:xfrm>
            <a:off x="685800" y="2103120"/>
            <a:ext cx="3209544" cy="3657600"/>
          </a:xfrm>
          <a:prstGeom prst="rect">
            <a:avLst/>
          </a:prstGeom>
          <a:noFill/>
          <a:ln/>
        </p:spPr>
        <p:txBody>
          <a:bodyPr wrap="square" lIns="0" tIns="0" rIns="0" bIns="0" rtlCol="0" anchor="t"/>
          <a:lstStyle/>
          <a:p>
            <a:pPr marL="127000" indent="-127000">
              <a:lnSpc>
                <a:spcPts val="1300"/>
              </a:lnSpc>
              <a:spcAft>
                <a:spcPts val="900"/>
              </a:spcAft>
              <a:buSzPct val="100000"/>
              <a:buChar char="–"/>
            </a:pPr>
            <a:r>
              <a:rPr lang="en-US" sz="1050" dirty="0">
                <a:solidFill>
                  <a:srgbClr val="2A2F36"/>
                </a:solidFill>
                <a:latin typeface="Calibri" pitchFamily="34" charset="0"/>
                <a:ea typeface="Calibri" pitchFamily="34" charset="-122"/>
                <a:cs typeface="Calibri" pitchFamily="34" charset="-120"/>
              </a:rPr>
              <a:t>Strategy development and portfolio recommendations</a:t>
            </a:r>
            <a:endParaRPr lang="en-US" sz="1050" dirty="0"/>
          </a:p>
          <a:p>
            <a:pPr marL="127000" indent="-127000">
              <a:lnSpc>
                <a:spcPts val="1300"/>
              </a:lnSpc>
              <a:spcAft>
                <a:spcPts val="900"/>
              </a:spcAft>
              <a:buSzPct val="100000"/>
              <a:buChar char="–"/>
            </a:pPr>
            <a:r>
              <a:rPr lang="en-US" sz="1050" dirty="0">
                <a:solidFill>
                  <a:srgbClr val="2A2F36"/>
                </a:solidFill>
                <a:latin typeface="Calibri" pitchFamily="34" charset="0"/>
                <a:ea typeface="Calibri" pitchFamily="34" charset="-122"/>
                <a:cs typeface="Calibri" pitchFamily="34" charset="-120"/>
              </a:rPr>
              <a:t>Consolidated account and project view; stage taxonomy proposal</a:t>
            </a:r>
            <a:endParaRPr lang="en-US" sz="1050" dirty="0"/>
          </a:p>
          <a:p>
            <a:pPr marL="127000" indent="-127000">
              <a:lnSpc>
                <a:spcPts val="1300"/>
              </a:lnSpc>
              <a:spcAft>
                <a:spcPts val="900"/>
              </a:spcAft>
              <a:buSzPct val="100000"/>
              <a:buChar char="–"/>
            </a:pPr>
            <a:r>
              <a:rPr lang="en-US" sz="1050" dirty="0">
                <a:solidFill>
                  <a:srgbClr val="2A2F36"/>
                </a:solidFill>
                <a:latin typeface="Calibri" pitchFamily="34" charset="0"/>
                <a:ea typeface="Calibri" pitchFamily="34" charset="-122"/>
                <a:cs typeface="Calibri" pitchFamily="34" charset="-120"/>
              </a:rPr>
              <a:t>Discovery standards and pursuit charters</a:t>
            </a:r>
            <a:endParaRPr lang="en-US" sz="1050" dirty="0"/>
          </a:p>
          <a:p>
            <a:pPr marL="127000" indent="-127000">
              <a:lnSpc>
                <a:spcPts val="1300"/>
              </a:lnSpc>
              <a:spcAft>
                <a:spcPts val="900"/>
              </a:spcAft>
              <a:buSzPct val="100000"/>
              <a:buChar char="–"/>
            </a:pPr>
            <a:r>
              <a:rPr lang="en-US" sz="1050" dirty="0">
                <a:solidFill>
                  <a:srgbClr val="2A2F36"/>
                </a:solidFill>
                <a:latin typeface="Calibri" pitchFamily="34" charset="0"/>
                <a:ea typeface="Calibri" pitchFamily="34" charset="-122"/>
                <a:cs typeface="Calibri" pitchFamily="34" charset="-120"/>
              </a:rPr>
              <a:t>Lighthouse-pursuit orchestration</a:t>
            </a:r>
            <a:endParaRPr lang="en-US" sz="1050" dirty="0"/>
          </a:p>
          <a:p>
            <a:pPr marL="127000" indent="-127000">
              <a:lnSpc>
                <a:spcPts val="1300"/>
              </a:lnSpc>
              <a:spcAft>
                <a:spcPts val="900"/>
              </a:spcAft>
              <a:buSzPct val="100000"/>
              <a:buChar char="–"/>
            </a:pPr>
            <a:r>
              <a:rPr lang="en-US" sz="1050" dirty="0">
                <a:solidFill>
                  <a:srgbClr val="2A2F36"/>
                </a:solidFill>
                <a:latin typeface="Calibri" pitchFamily="34" charset="0"/>
                <a:ea typeface="Calibri" pitchFamily="34" charset="-122"/>
                <a:cs typeface="Calibri" pitchFamily="34" charset="-120"/>
              </a:rPr>
              <a:t>Escalation of account, capacity, route, and credit conflicts</a:t>
            </a:r>
            <a:endParaRPr lang="en-US" sz="1050" dirty="0"/>
          </a:p>
          <a:p>
            <a:pPr marL="127000" indent="-127000">
              <a:lnSpc>
                <a:spcPts val="1300"/>
              </a:lnSpc>
              <a:spcAft>
                <a:spcPts val="900"/>
              </a:spcAft>
              <a:buSzPct val="100000"/>
              <a:buChar char="–"/>
            </a:pPr>
            <a:r>
              <a:rPr lang="en-US" sz="1050" dirty="0">
                <a:solidFill>
                  <a:srgbClr val="2A2F36"/>
                </a:solidFill>
                <a:latin typeface="Calibri" pitchFamily="34" charset="0"/>
                <a:ea typeface="Calibri" pitchFamily="34" charset="-122"/>
                <a:cs typeface="Calibri" pitchFamily="34" charset="-120"/>
              </a:rPr>
              <a:t>Leadership reporting and the executive narrative</a:t>
            </a:r>
            <a:endParaRPr lang="en-US" sz="1050" dirty="0"/>
          </a:p>
        </p:txBody>
      </p:sp>
      <p:sp>
        <p:nvSpPr>
          <p:cNvPr id="10" name="Shape 8"/>
          <p:cNvSpPr/>
          <p:nvPr/>
        </p:nvSpPr>
        <p:spPr>
          <a:xfrm>
            <a:off x="4306824" y="1463040"/>
            <a:ext cx="3575304" cy="457200"/>
          </a:xfrm>
          <a:prstGeom prst="rect">
            <a:avLst/>
          </a:prstGeom>
          <a:solidFill>
            <a:srgbClr val="9C3D3D"/>
          </a:solidFill>
          <a:ln/>
        </p:spPr>
      </p:sp>
      <p:sp>
        <p:nvSpPr>
          <p:cNvPr id="11" name="Text 9"/>
          <p:cNvSpPr/>
          <p:nvPr/>
        </p:nvSpPr>
        <p:spPr>
          <a:xfrm>
            <a:off x="4306824" y="1463040"/>
            <a:ext cx="3575304"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POWERGEN MAY NOT</a:t>
            </a:r>
            <a:endParaRPr lang="en-US" sz="1250" dirty="0"/>
          </a:p>
        </p:txBody>
      </p:sp>
      <p:sp>
        <p:nvSpPr>
          <p:cNvPr id="12" name="Shape 10"/>
          <p:cNvSpPr/>
          <p:nvPr/>
        </p:nvSpPr>
        <p:spPr>
          <a:xfrm>
            <a:off x="4306824" y="1920240"/>
            <a:ext cx="3575304" cy="3977640"/>
          </a:xfrm>
          <a:prstGeom prst="rect">
            <a:avLst/>
          </a:prstGeom>
          <a:solidFill>
            <a:srgbClr val="F7F9FB"/>
          </a:solidFill>
          <a:ln w="9525">
            <a:solidFill>
              <a:srgbClr val="C9D2DB"/>
            </a:solidFill>
            <a:prstDash val="solid"/>
          </a:ln>
        </p:spPr>
      </p:sp>
      <p:sp>
        <p:nvSpPr>
          <p:cNvPr id="13" name="Text 11"/>
          <p:cNvSpPr/>
          <p:nvPr/>
        </p:nvSpPr>
        <p:spPr>
          <a:xfrm>
            <a:off x="4489704" y="2103120"/>
            <a:ext cx="3209544" cy="3657600"/>
          </a:xfrm>
          <a:prstGeom prst="rect">
            <a:avLst/>
          </a:prstGeom>
          <a:noFill/>
          <a:ln/>
        </p:spPr>
        <p:txBody>
          <a:bodyPr wrap="square" lIns="0" tIns="0" rIns="0" bIns="0" rtlCol="0" anchor="t"/>
          <a:lstStyle/>
          <a:p>
            <a:pPr marL="127000" indent="-127000">
              <a:lnSpc>
                <a:spcPts val="1300"/>
              </a:lnSpc>
              <a:spcAft>
                <a:spcPts val="900"/>
              </a:spcAft>
              <a:buSzPct val="100000"/>
              <a:buChar char="–"/>
            </a:pPr>
            <a:r>
              <a:rPr lang="en-US" sz="1050" dirty="0">
                <a:solidFill>
                  <a:srgbClr val="2A2F36"/>
                </a:solidFill>
                <a:latin typeface="Calibri" pitchFamily="34" charset="0"/>
                <a:ea typeface="Calibri" pitchFamily="34" charset="-122"/>
                <a:cs typeface="Calibri" pitchFamily="34" charset="-120"/>
              </a:rPr>
              <a:t>Reassign an existing account unilaterally</a:t>
            </a:r>
            <a:endParaRPr lang="en-US" sz="1050" dirty="0"/>
          </a:p>
          <a:p>
            <a:pPr marL="127000" indent="-127000">
              <a:lnSpc>
                <a:spcPts val="1300"/>
              </a:lnSpc>
              <a:spcAft>
                <a:spcPts val="900"/>
              </a:spcAft>
              <a:buSzPct val="100000"/>
              <a:buChar char="–"/>
            </a:pPr>
            <a:r>
              <a:rPr lang="en-US" sz="1050" dirty="0">
                <a:solidFill>
                  <a:srgbClr val="2A2F36"/>
                </a:solidFill>
                <a:latin typeface="Calibri" pitchFamily="34" charset="0"/>
                <a:ea typeface="Calibri" pitchFamily="34" charset="-122"/>
                <a:cs typeface="Calibri" pitchFamily="34" charset="-120"/>
              </a:rPr>
              <a:t>Quote or approve pricing outside existing authority</a:t>
            </a:r>
            <a:endParaRPr lang="en-US" sz="1050" dirty="0"/>
          </a:p>
          <a:p>
            <a:pPr marL="127000" indent="-127000">
              <a:lnSpc>
                <a:spcPts val="1300"/>
              </a:lnSpc>
              <a:spcAft>
                <a:spcPts val="900"/>
              </a:spcAft>
              <a:buSzPct val="100000"/>
              <a:buChar char="–"/>
            </a:pPr>
            <a:r>
              <a:rPr lang="en-US" sz="1050" dirty="0">
                <a:solidFill>
                  <a:srgbClr val="2A2F36"/>
                </a:solidFill>
                <a:latin typeface="Calibri" pitchFamily="34" charset="0"/>
                <a:ea typeface="Calibri" pitchFamily="34" charset="-122"/>
                <a:cs typeface="Calibri" pitchFamily="34" charset="-120"/>
              </a:rPr>
              <a:t>Promise capacity, lead time, engineering, or delivery</a:t>
            </a:r>
            <a:endParaRPr lang="en-US" sz="1050" dirty="0"/>
          </a:p>
          <a:p>
            <a:pPr marL="127000" indent="-127000">
              <a:lnSpc>
                <a:spcPts val="1300"/>
              </a:lnSpc>
              <a:spcAft>
                <a:spcPts val="900"/>
              </a:spcAft>
              <a:buSzPct val="100000"/>
              <a:buChar char="–"/>
            </a:pPr>
            <a:r>
              <a:rPr lang="en-US" sz="1050" dirty="0">
                <a:solidFill>
                  <a:srgbClr val="2A2F36"/>
                </a:solidFill>
                <a:latin typeface="Calibri" pitchFamily="34" charset="0"/>
                <a:ea typeface="Calibri" pitchFamily="34" charset="-122"/>
                <a:cs typeface="Calibri" pitchFamily="34" charset="-120"/>
              </a:rPr>
              <a:t>Change a distributor, agent, or direct route unilaterally</a:t>
            </a:r>
            <a:endParaRPr lang="en-US" sz="1050" dirty="0"/>
          </a:p>
          <a:p>
            <a:pPr marL="127000" indent="-127000">
              <a:lnSpc>
                <a:spcPts val="1300"/>
              </a:lnSpc>
              <a:spcAft>
                <a:spcPts val="900"/>
              </a:spcAft>
              <a:buSzPct val="100000"/>
              <a:buChar char="–"/>
            </a:pPr>
            <a:r>
              <a:rPr lang="en-US" sz="1050" dirty="0">
                <a:solidFill>
                  <a:srgbClr val="2A2F36"/>
                </a:solidFill>
                <a:latin typeface="Calibri" pitchFamily="34" charset="0"/>
                <a:ea typeface="Calibri" pitchFamily="34" charset="-122"/>
                <a:cs typeface="Calibri" pitchFamily="34" charset="-120"/>
              </a:rPr>
              <a:t>Commit a product team, site, or service group</a:t>
            </a:r>
            <a:endParaRPr lang="en-US" sz="1050" dirty="0"/>
          </a:p>
          <a:p>
            <a:pPr marL="127000" indent="-127000">
              <a:lnSpc>
                <a:spcPts val="1300"/>
              </a:lnSpc>
              <a:spcAft>
                <a:spcPts val="900"/>
              </a:spcAft>
              <a:buSzPct val="100000"/>
              <a:buChar char="–"/>
            </a:pPr>
            <a:r>
              <a:rPr lang="en-US" sz="1050" dirty="0">
                <a:solidFill>
                  <a:srgbClr val="2A2F36"/>
                </a:solidFill>
                <a:latin typeface="Calibri" pitchFamily="34" charset="0"/>
                <a:ea typeface="Calibri" pitchFamily="34" charset="-122"/>
                <a:cs typeface="Calibri" pitchFamily="34" charset="-120"/>
              </a:rPr>
              <a:t>Take P&amp;L, warranty, or booked revenue; present influence as an award</a:t>
            </a:r>
            <a:endParaRPr lang="en-US" sz="1050" dirty="0"/>
          </a:p>
        </p:txBody>
      </p:sp>
      <p:sp>
        <p:nvSpPr>
          <p:cNvPr id="14" name="Shape 12"/>
          <p:cNvSpPr/>
          <p:nvPr/>
        </p:nvSpPr>
        <p:spPr>
          <a:xfrm>
            <a:off x="8110728" y="1463040"/>
            <a:ext cx="3575304" cy="457200"/>
          </a:xfrm>
          <a:prstGeom prst="rect">
            <a:avLst/>
          </a:prstGeom>
          <a:solidFill>
            <a:srgbClr val="1F3B57"/>
          </a:solidFill>
          <a:ln/>
        </p:spPr>
      </p:sp>
      <p:sp>
        <p:nvSpPr>
          <p:cNvPr id="15" name="Text 13"/>
          <p:cNvSpPr/>
          <p:nvPr/>
        </p:nvSpPr>
        <p:spPr>
          <a:xfrm>
            <a:off x="8110728" y="1463040"/>
            <a:ext cx="3575304"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BUSINESSES KEEP</a:t>
            </a:r>
            <a:endParaRPr lang="en-US" sz="1250" dirty="0"/>
          </a:p>
        </p:txBody>
      </p:sp>
      <p:sp>
        <p:nvSpPr>
          <p:cNvPr id="16" name="Shape 14"/>
          <p:cNvSpPr/>
          <p:nvPr/>
        </p:nvSpPr>
        <p:spPr>
          <a:xfrm>
            <a:off x="8110728" y="1920240"/>
            <a:ext cx="3575304" cy="3977640"/>
          </a:xfrm>
          <a:prstGeom prst="rect">
            <a:avLst/>
          </a:prstGeom>
          <a:solidFill>
            <a:srgbClr val="F7F9FB"/>
          </a:solidFill>
          <a:ln w="9525">
            <a:solidFill>
              <a:srgbClr val="C9D2DB"/>
            </a:solidFill>
            <a:prstDash val="solid"/>
          </a:ln>
        </p:spPr>
      </p:sp>
      <p:sp>
        <p:nvSpPr>
          <p:cNvPr id="17" name="Text 15"/>
          <p:cNvSpPr/>
          <p:nvPr/>
        </p:nvSpPr>
        <p:spPr>
          <a:xfrm>
            <a:off x="8293608" y="2103120"/>
            <a:ext cx="3209544" cy="3657600"/>
          </a:xfrm>
          <a:prstGeom prst="rect">
            <a:avLst/>
          </a:prstGeom>
          <a:noFill/>
          <a:ln/>
        </p:spPr>
        <p:txBody>
          <a:bodyPr wrap="square" lIns="0" tIns="0" rIns="0" bIns="0" rtlCol="0" anchor="t"/>
          <a:lstStyle/>
          <a:p>
            <a:pPr marL="127000" indent="-127000">
              <a:lnSpc>
                <a:spcPts val="1300"/>
              </a:lnSpc>
              <a:spcAft>
                <a:spcPts val="900"/>
              </a:spcAft>
              <a:buSzPct val="100000"/>
              <a:buChar char="–"/>
            </a:pPr>
            <a:r>
              <a:rPr lang="en-US" sz="1050" dirty="0">
                <a:solidFill>
                  <a:srgbClr val="2A2F36"/>
                </a:solidFill>
                <a:latin typeface="Calibri" pitchFamily="34" charset="0"/>
                <a:ea typeface="Calibri" pitchFamily="34" charset="-122"/>
                <a:cs typeface="Calibri" pitchFamily="34" charset="-120"/>
              </a:rPr>
              <a:t>Product authority and technical obligations</a:t>
            </a:r>
            <a:endParaRPr lang="en-US" sz="1050" dirty="0"/>
          </a:p>
          <a:p>
            <a:pPr marL="127000" indent="-127000">
              <a:lnSpc>
                <a:spcPts val="1300"/>
              </a:lnSpc>
              <a:spcAft>
                <a:spcPts val="900"/>
              </a:spcAft>
              <a:buSzPct val="100000"/>
              <a:buChar char="–"/>
            </a:pPr>
            <a:r>
              <a:rPr lang="en-US" sz="1050" dirty="0">
                <a:solidFill>
                  <a:srgbClr val="2A2F36"/>
                </a:solidFill>
                <a:latin typeface="Calibri" pitchFamily="34" charset="0"/>
                <a:ea typeface="Calibri" pitchFamily="34" charset="-122"/>
                <a:cs typeface="Calibri" pitchFamily="34" charset="-120"/>
              </a:rPr>
              <a:t>Pricing, quoting, and margin under current rules</a:t>
            </a:r>
            <a:endParaRPr lang="en-US" sz="1050" dirty="0"/>
          </a:p>
          <a:p>
            <a:pPr marL="127000" indent="-127000">
              <a:lnSpc>
                <a:spcPts val="1300"/>
              </a:lnSpc>
              <a:spcAft>
                <a:spcPts val="900"/>
              </a:spcAft>
              <a:buSzPct val="100000"/>
              <a:buChar char="–"/>
            </a:pPr>
            <a:r>
              <a:rPr lang="en-US" sz="1050" dirty="0">
                <a:solidFill>
                  <a:srgbClr val="2A2F36"/>
                </a:solidFill>
                <a:latin typeface="Calibri" pitchFamily="34" charset="0"/>
                <a:ea typeface="Calibri" pitchFamily="34" charset="-122"/>
                <a:cs typeface="Calibri" pitchFamily="34" charset="-120"/>
              </a:rPr>
              <a:t>Manufacturing, capacity, and fulfillment</a:t>
            </a:r>
            <a:endParaRPr lang="en-US" sz="1050" dirty="0"/>
          </a:p>
          <a:p>
            <a:pPr marL="127000" indent="-127000">
              <a:lnSpc>
                <a:spcPts val="1300"/>
              </a:lnSpc>
              <a:spcAft>
                <a:spcPts val="900"/>
              </a:spcAft>
              <a:buSzPct val="100000"/>
              <a:buChar char="–"/>
            </a:pPr>
            <a:r>
              <a:rPr lang="en-US" sz="1050" dirty="0">
                <a:solidFill>
                  <a:srgbClr val="2A2F36"/>
                </a:solidFill>
                <a:latin typeface="Calibri" pitchFamily="34" charset="0"/>
                <a:ea typeface="Calibri" pitchFamily="34" charset="-122"/>
                <a:cs typeface="Calibri" pitchFamily="34" charset="-120"/>
              </a:rPr>
              <a:t>Channel and agent relationships and commitments</a:t>
            </a:r>
            <a:endParaRPr lang="en-US" sz="1050" dirty="0"/>
          </a:p>
          <a:p>
            <a:pPr marL="127000" indent="-127000">
              <a:lnSpc>
                <a:spcPts val="1300"/>
              </a:lnSpc>
              <a:spcAft>
                <a:spcPts val="900"/>
              </a:spcAft>
              <a:buSzPct val="100000"/>
              <a:buChar char="–"/>
            </a:pPr>
            <a:r>
              <a:rPr lang="en-US" sz="1050" dirty="0">
                <a:solidFill>
                  <a:srgbClr val="2A2F36"/>
                </a:solidFill>
                <a:latin typeface="Calibri" pitchFamily="34" charset="0"/>
                <a:ea typeface="Calibri" pitchFamily="34" charset="-122"/>
                <a:cs typeface="Calibri" pitchFamily="34" charset="-120"/>
              </a:rPr>
              <a:t>Account relationships and execution</a:t>
            </a:r>
            <a:endParaRPr lang="en-US" sz="1050" dirty="0"/>
          </a:p>
          <a:p>
            <a:pPr marL="127000" indent="-127000">
              <a:lnSpc>
                <a:spcPts val="1300"/>
              </a:lnSpc>
              <a:spcAft>
                <a:spcPts val="900"/>
              </a:spcAft>
              <a:buSzPct val="100000"/>
              <a:buChar char="–"/>
            </a:pPr>
            <a:r>
              <a:rPr lang="en-US" sz="1050" dirty="0">
                <a:solidFill>
                  <a:srgbClr val="2A2F36"/>
                </a:solidFill>
                <a:latin typeface="Calibri" pitchFamily="34" charset="0"/>
                <a:ea typeface="Calibri" pitchFamily="34" charset="-122"/>
                <a:cs typeface="Calibri" pitchFamily="34" charset="-120"/>
              </a:rPr>
              <a:t>Warranty, P&amp;L, and all booked revenue</a:t>
            </a:r>
            <a:endParaRPr lang="en-US" sz="1050" dirty="0"/>
          </a:p>
        </p:txBody>
      </p:sp>
      <p:sp>
        <p:nvSpPr>
          <p:cNvPr id="18" name="Text 16"/>
          <p:cNvSpPr/>
          <p:nvPr/>
        </p:nvSpPr>
        <p:spPr>
          <a:xfrm>
            <a:off x="502920" y="5989320"/>
            <a:ext cx="11183112" cy="320040"/>
          </a:xfrm>
          <a:prstGeom prst="rect">
            <a:avLst/>
          </a:prstGeom>
          <a:noFill/>
          <a:ln/>
        </p:spPr>
        <p:txBody>
          <a:bodyPr wrap="square" lIns="0" tIns="0" rIns="0" bIns="0" rtlCol="0" anchor="ctr"/>
          <a:lstStyle/>
          <a:p>
            <a:pPr indent="0" marL="0">
              <a:buNone/>
            </a:pPr>
            <a:r>
              <a:rPr lang="en-US" sz="1100" dirty="0">
                <a:solidFill>
                  <a:srgbClr val="5B6573"/>
                </a:solidFill>
                <a:latin typeface="Calibri" pitchFamily="34" charset="0"/>
                <a:ea typeface="Calibri" pitchFamily="34" charset="-122"/>
                <a:cs typeface="Calibri" pitchFamily="34" charset="-120"/>
              </a:rPr>
              <a:t>Escalation: unresolved conflicts go to Marc under a proposed 48-hour response target (D-07); Amber decides pilot continuation in September and at Day 90.</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3112" cy="256032"/>
          </a:xfrm>
          <a:prstGeom prst="rect">
            <a:avLst/>
          </a:prstGeom>
          <a:noFill/>
          <a:ln/>
        </p:spPr>
        <p:txBody>
          <a:bodyPr wrap="square" lIns="0" tIns="0" rIns="0" bIns="0" rtlCol="0" anchor="ctr"/>
          <a:lstStyle/>
          <a:p>
            <a:pPr indent="0" marL="0">
              <a:buNone/>
            </a:pPr>
            <a:r>
              <a:rPr lang="en-US" sz="1100" b="1" spc="200" kern="0" dirty="0">
                <a:solidFill>
                  <a:srgbClr val="0F6E84"/>
                </a:solidFill>
                <a:latin typeface="Calibri" pitchFamily="34" charset="0"/>
                <a:ea typeface="Calibri" pitchFamily="34" charset="-122"/>
                <a:cs typeface="Calibri" pitchFamily="34" charset="-120"/>
              </a:rPr>
              <a:t>ROUTE TO MARKET</a:t>
            </a:r>
            <a:endParaRPr lang="en-US" sz="1100" dirty="0"/>
          </a:p>
        </p:txBody>
      </p:sp>
      <p:sp>
        <p:nvSpPr>
          <p:cNvPr id="3" name="Text 1"/>
          <p:cNvSpPr/>
          <p:nvPr/>
        </p:nvSpPr>
        <p:spPr>
          <a:xfrm>
            <a:off x="502920" y="530352"/>
            <a:ext cx="11183112" cy="777240"/>
          </a:xfrm>
          <a:prstGeom prst="rect">
            <a:avLst/>
          </a:prstGeom>
          <a:noFill/>
          <a:ln/>
        </p:spPr>
        <p:txBody>
          <a:bodyPr wrap="square" lIns="0" tIns="0" rIns="0" bIns="0" rtlCol="0" anchor="t"/>
          <a:lstStyle/>
          <a:p>
            <a:pPr indent="0" marL="0">
              <a:buNone/>
            </a:pPr>
            <a:r>
              <a:rPr lang="en-US" sz="2100" b="1" dirty="0">
                <a:solidFill>
                  <a:srgbClr val="1F3B57"/>
                </a:solidFill>
                <a:latin typeface="Calibri" pitchFamily="34" charset="0"/>
                <a:ea typeface="Calibri" pitchFamily="34" charset="-122"/>
                <a:cs typeface="Calibri" pitchFamily="34" charset="-120"/>
              </a:rPr>
              <a:t>One project, two linked lanes: OEM approval pulls factory specification while EPC, contractor, and channel convert field demand</a:t>
            </a:r>
            <a:endParaRPr lang="en-US" sz="2100" dirty="0"/>
          </a:p>
        </p:txBody>
      </p:sp>
      <p:sp>
        <p:nvSpPr>
          <p:cNvPr id="4" name="Text 2"/>
          <p:cNvSpPr/>
          <p:nvPr/>
        </p:nvSpPr>
        <p:spPr>
          <a:xfrm>
            <a:off x="502920" y="6473952"/>
            <a:ext cx="10085832" cy="274320"/>
          </a:xfrm>
          <a:prstGeom prst="rect">
            <a:avLst/>
          </a:prstGeom>
          <a:noFill/>
          <a:ln/>
        </p:spPr>
        <p:txBody>
          <a:bodyPr wrap="square" lIns="0" tIns="0" rIns="0" bIns="0" rtlCol="0" anchor="ctr"/>
          <a:lstStyle/>
          <a:p>
            <a:pPr indent="0" marL="0">
              <a:buNone/>
            </a:pPr>
            <a:r>
              <a:rPr lang="en-US" sz="850" dirty="0">
                <a:solidFill>
                  <a:srgbClr val="5B6573"/>
                </a:solidFill>
                <a:latin typeface="Calibri" pitchFamily="34" charset="0"/>
                <a:ea typeface="Calibri" pitchFamily="34" charset="-122"/>
                <a:cs typeface="Calibri" pitchFamily="34" charset="-120"/>
              </a:rPr>
              <a:t>Source: S09 Method &amp; Assumptions!B29 (parallel lanes); S07 p.2 (channel-conflict caution); 03_Operating_Model_Options (route guardrails and decision table).</a:t>
            </a:r>
            <a:endParaRPr lang="en-US" sz="850" dirty="0"/>
          </a:p>
        </p:txBody>
      </p:sp>
      <p:sp>
        <p:nvSpPr>
          <p:cNvPr id="5" name="Text 3"/>
          <p:cNvSpPr/>
          <p:nvPr/>
        </p:nvSpPr>
        <p:spPr>
          <a:xfrm>
            <a:off x="10268712" y="6473952"/>
            <a:ext cx="1417320" cy="274320"/>
          </a:xfrm>
          <a:prstGeom prst="rect">
            <a:avLst/>
          </a:prstGeom>
          <a:noFill/>
          <a:ln/>
        </p:spPr>
        <p:txBody>
          <a:bodyPr wrap="square" lIns="0" tIns="0" rIns="0" bIns="0" rtlCol="0" anchor="ctr"/>
          <a:lstStyle/>
          <a:p>
            <a:pPr algn="r" indent="0" marL="0">
              <a:buNone/>
            </a:pPr>
            <a:r>
              <a:rPr lang="en-US" sz="850" dirty="0">
                <a:solidFill>
                  <a:srgbClr val="5B6573"/>
                </a:solidFill>
                <a:latin typeface="Calibri" pitchFamily="34" charset="0"/>
                <a:ea typeface="Calibri" pitchFamily="34" charset="-122"/>
                <a:cs typeface="Calibri" pitchFamily="34" charset="-120"/>
              </a:rPr>
              <a:t>SOUTHWIRE POWERGEN | v0  </a:t>
            </a:r>
            <a:pPr algn="r" indent="0" marL="0">
              <a:buNone/>
            </a:pPr>
            <a:r>
              <a:rPr lang="en-US" sz="850" b="1" dirty="0">
                <a:solidFill>
                  <a:srgbClr val="1F3B57"/>
                </a:solidFill>
                <a:latin typeface="Calibri" pitchFamily="34" charset="0"/>
                <a:ea typeface="Calibri" pitchFamily="34" charset="-122"/>
                <a:cs typeface="Calibri" pitchFamily="34" charset="-120"/>
              </a:rPr>
              <a:t>11</a:t>
            </a:r>
            <a:endParaRPr lang="en-US" sz="850" dirty="0"/>
          </a:p>
        </p:txBody>
      </p:sp>
      <p:sp>
        <p:nvSpPr>
          <p:cNvPr id="6" name="Shape 4"/>
          <p:cNvSpPr/>
          <p:nvPr/>
        </p:nvSpPr>
        <p:spPr>
          <a:xfrm>
            <a:off x="502920" y="1481328"/>
            <a:ext cx="1371600" cy="2834640"/>
          </a:xfrm>
          <a:prstGeom prst="rect">
            <a:avLst/>
          </a:prstGeom>
          <a:solidFill>
            <a:srgbClr val="1F3B57"/>
          </a:solidFill>
          <a:ln/>
        </p:spPr>
      </p:sp>
      <p:sp>
        <p:nvSpPr>
          <p:cNvPr id="7" name="Text 5"/>
          <p:cNvSpPr/>
          <p:nvPr/>
        </p:nvSpPr>
        <p:spPr>
          <a:xfrm>
            <a:off x="502920" y="1481328"/>
            <a:ext cx="1371600" cy="2834640"/>
          </a:xfrm>
          <a:prstGeom prst="rect">
            <a:avLst/>
          </a:prstGeom>
          <a:noFill/>
          <a:ln/>
        </p:spPr>
        <p:txBody>
          <a:bodyPr wrap="square" lIns="0" tIns="0" rIns="0" bIns="0" rtlCol="0" anchor="ctr"/>
          <a:lstStyle/>
          <a:p>
            <a:pPr algn="ctr" indent="0" marL="0">
              <a:lnSpc>
                <a:spcPts val="1800"/>
              </a:lnSpc>
              <a:buNone/>
            </a:pPr>
            <a:r>
              <a:rPr lang="en-US" sz="1400" b="1" dirty="0">
                <a:solidFill>
                  <a:srgbClr val="FFFFFF"/>
                </a:solidFill>
                <a:latin typeface="Calibri" pitchFamily="34" charset="0"/>
                <a:ea typeface="Calibri" pitchFamily="34" charset="-122"/>
                <a:cs typeface="Calibri" pitchFamily="34" charset="-120"/>
              </a:rPr>
              <a:t>ONE</a:t>
            </a:r>
            <a:endParaRPr lang="en-US" sz="1400" dirty="0"/>
          </a:p>
          <a:p>
            <a:pPr algn="ctr" indent="0" marL="0">
              <a:lnSpc>
                <a:spcPts val="1800"/>
              </a:lnSpc>
              <a:buNone/>
            </a:pPr>
            <a:r>
              <a:rPr lang="en-US" sz="1400" b="1" dirty="0">
                <a:solidFill>
                  <a:srgbClr val="FFFFFF"/>
                </a:solidFill>
                <a:latin typeface="Calibri" pitchFamily="34" charset="0"/>
                <a:ea typeface="Calibri" pitchFamily="34" charset="-122"/>
                <a:cs typeface="Calibri" pitchFamily="34" charset="-120"/>
              </a:rPr>
              <a:t>PROJECT</a:t>
            </a:r>
            <a:endParaRPr lang="en-US" sz="1400" dirty="0"/>
          </a:p>
          <a:p>
            <a:pPr algn="ctr" indent="0" marL="0">
              <a:lnSpc>
                <a:spcPts val="1800"/>
              </a:lnSpc>
              <a:buNone/>
            </a:pPr>
            <a:r>
              <a:rPr lang="en-US" sz="1400" b="1" dirty="0">
                <a:solidFill>
                  <a:srgbClr val="FFFFFF"/>
                </a:solidFill>
                <a:latin typeface="Calibri" pitchFamily="34" charset="0"/>
                <a:ea typeface="Calibri" pitchFamily="34" charset="-122"/>
                <a:cs typeface="Calibri" pitchFamily="34" charset="-120"/>
              </a:rPr>
              <a:t>ID</a:t>
            </a:r>
            <a:endParaRPr lang="en-US" sz="1400" dirty="0"/>
          </a:p>
        </p:txBody>
      </p:sp>
      <p:sp>
        <p:nvSpPr>
          <p:cNvPr id="8" name="Shape 6"/>
          <p:cNvSpPr/>
          <p:nvPr/>
        </p:nvSpPr>
        <p:spPr>
          <a:xfrm>
            <a:off x="2057400" y="1481328"/>
            <a:ext cx="2011680" cy="1325880"/>
          </a:xfrm>
          <a:prstGeom prst="rect">
            <a:avLst/>
          </a:prstGeom>
          <a:solidFill>
            <a:srgbClr val="0F6E84"/>
          </a:solidFill>
          <a:ln/>
        </p:spPr>
      </p:sp>
      <p:sp>
        <p:nvSpPr>
          <p:cNvPr id="9" name="Text 7"/>
          <p:cNvSpPr/>
          <p:nvPr/>
        </p:nvSpPr>
        <p:spPr>
          <a:xfrm>
            <a:off x="2148840" y="1481328"/>
            <a:ext cx="1828800" cy="1325880"/>
          </a:xfrm>
          <a:prstGeom prst="rect">
            <a:avLst/>
          </a:prstGeom>
          <a:noFill/>
          <a:ln/>
        </p:spPr>
        <p:txBody>
          <a:bodyPr wrap="square" lIns="0" tIns="0" rIns="0" bIns="0" rtlCol="0" anchor="ctr"/>
          <a:lstStyle/>
          <a:p>
            <a:pPr indent="0" marL="0">
              <a:lnSpc>
                <a:spcPts val="1500"/>
              </a:lnSpc>
              <a:buNone/>
            </a:pPr>
            <a:r>
              <a:rPr lang="en-US" sz="1200" b="1" dirty="0">
                <a:solidFill>
                  <a:srgbClr val="FFFFFF"/>
                </a:solidFill>
                <a:latin typeface="Calibri" pitchFamily="34" charset="0"/>
                <a:ea typeface="Calibri" pitchFamily="34" charset="-122"/>
                <a:cs typeface="Calibri" pitchFamily="34" charset="-120"/>
              </a:rPr>
              <a:t>FACTORY LANE</a:t>
            </a:r>
            <a:endParaRPr lang="en-US" sz="1200" dirty="0"/>
          </a:p>
          <a:p>
            <a:pPr indent="0" marL="0">
              <a:lnSpc>
                <a:spcPts val="1500"/>
              </a:lnSpc>
              <a:buNone/>
            </a:pPr>
            <a:r>
              <a:rPr lang="en-US" sz="1200" b="1" dirty="0">
                <a:solidFill>
                  <a:srgbClr val="FFFFFF"/>
                </a:solidFill>
                <a:latin typeface="Calibri" pitchFamily="34" charset="0"/>
                <a:ea typeface="Calibri" pitchFamily="34" charset="-122"/>
                <a:cs typeface="Calibri" pitchFamily="34" charset="-120"/>
              </a:rPr>
              <a:t>OEM / package approval</a:t>
            </a:r>
            <a:endParaRPr lang="en-US" sz="1200" dirty="0"/>
          </a:p>
        </p:txBody>
      </p:sp>
      <p:sp>
        <p:nvSpPr>
          <p:cNvPr id="10" name="Shape 8"/>
          <p:cNvSpPr/>
          <p:nvPr/>
        </p:nvSpPr>
        <p:spPr>
          <a:xfrm>
            <a:off x="4206240" y="1572768"/>
            <a:ext cx="2401824" cy="685800"/>
          </a:xfrm>
          <a:prstGeom prst="rect">
            <a:avLst/>
          </a:prstGeom>
          <a:solidFill>
            <a:srgbClr val="FFFFFF"/>
          </a:solidFill>
          <a:ln w="15875">
            <a:solidFill>
              <a:srgbClr val="0F6E84"/>
            </a:solidFill>
            <a:prstDash val="solid"/>
          </a:ln>
        </p:spPr>
      </p:sp>
      <p:sp>
        <p:nvSpPr>
          <p:cNvPr id="11" name="Text 9"/>
          <p:cNvSpPr/>
          <p:nvPr/>
        </p:nvSpPr>
        <p:spPr>
          <a:xfrm>
            <a:off x="4251960" y="1572768"/>
            <a:ext cx="2310384" cy="685800"/>
          </a:xfrm>
          <a:prstGeom prst="rect">
            <a:avLst/>
          </a:prstGeom>
          <a:noFill/>
          <a:ln/>
        </p:spPr>
        <p:txBody>
          <a:bodyPr wrap="square" lIns="0" tIns="0" rIns="0" bIns="0" rtlCol="0" anchor="ctr"/>
          <a:lstStyle/>
          <a:p>
            <a:pPr algn="ctr" indent="0" marL="0">
              <a:lnSpc>
                <a:spcPts val="1200"/>
              </a:lnSpc>
              <a:buNone/>
            </a:pPr>
            <a:r>
              <a:rPr lang="en-US" sz="1000" dirty="0">
                <a:solidFill>
                  <a:srgbClr val="2A2F36"/>
                </a:solidFill>
                <a:latin typeface="Calibri" pitchFamily="34" charset="0"/>
                <a:ea typeface="Calibri" pitchFamily="34" charset="-122"/>
                <a:cs typeface="Calibri" pitchFamily="34" charset="-120"/>
              </a:rPr>
              <a:t>OEM / skid builder engineering specifies and approves</a:t>
            </a:r>
            <a:endParaRPr lang="en-US" sz="1000" dirty="0"/>
          </a:p>
        </p:txBody>
      </p:sp>
      <p:sp>
        <p:nvSpPr>
          <p:cNvPr id="12" name="Shape 10"/>
          <p:cNvSpPr/>
          <p:nvPr/>
        </p:nvSpPr>
        <p:spPr>
          <a:xfrm>
            <a:off x="6745224" y="1572768"/>
            <a:ext cx="2401824" cy="685800"/>
          </a:xfrm>
          <a:prstGeom prst="rect">
            <a:avLst/>
          </a:prstGeom>
          <a:solidFill>
            <a:srgbClr val="FFFFFF"/>
          </a:solidFill>
          <a:ln w="15875">
            <a:solidFill>
              <a:srgbClr val="0F6E84"/>
            </a:solidFill>
            <a:prstDash val="solid"/>
          </a:ln>
        </p:spPr>
      </p:sp>
      <p:sp>
        <p:nvSpPr>
          <p:cNvPr id="13" name="Text 11"/>
          <p:cNvSpPr/>
          <p:nvPr/>
        </p:nvSpPr>
        <p:spPr>
          <a:xfrm>
            <a:off x="6790944" y="1572768"/>
            <a:ext cx="2310384" cy="685800"/>
          </a:xfrm>
          <a:prstGeom prst="rect">
            <a:avLst/>
          </a:prstGeom>
          <a:noFill/>
          <a:ln/>
        </p:spPr>
        <p:txBody>
          <a:bodyPr wrap="square" lIns="0" tIns="0" rIns="0" bIns="0" rtlCol="0" anchor="ctr"/>
          <a:lstStyle/>
          <a:p>
            <a:pPr algn="ctr" indent="0" marL="0">
              <a:lnSpc>
                <a:spcPts val="1200"/>
              </a:lnSpc>
              <a:buNone/>
            </a:pPr>
            <a:r>
              <a:rPr lang="en-US" sz="1000" dirty="0">
                <a:solidFill>
                  <a:srgbClr val="2A2F36"/>
                </a:solidFill>
                <a:latin typeface="Calibri" pitchFamily="34" charset="0"/>
                <a:ea typeface="Calibri" pitchFamily="34" charset="-122"/>
                <a:cs typeface="Calibri" pitchFamily="34" charset="-120"/>
              </a:rPr>
              <a:t>Package BOMs, kits, interface data embedded</a:t>
            </a:r>
            <a:endParaRPr lang="en-US" sz="1000" dirty="0"/>
          </a:p>
        </p:txBody>
      </p:sp>
      <p:sp>
        <p:nvSpPr>
          <p:cNvPr id="14" name="Shape 12"/>
          <p:cNvSpPr/>
          <p:nvPr/>
        </p:nvSpPr>
        <p:spPr>
          <a:xfrm>
            <a:off x="9284208" y="1572768"/>
            <a:ext cx="2401824" cy="685800"/>
          </a:xfrm>
          <a:prstGeom prst="rect">
            <a:avLst/>
          </a:prstGeom>
          <a:solidFill>
            <a:srgbClr val="FFFFFF"/>
          </a:solidFill>
          <a:ln w="15875">
            <a:solidFill>
              <a:srgbClr val="0F6E84"/>
            </a:solidFill>
            <a:prstDash val="solid"/>
          </a:ln>
        </p:spPr>
      </p:sp>
      <p:sp>
        <p:nvSpPr>
          <p:cNvPr id="15" name="Text 13"/>
          <p:cNvSpPr/>
          <p:nvPr/>
        </p:nvSpPr>
        <p:spPr>
          <a:xfrm>
            <a:off x="9329928" y="1572768"/>
            <a:ext cx="2310384" cy="685800"/>
          </a:xfrm>
          <a:prstGeom prst="rect">
            <a:avLst/>
          </a:prstGeom>
          <a:noFill/>
          <a:ln/>
        </p:spPr>
        <p:txBody>
          <a:bodyPr wrap="square" lIns="0" tIns="0" rIns="0" bIns="0" rtlCol="0" anchor="ctr"/>
          <a:lstStyle/>
          <a:p>
            <a:pPr algn="ctr" indent="0" marL="0">
              <a:lnSpc>
                <a:spcPts val="1200"/>
              </a:lnSpc>
              <a:buNone/>
            </a:pPr>
            <a:r>
              <a:rPr lang="en-US" sz="1000" dirty="0">
                <a:solidFill>
                  <a:srgbClr val="2A2F36"/>
                </a:solidFill>
                <a:latin typeface="Calibri" pitchFamily="34" charset="0"/>
                <a:ea typeface="Calibri" pitchFamily="34" charset="-122"/>
                <a:cs typeface="Calibri" pitchFamily="34" charset="-120"/>
              </a:rPr>
              <a:t>OEM buys factory scope via existing permitted route</a:t>
            </a:r>
            <a:endParaRPr lang="en-US" sz="1000" dirty="0"/>
          </a:p>
        </p:txBody>
      </p:sp>
      <p:sp>
        <p:nvSpPr>
          <p:cNvPr id="16" name="Text 14"/>
          <p:cNvSpPr/>
          <p:nvPr/>
        </p:nvSpPr>
        <p:spPr>
          <a:xfrm>
            <a:off x="4206240" y="2350008"/>
            <a:ext cx="7479792" cy="411480"/>
          </a:xfrm>
          <a:prstGeom prst="rect">
            <a:avLst/>
          </a:prstGeom>
          <a:noFill/>
          <a:ln/>
        </p:spPr>
        <p:txBody>
          <a:bodyPr wrap="square" lIns="0" tIns="0" rIns="0" bIns="0" rtlCol="0" anchor="t"/>
          <a:lstStyle/>
          <a:p>
            <a:pPr indent="0" marL="0">
              <a:lnSpc>
                <a:spcPts val="1150"/>
              </a:lnSpc>
              <a:buNone/>
            </a:pPr>
            <a:r>
              <a:rPr lang="en-US" sz="950" dirty="0">
                <a:solidFill>
                  <a:srgbClr val="5B6573"/>
                </a:solidFill>
                <a:latin typeface="Calibri" pitchFamily="34" charset="0"/>
                <a:ea typeface="Calibri" pitchFamily="34" charset="-122"/>
                <a:cs typeface="Calibri" pitchFamily="34" charset="-120"/>
              </a:rPr>
              <a:t>Product team approves commitments; package approval is linked to the project, never double-counted with field orders.</a:t>
            </a:r>
            <a:endParaRPr lang="en-US" sz="950" dirty="0"/>
          </a:p>
        </p:txBody>
      </p:sp>
      <p:sp>
        <p:nvSpPr>
          <p:cNvPr id="17" name="Shape 15"/>
          <p:cNvSpPr/>
          <p:nvPr/>
        </p:nvSpPr>
        <p:spPr>
          <a:xfrm>
            <a:off x="2057400" y="2990088"/>
            <a:ext cx="2011680" cy="1325880"/>
          </a:xfrm>
          <a:prstGeom prst="rect">
            <a:avLst/>
          </a:prstGeom>
          <a:solidFill>
            <a:srgbClr val="2C4E70"/>
          </a:solidFill>
          <a:ln/>
        </p:spPr>
      </p:sp>
      <p:sp>
        <p:nvSpPr>
          <p:cNvPr id="18" name="Text 16"/>
          <p:cNvSpPr/>
          <p:nvPr/>
        </p:nvSpPr>
        <p:spPr>
          <a:xfrm>
            <a:off x="2148840" y="2990088"/>
            <a:ext cx="1828800" cy="1325880"/>
          </a:xfrm>
          <a:prstGeom prst="rect">
            <a:avLst/>
          </a:prstGeom>
          <a:noFill/>
          <a:ln/>
        </p:spPr>
        <p:txBody>
          <a:bodyPr wrap="square" lIns="0" tIns="0" rIns="0" bIns="0" rtlCol="0" anchor="ctr"/>
          <a:lstStyle/>
          <a:p>
            <a:pPr indent="0" marL="0">
              <a:lnSpc>
                <a:spcPts val="1500"/>
              </a:lnSpc>
              <a:buNone/>
            </a:pPr>
            <a:r>
              <a:rPr lang="en-US" sz="1200" b="1" dirty="0">
                <a:solidFill>
                  <a:srgbClr val="FFFFFF"/>
                </a:solidFill>
                <a:latin typeface="Calibri" pitchFamily="34" charset="0"/>
                <a:ea typeface="Calibri" pitchFamily="34" charset="-122"/>
                <a:cs typeface="Calibri" pitchFamily="34" charset="-120"/>
              </a:rPr>
              <a:t>FIELD LANE</a:t>
            </a:r>
            <a:endParaRPr lang="en-US" sz="1200" dirty="0"/>
          </a:p>
          <a:p>
            <a:pPr indent="0" marL="0">
              <a:lnSpc>
                <a:spcPts val="1500"/>
              </a:lnSpc>
              <a:buNone/>
            </a:pPr>
            <a:r>
              <a:rPr lang="en-US" sz="1200" b="1" dirty="0">
                <a:solidFill>
                  <a:srgbClr val="FFFFFF"/>
                </a:solidFill>
                <a:latin typeface="Calibri" pitchFamily="34" charset="0"/>
                <a:ea typeface="Calibri" pitchFamily="34" charset="-122"/>
                <a:cs typeface="Calibri" pitchFamily="34" charset="-120"/>
              </a:rPr>
              <a:t>EPC / contractor / channel conversion</a:t>
            </a:r>
            <a:endParaRPr lang="en-US" sz="1200" dirty="0"/>
          </a:p>
        </p:txBody>
      </p:sp>
      <p:sp>
        <p:nvSpPr>
          <p:cNvPr id="19" name="Shape 17"/>
          <p:cNvSpPr/>
          <p:nvPr/>
        </p:nvSpPr>
        <p:spPr>
          <a:xfrm>
            <a:off x="4206240" y="3081528"/>
            <a:ext cx="1767078" cy="685800"/>
          </a:xfrm>
          <a:prstGeom prst="rect">
            <a:avLst/>
          </a:prstGeom>
          <a:solidFill>
            <a:srgbClr val="FFFFFF"/>
          </a:solidFill>
          <a:ln w="15875">
            <a:solidFill>
              <a:srgbClr val="2C4E70"/>
            </a:solidFill>
            <a:prstDash val="solid"/>
          </a:ln>
        </p:spPr>
      </p:sp>
      <p:sp>
        <p:nvSpPr>
          <p:cNvPr id="20" name="Text 18"/>
          <p:cNvSpPr/>
          <p:nvPr/>
        </p:nvSpPr>
        <p:spPr>
          <a:xfrm>
            <a:off x="4251960" y="3081528"/>
            <a:ext cx="1675638" cy="685800"/>
          </a:xfrm>
          <a:prstGeom prst="rect">
            <a:avLst/>
          </a:prstGeom>
          <a:noFill/>
          <a:ln/>
        </p:spPr>
        <p:txBody>
          <a:bodyPr wrap="square" lIns="0" tIns="0" rIns="0" bIns="0" rtlCol="0" anchor="ctr"/>
          <a:lstStyle/>
          <a:p>
            <a:pPr algn="ctr" indent="0" marL="0">
              <a:lnSpc>
                <a:spcPts val="1200"/>
              </a:lnSpc>
              <a:buNone/>
            </a:pPr>
            <a:r>
              <a:rPr lang="en-US" sz="1000" dirty="0">
                <a:solidFill>
                  <a:srgbClr val="2A2F36"/>
                </a:solidFill>
                <a:latin typeface="Calibri" pitchFamily="34" charset="0"/>
                <a:ea typeface="Calibri" pitchFamily="34" charset="-122"/>
                <a:cs typeface="Calibri" pitchFamily="34" charset="-120"/>
              </a:rPr>
              <a:t>EPC / OE specifies field scope</a:t>
            </a:r>
            <a:endParaRPr lang="en-US" sz="1000" dirty="0"/>
          </a:p>
        </p:txBody>
      </p:sp>
      <p:sp>
        <p:nvSpPr>
          <p:cNvPr id="21" name="Shape 19"/>
          <p:cNvSpPr/>
          <p:nvPr/>
        </p:nvSpPr>
        <p:spPr>
          <a:xfrm>
            <a:off x="6110478" y="3081528"/>
            <a:ext cx="1767078" cy="685800"/>
          </a:xfrm>
          <a:prstGeom prst="rect">
            <a:avLst/>
          </a:prstGeom>
          <a:solidFill>
            <a:srgbClr val="FFFFFF"/>
          </a:solidFill>
          <a:ln w="15875">
            <a:solidFill>
              <a:srgbClr val="2C4E70"/>
            </a:solidFill>
            <a:prstDash val="solid"/>
          </a:ln>
        </p:spPr>
      </p:sp>
      <p:sp>
        <p:nvSpPr>
          <p:cNvPr id="22" name="Text 20"/>
          <p:cNvSpPr/>
          <p:nvPr/>
        </p:nvSpPr>
        <p:spPr>
          <a:xfrm>
            <a:off x="6156198" y="3081528"/>
            <a:ext cx="1675638" cy="685800"/>
          </a:xfrm>
          <a:prstGeom prst="rect">
            <a:avLst/>
          </a:prstGeom>
          <a:noFill/>
          <a:ln/>
        </p:spPr>
        <p:txBody>
          <a:bodyPr wrap="square" lIns="0" tIns="0" rIns="0" bIns="0" rtlCol="0" anchor="ctr"/>
          <a:lstStyle/>
          <a:p>
            <a:pPr algn="ctr" indent="0" marL="0">
              <a:lnSpc>
                <a:spcPts val="1200"/>
              </a:lnSpc>
              <a:buNone/>
            </a:pPr>
            <a:r>
              <a:rPr lang="en-US" sz="1000" dirty="0">
                <a:solidFill>
                  <a:srgbClr val="2A2F36"/>
                </a:solidFill>
                <a:latin typeface="Calibri" pitchFamily="34" charset="0"/>
                <a:ea typeface="Calibri" pitchFamily="34" charset="-122"/>
                <a:cs typeface="Calibri" pitchFamily="34" charset="-120"/>
              </a:rPr>
              <a:t>EPC or contractor buys bulk cable</a:t>
            </a:r>
            <a:endParaRPr lang="en-US" sz="1000" dirty="0"/>
          </a:p>
        </p:txBody>
      </p:sp>
      <p:sp>
        <p:nvSpPr>
          <p:cNvPr id="23" name="Shape 21"/>
          <p:cNvSpPr/>
          <p:nvPr/>
        </p:nvSpPr>
        <p:spPr>
          <a:xfrm>
            <a:off x="8014716" y="3081528"/>
            <a:ext cx="1767078" cy="685800"/>
          </a:xfrm>
          <a:prstGeom prst="rect">
            <a:avLst/>
          </a:prstGeom>
          <a:solidFill>
            <a:srgbClr val="FFFFFF"/>
          </a:solidFill>
          <a:ln w="15875">
            <a:solidFill>
              <a:srgbClr val="2C4E70"/>
            </a:solidFill>
            <a:prstDash val="solid"/>
          </a:ln>
        </p:spPr>
      </p:sp>
      <p:sp>
        <p:nvSpPr>
          <p:cNvPr id="24" name="Text 22"/>
          <p:cNvSpPr/>
          <p:nvPr/>
        </p:nvSpPr>
        <p:spPr>
          <a:xfrm>
            <a:off x="8060436" y="3081528"/>
            <a:ext cx="1675638" cy="685800"/>
          </a:xfrm>
          <a:prstGeom prst="rect">
            <a:avLst/>
          </a:prstGeom>
          <a:noFill/>
          <a:ln/>
        </p:spPr>
        <p:txBody>
          <a:bodyPr wrap="square" lIns="0" tIns="0" rIns="0" bIns="0" rtlCol="0" anchor="ctr"/>
          <a:lstStyle/>
          <a:p>
            <a:pPr algn="ctr" indent="0" marL="0">
              <a:lnSpc>
                <a:spcPts val="1200"/>
              </a:lnSpc>
              <a:buNone/>
            </a:pPr>
            <a:r>
              <a:rPr lang="en-US" sz="1000" dirty="0">
                <a:solidFill>
                  <a:srgbClr val="2A2F36"/>
                </a:solidFill>
                <a:latin typeface="Calibri" pitchFamily="34" charset="0"/>
                <a:ea typeface="Calibri" pitchFamily="34" charset="-122"/>
                <a:cs typeface="Calibri" pitchFamily="34" charset="-120"/>
              </a:rPr>
              <a:t>Distribution serves cuts, kits, credit, staging</a:t>
            </a:r>
            <a:endParaRPr lang="en-US" sz="1000" dirty="0"/>
          </a:p>
        </p:txBody>
      </p:sp>
      <p:sp>
        <p:nvSpPr>
          <p:cNvPr id="25" name="Shape 23"/>
          <p:cNvSpPr/>
          <p:nvPr/>
        </p:nvSpPr>
        <p:spPr>
          <a:xfrm>
            <a:off x="9918954" y="3081528"/>
            <a:ext cx="1767078" cy="685800"/>
          </a:xfrm>
          <a:prstGeom prst="rect">
            <a:avLst/>
          </a:prstGeom>
          <a:solidFill>
            <a:srgbClr val="FFFFFF"/>
          </a:solidFill>
          <a:ln w="15875">
            <a:solidFill>
              <a:srgbClr val="2C4E70"/>
            </a:solidFill>
            <a:prstDash val="solid"/>
          </a:ln>
        </p:spPr>
      </p:sp>
      <p:sp>
        <p:nvSpPr>
          <p:cNvPr id="26" name="Text 24"/>
          <p:cNvSpPr/>
          <p:nvPr/>
        </p:nvSpPr>
        <p:spPr>
          <a:xfrm>
            <a:off x="9964674" y="3081528"/>
            <a:ext cx="1675638" cy="685800"/>
          </a:xfrm>
          <a:prstGeom prst="rect">
            <a:avLst/>
          </a:prstGeom>
          <a:noFill/>
          <a:ln/>
        </p:spPr>
        <p:txBody>
          <a:bodyPr wrap="square" lIns="0" tIns="0" rIns="0" bIns="0" rtlCol="0" anchor="ctr"/>
          <a:lstStyle/>
          <a:p>
            <a:pPr algn="ctr" indent="0" marL="0">
              <a:lnSpc>
                <a:spcPts val="1200"/>
              </a:lnSpc>
              <a:buNone/>
            </a:pPr>
            <a:r>
              <a:rPr lang="en-US" sz="1000" dirty="0">
                <a:solidFill>
                  <a:srgbClr val="2A2F36"/>
                </a:solidFill>
                <a:latin typeface="Calibri" pitchFamily="34" charset="0"/>
                <a:ea typeface="Calibri" pitchFamily="34" charset="-122"/>
                <a:cs typeface="Calibri" pitchFamily="34" charset="-120"/>
              </a:rPr>
              <a:t>Agents open access under existing agreements</a:t>
            </a:r>
            <a:endParaRPr lang="en-US" sz="1000" dirty="0"/>
          </a:p>
        </p:txBody>
      </p:sp>
      <p:sp>
        <p:nvSpPr>
          <p:cNvPr id="27" name="Text 25"/>
          <p:cNvSpPr/>
          <p:nvPr/>
        </p:nvSpPr>
        <p:spPr>
          <a:xfrm>
            <a:off x="4206240" y="3858768"/>
            <a:ext cx="7479792" cy="411480"/>
          </a:xfrm>
          <a:prstGeom prst="rect">
            <a:avLst/>
          </a:prstGeom>
          <a:noFill/>
          <a:ln/>
        </p:spPr>
        <p:txBody>
          <a:bodyPr wrap="square" lIns="0" tIns="0" rIns="0" bIns="0" rtlCol="0" anchor="t"/>
          <a:lstStyle/>
          <a:p>
            <a:pPr indent="0" marL="0">
              <a:lnSpc>
                <a:spcPts val="1150"/>
              </a:lnSpc>
              <a:buNone/>
            </a:pPr>
            <a:r>
              <a:rPr lang="en-US" sz="950" dirty="0">
                <a:solidFill>
                  <a:srgbClr val="5B6573"/>
                </a:solidFill>
                <a:latin typeface="Calibri" pitchFamily="34" charset="0"/>
                <a:ea typeface="Calibri" pitchFamily="34" charset="-122"/>
                <a:cs typeface="Calibri" pitchFamily="34" charset="-120"/>
              </a:rPr>
              <a:t>Route confirmed by account owner, business, and channel before quoting; distribution used where it creates project value.</a:t>
            </a:r>
            <a:endParaRPr lang="en-US" sz="950" dirty="0"/>
          </a:p>
        </p:txBody>
      </p:sp>
      <p:sp>
        <p:nvSpPr>
          <p:cNvPr id="28" name="Shape 26"/>
          <p:cNvSpPr/>
          <p:nvPr/>
        </p:nvSpPr>
        <p:spPr>
          <a:xfrm>
            <a:off x="502920" y="4526280"/>
            <a:ext cx="11183112" cy="1691640"/>
          </a:xfrm>
          <a:prstGeom prst="rect">
            <a:avLst/>
          </a:prstGeom>
          <a:solidFill>
            <a:srgbClr val="F7F9FB"/>
          </a:solidFill>
          <a:ln w="9525">
            <a:solidFill>
              <a:srgbClr val="C9D2DB"/>
            </a:solidFill>
            <a:prstDash val="solid"/>
          </a:ln>
        </p:spPr>
      </p:sp>
      <p:sp>
        <p:nvSpPr>
          <p:cNvPr id="29" name="Text 27"/>
          <p:cNvSpPr/>
          <p:nvPr/>
        </p:nvSpPr>
        <p:spPr>
          <a:xfrm>
            <a:off x="685800" y="4645152"/>
            <a:ext cx="1828800" cy="274320"/>
          </a:xfrm>
          <a:prstGeom prst="rect">
            <a:avLst/>
          </a:prstGeom>
          <a:noFill/>
          <a:ln/>
        </p:spPr>
        <p:txBody>
          <a:bodyPr wrap="square" lIns="0" tIns="0" rIns="0" bIns="0" rtlCol="0" anchor="ctr"/>
          <a:lstStyle/>
          <a:p>
            <a:pPr indent="0" marL="0">
              <a:buNone/>
            </a:pPr>
            <a:r>
              <a:rPr lang="en-US" sz="1100" b="1" spc="150" kern="0" dirty="0">
                <a:solidFill>
                  <a:srgbClr val="0F6E84"/>
                </a:solidFill>
                <a:latin typeface="Calibri" pitchFamily="34" charset="0"/>
                <a:ea typeface="Calibri" pitchFamily="34" charset="-122"/>
                <a:cs typeface="Calibri" pitchFamily="34" charset="-120"/>
              </a:rPr>
              <a:t>GUARDRAILS</a:t>
            </a:r>
            <a:endParaRPr lang="en-US" sz="1100" dirty="0"/>
          </a:p>
        </p:txBody>
      </p:sp>
      <p:sp>
        <p:nvSpPr>
          <p:cNvPr id="30" name="Shape 28"/>
          <p:cNvSpPr/>
          <p:nvPr/>
        </p:nvSpPr>
        <p:spPr>
          <a:xfrm>
            <a:off x="685800" y="5001768"/>
            <a:ext cx="146304" cy="146304"/>
          </a:xfrm>
          <a:prstGeom prst="ellipse">
            <a:avLst/>
          </a:prstGeom>
          <a:solidFill>
            <a:srgbClr val="0F6E84"/>
          </a:solidFill>
          <a:ln/>
        </p:spPr>
      </p:sp>
      <p:sp>
        <p:nvSpPr>
          <p:cNvPr id="31" name="Text 29"/>
          <p:cNvSpPr/>
          <p:nvPr/>
        </p:nvSpPr>
        <p:spPr>
          <a:xfrm>
            <a:off x="941832" y="4873752"/>
            <a:ext cx="4997196" cy="502920"/>
          </a:xfrm>
          <a:prstGeom prst="rect">
            <a:avLst/>
          </a:prstGeom>
          <a:noFill/>
          <a:ln/>
        </p:spPr>
        <p:txBody>
          <a:bodyPr wrap="square" lIns="0" tIns="0" rIns="0" bIns="0" rtlCol="0" anchor="t"/>
          <a:lstStyle/>
          <a:p>
            <a:pPr indent="0" marL="0">
              <a:lnSpc>
                <a:spcPts val="1250"/>
              </a:lnSpc>
              <a:buNone/>
            </a:pPr>
            <a:r>
              <a:rPr lang="en-US" sz="1050" dirty="0">
                <a:solidFill>
                  <a:srgbClr val="2A2F36"/>
                </a:solidFill>
                <a:latin typeface="Calibri" pitchFamily="34" charset="0"/>
                <a:ea typeface="Calibri" pitchFamily="34" charset="-122"/>
                <a:cs typeface="Calibri" pitchFamily="34" charset="-120"/>
              </a:rPr>
              <a:t>Direct is not the default; the actual buyer and existing commercial rules decide</a:t>
            </a:r>
            <a:endParaRPr lang="en-US" sz="1050" dirty="0"/>
          </a:p>
        </p:txBody>
      </p:sp>
      <p:sp>
        <p:nvSpPr>
          <p:cNvPr id="32" name="Shape 30"/>
          <p:cNvSpPr/>
          <p:nvPr/>
        </p:nvSpPr>
        <p:spPr>
          <a:xfrm>
            <a:off x="6231636" y="5001768"/>
            <a:ext cx="146304" cy="146304"/>
          </a:xfrm>
          <a:prstGeom prst="ellipse">
            <a:avLst/>
          </a:prstGeom>
          <a:solidFill>
            <a:srgbClr val="0F6E84"/>
          </a:solidFill>
          <a:ln/>
        </p:spPr>
      </p:sp>
      <p:sp>
        <p:nvSpPr>
          <p:cNvPr id="33" name="Text 31"/>
          <p:cNvSpPr/>
          <p:nvPr/>
        </p:nvSpPr>
        <p:spPr>
          <a:xfrm>
            <a:off x="6487668" y="4873752"/>
            <a:ext cx="4997196" cy="502920"/>
          </a:xfrm>
          <a:prstGeom prst="rect">
            <a:avLst/>
          </a:prstGeom>
          <a:noFill/>
          <a:ln/>
        </p:spPr>
        <p:txBody>
          <a:bodyPr wrap="square" lIns="0" tIns="0" rIns="0" bIns="0" rtlCol="0" anchor="t"/>
          <a:lstStyle/>
          <a:p>
            <a:pPr indent="0" marL="0">
              <a:lnSpc>
                <a:spcPts val="1250"/>
              </a:lnSpc>
              <a:buNone/>
            </a:pPr>
            <a:r>
              <a:rPr lang="en-US" sz="1050" dirty="0">
                <a:solidFill>
                  <a:srgbClr val="2A2F36"/>
                </a:solidFill>
                <a:latin typeface="Calibri" pitchFamily="34" charset="0"/>
                <a:ea typeface="Calibri" pitchFamily="34" charset="-122"/>
                <a:cs typeface="Calibri" pitchFamily="34" charset="-120"/>
              </a:rPr>
              <a:t>Route and revenue owner recorded per buying scope before any proposal</a:t>
            </a:r>
            <a:endParaRPr lang="en-US" sz="1050" dirty="0"/>
          </a:p>
        </p:txBody>
      </p:sp>
      <p:sp>
        <p:nvSpPr>
          <p:cNvPr id="34" name="Shape 32"/>
          <p:cNvSpPr/>
          <p:nvPr/>
        </p:nvSpPr>
        <p:spPr>
          <a:xfrm>
            <a:off x="685800" y="5568696"/>
            <a:ext cx="146304" cy="146304"/>
          </a:xfrm>
          <a:prstGeom prst="ellipse">
            <a:avLst/>
          </a:prstGeom>
          <a:solidFill>
            <a:srgbClr val="0F6E84"/>
          </a:solidFill>
          <a:ln/>
        </p:spPr>
      </p:sp>
      <p:sp>
        <p:nvSpPr>
          <p:cNvPr id="35" name="Text 33"/>
          <p:cNvSpPr/>
          <p:nvPr/>
        </p:nvSpPr>
        <p:spPr>
          <a:xfrm>
            <a:off x="941832" y="5440680"/>
            <a:ext cx="4997196" cy="502920"/>
          </a:xfrm>
          <a:prstGeom prst="rect">
            <a:avLst/>
          </a:prstGeom>
          <a:noFill/>
          <a:ln/>
        </p:spPr>
        <p:txBody>
          <a:bodyPr wrap="square" lIns="0" tIns="0" rIns="0" bIns="0" rtlCol="0" anchor="t"/>
          <a:lstStyle/>
          <a:p>
            <a:pPr indent="0" marL="0">
              <a:lnSpc>
                <a:spcPts val="1250"/>
              </a:lnSpc>
              <a:buNone/>
            </a:pPr>
            <a:r>
              <a:rPr lang="en-US" sz="1050" dirty="0">
                <a:solidFill>
                  <a:srgbClr val="2A2F36"/>
                </a:solidFill>
                <a:latin typeface="Calibri" pitchFamily="34" charset="0"/>
                <a:ea typeface="Calibri" pitchFamily="34" charset="-122"/>
                <a:cs typeface="Calibri" pitchFamily="34" charset="-120"/>
              </a:rPr>
              <a:t>Unknown factory/field boundary means discovery only; no forecasting</a:t>
            </a:r>
            <a:endParaRPr lang="en-US" sz="1050" dirty="0"/>
          </a:p>
        </p:txBody>
      </p:sp>
      <p:sp>
        <p:nvSpPr>
          <p:cNvPr id="36" name="Shape 34"/>
          <p:cNvSpPr/>
          <p:nvPr/>
        </p:nvSpPr>
        <p:spPr>
          <a:xfrm>
            <a:off x="6231636" y="5568696"/>
            <a:ext cx="146304" cy="146304"/>
          </a:xfrm>
          <a:prstGeom prst="ellipse">
            <a:avLst/>
          </a:prstGeom>
          <a:solidFill>
            <a:srgbClr val="0F6E84"/>
          </a:solidFill>
          <a:ln/>
        </p:spPr>
      </p:sp>
      <p:sp>
        <p:nvSpPr>
          <p:cNvPr id="37" name="Text 35"/>
          <p:cNvSpPr/>
          <p:nvPr/>
        </p:nvSpPr>
        <p:spPr>
          <a:xfrm>
            <a:off x="6487668" y="5440680"/>
            <a:ext cx="4997196" cy="502920"/>
          </a:xfrm>
          <a:prstGeom prst="rect">
            <a:avLst/>
          </a:prstGeom>
          <a:noFill/>
          <a:ln/>
        </p:spPr>
        <p:txBody>
          <a:bodyPr wrap="square" lIns="0" tIns="0" rIns="0" bIns="0" rtlCol="0" anchor="t"/>
          <a:lstStyle/>
          <a:p>
            <a:pPr indent="0" marL="0">
              <a:lnSpc>
                <a:spcPts val="1250"/>
              </a:lnSpc>
              <a:buNone/>
            </a:pPr>
            <a:r>
              <a:rPr lang="en-US" sz="1050" dirty="0">
                <a:solidFill>
                  <a:srgbClr val="2A2F36"/>
                </a:solidFill>
                <a:latin typeface="Calibri" pitchFamily="34" charset="0"/>
                <a:ea typeface="Calibri" pitchFamily="34" charset="-122"/>
                <a:cs typeface="Calibri" pitchFamily="34" charset="-120"/>
              </a:rPr>
              <a:t>Route conflicts resolved before proposal, under the proposed 48-hour sponsor target</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3112" cy="256032"/>
          </a:xfrm>
          <a:prstGeom prst="rect">
            <a:avLst/>
          </a:prstGeom>
          <a:noFill/>
          <a:ln/>
        </p:spPr>
        <p:txBody>
          <a:bodyPr wrap="square" lIns="0" tIns="0" rIns="0" bIns="0" rtlCol="0" anchor="ctr"/>
          <a:lstStyle/>
          <a:p>
            <a:pPr indent="0" marL="0">
              <a:buNone/>
            </a:pPr>
            <a:r>
              <a:rPr lang="en-US" sz="1100" b="1" spc="200" kern="0" dirty="0">
                <a:solidFill>
                  <a:srgbClr val="0F6E84"/>
                </a:solidFill>
                <a:latin typeface="Calibri" pitchFamily="34" charset="0"/>
                <a:ea typeface="Calibri" pitchFamily="34" charset="-122"/>
                <a:cs typeface="Calibri" pitchFamily="34" charset="-120"/>
              </a:rPr>
              <a:t>THURSDAY DECISIONS</a:t>
            </a:r>
            <a:endParaRPr lang="en-US" sz="1100" dirty="0"/>
          </a:p>
        </p:txBody>
      </p:sp>
      <p:sp>
        <p:nvSpPr>
          <p:cNvPr id="3" name="Text 1"/>
          <p:cNvSpPr/>
          <p:nvPr/>
        </p:nvSpPr>
        <p:spPr>
          <a:xfrm>
            <a:off x="502920" y="530352"/>
            <a:ext cx="11183112" cy="777240"/>
          </a:xfrm>
          <a:prstGeom prst="rect">
            <a:avLst/>
          </a:prstGeom>
          <a:noFill/>
          <a:ln/>
        </p:spPr>
        <p:txBody>
          <a:bodyPr wrap="square" lIns="0" tIns="0" rIns="0" bIns="0" rtlCol="0" anchor="t"/>
          <a:lstStyle/>
          <a:p>
            <a:pPr indent="0" marL="0">
              <a:buNone/>
            </a:pPr>
            <a:r>
              <a:rPr lang="en-US" sz="2100" b="1" dirty="0">
                <a:solidFill>
                  <a:srgbClr val="1F3B57"/>
                </a:solidFill>
                <a:latin typeface="Calibri" pitchFamily="34" charset="0"/>
                <a:ea typeface="Calibri" pitchFamily="34" charset="-122"/>
                <a:cs typeface="Calibri" pitchFamily="34" charset="-120"/>
              </a:rPr>
              <a:t>Ten decisions with recommended defaults: the session ratifies or amends, and every item leaves the room owned and dated</a:t>
            </a:r>
            <a:endParaRPr lang="en-US" sz="2100" dirty="0"/>
          </a:p>
        </p:txBody>
      </p:sp>
      <p:sp>
        <p:nvSpPr>
          <p:cNvPr id="4" name="Text 2"/>
          <p:cNvSpPr/>
          <p:nvPr/>
        </p:nvSpPr>
        <p:spPr>
          <a:xfrm>
            <a:off x="502920" y="6473952"/>
            <a:ext cx="10085832" cy="274320"/>
          </a:xfrm>
          <a:prstGeom prst="rect">
            <a:avLst/>
          </a:prstGeom>
          <a:noFill/>
          <a:ln/>
        </p:spPr>
        <p:txBody>
          <a:bodyPr wrap="square" lIns="0" tIns="0" rIns="0" bIns="0" rtlCol="0" anchor="ctr"/>
          <a:lstStyle/>
          <a:p>
            <a:pPr indent="0" marL="0">
              <a:buNone/>
            </a:pPr>
            <a:r>
              <a:rPr lang="en-US" sz="850" dirty="0">
                <a:solidFill>
                  <a:srgbClr val="5B6573"/>
                </a:solidFill>
                <a:latin typeface="Calibri" pitchFamily="34" charset="0"/>
                <a:ea typeface="Calibri" pitchFamily="34" charset="-122"/>
                <a:cs typeface="Calibri" pitchFamily="34" charset="-120"/>
              </a:rPr>
              <a:t>Source: 05_Thursday_Decision_Workshop, decision register D-01 to D-10. Full alternatives, tradeoffs, and deferral risks in the workshop file.</a:t>
            </a:r>
            <a:endParaRPr lang="en-US" sz="850" dirty="0"/>
          </a:p>
        </p:txBody>
      </p:sp>
      <p:sp>
        <p:nvSpPr>
          <p:cNvPr id="5" name="Text 3"/>
          <p:cNvSpPr/>
          <p:nvPr/>
        </p:nvSpPr>
        <p:spPr>
          <a:xfrm>
            <a:off x="10268712" y="6473952"/>
            <a:ext cx="1417320" cy="274320"/>
          </a:xfrm>
          <a:prstGeom prst="rect">
            <a:avLst/>
          </a:prstGeom>
          <a:noFill/>
          <a:ln/>
        </p:spPr>
        <p:txBody>
          <a:bodyPr wrap="square" lIns="0" tIns="0" rIns="0" bIns="0" rtlCol="0" anchor="ctr"/>
          <a:lstStyle/>
          <a:p>
            <a:pPr algn="r" indent="0" marL="0">
              <a:buNone/>
            </a:pPr>
            <a:r>
              <a:rPr lang="en-US" sz="850" dirty="0">
                <a:solidFill>
                  <a:srgbClr val="5B6573"/>
                </a:solidFill>
                <a:latin typeface="Calibri" pitchFamily="34" charset="0"/>
                <a:ea typeface="Calibri" pitchFamily="34" charset="-122"/>
                <a:cs typeface="Calibri" pitchFamily="34" charset="-120"/>
              </a:rPr>
              <a:t>SOUTHWIRE POWERGEN | v0  </a:t>
            </a:r>
            <a:pPr algn="r" indent="0" marL="0">
              <a:buNone/>
            </a:pPr>
            <a:r>
              <a:rPr lang="en-US" sz="850" b="1" dirty="0">
                <a:solidFill>
                  <a:srgbClr val="1F3B57"/>
                </a:solidFill>
                <a:latin typeface="Calibri" pitchFamily="34" charset="0"/>
                <a:ea typeface="Calibri" pitchFamily="34" charset="-122"/>
                <a:cs typeface="Calibri" pitchFamily="34" charset="-120"/>
              </a:rPr>
              <a:t>12</a:t>
            </a:r>
            <a:endParaRPr lang="en-US" sz="850" dirty="0"/>
          </a:p>
        </p:txBody>
      </p:sp>
      <p:sp>
        <p:nvSpPr>
          <p:cNvPr id="6" name="Shape 4"/>
          <p:cNvSpPr/>
          <p:nvPr/>
        </p:nvSpPr>
        <p:spPr>
          <a:xfrm>
            <a:off x="502920" y="1444752"/>
            <a:ext cx="685800" cy="329184"/>
          </a:xfrm>
          <a:prstGeom prst="rect">
            <a:avLst/>
          </a:prstGeom>
          <a:solidFill>
            <a:srgbClr val="1F3B57"/>
          </a:solidFill>
          <a:ln w="6350">
            <a:solidFill>
              <a:srgbClr val="FFFFFF"/>
            </a:solidFill>
            <a:prstDash val="solid"/>
          </a:ln>
        </p:spPr>
      </p:sp>
      <p:sp>
        <p:nvSpPr>
          <p:cNvPr id="7" name="Text 5"/>
          <p:cNvSpPr/>
          <p:nvPr/>
        </p:nvSpPr>
        <p:spPr>
          <a:xfrm>
            <a:off x="576072" y="1444752"/>
            <a:ext cx="539496" cy="329184"/>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ID</a:t>
            </a:r>
            <a:endParaRPr lang="en-US" sz="1050" dirty="0"/>
          </a:p>
        </p:txBody>
      </p:sp>
      <p:sp>
        <p:nvSpPr>
          <p:cNvPr id="8" name="Shape 6"/>
          <p:cNvSpPr/>
          <p:nvPr/>
        </p:nvSpPr>
        <p:spPr>
          <a:xfrm>
            <a:off x="1188720" y="1444752"/>
            <a:ext cx="1874520" cy="329184"/>
          </a:xfrm>
          <a:prstGeom prst="rect">
            <a:avLst/>
          </a:prstGeom>
          <a:solidFill>
            <a:srgbClr val="1F3B57"/>
          </a:solidFill>
          <a:ln w="6350">
            <a:solidFill>
              <a:srgbClr val="FFFFFF"/>
            </a:solidFill>
            <a:prstDash val="solid"/>
          </a:ln>
        </p:spPr>
      </p:sp>
      <p:sp>
        <p:nvSpPr>
          <p:cNvPr id="9" name="Text 7"/>
          <p:cNvSpPr/>
          <p:nvPr/>
        </p:nvSpPr>
        <p:spPr>
          <a:xfrm>
            <a:off x="1261872" y="1444752"/>
            <a:ext cx="1728216" cy="329184"/>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Decision</a:t>
            </a:r>
            <a:endParaRPr lang="en-US" sz="1050" dirty="0"/>
          </a:p>
        </p:txBody>
      </p:sp>
      <p:sp>
        <p:nvSpPr>
          <p:cNvPr id="10" name="Shape 8"/>
          <p:cNvSpPr/>
          <p:nvPr/>
        </p:nvSpPr>
        <p:spPr>
          <a:xfrm>
            <a:off x="3063240" y="1444752"/>
            <a:ext cx="6656832" cy="329184"/>
          </a:xfrm>
          <a:prstGeom prst="rect">
            <a:avLst/>
          </a:prstGeom>
          <a:solidFill>
            <a:srgbClr val="1F3B57"/>
          </a:solidFill>
          <a:ln w="6350">
            <a:solidFill>
              <a:srgbClr val="FFFFFF"/>
            </a:solidFill>
            <a:prstDash val="solid"/>
          </a:ln>
        </p:spPr>
      </p:sp>
      <p:sp>
        <p:nvSpPr>
          <p:cNvPr id="11" name="Text 9"/>
          <p:cNvSpPr/>
          <p:nvPr/>
        </p:nvSpPr>
        <p:spPr>
          <a:xfrm>
            <a:off x="3136392" y="1444752"/>
            <a:ext cx="6510528" cy="329184"/>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Recommended default</a:t>
            </a:r>
            <a:endParaRPr lang="en-US" sz="1050" dirty="0"/>
          </a:p>
        </p:txBody>
      </p:sp>
      <p:sp>
        <p:nvSpPr>
          <p:cNvPr id="12" name="Shape 10"/>
          <p:cNvSpPr/>
          <p:nvPr/>
        </p:nvSpPr>
        <p:spPr>
          <a:xfrm>
            <a:off x="9720072" y="1444752"/>
            <a:ext cx="1965960" cy="329184"/>
          </a:xfrm>
          <a:prstGeom prst="rect">
            <a:avLst/>
          </a:prstGeom>
          <a:solidFill>
            <a:srgbClr val="1F3B57"/>
          </a:solidFill>
          <a:ln w="6350">
            <a:solidFill>
              <a:srgbClr val="FFFFFF"/>
            </a:solidFill>
            <a:prstDash val="solid"/>
          </a:ln>
        </p:spPr>
      </p:sp>
      <p:sp>
        <p:nvSpPr>
          <p:cNvPr id="13" name="Text 11"/>
          <p:cNvSpPr/>
          <p:nvPr/>
        </p:nvSpPr>
        <p:spPr>
          <a:xfrm>
            <a:off x="9793224" y="1444752"/>
            <a:ext cx="1819656" cy="329184"/>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Owner</a:t>
            </a:r>
            <a:endParaRPr lang="en-US" sz="1050" dirty="0"/>
          </a:p>
        </p:txBody>
      </p:sp>
      <p:sp>
        <p:nvSpPr>
          <p:cNvPr id="14" name="Shape 12"/>
          <p:cNvSpPr/>
          <p:nvPr/>
        </p:nvSpPr>
        <p:spPr>
          <a:xfrm>
            <a:off x="502920" y="1773936"/>
            <a:ext cx="685800" cy="434340"/>
          </a:xfrm>
          <a:prstGeom prst="rect">
            <a:avLst/>
          </a:prstGeom>
          <a:solidFill>
            <a:srgbClr val="FFFFFF"/>
          </a:solidFill>
          <a:ln w="6350">
            <a:solidFill>
              <a:srgbClr val="C9D2DB"/>
            </a:solidFill>
            <a:prstDash val="solid"/>
          </a:ln>
        </p:spPr>
      </p:sp>
      <p:sp>
        <p:nvSpPr>
          <p:cNvPr id="15" name="Text 13"/>
          <p:cNvSpPr/>
          <p:nvPr/>
        </p:nvSpPr>
        <p:spPr>
          <a:xfrm>
            <a:off x="576072" y="1773936"/>
            <a:ext cx="539496" cy="434340"/>
          </a:xfrm>
          <a:prstGeom prst="rect">
            <a:avLst/>
          </a:prstGeom>
          <a:noFill/>
          <a:ln/>
        </p:spPr>
        <p:txBody>
          <a:bodyPr wrap="square" lIns="0" tIns="0" rIns="0" bIns="0" rtlCol="0" anchor="ctr"/>
          <a:lstStyle/>
          <a:p>
            <a:pPr indent="0" marL="0">
              <a:lnSpc>
                <a:spcPts val="1050"/>
              </a:lnSpc>
              <a:buNone/>
            </a:pPr>
            <a:r>
              <a:rPr lang="en-US" sz="950" b="1" dirty="0">
                <a:solidFill>
                  <a:srgbClr val="0F6E84"/>
                </a:solidFill>
                <a:latin typeface="Calibri" pitchFamily="34" charset="0"/>
                <a:ea typeface="Calibri" pitchFamily="34" charset="-122"/>
                <a:cs typeface="Calibri" pitchFamily="34" charset="-120"/>
              </a:rPr>
              <a:t>D-01</a:t>
            </a:r>
            <a:endParaRPr lang="en-US" sz="950" dirty="0"/>
          </a:p>
        </p:txBody>
      </p:sp>
      <p:sp>
        <p:nvSpPr>
          <p:cNvPr id="16" name="Shape 14"/>
          <p:cNvSpPr/>
          <p:nvPr/>
        </p:nvSpPr>
        <p:spPr>
          <a:xfrm>
            <a:off x="1188720" y="1773936"/>
            <a:ext cx="1874520" cy="434340"/>
          </a:xfrm>
          <a:prstGeom prst="rect">
            <a:avLst/>
          </a:prstGeom>
          <a:solidFill>
            <a:srgbClr val="FFFFFF"/>
          </a:solidFill>
          <a:ln w="6350">
            <a:solidFill>
              <a:srgbClr val="C9D2DB"/>
            </a:solidFill>
            <a:prstDash val="solid"/>
          </a:ln>
        </p:spPr>
      </p:sp>
      <p:sp>
        <p:nvSpPr>
          <p:cNvPr id="17" name="Text 15"/>
          <p:cNvSpPr/>
          <p:nvPr/>
        </p:nvSpPr>
        <p:spPr>
          <a:xfrm>
            <a:off x="1261872" y="1773936"/>
            <a:ext cx="1728216" cy="434340"/>
          </a:xfrm>
          <a:prstGeom prst="rect">
            <a:avLst/>
          </a:prstGeom>
          <a:noFill/>
          <a:ln/>
        </p:spPr>
        <p:txBody>
          <a:bodyPr wrap="square" lIns="0" tIns="0" rIns="0" bIns="0" rtlCol="0" anchor="ctr"/>
          <a:lstStyle/>
          <a:p>
            <a:pPr indent="0" marL="0">
              <a:lnSpc>
                <a:spcPts val="1050"/>
              </a:lnSpc>
              <a:buNone/>
            </a:pPr>
            <a:r>
              <a:rPr lang="en-US" sz="950" b="1" dirty="0">
                <a:solidFill>
                  <a:srgbClr val="1F3B57"/>
                </a:solidFill>
                <a:latin typeface="Calibri" pitchFamily="34" charset="0"/>
                <a:ea typeface="Calibri" pitchFamily="34" charset="-122"/>
                <a:cs typeface="Calibri" pitchFamily="34" charset="-120"/>
              </a:rPr>
              <a:t>Enterprise scope</a:t>
            </a:r>
            <a:endParaRPr lang="en-US" sz="950" dirty="0"/>
          </a:p>
        </p:txBody>
      </p:sp>
      <p:sp>
        <p:nvSpPr>
          <p:cNvPr id="18" name="Shape 16"/>
          <p:cNvSpPr/>
          <p:nvPr/>
        </p:nvSpPr>
        <p:spPr>
          <a:xfrm>
            <a:off x="3063240" y="1773936"/>
            <a:ext cx="6656832" cy="434340"/>
          </a:xfrm>
          <a:prstGeom prst="rect">
            <a:avLst/>
          </a:prstGeom>
          <a:solidFill>
            <a:srgbClr val="FFFFFF"/>
          </a:solidFill>
          <a:ln w="6350">
            <a:solidFill>
              <a:srgbClr val="C9D2DB"/>
            </a:solidFill>
            <a:prstDash val="solid"/>
          </a:ln>
        </p:spPr>
      </p:sp>
      <p:sp>
        <p:nvSpPr>
          <p:cNvPr id="19" name="Text 17"/>
          <p:cNvSpPr/>
          <p:nvPr/>
        </p:nvSpPr>
        <p:spPr>
          <a:xfrm>
            <a:off x="3136392" y="1773936"/>
            <a:ext cx="6510528" cy="434340"/>
          </a:xfrm>
          <a:prstGeom prst="rect">
            <a:avLst/>
          </a:prstGeom>
          <a:noFill/>
          <a:ln/>
        </p:spPr>
        <p:txBody>
          <a:bodyPr wrap="square" lIns="0" tIns="0" rIns="0" bIns="0" rtlCol="0" anchor="ctr"/>
          <a:lstStyle/>
          <a:p>
            <a:pPr indent="0" marL="0">
              <a:lnSpc>
                <a:spcPts val="1050"/>
              </a:lnSpc>
              <a:buNone/>
            </a:pPr>
            <a:r>
              <a:rPr lang="en-US" sz="900" dirty="0">
                <a:solidFill>
                  <a:srgbClr val="2A2F36"/>
                </a:solidFill>
                <a:latin typeface="Calibri" pitchFamily="34" charset="0"/>
                <a:ea typeface="Calibri" pitchFamily="34" charset="-122"/>
                <a:cs typeface="Calibri" pitchFamily="34" charset="-120"/>
              </a:rPr>
              <a:t>Two validation priorities; conditional repower; foundation mapping; two evidence-map lanes; EPC/OE a route, prefab an enabler</a:t>
            </a:r>
            <a:endParaRPr lang="en-US" sz="900" dirty="0"/>
          </a:p>
        </p:txBody>
      </p:sp>
      <p:sp>
        <p:nvSpPr>
          <p:cNvPr id="20" name="Shape 18"/>
          <p:cNvSpPr/>
          <p:nvPr/>
        </p:nvSpPr>
        <p:spPr>
          <a:xfrm>
            <a:off x="9720072" y="1773936"/>
            <a:ext cx="1965960" cy="434340"/>
          </a:xfrm>
          <a:prstGeom prst="rect">
            <a:avLst/>
          </a:prstGeom>
          <a:solidFill>
            <a:srgbClr val="FFFFFF"/>
          </a:solidFill>
          <a:ln w="6350">
            <a:solidFill>
              <a:srgbClr val="C9D2DB"/>
            </a:solidFill>
            <a:prstDash val="solid"/>
          </a:ln>
        </p:spPr>
      </p:sp>
      <p:sp>
        <p:nvSpPr>
          <p:cNvPr id="21" name="Text 19"/>
          <p:cNvSpPr/>
          <p:nvPr/>
        </p:nvSpPr>
        <p:spPr>
          <a:xfrm>
            <a:off x="9793224" y="1773936"/>
            <a:ext cx="1819656" cy="434340"/>
          </a:xfrm>
          <a:prstGeom prst="rect">
            <a:avLst/>
          </a:prstGeom>
          <a:noFill/>
          <a:ln/>
        </p:spPr>
        <p:txBody>
          <a:bodyPr wrap="square" lIns="0" tIns="0" rIns="0" bIns="0" rtlCol="0" anchor="ctr"/>
          <a:lstStyle/>
          <a:p>
            <a:pPr indent="0" marL="0">
              <a:lnSpc>
                <a:spcPts val="1050"/>
              </a:lnSpc>
              <a:buNone/>
            </a:pPr>
            <a:r>
              <a:rPr lang="en-US" sz="950" dirty="0">
                <a:solidFill>
                  <a:srgbClr val="2A2F36"/>
                </a:solidFill>
                <a:latin typeface="Calibri" pitchFamily="34" charset="0"/>
                <a:ea typeface="Calibri" pitchFamily="34" charset="-122"/>
                <a:cs typeface="Calibri" pitchFamily="34" charset="-120"/>
              </a:rPr>
              <a:t>Marc; Amber ratifies</a:t>
            </a:r>
            <a:endParaRPr lang="en-US" sz="950" dirty="0"/>
          </a:p>
        </p:txBody>
      </p:sp>
      <p:sp>
        <p:nvSpPr>
          <p:cNvPr id="22" name="Shape 20"/>
          <p:cNvSpPr/>
          <p:nvPr/>
        </p:nvSpPr>
        <p:spPr>
          <a:xfrm>
            <a:off x="502920" y="2208276"/>
            <a:ext cx="685800" cy="434340"/>
          </a:xfrm>
          <a:prstGeom prst="rect">
            <a:avLst/>
          </a:prstGeom>
          <a:solidFill>
            <a:srgbClr val="F7F9FB"/>
          </a:solidFill>
          <a:ln w="6350">
            <a:solidFill>
              <a:srgbClr val="C9D2DB"/>
            </a:solidFill>
            <a:prstDash val="solid"/>
          </a:ln>
        </p:spPr>
      </p:sp>
      <p:sp>
        <p:nvSpPr>
          <p:cNvPr id="23" name="Text 21"/>
          <p:cNvSpPr/>
          <p:nvPr/>
        </p:nvSpPr>
        <p:spPr>
          <a:xfrm>
            <a:off x="576072" y="2208276"/>
            <a:ext cx="539496" cy="434340"/>
          </a:xfrm>
          <a:prstGeom prst="rect">
            <a:avLst/>
          </a:prstGeom>
          <a:noFill/>
          <a:ln/>
        </p:spPr>
        <p:txBody>
          <a:bodyPr wrap="square" lIns="0" tIns="0" rIns="0" bIns="0" rtlCol="0" anchor="ctr"/>
          <a:lstStyle/>
          <a:p>
            <a:pPr indent="0" marL="0">
              <a:lnSpc>
                <a:spcPts val="1050"/>
              </a:lnSpc>
              <a:buNone/>
            </a:pPr>
            <a:r>
              <a:rPr lang="en-US" sz="950" b="1" dirty="0">
                <a:solidFill>
                  <a:srgbClr val="0F6E84"/>
                </a:solidFill>
                <a:latin typeface="Calibri" pitchFamily="34" charset="0"/>
                <a:ea typeface="Calibri" pitchFamily="34" charset="-122"/>
                <a:cs typeface="Calibri" pitchFamily="34" charset="-120"/>
              </a:rPr>
              <a:t>D-02</a:t>
            </a:r>
            <a:endParaRPr lang="en-US" sz="950" dirty="0"/>
          </a:p>
        </p:txBody>
      </p:sp>
      <p:sp>
        <p:nvSpPr>
          <p:cNvPr id="24" name="Shape 22"/>
          <p:cNvSpPr/>
          <p:nvPr/>
        </p:nvSpPr>
        <p:spPr>
          <a:xfrm>
            <a:off x="1188720" y="2208276"/>
            <a:ext cx="1874520" cy="434340"/>
          </a:xfrm>
          <a:prstGeom prst="rect">
            <a:avLst/>
          </a:prstGeom>
          <a:solidFill>
            <a:srgbClr val="F7F9FB"/>
          </a:solidFill>
          <a:ln w="6350">
            <a:solidFill>
              <a:srgbClr val="C9D2DB"/>
            </a:solidFill>
            <a:prstDash val="solid"/>
          </a:ln>
        </p:spPr>
      </p:sp>
      <p:sp>
        <p:nvSpPr>
          <p:cNvPr id="25" name="Text 23"/>
          <p:cNvSpPr/>
          <p:nvPr/>
        </p:nvSpPr>
        <p:spPr>
          <a:xfrm>
            <a:off x="1261872" y="2208276"/>
            <a:ext cx="1728216" cy="434340"/>
          </a:xfrm>
          <a:prstGeom prst="rect">
            <a:avLst/>
          </a:prstGeom>
          <a:noFill/>
          <a:ln/>
        </p:spPr>
        <p:txBody>
          <a:bodyPr wrap="square" lIns="0" tIns="0" rIns="0" bIns="0" rtlCol="0" anchor="ctr"/>
          <a:lstStyle/>
          <a:p>
            <a:pPr indent="0" marL="0">
              <a:lnSpc>
                <a:spcPts val="1050"/>
              </a:lnSpc>
              <a:buNone/>
            </a:pPr>
            <a:r>
              <a:rPr lang="en-US" sz="950" b="1" dirty="0">
                <a:solidFill>
                  <a:srgbClr val="1F3B57"/>
                </a:solidFill>
                <a:latin typeface="Calibri" pitchFamily="34" charset="0"/>
                <a:ea typeface="Calibri" pitchFamily="34" charset="-122"/>
                <a:cs typeface="Calibri" pitchFamily="34" charset="-120"/>
              </a:rPr>
              <a:t>Operating model</a:t>
            </a:r>
            <a:endParaRPr lang="en-US" sz="950" dirty="0"/>
          </a:p>
        </p:txBody>
      </p:sp>
      <p:sp>
        <p:nvSpPr>
          <p:cNvPr id="26" name="Shape 24"/>
          <p:cNvSpPr/>
          <p:nvPr/>
        </p:nvSpPr>
        <p:spPr>
          <a:xfrm>
            <a:off x="3063240" y="2208276"/>
            <a:ext cx="6656832" cy="434340"/>
          </a:xfrm>
          <a:prstGeom prst="rect">
            <a:avLst/>
          </a:prstGeom>
          <a:solidFill>
            <a:srgbClr val="F7F9FB"/>
          </a:solidFill>
          <a:ln w="6350">
            <a:solidFill>
              <a:srgbClr val="C9D2DB"/>
            </a:solidFill>
            <a:prstDash val="solid"/>
          </a:ln>
        </p:spPr>
      </p:sp>
      <p:sp>
        <p:nvSpPr>
          <p:cNvPr id="27" name="Text 25"/>
          <p:cNvSpPr/>
          <p:nvPr/>
        </p:nvSpPr>
        <p:spPr>
          <a:xfrm>
            <a:off x="3136392" y="2208276"/>
            <a:ext cx="6510528" cy="434340"/>
          </a:xfrm>
          <a:prstGeom prst="rect">
            <a:avLst/>
          </a:prstGeom>
          <a:noFill/>
          <a:ln/>
        </p:spPr>
        <p:txBody>
          <a:bodyPr wrap="square" lIns="0" tIns="0" rIns="0" bIns="0" rtlCol="0" anchor="ctr"/>
          <a:lstStyle/>
          <a:p>
            <a:pPr indent="0" marL="0">
              <a:lnSpc>
                <a:spcPts val="1050"/>
              </a:lnSpc>
              <a:buNone/>
            </a:pPr>
            <a:r>
              <a:rPr lang="en-US" sz="900" dirty="0">
                <a:solidFill>
                  <a:srgbClr val="2A2F36"/>
                </a:solidFill>
                <a:latin typeface="Calibri" pitchFamily="34" charset="0"/>
                <a:ea typeface="Calibri" pitchFamily="34" charset="-122"/>
                <a:cs typeface="Calibri" pitchFamily="34" charset="-120"/>
              </a:rPr>
              <a:t>Interim federated model; pilot Aug 21 to Nov 18; Amber ratifies, modifies, or stops in September</a:t>
            </a:r>
            <a:endParaRPr lang="en-US" sz="900" dirty="0"/>
          </a:p>
        </p:txBody>
      </p:sp>
      <p:sp>
        <p:nvSpPr>
          <p:cNvPr id="28" name="Shape 26"/>
          <p:cNvSpPr/>
          <p:nvPr/>
        </p:nvSpPr>
        <p:spPr>
          <a:xfrm>
            <a:off x="9720072" y="2208276"/>
            <a:ext cx="1965960" cy="434340"/>
          </a:xfrm>
          <a:prstGeom prst="rect">
            <a:avLst/>
          </a:prstGeom>
          <a:solidFill>
            <a:srgbClr val="F7F9FB"/>
          </a:solidFill>
          <a:ln w="6350">
            <a:solidFill>
              <a:srgbClr val="C9D2DB"/>
            </a:solidFill>
            <a:prstDash val="solid"/>
          </a:ln>
        </p:spPr>
      </p:sp>
      <p:sp>
        <p:nvSpPr>
          <p:cNvPr id="29" name="Text 27"/>
          <p:cNvSpPr/>
          <p:nvPr/>
        </p:nvSpPr>
        <p:spPr>
          <a:xfrm>
            <a:off x="9793224" y="2208276"/>
            <a:ext cx="1819656" cy="434340"/>
          </a:xfrm>
          <a:prstGeom prst="rect">
            <a:avLst/>
          </a:prstGeom>
          <a:noFill/>
          <a:ln/>
        </p:spPr>
        <p:txBody>
          <a:bodyPr wrap="square" lIns="0" tIns="0" rIns="0" bIns="0" rtlCol="0" anchor="ctr"/>
          <a:lstStyle/>
          <a:p>
            <a:pPr indent="0" marL="0">
              <a:lnSpc>
                <a:spcPts val="1050"/>
              </a:lnSpc>
              <a:buNone/>
            </a:pPr>
            <a:r>
              <a:rPr lang="en-US" sz="950" dirty="0">
                <a:solidFill>
                  <a:srgbClr val="2A2F36"/>
                </a:solidFill>
                <a:latin typeface="Calibri" pitchFamily="34" charset="0"/>
                <a:ea typeface="Calibri" pitchFamily="34" charset="-122"/>
                <a:cs typeface="Calibri" pitchFamily="34" charset="-120"/>
              </a:rPr>
              <a:t>Marc; Amber</a:t>
            </a:r>
            <a:endParaRPr lang="en-US" sz="950" dirty="0"/>
          </a:p>
        </p:txBody>
      </p:sp>
      <p:sp>
        <p:nvSpPr>
          <p:cNvPr id="30" name="Shape 28"/>
          <p:cNvSpPr/>
          <p:nvPr/>
        </p:nvSpPr>
        <p:spPr>
          <a:xfrm>
            <a:off x="502920" y="2642616"/>
            <a:ext cx="685800" cy="434340"/>
          </a:xfrm>
          <a:prstGeom prst="rect">
            <a:avLst/>
          </a:prstGeom>
          <a:solidFill>
            <a:srgbClr val="FFFFFF"/>
          </a:solidFill>
          <a:ln w="6350">
            <a:solidFill>
              <a:srgbClr val="C9D2DB"/>
            </a:solidFill>
            <a:prstDash val="solid"/>
          </a:ln>
        </p:spPr>
      </p:sp>
      <p:sp>
        <p:nvSpPr>
          <p:cNvPr id="31" name="Text 29"/>
          <p:cNvSpPr/>
          <p:nvPr/>
        </p:nvSpPr>
        <p:spPr>
          <a:xfrm>
            <a:off x="576072" y="2642616"/>
            <a:ext cx="539496" cy="434340"/>
          </a:xfrm>
          <a:prstGeom prst="rect">
            <a:avLst/>
          </a:prstGeom>
          <a:noFill/>
          <a:ln/>
        </p:spPr>
        <p:txBody>
          <a:bodyPr wrap="square" lIns="0" tIns="0" rIns="0" bIns="0" rtlCol="0" anchor="ctr"/>
          <a:lstStyle/>
          <a:p>
            <a:pPr indent="0" marL="0">
              <a:lnSpc>
                <a:spcPts val="1050"/>
              </a:lnSpc>
              <a:buNone/>
            </a:pPr>
            <a:r>
              <a:rPr lang="en-US" sz="950" b="1" dirty="0">
                <a:solidFill>
                  <a:srgbClr val="0F6E84"/>
                </a:solidFill>
                <a:latin typeface="Calibri" pitchFamily="34" charset="0"/>
                <a:ea typeface="Calibri" pitchFamily="34" charset="-122"/>
                <a:cs typeface="Calibri" pitchFamily="34" charset="-120"/>
              </a:rPr>
              <a:t>D-03</a:t>
            </a:r>
            <a:endParaRPr lang="en-US" sz="950" dirty="0"/>
          </a:p>
        </p:txBody>
      </p:sp>
      <p:sp>
        <p:nvSpPr>
          <p:cNvPr id="32" name="Shape 30"/>
          <p:cNvSpPr/>
          <p:nvPr/>
        </p:nvSpPr>
        <p:spPr>
          <a:xfrm>
            <a:off x="1188720" y="2642616"/>
            <a:ext cx="1874520" cy="434340"/>
          </a:xfrm>
          <a:prstGeom prst="rect">
            <a:avLst/>
          </a:prstGeom>
          <a:solidFill>
            <a:srgbClr val="FFFFFF"/>
          </a:solidFill>
          <a:ln w="6350">
            <a:solidFill>
              <a:srgbClr val="C9D2DB"/>
            </a:solidFill>
            <a:prstDash val="solid"/>
          </a:ln>
        </p:spPr>
      </p:sp>
      <p:sp>
        <p:nvSpPr>
          <p:cNvPr id="33" name="Text 31"/>
          <p:cNvSpPr/>
          <p:nvPr/>
        </p:nvSpPr>
        <p:spPr>
          <a:xfrm>
            <a:off x="1261872" y="2642616"/>
            <a:ext cx="1728216" cy="434340"/>
          </a:xfrm>
          <a:prstGeom prst="rect">
            <a:avLst/>
          </a:prstGeom>
          <a:noFill/>
          <a:ln/>
        </p:spPr>
        <p:txBody>
          <a:bodyPr wrap="square" lIns="0" tIns="0" rIns="0" bIns="0" rtlCol="0" anchor="ctr"/>
          <a:lstStyle/>
          <a:p>
            <a:pPr indent="0" marL="0">
              <a:lnSpc>
                <a:spcPts val="1050"/>
              </a:lnSpc>
              <a:buNone/>
            </a:pPr>
            <a:r>
              <a:rPr lang="en-US" sz="950" b="1" dirty="0">
                <a:solidFill>
                  <a:srgbClr val="1F3B57"/>
                </a:solidFill>
                <a:latin typeface="Calibri" pitchFamily="34" charset="0"/>
                <a:ea typeface="Calibri" pitchFamily="34" charset="-122"/>
                <a:cs typeface="Calibri" pitchFamily="34" charset="-120"/>
              </a:rPr>
              <a:t>PowerGen authority</a:t>
            </a:r>
            <a:endParaRPr lang="en-US" sz="950" dirty="0"/>
          </a:p>
        </p:txBody>
      </p:sp>
      <p:sp>
        <p:nvSpPr>
          <p:cNvPr id="34" name="Shape 32"/>
          <p:cNvSpPr/>
          <p:nvPr/>
        </p:nvSpPr>
        <p:spPr>
          <a:xfrm>
            <a:off x="3063240" y="2642616"/>
            <a:ext cx="6656832" cy="434340"/>
          </a:xfrm>
          <a:prstGeom prst="rect">
            <a:avLst/>
          </a:prstGeom>
          <a:solidFill>
            <a:srgbClr val="FFFFFF"/>
          </a:solidFill>
          <a:ln w="6350">
            <a:solidFill>
              <a:srgbClr val="C9D2DB"/>
            </a:solidFill>
            <a:prstDash val="solid"/>
          </a:ln>
        </p:spPr>
      </p:sp>
      <p:sp>
        <p:nvSpPr>
          <p:cNvPr id="35" name="Text 33"/>
          <p:cNvSpPr/>
          <p:nvPr/>
        </p:nvSpPr>
        <p:spPr>
          <a:xfrm>
            <a:off x="3136392" y="2642616"/>
            <a:ext cx="6510528" cy="434340"/>
          </a:xfrm>
          <a:prstGeom prst="rect">
            <a:avLst/>
          </a:prstGeom>
          <a:noFill/>
          <a:ln/>
        </p:spPr>
        <p:txBody>
          <a:bodyPr wrap="square" lIns="0" tIns="0" rIns="0" bIns="0" rtlCol="0" anchor="ctr"/>
          <a:lstStyle/>
          <a:p>
            <a:pPr indent="0" marL="0">
              <a:lnSpc>
                <a:spcPts val="1050"/>
              </a:lnSpc>
              <a:buNone/>
            </a:pPr>
            <a:r>
              <a:rPr lang="en-US" sz="900" dirty="0">
                <a:solidFill>
                  <a:srgbClr val="2A2F36"/>
                </a:solidFill>
                <a:latin typeface="Calibri" pitchFamily="34" charset="0"/>
                <a:ea typeface="Calibri" pitchFamily="34" charset="-122"/>
                <a:cs typeface="Calibri" pitchFamily="34" charset="-120"/>
              </a:rPr>
              <a:t>Strategy, prioritization, consolidated view, discovery standards, orchestration, reporting; Marc approves material changes</a:t>
            </a:r>
            <a:endParaRPr lang="en-US" sz="900" dirty="0"/>
          </a:p>
        </p:txBody>
      </p:sp>
      <p:sp>
        <p:nvSpPr>
          <p:cNvPr id="36" name="Shape 34"/>
          <p:cNvSpPr/>
          <p:nvPr/>
        </p:nvSpPr>
        <p:spPr>
          <a:xfrm>
            <a:off x="9720072" y="2642616"/>
            <a:ext cx="1965960" cy="434340"/>
          </a:xfrm>
          <a:prstGeom prst="rect">
            <a:avLst/>
          </a:prstGeom>
          <a:solidFill>
            <a:srgbClr val="FFFFFF"/>
          </a:solidFill>
          <a:ln w="6350">
            <a:solidFill>
              <a:srgbClr val="C9D2DB"/>
            </a:solidFill>
            <a:prstDash val="solid"/>
          </a:ln>
        </p:spPr>
      </p:sp>
      <p:sp>
        <p:nvSpPr>
          <p:cNvPr id="37" name="Text 35"/>
          <p:cNvSpPr/>
          <p:nvPr/>
        </p:nvSpPr>
        <p:spPr>
          <a:xfrm>
            <a:off x="9793224" y="2642616"/>
            <a:ext cx="1819656" cy="434340"/>
          </a:xfrm>
          <a:prstGeom prst="rect">
            <a:avLst/>
          </a:prstGeom>
          <a:noFill/>
          <a:ln/>
        </p:spPr>
        <p:txBody>
          <a:bodyPr wrap="square" lIns="0" tIns="0" rIns="0" bIns="0" rtlCol="0" anchor="ctr"/>
          <a:lstStyle/>
          <a:p>
            <a:pPr indent="0" marL="0">
              <a:lnSpc>
                <a:spcPts val="1050"/>
              </a:lnSpc>
              <a:buNone/>
            </a:pPr>
            <a:r>
              <a:rPr lang="en-US" sz="950" dirty="0">
                <a:solidFill>
                  <a:srgbClr val="2A2F36"/>
                </a:solidFill>
                <a:latin typeface="Calibri" pitchFamily="34" charset="0"/>
                <a:ea typeface="Calibri" pitchFamily="34" charset="-122"/>
                <a:cs typeface="Calibri" pitchFamily="34" charset="-120"/>
              </a:rPr>
              <a:t>Marc</a:t>
            </a:r>
            <a:endParaRPr lang="en-US" sz="950" dirty="0"/>
          </a:p>
        </p:txBody>
      </p:sp>
      <p:sp>
        <p:nvSpPr>
          <p:cNvPr id="38" name="Shape 36"/>
          <p:cNvSpPr/>
          <p:nvPr/>
        </p:nvSpPr>
        <p:spPr>
          <a:xfrm>
            <a:off x="502920" y="3076956"/>
            <a:ext cx="685800" cy="434340"/>
          </a:xfrm>
          <a:prstGeom prst="rect">
            <a:avLst/>
          </a:prstGeom>
          <a:solidFill>
            <a:srgbClr val="F7F9FB"/>
          </a:solidFill>
          <a:ln w="6350">
            <a:solidFill>
              <a:srgbClr val="C9D2DB"/>
            </a:solidFill>
            <a:prstDash val="solid"/>
          </a:ln>
        </p:spPr>
      </p:sp>
      <p:sp>
        <p:nvSpPr>
          <p:cNvPr id="39" name="Text 37"/>
          <p:cNvSpPr/>
          <p:nvPr/>
        </p:nvSpPr>
        <p:spPr>
          <a:xfrm>
            <a:off x="576072" y="3076956"/>
            <a:ext cx="539496" cy="434340"/>
          </a:xfrm>
          <a:prstGeom prst="rect">
            <a:avLst/>
          </a:prstGeom>
          <a:noFill/>
          <a:ln/>
        </p:spPr>
        <p:txBody>
          <a:bodyPr wrap="square" lIns="0" tIns="0" rIns="0" bIns="0" rtlCol="0" anchor="ctr"/>
          <a:lstStyle/>
          <a:p>
            <a:pPr indent="0" marL="0">
              <a:lnSpc>
                <a:spcPts val="1050"/>
              </a:lnSpc>
              <a:buNone/>
            </a:pPr>
            <a:r>
              <a:rPr lang="en-US" sz="950" b="1" dirty="0">
                <a:solidFill>
                  <a:srgbClr val="0F6E84"/>
                </a:solidFill>
                <a:latin typeface="Calibri" pitchFamily="34" charset="0"/>
                <a:ea typeface="Calibri" pitchFamily="34" charset="-122"/>
                <a:cs typeface="Calibri" pitchFamily="34" charset="-120"/>
              </a:rPr>
              <a:t>D-04</a:t>
            </a:r>
            <a:endParaRPr lang="en-US" sz="950" dirty="0"/>
          </a:p>
        </p:txBody>
      </p:sp>
      <p:sp>
        <p:nvSpPr>
          <p:cNvPr id="40" name="Shape 38"/>
          <p:cNvSpPr/>
          <p:nvPr/>
        </p:nvSpPr>
        <p:spPr>
          <a:xfrm>
            <a:off x="1188720" y="3076956"/>
            <a:ext cx="1874520" cy="434340"/>
          </a:xfrm>
          <a:prstGeom prst="rect">
            <a:avLst/>
          </a:prstGeom>
          <a:solidFill>
            <a:srgbClr val="F7F9FB"/>
          </a:solidFill>
          <a:ln w="6350">
            <a:solidFill>
              <a:srgbClr val="C9D2DB"/>
            </a:solidFill>
            <a:prstDash val="solid"/>
          </a:ln>
        </p:spPr>
      </p:sp>
      <p:sp>
        <p:nvSpPr>
          <p:cNvPr id="41" name="Text 39"/>
          <p:cNvSpPr/>
          <p:nvPr/>
        </p:nvSpPr>
        <p:spPr>
          <a:xfrm>
            <a:off x="1261872" y="3076956"/>
            <a:ext cx="1728216" cy="434340"/>
          </a:xfrm>
          <a:prstGeom prst="rect">
            <a:avLst/>
          </a:prstGeom>
          <a:noFill/>
          <a:ln/>
        </p:spPr>
        <p:txBody>
          <a:bodyPr wrap="square" lIns="0" tIns="0" rIns="0" bIns="0" rtlCol="0" anchor="ctr"/>
          <a:lstStyle/>
          <a:p>
            <a:pPr indent="0" marL="0">
              <a:lnSpc>
                <a:spcPts val="1050"/>
              </a:lnSpc>
              <a:buNone/>
            </a:pPr>
            <a:r>
              <a:rPr lang="en-US" sz="950" b="1" dirty="0">
                <a:solidFill>
                  <a:srgbClr val="1F3B57"/>
                </a:solidFill>
                <a:latin typeface="Calibri" pitchFamily="34" charset="0"/>
                <a:ea typeface="Calibri" pitchFamily="34" charset="-122"/>
                <a:cs typeface="Calibri" pitchFamily="34" charset="-120"/>
              </a:rPr>
              <a:t>Validation priorities</a:t>
            </a:r>
            <a:endParaRPr lang="en-US" sz="950" dirty="0"/>
          </a:p>
        </p:txBody>
      </p:sp>
      <p:sp>
        <p:nvSpPr>
          <p:cNvPr id="42" name="Shape 40"/>
          <p:cNvSpPr/>
          <p:nvPr/>
        </p:nvSpPr>
        <p:spPr>
          <a:xfrm>
            <a:off x="3063240" y="3076956"/>
            <a:ext cx="6656832" cy="434340"/>
          </a:xfrm>
          <a:prstGeom prst="rect">
            <a:avLst/>
          </a:prstGeom>
          <a:solidFill>
            <a:srgbClr val="F7F9FB"/>
          </a:solidFill>
          <a:ln w="6350">
            <a:solidFill>
              <a:srgbClr val="C9D2DB"/>
            </a:solidFill>
            <a:prstDash val="solid"/>
          </a:ln>
        </p:spPr>
      </p:sp>
      <p:sp>
        <p:nvSpPr>
          <p:cNvPr id="43" name="Text 41"/>
          <p:cNvSpPr/>
          <p:nvPr/>
        </p:nvSpPr>
        <p:spPr>
          <a:xfrm>
            <a:off x="3136392" y="3076956"/>
            <a:ext cx="6510528" cy="434340"/>
          </a:xfrm>
          <a:prstGeom prst="rect">
            <a:avLst/>
          </a:prstGeom>
          <a:noFill/>
          <a:ln/>
        </p:spPr>
        <p:txBody>
          <a:bodyPr wrap="square" lIns="0" tIns="0" rIns="0" bIns="0" rtlCol="0" anchor="ctr"/>
          <a:lstStyle/>
          <a:p>
            <a:pPr indent="0" marL="0">
              <a:lnSpc>
                <a:spcPts val="1050"/>
              </a:lnSpc>
              <a:buNone/>
            </a:pPr>
            <a:r>
              <a:rPr lang="en-US" sz="900" dirty="0">
                <a:solidFill>
                  <a:srgbClr val="2A2F36"/>
                </a:solidFill>
                <a:latin typeface="Calibri" pitchFamily="34" charset="0"/>
                <a:ea typeface="Calibri" pitchFamily="34" charset="-122"/>
                <a:cs typeface="Calibri" pitchFamily="34" charset="-120"/>
              </a:rPr>
              <a:t>New-build gas and OEM/modular now; repower only after its activation gate</a:t>
            </a:r>
            <a:endParaRPr lang="en-US" sz="900" dirty="0"/>
          </a:p>
        </p:txBody>
      </p:sp>
      <p:sp>
        <p:nvSpPr>
          <p:cNvPr id="44" name="Shape 42"/>
          <p:cNvSpPr/>
          <p:nvPr/>
        </p:nvSpPr>
        <p:spPr>
          <a:xfrm>
            <a:off x="9720072" y="3076956"/>
            <a:ext cx="1965960" cy="434340"/>
          </a:xfrm>
          <a:prstGeom prst="rect">
            <a:avLst/>
          </a:prstGeom>
          <a:solidFill>
            <a:srgbClr val="F7F9FB"/>
          </a:solidFill>
          <a:ln w="6350">
            <a:solidFill>
              <a:srgbClr val="C9D2DB"/>
            </a:solidFill>
            <a:prstDash val="solid"/>
          </a:ln>
        </p:spPr>
      </p:sp>
      <p:sp>
        <p:nvSpPr>
          <p:cNvPr id="45" name="Text 43"/>
          <p:cNvSpPr/>
          <p:nvPr/>
        </p:nvSpPr>
        <p:spPr>
          <a:xfrm>
            <a:off x="9793224" y="3076956"/>
            <a:ext cx="1819656" cy="434340"/>
          </a:xfrm>
          <a:prstGeom prst="rect">
            <a:avLst/>
          </a:prstGeom>
          <a:noFill/>
          <a:ln/>
        </p:spPr>
        <p:txBody>
          <a:bodyPr wrap="square" lIns="0" tIns="0" rIns="0" bIns="0" rtlCol="0" anchor="ctr"/>
          <a:lstStyle/>
          <a:p>
            <a:pPr indent="0" marL="0">
              <a:lnSpc>
                <a:spcPts val="1050"/>
              </a:lnSpc>
              <a:buNone/>
            </a:pPr>
            <a:r>
              <a:rPr lang="en-US" sz="950" dirty="0">
                <a:solidFill>
                  <a:srgbClr val="2A2F36"/>
                </a:solidFill>
                <a:latin typeface="Calibri" pitchFamily="34" charset="0"/>
                <a:ea typeface="Calibri" pitchFamily="34" charset="-122"/>
                <a:cs typeface="Calibri" pitchFamily="34" charset="-120"/>
              </a:rPr>
              <a:t>Marc</a:t>
            </a:r>
            <a:endParaRPr lang="en-US" sz="950" dirty="0"/>
          </a:p>
        </p:txBody>
      </p:sp>
      <p:sp>
        <p:nvSpPr>
          <p:cNvPr id="46" name="Shape 44"/>
          <p:cNvSpPr/>
          <p:nvPr/>
        </p:nvSpPr>
        <p:spPr>
          <a:xfrm>
            <a:off x="502920" y="3511296"/>
            <a:ext cx="685800" cy="434340"/>
          </a:xfrm>
          <a:prstGeom prst="rect">
            <a:avLst/>
          </a:prstGeom>
          <a:solidFill>
            <a:srgbClr val="FFFFFF"/>
          </a:solidFill>
          <a:ln w="6350">
            <a:solidFill>
              <a:srgbClr val="C9D2DB"/>
            </a:solidFill>
            <a:prstDash val="solid"/>
          </a:ln>
        </p:spPr>
      </p:sp>
      <p:sp>
        <p:nvSpPr>
          <p:cNvPr id="47" name="Text 45"/>
          <p:cNvSpPr/>
          <p:nvPr/>
        </p:nvSpPr>
        <p:spPr>
          <a:xfrm>
            <a:off x="576072" y="3511296"/>
            <a:ext cx="539496" cy="434340"/>
          </a:xfrm>
          <a:prstGeom prst="rect">
            <a:avLst/>
          </a:prstGeom>
          <a:noFill/>
          <a:ln/>
        </p:spPr>
        <p:txBody>
          <a:bodyPr wrap="square" lIns="0" tIns="0" rIns="0" bIns="0" rtlCol="0" anchor="ctr"/>
          <a:lstStyle/>
          <a:p>
            <a:pPr indent="0" marL="0">
              <a:lnSpc>
                <a:spcPts val="1050"/>
              </a:lnSpc>
              <a:buNone/>
            </a:pPr>
            <a:r>
              <a:rPr lang="en-US" sz="950" b="1" dirty="0">
                <a:solidFill>
                  <a:srgbClr val="0F6E84"/>
                </a:solidFill>
                <a:latin typeface="Calibri" pitchFamily="34" charset="0"/>
                <a:ea typeface="Calibri" pitchFamily="34" charset="-122"/>
                <a:cs typeface="Calibri" pitchFamily="34" charset="-120"/>
              </a:rPr>
              <a:t>D-05</a:t>
            </a:r>
            <a:endParaRPr lang="en-US" sz="950" dirty="0"/>
          </a:p>
        </p:txBody>
      </p:sp>
      <p:sp>
        <p:nvSpPr>
          <p:cNvPr id="48" name="Shape 46"/>
          <p:cNvSpPr/>
          <p:nvPr/>
        </p:nvSpPr>
        <p:spPr>
          <a:xfrm>
            <a:off x="1188720" y="3511296"/>
            <a:ext cx="1874520" cy="434340"/>
          </a:xfrm>
          <a:prstGeom prst="rect">
            <a:avLst/>
          </a:prstGeom>
          <a:solidFill>
            <a:srgbClr val="FFFFFF"/>
          </a:solidFill>
          <a:ln w="6350">
            <a:solidFill>
              <a:srgbClr val="C9D2DB"/>
            </a:solidFill>
            <a:prstDash val="solid"/>
          </a:ln>
        </p:spPr>
      </p:sp>
      <p:sp>
        <p:nvSpPr>
          <p:cNvPr id="49" name="Text 47"/>
          <p:cNvSpPr/>
          <p:nvPr/>
        </p:nvSpPr>
        <p:spPr>
          <a:xfrm>
            <a:off x="1261872" y="3511296"/>
            <a:ext cx="1728216" cy="434340"/>
          </a:xfrm>
          <a:prstGeom prst="rect">
            <a:avLst/>
          </a:prstGeom>
          <a:noFill/>
          <a:ln/>
        </p:spPr>
        <p:txBody>
          <a:bodyPr wrap="square" lIns="0" tIns="0" rIns="0" bIns="0" rtlCol="0" anchor="ctr"/>
          <a:lstStyle/>
          <a:p>
            <a:pPr indent="0" marL="0">
              <a:lnSpc>
                <a:spcPts val="1050"/>
              </a:lnSpc>
              <a:buNone/>
            </a:pPr>
            <a:r>
              <a:rPr lang="en-US" sz="950" b="1" dirty="0">
                <a:solidFill>
                  <a:srgbClr val="1F3B57"/>
                </a:solidFill>
                <a:latin typeface="Calibri" pitchFamily="34" charset="0"/>
                <a:ea typeface="Calibri" pitchFamily="34" charset="-122"/>
                <a:cs typeface="Calibri" pitchFamily="34" charset="-120"/>
              </a:rPr>
              <a:t>Pursuit leadership</a:t>
            </a:r>
            <a:endParaRPr lang="en-US" sz="950" dirty="0"/>
          </a:p>
        </p:txBody>
      </p:sp>
      <p:sp>
        <p:nvSpPr>
          <p:cNvPr id="50" name="Shape 48"/>
          <p:cNvSpPr/>
          <p:nvPr/>
        </p:nvSpPr>
        <p:spPr>
          <a:xfrm>
            <a:off x="3063240" y="3511296"/>
            <a:ext cx="6656832" cy="434340"/>
          </a:xfrm>
          <a:prstGeom prst="rect">
            <a:avLst/>
          </a:prstGeom>
          <a:solidFill>
            <a:srgbClr val="FFFFFF"/>
          </a:solidFill>
          <a:ln w="6350">
            <a:solidFill>
              <a:srgbClr val="C9D2DB"/>
            </a:solidFill>
            <a:prstDash val="solid"/>
          </a:ln>
        </p:spPr>
      </p:sp>
      <p:sp>
        <p:nvSpPr>
          <p:cNvPr id="51" name="Text 49"/>
          <p:cNvSpPr/>
          <p:nvPr/>
        </p:nvSpPr>
        <p:spPr>
          <a:xfrm>
            <a:off x="3136392" y="3511296"/>
            <a:ext cx="6510528" cy="434340"/>
          </a:xfrm>
          <a:prstGeom prst="rect">
            <a:avLst/>
          </a:prstGeom>
          <a:noFill/>
          <a:ln/>
        </p:spPr>
        <p:txBody>
          <a:bodyPr wrap="square" lIns="0" tIns="0" rIns="0" bIns="0" rtlCol="0" anchor="ctr"/>
          <a:lstStyle/>
          <a:p>
            <a:pPr indent="0" marL="0">
              <a:lnSpc>
                <a:spcPts val="1050"/>
              </a:lnSpc>
              <a:buNone/>
            </a:pPr>
            <a:r>
              <a:rPr lang="en-US" sz="900" dirty="0">
                <a:solidFill>
                  <a:srgbClr val="2A2F36"/>
                </a:solidFill>
                <a:latin typeface="Calibri" pitchFamily="34" charset="0"/>
                <a:ea typeface="Calibri" pitchFamily="34" charset="-122"/>
                <a:cs typeface="Calibri" pitchFamily="34" charset="-120"/>
              </a:rPr>
              <a:t>One orchestration owner, existing relationship lead, product/scope owner per pursuit</a:t>
            </a:r>
            <a:endParaRPr lang="en-US" sz="900" dirty="0"/>
          </a:p>
        </p:txBody>
      </p:sp>
      <p:sp>
        <p:nvSpPr>
          <p:cNvPr id="52" name="Shape 50"/>
          <p:cNvSpPr/>
          <p:nvPr/>
        </p:nvSpPr>
        <p:spPr>
          <a:xfrm>
            <a:off x="9720072" y="3511296"/>
            <a:ext cx="1965960" cy="434340"/>
          </a:xfrm>
          <a:prstGeom prst="rect">
            <a:avLst/>
          </a:prstGeom>
          <a:solidFill>
            <a:srgbClr val="FFFFFF"/>
          </a:solidFill>
          <a:ln w="6350">
            <a:solidFill>
              <a:srgbClr val="C9D2DB"/>
            </a:solidFill>
            <a:prstDash val="solid"/>
          </a:ln>
        </p:spPr>
      </p:sp>
      <p:sp>
        <p:nvSpPr>
          <p:cNvPr id="53" name="Text 51"/>
          <p:cNvSpPr/>
          <p:nvPr/>
        </p:nvSpPr>
        <p:spPr>
          <a:xfrm>
            <a:off x="9793224" y="3511296"/>
            <a:ext cx="1819656" cy="434340"/>
          </a:xfrm>
          <a:prstGeom prst="rect">
            <a:avLst/>
          </a:prstGeom>
          <a:noFill/>
          <a:ln/>
        </p:spPr>
        <p:txBody>
          <a:bodyPr wrap="square" lIns="0" tIns="0" rIns="0" bIns="0" rtlCol="0" anchor="ctr"/>
          <a:lstStyle/>
          <a:p>
            <a:pPr indent="0" marL="0">
              <a:lnSpc>
                <a:spcPts val="1050"/>
              </a:lnSpc>
              <a:buNone/>
            </a:pPr>
            <a:r>
              <a:rPr lang="en-US" sz="950" dirty="0">
                <a:solidFill>
                  <a:srgbClr val="2A2F36"/>
                </a:solidFill>
                <a:latin typeface="Calibri" pitchFamily="34" charset="0"/>
                <a:ea typeface="Calibri" pitchFamily="34" charset="-122"/>
                <a:cs typeface="Calibri" pitchFamily="34" charset="-120"/>
              </a:rPr>
              <a:t>Marc + leaders</a:t>
            </a:r>
            <a:endParaRPr lang="en-US" sz="950" dirty="0"/>
          </a:p>
        </p:txBody>
      </p:sp>
      <p:sp>
        <p:nvSpPr>
          <p:cNvPr id="54" name="Shape 52"/>
          <p:cNvSpPr/>
          <p:nvPr/>
        </p:nvSpPr>
        <p:spPr>
          <a:xfrm>
            <a:off x="502920" y="3945636"/>
            <a:ext cx="685800" cy="434340"/>
          </a:xfrm>
          <a:prstGeom prst="rect">
            <a:avLst/>
          </a:prstGeom>
          <a:solidFill>
            <a:srgbClr val="F7F9FB"/>
          </a:solidFill>
          <a:ln w="6350">
            <a:solidFill>
              <a:srgbClr val="C9D2DB"/>
            </a:solidFill>
            <a:prstDash val="solid"/>
          </a:ln>
        </p:spPr>
      </p:sp>
      <p:sp>
        <p:nvSpPr>
          <p:cNvPr id="55" name="Text 53"/>
          <p:cNvSpPr/>
          <p:nvPr/>
        </p:nvSpPr>
        <p:spPr>
          <a:xfrm>
            <a:off x="576072" y="3945636"/>
            <a:ext cx="539496" cy="434340"/>
          </a:xfrm>
          <a:prstGeom prst="rect">
            <a:avLst/>
          </a:prstGeom>
          <a:noFill/>
          <a:ln/>
        </p:spPr>
        <p:txBody>
          <a:bodyPr wrap="square" lIns="0" tIns="0" rIns="0" bIns="0" rtlCol="0" anchor="ctr"/>
          <a:lstStyle/>
          <a:p>
            <a:pPr indent="0" marL="0">
              <a:lnSpc>
                <a:spcPts val="1050"/>
              </a:lnSpc>
              <a:buNone/>
            </a:pPr>
            <a:r>
              <a:rPr lang="en-US" sz="950" b="1" dirty="0">
                <a:solidFill>
                  <a:srgbClr val="0F6E84"/>
                </a:solidFill>
                <a:latin typeface="Calibri" pitchFamily="34" charset="0"/>
                <a:ea typeface="Calibri" pitchFamily="34" charset="-122"/>
                <a:cs typeface="Calibri" pitchFamily="34" charset="-120"/>
              </a:rPr>
              <a:t>D-06</a:t>
            </a:r>
            <a:endParaRPr lang="en-US" sz="950" dirty="0"/>
          </a:p>
        </p:txBody>
      </p:sp>
      <p:sp>
        <p:nvSpPr>
          <p:cNvPr id="56" name="Shape 54"/>
          <p:cNvSpPr/>
          <p:nvPr/>
        </p:nvSpPr>
        <p:spPr>
          <a:xfrm>
            <a:off x="1188720" y="3945636"/>
            <a:ext cx="1874520" cy="434340"/>
          </a:xfrm>
          <a:prstGeom prst="rect">
            <a:avLst/>
          </a:prstGeom>
          <a:solidFill>
            <a:srgbClr val="F7F9FB"/>
          </a:solidFill>
          <a:ln w="6350">
            <a:solidFill>
              <a:srgbClr val="C9D2DB"/>
            </a:solidFill>
            <a:prstDash val="solid"/>
          </a:ln>
        </p:spPr>
      </p:sp>
      <p:sp>
        <p:nvSpPr>
          <p:cNvPr id="57" name="Text 55"/>
          <p:cNvSpPr/>
          <p:nvPr/>
        </p:nvSpPr>
        <p:spPr>
          <a:xfrm>
            <a:off x="1261872" y="3945636"/>
            <a:ext cx="1728216" cy="434340"/>
          </a:xfrm>
          <a:prstGeom prst="rect">
            <a:avLst/>
          </a:prstGeom>
          <a:noFill/>
          <a:ln/>
        </p:spPr>
        <p:txBody>
          <a:bodyPr wrap="square" lIns="0" tIns="0" rIns="0" bIns="0" rtlCol="0" anchor="ctr"/>
          <a:lstStyle/>
          <a:p>
            <a:pPr indent="0" marL="0">
              <a:lnSpc>
                <a:spcPts val="1050"/>
              </a:lnSpc>
              <a:buNone/>
            </a:pPr>
            <a:r>
              <a:rPr lang="en-US" sz="950" b="1" dirty="0">
                <a:solidFill>
                  <a:srgbClr val="1F3B57"/>
                </a:solidFill>
                <a:latin typeface="Calibri" pitchFamily="34" charset="0"/>
                <a:ea typeface="Calibri" pitchFamily="34" charset="-122"/>
                <a:cs typeface="Calibri" pitchFamily="34" charset="-120"/>
              </a:rPr>
              <a:t>Route principles</a:t>
            </a:r>
            <a:endParaRPr lang="en-US" sz="950" dirty="0"/>
          </a:p>
        </p:txBody>
      </p:sp>
      <p:sp>
        <p:nvSpPr>
          <p:cNvPr id="58" name="Shape 56"/>
          <p:cNvSpPr/>
          <p:nvPr/>
        </p:nvSpPr>
        <p:spPr>
          <a:xfrm>
            <a:off x="3063240" y="3945636"/>
            <a:ext cx="6656832" cy="434340"/>
          </a:xfrm>
          <a:prstGeom prst="rect">
            <a:avLst/>
          </a:prstGeom>
          <a:solidFill>
            <a:srgbClr val="F7F9FB"/>
          </a:solidFill>
          <a:ln w="6350">
            <a:solidFill>
              <a:srgbClr val="C9D2DB"/>
            </a:solidFill>
            <a:prstDash val="solid"/>
          </a:ln>
        </p:spPr>
      </p:sp>
      <p:sp>
        <p:nvSpPr>
          <p:cNvPr id="59" name="Text 57"/>
          <p:cNvSpPr/>
          <p:nvPr/>
        </p:nvSpPr>
        <p:spPr>
          <a:xfrm>
            <a:off x="3136392" y="3945636"/>
            <a:ext cx="6510528" cy="434340"/>
          </a:xfrm>
          <a:prstGeom prst="rect">
            <a:avLst/>
          </a:prstGeom>
          <a:noFill/>
          <a:ln/>
        </p:spPr>
        <p:txBody>
          <a:bodyPr wrap="square" lIns="0" tIns="0" rIns="0" bIns="0" rtlCol="0" anchor="ctr"/>
          <a:lstStyle/>
          <a:p>
            <a:pPr indent="0" marL="0">
              <a:lnSpc>
                <a:spcPts val="1050"/>
              </a:lnSpc>
              <a:buNone/>
            </a:pPr>
            <a:r>
              <a:rPr lang="en-US" sz="900" dirty="0">
                <a:solidFill>
                  <a:srgbClr val="2A2F36"/>
                </a:solidFill>
                <a:latin typeface="Calibri" pitchFamily="34" charset="0"/>
                <a:ea typeface="Calibri" pitchFamily="34" charset="-122"/>
                <a:cs typeface="Calibri" pitchFamily="34" charset="-120"/>
              </a:rPr>
              <a:t>Distinct routes per buying scope; OEM and field lanes in parallel; accounts stay with commercial owners</a:t>
            </a:r>
            <a:endParaRPr lang="en-US" sz="900" dirty="0"/>
          </a:p>
        </p:txBody>
      </p:sp>
      <p:sp>
        <p:nvSpPr>
          <p:cNvPr id="60" name="Shape 58"/>
          <p:cNvSpPr/>
          <p:nvPr/>
        </p:nvSpPr>
        <p:spPr>
          <a:xfrm>
            <a:off x="9720072" y="3945636"/>
            <a:ext cx="1965960" cy="434340"/>
          </a:xfrm>
          <a:prstGeom prst="rect">
            <a:avLst/>
          </a:prstGeom>
          <a:solidFill>
            <a:srgbClr val="F7F9FB"/>
          </a:solidFill>
          <a:ln w="6350">
            <a:solidFill>
              <a:srgbClr val="C9D2DB"/>
            </a:solidFill>
            <a:prstDash val="solid"/>
          </a:ln>
        </p:spPr>
      </p:sp>
      <p:sp>
        <p:nvSpPr>
          <p:cNvPr id="61" name="Text 59"/>
          <p:cNvSpPr/>
          <p:nvPr/>
        </p:nvSpPr>
        <p:spPr>
          <a:xfrm>
            <a:off x="9793224" y="3945636"/>
            <a:ext cx="1819656" cy="434340"/>
          </a:xfrm>
          <a:prstGeom prst="rect">
            <a:avLst/>
          </a:prstGeom>
          <a:noFill/>
          <a:ln/>
        </p:spPr>
        <p:txBody>
          <a:bodyPr wrap="square" lIns="0" tIns="0" rIns="0" bIns="0" rtlCol="0" anchor="ctr"/>
          <a:lstStyle/>
          <a:p>
            <a:pPr indent="0" marL="0">
              <a:lnSpc>
                <a:spcPts val="1050"/>
              </a:lnSpc>
              <a:buNone/>
            </a:pPr>
            <a:r>
              <a:rPr lang="en-US" sz="950" dirty="0">
                <a:solidFill>
                  <a:srgbClr val="2A2F36"/>
                </a:solidFill>
                <a:latin typeface="Calibri" pitchFamily="34" charset="0"/>
                <a:ea typeface="Calibri" pitchFamily="34" charset="-122"/>
                <a:cs typeface="Calibri" pitchFamily="34" charset="-120"/>
              </a:rPr>
              <a:t>Marc; comm. owners</a:t>
            </a:r>
            <a:endParaRPr lang="en-US" sz="950" dirty="0"/>
          </a:p>
        </p:txBody>
      </p:sp>
      <p:sp>
        <p:nvSpPr>
          <p:cNvPr id="62" name="Shape 60"/>
          <p:cNvSpPr/>
          <p:nvPr/>
        </p:nvSpPr>
        <p:spPr>
          <a:xfrm>
            <a:off x="502920" y="4379976"/>
            <a:ext cx="685800" cy="434340"/>
          </a:xfrm>
          <a:prstGeom prst="rect">
            <a:avLst/>
          </a:prstGeom>
          <a:solidFill>
            <a:srgbClr val="FFFFFF"/>
          </a:solidFill>
          <a:ln w="6350">
            <a:solidFill>
              <a:srgbClr val="C9D2DB"/>
            </a:solidFill>
            <a:prstDash val="solid"/>
          </a:ln>
        </p:spPr>
      </p:sp>
      <p:sp>
        <p:nvSpPr>
          <p:cNvPr id="63" name="Text 61"/>
          <p:cNvSpPr/>
          <p:nvPr/>
        </p:nvSpPr>
        <p:spPr>
          <a:xfrm>
            <a:off x="576072" y="4379976"/>
            <a:ext cx="539496" cy="434340"/>
          </a:xfrm>
          <a:prstGeom prst="rect">
            <a:avLst/>
          </a:prstGeom>
          <a:noFill/>
          <a:ln/>
        </p:spPr>
        <p:txBody>
          <a:bodyPr wrap="square" lIns="0" tIns="0" rIns="0" bIns="0" rtlCol="0" anchor="ctr"/>
          <a:lstStyle/>
          <a:p>
            <a:pPr indent="0" marL="0">
              <a:lnSpc>
                <a:spcPts val="1050"/>
              </a:lnSpc>
              <a:buNone/>
            </a:pPr>
            <a:r>
              <a:rPr lang="en-US" sz="950" b="1" dirty="0">
                <a:solidFill>
                  <a:srgbClr val="0F6E84"/>
                </a:solidFill>
                <a:latin typeface="Calibri" pitchFamily="34" charset="0"/>
                <a:ea typeface="Calibri" pitchFamily="34" charset="-122"/>
                <a:cs typeface="Calibri" pitchFamily="34" charset="-120"/>
              </a:rPr>
              <a:t>D-07</a:t>
            </a:r>
            <a:endParaRPr lang="en-US" sz="950" dirty="0"/>
          </a:p>
        </p:txBody>
      </p:sp>
      <p:sp>
        <p:nvSpPr>
          <p:cNvPr id="64" name="Shape 62"/>
          <p:cNvSpPr/>
          <p:nvPr/>
        </p:nvSpPr>
        <p:spPr>
          <a:xfrm>
            <a:off x="1188720" y="4379976"/>
            <a:ext cx="1874520" cy="434340"/>
          </a:xfrm>
          <a:prstGeom prst="rect">
            <a:avLst/>
          </a:prstGeom>
          <a:solidFill>
            <a:srgbClr val="FFFFFF"/>
          </a:solidFill>
          <a:ln w="6350">
            <a:solidFill>
              <a:srgbClr val="C9D2DB"/>
            </a:solidFill>
            <a:prstDash val="solid"/>
          </a:ln>
        </p:spPr>
      </p:sp>
      <p:sp>
        <p:nvSpPr>
          <p:cNvPr id="65" name="Text 63"/>
          <p:cNvSpPr/>
          <p:nvPr/>
        </p:nvSpPr>
        <p:spPr>
          <a:xfrm>
            <a:off x="1261872" y="4379976"/>
            <a:ext cx="1728216" cy="434340"/>
          </a:xfrm>
          <a:prstGeom prst="rect">
            <a:avLst/>
          </a:prstGeom>
          <a:noFill/>
          <a:ln/>
        </p:spPr>
        <p:txBody>
          <a:bodyPr wrap="square" lIns="0" tIns="0" rIns="0" bIns="0" rtlCol="0" anchor="ctr"/>
          <a:lstStyle/>
          <a:p>
            <a:pPr indent="0" marL="0">
              <a:lnSpc>
                <a:spcPts val="1050"/>
              </a:lnSpc>
              <a:buNone/>
            </a:pPr>
            <a:r>
              <a:rPr lang="en-US" sz="950" b="1" dirty="0">
                <a:solidFill>
                  <a:srgbClr val="1F3B57"/>
                </a:solidFill>
                <a:latin typeface="Calibri" pitchFamily="34" charset="0"/>
                <a:ea typeface="Calibri" pitchFamily="34" charset="-122"/>
                <a:cs typeface="Calibri" pitchFamily="34" charset="-120"/>
              </a:rPr>
              <a:t>Credit and overlap</a:t>
            </a:r>
            <a:endParaRPr lang="en-US" sz="950" dirty="0"/>
          </a:p>
        </p:txBody>
      </p:sp>
      <p:sp>
        <p:nvSpPr>
          <p:cNvPr id="66" name="Shape 64"/>
          <p:cNvSpPr/>
          <p:nvPr/>
        </p:nvSpPr>
        <p:spPr>
          <a:xfrm>
            <a:off x="3063240" y="4379976"/>
            <a:ext cx="6656832" cy="434340"/>
          </a:xfrm>
          <a:prstGeom prst="rect">
            <a:avLst/>
          </a:prstGeom>
          <a:solidFill>
            <a:srgbClr val="FFFFFF"/>
          </a:solidFill>
          <a:ln w="6350">
            <a:solidFill>
              <a:srgbClr val="C9D2DB"/>
            </a:solidFill>
            <a:prstDash val="solid"/>
          </a:ln>
        </p:spPr>
      </p:sp>
      <p:sp>
        <p:nvSpPr>
          <p:cNvPr id="67" name="Text 65"/>
          <p:cNvSpPr/>
          <p:nvPr/>
        </p:nvSpPr>
        <p:spPr>
          <a:xfrm>
            <a:off x="3136392" y="4379976"/>
            <a:ext cx="6510528" cy="434340"/>
          </a:xfrm>
          <a:prstGeom prst="rect">
            <a:avLst/>
          </a:prstGeom>
          <a:noFill/>
          <a:ln/>
        </p:spPr>
        <p:txBody>
          <a:bodyPr wrap="square" lIns="0" tIns="0" rIns="0" bIns="0" rtlCol="0" anchor="ctr"/>
          <a:lstStyle/>
          <a:p>
            <a:pPr indent="0" marL="0">
              <a:lnSpc>
                <a:spcPts val="1050"/>
              </a:lnSpc>
              <a:buNone/>
            </a:pPr>
            <a:r>
              <a:rPr lang="en-US" sz="900" dirty="0">
                <a:solidFill>
                  <a:srgbClr val="2A2F36"/>
                </a:solidFill>
                <a:latin typeface="Calibri" pitchFamily="34" charset="0"/>
                <a:ea typeface="Calibri" pitchFamily="34" charset="-122"/>
                <a:cs typeface="Calibri" pitchFamily="34" charset="-120"/>
              </a:rPr>
              <a:t>Route and revenue owner recorded before proposal; proposed 48-hour sponsor-response target</a:t>
            </a:r>
            <a:endParaRPr lang="en-US" sz="900" dirty="0"/>
          </a:p>
        </p:txBody>
      </p:sp>
      <p:sp>
        <p:nvSpPr>
          <p:cNvPr id="68" name="Shape 66"/>
          <p:cNvSpPr/>
          <p:nvPr/>
        </p:nvSpPr>
        <p:spPr>
          <a:xfrm>
            <a:off x="9720072" y="4379976"/>
            <a:ext cx="1965960" cy="434340"/>
          </a:xfrm>
          <a:prstGeom prst="rect">
            <a:avLst/>
          </a:prstGeom>
          <a:solidFill>
            <a:srgbClr val="FFFFFF"/>
          </a:solidFill>
          <a:ln w="6350">
            <a:solidFill>
              <a:srgbClr val="C9D2DB"/>
            </a:solidFill>
            <a:prstDash val="solid"/>
          </a:ln>
        </p:spPr>
      </p:sp>
      <p:sp>
        <p:nvSpPr>
          <p:cNvPr id="69" name="Text 67"/>
          <p:cNvSpPr/>
          <p:nvPr/>
        </p:nvSpPr>
        <p:spPr>
          <a:xfrm>
            <a:off x="9793224" y="4379976"/>
            <a:ext cx="1819656" cy="434340"/>
          </a:xfrm>
          <a:prstGeom prst="rect">
            <a:avLst/>
          </a:prstGeom>
          <a:noFill/>
          <a:ln/>
        </p:spPr>
        <p:txBody>
          <a:bodyPr wrap="square" lIns="0" tIns="0" rIns="0" bIns="0" rtlCol="0" anchor="ctr"/>
          <a:lstStyle/>
          <a:p>
            <a:pPr indent="0" marL="0">
              <a:lnSpc>
                <a:spcPts val="1050"/>
              </a:lnSpc>
              <a:buNone/>
            </a:pPr>
            <a:r>
              <a:rPr lang="en-US" sz="950" dirty="0">
                <a:solidFill>
                  <a:srgbClr val="2A2F36"/>
                </a:solidFill>
                <a:latin typeface="Calibri" pitchFamily="34" charset="0"/>
                <a:ea typeface="Calibri" pitchFamily="34" charset="-122"/>
                <a:cs typeface="Calibri" pitchFamily="34" charset="-120"/>
              </a:rPr>
              <a:t>Marc; P&amp;L leaders</a:t>
            </a:r>
            <a:endParaRPr lang="en-US" sz="950" dirty="0"/>
          </a:p>
        </p:txBody>
      </p:sp>
      <p:sp>
        <p:nvSpPr>
          <p:cNvPr id="70" name="Shape 68"/>
          <p:cNvSpPr/>
          <p:nvPr/>
        </p:nvSpPr>
        <p:spPr>
          <a:xfrm>
            <a:off x="502920" y="4814316"/>
            <a:ext cx="685800" cy="434340"/>
          </a:xfrm>
          <a:prstGeom prst="rect">
            <a:avLst/>
          </a:prstGeom>
          <a:solidFill>
            <a:srgbClr val="F7F9FB"/>
          </a:solidFill>
          <a:ln w="6350">
            <a:solidFill>
              <a:srgbClr val="C9D2DB"/>
            </a:solidFill>
            <a:prstDash val="solid"/>
          </a:ln>
        </p:spPr>
      </p:sp>
      <p:sp>
        <p:nvSpPr>
          <p:cNvPr id="71" name="Text 69"/>
          <p:cNvSpPr/>
          <p:nvPr/>
        </p:nvSpPr>
        <p:spPr>
          <a:xfrm>
            <a:off x="576072" y="4814316"/>
            <a:ext cx="539496" cy="434340"/>
          </a:xfrm>
          <a:prstGeom prst="rect">
            <a:avLst/>
          </a:prstGeom>
          <a:noFill/>
          <a:ln/>
        </p:spPr>
        <p:txBody>
          <a:bodyPr wrap="square" lIns="0" tIns="0" rIns="0" bIns="0" rtlCol="0" anchor="ctr"/>
          <a:lstStyle/>
          <a:p>
            <a:pPr indent="0" marL="0">
              <a:lnSpc>
                <a:spcPts val="1050"/>
              </a:lnSpc>
              <a:buNone/>
            </a:pPr>
            <a:r>
              <a:rPr lang="en-US" sz="950" b="1" dirty="0">
                <a:solidFill>
                  <a:srgbClr val="0F6E84"/>
                </a:solidFill>
                <a:latin typeface="Calibri" pitchFamily="34" charset="0"/>
                <a:ea typeface="Calibri" pitchFamily="34" charset="-122"/>
                <a:cs typeface="Calibri" pitchFamily="34" charset="-120"/>
              </a:rPr>
              <a:t>D-08</a:t>
            </a:r>
            <a:endParaRPr lang="en-US" sz="950" dirty="0"/>
          </a:p>
        </p:txBody>
      </p:sp>
      <p:sp>
        <p:nvSpPr>
          <p:cNvPr id="72" name="Shape 70"/>
          <p:cNvSpPr/>
          <p:nvPr/>
        </p:nvSpPr>
        <p:spPr>
          <a:xfrm>
            <a:off x="1188720" y="4814316"/>
            <a:ext cx="1874520" cy="434340"/>
          </a:xfrm>
          <a:prstGeom prst="rect">
            <a:avLst/>
          </a:prstGeom>
          <a:solidFill>
            <a:srgbClr val="F7F9FB"/>
          </a:solidFill>
          <a:ln w="6350">
            <a:solidFill>
              <a:srgbClr val="C9D2DB"/>
            </a:solidFill>
            <a:prstDash val="solid"/>
          </a:ln>
        </p:spPr>
      </p:sp>
      <p:sp>
        <p:nvSpPr>
          <p:cNvPr id="73" name="Text 71"/>
          <p:cNvSpPr/>
          <p:nvPr/>
        </p:nvSpPr>
        <p:spPr>
          <a:xfrm>
            <a:off x="1261872" y="4814316"/>
            <a:ext cx="1728216" cy="434340"/>
          </a:xfrm>
          <a:prstGeom prst="rect">
            <a:avLst/>
          </a:prstGeom>
          <a:noFill/>
          <a:ln/>
        </p:spPr>
        <p:txBody>
          <a:bodyPr wrap="square" lIns="0" tIns="0" rIns="0" bIns="0" rtlCol="0" anchor="ctr"/>
          <a:lstStyle/>
          <a:p>
            <a:pPr indent="0" marL="0">
              <a:lnSpc>
                <a:spcPts val="1050"/>
              </a:lnSpc>
              <a:buNone/>
            </a:pPr>
            <a:r>
              <a:rPr lang="en-US" sz="950" b="1" dirty="0">
                <a:solidFill>
                  <a:srgbClr val="1F3B57"/>
                </a:solidFill>
                <a:latin typeface="Calibri" pitchFamily="34" charset="0"/>
                <a:ea typeface="Calibri" pitchFamily="34" charset="-122"/>
                <a:cs typeface="Calibri" pitchFamily="34" charset="-120"/>
              </a:rPr>
              <a:t>30-day resources</a:t>
            </a:r>
            <a:endParaRPr lang="en-US" sz="950" dirty="0"/>
          </a:p>
        </p:txBody>
      </p:sp>
      <p:sp>
        <p:nvSpPr>
          <p:cNvPr id="74" name="Shape 72"/>
          <p:cNvSpPr/>
          <p:nvPr/>
        </p:nvSpPr>
        <p:spPr>
          <a:xfrm>
            <a:off x="3063240" y="4814316"/>
            <a:ext cx="6656832" cy="434340"/>
          </a:xfrm>
          <a:prstGeom prst="rect">
            <a:avLst/>
          </a:prstGeom>
          <a:solidFill>
            <a:srgbClr val="F7F9FB"/>
          </a:solidFill>
          <a:ln w="6350">
            <a:solidFill>
              <a:srgbClr val="C9D2DB"/>
            </a:solidFill>
            <a:prstDash val="solid"/>
          </a:ln>
        </p:spPr>
      </p:sp>
      <p:sp>
        <p:nvSpPr>
          <p:cNvPr id="75" name="Text 73"/>
          <p:cNvSpPr/>
          <p:nvPr/>
        </p:nvSpPr>
        <p:spPr>
          <a:xfrm>
            <a:off x="3136392" y="4814316"/>
            <a:ext cx="6510528" cy="434340"/>
          </a:xfrm>
          <a:prstGeom prst="rect">
            <a:avLst/>
          </a:prstGeom>
          <a:noFill/>
          <a:ln/>
        </p:spPr>
        <p:txBody>
          <a:bodyPr wrap="square" lIns="0" tIns="0" rIns="0" bIns="0" rtlCol="0" anchor="ctr"/>
          <a:lstStyle/>
          <a:p>
            <a:pPr indent="0" marL="0">
              <a:lnSpc>
                <a:spcPts val="1050"/>
              </a:lnSpc>
              <a:buNone/>
            </a:pPr>
            <a:r>
              <a:rPr lang="en-US" sz="900" dirty="0">
                <a:solidFill>
                  <a:srgbClr val="2A2F36"/>
                </a:solidFill>
                <a:latin typeface="Calibri" pitchFamily="34" charset="0"/>
                <a:ea typeface="Calibri" pitchFamily="34" charset="-122"/>
                <a:cs typeface="Calibri" pitchFamily="34" charset="-120"/>
              </a:rPr>
              <a:t>Named delegate, minimum time, and output per function, per the resource table</a:t>
            </a:r>
            <a:endParaRPr lang="en-US" sz="900" dirty="0"/>
          </a:p>
        </p:txBody>
      </p:sp>
      <p:sp>
        <p:nvSpPr>
          <p:cNvPr id="76" name="Shape 74"/>
          <p:cNvSpPr/>
          <p:nvPr/>
        </p:nvSpPr>
        <p:spPr>
          <a:xfrm>
            <a:off x="9720072" y="4814316"/>
            <a:ext cx="1965960" cy="434340"/>
          </a:xfrm>
          <a:prstGeom prst="rect">
            <a:avLst/>
          </a:prstGeom>
          <a:solidFill>
            <a:srgbClr val="F7F9FB"/>
          </a:solidFill>
          <a:ln w="6350">
            <a:solidFill>
              <a:srgbClr val="C9D2DB"/>
            </a:solidFill>
            <a:prstDash val="solid"/>
          </a:ln>
        </p:spPr>
      </p:sp>
      <p:sp>
        <p:nvSpPr>
          <p:cNvPr id="77" name="Text 75"/>
          <p:cNvSpPr/>
          <p:nvPr/>
        </p:nvSpPr>
        <p:spPr>
          <a:xfrm>
            <a:off x="9793224" y="4814316"/>
            <a:ext cx="1819656" cy="434340"/>
          </a:xfrm>
          <a:prstGeom prst="rect">
            <a:avLst/>
          </a:prstGeom>
          <a:noFill/>
          <a:ln/>
        </p:spPr>
        <p:txBody>
          <a:bodyPr wrap="square" lIns="0" tIns="0" rIns="0" bIns="0" rtlCol="0" anchor="ctr"/>
          <a:lstStyle/>
          <a:p>
            <a:pPr indent="0" marL="0">
              <a:lnSpc>
                <a:spcPts val="1050"/>
              </a:lnSpc>
              <a:buNone/>
            </a:pPr>
            <a:r>
              <a:rPr lang="en-US" sz="950" dirty="0">
                <a:solidFill>
                  <a:srgbClr val="2A2F36"/>
                </a:solidFill>
                <a:latin typeface="Calibri" pitchFamily="34" charset="0"/>
                <a:ea typeface="Calibri" pitchFamily="34" charset="-122"/>
                <a:cs typeface="Calibri" pitchFamily="34" charset="-120"/>
              </a:rPr>
              <a:t>Marc secures</a:t>
            </a:r>
            <a:endParaRPr lang="en-US" sz="950" dirty="0"/>
          </a:p>
        </p:txBody>
      </p:sp>
      <p:sp>
        <p:nvSpPr>
          <p:cNvPr id="78" name="Shape 76"/>
          <p:cNvSpPr/>
          <p:nvPr/>
        </p:nvSpPr>
        <p:spPr>
          <a:xfrm>
            <a:off x="502920" y="5248656"/>
            <a:ext cx="685800" cy="434340"/>
          </a:xfrm>
          <a:prstGeom prst="rect">
            <a:avLst/>
          </a:prstGeom>
          <a:solidFill>
            <a:srgbClr val="FFFFFF"/>
          </a:solidFill>
          <a:ln w="6350">
            <a:solidFill>
              <a:srgbClr val="C9D2DB"/>
            </a:solidFill>
            <a:prstDash val="solid"/>
          </a:ln>
        </p:spPr>
      </p:sp>
      <p:sp>
        <p:nvSpPr>
          <p:cNvPr id="79" name="Text 77"/>
          <p:cNvSpPr/>
          <p:nvPr/>
        </p:nvSpPr>
        <p:spPr>
          <a:xfrm>
            <a:off x="576072" y="5248656"/>
            <a:ext cx="539496" cy="434340"/>
          </a:xfrm>
          <a:prstGeom prst="rect">
            <a:avLst/>
          </a:prstGeom>
          <a:noFill/>
          <a:ln/>
        </p:spPr>
        <p:txBody>
          <a:bodyPr wrap="square" lIns="0" tIns="0" rIns="0" bIns="0" rtlCol="0" anchor="ctr"/>
          <a:lstStyle/>
          <a:p>
            <a:pPr indent="0" marL="0">
              <a:lnSpc>
                <a:spcPts val="1050"/>
              </a:lnSpc>
              <a:buNone/>
            </a:pPr>
            <a:r>
              <a:rPr lang="en-US" sz="950" b="1" dirty="0">
                <a:solidFill>
                  <a:srgbClr val="0F6E84"/>
                </a:solidFill>
                <a:latin typeface="Calibri" pitchFamily="34" charset="0"/>
                <a:ea typeface="Calibri" pitchFamily="34" charset="-122"/>
                <a:cs typeface="Calibri" pitchFamily="34" charset="-120"/>
              </a:rPr>
              <a:t>D-09</a:t>
            </a:r>
            <a:endParaRPr lang="en-US" sz="950" dirty="0"/>
          </a:p>
        </p:txBody>
      </p:sp>
      <p:sp>
        <p:nvSpPr>
          <p:cNvPr id="80" name="Shape 78"/>
          <p:cNvSpPr/>
          <p:nvPr/>
        </p:nvSpPr>
        <p:spPr>
          <a:xfrm>
            <a:off x="1188720" y="5248656"/>
            <a:ext cx="1874520" cy="434340"/>
          </a:xfrm>
          <a:prstGeom prst="rect">
            <a:avLst/>
          </a:prstGeom>
          <a:solidFill>
            <a:srgbClr val="FFFFFF"/>
          </a:solidFill>
          <a:ln w="6350">
            <a:solidFill>
              <a:srgbClr val="C9D2DB"/>
            </a:solidFill>
            <a:prstDash val="solid"/>
          </a:ln>
        </p:spPr>
      </p:sp>
      <p:sp>
        <p:nvSpPr>
          <p:cNvPr id="81" name="Text 79"/>
          <p:cNvSpPr/>
          <p:nvPr/>
        </p:nvSpPr>
        <p:spPr>
          <a:xfrm>
            <a:off x="1261872" y="5248656"/>
            <a:ext cx="1728216" cy="434340"/>
          </a:xfrm>
          <a:prstGeom prst="rect">
            <a:avLst/>
          </a:prstGeom>
          <a:noFill/>
          <a:ln/>
        </p:spPr>
        <p:txBody>
          <a:bodyPr wrap="square" lIns="0" tIns="0" rIns="0" bIns="0" rtlCol="0" anchor="ctr"/>
          <a:lstStyle/>
          <a:p>
            <a:pPr indent="0" marL="0">
              <a:lnSpc>
                <a:spcPts val="1050"/>
              </a:lnSpc>
              <a:buNone/>
            </a:pPr>
            <a:r>
              <a:rPr lang="en-US" sz="950" b="1" dirty="0">
                <a:solidFill>
                  <a:srgbClr val="1F3B57"/>
                </a:solidFill>
                <a:latin typeface="Calibri" pitchFamily="34" charset="0"/>
                <a:ea typeface="Calibri" pitchFamily="34" charset="-122"/>
                <a:cs typeface="Calibri" pitchFamily="34" charset="-120"/>
              </a:rPr>
              <a:t>Source of truth</a:t>
            </a:r>
            <a:endParaRPr lang="en-US" sz="950" dirty="0"/>
          </a:p>
        </p:txBody>
      </p:sp>
      <p:sp>
        <p:nvSpPr>
          <p:cNvPr id="82" name="Shape 80"/>
          <p:cNvSpPr/>
          <p:nvPr/>
        </p:nvSpPr>
        <p:spPr>
          <a:xfrm>
            <a:off x="3063240" y="5248656"/>
            <a:ext cx="6656832" cy="434340"/>
          </a:xfrm>
          <a:prstGeom prst="rect">
            <a:avLst/>
          </a:prstGeom>
          <a:solidFill>
            <a:srgbClr val="FFFFFF"/>
          </a:solidFill>
          <a:ln w="6350">
            <a:solidFill>
              <a:srgbClr val="C9D2DB"/>
            </a:solidFill>
            <a:prstDash val="solid"/>
          </a:ln>
        </p:spPr>
      </p:sp>
      <p:sp>
        <p:nvSpPr>
          <p:cNvPr id="83" name="Text 81"/>
          <p:cNvSpPr/>
          <p:nvPr/>
        </p:nvSpPr>
        <p:spPr>
          <a:xfrm>
            <a:off x="3136392" y="5248656"/>
            <a:ext cx="6510528" cy="434340"/>
          </a:xfrm>
          <a:prstGeom prst="rect">
            <a:avLst/>
          </a:prstGeom>
          <a:noFill/>
          <a:ln/>
        </p:spPr>
        <p:txBody>
          <a:bodyPr wrap="square" lIns="0" tIns="0" rIns="0" bIns="0" rtlCol="0" anchor="ctr"/>
          <a:lstStyle/>
          <a:p>
            <a:pPr indent="0" marL="0">
              <a:lnSpc>
                <a:spcPts val="1050"/>
              </a:lnSpc>
              <a:buNone/>
            </a:pPr>
            <a:r>
              <a:rPr lang="en-US" sz="900" dirty="0">
                <a:solidFill>
                  <a:srgbClr val="2A2F36"/>
                </a:solidFill>
                <a:latin typeface="Calibri" pitchFamily="34" charset="0"/>
                <a:ea typeface="Calibri" pitchFamily="34" charset="-122"/>
                <a:cs typeface="Calibri" pitchFamily="34" charset="-120"/>
              </a:rPr>
              <a:t>S08 as controlled interim view; PowerGen proposes taxonomy; CRM owns fields; account owners maintain records</a:t>
            </a:r>
            <a:endParaRPr lang="en-US" sz="900" dirty="0"/>
          </a:p>
        </p:txBody>
      </p:sp>
      <p:sp>
        <p:nvSpPr>
          <p:cNvPr id="84" name="Shape 82"/>
          <p:cNvSpPr/>
          <p:nvPr/>
        </p:nvSpPr>
        <p:spPr>
          <a:xfrm>
            <a:off x="9720072" y="5248656"/>
            <a:ext cx="1965960" cy="434340"/>
          </a:xfrm>
          <a:prstGeom prst="rect">
            <a:avLst/>
          </a:prstGeom>
          <a:solidFill>
            <a:srgbClr val="FFFFFF"/>
          </a:solidFill>
          <a:ln w="6350">
            <a:solidFill>
              <a:srgbClr val="C9D2DB"/>
            </a:solidFill>
            <a:prstDash val="solid"/>
          </a:ln>
        </p:spPr>
      </p:sp>
      <p:sp>
        <p:nvSpPr>
          <p:cNvPr id="85" name="Text 83"/>
          <p:cNvSpPr/>
          <p:nvPr/>
        </p:nvSpPr>
        <p:spPr>
          <a:xfrm>
            <a:off x="9793224" y="5248656"/>
            <a:ext cx="1819656" cy="434340"/>
          </a:xfrm>
          <a:prstGeom prst="rect">
            <a:avLst/>
          </a:prstGeom>
          <a:noFill/>
          <a:ln/>
        </p:spPr>
        <p:txBody>
          <a:bodyPr wrap="square" lIns="0" tIns="0" rIns="0" bIns="0" rtlCol="0" anchor="ctr"/>
          <a:lstStyle/>
          <a:p>
            <a:pPr indent="0" marL="0">
              <a:lnSpc>
                <a:spcPts val="1050"/>
              </a:lnSpc>
              <a:buNone/>
            </a:pPr>
            <a:r>
              <a:rPr lang="en-US" sz="950" dirty="0">
                <a:solidFill>
                  <a:srgbClr val="2A2F36"/>
                </a:solidFill>
                <a:latin typeface="Calibri" pitchFamily="34" charset="0"/>
                <a:ea typeface="Calibri" pitchFamily="34" charset="-122"/>
                <a:cs typeface="Calibri" pitchFamily="34" charset="-120"/>
              </a:rPr>
              <a:t>Marc; CRM owner</a:t>
            </a:r>
            <a:endParaRPr lang="en-US" sz="950" dirty="0"/>
          </a:p>
        </p:txBody>
      </p:sp>
      <p:sp>
        <p:nvSpPr>
          <p:cNvPr id="86" name="Shape 84"/>
          <p:cNvSpPr/>
          <p:nvPr/>
        </p:nvSpPr>
        <p:spPr>
          <a:xfrm>
            <a:off x="502920" y="5682996"/>
            <a:ext cx="685800" cy="434340"/>
          </a:xfrm>
          <a:prstGeom prst="rect">
            <a:avLst/>
          </a:prstGeom>
          <a:solidFill>
            <a:srgbClr val="F7F9FB"/>
          </a:solidFill>
          <a:ln w="6350">
            <a:solidFill>
              <a:srgbClr val="C9D2DB"/>
            </a:solidFill>
            <a:prstDash val="solid"/>
          </a:ln>
        </p:spPr>
      </p:sp>
      <p:sp>
        <p:nvSpPr>
          <p:cNvPr id="87" name="Text 85"/>
          <p:cNvSpPr/>
          <p:nvPr/>
        </p:nvSpPr>
        <p:spPr>
          <a:xfrm>
            <a:off x="576072" y="5682996"/>
            <a:ext cx="539496" cy="434340"/>
          </a:xfrm>
          <a:prstGeom prst="rect">
            <a:avLst/>
          </a:prstGeom>
          <a:noFill/>
          <a:ln/>
        </p:spPr>
        <p:txBody>
          <a:bodyPr wrap="square" lIns="0" tIns="0" rIns="0" bIns="0" rtlCol="0" anchor="ctr"/>
          <a:lstStyle/>
          <a:p>
            <a:pPr indent="0" marL="0">
              <a:lnSpc>
                <a:spcPts val="1050"/>
              </a:lnSpc>
              <a:buNone/>
            </a:pPr>
            <a:r>
              <a:rPr lang="en-US" sz="950" b="1" dirty="0">
                <a:solidFill>
                  <a:srgbClr val="0F6E84"/>
                </a:solidFill>
                <a:latin typeface="Calibri" pitchFamily="34" charset="0"/>
                <a:ea typeface="Calibri" pitchFamily="34" charset="-122"/>
                <a:cs typeface="Calibri" pitchFamily="34" charset="-120"/>
              </a:rPr>
              <a:t>D-10</a:t>
            </a:r>
            <a:endParaRPr lang="en-US" sz="950" dirty="0"/>
          </a:p>
        </p:txBody>
      </p:sp>
      <p:sp>
        <p:nvSpPr>
          <p:cNvPr id="88" name="Shape 86"/>
          <p:cNvSpPr/>
          <p:nvPr/>
        </p:nvSpPr>
        <p:spPr>
          <a:xfrm>
            <a:off x="1188720" y="5682996"/>
            <a:ext cx="1874520" cy="434340"/>
          </a:xfrm>
          <a:prstGeom prst="rect">
            <a:avLst/>
          </a:prstGeom>
          <a:solidFill>
            <a:srgbClr val="F7F9FB"/>
          </a:solidFill>
          <a:ln w="6350">
            <a:solidFill>
              <a:srgbClr val="C9D2DB"/>
            </a:solidFill>
            <a:prstDash val="solid"/>
          </a:ln>
        </p:spPr>
      </p:sp>
      <p:sp>
        <p:nvSpPr>
          <p:cNvPr id="89" name="Text 87"/>
          <p:cNvSpPr/>
          <p:nvPr/>
        </p:nvSpPr>
        <p:spPr>
          <a:xfrm>
            <a:off x="1261872" y="5682996"/>
            <a:ext cx="1728216" cy="434340"/>
          </a:xfrm>
          <a:prstGeom prst="rect">
            <a:avLst/>
          </a:prstGeom>
          <a:noFill/>
          <a:ln/>
        </p:spPr>
        <p:txBody>
          <a:bodyPr wrap="square" lIns="0" tIns="0" rIns="0" bIns="0" rtlCol="0" anchor="ctr"/>
          <a:lstStyle/>
          <a:p>
            <a:pPr indent="0" marL="0">
              <a:lnSpc>
                <a:spcPts val="1050"/>
              </a:lnSpc>
              <a:buNone/>
            </a:pPr>
            <a:r>
              <a:rPr lang="en-US" sz="950" b="1" dirty="0">
                <a:solidFill>
                  <a:srgbClr val="1F3B57"/>
                </a:solidFill>
                <a:latin typeface="Calibri" pitchFamily="34" charset="0"/>
                <a:ea typeface="Calibri" pitchFamily="34" charset="-122"/>
                <a:cs typeface="Calibri" pitchFamily="34" charset="-120"/>
              </a:rPr>
              <a:t>September ask</a:t>
            </a:r>
            <a:endParaRPr lang="en-US" sz="950" dirty="0"/>
          </a:p>
        </p:txBody>
      </p:sp>
      <p:sp>
        <p:nvSpPr>
          <p:cNvPr id="90" name="Shape 88"/>
          <p:cNvSpPr/>
          <p:nvPr/>
        </p:nvSpPr>
        <p:spPr>
          <a:xfrm>
            <a:off x="3063240" y="5682996"/>
            <a:ext cx="6656832" cy="434340"/>
          </a:xfrm>
          <a:prstGeom prst="rect">
            <a:avLst/>
          </a:prstGeom>
          <a:solidFill>
            <a:srgbClr val="F7F9FB"/>
          </a:solidFill>
          <a:ln w="6350">
            <a:solidFill>
              <a:srgbClr val="C9D2DB"/>
            </a:solidFill>
            <a:prstDash val="solid"/>
          </a:ln>
        </p:spPr>
      </p:sp>
      <p:sp>
        <p:nvSpPr>
          <p:cNvPr id="91" name="Text 89"/>
          <p:cNvSpPr/>
          <p:nvPr/>
        </p:nvSpPr>
        <p:spPr>
          <a:xfrm>
            <a:off x="3136392" y="5682996"/>
            <a:ext cx="6510528" cy="434340"/>
          </a:xfrm>
          <a:prstGeom prst="rect">
            <a:avLst/>
          </a:prstGeom>
          <a:noFill/>
          <a:ln/>
        </p:spPr>
        <p:txBody>
          <a:bodyPr wrap="square" lIns="0" tIns="0" rIns="0" bIns="0" rtlCol="0" anchor="ctr"/>
          <a:lstStyle/>
          <a:p>
            <a:pPr indent="0" marL="0">
              <a:lnSpc>
                <a:spcPts val="1050"/>
              </a:lnSpc>
              <a:buNone/>
            </a:pPr>
            <a:r>
              <a:rPr lang="en-US" sz="900" dirty="0">
                <a:solidFill>
                  <a:srgbClr val="2A2F36"/>
                </a:solidFill>
                <a:latin typeface="Calibri" pitchFamily="34" charset="0"/>
                <a:ea typeface="Calibri" pitchFamily="34" charset="-122"/>
                <a:cs typeface="Calibri" pitchFamily="34" charset="-120"/>
              </a:rPr>
              <a:t>Amber ratifies, modifies, or stops model, scope, priorities, decision rights, resources, scorecard</a:t>
            </a:r>
            <a:endParaRPr lang="en-US" sz="900" dirty="0"/>
          </a:p>
        </p:txBody>
      </p:sp>
      <p:sp>
        <p:nvSpPr>
          <p:cNvPr id="92" name="Shape 90"/>
          <p:cNvSpPr/>
          <p:nvPr/>
        </p:nvSpPr>
        <p:spPr>
          <a:xfrm>
            <a:off x="9720072" y="5682996"/>
            <a:ext cx="1965960" cy="434340"/>
          </a:xfrm>
          <a:prstGeom prst="rect">
            <a:avLst/>
          </a:prstGeom>
          <a:solidFill>
            <a:srgbClr val="F7F9FB"/>
          </a:solidFill>
          <a:ln w="6350">
            <a:solidFill>
              <a:srgbClr val="C9D2DB"/>
            </a:solidFill>
            <a:prstDash val="solid"/>
          </a:ln>
        </p:spPr>
      </p:sp>
      <p:sp>
        <p:nvSpPr>
          <p:cNvPr id="93" name="Text 91"/>
          <p:cNvSpPr/>
          <p:nvPr/>
        </p:nvSpPr>
        <p:spPr>
          <a:xfrm>
            <a:off x="9793224" y="5682996"/>
            <a:ext cx="1819656" cy="434340"/>
          </a:xfrm>
          <a:prstGeom prst="rect">
            <a:avLst/>
          </a:prstGeom>
          <a:noFill/>
          <a:ln/>
        </p:spPr>
        <p:txBody>
          <a:bodyPr wrap="square" lIns="0" tIns="0" rIns="0" bIns="0" rtlCol="0" anchor="ctr"/>
          <a:lstStyle/>
          <a:p>
            <a:pPr indent="0" marL="0">
              <a:lnSpc>
                <a:spcPts val="1050"/>
              </a:lnSpc>
              <a:buNone/>
            </a:pPr>
            <a:r>
              <a:rPr lang="en-US" sz="950" dirty="0">
                <a:solidFill>
                  <a:srgbClr val="2A2F36"/>
                </a:solidFill>
                <a:latin typeface="Calibri" pitchFamily="34" charset="0"/>
                <a:ea typeface="Calibri" pitchFamily="34" charset="-122"/>
                <a:cs typeface="Calibri" pitchFamily="34" charset="-120"/>
              </a:rPr>
              <a:t>Marc; Stephan preps</a:t>
            </a:r>
            <a:endParaRPr lang="en-US" sz="950" dirty="0"/>
          </a:p>
        </p:txBody>
      </p:sp>
      <p:sp>
        <p:nvSpPr>
          <p:cNvPr id="94" name="Text 92"/>
          <p:cNvSpPr/>
          <p:nvPr/>
        </p:nvSpPr>
        <p:spPr>
          <a:xfrm>
            <a:off x="502920" y="6208776"/>
            <a:ext cx="11183112" cy="320040"/>
          </a:xfrm>
          <a:prstGeom prst="rect">
            <a:avLst/>
          </a:prstGeom>
          <a:noFill/>
          <a:ln/>
        </p:spPr>
        <p:txBody>
          <a:bodyPr wrap="square" lIns="0" tIns="0" rIns="0" bIns="0" rtlCol="0" anchor="ctr"/>
          <a:lstStyle/>
          <a:p>
            <a:pPr indent="0" marL="0">
              <a:buNone/>
            </a:pPr>
            <a:r>
              <a:rPr lang="en-US" sz="1050" dirty="0">
                <a:solidFill>
                  <a:srgbClr val="5B6573"/>
                </a:solidFill>
                <a:latin typeface="Calibri" pitchFamily="34" charset="0"/>
                <a:ea typeface="Calibri" pitchFamily="34" charset="-122"/>
                <a:cs typeface="Calibri" pitchFamily="34" charset="-120"/>
              </a:rPr>
              <a:t>Exit rule: every decision leaves marked Decided, Modified, or Deferred with an owner and date; the log is read back aloud at 12:50 and published the same day.</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3112" cy="256032"/>
          </a:xfrm>
          <a:prstGeom prst="rect">
            <a:avLst/>
          </a:prstGeom>
          <a:noFill/>
          <a:ln/>
        </p:spPr>
        <p:txBody>
          <a:bodyPr wrap="square" lIns="0" tIns="0" rIns="0" bIns="0" rtlCol="0" anchor="ctr"/>
          <a:lstStyle/>
          <a:p>
            <a:pPr indent="0" marL="0">
              <a:buNone/>
            </a:pPr>
            <a:r>
              <a:rPr lang="en-US" sz="1100" b="1" spc="200" kern="0" dirty="0">
                <a:solidFill>
                  <a:srgbClr val="0F6E84"/>
                </a:solidFill>
                <a:latin typeface="Calibri" pitchFamily="34" charset="0"/>
                <a:ea typeface="Calibri" pitchFamily="34" charset="-122"/>
                <a:cs typeface="Calibri" pitchFamily="34" charset="-120"/>
              </a:rPr>
              <a:t>THE 90-DAY PILOT</a:t>
            </a:r>
            <a:endParaRPr lang="en-US" sz="1100" dirty="0"/>
          </a:p>
        </p:txBody>
      </p:sp>
      <p:sp>
        <p:nvSpPr>
          <p:cNvPr id="3" name="Text 1"/>
          <p:cNvSpPr/>
          <p:nvPr/>
        </p:nvSpPr>
        <p:spPr>
          <a:xfrm>
            <a:off x="502920" y="530352"/>
            <a:ext cx="11183112" cy="777240"/>
          </a:xfrm>
          <a:prstGeom prst="rect">
            <a:avLst/>
          </a:prstGeom>
          <a:noFill/>
          <a:ln/>
        </p:spPr>
        <p:txBody>
          <a:bodyPr wrap="square" lIns="0" tIns="0" rIns="0" bIns="0" rtlCol="0" anchor="t"/>
          <a:lstStyle/>
          <a:p>
            <a:pPr indent="0" marL="0">
              <a:buNone/>
            </a:pPr>
            <a:r>
              <a:rPr lang="en-US" sz="2100" b="1" dirty="0">
                <a:solidFill>
                  <a:srgbClr val="1F3B57"/>
                </a:solidFill>
                <a:latin typeface="Calibri" pitchFamily="34" charset="0"/>
                <a:ea typeface="Calibri" pitchFamily="34" charset="-122"/>
                <a:cs typeface="Calibri" pitchFamily="34" charset="-120"/>
              </a:rPr>
              <a:t>A dated mobilization with acceptance tests: thirty days to a leadership-ready strategy, ninety days to a scale-or-stop decision</a:t>
            </a:r>
            <a:endParaRPr lang="en-US" sz="2100" dirty="0"/>
          </a:p>
        </p:txBody>
      </p:sp>
      <p:sp>
        <p:nvSpPr>
          <p:cNvPr id="4" name="Text 2"/>
          <p:cNvSpPr/>
          <p:nvPr/>
        </p:nvSpPr>
        <p:spPr>
          <a:xfrm>
            <a:off x="502920" y="6473952"/>
            <a:ext cx="10085832" cy="274320"/>
          </a:xfrm>
          <a:prstGeom prst="rect">
            <a:avLst/>
          </a:prstGeom>
          <a:noFill/>
          <a:ln/>
        </p:spPr>
        <p:txBody>
          <a:bodyPr wrap="square" lIns="0" tIns="0" rIns="0" bIns="0" rtlCol="0" anchor="ctr"/>
          <a:lstStyle/>
          <a:p>
            <a:pPr indent="0" marL="0">
              <a:buNone/>
            </a:pPr>
            <a:r>
              <a:rPr lang="en-US" sz="850" dirty="0">
                <a:solidFill>
                  <a:srgbClr val="5B6573"/>
                </a:solidFill>
                <a:latin typeface="Calibri" pitchFamily="34" charset="0"/>
                <a:ea typeface="Calibri" pitchFamily="34" charset="-122"/>
                <a:cs typeface="Calibri" pitchFamily="34" charset="-120"/>
              </a:rPr>
              <a:t>Source: 06_Thirty_Day_Mobilization (mobilization plan, launch actions, Day-90 criteria). Dated phases originate in S01 pp.7-8.</a:t>
            </a:r>
            <a:endParaRPr lang="en-US" sz="850" dirty="0"/>
          </a:p>
        </p:txBody>
      </p:sp>
      <p:sp>
        <p:nvSpPr>
          <p:cNvPr id="5" name="Text 3"/>
          <p:cNvSpPr/>
          <p:nvPr/>
        </p:nvSpPr>
        <p:spPr>
          <a:xfrm>
            <a:off x="10268712" y="6473952"/>
            <a:ext cx="1417320" cy="274320"/>
          </a:xfrm>
          <a:prstGeom prst="rect">
            <a:avLst/>
          </a:prstGeom>
          <a:noFill/>
          <a:ln/>
        </p:spPr>
        <p:txBody>
          <a:bodyPr wrap="square" lIns="0" tIns="0" rIns="0" bIns="0" rtlCol="0" anchor="ctr"/>
          <a:lstStyle/>
          <a:p>
            <a:pPr algn="r" indent="0" marL="0">
              <a:buNone/>
            </a:pPr>
            <a:r>
              <a:rPr lang="en-US" sz="850" dirty="0">
                <a:solidFill>
                  <a:srgbClr val="5B6573"/>
                </a:solidFill>
                <a:latin typeface="Calibri" pitchFamily="34" charset="0"/>
                <a:ea typeface="Calibri" pitchFamily="34" charset="-122"/>
                <a:cs typeface="Calibri" pitchFamily="34" charset="-120"/>
              </a:rPr>
              <a:t>SOUTHWIRE POWERGEN | v0  </a:t>
            </a:r>
            <a:pPr algn="r" indent="0" marL="0">
              <a:buNone/>
            </a:pPr>
            <a:r>
              <a:rPr lang="en-US" sz="850" b="1" dirty="0">
                <a:solidFill>
                  <a:srgbClr val="1F3B57"/>
                </a:solidFill>
                <a:latin typeface="Calibri" pitchFamily="34" charset="0"/>
                <a:ea typeface="Calibri" pitchFamily="34" charset="-122"/>
                <a:cs typeface="Calibri" pitchFamily="34" charset="-120"/>
              </a:rPr>
              <a:t>13</a:t>
            </a:r>
            <a:endParaRPr lang="en-US" sz="850" dirty="0"/>
          </a:p>
        </p:txBody>
      </p:sp>
      <p:sp>
        <p:nvSpPr>
          <p:cNvPr id="6" name="Shape 4"/>
          <p:cNvSpPr/>
          <p:nvPr/>
        </p:nvSpPr>
        <p:spPr>
          <a:xfrm>
            <a:off x="731520" y="2999232"/>
            <a:ext cx="5148438" cy="201168"/>
          </a:xfrm>
          <a:prstGeom prst="rect">
            <a:avLst/>
          </a:prstGeom>
          <a:solidFill>
            <a:srgbClr val="0F6E84"/>
          </a:solidFill>
          <a:ln/>
        </p:spPr>
      </p:sp>
      <p:sp>
        <p:nvSpPr>
          <p:cNvPr id="7" name="Shape 5"/>
          <p:cNvSpPr/>
          <p:nvPr/>
        </p:nvSpPr>
        <p:spPr>
          <a:xfrm>
            <a:off x="5879958" y="2999232"/>
            <a:ext cx="5577474" cy="201168"/>
          </a:xfrm>
          <a:prstGeom prst="rect">
            <a:avLst/>
          </a:prstGeom>
          <a:solidFill>
            <a:srgbClr val="2C4E70"/>
          </a:solidFill>
          <a:ln/>
        </p:spPr>
      </p:sp>
      <p:sp>
        <p:nvSpPr>
          <p:cNvPr id="8" name="Text 6"/>
          <p:cNvSpPr/>
          <p:nvPr/>
        </p:nvSpPr>
        <p:spPr>
          <a:xfrm>
            <a:off x="777240" y="2697480"/>
            <a:ext cx="5148438" cy="237744"/>
          </a:xfrm>
          <a:prstGeom prst="rect">
            <a:avLst/>
          </a:prstGeom>
          <a:noFill/>
          <a:ln/>
        </p:spPr>
        <p:txBody>
          <a:bodyPr wrap="square" lIns="0" tIns="0" rIns="0" bIns="0" rtlCol="0" anchor="ctr"/>
          <a:lstStyle/>
          <a:p>
            <a:pPr indent="0" marL="0">
              <a:buNone/>
            </a:pPr>
            <a:r>
              <a:rPr lang="en-US" sz="900" b="1" dirty="0">
                <a:solidFill>
                  <a:srgbClr val="0F6E84"/>
                </a:solidFill>
                <a:latin typeface="Calibri" pitchFamily="34" charset="0"/>
                <a:ea typeface="Calibri" pitchFamily="34" charset="-122"/>
                <a:cs typeface="Calibri" pitchFamily="34" charset="-120"/>
              </a:rPr>
              <a:t>30-DAY MOBILIZATION (AUG 20 - SEPT 18)</a:t>
            </a:r>
            <a:endParaRPr lang="en-US" sz="900" dirty="0"/>
          </a:p>
        </p:txBody>
      </p:sp>
      <p:sp>
        <p:nvSpPr>
          <p:cNvPr id="9" name="Text 7"/>
          <p:cNvSpPr/>
          <p:nvPr/>
        </p:nvSpPr>
        <p:spPr>
          <a:xfrm>
            <a:off x="5925678" y="2697480"/>
            <a:ext cx="3657600" cy="237744"/>
          </a:xfrm>
          <a:prstGeom prst="rect">
            <a:avLst/>
          </a:prstGeom>
          <a:noFill/>
          <a:ln/>
        </p:spPr>
        <p:txBody>
          <a:bodyPr wrap="square" lIns="0" tIns="0" rIns="0" bIns="0" rtlCol="0" anchor="ctr"/>
          <a:lstStyle/>
          <a:p>
            <a:pPr indent="0" marL="0">
              <a:buNone/>
            </a:pPr>
            <a:r>
              <a:rPr lang="en-US" sz="900" b="1" dirty="0">
                <a:solidFill>
                  <a:srgbClr val="2C4E70"/>
                </a:solidFill>
                <a:latin typeface="Calibri" pitchFamily="34" charset="0"/>
                <a:ea typeface="Calibri" pitchFamily="34" charset="-122"/>
                <a:cs typeface="Calibri" pitchFamily="34" charset="-120"/>
              </a:rPr>
              <a:t>PILOT EXECUTION AND PROOF (TO NOV 18)</a:t>
            </a:r>
            <a:endParaRPr lang="en-US" sz="900" dirty="0"/>
          </a:p>
        </p:txBody>
      </p:sp>
      <p:sp>
        <p:nvSpPr>
          <p:cNvPr id="10" name="Shape 8"/>
          <p:cNvSpPr/>
          <p:nvPr/>
        </p:nvSpPr>
        <p:spPr>
          <a:xfrm>
            <a:off x="630936" y="2953512"/>
            <a:ext cx="292608" cy="292608"/>
          </a:xfrm>
          <a:prstGeom prst="diamond">
            <a:avLst/>
          </a:prstGeom>
          <a:solidFill>
            <a:srgbClr val="FFFFFF"/>
          </a:solidFill>
          <a:ln w="19050">
            <a:solidFill>
              <a:srgbClr val="1F3B57"/>
            </a:solidFill>
            <a:prstDash val="solid"/>
          </a:ln>
        </p:spPr>
      </p:sp>
      <p:sp>
        <p:nvSpPr>
          <p:cNvPr id="11" name="Text 9"/>
          <p:cNvSpPr/>
          <p:nvPr/>
        </p:nvSpPr>
        <p:spPr>
          <a:xfrm>
            <a:off x="502920" y="1536192"/>
            <a:ext cx="1481328" cy="219456"/>
          </a:xfrm>
          <a:prstGeom prst="rect">
            <a:avLst/>
          </a:prstGeom>
          <a:noFill/>
          <a:ln/>
        </p:spPr>
        <p:txBody>
          <a:bodyPr wrap="square" lIns="0" tIns="0" rIns="0" bIns="0" rtlCol="0" anchor="ctr"/>
          <a:lstStyle/>
          <a:p>
            <a:pPr algn="ctr" indent="0" marL="0">
              <a:buNone/>
            </a:pPr>
            <a:r>
              <a:rPr lang="en-US" sz="1050" b="1" dirty="0">
                <a:solidFill>
                  <a:srgbClr val="1F3B57"/>
                </a:solidFill>
                <a:latin typeface="Calibri" pitchFamily="34" charset="0"/>
                <a:ea typeface="Calibri" pitchFamily="34" charset="-122"/>
                <a:cs typeface="Calibri" pitchFamily="34" charset="-120"/>
              </a:rPr>
              <a:t>Aug 20</a:t>
            </a:r>
            <a:endParaRPr lang="en-US" sz="1050" dirty="0"/>
          </a:p>
        </p:txBody>
      </p:sp>
      <p:sp>
        <p:nvSpPr>
          <p:cNvPr id="12" name="Text 10"/>
          <p:cNvSpPr/>
          <p:nvPr/>
        </p:nvSpPr>
        <p:spPr>
          <a:xfrm>
            <a:off x="502920" y="1755648"/>
            <a:ext cx="1481328" cy="603504"/>
          </a:xfrm>
          <a:prstGeom prst="rect">
            <a:avLst/>
          </a:prstGeom>
          <a:noFill/>
          <a:ln/>
        </p:spPr>
        <p:txBody>
          <a:bodyPr wrap="square" lIns="0" tIns="0" rIns="0" bIns="0" rtlCol="0" anchor="t"/>
          <a:lstStyle/>
          <a:p>
            <a:pPr algn="ctr" indent="0" marL="0">
              <a:lnSpc>
                <a:spcPts val="1000"/>
              </a:lnSpc>
              <a:buNone/>
            </a:pPr>
            <a:r>
              <a:rPr lang="en-US" sz="850" dirty="0">
                <a:solidFill>
                  <a:srgbClr val="2A2F36"/>
                </a:solidFill>
                <a:latin typeface="Calibri" pitchFamily="34" charset="0"/>
                <a:ea typeface="Calibri" pitchFamily="34" charset="-122"/>
                <a:cs typeface="Calibri" pitchFamily="34" charset="-120"/>
              </a:rPr>
              <a:t>Decision workshop; D-01 to D-10 closed; log published</a:t>
            </a:r>
            <a:endParaRPr lang="en-US" sz="850" dirty="0"/>
          </a:p>
        </p:txBody>
      </p:sp>
      <p:sp>
        <p:nvSpPr>
          <p:cNvPr id="13" name="Shape 11"/>
          <p:cNvSpPr/>
          <p:nvPr/>
        </p:nvSpPr>
        <p:spPr>
          <a:xfrm>
            <a:off x="1810786" y="2953512"/>
            <a:ext cx="292608" cy="292608"/>
          </a:xfrm>
          <a:prstGeom prst="diamond">
            <a:avLst/>
          </a:prstGeom>
          <a:solidFill>
            <a:srgbClr val="FFFFFF"/>
          </a:solidFill>
          <a:ln w="19050">
            <a:solidFill>
              <a:srgbClr val="1F3B57"/>
            </a:solidFill>
            <a:prstDash val="solid"/>
          </a:ln>
        </p:spPr>
      </p:sp>
      <p:sp>
        <p:nvSpPr>
          <p:cNvPr id="14" name="Text 12"/>
          <p:cNvSpPr/>
          <p:nvPr/>
        </p:nvSpPr>
        <p:spPr>
          <a:xfrm>
            <a:off x="1170706" y="3529584"/>
            <a:ext cx="1481328" cy="219456"/>
          </a:xfrm>
          <a:prstGeom prst="rect">
            <a:avLst/>
          </a:prstGeom>
          <a:noFill/>
          <a:ln/>
        </p:spPr>
        <p:txBody>
          <a:bodyPr wrap="square" lIns="0" tIns="0" rIns="0" bIns="0" rtlCol="0" anchor="ctr"/>
          <a:lstStyle/>
          <a:p>
            <a:pPr algn="ctr" indent="0" marL="0">
              <a:buNone/>
            </a:pPr>
            <a:r>
              <a:rPr lang="en-US" sz="1050" b="1" dirty="0">
                <a:solidFill>
                  <a:srgbClr val="1F3B57"/>
                </a:solidFill>
                <a:latin typeface="Calibri" pitchFamily="34" charset="0"/>
                <a:ea typeface="Calibri" pitchFamily="34" charset="-122"/>
                <a:cs typeface="Calibri" pitchFamily="34" charset="-120"/>
              </a:rPr>
              <a:t>Aug 21</a:t>
            </a:r>
            <a:endParaRPr lang="en-US" sz="1050" dirty="0"/>
          </a:p>
        </p:txBody>
      </p:sp>
      <p:sp>
        <p:nvSpPr>
          <p:cNvPr id="15" name="Text 13"/>
          <p:cNvSpPr/>
          <p:nvPr/>
        </p:nvSpPr>
        <p:spPr>
          <a:xfrm>
            <a:off x="1170706" y="3749040"/>
            <a:ext cx="1481328" cy="603504"/>
          </a:xfrm>
          <a:prstGeom prst="rect">
            <a:avLst/>
          </a:prstGeom>
          <a:noFill/>
          <a:ln/>
        </p:spPr>
        <p:txBody>
          <a:bodyPr wrap="square" lIns="0" tIns="0" rIns="0" bIns="0" rtlCol="0" anchor="t"/>
          <a:lstStyle/>
          <a:p>
            <a:pPr algn="ctr" indent="0" marL="0">
              <a:lnSpc>
                <a:spcPts val="1000"/>
              </a:lnSpc>
              <a:buNone/>
            </a:pPr>
            <a:r>
              <a:rPr lang="en-US" sz="850" dirty="0">
                <a:solidFill>
                  <a:srgbClr val="2A2F36"/>
                </a:solidFill>
                <a:latin typeface="Calibri" pitchFamily="34" charset="0"/>
                <a:ea typeface="Calibri" pitchFamily="34" charset="-122"/>
                <a:cs typeface="Calibri" pitchFamily="34" charset="-120"/>
              </a:rPr>
              <a:t>Charter, roster, guardrail note; launch</a:t>
            </a:r>
            <a:endParaRPr lang="en-US" sz="850" dirty="0"/>
          </a:p>
        </p:txBody>
      </p:sp>
      <p:sp>
        <p:nvSpPr>
          <p:cNvPr id="16" name="Shape 14"/>
          <p:cNvSpPr/>
          <p:nvPr/>
        </p:nvSpPr>
        <p:spPr>
          <a:xfrm>
            <a:off x="3097896" y="2953512"/>
            <a:ext cx="292608" cy="292608"/>
          </a:xfrm>
          <a:prstGeom prst="diamond">
            <a:avLst/>
          </a:prstGeom>
          <a:solidFill>
            <a:srgbClr val="FFFFFF"/>
          </a:solidFill>
          <a:ln w="19050">
            <a:solidFill>
              <a:srgbClr val="1F3B57"/>
            </a:solidFill>
            <a:prstDash val="solid"/>
          </a:ln>
        </p:spPr>
      </p:sp>
      <p:sp>
        <p:nvSpPr>
          <p:cNvPr id="17" name="Text 15"/>
          <p:cNvSpPr/>
          <p:nvPr/>
        </p:nvSpPr>
        <p:spPr>
          <a:xfrm>
            <a:off x="2457816" y="1536192"/>
            <a:ext cx="1481328" cy="219456"/>
          </a:xfrm>
          <a:prstGeom prst="rect">
            <a:avLst/>
          </a:prstGeom>
          <a:noFill/>
          <a:ln/>
        </p:spPr>
        <p:txBody>
          <a:bodyPr wrap="square" lIns="0" tIns="0" rIns="0" bIns="0" rtlCol="0" anchor="ctr"/>
          <a:lstStyle/>
          <a:p>
            <a:pPr algn="ctr" indent="0" marL="0">
              <a:buNone/>
            </a:pPr>
            <a:r>
              <a:rPr lang="en-US" sz="1050" b="1" dirty="0">
                <a:solidFill>
                  <a:srgbClr val="1F3B57"/>
                </a:solidFill>
                <a:latin typeface="Calibri" pitchFamily="34" charset="0"/>
                <a:ea typeface="Calibri" pitchFamily="34" charset="-122"/>
                <a:cs typeface="Calibri" pitchFamily="34" charset="-120"/>
              </a:rPr>
              <a:t>Aug 28</a:t>
            </a:r>
            <a:endParaRPr lang="en-US" sz="1050" dirty="0"/>
          </a:p>
        </p:txBody>
      </p:sp>
      <p:sp>
        <p:nvSpPr>
          <p:cNvPr id="18" name="Text 16"/>
          <p:cNvSpPr/>
          <p:nvPr/>
        </p:nvSpPr>
        <p:spPr>
          <a:xfrm>
            <a:off x="2457816" y="1755648"/>
            <a:ext cx="1481328" cy="603504"/>
          </a:xfrm>
          <a:prstGeom prst="rect">
            <a:avLst/>
          </a:prstGeom>
          <a:noFill/>
          <a:ln/>
        </p:spPr>
        <p:txBody>
          <a:bodyPr wrap="square" lIns="0" tIns="0" rIns="0" bIns="0" rtlCol="0" anchor="t"/>
          <a:lstStyle/>
          <a:p>
            <a:pPr algn="ctr" indent="0" marL="0">
              <a:lnSpc>
                <a:spcPts val="1000"/>
              </a:lnSpc>
              <a:buNone/>
            </a:pPr>
            <a:r>
              <a:rPr lang="en-US" sz="850" dirty="0">
                <a:solidFill>
                  <a:srgbClr val="2A2F36"/>
                </a:solidFill>
                <a:latin typeface="Calibri" pitchFamily="34" charset="0"/>
                <a:ea typeface="Calibri" pitchFamily="34" charset="-122"/>
                <a:cs typeface="Calibri" pitchFamily="34" charset="-120"/>
              </a:rPr>
              <a:t>Signed baseline; lighthouse shortlists; route rules</a:t>
            </a:r>
            <a:endParaRPr lang="en-US" sz="850" dirty="0"/>
          </a:p>
        </p:txBody>
      </p:sp>
      <p:sp>
        <p:nvSpPr>
          <p:cNvPr id="19" name="Shape 17"/>
          <p:cNvSpPr/>
          <p:nvPr/>
        </p:nvSpPr>
        <p:spPr>
          <a:xfrm>
            <a:off x="4385005" y="2953512"/>
            <a:ext cx="292608" cy="292608"/>
          </a:xfrm>
          <a:prstGeom prst="diamond">
            <a:avLst/>
          </a:prstGeom>
          <a:solidFill>
            <a:srgbClr val="FFFFFF"/>
          </a:solidFill>
          <a:ln w="19050">
            <a:solidFill>
              <a:srgbClr val="1F3B57"/>
            </a:solidFill>
            <a:prstDash val="solid"/>
          </a:ln>
        </p:spPr>
      </p:sp>
      <p:sp>
        <p:nvSpPr>
          <p:cNvPr id="20" name="Text 18"/>
          <p:cNvSpPr/>
          <p:nvPr/>
        </p:nvSpPr>
        <p:spPr>
          <a:xfrm>
            <a:off x="3744925" y="3529584"/>
            <a:ext cx="1481328" cy="219456"/>
          </a:xfrm>
          <a:prstGeom prst="rect">
            <a:avLst/>
          </a:prstGeom>
          <a:noFill/>
          <a:ln/>
        </p:spPr>
        <p:txBody>
          <a:bodyPr wrap="square" lIns="0" tIns="0" rIns="0" bIns="0" rtlCol="0" anchor="ctr"/>
          <a:lstStyle/>
          <a:p>
            <a:pPr algn="ctr" indent="0" marL="0">
              <a:buNone/>
            </a:pPr>
            <a:r>
              <a:rPr lang="en-US" sz="1050" b="1" dirty="0">
                <a:solidFill>
                  <a:srgbClr val="1F3B57"/>
                </a:solidFill>
                <a:latin typeface="Calibri" pitchFamily="34" charset="0"/>
                <a:ea typeface="Calibri" pitchFamily="34" charset="-122"/>
                <a:cs typeface="Calibri" pitchFamily="34" charset="-120"/>
              </a:rPr>
              <a:t>Sept 4</a:t>
            </a:r>
            <a:endParaRPr lang="en-US" sz="1050" dirty="0"/>
          </a:p>
        </p:txBody>
      </p:sp>
      <p:sp>
        <p:nvSpPr>
          <p:cNvPr id="21" name="Text 19"/>
          <p:cNvSpPr/>
          <p:nvPr/>
        </p:nvSpPr>
        <p:spPr>
          <a:xfrm>
            <a:off x="3744925" y="3749040"/>
            <a:ext cx="1481328" cy="603504"/>
          </a:xfrm>
          <a:prstGeom prst="rect">
            <a:avLst/>
          </a:prstGeom>
          <a:noFill/>
          <a:ln/>
        </p:spPr>
        <p:txBody>
          <a:bodyPr wrap="square" lIns="0" tIns="0" rIns="0" bIns="0" rtlCol="0" anchor="t"/>
          <a:lstStyle/>
          <a:p>
            <a:pPr algn="ctr" indent="0" marL="0">
              <a:lnSpc>
                <a:spcPts val="1000"/>
              </a:lnSpc>
              <a:buNone/>
            </a:pPr>
            <a:r>
              <a:rPr lang="en-US" sz="850" dirty="0">
                <a:solidFill>
                  <a:srgbClr val="2A2F36"/>
                </a:solidFill>
                <a:latin typeface="Calibri" pitchFamily="34" charset="0"/>
                <a:ea typeface="Calibri" pitchFamily="34" charset="-122"/>
                <a:cs typeface="Calibri" pitchFamily="34" charset="-120"/>
              </a:rPr>
              <a:t>Metric dictionary and quote ledger reconciled; RIDs decided</a:t>
            </a:r>
            <a:endParaRPr lang="en-US" sz="850" dirty="0"/>
          </a:p>
        </p:txBody>
      </p:sp>
      <p:sp>
        <p:nvSpPr>
          <p:cNvPr id="22" name="Shape 20"/>
          <p:cNvSpPr/>
          <p:nvPr/>
        </p:nvSpPr>
        <p:spPr>
          <a:xfrm>
            <a:off x="5672115" y="2953512"/>
            <a:ext cx="292608" cy="292608"/>
          </a:xfrm>
          <a:prstGeom prst="diamond">
            <a:avLst/>
          </a:prstGeom>
          <a:solidFill>
            <a:srgbClr val="FFFFFF"/>
          </a:solidFill>
          <a:ln w="19050">
            <a:solidFill>
              <a:srgbClr val="1F3B57"/>
            </a:solidFill>
            <a:prstDash val="solid"/>
          </a:ln>
        </p:spPr>
      </p:sp>
      <p:sp>
        <p:nvSpPr>
          <p:cNvPr id="23" name="Text 21"/>
          <p:cNvSpPr/>
          <p:nvPr/>
        </p:nvSpPr>
        <p:spPr>
          <a:xfrm>
            <a:off x="5032035" y="1536192"/>
            <a:ext cx="1481328" cy="219456"/>
          </a:xfrm>
          <a:prstGeom prst="rect">
            <a:avLst/>
          </a:prstGeom>
          <a:noFill/>
          <a:ln/>
        </p:spPr>
        <p:txBody>
          <a:bodyPr wrap="square" lIns="0" tIns="0" rIns="0" bIns="0" rtlCol="0" anchor="ctr"/>
          <a:lstStyle/>
          <a:p>
            <a:pPr algn="ctr" indent="0" marL="0">
              <a:buNone/>
            </a:pPr>
            <a:r>
              <a:rPr lang="en-US" sz="1050" b="1" dirty="0">
                <a:solidFill>
                  <a:srgbClr val="1F3B57"/>
                </a:solidFill>
                <a:latin typeface="Calibri" pitchFamily="34" charset="0"/>
                <a:ea typeface="Calibri" pitchFamily="34" charset="-122"/>
                <a:cs typeface="Calibri" pitchFamily="34" charset="-120"/>
              </a:rPr>
              <a:t>Sept 16</a:t>
            </a:r>
            <a:endParaRPr lang="en-US" sz="1050" dirty="0"/>
          </a:p>
        </p:txBody>
      </p:sp>
      <p:sp>
        <p:nvSpPr>
          <p:cNvPr id="24" name="Text 22"/>
          <p:cNvSpPr/>
          <p:nvPr/>
        </p:nvSpPr>
        <p:spPr>
          <a:xfrm>
            <a:off x="5032035" y="1755648"/>
            <a:ext cx="1481328" cy="603504"/>
          </a:xfrm>
          <a:prstGeom prst="rect">
            <a:avLst/>
          </a:prstGeom>
          <a:noFill/>
          <a:ln/>
        </p:spPr>
        <p:txBody>
          <a:bodyPr wrap="square" lIns="0" tIns="0" rIns="0" bIns="0" rtlCol="0" anchor="t"/>
          <a:lstStyle/>
          <a:p>
            <a:pPr algn="ctr" indent="0" marL="0">
              <a:lnSpc>
                <a:spcPts val="1000"/>
              </a:lnSpc>
              <a:buNone/>
            </a:pPr>
            <a:r>
              <a:rPr lang="en-US" sz="850" dirty="0">
                <a:solidFill>
                  <a:srgbClr val="2A2F36"/>
                </a:solidFill>
                <a:latin typeface="Calibri" pitchFamily="34" charset="0"/>
                <a:ea typeface="Calibri" pitchFamily="34" charset="-122"/>
                <a:cs typeface="Calibri" pitchFamily="34" charset="-120"/>
              </a:rPr>
              <a:t>Strategy v0.1 and leadership pre-read complete</a:t>
            </a:r>
            <a:endParaRPr lang="en-US" sz="850" dirty="0"/>
          </a:p>
        </p:txBody>
      </p:sp>
      <p:sp>
        <p:nvSpPr>
          <p:cNvPr id="25" name="Shape 23"/>
          <p:cNvSpPr/>
          <p:nvPr/>
        </p:nvSpPr>
        <p:spPr>
          <a:xfrm>
            <a:off x="7281001" y="2953512"/>
            <a:ext cx="292608" cy="292608"/>
          </a:xfrm>
          <a:prstGeom prst="diamond">
            <a:avLst/>
          </a:prstGeom>
          <a:solidFill>
            <a:srgbClr val="B07A2A"/>
          </a:solidFill>
          <a:ln w="19050">
            <a:solidFill>
              <a:srgbClr val="1F3B57"/>
            </a:solidFill>
            <a:prstDash val="solid"/>
          </a:ln>
        </p:spPr>
      </p:sp>
      <p:sp>
        <p:nvSpPr>
          <p:cNvPr id="26" name="Text 24"/>
          <p:cNvSpPr/>
          <p:nvPr/>
        </p:nvSpPr>
        <p:spPr>
          <a:xfrm>
            <a:off x="6640921" y="3529584"/>
            <a:ext cx="1481328" cy="219456"/>
          </a:xfrm>
          <a:prstGeom prst="rect">
            <a:avLst/>
          </a:prstGeom>
          <a:noFill/>
          <a:ln/>
        </p:spPr>
        <p:txBody>
          <a:bodyPr wrap="square" lIns="0" tIns="0" rIns="0" bIns="0" rtlCol="0" anchor="ctr"/>
          <a:lstStyle/>
          <a:p>
            <a:pPr algn="ctr" indent="0" marL="0">
              <a:buNone/>
            </a:pPr>
            <a:r>
              <a:rPr lang="en-US" sz="1050" b="1" dirty="0">
                <a:solidFill>
                  <a:srgbClr val="1F3B57"/>
                </a:solidFill>
                <a:latin typeface="Calibri" pitchFamily="34" charset="0"/>
                <a:ea typeface="Calibri" pitchFamily="34" charset="-122"/>
                <a:cs typeface="Calibri" pitchFamily="34" charset="-120"/>
              </a:rPr>
              <a:t>Late Sept</a:t>
            </a:r>
            <a:endParaRPr lang="en-US" sz="1050" dirty="0"/>
          </a:p>
        </p:txBody>
      </p:sp>
      <p:sp>
        <p:nvSpPr>
          <p:cNvPr id="27" name="Text 25"/>
          <p:cNvSpPr/>
          <p:nvPr/>
        </p:nvSpPr>
        <p:spPr>
          <a:xfrm>
            <a:off x="6640921" y="3749040"/>
            <a:ext cx="1481328" cy="603504"/>
          </a:xfrm>
          <a:prstGeom prst="rect">
            <a:avLst/>
          </a:prstGeom>
          <a:noFill/>
          <a:ln/>
        </p:spPr>
        <p:txBody>
          <a:bodyPr wrap="square" lIns="0" tIns="0" rIns="0" bIns="0" rtlCol="0" anchor="t"/>
          <a:lstStyle/>
          <a:p>
            <a:pPr algn="ctr" indent="0" marL="0">
              <a:lnSpc>
                <a:spcPts val="1000"/>
              </a:lnSpc>
              <a:buNone/>
            </a:pPr>
            <a:r>
              <a:rPr lang="en-US" sz="850" dirty="0">
                <a:solidFill>
                  <a:srgbClr val="2A2F36"/>
                </a:solidFill>
                <a:latin typeface="Calibri" pitchFamily="34" charset="0"/>
                <a:ea typeface="Calibri" pitchFamily="34" charset="-122"/>
                <a:cs typeface="Calibri" pitchFamily="34" charset="-120"/>
              </a:rPr>
              <a:t>Amber: ratify, modify, or stop</a:t>
            </a:r>
            <a:endParaRPr lang="en-US" sz="850" dirty="0"/>
          </a:p>
        </p:txBody>
      </p:sp>
      <p:sp>
        <p:nvSpPr>
          <p:cNvPr id="28" name="Shape 26"/>
          <p:cNvSpPr/>
          <p:nvPr/>
        </p:nvSpPr>
        <p:spPr>
          <a:xfrm>
            <a:off x="11356848" y="2953512"/>
            <a:ext cx="292608" cy="292608"/>
          </a:xfrm>
          <a:prstGeom prst="diamond">
            <a:avLst/>
          </a:prstGeom>
          <a:solidFill>
            <a:srgbClr val="B07A2A"/>
          </a:solidFill>
          <a:ln w="19050">
            <a:solidFill>
              <a:srgbClr val="1F3B57"/>
            </a:solidFill>
            <a:prstDash val="solid"/>
          </a:ln>
        </p:spPr>
      </p:sp>
      <p:sp>
        <p:nvSpPr>
          <p:cNvPr id="29" name="Text 27"/>
          <p:cNvSpPr/>
          <p:nvPr/>
        </p:nvSpPr>
        <p:spPr>
          <a:xfrm>
            <a:off x="10204704" y="1536192"/>
            <a:ext cx="1481328" cy="219456"/>
          </a:xfrm>
          <a:prstGeom prst="rect">
            <a:avLst/>
          </a:prstGeom>
          <a:noFill/>
          <a:ln/>
        </p:spPr>
        <p:txBody>
          <a:bodyPr wrap="square" lIns="0" tIns="0" rIns="0" bIns="0" rtlCol="0" anchor="ctr"/>
          <a:lstStyle/>
          <a:p>
            <a:pPr algn="ctr" indent="0" marL="0">
              <a:buNone/>
            </a:pPr>
            <a:r>
              <a:rPr lang="en-US" sz="1050" b="1" dirty="0">
                <a:solidFill>
                  <a:srgbClr val="1F3B57"/>
                </a:solidFill>
                <a:latin typeface="Calibri" pitchFamily="34" charset="0"/>
                <a:ea typeface="Calibri" pitchFamily="34" charset="-122"/>
                <a:cs typeface="Calibri" pitchFamily="34" charset="-120"/>
              </a:rPr>
              <a:t>Nov 18</a:t>
            </a:r>
            <a:endParaRPr lang="en-US" sz="1050" dirty="0"/>
          </a:p>
        </p:txBody>
      </p:sp>
      <p:sp>
        <p:nvSpPr>
          <p:cNvPr id="30" name="Text 28"/>
          <p:cNvSpPr/>
          <p:nvPr/>
        </p:nvSpPr>
        <p:spPr>
          <a:xfrm>
            <a:off x="10204704" y="1755648"/>
            <a:ext cx="1481328" cy="603504"/>
          </a:xfrm>
          <a:prstGeom prst="rect">
            <a:avLst/>
          </a:prstGeom>
          <a:noFill/>
          <a:ln/>
        </p:spPr>
        <p:txBody>
          <a:bodyPr wrap="square" lIns="0" tIns="0" rIns="0" bIns="0" rtlCol="0" anchor="t"/>
          <a:lstStyle/>
          <a:p>
            <a:pPr algn="ctr" indent="0" marL="0">
              <a:lnSpc>
                <a:spcPts val="1000"/>
              </a:lnSpc>
              <a:buNone/>
            </a:pPr>
            <a:r>
              <a:rPr lang="en-US" sz="850" dirty="0">
                <a:solidFill>
                  <a:srgbClr val="2A2F36"/>
                </a:solidFill>
                <a:latin typeface="Calibri" pitchFamily="34" charset="0"/>
                <a:ea typeface="Calibri" pitchFamily="34" charset="-122"/>
                <a:cs typeface="Calibri" pitchFamily="34" charset="-120"/>
              </a:rPr>
              <a:t>Day-90: scale, continue, pivot, or stop</a:t>
            </a:r>
            <a:endParaRPr lang="en-US" sz="850" dirty="0"/>
          </a:p>
        </p:txBody>
      </p:sp>
      <p:sp>
        <p:nvSpPr>
          <p:cNvPr id="31" name="Text 29"/>
          <p:cNvSpPr/>
          <p:nvPr/>
        </p:nvSpPr>
        <p:spPr>
          <a:xfrm>
            <a:off x="502920" y="4553712"/>
            <a:ext cx="11183112" cy="256032"/>
          </a:xfrm>
          <a:prstGeom prst="rect">
            <a:avLst/>
          </a:prstGeom>
          <a:noFill/>
          <a:ln/>
        </p:spPr>
        <p:txBody>
          <a:bodyPr wrap="square" lIns="0" tIns="0" rIns="0" bIns="0" rtlCol="0" anchor="ctr"/>
          <a:lstStyle/>
          <a:p>
            <a:pPr indent="0" marL="0">
              <a:buNone/>
            </a:pPr>
            <a:r>
              <a:rPr lang="en-US" sz="1200" b="1" dirty="0">
                <a:solidFill>
                  <a:srgbClr val="1F3B57"/>
                </a:solidFill>
                <a:latin typeface="Calibri" pitchFamily="34" charset="0"/>
                <a:ea typeface="Calibri" pitchFamily="34" charset="-122"/>
                <a:cs typeface="Calibri" pitchFamily="34" charset="-120"/>
              </a:rPr>
              <a:t>Day-90 decision criteria, pre-agreed now</a:t>
            </a:r>
            <a:endParaRPr lang="en-US" sz="1200" dirty="0"/>
          </a:p>
        </p:txBody>
      </p:sp>
      <p:sp>
        <p:nvSpPr>
          <p:cNvPr id="32" name="Shape 30"/>
          <p:cNvSpPr/>
          <p:nvPr/>
        </p:nvSpPr>
        <p:spPr>
          <a:xfrm>
            <a:off x="502920" y="4846320"/>
            <a:ext cx="2624328" cy="1417320"/>
          </a:xfrm>
          <a:prstGeom prst="rect">
            <a:avLst/>
          </a:prstGeom>
          <a:solidFill>
            <a:srgbClr val="F7F9FB"/>
          </a:solidFill>
          <a:ln w="9525">
            <a:solidFill>
              <a:srgbClr val="C9D2DB"/>
            </a:solidFill>
            <a:prstDash val="solid"/>
          </a:ln>
        </p:spPr>
      </p:sp>
      <p:sp>
        <p:nvSpPr>
          <p:cNvPr id="33" name="Shape 31"/>
          <p:cNvSpPr/>
          <p:nvPr/>
        </p:nvSpPr>
        <p:spPr>
          <a:xfrm>
            <a:off x="640080" y="4956048"/>
            <a:ext cx="1005840" cy="237744"/>
          </a:xfrm>
          <a:prstGeom prst="roundRect">
            <a:avLst>
              <a:gd name="adj" fmla="val 50000"/>
            </a:avLst>
          </a:prstGeom>
          <a:solidFill>
            <a:srgbClr val="3E7C4F"/>
          </a:solidFill>
          <a:ln/>
        </p:spPr>
      </p:sp>
      <p:sp>
        <p:nvSpPr>
          <p:cNvPr id="34" name="Text 32"/>
          <p:cNvSpPr/>
          <p:nvPr/>
        </p:nvSpPr>
        <p:spPr>
          <a:xfrm>
            <a:off x="640080" y="4951476"/>
            <a:ext cx="1005840" cy="24688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SCALE</a:t>
            </a:r>
            <a:endParaRPr lang="en-US" sz="850" dirty="0"/>
          </a:p>
        </p:txBody>
      </p:sp>
      <p:sp>
        <p:nvSpPr>
          <p:cNvPr id="35" name="Text 33"/>
          <p:cNvSpPr/>
          <p:nvPr/>
        </p:nvSpPr>
        <p:spPr>
          <a:xfrm>
            <a:off x="640080" y="5285232"/>
            <a:ext cx="2350008" cy="932688"/>
          </a:xfrm>
          <a:prstGeom prst="rect">
            <a:avLst/>
          </a:prstGeom>
          <a:noFill/>
          <a:ln/>
        </p:spPr>
        <p:txBody>
          <a:bodyPr wrap="square" lIns="0" tIns="0" rIns="0" bIns="0" rtlCol="0" anchor="t"/>
          <a:lstStyle/>
          <a:p>
            <a:pPr indent="0" marL="0">
              <a:lnSpc>
                <a:spcPts val="1200"/>
              </a:lnSpc>
              <a:buNone/>
            </a:pPr>
            <a:r>
              <a:rPr lang="en-US" sz="950" dirty="0">
                <a:solidFill>
                  <a:srgbClr val="2A2F36"/>
                </a:solidFill>
                <a:latin typeface="Calibri" pitchFamily="34" charset="0"/>
                <a:ea typeface="Calibri" pitchFamily="34" charset="-122"/>
                <a:cs typeface="Calibri" pitchFamily="34" charset="-120"/>
              </a:rPr>
              <a:t>Two customers validate; one pursuit at a commercial gate; routes resolved; support sustained</a:t>
            </a:r>
            <a:endParaRPr lang="en-US" sz="950" dirty="0"/>
          </a:p>
        </p:txBody>
      </p:sp>
      <p:sp>
        <p:nvSpPr>
          <p:cNvPr id="36" name="Shape 34"/>
          <p:cNvSpPr/>
          <p:nvPr/>
        </p:nvSpPr>
        <p:spPr>
          <a:xfrm>
            <a:off x="3355848" y="4846320"/>
            <a:ext cx="2624328" cy="1417320"/>
          </a:xfrm>
          <a:prstGeom prst="rect">
            <a:avLst/>
          </a:prstGeom>
          <a:solidFill>
            <a:srgbClr val="F7F9FB"/>
          </a:solidFill>
          <a:ln w="9525">
            <a:solidFill>
              <a:srgbClr val="C9D2DB"/>
            </a:solidFill>
            <a:prstDash val="solid"/>
          </a:ln>
        </p:spPr>
      </p:sp>
      <p:sp>
        <p:nvSpPr>
          <p:cNvPr id="37" name="Shape 35"/>
          <p:cNvSpPr/>
          <p:nvPr/>
        </p:nvSpPr>
        <p:spPr>
          <a:xfrm>
            <a:off x="3493008" y="4956048"/>
            <a:ext cx="1005840" cy="237744"/>
          </a:xfrm>
          <a:prstGeom prst="roundRect">
            <a:avLst>
              <a:gd name="adj" fmla="val 50000"/>
            </a:avLst>
          </a:prstGeom>
          <a:solidFill>
            <a:srgbClr val="0F6E84"/>
          </a:solidFill>
          <a:ln/>
        </p:spPr>
      </p:sp>
      <p:sp>
        <p:nvSpPr>
          <p:cNvPr id="38" name="Text 36"/>
          <p:cNvSpPr/>
          <p:nvPr/>
        </p:nvSpPr>
        <p:spPr>
          <a:xfrm>
            <a:off x="3493008" y="4951476"/>
            <a:ext cx="1005840" cy="24688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CONTINUE</a:t>
            </a:r>
            <a:endParaRPr lang="en-US" sz="850" dirty="0"/>
          </a:p>
        </p:txBody>
      </p:sp>
      <p:sp>
        <p:nvSpPr>
          <p:cNvPr id="39" name="Text 37"/>
          <p:cNvSpPr/>
          <p:nvPr/>
        </p:nvSpPr>
        <p:spPr>
          <a:xfrm>
            <a:off x="3493008" y="5285232"/>
            <a:ext cx="2350008" cy="932688"/>
          </a:xfrm>
          <a:prstGeom prst="rect">
            <a:avLst/>
          </a:prstGeom>
          <a:noFill/>
          <a:ln/>
        </p:spPr>
        <p:txBody>
          <a:bodyPr wrap="square" lIns="0" tIns="0" rIns="0" bIns="0" rtlCol="0" anchor="t"/>
          <a:lstStyle/>
          <a:p>
            <a:pPr indent="0" marL="0">
              <a:lnSpc>
                <a:spcPts val="1200"/>
              </a:lnSpc>
              <a:buNone/>
            </a:pPr>
            <a:r>
              <a:rPr lang="en-US" sz="950" dirty="0">
                <a:solidFill>
                  <a:srgbClr val="2A2F36"/>
                </a:solidFill>
                <a:latin typeface="Calibri" pitchFamily="34" charset="0"/>
                <a:ea typeface="Calibri" pitchFamily="34" charset="-122"/>
                <a:cs typeface="Calibri" pitchFamily="34" charset="-120"/>
              </a:rPr>
              <a:t>Need validated; progress limited by solvable issues; extend with corrective actions and a dated gate</a:t>
            </a:r>
            <a:endParaRPr lang="en-US" sz="950" dirty="0"/>
          </a:p>
        </p:txBody>
      </p:sp>
      <p:sp>
        <p:nvSpPr>
          <p:cNvPr id="40" name="Shape 38"/>
          <p:cNvSpPr/>
          <p:nvPr/>
        </p:nvSpPr>
        <p:spPr>
          <a:xfrm>
            <a:off x="6208776" y="4846320"/>
            <a:ext cx="2624328" cy="1417320"/>
          </a:xfrm>
          <a:prstGeom prst="rect">
            <a:avLst/>
          </a:prstGeom>
          <a:solidFill>
            <a:srgbClr val="F7F9FB"/>
          </a:solidFill>
          <a:ln w="9525">
            <a:solidFill>
              <a:srgbClr val="C9D2DB"/>
            </a:solidFill>
            <a:prstDash val="solid"/>
          </a:ln>
        </p:spPr>
      </p:sp>
      <p:sp>
        <p:nvSpPr>
          <p:cNvPr id="41" name="Shape 39"/>
          <p:cNvSpPr/>
          <p:nvPr/>
        </p:nvSpPr>
        <p:spPr>
          <a:xfrm>
            <a:off x="6345936" y="4956048"/>
            <a:ext cx="1005840" cy="237744"/>
          </a:xfrm>
          <a:prstGeom prst="roundRect">
            <a:avLst>
              <a:gd name="adj" fmla="val 50000"/>
            </a:avLst>
          </a:prstGeom>
          <a:solidFill>
            <a:srgbClr val="B07A2A"/>
          </a:solidFill>
          <a:ln/>
        </p:spPr>
      </p:sp>
      <p:sp>
        <p:nvSpPr>
          <p:cNvPr id="42" name="Text 40"/>
          <p:cNvSpPr/>
          <p:nvPr/>
        </p:nvSpPr>
        <p:spPr>
          <a:xfrm>
            <a:off x="6345936" y="4951476"/>
            <a:ext cx="1005840" cy="24688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PIVOT</a:t>
            </a:r>
            <a:endParaRPr lang="en-US" sz="850" dirty="0"/>
          </a:p>
        </p:txBody>
      </p:sp>
      <p:sp>
        <p:nvSpPr>
          <p:cNvPr id="43" name="Text 41"/>
          <p:cNvSpPr/>
          <p:nvPr/>
        </p:nvSpPr>
        <p:spPr>
          <a:xfrm>
            <a:off x="6345936" y="5285232"/>
            <a:ext cx="2350008" cy="932688"/>
          </a:xfrm>
          <a:prstGeom prst="rect">
            <a:avLst/>
          </a:prstGeom>
          <a:noFill/>
          <a:ln/>
        </p:spPr>
        <p:txBody>
          <a:bodyPr wrap="square" lIns="0" tIns="0" rIns="0" bIns="0" rtlCol="0" anchor="t"/>
          <a:lstStyle/>
          <a:p>
            <a:pPr indent="0" marL="0">
              <a:lnSpc>
                <a:spcPts val="1200"/>
              </a:lnSpc>
              <a:buNone/>
            </a:pPr>
            <a:r>
              <a:rPr lang="en-US" sz="950" dirty="0">
                <a:solidFill>
                  <a:srgbClr val="2A2F36"/>
                </a:solidFill>
                <a:latin typeface="Calibri" pitchFamily="34" charset="0"/>
                <a:ea typeface="Calibri" pitchFamily="34" charset="-122"/>
                <a:cs typeface="Calibri" pitchFamily="34" charset="-120"/>
              </a:rPr>
              <a:t>Demand exists but plays, route, or decision rights do not convert; change them, do not scale</a:t>
            </a:r>
            <a:endParaRPr lang="en-US" sz="950" dirty="0"/>
          </a:p>
        </p:txBody>
      </p:sp>
      <p:sp>
        <p:nvSpPr>
          <p:cNvPr id="44" name="Shape 42"/>
          <p:cNvSpPr/>
          <p:nvPr/>
        </p:nvSpPr>
        <p:spPr>
          <a:xfrm>
            <a:off x="9061704" y="4846320"/>
            <a:ext cx="2624328" cy="1417320"/>
          </a:xfrm>
          <a:prstGeom prst="rect">
            <a:avLst/>
          </a:prstGeom>
          <a:solidFill>
            <a:srgbClr val="F7F9FB"/>
          </a:solidFill>
          <a:ln w="9525">
            <a:solidFill>
              <a:srgbClr val="C9D2DB"/>
            </a:solidFill>
            <a:prstDash val="solid"/>
          </a:ln>
        </p:spPr>
      </p:sp>
      <p:sp>
        <p:nvSpPr>
          <p:cNvPr id="45" name="Shape 43"/>
          <p:cNvSpPr/>
          <p:nvPr/>
        </p:nvSpPr>
        <p:spPr>
          <a:xfrm>
            <a:off x="9198864" y="4956048"/>
            <a:ext cx="1005840" cy="237744"/>
          </a:xfrm>
          <a:prstGeom prst="roundRect">
            <a:avLst>
              <a:gd name="adj" fmla="val 50000"/>
            </a:avLst>
          </a:prstGeom>
          <a:solidFill>
            <a:srgbClr val="9C3D3D"/>
          </a:solidFill>
          <a:ln/>
        </p:spPr>
      </p:sp>
      <p:sp>
        <p:nvSpPr>
          <p:cNvPr id="46" name="Text 44"/>
          <p:cNvSpPr/>
          <p:nvPr/>
        </p:nvSpPr>
        <p:spPr>
          <a:xfrm>
            <a:off x="9198864" y="4951476"/>
            <a:ext cx="1005840" cy="24688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STOP</a:t>
            </a:r>
            <a:endParaRPr lang="en-US" sz="850" dirty="0"/>
          </a:p>
        </p:txBody>
      </p:sp>
      <p:sp>
        <p:nvSpPr>
          <p:cNvPr id="47" name="Text 45"/>
          <p:cNvSpPr/>
          <p:nvPr/>
        </p:nvSpPr>
        <p:spPr>
          <a:xfrm>
            <a:off x="9198864" y="5285232"/>
            <a:ext cx="2350008" cy="932688"/>
          </a:xfrm>
          <a:prstGeom prst="rect">
            <a:avLst/>
          </a:prstGeom>
          <a:noFill/>
          <a:ln/>
        </p:spPr>
        <p:txBody>
          <a:bodyPr wrap="square" lIns="0" tIns="0" rIns="0" bIns="0" rtlCol="0" anchor="t"/>
          <a:lstStyle/>
          <a:p>
            <a:pPr indent="0" marL="0">
              <a:lnSpc>
                <a:spcPts val="1200"/>
              </a:lnSpc>
              <a:buNone/>
            </a:pPr>
            <a:r>
              <a:rPr lang="en-US" sz="950" dirty="0">
                <a:solidFill>
                  <a:srgbClr val="2A2F36"/>
                </a:solidFill>
                <a:latin typeface="Calibri" pitchFamily="34" charset="0"/>
                <a:ea typeface="Calibri" pitchFamily="34" charset="-122"/>
                <a:cs typeface="Calibri" pitchFamily="34" charset="-120"/>
              </a:rPr>
              <a:t>No credible validation or fit; return activity to the businesses, keep validated work</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3112" cy="256032"/>
          </a:xfrm>
          <a:prstGeom prst="rect">
            <a:avLst/>
          </a:prstGeom>
          <a:noFill/>
          <a:ln/>
        </p:spPr>
        <p:txBody>
          <a:bodyPr wrap="square" lIns="0" tIns="0" rIns="0" bIns="0" rtlCol="0" anchor="ctr"/>
          <a:lstStyle/>
          <a:p>
            <a:pPr indent="0" marL="0">
              <a:buNone/>
            </a:pPr>
            <a:r>
              <a:rPr lang="en-US" sz="1100" b="1" spc="200" kern="0" dirty="0">
                <a:solidFill>
                  <a:srgbClr val="0F6E84"/>
                </a:solidFill>
                <a:latin typeface="Calibri" pitchFamily="34" charset="0"/>
                <a:ea typeface="Calibri" pitchFamily="34" charset="-122"/>
                <a:cs typeface="Calibri" pitchFamily="34" charset="-120"/>
              </a:rPr>
              <a:t>MEASUREMENT</a:t>
            </a:r>
            <a:endParaRPr lang="en-US" sz="1100" dirty="0"/>
          </a:p>
        </p:txBody>
      </p:sp>
      <p:sp>
        <p:nvSpPr>
          <p:cNvPr id="3" name="Text 1"/>
          <p:cNvSpPr/>
          <p:nvPr/>
        </p:nvSpPr>
        <p:spPr>
          <a:xfrm>
            <a:off x="502920" y="530352"/>
            <a:ext cx="11183112" cy="777240"/>
          </a:xfrm>
          <a:prstGeom prst="rect">
            <a:avLst/>
          </a:prstGeom>
          <a:noFill/>
          <a:ln/>
        </p:spPr>
        <p:txBody>
          <a:bodyPr wrap="square" lIns="0" tIns="0" rIns="0" bIns="0" rtlCol="0" anchor="t"/>
          <a:lstStyle/>
          <a:p>
            <a:pPr indent="0" marL="0">
              <a:buNone/>
            </a:pPr>
            <a:r>
              <a:rPr lang="en-US" sz="2100" b="1" dirty="0">
                <a:solidFill>
                  <a:srgbClr val="1F3B57"/>
                </a:solidFill>
                <a:latin typeface="Calibri" pitchFamily="34" charset="0"/>
                <a:ea typeface="Calibri" pitchFamily="34" charset="-122"/>
                <a:cs typeface="Calibri" pitchFamily="34" charset="-120"/>
              </a:rPr>
              <a:t>Thirty-day targets measure evidence produced, not revenue promised: nothing unreconciled reaches leadership or a customer</a:t>
            </a:r>
            <a:endParaRPr lang="en-US" sz="2100" dirty="0"/>
          </a:p>
        </p:txBody>
      </p:sp>
      <p:sp>
        <p:nvSpPr>
          <p:cNvPr id="4" name="Text 2"/>
          <p:cNvSpPr/>
          <p:nvPr/>
        </p:nvSpPr>
        <p:spPr>
          <a:xfrm>
            <a:off x="502920" y="6473952"/>
            <a:ext cx="10085832" cy="274320"/>
          </a:xfrm>
          <a:prstGeom prst="rect">
            <a:avLst/>
          </a:prstGeom>
          <a:noFill/>
          <a:ln/>
        </p:spPr>
        <p:txBody>
          <a:bodyPr wrap="square" lIns="0" tIns="0" rIns="0" bIns="0" rtlCol="0" anchor="ctr"/>
          <a:lstStyle/>
          <a:p>
            <a:pPr indent="0" marL="0">
              <a:buNone/>
            </a:pPr>
            <a:r>
              <a:rPr lang="en-US" sz="850" dirty="0">
                <a:solidFill>
                  <a:srgbClr val="5B6573"/>
                </a:solidFill>
                <a:latin typeface="Calibri" pitchFamily="34" charset="0"/>
                <a:ea typeface="Calibri" pitchFamily="34" charset="-122"/>
                <a:cs typeface="Calibri" pitchFamily="34" charset="-120"/>
              </a:rPr>
              <a:t>Source: 06_Thirty_Day_Mobilization (30-day scorecard); 04_Strategy_Thesis_v0 (30-day leading measures). Baselines marked TBD reflect the absence of a common standard today.</a:t>
            </a:r>
            <a:endParaRPr lang="en-US" sz="850" dirty="0"/>
          </a:p>
        </p:txBody>
      </p:sp>
      <p:sp>
        <p:nvSpPr>
          <p:cNvPr id="5" name="Text 3"/>
          <p:cNvSpPr/>
          <p:nvPr/>
        </p:nvSpPr>
        <p:spPr>
          <a:xfrm>
            <a:off x="10268712" y="6473952"/>
            <a:ext cx="1417320" cy="274320"/>
          </a:xfrm>
          <a:prstGeom prst="rect">
            <a:avLst/>
          </a:prstGeom>
          <a:noFill/>
          <a:ln/>
        </p:spPr>
        <p:txBody>
          <a:bodyPr wrap="square" lIns="0" tIns="0" rIns="0" bIns="0" rtlCol="0" anchor="ctr"/>
          <a:lstStyle/>
          <a:p>
            <a:pPr algn="r" indent="0" marL="0">
              <a:buNone/>
            </a:pPr>
            <a:r>
              <a:rPr lang="en-US" sz="850" dirty="0">
                <a:solidFill>
                  <a:srgbClr val="5B6573"/>
                </a:solidFill>
                <a:latin typeface="Calibri" pitchFamily="34" charset="0"/>
                <a:ea typeface="Calibri" pitchFamily="34" charset="-122"/>
                <a:cs typeface="Calibri" pitchFamily="34" charset="-120"/>
              </a:rPr>
              <a:t>SOUTHWIRE POWERGEN | v0  </a:t>
            </a:r>
            <a:pPr algn="r" indent="0" marL="0">
              <a:buNone/>
            </a:pPr>
            <a:r>
              <a:rPr lang="en-US" sz="850" b="1" dirty="0">
                <a:solidFill>
                  <a:srgbClr val="1F3B57"/>
                </a:solidFill>
                <a:latin typeface="Calibri" pitchFamily="34" charset="0"/>
                <a:ea typeface="Calibri" pitchFamily="34" charset="-122"/>
                <a:cs typeface="Calibri" pitchFamily="34" charset="-120"/>
              </a:rPr>
              <a:t>14</a:t>
            </a:r>
            <a:endParaRPr lang="en-US" sz="850" dirty="0"/>
          </a:p>
        </p:txBody>
      </p:sp>
      <p:sp>
        <p:nvSpPr>
          <p:cNvPr id="6" name="Shape 4"/>
          <p:cNvSpPr/>
          <p:nvPr/>
        </p:nvSpPr>
        <p:spPr>
          <a:xfrm>
            <a:off x="502920" y="1554480"/>
            <a:ext cx="2590038" cy="1417320"/>
          </a:xfrm>
          <a:prstGeom prst="rect">
            <a:avLst/>
          </a:prstGeom>
          <a:solidFill>
            <a:srgbClr val="F7F9FB"/>
          </a:solidFill>
          <a:ln w="9525">
            <a:solidFill>
              <a:srgbClr val="C9D2DB"/>
            </a:solidFill>
            <a:prstDash val="solid"/>
          </a:ln>
        </p:spPr>
      </p:sp>
      <p:sp>
        <p:nvSpPr>
          <p:cNvPr id="7" name="Text 5"/>
          <p:cNvSpPr/>
          <p:nvPr/>
        </p:nvSpPr>
        <p:spPr>
          <a:xfrm>
            <a:off x="612648" y="1645920"/>
            <a:ext cx="2370582" cy="621792"/>
          </a:xfrm>
          <a:prstGeom prst="rect">
            <a:avLst/>
          </a:prstGeom>
          <a:noFill/>
          <a:ln/>
        </p:spPr>
        <p:txBody>
          <a:bodyPr wrap="square" lIns="0" tIns="0" rIns="0" bIns="0" rtlCol="0" anchor="ctr"/>
          <a:lstStyle/>
          <a:p>
            <a:pPr indent="0" marL="0">
              <a:buNone/>
            </a:pPr>
            <a:r>
              <a:rPr lang="en-US" sz="3200" b="1" dirty="0">
                <a:solidFill>
                  <a:srgbClr val="0F6E84"/>
                </a:solidFill>
                <a:latin typeface="Calibri" pitchFamily="34" charset="0"/>
                <a:ea typeface="Calibri" pitchFamily="34" charset="-122"/>
                <a:cs typeface="Calibri" pitchFamily="34" charset="-120"/>
              </a:rPr>
              <a:t>3-5</a:t>
            </a:r>
            <a:endParaRPr lang="en-US" sz="3200" dirty="0"/>
          </a:p>
        </p:txBody>
      </p:sp>
      <p:sp>
        <p:nvSpPr>
          <p:cNvPr id="8" name="Text 6"/>
          <p:cNvSpPr/>
          <p:nvPr/>
        </p:nvSpPr>
        <p:spPr>
          <a:xfrm>
            <a:off x="612648" y="2304288"/>
            <a:ext cx="2370582" cy="594360"/>
          </a:xfrm>
          <a:prstGeom prst="rect">
            <a:avLst/>
          </a:prstGeom>
          <a:noFill/>
          <a:ln/>
        </p:spPr>
        <p:txBody>
          <a:bodyPr wrap="square" lIns="0" tIns="0" rIns="0" bIns="0" rtlCol="0" anchor="t"/>
          <a:lstStyle/>
          <a:p>
            <a:pPr indent="0" marL="0">
              <a:lnSpc>
                <a:spcPts val="1200"/>
              </a:lnSpc>
              <a:buNone/>
            </a:pPr>
            <a:r>
              <a:rPr lang="en-US" sz="1000" dirty="0">
                <a:solidFill>
                  <a:srgbClr val="2A2F36"/>
                </a:solidFill>
                <a:latin typeface="Calibri" pitchFamily="34" charset="0"/>
                <a:ea typeface="Calibri" pitchFamily="34" charset="-122"/>
                <a:cs typeface="Calibri" pitchFamily="34" charset="-120"/>
              </a:rPr>
              <a:t>IPP lighthouse pursuits fully chartered</a:t>
            </a:r>
            <a:endParaRPr lang="en-US" sz="1000" dirty="0"/>
          </a:p>
        </p:txBody>
      </p:sp>
      <p:sp>
        <p:nvSpPr>
          <p:cNvPr id="9" name="Shape 7"/>
          <p:cNvSpPr/>
          <p:nvPr/>
        </p:nvSpPr>
        <p:spPr>
          <a:xfrm>
            <a:off x="3367278" y="1554480"/>
            <a:ext cx="2590038" cy="1417320"/>
          </a:xfrm>
          <a:prstGeom prst="rect">
            <a:avLst/>
          </a:prstGeom>
          <a:solidFill>
            <a:srgbClr val="F7F9FB"/>
          </a:solidFill>
          <a:ln w="9525">
            <a:solidFill>
              <a:srgbClr val="C9D2DB"/>
            </a:solidFill>
            <a:prstDash val="solid"/>
          </a:ln>
        </p:spPr>
      </p:sp>
      <p:sp>
        <p:nvSpPr>
          <p:cNvPr id="10" name="Text 8"/>
          <p:cNvSpPr/>
          <p:nvPr/>
        </p:nvSpPr>
        <p:spPr>
          <a:xfrm>
            <a:off x="3477006" y="1645920"/>
            <a:ext cx="2370582" cy="621792"/>
          </a:xfrm>
          <a:prstGeom prst="rect">
            <a:avLst/>
          </a:prstGeom>
          <a:noFill/>
          <a:ln/>
        </p:spPr>
        <p:txBody>
          <a:bodyPr wrap="square" lIns="0" tIns="0" rIns="0" bIns="0" rtlCol="0" anchor="ctr"/>
          <a:lstStyle/>
          <a:p>
            <a:pPr indent="0" marL="0">
              <a:buNone/>
            </a:pPr>
            <a:r>
              <a:rPr lang="en-US" sz="3200" b="1" dirty="0">
                <a:solidFill>
                  <a:srgbClr val="0F6E84"/>
                </a:solidFill>
                <a:latin typeface="Calibri" pitchFamily="34" charset="0"/>
                <a:ea typeface="Calibri" pitchFamily="34" charset="-122"/>
                <a:cs typeface="Calibri" pitchFamily="34" charset="-120"/>
              </a:rPr>
              <a:t>3-5</a:t>
            </a:r>
            <a:endParaRPr lang="en-US" sz="3200" dirty="0"/>
          </a:p>
        </p:txBody>
      </p:sp>
      <p:sp>
        <p:nvSpPr>
          <p:cNvPr id="11" name="Text 9"/>
          <p:cNvSpPr/>
          <p:nvPr/>
        </p:nvSpPr>
        <p:spPr>
          <a:xfrm>
            <a:off x="3477006" y="2304288"/>
            <a:ext cx="2370582" cy="594360"/>
          </a:xfrm>
          <a:prstGeom prst="rect">
            <a:avLst/>
          </a:prstGeom>
          <a:noFill/>
          <a:ln/>
        </p:spPr>
        <p:txBody>
          <a:bodyPr wrap="square" lIns="0" tIns="0" rIns="0" bIns="0" rtlCol="0" anchor="t"/>
          <a:lstStyle/>
          <a:p>
            <a:pPr indent="0" marL="0">
              <a:lnSpc>
                <a:spcPts val="1200"/>
              </a:lnSpc>
              <a:buNone/>
            </a:pPr>
            <a:r>
              <a:rPr lang="en-US" sz="1000" dirty="0">
                <a:solidFill>
                  <a:srgbClr val="2A2F36"/>
                </a:solidFill>
                <a:latin typeface="Calibri" pitchFamily="34" charset="0"/>
                <a:ea typeface="Calibri" pitchFamily="34" charset="-122"/>
                <a:cs typeface="Calibri" pitchFamily="34" charset="-120"/>
              </a:rPr>
              <a:t>OEM lighthouse accounts fully qualified</a:t>
            </a:r>
            <a:endParaRPr lang="en-US" sz="1000" dirty="0"/>
          </a:p>
        </p:txBody>
      </p:sp>
      <p:sp>
        <p:nvSpPr>
          <p:cNvPr id="12" name="Shape 10"/>
          <p:cNvSpPr/>
          <p:nvPr/>
        </p:nvSpPr>
        <p:spPr>
          <a:xfrm>
            <a:off x="6231636" y="1554480"/>
            <a:ext cx="2590038" cy="1417320"/>
          </a:xfrm>
          <a:prstGeom prst="rect">
            <a:avLst/>
          </a:prstGeom>
          <a:solidFill>
            <a:srgbClr val="F7F9FB"/>
          </a:solidFill>
          <a:ln w="9525">
            <a:solidFill>
              <a:srgbClr val="C9D2DB"/>
            </a:solidFill>
            <a:prstDash val="solid"/>
          </a:ln>
        </p:spPr>
      </p:sp>
      <p:sp>
        <p:nvSpPr>
          <p:cNvPr id="13" name="Text 11"/>
          <p:cNvSpPr/>
          <p:nvPr/>
        </p:nvSpPr>
        <p:spPr>
          <a:xfrm>
            <a:off x="6341364" y="1645920"/>
            <a:ext cx="2370582" cy="621792"/>
          </a:xfrm>
          <a:prstGeom prst="rect">
            <a:avLst/>
          </a:prstGeom>
          <a:noFill/>
          <a:ln/>
        </p:spPr>
        <p:txBody>
          <a:bodyPr wrap="square" lIns="0" tIns="0" rIns="0" bIns="0" rtlCol="0" anchor="ctr"/>
          <a:lstStyle/>
          <a:p>
            <a:pPr indent="0" marL="0">
              <a:buNone/>
            </a:pPr>
            <a:r>
              <a:rPr lang="en-US" sz="3200" b="1" dirty="0">
                <a:solidFill>
                  <a:srgbClr val="0F6E84"/>
                </a:solidFill>
                <a:latin typeface="Calibri" pitchFamily="34" charset="0"/>
                <a:ea typeface="Calibri" pitchFamily="34" charset="-122"/>
                <a:cs typeface="Calibri" pitchFamily="34" charset="-120"/>
              </a:rPr>
              <a:t>100%</a:t>
            </a:r>
            <a:endParaRPr lang="en-US" sz="3200" dirty="0"/>
          </a:p>
        </p:txBody>
      </p:sp>
      <p:sp>
        <p:nvSpPr>
          <p:cNvPr id="14" name="Text 12"/>
          <p:cNvSpPr/>
          <p:nvPr/>
        </p:nvSpPr>
        <p:spPr>
          <a:xfrm>
            <a:off x="6341364" y="2304288"/>
            <a:ext cx="2370582" cy="594360"/>
          </a:xfrm>
          <a:prstGeom prst="rect">
            <a:avLst/>
          </a:prstGeom>
          <a:noFill/>
          <a:ln/>
        </p:spPr>
        <p:txBody>
          <a:bodyPr wrap="square" lIns="0" tIns="0" rIns="0" bIns="0" rtlCol="0" anchor="t"/>
          <a:lstStyle/>
          <a:p>
            <a:pPr indent="0" marL="0">
              <a:lnSpc>
                <a:spcPts val="1200"/>
              </a:lnSpc>
              <a:buNone/>
            </a:pPr>
            <a:r>
              <a:rPr lang="en-US" sz="1000" dirty="0">
                <a:solidFill>
                  <a:srgbClr val="2A2F36"/>
                </a:solidFill>
                <a:latin typeface="Calibri" pitchFamily="34" charset="0"/>
                <a:ea typeface="Calibri" pitchFamily="34" charset="-122"/>
                <a:cs typeface="Calibri" pitchFamily="34" charset="-120"/>
              </a:rPr>
              <a:t>lighthouse projects with full influence and buying map</a:t>
            </a:r>
            <a:endParaRPr lang="en-US" sz="1000" dirty="0"/>
          </a:p>
        </p:txBody>
      </p:sp>
      <p:sp>
        <p:nvSpPr>
          <p:cNvPr id="15" name="Shape 13"/>
          <p:cNvSpPr/>
          <p:nvPr/>
        </p:nvSpPr>
        <p:spPr>
          <a:xfrm>
            <a:off x="9095994" y="1554480"/>
            <a:ext cx="2590038" cy="1417320"/>
          </a:xfrm>
          <a:prstGeom prst="rect">
            <a:avLst/>
          </a:prstGeom>
          <a:solidFill>
            <a:srgbClr val="F7F9FB"/>
          </a:solidFill>
          <a:ln w="9525">
            <a:solidFill>
              <a:srgbClr val="C9D2DB"/>
            </a:solidFill>
            <a:prstDash val="solid"/>
          </a:ln>
        </p:spPr>
      </p:sp>
      <p:sp>
        <p:nvSpPr>
          <p:cNvPr id="16" name="Text 14"/>
          <p:cNvSpPr/>
          <p:nvPr/>
        </p:nvSpPr>
        <p:spPr>
          <a:xfrm>
            <a:off x="9205722" y="1645920"/>
            <a:ext cx="2370582" cy="621792"/>
          </a:xfrm>
          <a:prstGeom prst="rect">
            <a:avLst/>
          </a:prstGeom>
          <a:noFill/>
          <a:ln/>
        </p:spPr>
        <p:txBody>
          <a:bodyPr wrap="square" lIns="0" tIns="0" rIns="0" bIns="0" rtlCol="0" anchor="ctr"/>
          <a:lstStyle/>
          <a:p>
            <a:pPr indent="0" marL="0">
              <a:buNone/>
            </a:pPr>
            <a:r>
              <a:rPr lang="en-US" sz="3200" b="1" dirty="0">
                <a:solidFill>
                  <a:srgbClr val="0F6E84"/>
                </a:solidFill>
                <a:latin typeface="Calibri" pitchFamily="34" charset="0"/>
                <a:ea typeface="Calibri" pitchFamily="34" charset="-122"/>
                <a:cs typeface="Calibri" pitchFamily="34" charset="-120"/>
              </a:rPr>
              <a:t>9 of 9</a:t>
            </a:r>
            <a:endParaRPr lang="en-US" sz="3200" dirty="0"/>
          </a:p>
        </p:txBody>
      </p:sp>
      <p:sp>
        <p:nvSpPr>
          <p:cNvPr id="17" name="Text 15"/>
          <p:cNvSpPr/>
          <p:nvPr/>
        </p:nvSpPr>
        <p:spPr>
          <a:xfrm>
            <a:off x="9205722" y="2304288"/>
            <a:ext cx="2370582" cy="594360"/>
          </a:xfrm>
          <a:prstGeom prst="rect">
            <a:avLst/>
          </a:prstGeom>
          <a:noFill/>
          <a:ln/>
        </p:spPr>
        <p:txBody>
          <a:bodyPr wrap="square" lIns="0" tIns="0" rIns="0" bIns="0" rtlCol="0" anchor="t"/>
          <a:lstStyle/>
          <a:p>
            <a:pPr indent="0" marL="0">
              <a:lnSpc>
                <a:spcPts val="1200"/>
              </a:lnSpc>
              <a:buNone/>
            </a:pPr>
            <a:r>
              <a:rPr lang="en-US" sz="1000" dirty="0">
                <a:solidFill>
                  <a:srgbClr val="2A2F36"/>
                </a:solidFill>
                <a:latin typeface="Calibri" pitchFamily="34" charset="0"/>
                <a:ea typeface="Calibri" pitchFamily="34" charset="-122"/>
                <a:cs typeface="Calibri" pitchFamily="34" charset="-120"/>
              </a:rPr>
              <a:t>governance RIDs decided or escalated with dates</a:t>
            </a:r>
            <a:endParaRPr lang="en-US" sz="1000" dirty="0"/>
          </a:p>
        </p:txBody>
      </p:sp>
      <p:sp>
        <p:nvSpPr>
          <p:cNvPr id="18" name="Shape 16"/>
          <p:cNvSpPr/>
          <p:nvPr/>
        </p:nvSpPr>
        <p:spPr>
          <a:xfrm>
            <a:off x="502920" y="3154680"/>
            <a:ext cx="2590038" cy="1417320"/>
          </a:xfrm>
          <a:prstGeom prst="rect">
            <a:avLst/>
          </a:prstGeom>
          <a:solidFill>
            <a:srgbClr val="FFFFFF"/>
          </a:solidFill>
          <a:ln w="9525">
            <a:solidFill>
              <a:srgbClr val="C9D2DB"/>
            </a:solidFill>
            <a:prstDash val="solid"/>
          </a:ln>
        </p:spPr>
      </p:sp>
      <p:sp>
        <p:nvSpPr>
          <p:cNvPr id="19" name="Text 17"/>
          <p:cNvSpPr/>
          <p:nvPr/>
        </p:nvSpPr>
        <p:spPr>
          <a:xfrm>
            <a:off x="612648" y="3246120"/>
            <a:ext cx="2370582" cy="621792"/>
          </a:xfrm>
          <a:prstGeom prst="rect">
            <a:avLst/>
          </a:prstGeom>
          <a:noFill/>
          <a:ln/>
        </p:spPr>
        <p:txBody>
          <a:bodyPr wrap="square" lIns="0" tIns="0" rIns="0" bIns="0" rtlCol="0" anchor="ctr"/>
          <a:lstStyle/>
          <a:p>
            <a:pPr indent="0" marL="0">
              <a:buNone/>
            </a:pPr>
            <a:r>
              <a:rPr lang="en-US" sz="3200" b="1" dirty="0">
                <a:solidFill>
                  <a:srgbClr val="0F6E84"/>
                </a:solidFill>
                <a:latin typeface="Calibri" pitchFamily="34" charset="0"/>
                <a:ea typeface="Calibri" pitchFamily="34" charset="-122"/>
                <a:cs typeface="Calibri" pitchFamily="34" charset="-120"/>
              </a:rPr>
              <a:t>100%</a:t>
            </a:r>
            <a:endParaRPr lang="en-US" sz="3200" dirty="0"/>
          </a:p>
        </p:txBody>
      </p:sp>
      <p:sp>
        <p:nvSpPr>
          <p:cNvPr id="20" name="Text 18"/>
          <p:cNvSpPr/>
          <p:nvPr/>
        </p:nvSpPr>
        <p:spPr>
          <a:xfrm>
            <a:off x="612648" y="3904488"/>
            <a:ext cx="2370582" cy="594360"/>
          </a:xfrm>
          <a:prstGeom prst="rect">
            <a:avLst/>
          </a:prstGeom>
          <a:noFill/>
          <a:ln/>
        </p:spPr>
        <p:txBody>
          <a:bodyPr wrap="square" lIns="0" tIns="0" rIns="0" bIns="0" rtlCol="0" anchor="t"/>
          <a:lstStyle/>
          <a:p>
            <a:pPr indent="0" marL="0">
              <a:lnSpc>
                <a:spcPts val="1200"/>
              </a:lnSpc>
              <a:buNone/>
            </a:pPr>
            <a:r>
              <a:rPr lang="en-US" sz="1000" dirty="0">
                <a:solidFill>
                  <a:srgbClr val="2A2F36"/>
                </a:solidFill>
                <a:latin typeface="Calibri" pitchFamily="34" charset="0"/>
                <a:ea typeface="Calibri" pitchFamily="34" charset="-122"/>
                <a:cs typeface="Calibri" pitchFamily="34" charset="-120"/>
              </a:rPr>
              <a:t>numerical conflicts reconciled or marked unresolved</a:t>
            </a:r>
            <a:endParaRPr lang="en-US" sz="1000" dirty="0"/>
          </a:p>
        </p:txBody>
      </p:sp>
      <p:sp>
        <p:nvSpPr>
          <p:cNvPr id="21" name="Shape 19"/>
          <p:cNvSpPr/>
          <p:nvPr/>
        </p:nvSpPr>
        <p:spPr>
          <a:xfrm>
            <a:off x="3367278" y="3154680"/>
            <a:ext cx="2590038" cy="1417320"/>
          </a:xfrm>
          <a:prstGeom prst="rect">
            <a:avLst/>
          </a:prstGeom>
          <a:solidFill>
            <a:srgbClr val="FFFFFF"/>
          </a:solidFill>
          <a:ln w="9525">
            <a:solidFill>
              <a:srgbClr val="C9D2DB"/>
            </a:solidFill>
            <a:prstDash val="solid"/>
          </a:ln>
        </p:spPr>
      </p:sp>
      <p:sp>
        <p:nvSpPr>
          <p:cNvPr id="22" name="Text 20"/>
          <p:cNvSpPr/>
          <p:nvPr/>
        </p:nvSpPr>
        <p:spPr>
          <a:xfrm>
            <a:off x="3477006" y="3246120"/>
            <a:ext cx="2370582" cy="621792"/>
          </a:xfrm>
          <a:prstGeom prst="rect">
            <a:avLst/>
          </a:prstGeom>
          <a:noFill/>
          <a:ln/>
        </p:spPr>
        <p:txBody>
          <a:bodyPr wrap="square" lIns="0" tIns="0" rIns="0" bIns="0" rtlCol="0" anchor="ctr"/>
          <a:lstStyle/>
          <a:p>
            <a:pPr indent="0" marL="0">
              <a:buNone/>
            </a:pPr>
            <a:r>
              <a:rPr lang="en-US" sz="3200" b="1" dirty="0">
                <a:solidFill>
                  <a:srgbClr val="0F6E84"/>
                </a:solidFill>
                <a:latin typeface="Calibri" pitchFamily="34" charset="0"/>
                <a:ea typeface="Calibri" pitchFamily="34" charset="-122"/>
                <a:cs typeface="Calibri" pitchFamily="34" charset="-120"/>
              </a:rPr>
              <a:t>≥3</a:t>
            </a:r>
            <a:endParaRPr lang="en-US" sz="3200" dirty="0"/>
          </a:p>
        </p:txBody>
      </p:sp>
      <p:sp>
        <p:nvSpPr>
          <p:cNvPr id="23" name="Text 21"/>
          <p:cNvSpPr/>
          <p:nvPr/>
        </p:nvSpPr>
        <p:spPr>
          <a:xfrm>
            <a:off x="3477006" y="3904488"/>
            <a:ext cx="2370582" cy="594360"/>
          </a:xfrm>
          <a:prstGeom prst="rect">
            <a:avLst/>
          </a:prstGeom>
          <a:noFill/>
          <a:ln/>
        </p:spPr>
        <p:txBody>
          <a:bodyPr wrap="square" lIns="0" tIns="0" rIns="0" bIns="0" rtlCol="0" anchor="t"/>
          <a:lstStyle/>
          <a:p>
            <a:pPr indent="0" marL="0">
              <a:lnSpc>
                <a:spcPts val="1200"/>
              </a:lnSpc>
              <a:buNone/>
            </a:pPr>
            <a:r>
              <a:rPr lang="en-US" sz="1000" dirty="0">
                <a:solidFill>
                  <a:srgbClr val="2A2F36"/>
                </a:solidFill>
                <a:latin typeface="Calibri" pitchFamily="34" charset="0"/>
                <a:ea typeface="Calibri" pitchFamily="34" charset="-122"/>
                <a:cs typeface="Calibri" pitchFamily="34" charset="-120"/>
              </a:rPr>
              <a:t>external discovery conversations documented</a:t>
            </a:r>
            <a:endParaRPr lang="en-US" sz="1000" dirty="0"/>
          </a:p>
        </p:txBody>
      </p:sp>
      <p:sp>
        <p:nvSpPr>
          <p:cNvPr id="24" name="Shape 22"/>
          <p:cNvSpPr/>
          <p:nvPr/>
        </p:nvSpPr>
        <p:spPr>
          <a:xfrm>
            <a:off x="6231636" y="3154680"/>
            <a:ext cx="2590038" cy="1417320"/>
          </a:xfrm>
          <a:prstGeom prst="rect">
            <a:avLst/>
          </a:prstGeom>
          <a:solidFill>
            <a:srgbClr val="FFFFFF"/>
          </a:solidFill>
          <a:ln w="9525">
            <a:solidFill>
              <a:srgbClr val="C9D2DB"/>
            </a:solidFill>
            <a:prstDash val="solid"/>
          </a:ln>
        </p:spPr>
      </p:sp>
      <p:sp>
        <p:nvSpPr>
          <p:cNvPr id="25" name="Text 23"/>
          <p:cNvSpPr/>
          <p:nvPr/>
        </p:nvSpPr>
        <p:spPr>
          <a:xfrm>
            <a:off x="6341364" y="3246120"/>
            <a:ext cx="2370582" cy="621792"/>
          </a:xfrm>
          <a:prstGeom prst="rect">
            <a:avLst/>
          </a:prstGeom>
          <a:noFill/>
          <a:ln/>
        </p:spPr>
        <p:txBody>
          <a:bodyPr wrap="square" lIns="0" tIns="0" rIns="0" bIns="0" rtlCol="0" anchor="ctr"/>
          <a:lstStyle/>
          <a:p>
            <a:pPr indent="0" marL="0">
              <a:buNone/>
            </a:pPr>
            <a:r>
              <a:rPr lang="en-US" sz="3200" b="1" dirty="0">
                <a:solidFill>
                  <a:srgbClr val="0F6E84"/>
                </a:solidFill>
                <a:latin typeface="Calibri" pitchFamily="34" charset="0"/>
                <a:ea typeface="Calibri" pitchFamily="34" charset="-122"/>
                <a:cs typeface="Calibri" pitchFamily="34" charset="-120"/>
              </a:rPr>
              <a:t>≥1</a:t>
            </a:r>
            <a:endParaRPr lang="en-US" sz="3200" dirty="0"/>
          </a:p>
        </p:txBody>
      </p:sp>
      <p:sp>
        <p:nvSpPr>
          <p:cNvPr id="26" name="Text 24"/>
          <p:cNvSpPr/>
          <p:nvPr/>
        </p:nvSpPr>
        <p:spPr>
          <a:xfrm>
            <a:off x="6341364" y="3904488"/>
            <a:ext cx="2370582" cy="594360"/>
          </a:xfrm>
          <a:prstGeom prst="rect">
            <a:avLst/>
          </a:prstGeom>
          <a:noFill/>
          <a:ln/>
        </p:spPr>
        <p:txBody>
          <a:bodyPr wrap="square" lIns="0" tIns="0" rIns="0" bIns="0" rtlCol="0" anchor="t"/>
          <a:lstStyle/>
          <a:p>
            <a:pPr indent="0" marL="0">
              <a:lnSpc>
                <a:spcPts val="1200"/>
              </a:lnSpc>
              <a:buNone/>
            </a:pPr>
            <a:r>
              <a:rPr lang="en-US" sz="1000" dirty="0">
                <a:solidFill>
                  <a:srgbClr val="2A2F36"/>
                </a:solidFill>
                <a:latin typeface="Calibri" pitchFamily="34" charset="0"/>
                <a:ea typeface="Calibri" pitchFamily="34" charset="-122"/>
                <a:cs typeface="Calibri" pitchFamily="34" charset="-120"/>
              </a:rPr>
              <a:t>proof point approved for external use</a:t>
            </a:r>
            <a:endParaRPr lang="en-US" sz="1000" dirty="0"/>
          </a:p>
        </p:txBody>
      </p:sp>
      <p:sp>
        <p:nvSpPr>
          <p:cNvPr id="27" name="Shape 25"/>
          <p:cNvSpPr/>
          <p:nvPr/>
        </p:nvSpPr>
        <p:spPr>
          <a:xfrm>
            <a:off x="9095994" y="3154680"/>
            <a:ext cx="2590038" cy="1417320"/>
          </a:xfrm>
          <a:prstGeom prst="rect">
            <a:avLst/>
          </a:prstGeom>
          <a:solidFill>
            <a:srgbClr val="FFFFFF"/>
          </a:solidFill>
          <a:ln w="9525">
            <a:solidFill>
              <a:srgbClr val="C9D2DB"/>
            </a:solidFill>
            <a:prstDash val="solid"/>
          </a:ln>
        </p:spPr>
      </p:sp>
      <p:sp>
        <p:nvSpPr>
          <p:cNvPr id="28" name="Text 26"/>
          <p:cNvSpPr/>
          <p:nvPr/>
        </p:nvSpPr>
        <p:spPr>
          <a:xfrm>
            <a:off x="9205722" y="3246120"/>
            <a:ext cx="2370582" cy="621792"/>
          </a:xfrm>
          <a:prstGeom prst="rect">
            <a:avLst/>
          </a:prstGeom>
          <a:noFill/>
          <a:ln/>
        </p:spPr>
        <p:txBody>
          <a:bodyPr wrap="square" lIns="0" tIns="0" rIns="0" bIns="0" rtlCol="0" anchor="ctr"/>
          <a:lstStyle/>
          <a:p>
            <a:pPr indent="0" marL="0">
              <a:buNone/>
            </a:pPr>
            <a:r>
              <a:rPr lang="en-US" sz="3200" b="1" dirty="0">
                <a:solidFill>
                  <a:srgbClr val="0F6E84"/>
                </a:solidFill>
                <a:latin typeface="Calibri" pitchFamily="34" charset="0"/>
                <a:ea typeface="Calibri" pitchFamily="34" charset="-122"/>
                <a:cs typeface="Calibri" pitchFamily="34" charset="-120"/>
              </a:rPr>
              <a:t>All</a:t>
            </a:r>
            <a:endParaRPr lang="en-US" sz="3200" dirty="0"/>
          </a:p>
        </p:txBody>
      </p:sp>
      <p:sp>
        <p:nvSpPr>
          <p:cNvPr id="29" name="Text 27"/>
          <p:cNvSpPr/>
          <p:nvPr/>
        </p:nvSpPr>
        <p:spPr>
          <a:xfrm>
            <a:off x="9205722" y="3904488"/>
            <a:ext cx="2370582" cy="594360"/>
          </a:xfrm>
          <a:prstGeom prst="rect">
            <a:avLst/>
          </a:prstGeom>
          <a:noFill/>
          <a:ln/>
        </p:spPr>
        <p:txBody>
          <a:bodyPr wrap="square" lIns="0" tIns="0" rIns="0" bIns="0" rtlCol="0" anchor="t"/>
          <a:lstStyle/>
          <a:p>
            <a:pPr indent="0" marL="0">
              <a:lnSpc>
                <a:spcPts val="1200"/>
              </a:lnSpc>
              <a:buNone/>
            </a:pPr>
            <a:r>
              <a:rPr lang="en-US" sz="1000" dirty="0">
                <a:solidFill>
                  <a:srgbClr val="2A2F36"/>
                </a:solidFill>
                <a:latin typeface="Calibri" pitchFamily="34" charset="0"/>
                <a:ea typeface="Calibri" pitchFamily="34" charset="-122"/>
                <a:cs typeface="Calibri" pitchFamily="34" charset="-120"/>
              </a:rPr>
              <a:t>required functions with active named delegates</a:t>
            </a:r>
            <a:endParaRPr lang="en-US" sz="1000" dirty="0"/>
          </a:p>
        </p:txBody>
      </p:sp>
      <p:sp>
        <p:nvSpPr>
          <p:cNvPr id="30" name="Shape 28"/>
          <p:cNvSpPr/>
          <p:nvPr/>
        </p:nvSpPr>
        <p:spPr>
          <a:xfrm>
            <a:off x="502920" y="4892040"/>
            <a:ext cx="11183112" cy="1188720"/>
          </a:xfrm>
          <a:prstGeom prst="rect">
            <a:avLst/>
          </a:prstGeom>
          <a:solidFill>
            <a:srgbClr val="1F3B57"/>
          </a:solidFill>
          <a:ln w="9525">
            <a:solidFill>
              <a:srgbClr val="C9D2DB"/>
            </a:solidFill>
            <a:prstDash val="solid"/>
          </a:ln>
        </p:spPr>
      </p:sp>
      <p:sp>
        <p:nvSpPr>
          <p:cNvPr id="31" name="Text 29"/>
          <p:cNvSpPr/>
          <p:nvPr/>
        </p:nvSpPr>
        <p:spPr>
          <a:xfrm>
            <a:off x="704088" y="5029200"/>
            <a:ext cx="10780776"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Operating cadence that keeps the score honest</a:t>
            </a:r>
            <a:endParaRPr lang="en-US" sz="1200" dirty="0"/>
          </a:p>
        </p:txBody>
      </p:sp>
      <p:sp>
        <p:nvSpPr>
          <p:cNvPr id="32" name="Text 30"/>
          <p:cNvSpPr/>
          <p:nvPr/>
        </p:nvSpPr>
        <p:spPr>
          <a:xfrm>
            <a:off x="704088" y="5321808"/>
            <a:ext cx="10780776" cy="685800"/>
          </a:xfrm>
          <a:prstGeom prst="rect">
            <a:avLst/>
          </a:prstGeom>
          <a:noFill/>
          <a:ln/>
        </p:spPr>
        <p:txBody>
          <a:bodyPr wrap="square" lIns="0" tIns="0" rIns="0" bIns="0" rtlCol="0" anchor="t"/>
          <a:lstStyle/>
          <a:p>
            <a:pPr indent="0" marL="0">
              <a:lnSpc>
                <a:spcPts val="1500"/>
              </a:lnSpc>
              <a:buNone/>
            </a:pPr>
            <a:r>
              <a:rPr lang="en-US" sz="1150" dirty="0">
                <a:solidFill>
                  <a:srgbClr val="DCE6EF"/>
                </a:solidFill>
                <a:latin typeface="Calibri" pitchFamily="34" charset="0"/>
                <a:ea typeface="Calibri" pitchFamily="34" charset="-122"/>
                <a:cs typeface="Calibri" pitchFamily="34" charset="-120"/>
              </a:rPr>
              <a:t>Weekly 30-minute workstream review and 45-minute sponsor decision window with Marc. A completed pursuit charter before every external proposal. A signed evidence check before every leadership update.</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F3B57"/>
        </a:solidFill>
      </p:bgPr>
    </p:bg>
    <p:spTree>
      <p:nvGrpSpPr>
        <p:cNvPr id="1" name=""/>
        <p:cNvGrpSpPr/>
        <p:nvPr/>
      </p:nvGrpSpPr>
      <p:grpSpPr>
        <a:xfrm>
          <a:off x="0" y="0"/>
          <a:ext cx="0" cy="0"/>
          <a:chOff x="0" y="0"/>
          <a:chExt cx="0" cy="0"/>
        </a:xfrm>
      </p:grpSpPr>
      <p:sp>
        <p:nvSpPr>
          <p:cNvPr id="2" name="Text 0"/>
          <p:cNvSpPr/>
          <p:nvPr/>
        </p:nvSpPr>
        <p:spPr>
          <a:xfrm>
            <a:off x="502920" y="502920"/>
            <a:ext cx="11183112" cy="274320"/>
          </a:xfrm>
          <a:prstGeom prst="rect">
            <a:avLst/>
          </a:prstGeom>
          <a:noFill/>
          <a:ln/>
        </p:spPr>
        <p:txBody>
          <a:bodyPr wrap="square" lIns="0" tIns="0" rIns="0" bIns="0" rtlCol="0" anchor="ctr"/>
          <a:lstStyle/>
          <a:p>
            <a:pPr indent="0" marL="0">
              <a:buNone/>
            </a:pPr>
            <a:r>
              <a:rPr lang="en-US" sz="1100" b="1" spc="200" kern="0" dirty="0">
                <a:solidFill>
                  <a:srgbClr val="0F6E84"/>
                </a:solidFill>
                <a:latin typeface="Calibri" pitchFamily="34" charset="0"/>
                <a:ea typeface="Calibri" pitchFamily="34" charset="-122"/>
                <a:cs typeface="Calibri" pitchFamily="34" charset="-120"/>
              </a:rPr>
              <a:t>THE THURSDAY ASK</a:t>
            </a:r>
            <a:endParaRPr lang="en-US" sz="1100" dirty="0"/>
          </a:p>
        </p:txBody>
      </p:sp>
      <p:sp>
        <p:nvSpPr>
          <p:cNvPr id="3" name="Text 1"/>
          <p:cNvSpPr/>
          <p:nvPr/>
        </p:nvSpPr>
        <p:spPr>
          <a:xfrm>
            <a:off x="502920" y="777240"/>
            <a:ext cx="11183112" cy="7772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Authorize the pilot, resource the thirty days, and let the evidence decide the structure</a:t>
            </a:r>
            <a:endParaRPr lang="en-US" sz="2200" dirty="0"/>
          </a:p>
        </p:txBody>
      </p:sp>
      <p:sp>
        <p:nvSpPr>
          <p:cNvPr id="4" name="Shape 2"/>
          <p:cNvSpPr/>
          <p:nvPr/>
        </p:nvSpPr>
        <p:spPr>
          <a:xfrm>
            <a:off x="502920" y="1783080"/>
            <a:ext cx="3544824" cy="457200"/>
          </a:xfrm>
          <a:prstGeom prst="rect">
            <a:avLst/>
          </a:prstGeom>
          <a:solidFill>
            <a:srgbClr val="0F6E84"/>
          </a:solidFill>
          <a:ln/>
        </p:spPr>
      </p:sp>
      <p:sp>
        <p:nvSpPr>
          <p:cNvPr id="5" name="Text 3"/>
          <p:cNvSpPr/>
          <p:nvPr/>
        </p:nvSpPr>
        <p:spPr>
          <a:xfrm>
            <a:off x="502920" y="1783080"/>
            <a:ext cx="3544824"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Marc, Thursday</a:t>
            </a:r>
            <a:endParaRPr lang="en-US" sz="1300" dirty="0"/>
          </a:p>
        </p:txBody>
      </p:sp>
      <p:sp>
        <p:nvSpPr>
          <p:cNvPr id="6" name="Shape 4"/>
          <p:cNvSpPr/>
          <p:nvPr/>
        </p:nvSpPr>
        <p:spPr>
          <a:xfrm>
            <a:off x="502920" y="2240280"/>
            <a:ext cx="3544824" cy="3520440"/>
          </a:xfrm>
          <a:prstGeom prst="rect">
            <a:avLst/>
          </a:prstGeom>
          <a:solidFill>
            <a:srgbClr val="2C4E70"/>
          </a:solidFill>
          <a:ln/>
        </p:spPr>
      </p:sp>
      <p:sp>
        <p:nvSpPr>
          <p:cNvPr id="7" name="Text 5"/>
          <p:cNvSpPr/>
          <p:nvPr/>
        </p:nvSpPr>
        <p:spPr>
          <a:xfrm>
            <a:off x="685800" y="2395728"/>
            <a:ext cx="3179064" cy="3246120"/>
          </a:xfrm>
          <a:prstGeom prst="rect">
            <a:avLst/>
          </a:prstGeom>
          <a:noFill/>
          <a:ln/>
        </p:spPr>
        <p:txBody>
          <a:bodyPr wrap="square" lIns="0" tIns="0" rIns="0" bIns="0" rtlCol="0" anchor="t"/>
          <a:lstStyle/>
          <a:p>
            <a:pPr marL="127000" indent="-127000">
              <a:lnSpc>
                <a:spcPts val="1350"/>
              </a:lnSpc>
              <a:spcAft>
                <a:spcPts val="1000"/>
              </a:spcAft>
              <a:buSzPct val="100000"/>
              <a:buChar char="–"/>
            </a:pPr>
            <a:r>
              <a:rPr lang="en-US" sz="1050" dirty="0">
                <a:solidFill>
                  <a:srgbClr val="DCE6EF"/>
                </a:solidFill>
                <a:latin typeface="Calibri" pitchFamily="34" charset="0"/>
                <a:ea typeface="Calibri" pitchFamily="34" charset="-122"/>
                <a:cs typeface="Calibri" pitchFamily="34" charset="-120"/>
              </a:rPr>
              <a:t>Authorize the interim federated launch, Aug 21 to Nov 18, and confirm exactly what Stephan may decide without further approval</a:t>
            </a:r>
            <a:endParaRPr lang="en-US" sz="1050" dirty="0"/>
          </a:p>
          <a:p>
            <a:pPr marL="127000" indent="-127000">
              <a:lnSpc>
                <a:spcPts val="1350"/>
              </a:lnSpc>
              <a:spcAft>
                <a:spcPts val="1000"/>
              </a:spcAft>
              <a:buSzPct val="100000"/>
              <a:buChar char="–"/>
            </a:pPr>
            <a:r>
              <a:rPr lang="en-US" sz="1050" dirty="0">
                <a:solidFill>
                  <a:srgbClr val="DCE6EF"/>
                </a:solidFill>
                <a:latin typeface="Calibri" pitchFamily="34" charset="0"/>
                <a:ea typeface="Calibri" pitchFamily="34" charset="-122"/>
                <a:cs typeface="Calibri" pitchFamily="34" charset="-120"/>
              </a:rPr>
              <a:t>Approve the two validation priorities, the conditional gate, the route principles, and the proposed 48-hour escalation target</a:t>
            </a:r>
            <a:endParaRPr lang="en-US" sz="1050" dirty="0"/>
          </a:p>
          <a:p>
            <a:pPr marL="127000" indent="-127000">
              <a:lnSpc>
                <a:spcPts val="1350"/>
              </a:lnSpc>
              <a:spcAft>
                <a:spcPts val="1000"/>
              </a:spcAft>
              <a:buSzPct val="100000"/>
              <a:buChar char="–"/>
            </a:pPr>
            <a:r>
              <a:rPr lang="en-US" sz="1050" dirty="0">
                <a:solidFill>
                  <a:srgbClr val="DCE6EF"/>
                </a:solidFill>
                <a:latin typeface="Calibri" pitchFamily="34" charset="0"/>
                <a:ea typeface="Calibri" pitchFamily="34" charset="-122"/>
                <a:cs typeface="Calibri" pitchFamily="34" charset="-120"/>
              </a:rPr>
              <a:t>Name one delegate, minimum time, and output from each required function, and freeze unreconciled figures from executive use</a:t>
            </a:r>
            <a:endParaRPr lang="en-US" sz="1050" dirty="0"/>
          </a:p>
        </p:txBody>
      </p:sp>
      <p:sp>
        <p:nvSpPr>
          <p:cNvPr id="8" name="Shape 6"/>
          <p:cNvSpPr/>
          <p:nvPr/>
        </p:nvSpPr>
        <p:spPr>
          <a:xfrm>
            <a:off x="4322064" y="1783080"/>
            <a:ext cx="3544824" cy="457200"/>
          </a:xfrm>
          <a:prstGeom prst="rect">
            <a:avLst/>
          </a:prstGeom>
          <a:solidFill>
            <a:srgbClr val="0F6E84"/>
          </a:solidFill>
          <a:ln/>
        </p:spPr>
      </p:sp>
      <p:sp>
        <p:nvSpPr>
          <p:cNvPr id="9" name="Text 7"/>
          <p:cNvSpPr/>
          <p:nvPr/>
        </p:nvSpPr>
        <p:spPr>
          <a:xfrm>
            <a:off x="4322064" y="1783080"/>
            <a:ext cx="3544824"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Amber, September</a:t>
            </a:r>
            <a:endParaRPr lang="en-US" sz="1300" dirty="0"/>
          </a:p>
        </p:txBody>
      </p:sp>
      <p:sp>
        <p:nvSpPr>
          <p:cNvPr id="10" name="Shape 8"/>
          <p:cNvSpPr/>
          <p:nvPr/>
        </p:nvSpPr>
        <p:spPr>
          <a:xfrm>
            <a:off x="4322064" y="2240280"/>
            <a:ext cx="3544824" cy="3520440"/>
          </a:xfrm>
          <a:prstGeom prst="rect">
            <a:avLst/>
          </a:prstGeom>
          <a:solidFill>
            <a:srgbClr val="2C4E70"/>
          </a:solidFill>
          <a:ln/>
        </p:spPr>
      </p:sp>
      <p:sp>
        <p:nvSpPr>
          <p:cNvPr id="11" name="Text 9"/>
          <p:cNvSpPr/>
          <p:nvPr/>
        </p:nvSpPr>
        <p:spPr>
          <a:xfrm>
            <a:off x="4504944" y="2395728"/>
            <a:ext cx="3179064" cy="3246120"/>
          </a:xfrm>
          <a:prstGeom prst="rect">
            <a:avLst/>
          </a:prstGeom>
          <a:noFill/>
          <a:ln/>
        </p:spPr>
        <p:txBody>
          <a:bodyPr wrap="square" lIns="0" tIns="0" rIns="0" bIns="0" rtlCol="0" anchor="t"/>
          <a:lstStyle/>
          <a:p>
            <a:pPr marL="127000" indent="-127000">
              <a:lnSpc>
                <a:spcPts val="1350"/>
              </a:lnSpc>
              <a:spcAft>
                <a:spcPts val="1000"/>
              </a:spcAft>
              <a:buSzPct val="100000"/>
              <a:buChar char="–"/>
            </a:pPr>
            <a:r>
              <a:rPr lang="en-US" sz="1050" dirty="0">
                <a:solidFill>
                  <a:srgbClr val="DCE6EF"/>
                </a:solidFill>
                <a:latin typeface="Calibri" pitchFamily="34" charset="0"/>
                <a:ea typeface="Calibri" pitchFamily="34" charset="-122"/>
                <a:cs typeface="Calibri" pitchFamily="34" charset="-120"/>
              </a:rPr>
              <a:t>Ratify, modify, or stop the pilot model, scope, priorities, decision rights, resources, and scorecard, in writing</a:t>
            </a:r>
            <a:endParaRPr lang="en-US" sz="1050" dirty="0"/>
          </a:p>
          <a:p>
            <a:pPr marL="127000" indent="-127000">
              <a:lnSpc>
                <a:spcPts val="1350"/>
              </a:lnSpc>
              <a:spcAft>
                <a:spcPts val="1000"/>
              </a:spcAft>
              <a:buSzPct val="100000"/>
              <a:buChar char="–"/>
            </a:pPr>
            <a:r>
              <a:rPr lang="en-US" sz="1050" dirty="0">
                <a:solidFill>
                  <a:srgbClr val="DCE6EF"/>
                </a:solidFill>
                <a:latin typeface="Calibri" pitchFamily="34" charset="0"/>
                <a:ea typeface="Calibri" pitchFamily="34" charset="-122"/>
                <a:cs typeface="Calibri" pitchFamily="34" charset="-120"/>
              </a:rPr>
              <a:t>Confirm the enterprise scope boundary with the adjacent verticals</a:t>
            </a:r>
            <a:endParaRPr lang="en-US" sz="1050" dirty="0"/>
          </a:p>
          <a:p>
            <a:pPr marL="127000" indent="-127000">
              <a:lnSpc>
                <a:spcPts val="1350"/>
              </a:lnSpc>
              <a:spcAft>
                <a:spcPts val="1000"/>
              </a:spcAft>
              <a:buSzPct val="100000"/>
              <a:buChar char="–"/>
            </a:pPr>
            <a:r>
              <a:rPr lang="en-US" sz="1050" dirty="0">
                <a:solidFill>
                  <a:srgbClr val="DCE6EF"/>
                </a:solidFill>
                <a:latin typeface="Calibri" pitchFamily="34" charset="0"/>
                <a:ea typeface="Calibri" pitchFamily="34" charset="-122"/>
                <a:cs typeface="Calibri" pitchFamily="34" charset="-120"/>
              </a:rPr>
              <a:t>Set the Day-90 review as the decision forum for scale, continue, pivot, or stop</a:t>
            </a:r>
            <a:endParaRPr lang="en-US" sz="1050" dirty="0"/>
          </a:p>
        </p:txBody>
      </p:sp>
      <p:sp>
        <p:nvSpPr>
          <p:cNvPr id="12" name="Shape 10"/>
          <p:cNvSpPr/>
          <p:nvPr/>
        </p:nvSpPr>
        <p:spPr>
          <a:xfrm>
            <a:off x="8141208" y="1783080"/>
            <a:ext cx="3544824" cy="457200"/>
          </a:xfrm>
          <a:prstGeom prst="rect">
            <a:avLst/>
          </a:prstGeom>
          <a:solidFill>
            <a:srgbClr val="0F6E84"/>
          </a:solidFill>
          <a:ln/>
        </p:spPr>
      </p:sp>
      <p:sp>
        <p:nvSpPr>
          <p:cNvPr id="13" name="Text 11"/>
          <p:cNvSpPr/>
          <p:nvPr/>
        </p:nvSpPr>
        <p:spPr>
          <a:xfrm>
            <a:off x="8141208" y="1783080"/>
            <a:ext cx="3544824"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Friday morning, Aug 21</a:t>
            </a:r>
            <a:endParaRPr lang="en-US" sz="1300" dirty="0"/>
          </a:p>
        </p:txBody>
      </p:sp>
      <p:sp>
        <p:nvSpPr>
          <p:cNvPr id="14" name="Shape 12"/>
          <p:cNvSpPr/>
          <p:nvPr/>
        </p:nvSpPr>
        <p:spPr>
          <a:xfrm>
            <a:off x="8141208" y="2240280"/>
            <a:ext cx="3544824" cy="3520440"/>
          </a:xfrm>
          <a:prstGeom prst="rect">
            <a:avLst/>
          </a:prstGeom>
          <a:solidFill>
            <a:srgbClr val="2C4E70"/>
          </a:solidFill>
          <a:ln/>
        </p:spPr>
      </p:sp>
      <p:sp>
        <p:nvSpPr>
          <p:cNvPr id="15" name="Text 13"/>
          <p:cNvSpPr/>
          <p:nvPr/>
        </p:nvSpPr>
        <p:spPr>
          <a:xfrm>
            <a:off x="8324088" y="2395728"/>
            <a:ext cx="3179064" cy="3246120"/>
          </a:xfrm>
          <a:prstGeom prst="rect">
            <a:avLst/>
          </a:prstGeom>
          <a:noFill/>
          <a:ln/>
        </p:spPr>
        <p:txBody>
          <a:bodyPr wrap="square" lIns="0" tIns="0" rIns="0" bIns="0" rtlCol="0" anchor="t"/>
          <a:lstStyle/>
          <a:p>
            <a:pPr marL="127000" indent="-127000">
              <a:lnSpc>
                <a:spcPts val="1350"/>
              </a:lnSpc>
              <a:spcAft>
                <a:spcPts val="1000"/>
              </a:spcAft>
              <a:buSzPct val="100000"/>
              <a:buChar char="–"/>
            </a:pPr>
            <a:r>
              <a:rPr lang="en-US" sz="1050" dirty="0">
                <a:solidFill>
                  <a:srgbClr val="DCE6EF"/>
                </a:solidFill>
                <a:latin typeface="Calibri" pitchFamily="34" charset="0"/>
                <a:ea typeface="Calibri" pitchFamily="34" charset="-122"/>
                <a:cs typeface="Calibri" pitchFamily="34" charset="-120"/>
              </a:rPr>
              <a:t>Decision log published; pilot charter and guardrail note issued</a:t>
            </a:r>
            <a:endParaRPr lang="en-US" sz="1050" dirty="0"/>
          </a:p>
          <a:p>
            <a:pPr marL="127000" indent="-127000">
              <a:lnSpc>
                <a:spcPts val="1350"/>
              </a:lnSpc>
              <a:spcAft>
                <a:spcPts val="1000"/>
              </a:spcAft>
              <a:buSzPct val="100000"/>
              <a:buChar char="–"/>
            </a:pPr>
            <a:r>
              <a:rPr lang="en-US" sz="1050" dirty="0">
                <a:solidFill>
                  <a:srgbClr val="DCE6EF"/>
                </a:solidFill>
                <a:latin typeface="Calibri" pitchFamily="34" charset="0"/>
                <a:ea typeface="Calibri" pitchFamily="34" charset="-122"/>
                <a:cs typeface="Calibri" pitchFamily="34" charset="-120"/>
              </a:rPr>
              <a:t>Baseline data request reaches every named delegate; submissions due Aug 28</a:t>
            </a:r>
            <a:endParaRPr lang="en-US" sz="1050" dirty="0"/>
          </a:p>
          <a:p>
            <a:pPr marL="127000" indent="-127000">
              <a:lnSpc>
                <a:spcPts val="1350"/>
              </a:lnSpc>
              <a:spcAft>
                <a:spcPts val="1000"/>
              </a:spcAft>
              <a:buSzPct val="100000"/>
              <a:buChar char="–"/>
            </a:pPr>
            <a:r>
              <a:rPr lang="en-US" sz="1050" dirty="0">
                <a:solidFill>
                  <a:srgbClr val="DCE6EF"/>
                </a:solidFill>
                <a:latin typeface="Calibri" pitchFamily="34" charset="0"/>
                <a:ea typeface="Calibri" pitchFamily="34" charset="-122"/>
                <a:cs typeface="Calibri" pitchFamily="34" charset="-120"/>
              </a:rPr>
              <a:t>Lighthouse shortlisting begins with Mike toward the Aug 24 candidate list</a:t>
            </a:r>
            <a:endParaRPr lang="en-US" sz="1050" dirty="0"/>
          </a:p>
        </p:txBody>
      </p:sp>
      <p:sp>
        <p:nvSpPr>
          <p:cNvPr id="16" name="Text 14"/>
          <p:cNvSpPr/>
          <p:nvPr/>
        </p:nvSpPr>
        <p:spPr>
          <a:xfrm>
            <a:off x="502920" y="6035040"/>
            <a:ext cx="11183112" cy="320040"/>
          </a:xfrm>
          <a:prstGeom prst="rect">
            <a:avLst/>
          </a:prstGeom>
          <a:noFill/>
          <a:ln/>
        </p:spPr>
        <p:txBody>
          <a:bodyPr wrap="square" lIns="0" tIns="0" rIns="0" bIns="0" rtlCol="0" anchor="ctr"/>
          <a:lstStyle/>
          <a:p>
            <a:pPr indent="0" marL="0">
              <a:buNone/>
            </a:pPr>
            <a:r>
              <a:rPr lang="en-US" sz="1300" dirty="0">
                <a:solidFill>
                  <a:srgbClr val="9FB8CE"/>
                </a:solidFill>
                <a:latin typeface="Calibri" pitchFamily="34" charset="0"/>
                <a:ea typeface="Calibri" pitchFamily="34" charset="-122"/>
                <a:cs typeface="Calibri" pitchFamily="34" charset="-120"/>
              </a:rPr>
              <a:t>Structure is an outcome of evidence, not the starting assumption.</a:t>
            </a:r>
            <a:endParaRPr lang="en-US" sz="1300" dirty="0"/>
          </a:p>
        </p:txBody>
      </p:sp>
      <p:sp>
        <p:nvSpPr>
          <p:cNvPr id="17" name="Text 15"/>
          <p:cNvSpPr/>
          <p:nvPr/>
        </p:nvSpPr>
        <p:spPr>
          <a:xfrm>
            <a:off x="10268712" y="6473952"/>
            <a:ext cx="1417320" cy="274320"/>
          </a:xfrm>
          <a:prstGeom prst="rect">
            <a:avLst/>
          </a:prstGeom>
          <a:noFill/>
          <a:ln/>
        </p:spPr>
        <p:txBody>
          <a:bodyPr wrap="square" lIns="0" tIns="0" rIns="0" bIns="0" rtlCol="0" anchor="ctr"/>
          <a:lstStyle/>
          <a:p>
            <a:pPr algn="r" indent="0" marL="0">
              <a:buNone/>
            </a:pPr>
            <a:r>
              <a:rPr lang="en-US" sz="850" dirty="0">
                <a:solidFill>
                  <a:srgbClr val="9FB8CE"/>
                </a:solidFill>
                <a:latin typeface="Calibri" pitchFamily="34" charset="0"/>
                <a:ea typeface="Calibri" pitchFamily="34" charset="-122"/>
                <a:cs typeface="Calibri" pitchFamily="34" charset="-120"/>
              </a:rPr>
              <a:t>SOUTHWIRE POWERGEN | v0  </a:t>
            </a:r>
            <a:pPr algn="r" indent="0" marL="0">
              <a:buNone/>
            </a:pPr>
            <a:r>
              <a:rPr lang="en-US" sz="850" b="1" dirty="0">
                <a:solidFill>
                  <a:srgbClr val="FFFFFF"/>
                </a:solidFill>
                <a:latin typeface="Calibri" pitchFamily="34" charset="0"/>
                <a:ea typeface="Calibri" pitchFamily="34" charset="-122"/>
                <a:cs typeface="Calibri" pitchFamily="34" charset="-120"/>
              </a:rPr>
              <a:t>15</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2026-08-18T03:00:12Z</dcterms:created>
  <dcterms:modified xsi:type="dcterms:W3CDTF">2026-08-18T03:00:12Z</dcterms:modified>
</cp:coreProperties>
</file>