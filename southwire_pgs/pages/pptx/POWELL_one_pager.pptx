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POWELL_EhouseExploded (master .blend). Discussion concept for Powell;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Powell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>
                <a:solidFill>
                  <a:srgbClr val="1F2A33"/>
                </a:solidFill>
                <a:latin typeface="Arial"/>
              </a:rPr>
              <a:t>Interconnection packages for packaged electrical systems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Examine the wiring and interconnections that cross shipping splits and are completed after an electrical building is set.</a:t>
            </a:r>
          </a:p>
        </p:txBody>
      </p:sp>
      <p:pic>
        <p:nvPicPr>
          <p:cNvPr id="9" name="Render_POWELL_EhouseExploded" descr="POWELL_EhouseExpl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>
            <a:off x="1304483" y="2883398"/>
            <a:ext cx="2130631" cy="406523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3403110" y="3257917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1181039" y="275995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1459931" y="2773670"/>
            <a:ext cx="1766119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1514795" y="2773670"/>
            <a:ext cx="1656391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Factory-installed cable and tray</a:t>
            </a:r>
          </a:p>
        </p:txBody>
      </p:sp>
      <p:cxnSp>
        <p:nvCxnSpPr>
          <p:cNvPr id="15" name="Callout_2_Leader"/>
          <p:cNvCxnSpPr/>
          <p:nvPr/>
        </p:nvCxnSpPr>
        <p:spPr>
          <a:xfrm flipV="1">
            <a:off x="3342680" y="4558006"/>
            <a:ext cx="535971" cy="1528533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3846647" y="4526002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3219236" y="5963095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3498128" y="5976811"/>
            <a:ext cx="1562236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3552992" y="5976811"/>
            <a:ext cx="14525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Interconnect cable package</a:t>
            </a:r>
          </a:p>
        </p:txBody>
      </p:sp>
      <p:cxnSp>
        <p:nvCxnSpPr>
          <p:cNvPr id="20" name="Callout_3_Leader"/>
          <p:cNvCxnSpPr/>
          <p:nvPr/>
        </p:nvCxnSpPr>
        <p:spPr>
          <a:xfrm flipH="1">
            <a:off x="4700691" y="2600768"/>
            <a:ext cx="272547" cy="726115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4668687" y="3294879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4849794" y="247732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3220031" y="2491040"/>
            <a:ext cx="1597759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3274895" y="2491040"/>
            <a:ext cx="1488031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Shipping-split field interface</a:t>
            </a:r>
          </a:p>
        </p:txBody>
      </p:sp>
      <p:sp>
        <p:nvSpPr>
          <p:cNvPr id="25" name="Legend_Box"/>
          <p:cNvSpPr/>
          <p:nvPr/>
        </p:nvSpPr>
        <p:spPr>
          <a:xfrm>
            <a:off x="525780" y="5716341"/>
            <a:ext cx="2395728" cy="740664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580644" y="5798637"/>
            <a:ext cx="201168" cy="64008"/>
          </a:xfrm>
          <a:prstGeom prst="rect">
            <a:avLst/>
          </a:prstGeom>
          <a:solidFill>
            <a:srgbClr val="1C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854964" y="5752917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Power conductors</a:t>
            </a:r>
          </a:p>
        </p:txBody>
      </p:sp>
      <p:sp>
        <p:nvSpPr>
          <p:cNvPr id="28" name="Legend_Swatch_2"/>
          <p:cNvSpPr/>
          <p:nvPr/>
        </p:nvSpPr>
        <p:spPr>
          <a:xfrm>
            <a:off x="580644" y="5954085"/>
            <a:ext cx="201168" cy="64008"/>
          </a:xfrm>
          <a:prstGeom prst="rect">
            <a:avLst/>
          </a:prstGeom>
          <a:solidFill>
            <a:srgbClr val="D8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gend_Text_2"/>
          <p:cNvSpPr txBox="1"/>
          <p:nvPr/>
        </p:nvSpPr>
        <p:spPr>
          <a:xfrm>
            <a:off x="854964" y="5908365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Completed onsite (presentation amber)</a:t>
            </a:r>
          </a:p>
        </p:txBody>
      </p:sp>
      <p:sp>
        <p:nvSpPr>
          <p:cNvPr id="30" name="Legend_Swatch_3"/>
          <p:cNvSpPr/>
          <p:nvPr/>
        </p:nvSpPr>
        <p:spPr>
          <a:xfrm>
            <a:off x="580644" y="6109533"/>
            <a:ext cx="201168" cy="64008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gend_Text_3"/>
          <p:cNvSpPr txBox="1"/>
          <p:nvPr/>
        </p:nvSpPr>
        <p:spPr>
          <a:xfrm>
            <a:off x="854964" y="6063813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Grounding / bonding</a:t>
            </a:r>
          </a:p>
        </p:txBody>
      </p:sp>
      <p:sp>
        <p:nvSpPr>
          <p:cNvPr id="32" name="Legend_Note"/>
          <p:cNvSpPr txBox="1"/>
          <p:nvPr/>
        </p:nvSpPr>
        <p:spPr>
          <a:xfrm>
            <a:off x="580644" y="6237549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33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4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6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Factory-installed cable and tray</a:t>
            </a:r>
          </a:p>
        </p:txBody>
      </p:sp>
      <p:sp>
        <p:nvSpPr>
          <p:cNvPr id="37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Cables routed and terminated within each shipping section before shipment, per the building design and its interconnection list.</a:t>
            </a:r>
          </a:p>
        </p:txBody>
      </p:sp>
      <p:sp>
        <p:nvSpPr>
          <p:cNvPr id="38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9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Interconnect cable package</a:t>
            </a:r>
          </a:p>
        </p:txBody>
      </p:sp>
      <p:sp>
        <p:nvSpPr>
          <p:cNvPr id="40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Split-crossing feeders and control cables prepared, identified and packed for the reconnection sequence.</a:t>
            </a:r>
          </a:p>
        </p:txBody>
      </p:sp>
      <p:sp>
        <p:nvSpPr>
          <p:cNvPr id="41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2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Shipping-split field interface</a:t>
            </a:r>
          </a:p>
        </p:txBody>
      </p:sp>
      <p:sp>
        <p:nvSpPr>
          <p:cNvPr id="43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Tray splices, bonding jumpers and terminations defined so field work follows a known scope and a documented sequence.</a:t>
            </a:r>
          </a:p>
        </p:txBody>
      </p:sp>
      <p:sp>
        <p:nvSpPr>
          <p:cNvPr id="44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5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6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7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50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Select one electrical package and walk through its interconnection list in an assembly review.</a:t>
            </a:r>
          </a:p>
        </p:txBody>
      </p:sp>
      <p:sp>
        <p:nvSpPr>
          <p:cNvPr id="51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52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53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