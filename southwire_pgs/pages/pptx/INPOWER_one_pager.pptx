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View: INPOWER_Docking (master .blend). Discussion concept for InPower; no agreement, pilot or purchase is implied. Replace the logo placeholder and the [Phone]/[Email] placeholders before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ogo_Placeholder"/>
          <p:cNvSpPr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  <a:ln w="7620">
            <a:solidFill>
              <a:srgbClr val="9AA3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_Placeholder_Text"/>
          <p:cNvSpPr txBox="1"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SOUTHWIRE LOGO</a:t>
            </a:r>
          </a:p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placeholder - insert approved artwork</a:t>
            </a:r>
          </a:p>
        </p:txBody>
      </p:sp>
      <p:sp>
        <p:nvSpPr>
          <p:cNvPr id="4" name="Business_Unit"/>
          <p:cNvSpPr txBox="1"/>
          <p:nvPr/>
        </p:nvSpPr>
        <p:spPr>
          <a:xfrm>
            <a:off x="2240280" y="3657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B5121B"/>
                </a:solidFill>
                <a:latin typeface="Arial"/>
              </a:rPr>
              <a:t>POWER GENERATION SOLUTIONS</a:t>
            </a:r>
          </a:p>
        </p:txBody>
      </p:sp>
      <p:sp>
        <p:nvSpPr>
          <p:cNvPr id="5" name="Discussion_Line"/>
          <p:cNvSpPr txBox="1"/>
          <p:nvPr/>
        </p:nvSpPr>
        <p:spPr>
          <a:xfrm>
            <a:off x="4480560" y="365760"/>
            <a:ext cx="28346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5B6670"/>
                </a:solidFill>
                <a:latin typeface="Arial"/>
              </a:rPr>
              <a:t>Discussion with InPower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457200" y="896112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F2A33"/>
                </a:solidFill>
                <a:latin typeface="Arial"/>
              </a:rPr>
              <a:t>Generator docking and connection sets</a:t>
            </a:r>
          </a:p>
        </p:txBody>
      </p:sp>
      <p:sp>
        <p:nvSpPr>
          <p:cNvPr id="7" name="Accent_Rule"/>
          <p:cNvSpPr/>
          <p:nvPr/>
        </p:nvSpPr>
        <p:spPr>
          <a:xfrm>
            <a:off x="457200" y="1389888"/>
            <a:ext cx="822960" cy="32004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pporting_Sentence"/>
          <p:cNvSpPr txBox="1"/>
          <p:nvPr/>
        </p:nvSpPr>
        <p:spPr>
          <a:xfrm>
            <a:off x="457200" y="1481328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F2A33"/>
                </a:solidFill>
                <a:latin typeface="Arial"/>
              </a:rPr>
              <a:t>Review portable lead sets and internal docking-station wiring as coordinated, identified connection packages.</a:t>
            </a:r>
          </a:p>
        </p:txBody>
      </p:sp>
      <p:pic>
        <p:nvPicPr>
          <p:cNvPr id="9" name="Render_INPOWER_Docking" descr="INPOWER_Do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" y="1847088"/>
            <a:ext cx="6793992" cy="4710501"/>
          </a:xfrm>
          <a:prstGeom prst="rect">
            <a:avLst/>
          </a:prstGeom>
        </p:spPr>
      </p:pic>
      <p:cxnSp>
        <p:nvCxnSpPr>
          <p:cNvPr id="10" name="Callout_1_Leader"/>
          <p:cNvCxnSpPr/>
          <p:nvPr/>
        </p:nvCxnSpPr>
        <p:spPr>
          <a:xfrm flipV="1">
            <a:off x="1168603" y="5012624"/>
            <a:ext cx="1391639" cy="697074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llout_1_Anchor"/>
          <p:cNvSpPr/>
          <p:nvPr/>
        </p:nvSpPr>
        <p:spPr>
          <a:xfrm>
            <a:off x="2528238" y="4980620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llout_1_Marker"/>
          <p:cNvSpPr/>
          <p:nvPr/>
        </p:nvSpPr>
        <p:spPr>
          <a:xfrm>
            <a:off x="1045159" y="558625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Callout_1_LabelBox"/>
          <p:cNvSpPr/>
          <p:nvPr/>
        </p:nvSpPr>
        <p:spPr>
          <a:xfrm>
            <a:off x="1324051" y="5599970"/>
            <a:ext cx="1070280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llout_1_Label"/>
          <p:cNvSpPr txBox="1"/>
          <p:nvPr/>
        </p:nvSpPr>
        <p:spPr>
          <a:xfrm>
            <a:off x="1378915" y="5599970"/>
            <a:ext cx="96055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Portable lead sets</a:t>
            </a:r>
          </a:p>
        </p:txBody>
      </p:sp>
      <p:cxnSp>
        <p:nvCxnSpPr>
          <p:cNvPr id="15" name="Callout_2_Leader"/>
          <p:cNvCxnSpPr/>
          <p:nvPr/>
        </p:nvCxnSpPr>
        <p:spPr>
          <a:xfrm flipH="1">
            <a:off x="4905545" y="3260238"/>
            <a:ext cx="1562371" cy="746505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llout_2_Anchor"/>
          <p:cNvSpPr/>
          <p:nvPr/>
        </p:nvSpPr>
        <p:spPr>
          <a:xfrm>
            <a:off x="4873541" y="3974739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llout_2_Marker"/>
          <p:cNvSpPr/>
          <p:nvPr/>
        </p:nvSpPr>
        <p:spPr>
          <a:xfrm>
            <a:off x="6344472" y="313679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Callout_2_LabelBox"/>
          <p:cNvSpPr/>
          <p:nvPr/>
        </p:nvSpPr>
        <p:spPr>
          <a:xfrm>
            <a:off x="4582783" y="3150510"/>
            <a:ext cx="1729685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llout_2_Label"/>
          <p:cNvSpPr txBox="1"/>
          <p:nvPr/>
        </p:nvSpPr>
        <p:spPr>
          <a:xfrm>
            <a:off x="4637647" y="3150510"/>
            <a:ext cx="161995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Docking-station internal wiring</a:t>
            </a:r>
          </a:p>
        </p:txBody>
      </p:sp>
      <p:cxnSp>
        <p:nvCxnSpPr>
          <p:cNvPr id="20" name="Callout_3_Leader"/>
          <p:cNvCxnSpPr/>
          <p:nvPr/>
        </p:nvCxnSpPr>
        <p:spPr>
          <a:xfrm>
            <a:off x="1848002" y="3260238"/>
            <a:ext cx="2300559" cy="796282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llout_3_Anchor"/>
          <p:cNvSpPr/>
          <p:nvPr/>
        </p:nvSpPr>
        <p:spPr>
          <a:xfrm>
            <a:off x="4116557" y="4024516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llout_3_Marker"/>
          <p:cNvSpPr/>
          <p:nvPr/>
        </p:nvSpPr>
        <p:spPr>
          <a:xfrm>
            <a:off x="1724558" y="313679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Callout_3_LabelBox"/>
          <p:cNvSpPr/>
          <p:nvPr/>
        </p:nvSpPr>
        <p:spPr>
          <a:xfrm>
            <a:off x="2003450" y="3150510"/>
            <a:ext cx="1723841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llout_3_Label"/>
          <p:cNvSpPr txBox="1"/>
          <p:nvPr/>
        </p:nvSpPr>
        <p:spPr>
          <a:xfrm>
            <a:off x="2058314" y="3150510"/>
            <a:ext cx="1614113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Generator and load-bank ports</a:t>
            </a:r>
          </a:p>
        </p:txBody>
      </p:sp>
      <p:sp>
        <p:nvSpPr>
          <p:cNvPr id="25" name="Legend_Box"/>
          <p:cNvSpPr/>
          <p:nvPr/>
        </p:nvSpPr>
        <p:spPr>
          <a:xfrm>
            <a:off x="525780" y="5871789"/>
            <a:ext cx="2395728" cy="585216"/>
          </a:xfrm>
          <a:prstGeom prst="rect">
            <a:avLst/>
          </a:prstGeom>
          <a:solidFill>
            <a:srgbClr val="FFFFFF">
              <a:alpha val="92000"/>
            </a:srgbClr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gend_Swatch_1"/>
          <p:cNvSpPr/>
          <p:nvPr/>
        </p:nvSpPr>
        <p:spPr>
          <a:xfrm>
            <a:off x="580644" y="5954085"/>
            <a:ext cx="201168" cy="64008"/>
          </a:xfrm>
          <a:prstGeom prst="rect">
            <a:avLst/>
          </a:prstGeom>
          <a:solidFill>
            <a:srgbClr val="1C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gend_Text_1"/>
          <p:cNvSpPr txBox="1"/>
          <p:nvPr/>
        </p:nvSpPr>
        <p:spPr>
          <a:xfrm>
            <a:off x="854964" y="5908365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Power conductors</a:t>
            </a:r>
          </a:p>
        </p:txBody>
      </p:sp>
      <p:sp>
        <p:nvSpPr>
          <p:cNvPr id="28" name="Legend_Swatch_2"/>
          <p:cNvSpPr/>
          <p:nvPr/>
        </p:nvSpPr>
        <p:spPr>
          <a:xfrm>
            <a:off x="580644" y="6109533"/>
            <a:ext cx="201168" cy="64008"/>
          </a:xfrm>
          <a:prstGeom prst="rect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gend_Text_2"/>
          <p:cNvSpPr txBox="1"/>
          <p:nvPr/>
        </p:nvSpPr>
        <p:spPr>
          <a:xfrm>
            <a:off x="854964" y="6063813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Grounding / bonding</a:t>
            </a:r>
          </a:p>
        </p:txBody>
      </p:sp>
      <p:sp>
        <p:nvSpPr>
          <p:cNvPr id="30" name="Legend_Note"/>
          <p:cNvSpPr txBox="1"/>
          <p:nvPr/>
        </p:nvSpPr>
        <p:spPr>
          <a:xfrm>
            <a:off x="580644" y="6237549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00" b="0">
                <a:solidFill>
                  <a:srgbClr val="5B6670"/>
                </a:solidFill>
                <a:latin typeface="Arial"/>
              </a:rPr>
              <a:t>Highlight colors are for presentation only and do not indicate conductor identification.</a:t>
            </a:r>
          </a:p>
        </p:txBody>
      </p:sp>
      <p:sp>
        <p:nvSpPr>
          <p:cNvPr id="31" name="Section_Label"/>
          <p:cNvSpPr txBox="1"/>
          <p:nvPr/>
        </p:nvSpPr>
        <p:spPr>
          <a:xfrm>
            <a:off x="457200" y="66751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APPLICATIONS TO EVALUATE</a:t>
            </a:r>
          </a:p>
        </p:txBody>
      </p:sp>
      <p:sp>
        <p:nvSpPr>
          <p:cNvPr id="32" name="Section_Rule"/>
          <p:cNvSpPr/>
          <p:nvPr/>
        </p:nvSpPr>
        <p:spPr>
          <a:xfrm>
            <a:off x="457200" y="6894576"/>
            <a:ext cx="6858000" cy="9144"/>
          </a:xfrm>
          <a:prstGeom prst="rect">
            <a:avLst/>
          </a:prstGeom>
          <a:solidFill>
            <a:srgbClr val="D5D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tement_1_Marker"/>
          <p:cNvSpPr/>
          <p:nvPr/>
        </p:nvSpPr>
        <p:spPr>
          <a:xfrm>
            <a:off x="45720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4" name="Statement_1_Title"/>
          <p:cNvSpPr txBox="1"/>
          <p:nvPr/>
        </p:nvSpPr>
        <p:spPr>
          <a:xfrm>
            <a:off x="76809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Portable lead sets</a:t>
            </a:r>
          </a:p>
        </p:txBody>
      </p:sp>
      <p:sp>
        <p:nvSpPr>
          <p:cNvPr id="35" name="Statement_1_Text"/>
          <p:cNvSpPr txBox="1"/>
          <p:nvPr/>
        </p:nvSpPr>
        <p:spPr>
          <a:xfrm>
            <a:off x="45720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Single-conductor sets built to length, with connectors and matching identification at both ends, stored as complete sets.</a:t>
            </a:r>
          </a:p>
        </p:txBody>
      </p:sp>
      <p:sp>
        <p:nvSpPr>
          <p:cNvPr id="36" name="Statement_2_Marker"/>
          <p:cNvSpPr/>
          <p:nvPr/>
        </p:nvSpPr>
        <p:spPr>
          <a:xfrm>
            <a:off x="280416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7" name="Statement_2_Title"/>
          <p:cNvSpPr txBox="1"/>
          <p:nvPr/>
        </p:nvSpPr>
        <p:spPr>
          <a:xfrm>
            <a:off x="311505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Docking-station internal wiring</a:t>
            </a:r>
          </a:p>
        </p:txBody>
      </p:sp>
      <p:sp>
        <p:nvSpPr>
          <p:cNvPr id="38" name="Statement_2_Text"/>
          <p:cNvSpPr txBox="1"/>
          <p:nvPr/>
        </p:nvSpPr>
        <p:spPr>
          <a:xfrm>
            <a:off x="280416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Prepared conductors between receptacles, bus and disconnect, matched to the enclosure layout and installed as a kit.</a:t>
            </a:r>
          </a:p>
        </p:txBody>
      </p:sp>
      <p:sp>
        <p:nvSpPr>
          <p:cNvPr id="39" name="Statement_3_Marker"/>
          <p:cNvSpPr/>
          <p:nvPr/>
        </p:nvSpPr>
        <p:spPr>
          <a:xfrm>
            <a:off x="515112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Statement_3_Title"/>
          <p:cNvSpPr txBox="1"/>
          <p:nvPr/>
        </p:nvSpPr>
        <p:spPr>
          <a:xfrm>
            <a:off x="546201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Generator and load-bank ports</a:t>
            </a:r>
          </a:p>
        </p:txBody>
      </p:sp>
      <p:sp>
        <p:nvSpPr>
          <p:cNvPr id="41" name="Statement_3_Text"/>
          <p:cNvSpPr txBox="1"/>
          <p:nvPr/>
        </p:nvSpPr>
        <p:spPr>
          <a:xfrm>
            <a:off x="515112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Separate generator-input and load-bank ports, with the facility feed treated as a fixed interface.</a:t>
            </a:r>
          </a:p>
        </p:txBody>
      </p:sp>
      <p:sp>
        <p:nvSpPr>
          <p:cNvPr id="42" name="Established_Capability"/>
          <p:cNvSpPr txBox="1"/>
          <p:nvPr/>
        </p:nvSpPr>
        <p:spPr>
          <a:xfrm>
            <a:off x="457200" y="8275320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1F2A33"/>
                </a:solidFill>
                <a:latin typeface="Arial"/>
              </a:rPr>
              <a:t>Established: Southwire wire and cable manufacturing and supply.</a:t>
            </a:r>
          </a:p>
        </p:txBody>
      </p:sp>
      <p:sp>
        <p:nvSpPr>
          <p:cNvPr id="43" name="Proposed_Scope"/>
          <p:cNvSpPr txBox="1"/>
          <p:nvPr/>
        </p:nvSpPr>
        <p:spPr>
          <a:xfrm>
            <a:off x="457200" y="8439912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For evaluation: the prepared kits, cable packages and assemblies shown are application concepts, not qualified Southwire products.</a:t>
            </a:r>
          </a:p>
        </p:txBody>
      </p:sp>
      <p:sp>
        <p:nvSpPr>
          <p:cNvPr id="44" name="Disclaimer"/>
          <p:cNvSpPr txBox="1"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>
                <a:solidFill>
                  <a:srgbClr val="5B6670"/>
                </a:solidFill>
                <a:latin typeface="Arial"/>
              </a:rPr>
              <a:t>Illustrative model. Ratings, cable sizes, clearances and termination selections are subject to application engineering. No code compliance, engineering approval or certification is implied.</a:t>
            </a:r>
          </a:p>
        </p:txBody>
      </p:sp>
      <p:sp>
        <p:nvSpPr>
          <p:cNvPr id="45" name="NextStep_Box"/>
          <p:cNvSpPr/>
          <p:nvPr/>
        </p:nvSpPr>
        <p:spPr>
          <a:xfrm>
            <a:off x="457200" y="9052560"/>
            <a:ext cx="4709160" cy="713232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extStep_Bar"/>
          <p:cNvSpPr/>
          <p:nvPr/>
        </p:nvSpPr>
        <p:spPr>
          <a:xfrm>
            <a:off x="457200" y="9052560"/>
            <a:ext cx="45720" cy="713232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NextStep_Label"/>
          <p:cNvSpPr txBox="1"/>
          <p:nvPr/>
        </p:nvSpPr>
        <p:spPr>
          <a:xfrm>
            <a:off x="603504" y="9098280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PROPOSED NEXT STEP</a:t>
            </a:r>
          </a:p>
        </p:txBody>
      </p:sp>
      <p:sp>
        <p:nvSpPr>
          <p:cNvPr id="48" name="NextStep_Text"/>
          <p:cNvSpPr txBox="1"/>
          <p:nvPr/>
        </p:nvSpPr>
        <p:spPr>
          <a:xfrm>
            <a:off x="603504" y="9262872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Review one connection configuration, including ratings, connectors, lead lengths and storage, as a candidate package.</a:t>
            </a:r>
          </a:p>
        </p:txBody>
      </p:sp>
      <p:sp>
        <p:nvSpPr>
          <p:cNvPr id="49" name="Contact_Name"/>
          <p:cNvSpPr txBox="1"/>
          <p:nvPr/>
        </p:nvSpPr>
        <p:spPr>
          <a:xfrm>
            <a:off x="5349240" y="90799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Stephan Hardt</a:t>
            </a:r>
          </a:p>
        </p:txBody>
      </p:sp>
      <p:sp>
        <p:nvSpPr>
          <p:cNvPr id="50" name="Contact_Title"/>
          <p:cNvSpPr txBox="1"/>
          <p:nvPr/>
        </p:nvSpPr>
        <p:spPr>
          <a:xfrm>
            <a:off x="5349240" y="926287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Director, Power Generation Solutions, Southwire</a:t>
            </a:r>
          </a:p>
        </p:txBody>
      </p:sp>
      <p:sp>
        <p:nvSpPr>
          <p:cNvPr id="51" name="Contact_Details"/>
          <p:cNvSpPr txBox="1"/>
          <p:nvPr/>
        </p:nvSpPr>
        <p:spPr>
          <a:xfrm>
            <a:off x="5349240" y="953719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B6670"/>
                </a:solidFill>
                <a:latin typeface="Arial"/>
              </a:rPr>
              <a:t>[Phone]  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