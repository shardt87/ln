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View: PATRIOT_Terminations (master .blend). Discussion concept for Patriot Switchgear; no agreement, pilot or purchase is implied. Replace the logo placeholder and the [Phone]/[Email] placeholders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ogo_Placeholder"/>
          <p:cNvSpPr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  <a:ln w="7620">
            <a:solidFill>
              <a:srgbClr val="9AA3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_Placeholder_Text"/>
          <p:cNvSpPr txBox="1"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SOUTHWIRE LOGO</a:t>
            </a:r>
          </a:p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placeholder - insert approved artwork</a:t>
            </a:r>
          </a:p>
        </p:txBody>
      </p:sp>
      <p:sp>
        <p:nvSpPr>
          <p:cNvPr id="4" name="Business_Unit"/>
          <p:cNvSpPr txBox="1"/>
          <p:nvPr/>
        </p:nvSpPr>
        <p:spPr>
          <a:xfrm>
            <a:off x="2240280" y="365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B5121B"/>
                </a:solidFill>
                <a:latin typeface="Arial"/>
              </a:rPr>
              <a:t>POWER GENERATION SOLUTIONS</a:t>
            </a:r>
          </a:p>
        </p:txBody>
      </p:sp>
      <p:sp>
        <p:nvSpPr>
          <p:cNvPr id="5" name="Discussion_Line"/>
          <p:cNvSpPr txBox="1"/>
          <p:nvPr/>
        </p:nvSpPr>
        <p:spPr>
          <a:xfrm>
            <a:off x="4480560" y="365760"/>
            <a:ext cx="2834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5B6670"/>
                </a:solidFill>
                <a:latin typeface="Arial"/>
              </a:rPr>
              <a:t>Discussion with Patriot Switchgear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457200" y="89611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F2A33"/>
                </a:solidFill>
                <a:latin typeface="Arial"/>
              </a:rPr>
              <a:t>Evaluating repetitive wire preparation in production</a:t>
            </a:r>
          </a:p>
        </p:txBody>
      </p:sp>
      <p:sp>
        <p:nvSpPr>
          <p:cNvPr id="7" name="Accent_Rule"/>
          <p:cNvSpPr/>
          <p:nvPr/>
        </p:nvSpPr>
        <p:spPr>
          <a:xfrm>
            <a:off x="457200" y="1389888"/>
            <a:ext cx="822960" cy="32004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pporting_Sentence"/>
          <p:cNvSpPr txBox="1"/>
          <p:nvPr/>
        </p:nvSpPr>
        <p:spPr>
          <a:xfrm>
            <a:off x="457200" y="148132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F2A33"/>
                </a:solidFill>
                <a:latin typeface="Arial"/>
              </a:rPr>
              <a:t>Compare in-house cut, strip, ferrule and marking steps with conductors that arrive prepared for the terminals you use.</a:t>
            </a:r>
          </a:p>
        </p:txBody>
      </p:sp>
      <p:pic>
        <p:nvPicPr>
          <p:cNvPr id="9" name="Render_PATRIOT_Terminations" descr="PATRIOT_Termin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1847088"/>
            <a:ext cx="6793992" cy="4710501"/>
          </a:xfrm>
          <a:prstGeom prst="rect">
            <a:avLst/>
          </a:prstGeom>
        </p:spPr>
      </p:pic>
      <p:cxnSp>
        <p:nvCxnSpPr>
          <p:cNvPr id="10" name="Callout_1_Leader"/>
          <p:cNvCxnSpPr/>
          <p:nvPr/>
        </p:nvCxnSpPr>
        <p:spPr>
          <a:xfrm flipH="1">
            <a:off x="4105874" y="2789188"/>
            <a:ext cx="2158223" cy="376407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llout_1_Anchor"/>
          <p:cNvSpPr/>
          <p:nvPr/>
        </p:nvSpPr>
        <p:spPr>
          <a:xfrm>
            <a:off x="4073870" y="3133591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llout_1_Marker"/>
          <p:cNvSpPr/>
          <p:nvPr/>
        </p:nvSpPr>
        <p:spPr>
          <a:xfrm>
            <a:off x="6140653" y="266574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Callout_1_LabelBox"/>
          <p:cNvSpPr/>
          <p:nvPr/>
        </p:nvSpPr>
        <p:spPr>
          <a:xfrm>
            <a:off x="4618941" y="2679460"/>
            <a:ext cx="1489708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lout_1_Label"/>
          <p:cNvSpPr txBox="1"/>
          <p:nvPr/>
        </p:nvSpPr>
        <p:spPr>
          <a:xfrm>
            <a:off x="4673805" y="2679460"/>
            <a:ext cx="13799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Identification at both ends</a:t>
            </a:r>
          </a:p>
        </p:txBody>
      </p:sp>
      <p:cxnSp>
        <p:nvCxnSpPr>
          <p:cNvPr id="15" name="Callout_2_Leader"/>
          <p:cNvCxnSpPr/>
          <p:nvPr/>
        </p:nvCxnSpPr>
        <p:spPr>
          <a:xfrm flipH="1">
            <a:off x="3703328" y="5615488"/>
            <a:ext cx="2628709" cy="33685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llout_2_Anchor"/>
          <p:cNvSpPr/>
          <p:nvPr/>
        </p:nvSpPr>
        <p:spPr>
          <a:xfrm>
            <a:off x="3671324" y="5617169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llout_2_Marker"/>
          <p:cNvSpPr/>
          <p:nvPr/>
        </p:nvSpPr>
        <p:spPr>
          <a:xfrm>
            <a:off x="6208593" y="549204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Callout_2_LabelBox"/>
          <p:cNvSpPr/>
          <p:nvPr/>
        </p:nvSpPr>
        <p:spPr>
          <a:xfrm>
            <a:off x="4284505" y="5505760"/>
            <a:ext cx="1892083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llout_2_Label"/>
          <p:cNvSpPr txBox="1"/>
          <p:nvPr/>
        </p:nvSpPr>
        <p:spPr>
          <a:xfrm>
            <a:off x="4339369" y="5505760"/>
            <a:ext cx="178235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Prepared ends for terminal blocks</a:t>
            </a:r>
          </a:p>
        </p:txBody>
      </p:sp>
      <p:cxnSp>
        <p:nvCxnSpPr>
          <p:cNvPr id="20" name="Callout_3_Leader"/>
          <p:cNvCxnSpPr/>
          <p:nvPr/>
        </p:nvCxnSpPr>
        <p:spPr>
          <a:xfrm>
            <a:off x="1304483" y="3825498"/>
            <a:ext cx="1755802" cy="763840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llout_3_Anchor"/>
          <p:cNvSpPr/>
          <p:nvPr/>
        </p:nvSpPr>
        <p:spPr>
          <a:xfrm>
            <a:off x="3028281" y="4557334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lout_3_Marker"/>
          <p:cNvSpPr/>
          <p:nvPr/>
        </p:nvSpPr>
        <p:spPr>
          <a:xfrm>
            <a:off x="1181039" y="370205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Callout_3_LabelBox"/>
          <p:cNvSpPr/>
          <p:nvPr/>
        </p:nvSpPr>
        <p:spPr>
          <a:xfrm>
            <a:off x="1459931" y="3715770"/>
            <a:ext cx="1567668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llout_3_Label"/>
          <p:cNvSpPr txBox="1"/>
          <p:nvPr/>
        </p:nvSpPr>
        <p:spPr>
          <a:xfrm>
            <a:off x="1514795" y="3715770"/>
            <a:ext cx="14579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Lengths set by duct routing</a:t>
            </a:r>
          </a:p>
        </p:txBody>
      </p:sp>
      <p:sp>
        <p:nvSpPr>
          <p:cNvPr id="25" name="Legend_Box"/>
          <p:cNvSpPr/>
          <p:nvPr/>
        </p:nvSpPr>
        <p:spPr>
          <a:xfrm>
            <a:off x="525780" y="5871789"/>
            <a:ext cx="2395728" cy="585216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Swatch_1"/>
          <p:cNvSpPr/>
          <p:nvPr/>
        </p:nvSpPr>
        <p:spPr>
          <a:xfrm>
            <a:off x="580644" y="5954085"/>
            <a:ext cx="201168" cy="64008"/>
          </a:xfrm>
          <a:prstGeom prst="rect">
            <a:avLst/>
          </a:prstGeom>
          <a:solidFill>
            <a:srgbClr val="2E6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_Text_1"/>
          <p:cNvSpPr txBox="1"/>
          <p:nvPr/>
        </p:nvSpPr>
        <p:spPr>
          <a:xfrm>
            <a:off x="854964" y="5908365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Control wiring (presentation blue)</a:t>
            </a:r>
          </a:p>
        </p:txBody>
      </p:sp>
      <p:sp>
        <p:nvSpPr>
          <p:cNvPr id="28" name="Legend_Swatch_2"/>
          <p:cNvSpPr/>
          <p:nvPr/>
        </p:nvSpPr>
        <p:spPr>
          <a:xfrm>
            <a:off x="580644" y="6109533"/>
            <a:ext cx="201168" cy="64008"/>
          </a:xfrm>
          <a:prstGeom prst="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ext_2"/>
          <p:cNvSpPr txBox="1"/>
          <p:nvPr/>
        </p:nvSpPr>
        <p:spPr>
          <a:xfrm>
            <a:off x="854964" y="6063813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Grounding / bonding</a:t>
            </a:r>
          </a:p>
        </p:txBody>
      </p:sp>
      <p:sp>
        <p:nvSpPr>
          <p:cNvPr id="30" name="Legend_Note"/>
          <p:cNvSpPr txBox="1"/>
          <p:nvPr/>
        </p:nvSpPr>
        <p:spPr>
          <a:xfrm>
            <a:off x="580644" y="623754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" b="0">
                <a:solidFill>
                  <a:srgbClr val="5B6670"/>
                </a:solidFill>
                <a:latin typeface="Arial"/>
              </a:rPr>
              <a:t>Highlight colors are for presentation only and do not indicate conductor identification.</a:t>
            </a:r>
          </a:p>
        </p:txBody>
      </p:sp>
      <p:sp>
        <p:nvSpPr>
          <p:cNvPr id="31" name="Section_Label"/>
          <p:cNvSpPr txBox="1"/>
          <p:nvPr/>
        </p:nvSpPr>
        <p:spPr>
          <a:xfrm>
            <a:off x="457200" y="6675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APPLICATIONS TO EVALUATE</a:t>
            </a:r>
          </a:p>
        </p:txBody>
      </p:sp>
      <p:sp>
        <p:nvSpPr>
          <p:cNvPr id="32" name="Section_Rule"/>
          <p:cNvSpPr/>
          <p:nvPr/>
        </p:nvSpPr>
        <p:spPr>
          <a:xfrm>
            <a:off x="457200" y="6894576"/>
            <a:ext cx="6858000" cy="9144"/>
          </a:xfrm>
          <a:prstGeom prst="rect">
            <a:avLst/>
          </a:prstGeom>
          <a:solidFill>
            <a:srgbClr val="D5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tement_1_Marker"/>
          <p:cNvSpPr/>
          <p:nvPr/>
        </p:nvSpPr>
        <p:spPr>
          <a:xfrm>
            <a:off x="45720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4" name="Statement_1_Title"/>
          <p:cNvSpPr txBox="1"/>
          <p:nvPr/>
        </p:nvSpPr>
        <p:spPr>
          <a:xfrm>
            <a:off x="76809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Identification at both ends</a:t>
            </a:r>
          </a:p>
        </p:txBody>
      </p:sp>
      <p:sp>
        <p:nvSpPr>
          <p:cNvPr id="35" name="Statement_1_Text"/>
          <p:cNvSpPr txBox="1"/>
          <p:nvPr/>
        </p:nvSpPr>
        <p:spPr>
          <a:xfrm>
            <a:off x="45720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Markers printed to the wire list so each conductor can be checked against the schedule at installation.</a:t>
            </a:r>
          </a:p>
        </p:txBody>
      </p:sp>
      <p:sp>
        <p:nvSpPr>
          <p:cNvPr id="36" name="Statement_2_Marker"/>
          <p:cNvSpPr/>
          <p:nvPr/>
        </p:nvSpPr>
        <p:spPr>
          <a:xfrm>
            <a:off x="280416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7" name="Statement_2_Title"/>
          <p:cNvSpPr txBox="1"/>
          <p:nvPr/>
        </p:nvSpPr>
        <p:spPr>
          <a:xfrm>
            <a:off x="311505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Prepared ends for terminal blocks</a:t>
            </a:r>
          </a:p>
        </p:txBody>
      </p:sp>
      <p:sp>
        <p:nvSpPr>
          <p:cNvPr id="38" name="Statement_2_Text"/>
          <p:cNvSpPr txBox="1"/>
          <p:nvPr/>
        </p:nvSpPr>
        <p:spPr>
          <a:xfrm>
            <a:off x="280416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Strip lengths and ferrules selected for the terminal types used, subject to your termination standards.</a:t>
            </a:r>
          </a:p>
        </p:txBody>
      </p:sp>
      <p:sp>
        <p:nvSpPr>
          <p:cNvPr id="39" name="Statement_3_Marker"/>
          <p:cNvSpPr/>
          <p:nvPr/>
        </p:nvSpPr>
        <p:spPr>
          <a:xfrm>
            <a:off x="515112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Statement_3_Title"/>
          <p:cNvSpPr txBox="1"/>
          <p:nvPr/>
        </p:nvSpPr>
        <p:spPr>
          <a:xfrm>
            <a:off x="546201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Lengths set by duct routing</a:t>
            </a:r>
          </a:p>
        </p:txBody>
      </p:sp>
      <p:sp>
        <p:nvSpPr>
          <p:cNvPr id="41" name="Statement_3_Text"/>
          <p:cNvSpPr txBox="1"/>
          <p:nvPr/>
        </p:nvSpPr>
        <p:spPr>
          <a:xfrm>
            <a:off x="515112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Lengths based on the routing through wire duct, keeping installation consistent from build to build.</a:t>
            </a:r>
          </a:p>
        </p:txBody>
      </p:sp>
      <p:sp>
        <p:nvSpPr>
          <p:cNvPr id="42" name="Established_Capability"/>
          <p:cNvSpPr txBox="1"/>
          <p:nvPr/>
        </p:nvSpPr>
        <p:spPr>
          <a:xfrm>
            <a:off x="457200" y="8275320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1F2A33"/>
                </a:solidFill>
                <a:latin typeface="Arial"/>
              </a:rPr>
              <a:t>Established: Southwire wire and cable manufacturing and supply.</a:t>
            </a:r>
          </a:p>
        </p:txBody>
      </p:sp>
      <p:sp>
        <p:nvSpPr>
          <p:cNvPr id="43" name="Proposed_Scope"/>
          <p:cNvSpPr txBox="1"/>
          <p:nvPr/>
        </p:nvSpPr>
        <p:spPr>
          <a:xfrm>
            <a:off x="457200" y="843991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For evaluation: the prepared kits, cable packages and assemblies shown are application concepts, not qualified Southwire products.</a:t>
            </a:r>
          </a:p>
        </p:txBody>
      </p:sp>
      <p:sp>
        <p:nvSpPr>
          <p:cNvPr id="44" name="Disclaimer"/>
          <p:cNvSpPr txBox="1"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>
                <a:solidFill>
                  <a:srgbClr val="5B6670"/>
                </a:solidFill>
                <a:latin typeface="Arial"/>
              </a:rPr>
              <a:t>Illustrative model. Ratings, cable sizes, clearances and termination selections are subject to application engineering. No code compliance, engineering approval or certification is implied.</a:t>
            </a:r>
          </a:p>
        </p:txBody>
      </p:sp>
      <p:sp>
        <p:nvSpPr>
          <p:cNvPr id="45" name="NextStep_Box"/>
          <p:cNvSpPr/>
          <p:nvPr/>
        </p:nvSpPr>
        <p:spPr>
          <a:xfrm>
            <a:off x="457200" y="9052560"/>
            <a:ext cx="4709160" cy="713232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extStep_Bar"/>
          <p:cNvSpPr/>
          <p:nvPr/>
        </p:nvSpPr>
        <p:spPr>
          <a:xfrm>
            <a:off x="457200" y="9052560"/>
            <a:ext cx="45720" cy="713232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extStep_Label"/>
          <p:cNvSpPr txBox="1"/>
          <p:nvPr/>
        </p:nvSpPr>
        <p:spPr>
          <a:xfrm>
            <a:off x="603504" y="9098280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PROPOSED NEXT STEP</a:t>
            </a:r>
          </a:p>
        </p:txBody>
      </p:sp>
      <p:sp>
        <p:nvSpPr>
          <p:cNvPr id="48" name="NextStep_Text"/>
          <p:cNvSpPr txBox="1"/>
          <p:nvPr/>
        </p:nvSpPr>
        <p:spPr>
          <a:xfrm>
            <a:off x="603504" y="926287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Compare current preparation steps with a proposed kit for one compartment, using the same wiring schedule and terminal set.</a:t>
            </a:r>
          </a:p>
        </p:txBody>
      </p:sp>
      <p:sp>
        <p:nvSpPr>
          <p:cNvPr id="49" name="Contact_Name"/>
          <p:cNvSpPr txBox="1"/>
          <p:nvPr/>
        </p:nvSpPr>
        <p:spPr>
          <a:xfrm>
            <a:off x="5349240" y="90799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Stephan Hardt</a:t>
            </a:r>
          </a:p>
        </p:txBody>
      </p:sp>
      <p:sp>
        <p:nvSpPr>
          <p:cNvPr id="50" name="Contact_Title"/>
          <p:cNvSpPr txBox="1"/>
          <p:nvPr/>
        </p:nvSpPr>
        <p:spPr>
          <a:xfrm>
            <a:off x="5349240" y="926287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Director, Power Generation Solutions, Southwire</a:t>
            </a:r>
          </a:p>
        </p:txBody>
      </p:sp>
      <p:sp>
        <p:nvSpPr>
          <p:cNvPr id="51" name="Contact_Details"/>
          <p:cNvSpPr txBox="1"/>
          <p:nvPr/>
        </p:nvSpPr>
        <p:spPr>
          <a:xfrm>
            <a:off x="5349240" y="953719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670"/>
                </a:solidFill>
                <a:latin typeface="Arial"/>
              </a:rPr>
              <a:t>[Phone] 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