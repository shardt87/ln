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View: CAT_GenInterface (master .blend). Discussion concept for Caterpillar Electric Power; no agreement, pilot or purchase is implied. Replace the logo placeholder and the [Phone]/[Email] placeholders before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ogo_Placeholder"/>
          <p:cNvSpPr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  <a:ln w="7620">
            <a:solidFill>
              <a:srgbClr val="9AA3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_Placeholder_Text"/>
          <p:cNvSpPr txBox="1"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SOUTHWIRE LOGO</a:t>
            </a:r>
          </a:p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placeholder - insert approved artwork</a:t>
            </a:r>
          </a:p>
        </p:txBody>
      </p:sp>
      <p:sp>
        <p:nvSpPr>
          <p:cNvPr id="4" name="Business_Unit"/>
          <p:cNvSpPr txBox="1"/>
          <p:nvPr/>
        </p:nvSpPr>
        <p:spPr>
          <a:xfrm>
            <a:off x="2240280" y="365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B5121B"/>
                </a:solidFill>
                <a:latin typeface="Arial"/>
              </a:rPr>
              <a:t>POWER GENERATION SOLUTIONS</a:t>
            </a:r>
          </a:p>
        </p:txBody>
      </p:sp>
      <p:sp>
        <p:nvSpPr>
          <p:cNvPr id="5" name="Discussion_Line"/>
          <p:cNvSpPr txBox="1"/>
          <p:nvPr/>
        </p:nvSpPr>
        <p:spPr>
          <a:xfrm>
            <a:off x="4480560" y="365760"/>
            <a:ext cx="28346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5B6670"/>
                </a:solidFill>
                <a:latin typeface="Arial"/>
              </a:rPr>
              <a:t>Discussion with Caterpillar Electric Power</a:t>
            </a:r>
          </a:p>
        </p:txBody>
      </p:sp>
      <p:sp>
        <p:nvSpPr>
          <p:cNvPr id="6" name="Headline"/>
          <p:cNvSpPr txBox="1"/>
          <p:nvPr/>
        </p:nvSpPr>
        <p:spPr>
          <a:xfrm>
            <a:off x="457200" y="896112"/>
            <a:ext cx="6858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1F2A33"/>
                </a:solidFill>
                <a:latin typeface="Arial"/>
              </a:rPr>
              <a:t>Cable packages for generator electrical interfaces</a:t>
            </a:r>
          </a:p>
        </p:txBody>
      </p:sp>
      <p:sp>
        <p:nvSpPr>
          <p:cNvPr id="7" name="Accent_Rule"/>
          <p:cNvSpPr/>
          <p:nvPr/>
        </p:nvSpPr>
        <p:spPr>
          <a:xfrm>
            <a:off x="457200" y="1389888"/>
            <a:ext cx="822960" cy="32004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upporting_Sentence"/>
          <p:cNvSpPr txBox="1"/>
          <p:nvPr/>
        </p:nvSpPr>
        <p:spPr>
          <a:xfrm>
            <a:off x="457200" y="148132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F2A33"/>
                </a:solidFill>
                <a:latin typeface="Arial"/>
              </a:rPr>
              <a:t>Review where output leads, control wiring and external cable connections on a generator platform could be prepared before final assembly.</a:t>
            </a:r>
          </a:p>
        </p:txBody>
      </p:sp>
      <p:pic>
        <p:nvPicPr>
          <p:cNvPr id="9" name="Render_CAT_GenInterface" descr="CAT_Gen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" y="1847088"/>
            <a:ext cx="6793992" cy="4710501"/>
          </a:xfrm>
          <a:prstGeom prst="rect">
            <a:avLst/>
          </a:prstGeom>
        </p:spPr>
      </p:pic>
      <p:cxnSp>
        <p:nvCxnSpPr>
          <p:cNvPr id="10" name="Callout_1_Leader"/>
          <p:cNvCxnSpPr/>
          <p:nvPr/>
        </p:nvCxnSpPr>
        <p:spPr>
          <a:xfrm flipH="1" flipV="1">
            <a:off x="3108064" y="4317574"/>
            <a:ext cx="3869402" cy="544234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llout_1_Anchor"/>
          <p:cNvSpPr/>
          <p:nvPr/>
        </p:nvSpPr>
        <p:spPr>
          <a:xfrm>
            <a:off x="3076060" y="4285570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llout_1_Marker"/>
          <p:cNvSpPr/>
          <p:nvPr/>
        </p:nvSpPr>
        <p:spPr>
          <a:xfrm>
            <a:off x="6854022" y="473836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Callout_1_LabelBox"/>
          <p:cNvSpPr/>
          <p:nvPr/>
        </p:nvSpPr>
        <p:spPr>
          <a:xfrm>
            <a:off x="5334216" y="4752080"/>
            <a:ext cx="1487802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llout_1_Label"/>
          <p:cNvSpPr txBox="1"/>
          <p:nvPr/>
        </p:nvSpPr>
        <p:spPr>
          <a:xfrm>
            <a:off x="5389080" y="4752080"/>
            <a:ext cx="137807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Terminal-box output leads</a:t>
            </a:r>
          </a:p>
        </p:txBody>
      </p:sp>
      <p:cxnSp>
        <p:nvCxnSpPr>
          <p:cNvPr id="15" name="Callout_2_Leader"/>
          <p:cNvCxnSpPr/>
          <p:nvPr/>
        </p:nvCxnSpPr>
        <p:spPr>
          <a:xfrm flipH="1">
            <a:off x="4035042" y="4108128"/>
            <a:ext cx="2942424" cy="224131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allout_2_Anchor"/>
          <p:cNvSpPr/>
          <p:nvPr/>
        </p:nvSpPr>
        <p:spPr>
          <a:xfrm>
            <a:off x="4003038" y="4300255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allout_2_Marker"/>
          <p:cNvSpPr/>
          <p:nvPr/>
        </p:nvSpPr>
        <p:spPr>
          <a:xfrm>
            <a:off x="6854022" y="398468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Callout_2_LabelBox"/>
          <p:cNvSpPr/>
          <p:nvPr/>
        </p:nvSpPr>
        <p:spPr>
          <a:xfrm>
            <a:off x="5284314" y="3998400"/>
            <a:ext cx="1537703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llout_2_Label"/>
          <p:cNvSpPr txBox="1"/>
          <p:nvPr/>
        </p:nvSpPr>
        <p:spPr>
          <a:xfrm>
            <a:off x="5339178" y="3998400"/>
            <a:ext cx="1427975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Control and sensing wiring</a:t>
            </a:r>
          </a:p>
        </p:txBody>
      </p:sp>
      <p:cxnSp>
        <p:nvCxnSpPr>
          <p:cNvPr id="20" name="Callout_3_Leader"/>
          <p:cNvCxnSpPr/>
          <p:nvPr/>
        </p:nvCxnSpPr>
        <p:spPr>
          <a:xfrm flipH="1">
            <a:off x="5340907" y="3260238"/>
            <a:ext cx="1636559" cy="64953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llout_3_Anchor"/>
          <p:cNvSpPr/>
          <p:nvPr/>
        </p:nvSpPr>
        <p:spPr>
          <a:xfrm>
            <a:off x="5308903" y="3293187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llout_3_Marker"/>
          <p:cNvSpPr/>
          <p:nvPr/>
        </p:nvSpPr>
        <p:spPr>
          <a:xfrm>
            <a:off x="6854022" y="313679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Callout_3_LabelBox"/>
          <p:cNvSpPr/>
          <p:nvPr/>
        </p:nvSpPr>
        <p:spPr>
          <a:xfrm>
            <a:off x="5463672" y="3150510"/>
            <a:ext cx="1358346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llout_3_Label"/>
          <p:cNvSpPr txBox="1"/>
          <p:nvPr/>
        </p:nvSpPr>
        <p:spPr>
          <a:xfrm>
            <a:off x="5518536" y="3150510"/>
            <a:ext cx="124861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External cable interface</a:t>
            </a:r>
          </a:p>
        </p:txBody>
      </p:sp>
      <p:sp>
        <p:nvSpPr>
          <p:cNvPr id="25" name="Legend_Box"/>
          <p:cNvSpPr/>
          <p:nvPr/>
        </p:nvSpPr>
        <p:spPr>
          <a:xfrm>
            <a:off x="525780" y="5716341"/>
            <a:ext cx="2395728" cy="740664"/>
          </a:xfrm>
          <a:prstGeom prst="rect">
            <a:avLst/>
          </a:prstGeom>
          <a:solidFill>
            <a:srgbClr val="FFFFFF">
              <a:alpha val="92000"/>
            </a:srgbClr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egend_Swatch_1"/>
          <p:cNvSpPr/>
          <p:nvPr/>
        </p:nvSpPr>
        <p:spPr>
          <a:xfrm>
            <a:off x="580644" y="5798637"/>
            <a:ext cx="201168" cy="64008"/>
          </a:xfrm>
          <a:prstGeom prst="rect">
            <a:avLst/>
          </a:prstGeom>
          <a:solidFill>
            <a:srgbClr val="2E6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egend_Text_1"/>
          <p:cNvSpPr txBox="1"/>
          <p:nvPr/>
        </p:nvSpPr>
        <p:spPr>
          <a:xfrm>
            <a:off x="854964" y="5752917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Control wiring (presentation blue)</a:t>
            </a:r>
          </a:p>
        </p:txBody>
      </p:sp>
      <p:sp>
        <p:nvSpPr>
          <p:cNvPr id="28" name="Legend_Swatch_2"/>
          <p:cNvSpPr/>
          <p:nvPr/>
        </p:nvSpPr>
        <p:spPr>
          <a:xfrm>
            <a:off x="580644" y="5954085"/>
            <a:ext cx="201168" cy="64008"/>
          </a:xfrm>
          <a:prstGeom prst="rect">
            <a:avLst/>
          </a:prstGeom>
          <a:solidFill>
            <a:srgbClr val="1C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Legend_Text_2"/>
          <p:cNvSpPr txBox="1"/>
          <p:nvPr/>
        </p:nvSpPr>
        <p:spPr>
          <a:xfrm>
            <a:off x="854964" y="5908365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Power conductors</a:t>
            </a:r>
          </a:p>
        </p:txBody>
      </p:sp>
      <p:sp>
        <p:nvSpPr>
          <p:cNvPr id="30" name="Legend_Swatch_3"/>
          <p:cNvSpPr/>
          <p:nvPr/>
        </p:nvSpPr>
        <p:spPr>
          <a:xfrm>
            <a:off x="580644" y="6109533"/>
            <a:ext cx="201168" cy="64008"/>
          </a:xfrm>
          <a:prstGeom prst="rect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Legend_Text_3"/>
          <p:cNvSpPr txBox="1"/>
          <p:nvPr/>
        </p:nvSpPr>
        <p:spPr>
          <a:xfrm>
            <a:off x="854964" y="6063813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Grounding / bonding</a:t>
            </a:r>
          </a:p>
        </p:txBody>
      </p:sp>
      <p:sp>
        <p:nvSpPr>
          <p:cNvPr id="32" name="Legend_Note"/>
          <p:cNvSpPr txBox="1"/>
          <p:nvPr/>
        </p:nvSpPr>
        <p:spPr>
          <a:xfrm>
            <a:off x="580644" y="6237549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00" b="0">
                <a:solidFill>
                  <a:srgbClr val="5B6670"/>
                </a:solidFill>
                <a:latin typeface="Arial"/>
              </a:rPr>
              <a:t>Highlight colors are for presentation only and do not indicate conductor identification.</a:t>
            </a:r>
          </a:p>
        </p:txBody>
      </p:sp>
      <p:sp>
        <p:nvSpPr>
          <p:cNvPr id="33" name="Section_Label"/>
          <p:cNvSpPr txBox="1"/>
          <p:nvPr/>
        </p:nvSpPr>
        <p:spPr>
          <a:xfrm>
            <a:off x="457200" y="667512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APPLICATIONS TO EVALUATE</a:t>
            </a:r>
          </a:p>
        </p:txBody>
      </p:sp>
      <p:sp>
        <p:nvSpPr>
          <p:cNvPr id="34" name="Section_Rule"/>
          <p:cNvSpPr/>
          <p:nvPr/>
        </p:nvSpPr>
        <p:spPr>
          <a:xfrm>
            <a:off x="457200" y="6894576"/>
            <a:ext cx="6858000" cy="9144"/>
          </a:xfrm>
          <a:prstGeom prst="rect">
            <a:avLst/>
          </a:prstGeom>
          <a:solidFill>
            <a:srgbClr val="D5D9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tatement_1_Marker"/>
          <p:cNvSpPr/>
          <p:nvPr/>
        </p:nvSpPr>
        <p:spPr>
          <a:xfrm>
            <a:off x="45720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6" name="Statement_1_Title"/>
          <p:cNvSpPr txBox="1"/>
          <p:nvPr/>
        </p:nvSpPr>
        <p:spPr>
          <a:xfrm>
            <a:off x="76809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Terminal-box output leads</a:t>
            </a:r>
          </a:p>
        </p:txBody>
      </p:sp>
      <p:sp>
        <p:nvSpPr>
          <p:cNvPr id="37" name="Statement_1_Text"/>
          <p:cNvSpPr txBox="1"/>
          <p:nvPr/>
        </p:nvSpPr>
        <p:spPr>
          <a:xfrm>
            <a:off x="45720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Leads cut, terminated and identified to the terminal arrangement, compared with current preparation at assembly.</a:t>
            </a:r>
          </a:p>
        </p:txBody>
      </p:sp>
      <p:sp>
        <p:nvSpPr>
          <p:cNvPr id="38" name="Statement_2_Marker"/>
          <p:cNvSpPr/>
          <p:nvPr/>
        </p:nvSpPr>
        <p:spPr>
          <a:xfrm>
            <a:off x="280416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9" name="Statement_2_Title"/>
          <p:cNvSpPr txBox="1"/>
          <p:nvPr/>
        </p:nvSpPr>
        <p:spPr>
          <a:xfrm>
            <a:off x="311505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Control and sensing wiring</a:t>
            </a:r>
          </a:p>
        </p:txBody>
      </p:sp>
      <p:sp>
        <p:nvSpPr>
          <p:cNvPr id="40" name="Statement_2_Text"/>
          <p:cNvSpPr txBox="1"/>
          <p:nvPr/>
        </p:nvSpPr>
        <p:spPr>
          <a:xfrm>
            <a:off x="280416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Engine, regulator and remote-control conductors grouped by platform option and routed to a defined harness drawing.</a:t>
            </a:r>
          </a:p>
        </p:txBody>
      </p:sp>
      <p:sp>
        <p:nvSpPr>
          <p:cNvPr id="41" name="Statement_3_Marker"/>
          <p:cNvSpPr/>
          <p:nvPr/>
        </p:nvSpPr>
        <p:spPr>
          <a:xfrm>
            <a:off x="515112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2" name="Statement_3_Title"/>
          <p:cNvSpPr txBox="1"/>
          <p:nvPr/>
        </p:nvSpPr>
        <p:spPr>
          <a:xfrm>
            <a:off x="546201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External cable interface</a:t>
            </a:r>
          </a:p>
        </p:txBody>
      </p:sp>
      <p:sp>
        <p:nvSpPr>
          <p:cNvPr id="43" name="Statement_3_Text"/>
          <p:cNvSpPr txBox="1"/>
          <p:nvPr/>
        </p:nvSpPr>
        <p:spPr>
          <a:xfrm>
            <a:off x="515112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A defined hand-off at the cable exit: what the package supplies, what the installer connects, and how each is identified.</a:t>
            </a:r>
          </a:p>
        </p:txBody>
      </p:sp>
      <p:sp>
        <p:nvSpPr>
          <p:cNvPr id="44" name="Established_Capability"/>
          <p:cNvSpPr txBox="1"/>
          <p:nvPr/>
        </p:nvSpPr>
        <p:spPr>
          <a:xfrm>
            <a:off x="457200" y="8275320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1F2A33"/>
                </a:solidFill>
                <a:latin typeface="Arial"/>
              </a:rPr>
              <a:t>Established: Southwire wire and cable manufacturing and supply.</a:t>
            </a:r>
          </a:p>
        </p:txBody>
      </p:sp>
      <p:sp>
        <p:nvSpPr>
          <p:cNvPr id="45" name="Proposed_Scope"/>
          <p:cNvSpPr txBox="1"/>
          <p:nvPr/>
        </p:nvSpPr>
        <p:spPr>
          <a:xfrm>
            <a:off x="457200" y="8439912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For evaluation: the prepared kits, cable packages and assemblies shown are application concepts, not qualified Southwire products.</a:t>
            </a:r>
          </a:p>
        </p:txBody>
      </p:sp>
      <p:sp>
        <p:nvSpPr>
          <p:cNvPr id="46" name="Disclaimer"/>
          <p:cNvSpPr txBox="1"/>
          <p:nvPr/>
        </p:nvSpPr>
        <p:spPr>
          <a:xfrm>
            <a:off x="457200" y="86410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50" b="0">
                <a:solidFill>
                  <a:srgbClr val="5B6670"/>
                </a:solidFill>
                <a:latin typeface="Arial"/>
              </a:rPr>
              <a:t>Illustrative model. Ratings, cable sizes, clearances and termination selections are subject to application engineering. No code compliance, engineering approval or certification is implied.</a:t>
            </a:r>
          </a:p>
        </p:txBody>
      </p:sp>
      <p:sp>
        <p:nvSpPr>
          <p:cNvPr id="47" name="NextStep_Box"/>
          <p:cNvSpPr/>
          <p:nvPr/>
        </p:nvSpPr>
        <p:spPr>
          <a:xfrm>
            <a:off x="457200" y="9052560"/>
            <a:ext cx="4709160" cy="713232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extStep_Bar"/>
          <p:cNvSpPr/>
          <p:nvPr/>
        </p:nvSpPr>
        <p:spPr>
          <a:xfrm>
            <a:off x="457200" y="9052560"/>
            <a:ext cx="45720" cy="713232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NextStep_Label"/>
          <p:cNvSpPr txBox="1"/>
          <p:nvPr/>
        </p:nvSpPr>
        <p:spPr>
          <a:xfrm>
            <a:off x="603504" y="9098280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PROPOSED NEXT STEP</a:t>
            </a:r>
          </a:p>
        </p:txBody>
      </p:sp>
      <p:sp>
        <p:nvSpPr>
          <p:cNvPr id="50" name="NextStep_Text"/>
          <p:cNvSpPr txBox="1"/>
          <p:nvPr/>
        </p:nvSpPr>
        <p:spPr>
          <a:xfrm>
            <a:off x="603504" y="9262872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Identify the engineering and sourcing owners for one generator platform and review its terminal-box and control-wiring requirements together.</a:t>
            </a:r>
          </a:p>
        </p:txBody>
      </p:sp>
      <p:sp>
        <p:nvSpPr>
          <p:cNvPr id="51" name="Contact_Name"/>
          <p:cNvSpPr txBox="1"/>
          <p:nvPr/>
        </p:nvSpPr>
        <p:spPr>
          <a:xfrm>
            <a:off x="5349240" y="9079992"/>
            <a:ext cx="1965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Stephan Hardt</a:t>
            </a:r>
          </a:p>
        </p:txBody>
      </p:sp>
      <p:sp>
        <p:nvSpPr>
          <p:cNvPr id="52" name="Contact_Title"/>
          <p:cNvSpPr txBox="1"/>
          <p:nvPr/>
        </p:nvSpPr>
        <p:spPr>
          <a:xfrm>
            <a:off x="5349240" y="9262872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Director, Power Generation Solutions, Southwire</a:t>
            </a:r>
          </a:p>
        </p:txBody>
      </p:sp>
      <p:sp>
        <p:nvSpPr>
          <p:cNvPr id="53" name="Contact_Details"/>
          <p:cNvSpPr txBox="1"/>
          <p:nvPr/>
        </p:nvSpPr>
        <p:spPr>
          <a:xfrm>
            <a:off x="5349240" y="9537192"/>
            <a:ext cx="1965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5B6670"/>
                </a:solidFill>
                <a:latin typeface="Arial"/>
              </a:rPr>
              <a:t>[Phone]   [Email]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