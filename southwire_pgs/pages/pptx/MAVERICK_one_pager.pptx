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View: MAVERICK_Lineup (master .blend). Discussion concept for Maverick Power; no agreement, pilot or purchase is implied. Replace the logo placeholder and the [Phone]/[Email] placeholders before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ogo_Placeholder"/>
          <p:cNvSpPr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  <a:ln w="7620">
            <a:solidFill>
              <a:srgbClr val="9AA3A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_Placeholder_Text"/>
          <p:cNvSpPr txBox="1"/>
          <p:nvPr/>
        </p:nvSpPr>
        <p:spPr>
          <a:xfrm>
            <a:off x="457200" y="347472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SOUTHWIRE LOGO</a:t>
            </a:r>
          </a:p>
          <a:p>
            <a:pPr algn="ctr">
              <a:lnSpc>
                <a:spcPct val="108000"/>
              </a:lnSpc>
            </a:pPr>
            <a:r>
              <a:rPr sz="700" b="0">
                <a:solidFill>
                  <a:srgbClr val="5B6670"/>
                </a:solidFill>
                <a:latin typeface="Arial"/>
              </a:rPr>
              <a:t>placeholder - insert approved artwork</a:t>
            </a:r>
          </a:p>
        </p:txBody>
      </p:sp>
      <p:sp>
        <p:nvSpPr>
          <p:cNvPr id="4" name="Business_Unit"/>
          <p:cNvSpPr txBox="1"/>
          <p:nvPr/>
        </p:nvSpPr>
        <p:spPr>
          <a:xfrm>
            <a:off x="2240280" y="36576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B5121B"/>
                </a:solidFill>
                <a:latin typeface="Arial"/>
              </a:rPr>
              <a:t>POWER GENERATION SOLUTIONS</a:t>
            </a:r>
          </a:p>
        </p:txBody>
      </p:sp>
      <p:sp>
        <p:nvSpPr>
          <p:cNvPr id="5" name="Discussion_Line"/>
          <p:cNvSpPr txBox="1"/>
          <p:nvPr/>
        </p:nvSpPr>
        <p:spPr>
          <a:xfrm>
            <a:off x="4480560" y="365760"/>
            <a:ext cx="28346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50" b="0">
                <a:solidFill>
                  <a:srgbClr val="5B6670"/>
                </a:solidFill>
                <a:latin typeface="Arial"/>
              </a:rPr>
              <a:t>Discussion with Maverick Power</a:t>
            </a:r>
          </a:p>
        </p:txBody>
      </p:sp>
      <p:sp>
        <p:nvSpPr>
          <p:cNvPr id="6" name="Headline"/>
          <p:cNvSpPr txBox="1"/>
          <p:nvPr/>
        </p:nvSpPr>
        <p:spPr>
          <a:xfrm>
            <a:off x="457200" y="8961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F2A33"/>
                </a:solidFill>
                <a:latin typeface="Arial"/>
              </a:rPr>
              <a:t>Cable packages for custom power equipment</a:t>
            </a:r>
          </a:p>
        </p:txBody>
      </p:sp>
      <p:sp>
        <p:nvSpPr>
          <p:cNvPr id="7" name="Accent_Rule"/>
          <p:cNvSpPr/>
          <p:nvPr/>
        </p:nvSpPr>
        <p:spPr>
          <a:xfrm>
            <a:off x="457200" y="1389888"/>
            <a:ext cx="822960" cy="32004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pporting_Sentence"/>
          <p:cNvSpPr txBox="1"/>
          <p:nvPr/>
        </p:nvSpPr>
        <p:spPr>
          <a:xfrm>
            <a:off x="457200" y="1481328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1F2A33"/>
                </a:solidFill>
                <a:latin typeface="Arial"/>
              </a:rPr>
              <a:t>Identify cable and wiring work in custom lineups that repeats often enough to prepare before final assembly.</a:t>
            </a:r>
          </a:p>
        </p:txBody>
      </p:sp>
      <p:pic>
        <p:nvPicPr>
          <p:cNvPr id="9" name="Render_MAVERICK_Lineup" descr="MAVERICK_Lin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" y="1847088"/>
            <a:ext cx="6793992" cy="4710501"/>
          </a:xfrm>
          <a:prstGeom prst="rect">
            <a:avLst/>
          </a:prstGeom>
        </p:spPr>
      </p:pic>
      <p:cxnSp>
        <p:nvCxnSpPr>
          <p:cNvPr id="10" name="Callout_1_Leader"/>
          <p:cNvCxnSpPr/>
          <p:nvPr/>
        </p:nvCxnSpPr>
        <p:spPr>
          <a:xfrm flipV="1">
            <a:off x="3206800" y="4591141"/>
            <a:ext cx="1319109" cy="1306977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llout_1_Anchor"/>
          <p:cNvSpPr/>
          <p:nvPr/>
        </p:nvSpPr>
        <p:spPr>
          <a:xfrm>
            <a:off x="4493905" y="4559137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lout_1_Marker"/>
          <p:cNvSpPr/>
          <p:nvPr/>
        </p:nvSpPr>
        <p:spPr>
          <a:xfrm>
            <a:off x="3083356" y="5774674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Callout_1_LabelBox"/>
          <p:cNvSpPr/>
          <p:nvPr/>
        </p:nvSpPr>
        <p:spPr>
          <a:xfrm>
            <a:off x="1339428" y="5788390"/>
            <a:ext cx="1711924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lout_1_Label"/>
          <p:cNvSpPr txBox="1"/>
          <p:nvPr/>
        </p:nvSpPr>
        <p:spPr>
          <a:xfrm>
            <a:off x="1394292" y="5788390"/>
            <a:ext cx="16021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Power-cable entry and landing</a:t>
            </a:r>
          </a:p>
        </p:txBody>
      </p:sp>
      <p:cxnSp>
        <p:nvCxnSpPr>
          <p:cNvPr id="15" name="Callout_2_Leader"/>
          <p:cNvCxnSpPr/>
          <p:nvPr/>
        </p:nvCxnSpPr>
        <p:spPr>
          <a:xfrm>
            <a:off x="3206800" y="3495763"/>
            <a:ext cx="1060858" cy="561393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llout_2_Anchor"/>
          <p:cNvSpPr/>
          <p:nvPr/>
        </p:nvSpPr>
        <p:spPr>
          <a:xfrm>
            <a:off x="4235654" y="4025152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lout_2_Marker"/>
          <p:cNvSpPr/>
          <p:nvPr/>
        </p:nvSpPr>
        <p:spPr>
          <a:xfrm>
            <a:off x="3083356" y="3372319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Callout_2_LabelBox"/>
          <p:cNvSpPr/>
          <p:nvPr/>
        </p:nvSpPr>
        <p:spPr>
          <a:xfrm>
            <a:off x="1771514" y="3386035"/>
            <a:ext cx="1279838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lout_2_Label"/>
          <p:cNvSpPr txBox="1"/>
          <p:nvPr/>
        </p:nvSpPr>
        <p:spPr>
          <a:xfrm>
            <a:off x="1826378" y="3386035"/>
            <a:ext cx="117011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Internal control wiring</a:t>
            </a:r>
          </a:p>
        </p:txBody>
      </p:sp>
      <p:cxnSp>
        <p:nvCxnSpPr>
          <p:cNvPr id="20" name="Callout_3_Leader"/>
          <p:cNvCxnSpPr/>
          <p:nvPr/>
        </p:nvCxnSpPr>
        <p:spPr>
          <a:xfrm flipH="1" flipV="1">
            <a:off x="5192528" y="5021151"/>
            <a:ext cx="1784938" cy="1300913"/>
          </a:xfrm>
          <a:prstGeom prst="line">
            <a:avLst/>
          </a:prstGeom>
          <a:ln w="12700">
            <a:solidFill>
              <a:srgbClr val="2330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allout_3_Anchor"/>
          <p:cNvSpPr/>
          <p:nvPr/>
        </p:nvSpPr>
        <p:spPr>
          <a:xfrm>
            <a:off x="5160524" y="4989147"/>
            <a:ext cx="64008" cy="64008"/>
          </a:xfrm>
          <a:prstGeom prst="ellipse">
            <a:avLst/>
          </a:prstGeom>
          <a:solidFill>
            <a:srgbClr val="2330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lout_3_Marker"/>
          <p:cNvSpPr/>
          <p:nvPr/>
        </p:nvSpPr>
        <p:spPr>
          <a:xfrm>
            <a:off x="6854022" y="6198620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Callout_3_LabelBox"/>
          <p:cNvSpPr/>
          <p:nvPr/>
        </p:nvSpPr>
        <p:spPr>
          <a:xfrm>
            <a:off x="5446551" y="6212336"/>
            <a:ext cx="1375466" cy="2194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lout_3_Label"/>
          <p:cNvSpPr txBox="1"/>
          <p:nvPr/>
        </p:nvSpPr>
        <p:spPr>
          <a:xfrm>
            <a:off x="5501415" y="6212336"/>
            <a:ext cx="126573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1F2A33"/>
                </a:solidFill>
                <a:latin typeface="Arial"/>
              </a:rPr>
              <a:t>Grounding and bonding</a:t>
            </a:r>
          </a:p>
        </p:txBody>
      </p:sp>
      <p:sp>
        <p:nvSpPr>
          <p:cNvPr id="25" name="Legend_Box"/>
          <p:cNvSpPr/>
          <p:nvPr/>
        </p:nvSpPr>
        <p:spPr>
          <a:xfrm>
            <a:off x="525780" y="1883664"/>
            <a:ext cx="2395728" cy="740664"/>
          </a:xfrm>
          <a:prstGeom prst="rect">
            <a:avLst/>
          </a:prstGeom>
          <a:solidFill>
            <a:srgbClr val="FFFFFF">
              <a:alpha val="92000"/>
            </a:srgbClr>
          </a:solidFill>
          <a:ln w="7620">
            <a:solidFill>
              <a:srgbClr val="D5D9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Swatch_1"/>
          <p:cNvSpPr/>
          <p:nvPr/>
        </p:nvSpPr>
        <p:spPr>
          <a:xfrm>
            <a:off x="580644" y="1965960"/>
            <a:ext cx="201168" cy="64008"/>
          </a:xfrm>
          <a:prstGeom prst="rect">
            <a:avLst/>
          </a:prstGeom>
          <a:solidFill>
            <a:srgbClr val="2E66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_Text_1"/>
          <p:cNvSpPr txBox="1"/>
          <p:nvPr/>
        </p:nvSpPr>
        <p:spPr>
          <a:xfrm>
            <a:off x="854964" y="1920240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Control wiring (presentation blue)</a:t>
            </a:r>
          </a:p>
        </p:txBody>
      </p:sp>
      <p:sp>
        <p:nvSpPr>
          <p:cNvPr id="28" name="Legend_Swatch_2"/>
          <p:cNvSpPr/>
          <p:nvPr/>
        </p:nvSpPr>
        <p:spPr>
          <a:xfrm>
            <a:off x="580644" y="2121408"/>
            <a:ext cx="201168" cy="64008"/>
          </a:xfrm>
          <a:prstGeom prst="rect">
            <a:avLst/>
          </a:prstGeom>
          <a:solidFill>
            <a:srgbClr val="1C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ext_2"/>
          <p:cNvSpPr txBox="1"/>
          <p:nvPr/>
        </p:nvSpPr>
        <p:spPr>
          <a:xfrm>
            <a:off x="854964" y="2075688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Power conductors</a:t>
            </a:r>
          </a:p>
        </p:txBody>
      </p:sp>
      <p:sp>
        <p:nvSpPr>
          <p:cNvPr id="30" name="Legend_Swatch_3"/>
          <p:cNvSpPr/>
          <p:nvPr/>
        </p:nvSpPr>
        <p:spPr>
          <a:xfrm>
            <a:off x="580644" y="2276856"/>
            <a:ext cx="201168" cy="64008"/>
          </a:xfrm>
          <a:prstGeom prst="rect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gend_Text_3"/>
          <p:cNvSpPr txBox="1"/>
          <p:nvPr/>
        </p:nvSpPr>
        <p:spPr>
          <a:xfrm>
            <a:off x="854964" y="2231136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00" b="0">
                <a:solidFill>
                  <a:srgbClr val="1F2A33"/>
                </a:solidFill>
                <a:latin typeface="Arial"/>
              </a:rPr>
              <a:t>Grounding / bonding</a:t>
            </a:r>
          </a:p>
        </p:txBody>
      </p:sp>
      <p:sp>
        <p:nvSpPr>
          <p:cNvPr id="32" name="Legend_Note"/>
          <p:cNvSpPr txBox="1"/>
          <p:nvPr/>
        </p:nvSpPr>
        <p:spPr>
          <a:xfrm>
            <a:off x="580644" y="240487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00" b="0">
                <a:solidFill>
                  <a:srgbClr val="5B6670"/>
                </a:solidFill>
                <a:latin typeface="Arial"/>
              </a:rPr>
              <a:t>Highlight colors are for presentation only and do not indicate conductor identification.</a:t>
            </a:r>
          </a:p>
        </p:txBody>
      </p:sp>
      <p:sp>
        <p:nvSpPr>
          <p:cNvPr id="33" name="Section_Label"/>
          <p:cNvSpPr txBox="1"/>
          <p:nvPr/>
        </p:nvSpPr>
        <p:spPr>
          <a:xfrm>
            <a:off x="457200" y="667512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APPLICATIONS TO EVALUATE</a:t>
            </a:r>
          </a:p>
        </p:txBody>
      </p:sp>
      <p:sp>
        <p:nvSpPr>
          <p:cNvPr id="34" name="Section_Rule"/>
          <p:cNvSpPr/>
          <p:nvPr/>
        </p:nvSpPr>
        <p:spPr>
          <a:xfrm>
            <a:off x="457200" y="6894576"/>
            <a:ext cx="6858000" cy="9144"/>
          </a:xfrm>
          <a:prstGeom prst="rect">
            <a:avLst/>
          </a:prstGeom>
          <a:solidFill>
            <a:srgbClr val="D5D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tement_1_Marker"/>
          <p:cNvSpPr/>
          <p:nvPr/>
        </p:nvSpPr>
        <p:spPr>
          <a:xfrm>
            <a:off x="45720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6" name="Statement_1_Title"/>
          <p:cNvSpPr txBox="1"/>
          <p:nvPr/>
        </p:nvSpPr>
        <p:spPr>
          <a:xfrm>
            <a:off x="76809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Power-cable entry and landing</a:t>
            </a:r>
          </a:p>
        </p:txBody>
      </p:sp>
      <p:sp>
        <p:nvSpPr>
          <p:cNvPr id="37" name="Statement_1_Text"/>
          <p:cNvSpPr txBox="1"/>
          <p:nvPr/>
        </p:nvSpPr>
        <p:spPr>
          <a:xfrm>
            <a:off x="45720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Incoming cables, lugs and identification planned to the lug pads, entry plates and bend space of each section.</a:t>
            </a:r>
          </a:p>
        </p:txBody>
      </p:sp>
      <p:sp>
        <p:nvSpPr>
          <p:cNvPr id="38" name="Statement_2_Marker"/>
          <p:cNvSpPr/>
          <p:nvPr/>
        </p:nvSpPr>
        <p:spPr>
          <a:xfrm>
            <a:off x="280416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9" name="Statement_2_Title"/>
          <p:cNvSpPr txBox="1"/>
          <p:nvPr/>
        </p:nvSpPr>
        <p:spPr>
          <a:xfrm>
            <a:off x="311505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Internal control wiring</a:t>
            </a:r>
          </a:p>
        </p:txBody>
      </p:sp>
      <p:sp>
        <p:nvSpPr>
          <p:cNvPr id="40" name="Statement_2_Text"/>
          <p:cNvSpPr txBox="1"/>
          <p:nvPr/>
        </p:nvSpPr>
        <p:spPr>
          <a:xfrm>
            <a:off x="280416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Repeatable control circuits prepared as kits, even where the lineup itself is custom.</a:t>
            </a:r>
          </a:p>
        </p:txBody>
      </p:sp>
      <p:sp>
        <p:nvSpPr>
          <p:cNvPr id="41" name="Statement_3_Marker"/>
          <p:cNvSpPr/>
          <p:nvPr/>
        </p:nvSpPr>
        <p:spPr>
          <a:xfrm>
            <a:off x="5151120" y="7036308"/>
            <a:ext cx="246888" cy="246888"/>
          </a:xfrm>
          <a:prstGeom prst="ellipse">
            <a:avLst/>
          </a:prstGeom>
          <a:solidFill>
            <a:srgbClr val="23303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2" name="Statement_3_Title"/>
          <p:cNvSpPr txBox="1"/>
          <p:nvPr/>
        </p:nvSpPr>
        <p:spPr>
          <a:xfrm>
            <a:off x="5462016" y="7022592"/>
            <a:ext cx="18531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Grounding and bonding</a:t>
            </a:r>
          </a:p>
        </p:txBody>
      </p:sp>
      <p:sp>
        <p:nvSpPr>
          <p:cNvPr id="43" name="Statement_3_Text"/>
          <p:cNvSpPr txBox="1"/>
          <p:nvPr/>
        </p:nvSpPr>
        <p:spPr>
          <a:xfrm>
            <a:off x="5151120" y="7461504"/>
            <a:ext cx="2164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Ground leads and bonding jumpers cut and terminated to the equipment layout, including door and backplate bonds.</a:t>
            </a:r>
          </a:p>
        </p:txBody>
      </p:sp>
      <p:sp>
        <p:nvSpPr>
          <p:cNvPr id="44" name="Established_Capability"/>
          <p:cNvSpPr txBox="1"/>
          <p:nvPr/>
        </p:nvSpPr>
        <p:spPr>
          <a:xfrm>
            <a:off x="457200" y="8275320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1F2A33"/>
                </a:solidFill>
                <a:latin typeface="Arial"/>
              </a:rPr>
              <a:t>Established: Southwire wire and cable manufacturing and supply.</a:t>
            </a:r>
          </a:p>
        </p:txBody>
      </p:sp>
      <p:sp>
        <p:nvSpPr>
          <p:cNvPr id="45" name="Proposed_Scope"/>
          <p:cNvSpPr txBox="1"/>
          <p:nvPr/>
        </p:nvSpPr>
        <p:spPr>
          <a:xfrm>
            <a:off x="457200" y="8439912"/>
            <a:ext cx="6858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For evaluation: the prepared kits, cable packages and assemblies shown are application concepts, not qualified Southwire products.</a:t>
            </a:r>
          </a:p>
        </p:txBody>
      </p:sp>
      <p:sp>
        <p:nvSpPr>
          <p:cNvPr id="46" name="Disclaimer"/>
          <p:cNvSpPr txBox="1"/>
          <p:nvPr/>
        </p:nvSpPr>
        <p:spPr>
          <a:xfrm>
            <a:off x="457200" y="86410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650" b="0">
                <a:solidFill>
                  <a:srgbClr val="5B6670"/>
                </a:solidFill>
                <a:latin typeface="Arial"/>
              </a:rPr>
              <a:t>Illustrative model. Ratings, cable sizes, clearances and termination selections are subject to application engineering. No code compliance, engineering approval or certification is implied.</a:t>
            </a:r>
          </a:p>
        </p:txBody>
      </p:sp>
      <p:sp>
        <p:nvSpPr>
          <p:cNvPr id="47" name="NextStep_Box"/>
          <p:cNvSpPr/>
          <p:nvPr/>
        </p:nvSpPr>
        <p:spPr>
          <a:xfrm>
            <a:off x="457200" y="9052560"/>
            <a:ext cx="4709160" cy="713232"/>
          </a:xfrm>
          <a:prstGeom prst="rect">
            <a:avLst/>
          </a:prstGeom>
          <a:solidFill>
            <a:srgbClr val="EE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NextStep_Bar"/>
          <p:cNvSpPr/>
          <p:nvPr/>
        </p:nvSpPr>
        <p:spPr>
          <a:xfrm>
            <a:off x="457200" y="9052560"/>
            <a:ext cx="45720" cy="713232"/>
          </a:xfrm>
          <a:prstGeom prst="rect">
            <a:avLst/>
          </a:prstGeom>
          <a:solidFill>
            <a:srgbClr val="B51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NextStep_Label"/>
          <p:cNvSpPr txBox="1"/>
          <p:nvPr/>
        </p:nvSpPr>
        <p:spPr>
          <a:xfrm>
            <a:off x="603504" y="9098280"/>
            <a:ext cx="4480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1">
                <a:solidFill>
                  <a:srgbClr val="B5121B"/>
                </a:solidFill>
                <a:latin typeface="Arial"/>
              </a:rPr>
              <a:t>PROPOSED NEXT STEP</a:t>
            </a:r>
          </a:p>
        </p:txBody>
      </p:sp>
      <p:sp>
        <p:nvSpPr>
          <p:cNvPr id="50" name="NextStep_Text"/>
          <p:cNvSpPr txBox="1"/>
          <p:nvPr/>
        </p:nvSpPr>
        <p:spPr>
          <a:xfrm>
            <a:off x="603504" y="926287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1F2A33"/>
                </a:solidFill>
                <a:latin typeface="Arial"/>
              </a:rPr>
              <a:t>Identify one generation-related manufacturing application where the wiring repeats and review it as a candidate package.</a:t>
            </a:r>
          </a:p>
        </p:txBody>
      </p:sp>
      <p:sp>
        <p:nvSpPr>
          <p:cNvPr id="51" name="Contact_Name"/>
          <p:cNvSpPr txBox="1"/>
          <p:nvPr/>
        </p:nvSpPr>
        <p:spPr>
          <a:xfrm>
            <a:off x="5349240" y="9079992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1">
                <a:solidFill>
                  <a:srgbClr val="1F2A33"/>
                </a:solidFill>
                <a:latin typeface="Arial"/>
              </a:rPr>
              <a:t>Stephan Hardt</a:t>
            </a:r>
          </a:p>
        </p:txBody>
      </p:sp>
      <p:sp>
        <p:nvSpPr>
          <p:cNvPr id="52" name="Contact_Title"/>
          <p:cNvSpPr txBox="1"/>
          <p:nvPr/>
        </p:nvSpPr>
        <p:spPr>
          <a:xfrm>
            <a:off x="5349240" y="9262872"/>
            <a:ext cx="1965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F2A33"/>
                </a:solidFill>
                <a:latin typeface="Arial"/>
              </a:rPr>
              <a:t>Director, Power Generation Solutions, Southwire</a:t>
            </a:r>
          </a:p>
        </p:txBody>
      </p:sp>
      <p:sp>
        <p:nvSpPr>
          <p:cNvPr id="53" name="Contact_Details"/>
          <p:cNvSpPr txBox="1"/>
          <p:nvPr/>
        </p:nvSpPr>
        <p:spPr>
          <a:xfrm>
            <a:off x="5349240" y="9537192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5B6670"/>
                </a:solidFill>
                <a:latin typeface="Arial"/>
              </a:rPr>
              <a:t>[Phone]   [Email]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