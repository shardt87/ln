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IEM_ControlKit (master .blend). Discussion concept for IEM;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IEM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F2A33"/>
                </a:solidFill>
                <a:latin typeface="Arial"/>
              </a:rPr>
              <a:t>Prepared wiring kits for switchgear production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Evaluate repeatable control wiring and internal cable assemblies against your equipment design and production process.</a:t>
            </a:r>
          </a:p>
        </p:txBody>
      </p:sp>
      <p:pic>
        <p:nvPicPr>
          <p:cNvPr id="9" name="Render_IEM_ControlKit" descr="IEM_ControlK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>
            <a:off x="3070920" y="5898118"/>
            <a:ext cx="2137089" cy="114585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5176005" y="5980699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2947476" y="577467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951687" y="5788390"/>
            <a:ext cx="1963785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1006551" y="5788390"/>
            <a:ext cx="185405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Prepared and identified conductors</a:t>
            </a:r>
          </a:p>
        </p:txBody>
      </p:sp>
      <p:cxnSp>
        <p:nvCxnSpPr>
          <p:cNvPr id="15" name="Callout_2_Leader"/>
          <p:cNvCxnSpPr/>
          <p:nvPr/>
        </p:nvCxnSpPr>
        <p:spPr>
          <a:xfrm>
            <a:off x="3410620" y="4626283"/>
            <a:ext cx="1201856" cy="521710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4580472" y="5115989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3287176" y="4502839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1289212" y="4443403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1344076" y="4443403"/>
            <a:ext cx="185623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Kits organized by cubicle or assembly step</a:t>
            </a:r>
          </a:p>
        </p:txBody>
      </p:sp>
      <p:cxnSp>
        <p:nvCxnSpPr>
          <p:cNvPr id="20" name="Callout_3_Leader"/>
          <p:cNvCxnSpPr/>
          <p:nvPr/>
        </p:nvCxnSpPr>
        <p:spPr>
          <a:xfrm flipH="1">
            <a:off x="5590662" y="4437863"/>
            <a:ext cx="1386804" cy="1140262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5558658" y="5546121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6854022" y="4314419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4856058" y="4254983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4910922" y="4254983"/>
            <a:ext cx="185623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Defined inspection, testing, and traceability requirements</a:t>
            </a:r>
          </a:p>
        </p:txBody>
      </p:sp>
      <p:sp>
        <p:nvSpPr>
          <p:cNvPr id="25" name="Legend_Box"/>
          <p:cNvSpPr/>
          <p:nvPr/>
        </p:nvSpPr>
        <p:spPr>
          <a:xfrm>
            <a:off x="4796028" y="1883664"/>
            <a:ext cx="2395728" cy="740664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4850892" y="1965960"/>
            <a:ext cx="201168" cy="64008"/>
          </a:xfrm>
          <a:prstGeom prst="rect">
            <a:avLst/>
          </a:prstGeom>
          <a:solidFill>
            <a:srgbClr val="2E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5125212" y="1920240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Control wiring (presentation blue)</a:t>
            </a:r>
          </a:p>
        </p:txBody>
      </p:sp>
      <p:sp>
        <p:nvSpPr>
          <p:cNvPr id="28" name="Legend_Swatch_2"/>
          <p:cNvSpPr/>
          <p:nvPr/>
        </p:nvSpPr>
        <p:spPr>
          <a:xfrm>
            <a:off x="4850892" y="2121408"/>
            <a:ext cx="201168" cy="64008"/>
          </a:xfrm>
          <a:prstGeom prst="rect">
            <a:avLst/>
          </a:prstGeom>
          <a:solidFill>
            <a:srgbClr val="1C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ext_2"/>
          <p:cNvSpPr txBox="1"/>
          <p:nvPr/>
        </p:nvSpPr>
        <p:spPr>
          <a:xfrm>
            <a:off x="5125212" y="2075688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Power conductors</a:t>
            </a:r>
          </a:p>
        </p:txBody>
      </p:sp>
      <p:sp>
        <p:nvSpPr>
          <p:cNvPr id="30" name="Legend_Swatch_3"/>
          <p:cNvSpPr/>
          <p:nvPr/>
        </p:nvSpPr>
        <p:spPr>
          <a:xfrm>
            <a:off x="4850892" y="2276856"/>
            <a:ext cx="201168" cy="64008"/>
          </a:xfrm>
          <a:prstGeom prst="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gend_Text_3"/>
          <p:cNvSpPr txBox="1"/>
          <p:nvPr/>
        </p:nvSpPr>
        <p:spPr>
          <a:xfrm>
            <a:off x="5125212" y="2231136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Grounding / bonding</a:t>
            </a:r>
          </a:p>
        </p:txBody>
      </p:sp>
      <p:sp>
        <p:nvSpPr>
          <p:cNvPr id="32" name="Legend_Note"/>
          <p:cNvSpPr txBox="1"/>
          <p:nvPr/>
        </p:nvSpPr>
        <p:spPr>
          <a:xfrm>
            <a:off x="4850892" y="24048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33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4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Prepared and identified conductors</a:t>
            </a:r>
          </a:p>
        </p:txBody>
      </p:sp>
      <p:sp>
        <p:nvSpPr>
          <p:cNvPr id="37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Cut to length, stripped and prepared for the illustrated terminals, with identification at both ends.</a:t>
            </a:r>
          </a:p>
        </p:txBody>
      </p:sp>
      <p:sp>
        <p:nvSpPr>
          <p:cNvPr id="38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9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Kits organized by cubicle or assembly step</a:t>
            </a:r>
          </a:p>
        </p:txBody>
      </p:sp>
      <p:sp>
        <p:nvSpPr>
          <p:cNvPr id="40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Grouped and packed so each kit matches a section or build step instead of bulk wire at the bench.</a:t>
            </a:r>
          </a:p>
        </p:txBody>
      </p:sp>
      <p:sp>
        <p:nvSpPr>
          <p:cNvPr id="41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Defined inspection, testing, and traceability requirements</a:t>
            </a:r>
          </a:p>
        </p:txBody>
      </p:sp>
      <p:sp>
        <p:nvSpPr>
          <p:cNvPr id="43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Inspection points, test methods and records agreed in advance and tied to each kit label.</a:t>
            </a:r>
          </a:p>
        </p:txBody>
      </p:sp>
      <p:sp>
        <p:nvSpPr>
          <p:cNvPr id="44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5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6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7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50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Review one representative wiring schedule and select a pilot assembly. Compare preparation time, installation time, and rework with the current process.</a:t>
            </a:r>
          </a:p>
        </p:txBody>
      </p:sp>
      <p:sp>
        <p:nvSpPr>
          <p:cNvPr id="51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52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53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