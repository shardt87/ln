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7772400" cy="100584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View: EPD_ControlCabinet (master .blend). Discussion concept for Electronic Power Design; no agreement, pilot or purchase is implied. Replace the logo placeholder and the [Phone]/[Email] placeholders before use.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notesSlide" Target="../notesSlides/notesSlide1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Logo_Placeholder"/>
          <p:cNvSpPr/>
          <p:nvPr/>
        </p:nvSpPr>
        <p:spPr>
          <a:xfrm>
            <a:off x="457200" y="347472"/>
            <a:ext cx="1600200" cy="438912"/>
          </a:xfrm>
          <a:prstGeom prst="rect">
            <a:avLst/>
          </a:prstGeom>
          <a:noFill/>
          <a:ln w="7620">
            <a:solidFill>
              <a:srgbClr val="9AA3AA"/>
            </a:solidFill>
            <a:prstDash val="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Logo_Placeholder_Text"/>
          <p:cNvSpPr txBox="1"/>
          <p:nvPr/>
        </p:nvSpPr>
        <p:spPr>
          <a:xfrm>
            <a:off x="457200" y="347472"/>
            <a:ext cx="1600200" cy="43891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8000"/>
              </a:lnSpc>
            </a:pPr>
            <a:r>
              <a:rPr sz="700" b="0">
                <a:solidFill>
                  <a:srgbClr val="5B6670"/>
                </a:solidFill>
                <a:latin typeface="Arial"/>
              </a:rPr>
              <a:t>SOUTHWIRE LOGO</a:t>
            </a:r>
          </a:p>
          <a:p>
            <a:pPr algn="ctr">
              <a:lnSpc>
                <a:spcPct val="108000"/>
              </a:lnSpc>
            </a:pPr>
            <a:r>
              <a:rPr sz="700" b="0">
                <a:solidFill>
                  <a:srgbClr val="5B6670"/>
                </a:solidFill>
                <a:latin typeface="Arial"/>
              </a:rPr>
              <a:t>placeholder - insert approved artwork</a:t>
            </a:r>
          </a:p>
        </p:txBody>
      </p:sp>
      <p:sp>
        <p:nvSpPr>
          <p:cNvPr id="4" name="Business_Unit"/>
          <p:cNvSpPr txBox="1"/>
          <p:nvPr/>
        </p:nvSpPr>
        <p:spPr>
          <a:xfrm>
            <a:off x="2240280" y="365760"/>
            <a:ext cx="274320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8000"/>
              </a:lnSpc>
            </a:pPr>
            <a:r>
              <a:rPr sz="850" b="1">
                <a:solidFill>
                  <a:srgbClr val="B5121B"/>
                </a:solidFill>
                <a:latin typeface="Arial"/>
              </a:rPr>
              <a:t>POWER GENERATION SOLUTIONS</a:t>
            </a:r>
          </a:p>
        </p:txBody>
      </p:sp>
      <p:sp>
        <p:nvSpPr>
          <p:cNvPr id="5" name="Discussion_Line"/>
          <p:cNvSpPr txBox="1"/>
          <p:nvPr/>
        </p:nvSpPr>
        <p:spPr>
          <a:xfrm>
            <a:off x="4480560" y="365760"/>
            <a:ext cx="2834639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8000"/>
              </a:lnSpc>
            </a:pPr>
            <a:r>
              <a:rPr sz="850" b="0">
                <a:solidFill>
                  <a:srgbClr val="5B6670"/>
                </a:solidFill>
                <a:latin typeface="Arial"/>
              </a:rPr>
              <a:t>Discussion with Electronic Power Design</a:t>
            </a:r>
          </a:p>
        </p:txBody>
      </p:sp>
      <p:sp>
        <p:nvSpPr>
          <p:cNvPr id="6" name="Headline"/>
          <p:cNvSpPr txBox="1"/>
          <p:nvPr/>
        </p:nvSpPr>
        <p:spPr>
          <a:xfrm>
            <a:off x="457200" y="896112"/>
            <a:ext cx="6858000" cy="3840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8000"/>
              </a:lnSpc>
            </a:pPr>
            <a:r>
              <a:rPr sz="2100" b="1">
                <a:solidFill>
                  <a:srgbClr val="1F2A33"/>
                </a:solidFill>
                <a:latin typeface="Arial"/>
              </a:rPr>
              <a:t>Prepared wiring for paralleling and control equipment</a:t>
            </a:r>
          </a:p>
        </p:txBody>
      </p:sp>
      <p:sp>
        <p:nvSpPr>
          <p:cNvPr id="7" name="Accent_Rule"/>
          <p:cNvSpPr/>
          <p:nvPr/>
        </p:nvSpPr>
        <p:spPr>
          <a:xfrm>
            <a:off x="457200" y="1389888"/>
            <a:ext cx="822960" cy="32004"/>
          </a:xfrm>
          <a:prstGeom prst="rect">
            <a:avLst/>
          </a:prstGeom>
          <a:solidFill>
            <a:srgbClr val="B5121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Supporting_Sentence"/>
          <p:cNvSpPr txBox="1"/>
          <p:nvPr/>
        </p:nvSpPr>
        <p:spPr>
          <a:xfrm>
            <a:off x="457200" y="1481328"/>
            <a:ext cx="6858000" cy="3291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8000"/>
              </a:lnSpc>
            </a:pPr>
            <a:r>
              <a:rPr sz="1000" b="0">
                <a:solidFill>
                  <a:srgbClr val="1F2A33"/>
                </a:solidFill>
                <a:latin typeface="Arial"/>
              </a:rPr>
              <a:t>Evaluate repeatable control wiring in paralleling and control sections against your schedules, devices and production sequence.</a:t>
            </a:r>
          </a:p>
        </p:txBody>
      </p:sp>
      <p:pic>
        <p:nvPicPr>
          <p:cNvPr id="9" name="Render_EPD_ControlCabinet" descr="EPD_ControlCabine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89204" y="1847088"/>
            <a:ext cx="6793992" cy="4710501"/>
          </a:xfrm>
          <a:prstGeom prst="rect">
            <a:avLst/>
          </a:prstGeom>
        </p:spPr>
      </p:pic>
      <p:cxnSp>
        <p:nvCxnSpPr>
          <p:cNvPr id="10" name="Callout_1_Leader"/>
          <p:cNvCxnSpPr/>
          <p:nvPr/>
        </p:nvCxnSpPr>
        <p:spPr>
          <a:xfrm flipH="1">
            <a:off x="6121667" y="3872603"/>
            <a:ext cx="855799" cy="1586003"/>
          </a:xfrm>
          <a:prstGeom prst="line">
            <a:avLst/>
          </a:prstGeom>
          <a:ln w="12700">
            <a:solidFill>
              <a:srgbClr val="23303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" name="Callout_1_Anchor"/>
          <p:cNvSpPr/>
          <p:nvPr/>
        </p:nvSpPr>
        <p:spPr>
          <a:xfrm>
            <a:off x="6089663" y="5426602"/>
            <a:ext cx="64008" cy="64008"/>
          </a:xfrm>
          <a:prstGeom prst="ellipse">
            <a:avLst/>
          </a:prstGeom>
          <a:solidFill>
            <a:srgbClr val="23303B"/>
          </a:solidFill>
          <a:ln w="1270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Callout_1_Marker"/>
          <p:cNvSpPr/>
          <p:nvPr/>
        </p:nvSpPr>
        <p:spPr>
          <a:xfrm>
            <a:off x="6854022" y="3749159"/>
            <a:ext cx="246888" cy="246888"/>
          </a:xfrm>
          <a:prstGeom prst="ellipse">
            <a:avLst/>
          </a:prstGeom>
          <a:solidFill>
            <a:srgbClr val="23303B"/>
          </a:solidFill>
          <a:ln w="1524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05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3" name="Callout_1_LabelBox"/>
          <p:cNvSpPr/>
          <p:nvPr/>
        </p:nvSpPr>
        <p:spPr>
          <a:xfrm>
            <a:off x="5218085" y="3762875"/>
            <a:ext cx="1603932" cy="219456"/>
          </a:xfrm>
          <a:prstGeom prst="roundRect">
            <a:avLst>
              <a:gd name="adj" fmla="val 18000"/>
            </a:avLst>
          </a:prstGeom>
          <a:solidFill>
            <a:srgbClr val="FFFFFF"/>
          </a:solidFill>
          <a:ln w="7620">
            <a:solidFill>
              <a:srgbClr val="D5D9D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Callout_1_Label"/>
          <p:cNvSpPr txBox="1"/>
          <p:nvPr/>
        </p:nvSpPr>
        <p:spPr>
          <a:xfrm>
            <a:off x="5272949" y="3762875"/>
            <a:ext cx="1494204" cy="21945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8000"/>
              </a:lnSpc>
            </a:pPr>
            <a:r>
              <a:rPr sz="850" b="1">
                <a:solidFill>
                  <a:srgbClr val="1F2A33"/>
                </a:solidFill>
                <a:latin typeface="Arial"/>
              </a:rPr>
              <a:t>Schedule-driven conductors</a:t>
            </a:r>
          </a:p>
        </p:txBody>
      </p:sp>
      <p:cxnSp>
        <p:nvCxnSpPr>
          <p:cNvPr id="15" name="Callout_2_Leader"/>
          <p:cNvCxnSpPr/>
          <p:nvPr/>
        </p:nvCxnSpPr>
        <p:spPr>
          <a:xfrm flipV="1">
            <a:off x="1712122" y="4111340"/>
            <a:ext cx="1645345" cy="326523"/>
          </a:xfrm>
          <a:prstGeom prst="line">
            <a:avLst/>
          </a:prstGeom>
          <a:ln w="12700">
            <a:solidFill>
              <a:srgbClr val="23303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6" name="Callout_2_Anchor"/>
          <p:cNvSpPr/>
          <p:nvPr/>
        </p:nvSpPr>
        <p:spPr>
          <a:xfrm>
            <a:off x="3325463" y="4079336"/>
            <a:ext cx="64008" cy="64008"/>
          </a:xfrm>
          <a:prstGeom prst="ellipse">
            <a:avLst/>
          </a:prstGeom>
          <a:solidFill>
            <a:srgbClr val="23303B"/>
          </a:solidFill>
          <a:ln w="1270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Callout_2_Marker"/>
          <p:cNvSpPr/>
          <p:nvPr/>
        </p:nvSpPr>
        <p:spPr>
          <a:xfrm>
            <a:off x="1588678" y="4314419"/>
            <a:ext cx="246888" cy="246888"/>
          </a:xfrm>
          <a:prstGeom prst="ellipse">
            <a:avLst/>
          </a:prstGeom>
          <a:solidFill>
            <a:srgbClr val="23303B"/>
          </a:solidFill>
          <a:ln w="1524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05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18" name="Callout_2_LabelBox"/>
          <p:cNvSpPr/>
          <p:nvPr/>
        </p:nvSpPr>
        <p:spPr>
          <a:xfrm>
            <a:off x="1867570" y="4328135"/>
            <a:ext cx="1957974" cy="219456"/>
          </a:xfrm>
          <a:prstGeom prst="roundRect">
            <a:avLst>
              <a:gd name="adj" fmla="val 18000"/>
            </a:avLst>
          </a:prstGeom>
          <a:solidFill>
            <a:srgbClr val="FFFFFF"/>
          </a:solidFill>
          <a:ln w="7620">
            <a:solidFill>
              <a:srgbClr val="D5D9D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Callout_2_Label"/>
          <p:cNvSpPr txBox="1"/>
          <p:nvPr/>
        </p:nvSpPr>
        <p:spPr>
          <a:xfrm>
            <a:off x="1922434" y="4328135"/>
            <a:ext cx="1848246" cy="21945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8000"/>
              </a:lnSpc>
            </a:pPr>
            <a:r>
              <a:rPr sz="850" b="1">
                <a:solidFill>
                  <a:srgbClr val="1F2A33"/>
                </a:solidFill>
                <a:latin typeface="Arial"/>
              </a:rPr>
              <a:t>Device and terminal-block landings</a:t>
            </a:r>
          </a:p>
        </p:txBody>
      </p:sp>
      <p:cxnSp>
        <p:nvCxnSpPr>
          <p:cNvPr id="20" name="Callout_3_Leader"/>
          <p:cNvCxnSpPr/>
          <p:nvPr/>
        </p:nvCxnSpPr>
        <p:spPr>
          <a:xfrm flipV="1">
            <a:off x="4837358" y="5158152"/>
            <a:ext cx="178619" cy="1163912"/>
          </a:xfrm>
          <a:prstGeom prst="line">
            <a:avLst/>
          </a:prstGeom>
          <a:ln w="12700">
            <a:solidFill>
              <a:srgbClr val="23303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1" name="Callout_3_Anchor"/>
          <p:cNvSpPr/>
          <p:nvPr/>
        </p:nvSpPr>
        <p:spPr>
          <a:xfrm>
            <a:off x="4983973" y="5126148"/>
            <a:ext cx="64008" cy="64008"/>
          </a:xfrm>
          <a:prstGeom prst="ellipse">
            <a:avLst/>
          </a:prstGeom>
          <a:solidFill>
            <a:srgbClr val="23303B"/>
          </a:solidFill>
          <a:ln w="1270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Callout_3_Marker"/>
          <p:cNvSpPr/>
          <p:nvPr/>
        </p:nvSpPr>
        <p:spPr>
          <a:xfrm>
            <a:off x="4713914" y="6198620"/>
            <a:ext cx="246888" cy="246888"/>
          </a:xfrm>
          <a:prstGeom prst="ellipse">
            <a:avLst/>
          </a:prstGeom>
          <a:solidFill>
            <a:srgbClr val="23303B"/>
          </a:solidFill>
          <a:ln w="1524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05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23" name="Callout_3_LabelBox"/>
          <p:cNvSpPr/>
          <p:nvPr/>
        </p:nvSpPr>
        <p:spPr>
          <a:xfrm>
            <a:off x="3306014" y="6212336"/>
            <a:ext cx="1375896" cy="219456"/>
          </a:xfrm>
          <a:prstGeom prst="roundRect">
            <a:avLst>
              <a:gd name="adj" fmla="val 18000"/>
            </a:avLst>
          </a:prstGeom>
          <a:solidFill>
            <a:srgbClr val="FFFFFF"/>
          </a:solidFill>
          <a:ln w="7620">
            <a:solidFill>
              <a:srgbClr val="D5D9D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Callout_3_Label"/>
          <p:cNvSpPr txBox="1"/>
          <p:nvPr/>
        </p:nvSpPr>
        <p:spPr>
          <a:xfrm>
            <a:off x="3360878" y="6212336"/>
            <a:ext cx="1266168" cy="21945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8000"/>
              </a:lnSpc>
            </a:pPr>
            <a:r>
              <a:rPr sz="850" b="1">
                <a:solidFill>
                  <a:srgbClr val="1F2A33"/>
                </a:solidFill>
                <a:latin typeface="Arial"/>
              </a:rPr>
              <a:t>Kits grouped by section</a:t>
            </a:r>
          </a:p>
        </p:txBody>
      </p:sp>
      <p:sp>
        <p:nvSpPr>
          <p:cNvPr id="25" name="Legend_Box"/>
          <p:cNvSpPr/>
          <p:nvPr/>
        </p:nvSpPr>
        <p:spPr>
          <a:xfrm>
            <a:off x="525780" y="5716341"/>
            <a:ext cx="2395728" cy="740664"/>
          </a:xfrm>
          <a:prstGeom prst="rect">
            <a:avLst/>
          </a:prstGeom>
          <a:solidFill>
            <a:srgbClr val="FFFFFF">
              <a:alpha val="92000"/>
            </a:srgbClr>
          </a:solidFill>
          <a:ln w="7620">
            <a:solidFill>
              <a:srgbClr val="D5D9D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Legend_Swatch_1"/>
          <p:cNvSpPr/>
          <p:nvPr/>
        </p:nvSpPr>
        <p:spPr>
          <a:xfrm>
            <a:off x="580644" y="5798637"/>
            <a:ext cx="201168" cy="64008"/>
          </a:xfrm>
          <a:prstGeom prst="rect">
            <a:avLst/>
          </a:prstGeom>
          <a:solidFill>
            <a:srgbClr val="2E66B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Legend_Text_1"/>
          <p:cNvSpPr txBox="1"/>
          <p:nvPr/>
        </p:nvSpPr>
        <p:spPr>
          <a:xfrm>
            <a:off x="854964" y="5752917"/>
            <a:ext cx="2011680" cy="1554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8000"/>
              </a:lnSpc>
            </a:pPr>
            <a:r>
              <a:rPr sz="700" b="0">
                <a:solidFill>
                  <a:srgbClr val="1F2A33"/>
                </a:solidFill>
                <a:latin typeface="Arial"/>
              </a:rPr>
              <a:t>Control wiring (presentation blue)</a:t>
            </a:r>
          </a:p>
        </p:txBody>
      </p:sp>
      <p:sp>
        <p:nvSpPr>
          <p:cNvPr id="28" name="Legend_Swatch_2"/>
          <p:cNvSpPr/>
          <p:nvPr/>
        </p:nvSpPr>
        <p:spPr>
          <a:xfrm>
            <a:off x="580644" y="5954085"/>
            <a:ext cx="201168" cy="64008"/>
          </a:xfrm>
          <a:prstGeom prst="rect">
            <a:avLst/>
          </a:prstGeom>
          <a:solidFill>
            <a:srgbClr val="1C1D1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Legend_Text_2"/>
          <p:cNvSpPr txBox="1"/>
          <p:nvPr/>
        </p:nvSpPr>
        <p:spPr>
          <a:xfrm>
            <a:off x="854964" y="5908365"/>
            <a:ext cx="2011680" cy="1554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8000"/>
              </a:lnSpc>
            </a:pPr>
            <a:r>
              <a:rPr sz="700" b="0">
                <a:solidFill>
                  <a:srgbClr val="1F2A33"/>
                </a:solidFill>
                <a:latin typeface="Arial"/>
              </a:rPr>
              <a:t>Power conductors</a:t>
            </a:r>
          </a:p>
        </p:txBody>
      </p:sp>
      <p:sp>
        <p:nvSpPr>
          <p:cNvPr id="30" name="Legend_Swatch_3"/>
          <p:cNvSpPr/>
          <p:nvPr/>
        </p:nvSpPr>
        <p:spPr>
          <a:xfrm>
            <a:off x="580644" y="6109533"/>
            <a:ext cx="201168" cy="64008"/>
          </a:xfrm>
          <a:prstGeom prst="rect">
            <a:avLst/>
          </a:prstGeom>
          <a:solidFill>
            <a:srgbClr val="3E8E4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Legend_Text_3"/>
          <p:cNvSpPr txBox="1"/>
          <p:nvPr/>
        </p:nvSpPr>
        <p:spPr>
          <a:xfrm>
            <a:off x="854964" y="6063813"/>
            <a:ext cx="2011680" cy="1554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8000"/>
              </a:lnSpc>
            </a:pPr>
            <a:r>
              <a:rPr sz="700" b="0">
                <a:solidFill>
                  <a:srgbClr val="1F2A33"/>
                </a:solidFill>
                <a:latin typeface="Arial"/>
              </a:rPr>
              <a:t>Grounding / bonding</a:t>
            </a:r>
          </a:p>
        </p:txBody>
      </p:sp>
      <p:sp>
        <p:nvSpPr>
          <p:cNvPr id="32" name="Legend_Note"/>
          <p:cNvSpPr txBox="1"/>
          <p:nvPr/>
        </p:nvSpPr>
        <p:spPr>
          <a:xfrm>
            <a:off x="580644" y="6237549"/>
            <a:ext cx="22860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8000"/>
              </a:lnSpc>
            </a:pPr>
            <a:r>
              <a:rPr sz="600" b="0">
                <a:solidFill>
                  <a:srgbClr val="5B6670"/>
                </a:solidFill>
                <a:latin typeface="Arial"/>
              </a:rPr>
              <a:t>Highlight colors are for presentation only and do not indicate conductor identification.</a:t>
            </a:r>
          </a:p>
        </p:txBody>
      </p:sp>
      <p:sp>
        <p:nvSpPr>
          <p:cNvPr id="33" name="Section_Label"/>
          <p:cNvSpPr txBox="1"/>
          <p:nvPr/>
        </p:nvSpPr>
        <p:spPr>
          <a:xfrm>
            <a:off x="457200" y="6675120"/>
            <a:ext cx="365760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8000"/>
              </a:lnSpc>
            </a:pPr>
            <a:r>
              <a:rPr sz="750" b="1">
                <a:solidFill>
                  <a:srgbClr val="B5121B"/>
                </a:solidFill>
                <a:latin typeface="Arial"/>
              </a:rPr>
              <a:t>APPLICATIONS TO EVALUATE</a:t>
            </a:r>
          </a:p>
        </p:txBody>
      </p:sp>
      <p:sp>
        <p:nvSpPr>
          <p:cNvPr id="34" name="Section_Rule"/>
          <p:cNvSpPr/>
          <p:nvPr/>
        </p:nvSpPr>
        <p:spPr>
          <a:xfrm>
            <a:off x="457200" y="6894576"/>
            <a:ext cx="6858000" cy="9144"/>
          </a:xfrm>
          <a:prstGeom prst="rect">
            <a:avLst/>
          </a:prstGeom>
          <a:solidFill>
            <a:srgbClr val="D5D9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Statement_1_Marker"/>
          <p:cNvSpPr/>
          <p:nvPr/>
        </p:nvSpPr>
        <p:spPr>
          <a:xfrm>
            <a:off x="457200" y="7036308"/>
            <a:ext cx="246888" cy="246888"/>
          </a:xfrm>
          <a:prstGeom prst="ellipse">
            <a:avLst/>
          </a:prstGeom>
          <a:solidFill>
            <a:srgbClr val="23303B"/>
          </a:solidFill>
          <a:ln w="1524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05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36" name="Statement_1_Title"/>
          <p:cNvSpPr txBox="1"/>
          <p:nvPr/>
        </p:nvSpPr>
        <p:spPr>
          <a:xfrm>
            <a:off x="768096" y="7022592"/>
            <a:ext cx="1853184" cy="38404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8000"/>
              </a:lnSpc>
            </a:pPr>
            <a:r>
              <a:rPr sz="950" b="1">
                <a:solidFill>
                  <a:srgbClr val="1F2A33"/>
                </a:solidFill>
                <a:latin typeface="Arial"/>
              </a:rPr>
              <a:t>Schedule-driven conductors</a:t>
            </a:r>
          </a:p>
        </p:txBody>
      </p:sp>
      <p:sp>
        <p:nvSpPr>
          <p:cNvPr id="37" name="Statement_1_Text"/>
          <p:cNvSpPr txBox="1"/>
          <p:nvPr/>
        </p:nvSpPr>
        <p:spPr>
          <a:xfrm>
            <a:off x="457200" y="7461504"/>
            <a:ext cx="2164080" cy="7315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8000"/>
              </a:lnSpc>
            </a:pPr>
            <a:r>
              <a:rPr sz="900" b="0">
                <a:solidFill>
                  <a:srgbClr val="1F2A33"/>
                </a:solidFill>
                <a:latin typeface="Arial"/>
              </a:rPr>
              <a:t>Conductors cut, stripped, ferruled and marked from the wiring schedule, ready for termination at the panel.</a:t>
            </a:r>
          </a:p>
        </p:txBody>
      </p:sp>
      <p:sp>
        <p:nvSpPr>
          <p:cNvPr id="38" name="Statement_2_Marker"/>
          <p:cNvSpPr/>
          <p:nvPr/>
        </p:nvSpPr>
        <p:spPr>
          <a:xfrm>
            <a:off x="2804160" y="7036308"/>
            <a:ext cx="246888" cy="246888"/>
          </a:xfrm>
          <a:prstGeom prst="ellipse">
            <a:avLst/>
          </a:prstGeom>
          <a:solidFill>
            <a:srgbClr val="23303B"/>
          </a:solidFill>
          <a:ln w="1524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05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39" name="Statement_2_Title"/>
          <p:cNvSpPr txBox="1"/>
          <p:nvPr/>
        </p:nvSpPr>
        <p:spPr>
          <a:xfrm>
            <a:off x="3115056" y="7022592"/>
            <a:ext cx="1853184" cy="38404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8000"/>
              </a:lnSpc>
            </a:pPr>
            <a:r>
              <a:rPr sz="950" b="1">
                <a:solidFill>
                  <a:srgbClr val="1F2A33"/>
                </a:solidFill>
                <a:latin typeface="Arial"/>
              </a:rPr>
              <a:t>Device and terminal-block landings</a:t>
            </a:r>
          </a:p>
        </p:txBody>
      </p:sp>
      <p:sp>
        <p:nvSpPr>
          <p:cNvPr id="40" name="Statement_2_Text"/>
          <p:cNvSpPr txBox="1"/>
          <p:nvPr/>
        </p:nvSpPr>
        <p:spPr>
          <a:xfrm>
            <a:off x="2804160" y="7461504"/>
            <a:ext cx="2164080" cy="7315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8000"/>
              </a:lnSpc>
            </a:pPr>
            <a:r>
              <a:rPr sz="900" b="0">
                <a:solidFill>
                  <a:srgbClr val="1F2A33"/>
                </a:solidFill>
                <a:latin typeface="Arial"/>
              </a:rPr>
              <a:t>Preparation matched to the devices and terminal types used, following your termination practices.</a:t>
            </a:r>
          </a:p>
        </p:txBody>
      </p:sp>
      <p:sp>
        <p:nvSpPr>
          <p:cNvPr id="41" name="Statement_3_Marker"/>
          <p:cNvSpPr/>
          <p:nvPr/>
        </p:nvSpPr>
        <p:spPr>
          <a:xfrm>
            <a:off x="5151120" y="7036308"/>
            <a:ext cx="246888" cy="246888"/>
          </a:xfrm>
          <a:prstGeom prst="ellipse">
            <a:avLst/>
          </a:prstGeom>
          <a:solidFill>
            <a:srgbClr val="23303B"/>
          </a:solidFill>
          <a:ln w="1524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05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42" name="Statement_3_Title"/>
          <p:cNvSpPr txBox="1"/>
          <p:nvPr/>
        </p:nvSpPr>
        <p:spPr>
          <a:xfrm>
            <a:off x="5462016" y="7022592"/>
            <a:ext cx="1853184" cy="38404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8000"/>
              </a:lnSpc>
            </a:pPr>
            <a:r>
              <a:rPr sz="950" b="1">
                <a:solidFill>
                  <a:srgbClr val="1F2A33"/>
                </a:solidFill>
                <a:latin typeface="Arial"/>
              </a:rPr>
              <a:t>Kits grouped by section</a:t>
            </a:r>
          </a:p>
        </p:txBody>
      </p:sp>
      <p:sp>
        <p:nvSpPr>
          <p:cNvPr id="43" name="Statement_3_Text"/>
          <p:cNvSpPr txBox="1"/>
          <p:nvPr/>
        </p:nvSpPr>
        <p:spPr>
          <a:xfrm>
            <a:off x="5151120" y="7461504"/>
            <a:ext cx="2164080" cy="7315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8000"/>
              </a:lnSpc>
            </a:pPr>
            <a:r>
              <a:rPr sz="900" b="0">
                <a:solidFill>
                  <a:srgbClr val="1F2A33"/>
                </a:solidFill>
                <a:latin typeface="Arial"/>
              </a:rPr>
              <a:t>Kits packed per section or build step to fit the production sequence and limit sorting at the panel.</a:t>
            </a:r>
          </a:p>
        </p:txBody>
      </p:sp>
      <p:sp>
        <p:nvSpPr>
          <p:cNvPr id="44" name="Established_Capability"/>
          <p:cNvSpPr txBox="1"/>
          <p:nvPr/>
        </p:nvSpPr>
        <p:spPr>
          <a:xfrm>
            <a:off x="457200" y="8275320"/>
            <a:ext cx="6858000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8000"/>
              </a:lnSpc>
            </a:pPr>
            <a:r>
              <a:rPr sz="750" b="1">
                <a:solidFill>
                  <a:srgbClr val="1F2A33"/>
                </a:solidFill>
                <a:latin typeface="Arial"/>
              </a:rPr>
              <a:t>Established: Southwire wire and cable manufacturing and supply.</a:t>
            </a:r>
          </a:p>
        </p:txBody>
      </p:sp>
      <p:sp>
        <p:nvSpPr>
          <p:cNvPr id="45" name="Proposed_Scope"/>
          <p:cNvSpPr txBox="1"/>
          <p:nvPr/>
        </p:nvSpPr>
        <p:spPr>
          <a:xfrm>
            <a:off x="457200" y="8439912"/>
            <a:ext cx="6858000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8000"/>
              </a:lnSpc>
            </a:pPr>
            <a:r>
              <a:rPr sz="750" b="0">
                <a:solidFill>
                  <a:srgbClr val="1F2A33"/>
                </a:solidFill>
                <a:latin typeface="Arial"/>
              </a:rPr>
              <a:t>For evaluation: the prepared kits, cable packages and assemblies shown are application concepts, not qualified Southwire products.</a:t>
            </a:r>
          </a:p>
        </p:txBody>
      </p:sp>
      <p:sp>
        <p:nvSpPr>
          <p:cNvPr id="46" name="Disclaimer"/>
          <p:cNvSpPr txBox="1"/>
          <p:nvPr/>
        </p:nvSpPr>
        <p:spPr>
          <a:xfrm>
            <a:off x="457200" y="8641080"/>
            <a:ext cx="68580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8000"/>
              </a:lnSpc>
            </a:pPr>
            <a:r>
              <a:rPr sz="650" b="0">
                <a:solidFill>
                  <a:srgbClr val="5B6670"/>
                </a:solidFill>
                <a:latin typeface="Arial"/>
              </a:rPr>
              <a:t>Illustrative model. Ratings, cable sizes, clearances and termination selections are subject to application engineering. No code compliance, engineering approval or certification is implied.</a:t>
            </a:r>
          </a:p>
        </p:txBody>
      </p:sp>
      <p:sp>
        <p:nvSpPr>
          <p:cNvPr id="47" name="NextStep_Box"/>
          <p:cNvSpPr/>
          <p:nvPr/>
        </p:nvSpPr>
        <p:spPr>
          <a:xfrm>
            <a:off x="457200" y="9052560"/>
            <a:ext cx="4709160" cy="713232"/>
          </a:xfrm>
          <a:prstGeom prst="rect">
            <a:avLst/>
          </a:prstGeom>
          <a:solidFill>
            <a:srgbClr val="EEF1F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NextStep_Bar"/>
          <p:cNvSpPr/>
          <p:nvPr/>
        </p:nvSpPr>
        <p:spPr>
          <a:xfrm>
            <a:off x="457200" y="9052560"/>
            <a:ext cx="45720" cy="713232"/>
          </a:xfrm>
          <a:prstGeom prst="rect">
            <a:avLst/>
          </a:prstGeom>
          <a:solidFill>
            <a:srgbClr val="B5121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NextStep_Label"/>
          <p:cNvSpPr txBox="1"/>
          <p:nvPr/>
        </p:nvSpPr>
        <p:spPr>
          <a:xfrm>
            <a:off x="603504" y="9098280"/>
            <a:ext cx="4480560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8000"/>
              </a:lnSpc>
            </a:pPr>
            <a:r>
              <a:rPr sz="750" b="1">
                <a:solidFill>
                  <a:srgbClr val="B5121B"/>
                </a:solidFill>
                <a:latin typeface="Arial"/>
              </a:rPr>
              <a:t>PROPOSED NEXT STEP</a:t>
            </a:r>
          </a:p>
        </p:txBody>
      </p:sp>
      <p:sp>
        <p:nvSpPr>
          <p:cNvPr id="50" name="NextStep_Text"/>
          <p:cNvSpPr txBox="1"/>
          <p:nvPr/>
        </p:nvSpPr>
        <p:spPr>
          <a:xfrm>
            <a:off x="603504" y="9262872"/>
            <a:ext cx="4480560" cy="47548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8000"/>
              </a:lnSpc>
            </a:pPr>
            <a:r>
              <a:rPr sz="900" b="0">
                <a:solidFill>
                  <a:srgbClr val="1F2A33"/>
                </a:solidFill>
                <a:latin typeface="Arial"/>
              </a:rPr>
              <a:t>Evaluate one wiring schedule from a recent paralleling or control section and select a pilot assembly for comparison with the current process.</a:t>
            </a:r>
          </a:p>
        </p:txBody>
      </p:sp>
      <p:sp>
        <p:nvSpPr>
          <p:cNvPr id="51" name="Contact_Name"/>
          <p:cNvSpPr txBox="1"/>
          <p:nvPr/>
        </p:nvSpPr>
        <p:spPr>
          <a:xfrm>
            <a:off x="5349240" y="9079992"/>
            <a:ext cx="196596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8000"/>
              </a:lnSpc>
            </a:pPr>
            <a:r>
              <a:rPr sz="950" b="1">
                <a:solidFill>
                  <a:srgbClr val="1F2A33"/>
                </a:solidFill>
                <a:latin typeface="Arial"/>
              </a:rPr>
              <a:t>Stephan Hardt</a:t>
            </a:r>
          </a:p>
        </p:txBody>
      </p:sp>
      <p:sp>
        <p:nvSpPr>
          <p:cNvPr id="52" name="Contact_Title"/>
          <p:cNvSpPr txBox="1"/>
          <p:nvPr/>
        </p:nvSpPr>
        <p:spPr>
          <a:xfrm>
            <a:off x="5349240" y="9262872"/>
            <a:ext cx="1965960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8000"/>
              </a:lnSpc>
            </a:pPr>
            <a:r>
              <a:rPr sz="750" b="0">
                <a:solidFill>
                  <a:srgbClr val="1F2A33"/>
                </a:solidFill>
                <a:latin typeface="Arial"/>
              </a:rPr>
              <a:t>Director, Power Generation Solutions, Southwire</a:t>
            </a:r>
          </a:p>
        </p:txBody>
      </p:sp>
      <p:sp>
        <p:nvSpPr>
          <p:cNvPr id="53" name="Contact_Details"/>
          <p:cNvSpPr txBox="1"/>
          <p:nvPr/>
        </p:nvSpPr>
        <p:spPr>
          <a:xfrm>
            <a:off x="5349240" y="9537192"/>
            <a:ext cx="1965960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8000"/>
              </a:lnSpc>
            </a:pPr>
            <a:r>
              <a:rPr sz="750" b="0">
                <a:solidFill>
                  <a:srgbClr val="5B6670"/>
                </a:solidFill>
                <a:latin typeface="Arial"/>
              </a:rPr>
              <a:t>[Phone]   [Email]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