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View: ASCO_TransferInterface (master .blend). Discussion concept for Schneider Electric / ASCO; no agreement, pilot or purchase is implied. Replace the logo placeholder and the [Phone]/[Email] placeholders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ogo_Placeholder"/>
          <p:cNvSpPr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  <a:ln w="7620">
            <a:solidFill>
              <a:srgbClr val="9AA3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_Placeholder_Text"/>
          <p:cNvSpPr txBox="1"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SOUTHWIRE LOGO</a:t>
            </a:r>
          </a:p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placeholder - insert approved artwork</a:t>
            </a:r>
          </a:p>
        </p:txBody>
      </p:sp>
      <p:sp>
        <p:nvSpPr>
          <p:cNvPr id="4" name="Business_Unit"/>
          <p:cNvSpPr txBox="1"/>
          <p:nvPr/>
        </p:nvSpPr>
        <p:spPr>
          <a:xfrm>
            <a:off x="2240280" y="365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B5121B"/>
                </a:solidFill>
                <a:latin typeface="Arial"/>
              </a:rPr>
              <a:t>POWER GENERATION SOLUTIONS</a:t>
            </a:r>
          </a:p>
        </p:txBody>
      </p:sp>
      <p:sp>
        <p:nvSpPr>
          <p:cNvPr id="5" name="Discussion_Line"/>
          <p:cNvSpPr txBox="1"/>
          <p:nvPr/>
        </p:nvSpPr>
        <p:spPr>
          <a:xfrm>
            <a:off x="4480560" y="365760"/>
            <a:ext cx="2834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5B6670"/>
                </a:solidFill>
                <a:latin typeface="Arial"/>
              </a:rPr>
              <a:t>Discussion with Schneider Electric / ASCO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457200" y="89611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F2A33"/>
                </a:solidFill>
                <a:latin typeface="Arial"/>
              </a:rPr>
              <a:t>Defining scope at transfer-equipment interfaces</a:t>
            </a:r>
          </a:p>
        </p:txBody>
      </p:sp>
      <p:sp>
        <p:nvSpPr>
          <p:cNvPr id="7" name="Accent_Rule"/>
          <p:cNvSpPr/>
          <p:nvPr/>
        </p:nvSpPr>
        <p:spPr>
          <a:xfrm>
            <a:off x="457200" y="1389888"/>
            <a:ext cx="822960" cy="32004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pporting_Sentence"/>
          <p:cNvSpPr txBox="1"/>
          <p:nvPr/>
        </p:nvSpPr>
        <p:spPr>
          <a:xfrm>
            <a:off x="457200" y="1481328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F2A33"/>
                </a:solidFill>
                <a:latin typeface="Arial"/>
              </a:rPr>
              <a:t>Clarify factory-supplied and installer-supplied connections at the normal-source, generator-source and load terminals. Open-transition switch shown; sources are not paralleled.</a:t>
            </a:r>
          </a:p>
        </p:txBody>
      </p:sp>
      <p:pic>
        <p:nvPicPr>
          <p:cNvPr id="9" name="Render_ASCO_TransferInterface" descr="ASCO_Transfer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" y="1847088"/>
            <a:ext cx="6793992" cy="4710501"/>
          </a:xfrm>
          <a:prstGeom prst="rect">
            <a:avLst/>
          </a:prstGeom>
        </p:spPr>
      </p:pic>
      <p:cxnSp>
        <p:nvCxnSpPr>
          <p:cNvPr id="10" name="Callout_1_Leader"/>
          <p:cNvCxnSpPr/>
          <p:nvPr/>
        </p:nvCxnSpPr>
        <p:spPr>
          <a:xfrm>
            <a:off x="1304483" y="3260238"/>
            <a:ext cx="2668626" cy="671625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llout_1_Anchor"/>
          <p:cNvSpPr/>
          <p:nvPr/>
        </p:nvSpPr>
        <p:spPr>
          <a:xfrm>
            <a:off x="3941105" y="3899859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llout_1_Marker"/>
          <p:cNvSpPr/>
          <p:nvPr/>
        </p:nvSpPr>
        <p:spPr>
          <a:xfrm>
            <a:off x="1181039" y="313679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Callout_1_LabelBox"/>
          <p:cNvSpPr/>
          <p:nvPr/>
        </p:nvSpPr>
        <p:spPr>
          <a:xfrm>
            <a:off x="1459931" y="3150510"/>
            <a:ext cx="151394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llout_1_Label"/>
          <p:cNvSpPr txBox="1"/>
          <p:nvPr/>
        </p:nvSpPr>
        <p:spPr>
          <a:xfrm>
            <a:off x="1514795" y="3150510"/>
            <a:ext cx="140421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Normal-source connection</a:t>
            </a:r>
          </a:p>
        </p:txBody>
      </p:sp>
      <p:cxnSp>
        <p:nvCxnSpPr>
          <p:cNvPr id="15" name="Callout_2_Leader"/>
          <p:cNvCxnSpPr/>
          <p:nvPr/>
        </p:nvCxnSpPr>
        <p:spPr>
          <a:xfrm flipV="1">
            <a:off x="1304483" y="5050793"/>
            <a:ext cx="2518928" cy="470485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llout_2_Anchor"/>
          <p:cNvSpPr/>
          <p:nvPr/>
        </p:nvSpPr>
        <p:spPr>
          <a:xfrm>
            <a:off x="3791407" y="5018789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llout_2_Marker"/>
          <p:cNvSpPr/>
          <p:nvPr/>
        </p:nvSpPr>
        <p:spPr>
          <a:xfrm>
            <a:off x="1181039" y="539783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Callout_2_LabelBox"/>
          <p:cNvSpPr/>
          <p:nvPr/>
        </p:nvSpPr>
        <p:spPr>
          <a:xfrm>
            <a:off x="1459931" y="5411550"/>
            <a:ext cx="1657958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llout_2_Label"/>
          <p:cNvSpPr txBox="1"/>
          <p:nvPr/>
        </p:nvSpPr>
        <p:spPr>
          <a:xfrm>
            <a:off x="1514795" y="5411550"/>
            <a:ext cx="154823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Generator-source connection</a:t>
            </a:r>
          </a:p>
        </p:txBody>
      </p:sp>
      <p:cxnSp>
        <p:nvCxnSpPr>
          <p:cNvPr id="20" name="Callout_3_Leader"/>
          <p:cNvCxnSpPr/>
          <p:nvPr/>
        </p:nvCxnSpPr>
        <p:spPr>
          <a:xfrm flipH="1">
            <a:off x="4412895" y="4437863"/>
            <a:ext cx="2055021" cy="69047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llout_3_Anchor"/>
          <p:cNvSpPr/>
          <p:nvPr/>
        </p:nvSpPr>
        <p:spPr>
          <a:xfrm>
            <a:off x="4380891" y="4474906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llout_3_Marker"/>
          <p:cNvSpPr/>
          <p:nvPr/>
        </p:nvSpPr>
        <p:spPr>
          <a:xfrm>
            <a:off x="6344472" y="4314419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Callout_3_LabelBox"/>
          <p:cNvSpPr/>
          <p:nvPr/>
        </p:nvSpPr>
        <p:spPr>
          <a:xfrm>
            <a:off x="5302539" y="4328135"/>
            <a:ext cx="1009929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llout_3_Label"/>
          <p:cNvSpPr txBox="1"/>
          <p:nvPr/>
        </p:nvSpPr>
        <p:spPr>
          <a:xfrm>
            <a:off x="5357403" y="4328135"/>
            <a:ext cx="9002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Load connection</a:t>
            </a:r>
          </a:p>
        </p:txBody>
      </p:sp>
      <p:sp>
        <p:nvSpPr>
          <p:cNvPr id="25" name="Legend_Box"/>
          <p:cNvSpPr/>
          <p:nvPr/>
        </p:nvSpPr>
        <p:spPr>
          <a:xfrm>
            <a:off x="525780" y="5716341"/>
            <a:ext cx="2395728" cy="740664"/>
          </a:xfrm>
          <a:prstGeom prst="rect">
            <a:avLst/>
          </a:prstGeom>
          <a:solidFill>
            <a:srgbClr val="FFFFFF">
              <a:alpha val="92000"/>
            </a:srgbClr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gend_Swatch_1"/>
          <p:cNvSpPr/>
          <p:nvPr/>
        </p:nvSpPr>
        <p:spPr>
          <a:xfrm>
            <a:off x="580644" y="5798637"/>
            <a:ext cx="201168" cy="64008"/>
          </a:xfrm>
          <a:prstGeom prst="rect">
            <a:avLst/>
          </a:prstGeom>
          <a:solidFill>
            <a:srgbClr val="2E6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gend_Text_1"/>
          <p:cNvSpPr txBox="1"/>
          <p:nvPr/>
        </p:nvSpPr>
        <p:spPr>
          <a:xfrm>
            <a:off x="854964" y="5752917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Control wiring (presentation blue)</a:t>
            </a:r>
          </a:p>
        </p:txBody>
      </p:sp>
      <p:sp>
        <p:nvSpPr>
          <p:cNvPr id="28" name="Legend_Swatch_2"/>
          <p:cNvSpPr/>
          <p:nvPr/>
        </p:nvSpPr>
        <p:spPr>
          <a:xfrm>
            <a:off x="580644" y="5954085"/>
            <a:ext cx="201168" cy="64008"/>
          </a:xfrm>
          <a:prstGeom prst="rect">
            <a:avLst/>
          </a:prstGeom>
          <a:solidFill>
            <a:srgbClr val="1C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gend_Text_2"/>
          <p:cNvSpPr txBox="1"/>
          <p:nvPr/>
        </p:nvSpPr>
        <p:spPr>
          <a:xfrm>
            <a:off x="854964" y="5908365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Power conductors</a:t>
            </a:r>
          </a:p>
        </p:txBody>
      </p:sp>
      <p:sp>
        <p:nvSpPr>
          <p:cNvPr id="30" name="Legend_Swatch_3"/>
          <p:cNvSpPr/>
          <p:nvPr/>
        </p:nvSpPr>
        <p:spPr>
          <a:xfrm>
            <a:off x="580644" y="6109533"/>
            <a:ext cx="201168" cy="64008"/>
          </a:xfrm>
          <a:prstGeom prst="rect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gend_Text_3"/>
          <p:cNvSpPr txBox="1"/>
          <p:nvPr/>
        </p:nvSpPr>
        <p:spPr>
          <a:xfrm>
            <a:off x="854964" y="6063813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Grounding / bonding</a:t>
            </a:r>
          </a:p>
        </p:txBody>
      </p:sp>
      <p:sp>
        <p:nvSpPr>
          <p:cNvPr id="32" name="Legend_Note"/>
          <p:cNvSpPr txBox="1"/>
          <p:nvPr/>
        </p:nvSpPr>
        <p:spPr>
          <a:xfrm>
            <a:off x="580644" y="6237549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" b="0">
                <a:solidFill>
                  <a:srgbClr val="5B6670"/>
                </a:solidFill>
                <a:latin typeface="Arial"/>
              </a:rPr>
              <a:t>Highlight colors are for presentation only and do not indicate conductor identification.</a:t>
            </a:r>
          </a:p>
        </p:txBody>
      </p:sp>
      <p:sp>
        <p:nvSpPr>
          <p:cNvPr id="33" name="Section_Label"/>
          <p:cNvSpPr txBox="1"/>
          <p:nvPr/>
        </p:nvSpPr>
        <p:spPr>
          <a:xfrm>
            <a:off x="457200" y="66751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APPLICATIONS TO EVALUATE</a:t>
            </a:r>
          </a:p>
        </p:txBody>
      </p:sp>
      <p:sp>
        <p:nvSpPr>
          <p:cNvPr id="34" name="Section_Rule"/>
          <p:cNvSpPr/>
          <p:nvPr/>
        </p:nvSpPr>
        <p:spPr>
          <a:xfrm>
            <a:off x="457200" y="6894576"/>
            <a:ext cx="6858000" cy="9144"/>
          </a:xfrm>
          <a:prstGeom prst="rect">
            <a:avLst/>
          </a:prstGeom>
          <a:solidFill>
            <a:srgbClr val="D5D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tement_1_Marker"/>
          <p:cNvSpPr/>
          <p:nvPr/>
        </p:nvSpPr>
        <p:spPr>
          <a:xfrm>
            <a:off x="45720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Statement_1_Title"/>
          <p:cNvSpPr txBox="1"/>
          <p:nvPr/>
        </p:nvSpPr>
        <p:spPr>
          <a:xfrm>
            <a:off x="76809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Normal-source connection</a:t>
            </a:r>
          </a:p>
        </p:txBody>
      </p:sp>
      <p:sp>
        <p:nvSpPr>
          <p:cNvPr id="37" name="Statement_1_Text"/>
          <p:cNvSpPr txBox="1"/>
          <p:nvPr/>
        </p:nvSpPr>
        <p:spPr>
          <a:xfrm>
            <a:off x="45720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Document lug, conductor and entry details so installer-supplied cable can be specified and prepared consistently.</a:t>
            </a:r>
          </a:p>
        </p:txBody>
      </p:sp>
      <p:sp>
        <p:nvSpPr>
          <p:cNvPr id="38" name="Statement_2_Marker"/>
          <p:cNvSpPr/>
          <p:nvPr/>
        </p:nvSpPr>
        <p:spPr>
          <a:xfrm>
            <a:off x="280416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9" name="Statement_2_Title"/>
          <p:cNvSpPr txBox="1"/>
          <p:nvPr/>
        </p:nvSpPr>
        <p:spPr>
          <a:xfrm>
            <a:off x="311505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Generator-source connection</a:t>
            </a:r>
          </a:p>
        </p:txBody>
      </p:sp>
      <p:sp>
        <p:nvSpPr>
          <p:cNvPr id="40" name="Statement_2_Text"/>
          <p:cNvSpPr txBox="1"/>
          <p:nvPr/>
        </p:nvSpPr>
        <p:spPr>
          <a:xfrm>
            <a:off x="280416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Evaluate prepared generator feeders and a separately routed engine-start control cable as one defined package.</a:t>
            </a:r>
          </a:p>
        </p:txBody>
      </p:sp>
      <p:sp>
        <p:nvSpPr>
          <p:cNvPr id="41" name="Statement_3_Marker"/>
          <p:cNvSpPr/>
          <p:nvPr/>
        </p:nvSpPr>
        <p:spPr>
          <a:xfrm>
            <a:off x="515112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Statement_3_Title"/>
          <p:cNvSpPr txBox="1"/>
          <p:nvPr/>
        </p:nvSpPr>
        <p:spPr>
          <a:xfrm>
            <a:off x="546201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Load connection</a:t>
            </a:r>
          </a:p>
        </p:txBody>
      </p:sp>
      <p:sp>
        <p:nvSpPr>
          <p:cNvPr id="43" name="Statement_3_Text"/>
          <p:cNvSpPr txBox="1"/>
          <p:nvPr/>
        </p:nvSpPr>
        <p:spPr>
          <a:xfrm>
            <a:off x="515112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Confirm which load and neutral terminations are factory-supplied and which are completed by the installer.</a:t>
            </a:r>
          </a:p>
        </p:txBody>
      </p:sp>
      <p:sp>
        <p:nvSpPr>
          <p:cNvPr id="44" name="Established_Capability"/>
          <p:cNvSpPr txBox="1"/>
          <p:nvPr/>
        </p:nvSpPr>
        <p:spPr>
          <a:xfrm>
            <a:off x="457200" y="8275320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1F2A33"/>
                </a:solidFill>
                <a:latin typeface="Arial"/>
              </a:rPr>
              <a:t>Established: Southwire wire and cable manufacturing and supply.</a:t>
            </a:r>
          </a:p>
        </p:txBody>
      </p:sp>
      <p:sp>
        <p:nvSpPr>
          <p:cNvPr id="45" name="Proposed_Scope"/>
          <p:cNvSpPr txBox="1"/>
          <p:nvPr/>
        </p:nvSpPr>
        <p:spPr>
          <a:xfrm>
            <a:off x="457200" y="8439912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For evaluation: the prepared kits, cable packages and assemblies shown are application concepts, not qualified Southwire products.</a:t>
            </a:r>
          </a:p>
        </p:txBody>
      </p:sp>
      <p:sp>
        <p:nvSpPr>
          <p:cNvPr id="46" name="Disclaimer"/>
          <p:cNvSpPr txBox="1"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>
                <a:solidFill>
                  <a:srgbClr val="5B6670"/>
                </a:solidFill>
                <a:latin typeface="Arial"/>
              </a:rPr>
              <a:t>Illustrative model. Ratings, cable sizes, clearances and termination selections are subject to application engineering. No code compliance, engineering approval or certification is implied.</a:t>
            </a:r>
          </a:p>
        </p:txBody>
      </p:sp>
      <p:sp>
        <p:nvSpPr>
          <p:cNvPr id="47" name="NextStep_Box"/>
          <p:cNvSpPr/>
          <p:nvPr/>
        </p:nvSpPr>
        <p:spPr>
          <a:xfrm>
            <a:off x="457200" y="9052560"/>
            <a:ext cx="4709160" cy="713232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extStep_Bar"/>
          <p:cNvSpPr/>
          <p:nvPr/>
        </p:nvSpPr>
        <p:spPr>
          <a:xfrm>
            <a:off x="457200" y="9052560"/>
            <a:ext cx="45720" cy="713232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NextStep_Label"/>
          <p:cNvSpPr txBox="1"/>
          <p:nvPr/>
        </p:nvSpPr>
        <p:spPr>
          <a:xfrm>
            <a:off x="603504" y="9098280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PROPOSED NEXT STEP</a:t>
            </a:r>
          </a:p>
        </p:txBody>
      </p:sp>
      <p:sp>
        <p:nvSpPr>
          <p:cNvPr id="50" name="NextStep_Text"/>
          <p:cNvSpPr txBox="1"/>
          <p:nvPr/>
        </p:nvSpPr>
        <p:spPr>
          <a:xfrm>
            <a:off x="603504" y="9262872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Establish factory-supplied versus installer-supplied scope for one transfer-switch configuration and identify where a cable package could help.</a:t>
            </a:r>
          </a:p>
        </p:txBody>
      </p:sp>
      <p:sp>
        <p:nvSpPr>
          <p:cNvPr id="51" name="Contact_Name"/>
          <p:cNvSpPr txBox="1"/>
          <p:nvPr/>
        </p:nvSpPr>
        <p:spPr>
          <a:xfrm>
            <a:off x="5349240" y="90799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Stephan Hardt</a:t>
            </a:r>
          </a:p>
        </p:txBody>
      </p:sp>
      <p:sp>
        <p:nvSpPr>
          <p:cNvPr id="52" name="Contact_Title"/>
          <p:cNvSpPr txBox="1"/>
          <p:nvPr/>
        </p:nvSpPr>
        <p:spPr>
          <a:xfrm>
            <a:off x="5349240" y="926287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Director, Power Generation Solutions, Southwire</a:t>
            </a:r>
          </a:p>
        </p:txBody>
      </p:sp>
      <p:sp>
        <p:nvSpPr>
          <p:cNvPr id="53" name="Contact_Details"/>
          <p:cNvSpPr txBox="1"/>
          <p:nvPr/>
        </p:nvSpPr>
        <p:spPr>
          <a:xfrm>
            <a:off x="5349240" y="953719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B6670"/>
                </a:solidFill>
                <a:latin typeface="Arial"/>
              </a:rPr>
              <a:t>[Phone] 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