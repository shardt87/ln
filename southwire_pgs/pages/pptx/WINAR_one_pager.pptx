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View: WINAR_AssemblyBench (master .blend). Discussion concept for Winar Connection; no agreement, pilot or purchase is implied. Replace the logo placeholder and the [Phone]/[Email] placeholders before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ogo_Placeholder"/>
          <p:cNvSpPr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  <a:ln w="7620">
            <a:solidFill>
              <a:srgbClr val="9AA3A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_Placeholder_Text"/>
          <p:cNvSpPr txBox="1"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SOUTHWIRE LOGO</a:t>
            </a:r>
          </a:p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placeholder - insert approved artwork</a:t>
            </a:r>
          </a:p>
        </p:txBody>
      </p:sp>
      <p:sp>
        <p:nvSpPr>
          <p:cNvPr id="4" name="Business_Unit"/>
          <p:cNvSpPr txBox="1"/>
          <p:nvPr/>
        </p:nvSpPr>
        <p:spPr>
          <a:xfrm>
            <a:off x="2240280" y="3657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B5121B"/>
                </a:solidFill>
                <a:latin typeface="Arial"/>
              </a:rPr>
              <a:t>POWER GENERATION SOLUTIONS</a:t>
            </a:r>
          </a:p>
        </p:txBody>
      </p:sp>
      <p:sp>
        <p:nvSpPr>
          <p:cNvPr id="5" name="Discussion_Line"/>
          <p:cNvSpPr txBox="1"/>
          <p:nvPr/>
        </p:nvSpPr>
        <p:spPr>
          <a:xfrm>
            <a:off x="4480560" y="365760"/>
            <a:ext cx="28346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5B6670"/>
                </a:solidFill>
                <a:latin typeface="Arial"/>
              </a:rPr>
              <a:t>Discussion with Winar Connection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457200" y="896112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F2A33"/>
                </a:solidFill>
                <a:latin typeface="Arial"/>
              </a:rPr>
              <a:t>Cable supply and assembly partnership</a:t>
            </a:r>
          </a:p>
        </p:txBody>
      </p:sp>
      <p:sp>
        <p:nvSpPr>
          <p:cNvPr id="7" name="Accent_Rule"/>
          <p:cNvSpPr/>
          <p:nvPr/>
        </p:nvSpPr>
        <p:spPr>
          <a:xfrm>
            <a:off x="457200" y="1389888"/>
            <a:ext cx="822960" cy="32004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pporting_Sentence"/>
          <p:cNvSpPr txBox="1"/>
          <p:nvPr/>
        </p:nvSpPr>
        <p:spPr>
          <a:xfrm>
            <a:off x="457200" y="1481328"/>
            <a:ext cx="6858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F2A33"/>
                </a:solidFill>
                <a:latin typeface="Arial"/>
              </a:rPr>
              <a:t>Compare how cable supply, preparation, identification, testing and packaging could be divided for a representative assembly.</a:t>
            </a:r>
          </a:p>
        </p:txBody>
      </p:sp>
      <p:pic>
        <p:nvPicPr>
          <p:cNvPr id="9" name="Render_WINAR_AssemblyBench" descr="WINAR_Assembly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" y="1847088"/>
            <a:ext cx="6793992" cy="4710501"/>
          </a:xfrm>
          <a:prstGeom prst="rect">
            <a:avLst/>
          </a:prstGeom>
        </p:spPr>
      </p:pic>
      <p:cxnSp>
        <p:nvCxnSpPr>
          <p:cNvPr id="10" name="Callout_1_Leader"/>
          <p:cNvCxnSpPr/>
          <p:nvPr/>
        </p:nvCxnSpPr>
        <p:spPr>
          <a:xfrm>
            <a:off x="760963" y="2789188"/>
            <a:ext cx="2384401" cy="1576682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llout_1_Anchor"/>
          <p:cNvSpPr/>
          <p:nvPr/>
        </p:nvSpPr>
        <p:spPr>
          <a:xfrm>
            <a:off x="3113360" y="4333866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llout_1_Marker"/>
          <p:cNvSpPr/>
          <p:nvPr/>
        </p:nvSpPr>
        <p:spPr>
          <a:xfrm>
            <a:off x="637519" y="266574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Callout_1_LabelBox"/>
          <p:cNvSpPr/>
          <p:nvPr/>
        </p:nvSpPr>
        <p:spPr>
          <a:xfrm>
            <a:off x="916411" y="2679460"/>
            <a:ext cx="1376048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llout_1_Label"/>
          <p:cNvSpPr txBox="1"/>
          <p:nvPr/>
        </p:nvSpPr>
        <p:spPr>
          <a:xfrm>
            <a:off x="971275" y="2679460"/>
            <a:ext cx="1266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Cable and prepared end</a:t>
            </a:r>
          </a:p>
        </p:txBody>
      </p:sp>
      <p:cxnSp>
        <p:nvCxnSpPr>
          <p:cNvPr id="15" name="Callout_2_Leader"/>
          <p:cNvCxnSpPr/>
          <p:nvPr/>
        </p:nvCxnSpPr>
        <p:spPr>
          <a:xfrm flipH="1" flipV="1">
            <a:off x="4114780" y="4340734"/>
            <a:ext cx="2862686" cy="1463174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llout_2_Anchor"/>
          <p:cNvSpPr/>
          <p:nvPr/>
        </p:nvSpPr>
        <p:spPr>
          <a:xfrm>
            <a:off x="4082776" y="4308730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llout_2_Marker"/>
          <p:cNvSpPr/>
          <p:nvPr/>
        </p:nvSpPr>
        <p:spPr>
          <a:xfrm>
            <a:off x="6854022" y="568046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Callout_2_LabelBox"/>
          <p:cNvSpPr/>
          <p:nvPr/>
        </p:nvSpPr>
        <p:spPr>
          <a:xfrm>
            <a:off x="5142352" y="5694180"/>
            <a:ext cx="1679666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llout_2_Label"/>
          <p:cNvSpPr txBox="1"/>
          <p:nvPr/>
        </p:nvSpPr>
        <p:spPr>
          <a:xfrm>
            <a:off x="5197216" y="5694180"/>
            <a:ext cx="156993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Termination and identification</a:t>
            </a:r>
          </a:p>
        </p:txBody>
      </p:sp>
      <p:cxnSp>
        <p:nvCxnSpPr>
          <p:cNvPr id="20" name="Callout_3_Leader"/>
          <p:cNvCxnSpPr/>
          <p:nvPr/>
        </p:nvCxnSpPr>
        <p:spPr>
          <a:xfrm flipH="1">
            <a:off x="6102105" y="2883398"/>
            <a:ext cx="365811" cy="1129207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llout_3_Anchor"/>
          <p:cNvSpPr/>
          <p:nvPr/>
        </p:nvSpPr>
        <p:spPr>
          <a:xfrm>
            <a:off x="6070101" y="3980601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llout_3_Marker"/>
          <p:cNvSpPr/>
          <p:nvPr/>
        </p:nvSpPr>
        <p:spPr>
          <a:xfrm>
            <a:off x="6344472" y="275995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Callout_3_LabelBox"/>
          <p:cNvSpPr/>
          <p:nvPr/>
        </p:nvSpPr>
        <p:spPr>
          <a:xfrm>
            <a:off x="4474563" y="2773670"/>
            <a:ext cx="1837905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llout_3_Label"/>
          <p:cNvSpPr txBox="1"/>
          <p:nvPr/>
        </p:nvSpPr>
        <p:spPr>
          <a:xfrm>
            <a:off x="4529427" y="2773670"/>
            <a:ext cx="172817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Inspection record and packaging</a:t>
            </a:r>
          </a:p>
        </p:txBody>
      </p:sp>
      <p:sp>
        <p:nvSpPr>
          <p:cNvPr id="25" name="Legend_Box"/>
          <p:cNvSpPr/>
          <p:nvPr/>
        </p:nvSpPr>
        <p:spPr>
          <a:xfrm>
            <a:off x="4796028" y="1883664"/>
            <a:ext cx="2395728" cy="429768"/>
          </a:xfrm>
          <a:prstGeom prst="rect">
            <a:avLst/>
          </a:prstGeom>
          <a:solidFill>
            <a:srgbClr val="FFFFFF">
              <a:alpha val="92000"/>
            </a:srgbClr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gend_Swatch_1"/>
          <p:cNvSpPr/>
          <p:nvPr/>
        </p:nvSpPr>
        <p:spPr>
          <a:xfrm>
            <a:off x="4850892" y="1965960"/>
            <a:ext cx="201168" cy="64008"/>
          </a:xfrm>
          <a:prstGeom prst="rect">
            <a:avLst/>
          </a:prstGeom>
          <a:solidFill>
            <a:srgbClr val="1C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gend_Text_1"/>
          <p:cNvSpPr txBox="1"/>
          <p:nvPr/>
        </p:nvSpPr>
        <p:spPr>
          <a:xfrm>
            <a:off x="5125212" y="1920240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Power conductors</a:t>
            </a:r>
          </a:p>
        </p:txBody>
      </p:sp>
      <p:sp>
        <p:nvSpPr>
          <p:cNvPr id="28" name="Legend_Note"/>
          <p:cNvSpPr txBox="1"/>
          <p:nvPr/>
        </p:nvSpPr>
        <p:spPr>
          <a:xfrm>
            <a:off x="4850892" y="2093976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00" b="0">
                <a:solidFill>
                  <a:srgbClr val="5B6670"/>
                </a:solidFill>
                <a:latin typeface="Arial"/>
              </a:rPr>
              <a:t>Highlight colors are for presentation only and do not indicate conductor identification.</a:t>
            </a:r>
          </a:p>
        </p:txBody>
      </p:sp>
      <p:sp>
        <p:nvSpPr>
          <p:cNvPr id="29" name="Section_Label"/>
          <p:cNvSpPr txBox="1"/>
          <p:nvPr/>
        </p:nvSpPr>
        <p:spPr>
          <a:xfrm>
            <a:off x="457200" y="66751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APPLICATIONS TO EVALUATE</a:t>
            </a:r>
          </a:p>
        </p:txBody>
      </p:sp>
      <p:sp>
        <p:nvSpPr>
          <p:cNvPr id="30" name="Section_Rule"/>
          <p:cNvSpPr/>
          <p:nvPr/>
        </p:nvSpPr>
        <p:spPr>
          <a:xfrm>
            <a:off x="457200" y="6894576"/>
            <a:ext cx="6858000" cy="9144"/>
          </a:xfrm>
          <a:prstGeom prst="rect">
            <a:avLst/>
          </a:prstGeom>
          <a:solidFill>
            <a:srgbClr val="D5D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tement_1_Marker"/>
          <p:cNvSpPr/>
          <p:nvPr/>
        </p:nvSpPr>
        <p:spPr>
          <a:xfrm>
            <a:off x="45720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2" name="Statement_1_Title"/>
          <p:cNvSpPr txBox="1"/>
          <p:nvPr/>
        </p:nvSpPr>
        <p:spPr>
          <a:xfrm>
            <a:off x="76809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Cable and prepared end</a:t>
            </a:r>
          </a:p>
        </p:txBody>
      </p:sp>
      <p:sp>
        <p:nvSpPr>
          <p:cNvPr id="33" name="Statement_1_Text"/>
          <p:cNvSpPr txBox="1"/>
          <p:nvPr/>
        </p:nvSpPr>
        <p:spPr>
          <a:xfrm>
            <a:off x="45720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Cable specification and preparation steps documented for one representative assembly, including strip lengths and tolerances.</a:t>
            </a:r>
          </a:p>
        </p:txBody>
      </p:sp>
      <p:sp>
        <p:nvSpPr>
          <p:cNvPr id="34" name="Statement_2_Marker"/>
          <p:cNvSpPr/>
          <p:nvPr/>
        </p:nvSpPr>
        <p:spPr>
          <a:xfrm>
            <a:off x="280416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5" name="Statement_2_Title"/>
          <p:cNvSpPr txBox="1"/>
          <p:nvPr/>
        </p:nvSpPr>
        <p:spPr>
          <a:xfrm>
            <a:off x="311505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Termination and identification</a:t>
            </a:r>
          </a:p>
        </p:txBody>
      </p:sp>
      <p:sp>
        <p:nvSpPr>
          <p:cNvPr id="36" name="Statement_2_Text"/>
          <p:cNvSpPr txBox="1"/>
          <p:nvPr/>
        </p:nvSpPr>
        <p:spPr>
          <a:xfrm>
            <a:off x="280416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Lug selection, crimping tools and sleeve marking agreed per drawing and termination standard, with first-article review.</a:t>
            </a:r>
          </a:p>
        </p:txBody>
      </p:sp>
      <p:sp>
        <p:nvSpPr>
          <p:cNvPr id="37" name="Statement_3_Marker"/>
          <p:cNvSpPr/>
          <p:nvPr/>
        </p:nvSpPr>
        <p:spPr>
          <a:xfrm>
            <a:off x="515112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8" name="Statement_3_Title"/>
          <p:cNvSpPr txBox="1"/>
          <p:nvPr/>
        </p:nvSpPr>
        <p:spPr>
          <a:xfrm>
            <a:off x="546201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Inspection record and packaging</a:t>
            </a:r>
          </a:p>
        </p:txBody>
      </p:sp>
      <p:sp>
        <p:nvSpPr>
          <p:cNvPr id="39" name="Statement_3_Text"/>
          <p:cNvSpPr txBox="1"/>
          <p:nvPr/>
        </p:nvSpPr>
        <p:spPr>
          <a:xfrm>
            <a:off x="515112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Inspection and test record, packaging and labeling defined for each shipment, and responsibility assigned for each step.</a:t>
            </a:r>
          </a:p>
        </p:txBody>
      </p:sp>
      <p:sp>
        <p:nvSpPr>
          <p:cNvPr id="40" name="Established_Capability"/>
          <p:cNvSpPr txBox="1"/>
          <p:nvPr/>
        </p:nvSpPr>
        <p:spPr>
          <a:xfrm>
            <a:off x="457200" y="8275320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1F2A33"/>
                </a:solidFill>
                <a:latin typeface="Arial"/>
              </a:rPr>
              <a:t>Established: Southwire wire and cable manufacturing and supply.</a:t>
            </a:r>
          </a:p>
        </p:txBody>
      </p:sp>
      <p:sp>
        <p:nvSpPr>
          <p:cNvPr id="41" name="Proposed_Scope"/>
          <p:cNvSpPr txBox="1"/>
          <p:nvPr/>
        </p:nvSpPr>
        <p:spPr>
          <a:xfrm>
            <a:off x="457200" y="8439912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For evaluation: the prepared kits, cable packages and assemblies shown are application concepts, not qualified Southwire products.</a:t>
            </a:r>
          </a:p>
        </p:txBody>
      </p:sp>
      <p:sp>
        <p:nvSpPr>
          <p:cNvPr id="42" name="Disclaimer"/>
          <p:cNvSpPr txBox="1"/>
          <p:nvPr/>
        </p:nvSpPr>
        <p:spPr>
          <a:xfrm>
            <a:off x="457200" y="86410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50" b="0">
                <a:solidFill>
                  <a:srgbClr val="5B6670"/>
                </a:solidFill>
                <a:latin typeface="Arial"/>
              </a:rPr>
              <a:t>Illustrative model. Ratings, cable sizes, clearances and termination selections are subject to application engineering. No code compliance, engineering approval or certification is implied.</a:t>
            </a:r>
          </a:p>
        </p:txBody>
      </p:sp>
      <p:sp>
        <p:nvSpPr>
          <p:cNvPr id="43" name="NextStep_Box"/>
          <p:cNvSpPr/>
          <p:nvPr/>
        </p:nvSpPr>
        <p:spPr>
          <a:xfrm>
            <a:off x="457200" y="9052560"/>
            <a:ext cx="4709160" cy="713232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extStep_Bar"/>
          <p:cNvSpPr/>
          <p:nvPr/>
        </p:nvSpPr>
        <p:spPr>
          <a:xfrm>
            <a:off x="457200" y="9052560"/>
            <a:ext cx="45720" cy="713232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NextStep_Label"/>
          <p:cNvSpPr txBox="1"/>
          <p:nvPr/>
        </p:nvSpPr>
        <p:spPr>
          <a:xfrm>
            <a:off x="603504" y="9098280"/>
            <a:ext cx="4480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PROPOSED NEXT STEP</a:t>
            </a:r>
          </a:p>
        </p:txBody>
      </p:sp>
      <p:sp>
        <p:nvSpPr>
          <p:cNvPr id="46" name="NextStep_Text"/>
          <p:cNvSpPr txBox="1"/>
          <p:nvPr/>
        </p:nvSpPr>
        <p:spPr>
          <a:xfrm>
            <a:off x="603504" y="9262872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Compare specifications, capacity and responsibilities for one representative assembly.</a:t>
            </a:r>
          </a:p>
        </p:txBody>
      </p:sp>
      <p:sp>
        <p:nvSpPr>
          <p:cNvPr id="47" name="Contact_Name"/>
          <p:cNvSpPr txBox="1"/>
          <p:nvPr/>
        </p:nvSpPr>
        <p:spPr>
          <a:xfrm>
            <a:off x="5349240" y="90799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Stephan Hardt</a:t>
            </a:r>
          </a:p>
        </p:txBody>
      </p:sp>
      <p:sp>
        <p:nvSpPr>
          <p:cNvPr id="48" name="Contact_Title"/>
          <p:cNvSpPr txBox="1"/>
          <p:nvPr/>
        </p:nvSpPr>
        <p:spPr>
          <a:xfrm>
            <a:off x="5349240" y="9262872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Director, Power Generation Solutions, Southwire</a:t>
            </a:r>
          </a:p>
        </p:txBody>
      </p:sp>
      <p:sp>
        <p:nvSpPr>
          <p:cNvPr id="49" name="Contact_Details"/>
          <p:cNvSpPr txBox="1"/>
          <p:nvPr/>
        </p:nvSpPr>
        <p:spPr>
          <a:xfrm>
            <a:off x="5349240" y="9537192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5B6670"/>
                </a:solidFill>
                <a:latin typeface="Arial"/>
              </a:rPr>
              <a:t>[Phone]   [Email]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