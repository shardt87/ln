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View: SIEMENS_SkidBoundaries (master .blend). Discussion concept for Siemens Industry; no agreement, pilot or purchase is implied. Replace the logo placeholder and the [Phone]/[Email] placeholders before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ogo_Placeholder"/>
          <p:cNvSpPr/>
          <p:nvPr/>
        </p:nvSpPr>
        <p:spPr>
          <a:xfrm>
            <a:off x="457200" y="347472"/>
            <a:ext cx="1600200" cy="438912"/>
          </a:xfrm>
          <a:prstGeom prst="rect">
            <a:avLst/>
          </a:prstGeom>
          <a:noFill/>
          <a:ln w="7620">
            <a:solidFill>
              <a:srgbClr val="9AA3A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_Placeholder_Text"/>
          <p:cNvSpPr txBox="1"/>
          <p:nvPr/>
        </p:nvSpPr>
        <p:spPr>
          <a:xfrm>
            <a:off x="457200" y="347472"/>
            <a:ext cx="1600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700" b="0">
                <a:solidFill>
                  <a:srgbClr val="5B6670"/>
                </a:solidFill>
                <a:latin typeface="Arial"/>
              </a:rPr>
              <a:t>SOUTHWIRE LOGO</a:t>
            </a:r>
          </a:p>
          <a:p>
            <a:pPr algn="ctr">
              <a:lnSpc>
                <a:spcPct val="108000"/>
              </a:lnSpc>
            </a:pPr>
            <a:r>
              <a:rPr sz="700" b="0">
                <a:solidFill>
                  <a:srgbClr val="5B6670"/>
                </a:solidFill>
                <a:latin typeface="Arial"/>
              </a:rPr>
              <a:t>placeholder - insert approved artwork</a:t>
            </a:r>
          </a:p>
        </p:txBody>
      </p:sp>
      <p:sp>
        <p:nvSpPr>
          <p:cNvPr id="4" name="Business_Unit"/>
          <p:cNvSpPr txBox="1"/>
          <p:nvPr/>
        </p:nvSpPr>
        <p:spPr>
          <a:xfrm>
            <a:off x="2240280" y="3657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B5121B"/>
                </a:solidFill>
                <a:latin typeface="Arial"/>
              </a:rPr>
              <a:t>POWER GENERATION SOLUTIONS</a:t>
            </a:r>
          </a:p>
        </p:txBody>
      </p:sp>
      <p:sp>
        <p:nvSpPr>
          <p:cNvPr id="5" name="Discussion_Line"/>
          <p:cNvSpPr txBox="1"/>
          <p:nvPr/>
        </p:nvSpPr>
        <p:spPr>
          <a:xfrm>
            <a:off x="4480560" y="365760"/>
            <a:ext cx="28346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5B6670"/>
                </a:solidFill>
                <a:latin typeface="Arial"/>
              </a:rPr>
              <a:t>Discussion with Siemens Industry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457200" y="896112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50" b="1">
                <a:solidFill>
                  <a:srgbClr val="1F2A33"/>
                </a:solidFill>
                <a:latin typeface="Arial"/>
              </a:rPr>
              <a:t>Defining interconnections for modular electrical skids</a:t>
            </a:r>
          </a:p>
        </p:txBody>
      </p:sp>
      <p:sp>
        <p:nvSpPr>
          <p:cNvPr id="7" name="Accent_Rule"/>
          <p:cNvSpPr/>
          <p:nvPr/>
        </p:nvSpPr>
        <p:spPr>
          <a:xfrm>
            <a:off x="457200" y="1389888"/>
            <a:ext cx="822960" cy="32004"/>
          </a:xfrm>
          <a:prstGeom prst="rect">
            <a:avLst/>
          </a:prstGeom>
          <a:solidFill>
            <a:srgbClr val="B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upporting_Sentence"/>
          <p:cNvSpPr txBox="1"/>
          <p:nvPr/>
        </p:nvSpPr>
        <p:spPr>
          <a:xfrm>
            <a:off x="457200" y="1481328"/>
            <a:ext cx="6858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1F2A33"/>
                </a:solidFill>
                <a:latin typeface="Arial"/>
              </a:rPr>
              <a:t>Clarify which connections are completed in the factory and which are made after the sections are placed onsite.</a:t>
            </a:r>
          </a:p>
        </p:txBody>
      </p:sp>
      <p:pic>
        <p:nvPicPr>
          <p:cNvPr id="9" name="Render_SIEMENS_SkidBoundaries" descr="SIEMENS_SkidBounda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" y="1847088"/>
            <a:ext cx="6793992" cy="4710501"/>
          </a:xfrm>
          <a:prstGeom prst="rect">
            <a:avLst/>
          </a:prstGeom>
        </p:spPr>
      </p:pic>
      <p:cxnSp>
        <p:nvCxnSpPr>
          <p:cNvPr id="10" name="Callout_1_Leader"/>
          <p:cNvCxnSpPr/>
          <p:nvPr/>
        </p:nvCxnSpPr>
        <p:spPr>
          <a:xfrm>
            <a:off x="1304483" y="2789188"/>
            <a:ext cx="2508862" cy="655716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llout_1_Anchor"/>
          <p:cNvSpPr/>
          <p:nvPr/>
        </p:nvSpPr>
        <p:spPr>
          <a:xfrm>
            <a:off x="3781341" y="3412900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llout_1_Marker"/>
          <p:cNvSpPr/>
          <p:nvPr/>
        </p:nvSpPr>
        <p:spPr>
          <a:xfrm>
            <a:off x="1181039" y="2665744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Callout_1_LabelBox"/>
          <p:cNvSpPr/>
          <p:nvPr/>
        </p:nvSpPr>
        <p:spPr>
          <a:xfrm>
            <a:off x="1459931" y="2679460"/>
            <a:ext cx="1675938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llout_1_Label"/>
          <p:cNvSpPr txBox="1"/>
          <p:nvPr/>
        </p:nvSpPr>
        <p:spPr>
          <a:xfrm>
            <a:off x="1514795" y="2679460"/>
            <a:ext cx="156621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Factory-installed connections</a:t>
            </a:r>
          </a:p>
        </p:txBody>
      </p:sp>
      <p:cxnSp>
        <p:nvCxnSpPr>
          <p:cNvPr id="15" name="Callout_2_Leader"/>
          <p:cNvCxnSpPr/>
          <p:nvPr/>
        </p:nvCxnSpPr>
        <p:spPr>
          <a:xfrm flipH="1">
            <a:off x="3488271" y="2318138"/>
            <a:ext cx="58229" cy="1595920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llout_2_Anchor"/>
          <p:cNvSpPr/>
          <p:nvPr/>
        </p:nvSpPr>
        <p:spPr>
          <a:xfrm>
            <a:off x="3456267" y="3882054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llout_2_Marker"/>
          <p:cNvSpPr/>
          <p:nvPr/>
        </p:nvSpPr>
        <p:spPr>
          <a:xfrm>
            <a:off x="3423056" y="2194694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Callout_2_LabelBox"/>
          <p:cNvSpPr/>
          <p:nvPr/>
        </p:nvSpPr>
        <p:spPr>
          <a:xfrm>
            <a:off x="3701948" y="2208410"/>
            <a:ext cx="1387653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llout_2_Label"/>
          <p:cNvSpPr txBox="1"/>
          <p:nvPr/>
        </p:nvSpPr>
        <p:spPr>
          <a:xfrm>
            <a:off x="3756812" y="2208410"/>
            <a:ext cx="1277925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Shipping-split boundary</a:t>
            </a:r>
          </a:p>
        </p:txBody>
      </p:sp>
      <p:cxnSp>
        <p:nvCxnSpPr>
          <p:cNvPr id="20" name="Callout_3_Leader"/>
          <p:cNvCxnSpPr/>
          <p:nvPr/>
        </p:nvCxnSpPr>
        <p:spPr>
          <a:xfrm flipH="1">
            <a:off x="6690222" y="2883398"/>
            <a:ext cx="287244" cy="1481719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llout_3_Anchor"/>
          <p:cNvSpPr/>
          <p:nvPr/>
        </p:nvSpPr>
        <p:spPr>
          <a:xfrm>
            <a:off x="6658218" y="4333113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llout_3_Marker"/>
          <p:cNvSpPr/>
          <p:nvPr/>
        </p:nvSpPr>
        <p:spPr>
          <a:xfrm>
            <a:off x="6854022" y="2759954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Callout_3_LabelBox"/>
          <p:cNvSpPr/>
          <p:nvPr/>
        </p:nvSpPr>
        <p:spPr>
          <a:xfrm>
            <a:off x="5092222" y="2773670"/>
            <a:ext cx="1729795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llout_3_Label"/>
          <p:cNvSpPr txBox="1"/>
          <p:nvPr/>
        </p:nvSpPr>
        <p:spPr>
          <a:xfrm>
            <a:off x="5147086" y="2773670"/>
            <a:ext cx="1620067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Site cable entry and grounding</a:t>
            </a:r>
          </a:p>
        </p:txBody>
      </p:sp>
      <p:sp>
        <p:nvSpPr>
          <p:cNvPr id="25" name="Legend_Box"/>
          <p:cNvSpPr/>
          <p:nvPr/>
        </p:nvSpPr>
        <p:spPr>
          <a:xfrm>
            <a:off x="525780" y="5716341"/>
            <a:ext cx="2395728" cy="740664"/>
          </a:xfrm>
          <a:prstGeom prst="rect">
            <a:avLst/>
          </a:prstGeom>
          <a:solidFill>
            <a:srgbClr val="FFFFFF">
              <a:alpha val="92000"/>
            </a:srgbClr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egend_Swatch_1"/>
          <p:cNvSpPr/>
          <p:nvPr/>
        </p:nvSpPr>
        <p:spPr>
          <a:xfrm>
            <a:off x="580644" y="5798637"/>
            <a:ext cx="201168" cy="64008"/>
          </a:xfrm>
          <a:prstGeom prst="rect">
            <a:avLst/>
          </a:prstGeom>
          <a:solidFill>
            <a:srgbClr val="1C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egend_Text_1"/>
          <p:cNvSpPr txBox="1"/>
          <p:nvPr/>
        </p:nvSpPr>
        <p:spPr>
          <a:xfrm>
            <a:off x="854964" y="5752917"/>
            <a:ext cx="2011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1F2A33"/>
                </a:solidFill>
                <a:latin typeface="Arial"/>
              </a:rPr>
              <a:t>Power conductors</a:t>
            </a:r>
          </a:p>
        </p:txBody>
      </p:sp>
      <p:sp>
        <p:nvSpPr>
          <p:cNvPr id="28" name="Legend_Swatch_2"/>
          <p:cNvSpPr/>
          <p:nvPr/>
        </p:nvSpPr>
        <p:spPr>
          <a:xfrm>
            <a:off x="580644" y="5954085"/>
            <a:ext cx="201168" cy="64008"/>
          </a:xfrm>
          <a:prstGeom prst="rect">
            <a:avLst/>
          </a:prstGeom>
          <a:solidFill>
            <a:srgbClr val="D8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egend_Text_2"/>
          <p:cNvSpPr txBox="1"/>
          <p:nvPr/>
        </p:nvSpPr>
        <p:spPr>
          <a:xfrm>
            <a:off x="854964" y="5908365"/>
            <a:ext cx="2011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1F2A33"/>
                </a:solidFill>
                <a:latin typeface="Arial"/>
              </a:rPr>
              <a:t>Completed onsite (presentation amber)</a:t>
            </a:r>
          </a:p>
        </p:txBody>
      </p:sp>
      <p:sp>
        <p:nvSpPr>
          <p:cNvPr id="30" name="Legend_Swatch_3"/>
          <p:cNvSpPr/>
          <p:nvPr/>
        </p:nvSpPr>
        <p:spPr>
          <a:xfrm>
            <a:off x="580644" y="6109533"/>
            <a:ext cx="201168" cy="64008"/>
          </a:xfrm>
          <a:prstGeom prst="rect">
            <a:avLst/>
          </a:prstGeom>
          <a:solidFill>
            <a:srgbClr val="3E8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egend_Text_3"/>
          <p:cNvSpPr txBox="1"/>
          <p:nvPr/>
        </p:nvSpPr>
        <p:spPr>
          <a:xfrm>
            <a:off x="854964" y="6063813"/>
            <a:ext cx="2011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1F2A33"/>
                </a:solidFill>
                <a:latin typeface="Arial"/>
              </a:rPr>
              <a:t>Grounding / bonding</a:t>
            </a:r>
          </a:p>
        </p:txBody>
      </p:sp>
      <p:sp>
        <p:nvSpPr>
          <p:cNvPr id="32" name="Legend_Note"/>
          <p:cNvSpPr txBox="1"/>
          <p:nvPr/>
        </p:nvSpPr>
        <p:spPr>
          <a:xfrm>
            <a:off x="580644" y="6237549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00" b="0">
                <a:solidFill>
                  <a:srgbClr val="5B6670"/>
                </a:solidFill>
                <a:latin typeface="Arial"/>
              </a:rPr>
              <a:t>Highlight colors are for presentation only and do not indicate conductor identification.</a:t>
            </a:r>
          </a:p>
        </p:txBody>
      </p:sp>
      <p:sp>
        <p:nvSpPr>
          <p:cNvPr id="33" name="Section_Label"/>
          <p:cNvSpPr txBox="1"/>
          <p:nvPr/>
        </p:nvSpPr>
        <p:spPr>
          <a:xfrm>
            <a:off x="457200" y="667512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B5121B"/>
                </a:solidFill>
                <a:latin typeface="Arial"/>
              </a:rPr>
              <a:t>APPLICATIONS TO EVALUATE</a:t>
            </a:r>
          </a:p>
        </p:txBody>
      </p:sp>
      <p:sp>
        <p:nvSpPr>
          <p:cNvPr id="34" name="Section_Rule"/>
          <p:cNvSpPr/>
          <p:nvPr/>
        </p:nvSpPr>
        <p:spPr>
          <a:xfrm>
            <a:off x="457200" y="6894576"/>
            <a:ext cx="6858000" cy="9144"/>
          </a:xfrm>
          <a:prstGeom prst="rect">
            <a:avLst/>
          </a:prstGeom>
          <a:solidFill>
            <a:srgbClr val="D5D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tement_1_Marker"/>
          <p:cNvSpPr/>
          <p:nvPr/>
        </p:nvSpPr>
        <p:spPr>
          <a:xfrm>
            <a:off x="45720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6" name="Statement_1_Title"/>
          <p:cNvSpPr txBox="1"/>
          <p:nvPr/>
        </p:nvSpPr>
        <p:spPr>
          <a:xfrm>
            <a:off x="76809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Factory-installed connections</a:t>
            </a:r>
          </a:p>
        </p:txBody>
      </p:sp>
      <p:sp>
        <p:nvSpPr>
          <p:cNvPr id="37" name="Statement_1_Text"/>
          <p:cNvSpPr txBox="1"/>
          <p:nvPr/>
        </p:nvSpPr>
        <p:spPr>
          <a:xfrm>
            <a:off x="45720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Cables routed and terminated within each section and checked before shipment, per the agreed plan.</a:t>
            </a:r>
          </a:p>
        </p:txBody>
      </p:sp>
      <p:sp>
        <p:nvSpPr>
          <p:cNvPr id="38" name="Statement_2_Marker"/>
          <p:cNvSpPr/>
          <p:nvPr/>
        </p:nvSpPr>
        <p:spPr>
          <a:xfrm>
            <a:off x="280416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9" name="Statement_2_Title"/>
          <p:cNvSpPr txBox="1"/>
          <p:nvPr/>
        </p:nvSpPr>
        <p:spPr>
          <a:xfrm>
            <a:off x="311505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Shipping-split boundary</a:t>
            </a:r>
          </a:p>
        </p:txBody>
      </p:sp>
      <p:sp>
        <p:nvSpPr>
          <p:cNvPr id="40" name="Statement_2_Text"/>
          <p:cNvSpPr txBox="1"/>
          <p:nvPr/>
        </p:nvSpPr>
        <p:spPr>
          <a:xfrm>
            <a:off x="280416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Split-crossing cables prepared, identified and staged to match the reconnection sequence.</a:t>
            </a:r>
          </a:p>
        </p:txBody>
      </p:sp>
      <p:sp>
        <p:nvSpPr>
          <p:cNvPr id="41" name="Statement_3_Marker"/>
          <p:cNvSpPr/>
          <p:nvPr/>
        </p:nvSpPr>
        <p:spPr>
          <a:xfrm>
            <a:off x="515112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2" name="Statement_3_Title"/>
          <p:cNvSpPr txBox="1"/>
          <p:nvPr/>
        </p:nvSpPr>
        <p:spPr>
          <a:xfrm>
            <a:off x="546201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Site cable entry and grounding</a:t>
            </a:r>
          </a:p>
        </p:txBody>
      </p:sp>
      <p:sp>
        <p:nvSpPr>
          <p:cNvPr id="43" name="Statement_3_Text"/>
          <p:cNvSpPr txBox="1"/>
          <p:nvPr/>
        </p:nvSpPr>
        <p:spPr>
          <a:xfrm>
            <a:off x="515112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External feeders, cable transits and grounding pads defined as a clear site interface, with ownership agreed for each item.</a:t>
            </a:r>
          </a:p>
        </p:txBody>
      </p:sp>
      <p:sp>
        <p:nvSpPr>
          <p:cNvPr id="44" name="Established_Capability"/>
          <p:cNvSpPr txBox="1"/>
          <p:nvPr/>
        </p:nvSpPr>
        <p:spPr>
          <a:xfrm>
            <a:off x="457200" y="8275320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1F2A33"/>
                </a:solidFill>
                <a:latin typeface="Arial"/>
              </a:rPr>
              <a:t>Established: Southwire wire and cable manufacturing and supply.</a:t>
            </a:r>
          </a:p>
        </p:txBody>
      </p:sp>
      <p:sp>
        <p:nvSpPr>
          <p:cNvPr id="45" name="Proposed_Scope"/>
          <p:cNvSpPr txBox="1"/>
          <p:nvPr/>
        </p:nvSpPr>
        <p:spPr>
          <a:xfrm>
            <a:off x="457200" y="8439912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1F2A33"/>
                </a:solidFill>
                <a:latin typeface="Arial"/>
              </a:rPr>
              <a:t>For evaluation: the prepared kits, cable packages and assemblies shown are application concepts, not qualified Southwire products.</a:t>
            </a:r>
          </a:p>
        </p:txBody>
      </p:sp>
      <p:sp>
        <p:nvSpPr>
          <p:cNvPr id="46" name="Disclaimer"/>
          <p:cNvSpPr txBox="1"/>
          <p:nvPr/>
        </p:nvSpPr>
        <p:spPr>
          <a:xfrm>
            <a:off x="457200" y="86410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50" b="0">
                <a:solidFill>
                  <a:srgbClr val="5B6670"/>
                </a:solidFill>
                <a:latin typeface="Arial"/>
              </a:rPr>
              <a:t>Illustrative model. Ratings, cable sizes, clearances and termination selections are subject to application engineering. No code compliance, engineering approval or certification is implied.</a:t>
            </a:r>
          </a:p>
        </p:txBody>
      </p:sp>
      <p:sp>
        <p:nvSpPr>
          <p:cNvPr id="47" name="NextStep_Box"/>
          <p:cNvSpPr/>
          <p:nvPr/>
        </p:nvSpPr>
        <p:spPr>
          <a:xfrm>
            <a:off x="457200" y="9052560"/>
            <a:ext cx="4709160" cy="713232"/>
          </a:xfrm>
          <a:prstGeom prst="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NextStep_Bar"/>
          <p:cNvSpPr/>
          <p:nvPr/>
        </p:nvSpPr>
        <p:spPr>
          <a:xfrm>
            <a:off x="457200" y="9052560"/>
            <a:ext cx="45720" cy="713232"/>
          </a:xfrm>
          <a:prstGeom prst="rect">
            <a:avLst/>
          </a:prstGeom>
          <a:solidFill>
            <a:srgbClr val="B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NextStep_Label"/>
          <p:cNvSpPr txBox="1"/>
          <p:nvPr/>
        </p:nvSpPr>
        <p:spPr>
          <a:xfrm>
            <a:off x="603504" y="9098280"/>
            <a:ext cx="4480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B5121B"/>
                </a:solidFill>
                <a:latin typeface="Arial"/>
              </a:rPr>
              <a:t>PROPOSED NEXT STEP</a:t>
            </a:r>
          </a:p>
        </p:txBody>
      </p:sp>
      <p:sp>
        <p:nvSpPr>
          <p:cNvPr id="50" name="NextStep_Text"/>
          <p:cNvSpPr txBox="1"/>
          <p:nvPr/>
        </p:nvSpPr>
        <p:spPr>
          <a:xfrm>
            <a:off x="603504" y="9262872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Review one skid interface and its installation sequence to identify which interconnections could be prepared in advance.</a:t>
            </a:r>
          </a:p>
        </p:txBody>
      </p:sp>
      <p:sp>
        <p:nvSpPr>
          <p:cNvPr id="51" name="Contact_Name"/>
          <p:cNvSpPr txBox="1"/>
          <p:nvPr/>
        </p:nvSpPr>
        <p:spPr>
          <a:xfrm>
            <a:off x="5349240" y="90799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Stephan Hardt</a:t>
            </a:r>
          </a:p>
        </p:txBody>
      </p:sp>
      <p:sp>
        <p:nvSpPr>
          <p:cNvPr id="52" name="Contact_Title"/>
          <p:cNvSpPr txBox="1"/>
          <p:nvPr/>
        </p:nvSpPr>
        <p:spPr>
          <a:xfrm>
            <a:off x="5349240" y="9262872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1F2A33"/>
                </a:solidFill>
                <a:latin typeface="Arial"/>
              </a:rPr>
              <a:t>Director, Power Generation Solutions, Southwire</a:t>
            </a:r>
          </a:p>
        </p:txBody>
      </p:sp>
      <p:sp>
        <p:nvSpPr>
          <p:cNvPr id="53" name="Contact_Details"/>
          <p:cNvSpPr txBox="1"/>
          <p:nvPr/>
        </p:nvSpPr>
        <p:spPr>
          <a:xfrm>
            <a:off x="5349240" y="9537192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5B6670"/>
                </a:solidFill>
                <a:latin typeface="Arial"/>
              </a:rPr>
              <a:t>[Phone]   [Email]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