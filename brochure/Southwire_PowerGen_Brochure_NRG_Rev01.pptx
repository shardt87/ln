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9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ide_hex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1488081"/>
          </a:xfrm>
          <a:prstGeom prst="rect">
            <a:avLst/>
          </a:prstGeom>
        </p:spPr>
      </p:pic>
      <p:pic>
        <p:nvPicPr>
          <p:cNvPr id="3" name="Image 1" descr="assets/wide_hex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69919"/>
            <a:ext cx="12192000" cy="1488081"/>
          </a:xfrm>
          <a:prstGeom prst="rect">
            <a:avLst/>
          </a:prstGeom>
        </p:spPr>
      </p:pic>
      <p:pic>
        <p:nvPicPr>
          <p:cNvPr id="4" name="Image 2" descr="assets/lockup_dark_key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752600"/>
            <a:ext cx="2362200" cy="506007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889000" y="2555748"/>
            <a:ext cx="10414000" cy="91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130"/>
              </a:lnSpc>
              <a:buNone/>
            </a:pPr>
            <a:r>
              <a:rPr lang="en-US" sz="3800" b="1" spc="5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ACCELERATING</a:t>
            </a:r>
            <a:endParaRPr lang="en-US" sz="3800" dirty="0"/>
          </a:p>
        </p:txBody>
      </p:sp>
      <p:sp>
        <p:nvSpPr>
          <p:cNvPr id="6" name="Text 1"/>
          <p:cNvSpPr/>
          <p:nvPr/>
        </p:nvSpPr>
        <p:spPr>
          <a:xfrm>
            <a:off x="889000" y="3165348"/>
            <a:ext cx="10414000" cy="91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5130"/>
              </a:lnSpc>
              <a:buNone/>
            </a:pPr>
            <a:r>
              <a:rPr lang="en-US" sz="3800" b="1" i="1" spc="55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POWER</a:t>
            </a:r>
            <a:endParaRPr lang="en-US" sz="3800" dirty="0"/>
          </a:p>
        </p:txBody>
      </p:sp>
      <p:sp>
        <p:nvSpPr>
          <p:cNvPr id="7" name="Shape 2"/>
          <p:cNvSpPr/>
          <p:nvPr/>
        </p:nvSpPr>
        <p:spPr>
          <a:xfrm>
            <a:off x="5359400" y="3937000"/>
            <a:ext cx="1473200" cy="0"/>
          </a:xfrm>
          <a:prstGeom prst="line">
            <a:avLst/>
          </a:prstGeom>
          <a:noFill/>
          <a:ln w="15240">
            <a:solidFill>
              <a:srgbClr val="C67A43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35000" y="4156583"/>
            <a:ext cx="10922000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Accelerating &amp; protecting power readiness across NRG's gas power generation buildout.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381000" y="4513199"/>
            <a:ext cx="11430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78"/>
              </a:lnSpc>
              <a:buNone/>
            </a:pPr>
            <a:r>
              <a:rPr lang="en-US" sz="650" spc="110" kern="0" dirty="0">
                <a:solidFill>
                  <a:srgbClr val="969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CYCLE  ·  SIMPLE CYCLE &amp; PEAKERS  ·  MODULAR POWER  ·  BLACK START  ·  COAL/GAS REPOWER  ·  GREENFIELD &amp; BROWNFIELD</a:t>
            </a:r>
            <a:endParaRPr lang="en-US" sz="650" dirty="0"/>
          </a:p>
        </p:txBody>
      </p:sp>
      <p:sp>
        <p:nvSpPr>
          <p:cNvPr id="10" name="Text 5"/>
          <p:cNvSpPr/>
          <p:nvPr/>
        </p:nvSpPr>
        <p:spPr>
          <a:xfrm>
            <a:off x="635000" y="5020691"/>
            <a:ext cx="10922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spc="2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SCHEDULE CERTAINTY THROUGH ENERGIZATION.</a:t>
            </a:r>
            <a:endParaRPr lang="en-US" sz="850" dirty="0"/>
          </a:p>
        </p:txBody>
      </p:sp>
      <p:sp>
        <p:nvSpPr>
          <p:cNvPr id="11" name="Text 6"/>
          <p:cNvSpPr/>
          <p:nvPr/>
        </p:nvSpPr>
        <p:spPr>
          <a:xfrm>
            <a:off x="635000" y="6024245"/>
            <a:ext cx="10922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9E9C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Director, Power Generation Solutions   |   www.southwire.com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831596"/>
            <a:ext cx="10160000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NRG's growth agenda creates three distinct</a:t>
            </a:r>
            <a:endParaRPr lang="en-US" sz="2600" dirty="0"/>
          </a:p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electrical-delivery environments &amp; power demand.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11200" y="2176272"/>
            <a:ext cx="3251200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2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GW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723900" y="2819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1200" y="2969768"/>
            <a:ext cx="32512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TEF PORTFOLIO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711200" y="3204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project operating; two targeting mid-2028. Not the entire portfolio under construction.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470400" y="2176272"/>
            <a:ext cx="3251200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2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 GW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4483100" y="2819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70400" y="2969768"/>
            <a:ext cx="32512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NEWBUILD DEVELOPMENT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470400" y="3204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Turbine and EPC access supports a development runway through 2032.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229600" y="2176272"/>
            <a:ext cx="3251200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20"/>
              </a:lnSpc>
              <a:buNone/>
            </a:pPr>
            <a:r>
              <a:rPr lang="en-US" sz="32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25.8 GW</a:t>
            </a:r>
            <a:endParaRPr lang="en-US" sz="3200" dirty="0"/>
          </a:p>
        </p:txBody>
      </p:sp>
      <p:sp>
        <p:nvSpPr>
          <p:cNvPr id="15" name="Shape 12"/>
          <p:cNvSpPr/>
          <p:nvPr/>
        </p:nvSpPr>
        <p:spPr>
          <a:xfrm>
            <a:off x="8242300" y="2819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0" y="2969768"/>
            <a:ext cx="32512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FLEET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229600" y="3204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Reported after the LS Power acquisition; ~1–2 GW of upgrades under evaluation.</a:t>
            </a:r>
            <a:endParaRPr lang="en-US" sz="950" dirty="0"/>
          </a:p>
        </p:txBody>
      </p:sp>
      <p:pic>
        <p:nvPicPr>
          <p:cNvPr id="18" name="Image 1" descr="assets/gate_comple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200" y="3860800"/>
            <a:ext cx="3149600" cy="177165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11200" y="4245737"/>
            <a:ext cx="6350000" cy="407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Specifications, capacity, metals hedging, releases, reels, package interfaces and</a:t>
            </a:r>
            <a:endParaRPr lang="en-US" sz="95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readiness still have to converge on COD.  Do not sum the figures — asset states overlap.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711200" y="5459476"/>
            <a:ext cx="3810000" cy="144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00" dirty="0">
                <a:solidFill>
                  <a:srgbClr val="969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NRG 2Q26, Aug. 4, 2026</a:t>
            </a:r>
            <a:endParaRPr lang="en-US" sz="600" dirty="0"/>
          </a:p>
        </p:txBody>
      </p:sp>
      <p:sp>
        <p:nvSpPr>
          <p:cNvPr id="21" name="Shape 17"/>
          <p:cNvSpPr/>
          <p:nvPr/>
        </p:nvSpPr>
        <p:spPr>
          <a:xfrm>
            <a:off x="0" y="5892800"/>
            <a:ext cx="12192000" cy="9652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22" name="Text 18"/>
          <p:cNvSpPr/>
          <p:nvPr/>
        </p:nvSpPr>
        <p:spPr>
          <a:xfrm>
            <a:off x="711200" y="6093968"/>
            <a:ext cx="7620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8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ASSET STATES. ONE REQUIREMENT.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711200" y="6308598"/>
            <a:ext cx="7620000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 schedule certainty through energization.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5" name="Text 21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6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ide_th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1200" y="4108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711200" y="604012"/>
            <a:ext cx="1066800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to power is an electrical execution problem</a:t>
            </a:r>
            <a:endParaRPr lang="en-US" sz="22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it is a cable-buying problem.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723900" y="1866900"/>
            <a:ext cx="152400" cy="0"/>
          </a:xfrm>
          <a:prstGeom prst="line">
            <a:avLst/>
          </a:prstGeom>
          <a:noFill/>
          <a:ln w="17780">
            <a:solidFill>
              <a:srgbClr val="9D4E2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90600" y="1794891"/>
            <a:ext cx="2413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Interfaces cross packages, zones, POI, contractors and turnover paths.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723900" y="2476500"/>
            <a:ext cx="152400" cy="0"/>
          </a:xfrm>
          <a:prstGeom prst="line">
            <a:avLst/>
          </a:prstGeom>
          <a:noFill/>
          <a:ln w="17780">
            <a:solidFill>
              <a:srgbClr val="9D4E2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90600" y="2404491"/>
            <a:ext cx="2413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material decisions return as handling, rework and commissioning exposure.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723900" y="3086100"/>
            <a:ext cx="152400" cy="0"/>
          </a:xfrm>
          <a:prstGeom prst="line">
            <a:avLst/>
          </a:prstGeom>
          <a:noFill/>
          <a:ln w="17780">
            <a:solidFill>
              <a:srgbClr val="9D4E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90600" y="3014091"/>
            <a:ext cx="2413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Managing the workstream as a system protects schedule better than isolated purchase-order optimization.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0" y="6350000"/>
            <a:ext cx="12192000" cy="5080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12" name="Text 9"/>
          <p:cNvSpPr/>
          <p:nvPr/>
        </p:nvSpPr>
        <p:spPr>
          <a:xfrm>
            <a:off x="711200" y="6538214"/>
            <a:ext cx="11176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plant-wide electrical-delivery partner — cable scope ready for the workface, not merely available at the warehouse.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7670800" y="423799"/>
            <a:ext cx="3810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   ·   03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RISKS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831596"/>
            <a:ext cx="10160000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execution risks can erode certainty</a:t>
            </a:r>
            <a:endParaRPr lang="en-US" sz="2600" dirty="0"/>
          </a:p>
          <a:p>
            <a:pPr algn="l"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between design and energization.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711200" y="2230120"/>
            <a:ext cx="32512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3900" y="2692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1200" y="2836291"/>
            <a:ext cx="32512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2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&amp; DEMAND PRESSURE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11200" y="3077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pulls, dense terminations and compressed turnover windows concentrate labor when flexibility is lowest.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470400" y="2230120"/>
            <a:ext cx="32512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4483100" y="2692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470400" y="2836291"/>
            <a:ext cx="32512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2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+ INSTALLATION FIT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470400" y="3077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Ratings, routes, reel lengths, accessories and releases must match the workface, not only the BOM — or material arrives right and installs wrong.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8229600" y="2230120"/>
            <a:ext cx="32512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00" b="1" spc="20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242300" y="2692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0" y="2836291"/>
            <a:ext cx="32512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2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 COORDINATION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29600" y="3077337"/>
            <a:ext cx="30734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Civil, electrical, OEM and contractor decisions can converge after routing and procurement choices are already locked, turning gaps into rework.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0" y="5892800"/>
            <a:ext cx="12192000" cy="9652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19" name="Text 16"/>
          <p:cNvSpPr/>
          <p:nvPr/>
        </p:nvSpPr>
        <p:spPr>
          <a:xfrm>
            <a:off x="711200" y="6086475"/>
            <a:ext cx="889000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8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 handoffs become schedule and commissioning exposure.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711200" y="6411722"/>
            <a:ext cx="8890000" cy="168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00" spc="160" kern="0" dirty="0">
                <a:solidFill>
                  <a:srgbClr val="969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AVAILABILITY   |   MATERIAL READINESS   |   DECISION TIMING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2" name="Text 19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ide_interi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1200" y="4362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711200" y="629412"/>
            <a:ext cx="10668000" cy="886460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1905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coordinated flow aligns decisions</a:t>
            </a:r>
            <a:endParaRPr lang="en-US" sz="22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planning through turnover.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11200" y="1451737"/>
            <a:ext cx="8890000" cy="407035"/>
          </a:xfrm>
          <a:prstGeom prst="rect">
            <a:avLst/>
          </a:prstGeom>
          <a:noFill/>
          <a:ln/>
          <a:effectLst>
            <a:outerShdw sx="100000" sy="100000" kx="0" ky="0" algn="bl" rotWithShape="0" blurRad="63500" dist="19050" dir="54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Southwire connects application support, material planning, sequenced logistics</a:t>
            </a:r>
            <a:endParaRPr lang="en-US" sz="95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field readiness — without changing project accountability.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0" y="5257800"/>
            <a:ext cx="12192000" cy="16002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7" name="Shape 4"/>
          <p:cNvSpPr/>
          <p:nvPr/>
        </p:nvSpPr>
        <p:spPr>
          <a:xfrm>
            <a:off x="1219200" y="5689600"/>
            <a:ext cx="9753600" cy="0"/>
          </a:xfrm>
          <a:prstGeom prst="line">
            <a:avLst/>
          </a:prstGeom>
          <a:noFill/>
          <a:ln w="12700">
            <a:solidFill>
              <a:srgbClr val="C67A4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79500" y="5549900"/>
            <a:ext cx="279400" cy="2794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9" name="Text 6"/>
          <p:cNvSpPr/>
          <p:nvPr/>
        </p:nvSpPr>
        <p:spPr>
          <a:xfrm>
            <a:off x="96520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26670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+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3030220" y="5549900"/>
            <a:ext cx="279400" cy="2794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2" name="Text 9"/>
          <p:cNvSpPr/>
          <p:nvPr/>
        </p:nvSpPr>
        <p:spPr>
          <a:xfrm>
            <a:off x="291592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221742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ALIGNMENT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4980940" y="5549900"/>
            <a:ext cx="279400" cy="2794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5" name="Text 12"/>
          <p:cNvSpPr/>
          <p:nvPr/>
        </p:nvSpPr>
        <p:spPr>
          <a:xfrm>
            <a:off x="486664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16814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+ REEL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6931660" y="5549900"/>
            <a:ext cx="279400" cy="2794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8" name="Text 15"/>
          <p:cNvSpPr/>
          <p:nvPr/>
        </p:nvSpPr>
        <p:spPr>
          <a:xfrm>
            <a:off x="681736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11886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+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8882380" y="5549900"/>
            <a:ext cx="279400" cy="2794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21" name="Text 18"/>
          <p:cNvSpPr/>
          <p:nvPr/>
        </p:nvSpPr>
        <p:spPr>
          <a:xfrm>
            <a:off x="876808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06958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READINESS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10833100" y="5549900"/>
            <a:ext cx="279400" cy="279400"/>
          </a:xfrm>
          <a:prstGeom prst="ellipse">
            <a:avLst/>
          </a:prstGeom>
          <a:solidFill>
            <a:srgbClr val="9D4E24"/>
          </a:solidFill>
          <a:ln/>
        </p:spPr>
      </p:sp>
      <p:sp>
        <p:nvSpPr>
          <p:cNvPr id="24" name="Text 21"/>
          <p:cNvSpPr/>
          <p:nvPr/>
        </p:nvSpPr>
        <p:spPr>
          <a:xfrm>
            <a:off x="10718800" y="5609717"/>
            <a:ext cx="508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83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020300" y="5929122"/>
            <a:ext cx="1905000" cy="295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SUPPORT +</a:t>
            </a:r>
            <a:endParaRPr lang="en-US" sz="7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700" b="1" spc="8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508000" y="6366891"/>
            <a:ext cx="11176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FIELD-ENGINEER WHAT IS UNIQUE. PREFABRICATE WHAT REPEATS.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8" name="Text 25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wide_is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1200" y="410845"/>
            <a:ext cx="508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 PROPOSITION</a:t>
            </a:r>
            <a:endParaRPr lang="en-US" sz="750" dirty="0"/>
          </a:p>
        </p:txBody>
      </p:sp>
      <p:sp>
        <p:nvSpPr>
          <p:cNvPr id="4" name="Text 1"/>
          <p:cNvSpPr/>
          <p:nvPr/>
        </p:nvSpPr>
        <p:spPr>
          <a:xfrm>
            <a:off x="711200" y="640842"/>
            <a:ext cx="762000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Southwire helps IPPs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711200" y="1072642"/>
            <a:ext cx="762000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time to power.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723900" y="1727200"/>
            <a:ext cx="1511300" cy="0"/>
          </a:xfrm>
          <a:prstGeom prst="line">
            <a:avLst/>
          </a:prstGeom>
          <a:noFill/>
          <a:ln w="15240">
            <a:solidFill>
              <a:srgbClr val="C67A4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2004060"/>
            <a:ext cx="34036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A3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transforming fragmented plant-wide cable procurement into a coordinated, workface-ready electrical delivery system — reducing schedule risk, installed effort, and commissioning exposure from planning through energization.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11200" y="64435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969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10718800" y="64435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27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1200" y="4108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EVIDENCE</a:t>
            </a:r>
            <a:endParaRPr lang="en-US" sz="750" dirty="0"/>
          </a:p>
        </p:txBody>
      </p:sp>
      <p:sp>
        <p:nvSpPr>
          <p:cNvPr id="3" name="Text 1"/>
          <p:cNvSpPr/>
          <p:nvPr/>
        </p:nvSpPr>
        <p:spPr>
          <a:xfrm>
            <a:off x="711200" y="604012"/>
            <a:ext cx="660400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experience indicates where</a:t>
            </a:r>
            <a:endParaRPr lang="en-US" sz="22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test — not what NRG will save.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11200" y="1641348"/>
            <a:ext cx="2540000" cy="91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3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4,400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2844800" y="1955800"/>
            <a:ext cx="508000" cy="0"/>
          </a:xfrm>
          <a:prstGeom prst="line">
            <a:avLst/>
          </a:prstGeom>
          <a:noFill/>
          <a:ln w="20320">
            <a:solidFill>
              <a:srgbClr val="C67A43"/>
            </a:solidFill>
            <a:prstDash val="solid"/>
            <a:tailEnd type="arrow"/>
          </a:ln>
        </p:spPr>
      </p:sp>
      <p:sp>
        <p:nvSpPr>
          <p:cNvPr id="6" name="Text 4"/>
          <p:cNvSpPr/>
          <p:nvPr/>
        </p:nvSpPr>
        <p:spPr>
          <a:xfrm>
            <a:off x="3606800" y="1641348"/>
            <a:ext cx="2540000" cy="91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130"/>
              </a:lnSpc>
              <a:buNone/>
            </a:pPr>
            <a:r>
              <a:rPr lang="en-US" sz="3800" b="1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~880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11200" y="2324913"/>
            <a:ext cx="2540000" cy="297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680" b="1" spc="100" kern="0" dirty="0">
                <a:solidFill>
                  <a:srgbClr val="B2B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OBSERVED FIELD HOURS</a:t>
            </a:r>
            <a:endParaRPr lang="en-US" sz="680" dirty="0"/>
          </a:p>
          <a:p>
            <a:pPr algn="l" indent="0" marL="0">
              <a:lnSpc>
                <a:spcPts val="1050"/>
              </a:lnSpc>
              <a:buNone/>
            </a:pPr>
            <a:r>
              <a:rPr lang="en-US" sz="680" b="1" spc="100" kern="0" dirty="0">
                <a:solidFill>
                  <a:srgbClr val="B2B6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SITE-BUILT BASELINE</a:t>
            </a:r>
            <a:endParaRPr lang="en-US" sz="680" dirty="0"/>
          </a:p>
        </p:txBody>
      </p:sp>
      <p:sp>
        <p:nvSpPr>
          <p:cNvPr id="8" name="Text 6"/>
          <p:cNvSpPr/>
          <p:nvPr/>
        </p:nvSpPr>
        <p:spPr>
          <a:xfrm>
            <a:off x="3606800" y="2324913"/>
            <a:ext cx="2794000" cy="297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680" b="1" spc="10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MODELED FIELD HOURS</a:t>
            </a:r>
            <a:endParaRPr lang="en-US" sz="680" dirty="0"/>
          </a:p>
          <a:p>
            <a:pPr algn="l" indent="0" marL="0">
              <a:lnSpc>
                <a:spcPts val="1050"/>
              </a:lnSpc>
              <a:buNone/>
            </a:pPr>
            <a:r>
              <a:rPr lang="en-US" sz="680" b="1" spc="10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FACTORY-BUILT ASSEMBLY</a:t>
            </a:r>
            <a:endParaRPr lang="en-US" sz="680" dirty="0"/>
          </a:p>
        </p:txBody>
      </p:sp>
      <p:sp>
        <p:nvSpPr>
          <p:cNvPr id="9" name="Text 7"/>
          <p:cNvSpPr/>
          <p:nvPr/>
        </p:nvSpPr>
        <p:spPr>
          <a:xfrm>
            <a:off x="711200" y="2785491"/>
            <a:ext cx="5334000" cy="370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69E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hours per electrical spine in one repetitive modular-generation scope.</a:t>
            </a:r>
            <a:endParaRPr lang="en-US" sz="85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969E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adjacent-market benchmark — not an NRG result.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11200" y="34334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4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SUGGESTS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711200" y="3661537"/>
            <a:ext cx="5080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Stable, repeatable interfaces may be candidates for offsite work.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11200" y="41954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4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DOES NOT PROVE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711200" y="4423537"/>
            <a:ext cx="50800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NRG savings, schedule reduction or critical-path removal.</a:t>
            </a:r>
            <a:endParaRPr lang="en-US" sz="950" dirty="0"/>
          </a:p>
        </p:txBody>
      </p:sp>
      <p:pic>
        <p:nvPicPr>
          <p:cNvPr id="14" name="Image 0" descr="assets/xray_feat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04000" y="1778000"/>
            <a:ext cx="5080000" cy="23177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731000" y="4229913"/>
            <a:ext cx="5080000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18"/>
              </a:lnSpc>
              <a:buNone/>
            </a:pPr>
            <a:r>
              <a:rPr lang="en-US" sz="680" b="1" spc="10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ROUTED MODEL — WHAT MAKES THE FACTORY-BUILT NUMBER POSSIBLE</a:t>
            </a:r>
            <a:endParaRPr lang="en-US" sz="680" dirty="0"/>
          </a:p>
        </p:txBody>
      </p:sp>
      <p:sp>
        <p:nvSpPr>
          <p:cNvPr id="16" name="Text 13"/>
          <p:cNvSpPr/>
          <p:nvPr/>
        </p:nvSpPr>
        <p:spPr>
          <a:xfrm>
            <a:off x="6731000" y="4461891"/>
            <a:ext cx="4953000" cy="3702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electrical system — trays, routes and cable planned</a:t>
            </a:r>
            <a:endParaRPr lang="en-US" sz="85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plant-wide, so repeatable runs can be built offsite.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731000" y="4900676"/>
            <a:ext cx="4953000" cy="144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10"/>
              </a:lnSpc>
              <a:buNone/>
            </a:pPr>
            <a:r>
              <a:rPr lang="en-US" sz="600" dirty="0">
                <a:solidFill>
                  <a:srgbClr val="8C98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CCGT tray &amp; cable x-ray · conceptual — not for construction</a:t>
            </a:r>
            <a:endParaRPr lang="en-US" sz="600" dirty="0"/>
          </a:p>
        </p:txBody>
      </p:sp>
      <p:sp>
        <p:nvSpPr>
          <p:cNvPr id="18" name="Text 15"/>
          <p:cNvSpPr/>
          <p:nvPr/>
        </p:nvSpPr>
        <p:spPr>
          <a:xfrm>
            <a:off x="711200" y="5541645"/>
            <a:ext cx="11176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REBUILD THE CASE WITH NRG SCOPE, LABOR RATES, SCHEDULE LOGIC AND ACCEPTANCE CRITERIA.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711200" y="5744845"/>
            <a:ext cx="11176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20" kern="0" dirty="0">
                <a:solidFill>
                  <a:srgbClr val="969E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PRESUMPTION THAT THE ANSWER IS PREFAB — OR THAT SOUTHWIRE BELONGS IN THE SOLUTION.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711200" y="64689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969B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1" name="Text 18"/>
          <p:cNvSpPr/>
          <p:nvPr/>
        </p:nvSpPr>
        <p:spPr>
          <a:xfrm>
            <a:off x="10718800" y="64689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ECONOMICS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819150"/>
            <a:ext cx="10160000" cy="984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5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is a small cost category with</a:t>
            </a:r>
            <a:endParaRPr lang="en-US" sz="25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5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outsized execution consequences.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711200" y="1673860"/>
            <a:ext cx="1041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owner lens is how electrical decisions influence COD readiness, installed effort, capital certainty</a:t>
            </a:r>
            <a:endParaRPr lang="en-US" sz="100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lifecycle continuity — not unit price alone.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11200" y="2332736"/>
            <a:ext cx="1524000" cy="38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23900" y="2692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810891"/>
            <a:ext cx="50038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 / REVENUE START &amp; ENERGY DELIVERED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11200" y="3026537"/>
            <a:ext cx="47498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visibility, delivered power, release timing and installation readiness can influence energization milestones.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477000" y="2332736"/>
            <a:ext cx="1524000" cy="38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89700" y="2692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77000" y="2810891"/>
            <a:ext cx="50038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INSTALLED COST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477000" y="3026537"/>
            <a:ext cx="47498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Routes, reels, cuts, pulls, congestion and rework often matter more than purchase price alone.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11200" y="3882136"/>
            <a:ext cx="1524000" cy="38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23900" y="42418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1200" y="4360291"/>
            <a:ext cx="50038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CERTAINTY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711200" y="4575937"/>
            <a:ext cx="47498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scope visibility supports commodity planning, material allocation and contingency discipline.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477000" y="3882136"/>
            <a:ext cx="1524000" cy="38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spc="15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489700" y="42418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77000" y="4360291"/>
            <a:ext cx="50038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 / LIFECYCLE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6477000" y="4575937"/>
            <a:ext cx="47498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 records, spares, condition screens and replacement planning support long-term continuity.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0" y="5994400"/>
            <a:ext cx="12192000" cy="8636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24" name="Text 21"/>
          <p:cNvSpPr/>
          <p:nvPr/>
        </p:nvSpPr>
        <p:spPr>
          <a:xfrm>
            <a:off x="711200" y="6220460"/>
            <a:ext cx="101600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b="1" spc="18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CAPEX SHARE. HIGH SCHEDULE AND COMMISSIONING LEVERAGE.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6" name="Text 23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6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PLANT-WIDE COVERAGE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793750"/>
            <a:ext cx="1016000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5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clusters map a routed 3×1 electrical reference model.</a:t>
            </a:r>
            <a:endParaRPr lang="en-US" sz="2500" dirty="0"/>
          </a:p>
        </p:txBody>
      </p:sp>
      <p:sp>
        <p:nvSpPr>
          <p:cNvPr id="6" name="Shape 3"/>
          <p:cNvSpPr/>
          <p:nvPr/>
        </p:nvSpPr>
        <p:spPr>
          <a:xfrm>
            <a:off x="723900" y="19558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11200" y="20234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+ SITE BACKBONE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11200" y="23218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Switchyard, GSU/grid tie and MV corridors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1200" y="27730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HV/EHV · MV · protection/control · fiber · grounding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4474633" y="19558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461933" y="20234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ISLAND + BOP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461933" y="23218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HRSG, turbine hall and GT inlet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461933" y="27730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MV/LV/VFD · I&amp;C · F&amp;G/ESD · CEMS · heat trace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8225367" y="19558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12667" y="20234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+ PACKAGED SYSTEMS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212667" y="23218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BESS, reel staging, prefab/skids and modular power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8212667" y="27730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DC/MV/LV · controls · fiber · engineered sets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723900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1200" y="36490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REJECTION + WATER + BOP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11200" y="39474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ACC, cooling and water/wastewater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11200" y="43986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fan/pump power · VFD · controls · wet runs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4474633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461933" y="36490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BUILDINGS + DISTRIBUTION + BOP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4461933" y="39474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building, e-house and MCC/VFD/UPS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461933" y="43986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MV/LV/VFD · essential AC/DC · life safety · BAS/data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8225367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212667" y="3649091"/>
            <a:ext cx="3166533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5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+ AUXILIARY + BOP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8212667" y="3947414"/>
            <a:ext cx="3115733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 capture and gas metering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8212667" y="4398645"/>
            <a:ext cx="311573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 power/control · instrumentation · F&amp;G · fiber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0" y="5892800"/>
            <a:ext cx="12192000" cy="9652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31" name="Text 28"/>
          <p:cNvSpPr/>
          <p:nvPr/>
        </p:nvSpPr>
        <p:spPr>
          <a:xfrm>
            <a:off x="711200" y="6100445"/>
            <a:ext cx="11176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4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CABLE CLASSES — HV/EHV · MV 5–35 kV · LV 600 V · VFD · ESSENTIAL AC/DC · I&amp;C · FIBER/NETWORK · LIFE SAFETY · GROUNDING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711200" y="6335522"/>
            <a:ext cx="11176000" cy="1689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00" dirty="0">
                <a:solidFill>
                  <a:srgbClr val="9694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— not NRG/IFC. Excludes generator-output bus, OEM wiring and contractor methods.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34" name="Text 31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6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793750"/>
            <a:ext cx="10160000" cy="60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5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decision rights preserve existing project accountability.</a:t>
            </a:r>
            <a:endParaRPr lang="en-US" sz="2500" dirty="0"/>
          </a:p>
        </p:txBody>
      </p:sp>
      <p:sp>
        <p:nvSpPr>
          <p:cNvPr id="6" name="Text 3"/>
          <p:cNvSpPr/>
          <p:nvPr/>
        </p:nvSpPr>
        <p:spPr>
          <a:xfrm>
            <a:off x="711200" y="2029968"/>
            <a:ext cx="2921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 + UTILITY INTERFACE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3886200" y="2010537"/>
            <a:ext cx="75946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priorities, portfolio standards, risk tolerances, acceptance criteria and investment decisions.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11200" y="2476500"/>
            <a:ext cx="10769600" cy="0"/>
          </a:xfrm>
          <a:prstGeom prst="line">
            <a:avLst/>
          </a:prstGeom>
          <a:noFill/>
          <a:ln w="7620">
            <a:solidFill>
              <a:srgbClr val="D8D2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1200" y="2639568"/>
            <a:ext cx="2921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EPC &amp; OE/EOR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3886200" y="2620137"/>
            <a:ext cx="75946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authority, calculations, specifications, routing basis and approved technical design.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1200" y="3086100"/>
            <a:ext cx="10769600" cy="0"/>
          </a:xfrm>
          <a:prstGeom prst="line">
            <a:avLst/>
          </a:prstGeom>
          <a:noFill/>
          <a:ln w="7620">
            <a:solidFill>
              <a:srgbClr val="D8D2C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1200" y="3249168"/>
            <a:ext cx="2921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OEM &amp; INTEGRATORS / PACKAGERS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886200" y="3229737"/>
            <a:ext cx="75946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Equipment-package interfaces, internal wiring, approved terminations and warranty boundaries.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711200" y="3695700"/>
            <a:ext cx="10769600" cy="0"/>
          </a:xfrm>
          <a:prstGeom prst="line">
            <a:avLst/>
          </a:prstGeom>
          <a:noFill/>
          <a:ln w="7620">
            <a:solidFill>
              <a:srgbClr val="D8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1200" y="3858768"/>
            <a:ext cx="2921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00" kern="0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ELECTRICAL CONTRACTOR · CHANNEL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886200" y="3839337"/>
            <a:ext cx="75946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 means and methods, pull planning, workface execution, testing support and field feedback.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711200" y="4305300"/>
            <a:ext cx="10769600" cy="0"/>
          </a:xfrm>
          <a:prstGeom prst="line">
            <a:avLst/>
          </a:prstGeom>
          <a:noFill/>
          <a:ln w="7620">
            <a:solidFill>
              <a:srgbClr val="D8D2C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58800" y="4381500"/>
            <a:ext cx="11074400" cy="533400"/>
          </a:xfrm>
          <a:prstGeom prst="rect">
            <a:avLst/>
          </a:prstGeom>
          <a:solidFill>
            <a:srgbClr val="F0E4D6"/>
          </a:solidFill>
          <a:ln/>
        </p:spPr>
      </p:sp>
      <p:sp>
        <p:nvSpPr>
          <p:cNvPr id="19" name="Text 16"/>
          <p:cNvSpPr/>
          <p:nvPr/>
        </p:nvSpPr>
        <p:spPr>
          <a:xfrm>
            <a:off x="711200" y="4468368"/>
            <a:ext cx="2921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0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SOUTHWIRE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3886200" y="4448937"/>
            <a:ext cx="7594600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A3C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support, material and capacity visibility, engineered cable and reel strategy, sequenced delivery and selected field support.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11200" y="4914900"/>
            <a:ext cx="10769600" cy="0"/>
          </a:xfrm>
          <a:prstGeom prst="line">
            <a:avLst/>
          </a:prstGeom>
          <a:noFill/>
          <a:ln w="7620">
            <a:solidFill>
              <a:srgbClr val="D8D2C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0" y="5892800"/>
            <a:ext cx="12192000" cy="965200"/>
          </a:xfrm>
          <a:prstGeom prst="rect">
            <a:avLst/>
          </a:prstGeom>
          <a:solidFill>
            <a:srgbClr val="17191C"/>
          </a:solidFill>
          <a:ln/>
        </p:spPr>
      </p:sp>
      <p:sp>
        <p:nvSpPr>
          <p:cNvPr id="23" name="Text 20"/>
          <p:cNvSpPr/>
          <p:nvPr/>
        </p:nvSpPr>
        <p:spPr>
          <a:xfrm>
            <a:off x="711200" y="6105906"/>
            <a:ext cx="11176000" cy="45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Southwire connects selected decisions — it does not replace owner, EPC, OEM,</a:t>
            </a:r>
            <a:endParaRPr lang="en-US" sz="1100" dirty="0"/>
          </a:p>
          <a:p>
            <a:pPr algn="l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or Channel accountability or preference.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1200" y="66086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8C8A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5" name="Text 22"/>
          <p:cNvSpPr/>
          <p:nvPr/>
        </p:nvSpPr>
        <p:spPr>
          <a:xfrm>
            <a:off x="10718800" y="66086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6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44450"/>
          </a:xfrm>
          <a:prstGeom prst="rect">
            <a:avLst/>
          </a:prstGeom>
          <a:solidFill>
            <a:srgbClr val="C67A43"/>
          </a:solidFill>
          <a:ln/>
        </p:spPr>
      </p:sp>
      <p:pic>
        <p:nvPicPr>
          <p:cNvPr id="3" name="Image 0" descr="assets/lockup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200" y="330200"/>
            <a:ext cx="1264356" cy="2667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32800" y="410845"/>
            <a:ext cx="3048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750" dirty="0"/>
          </a:p>
        </p:txBody>
      </p:sp>
      <p:sp>
        <p:nvSpPr>
          <p:cNvPr id="5" name="Text 2"/>
          <p:cNvSpPr/>
          <p:nvPr/>
        </p:nvSpPr>
        <p:spPr>
          <a:xfrm>
            <a:off x="711200" y="768858"/>
            <a:ext cx="10668000" cy="910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3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family-held American manufacturer —</a:t>
            </a:r>
            <a:endParaRPr lang="en-US" sz="2300" dirty="0"/>
          </a:p>
          <a:p>
            <a:pPr algn="l" indent="0" marL="0">
              <a:lnSpc>
                <a:spcPts val="2800"/>
              </a:lnSpc>
              <a:buNone/>
            </a:pPr>
            <a:r>
              <a:rPr lang="en-US" sz="23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copper rod to finished cable since 1950.</a:t>
            </a:r>
            <a:endParaRPr lang="en-US" sz="2300" dirty="0"/>
          </a:p>
        </p:txBody>
      </p:sp>
      <p:sp>
        <p:nvSpPr>
          <p:cNvPr id="6" name="Text 3"/>
          <p:cNvSpPr/>
          <p:nvPr/>
        </p:nvSpPr>
        <p:spPr>
          <a:xfrm>
            <a:off x="711200" y="1731137"/>
            <a:ext cx="10668000" cy="407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Roy Richards founded Southwire after the poles his crews built stood wireless for months after World War II. From 12 employees</a:t>
            </a:r>
            <a:endParaRPr lang="en-US" sz="95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three secondhand machines in Carrollton, Georgia, Southwire remains family-held and vertically integrated.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711200" y="2362200"/>
            <a:ext cx="10769600" cy="0"/>
          </a:xfrm>
          <a:prstGeom prst="line">
            <a:avLst/>
          </a:prstGeom>
          <a:noFill/>
          <a:ln w="9525">
            <a:solidFill>
              <a:srgbClr val="D8D2C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1200" y="2483104"/>
            <a:ext cx="215392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711200" y="2938399"/>
            <a:ext cx="215392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b="1" spc="110" kern="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FOUNDED</a:t>
            </a:r>
            <a:endParaRPr lang="en-US" sz="650" dirty="0"/>
          </a:p>
        </p:txBody>
      </p:sp>
      <p:sp>
        <p:nvSpPr>
          <p:cNvPr id="10" name="Text 7"/>
          <p:cNvSpPr/>
          <p:nvPr/>
        </p:nvSpPr>
        <p:spPr>
          <a:xfrm>
            <a:off x="2865120" y="2483104"/>
            <a:ext cx="215392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9,000+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2865120" y="2938399"/>
            <a:ext cx="215392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b="1" spc="110" kern="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EMPLOYEES WORLDWIDE</a:t>
            </a:r>
            <a:endParaRPr lang="en-US" sz="650" dirty="0"/>
          </a:p>
        </p:txBody>
      </p:sp>
      <p:sp>
        <p:nvSpPr>
          <p:cNvPr id="12" name="Text 9"/>
          <p:cNvSpPr/>
          <p:nvPr/>
        </p:nvSpPr>
        <p:spPr>
          <a:xfrm>
            <a:off x="5019040" y="2483104"/>
            <a:ext cx="215392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$9.7B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019040" y="2938399"/>
            <a:ext cx="215392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b="1" spc="110" kern="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REVENUE · FORBES</a:t>
            </a:r>
            <a:endParaRPr lang="en-US" sz="650" dirty="0"/>
          </a:p>
        </p:txBody>
      </p:sp>
      <p:sp>
        <p:nvSpPr>
          <p:cNvPr id="14" name="Text 11"/>
          <p:cNvSpPr/>
          <p:nvPr/>
        </p:nvSpPr>
        <p:spPr>
          <a:xfrm>
            <a:off x="7172960" y="2483104"/>
            <a:ext cx="215392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7172960" y="2938399"/>
            <a:ext cx="215392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b="1" spc="110" kern="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INDUSTRIES SERVED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9326880" y="2483104"/>
            <a:ext cx="215392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A1C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9326880" y="2938399"/>
            <a:ext cx="215392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b="1" spc="110" kern="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MARK SITES</a:t>
            </a:r>
            <a:endParaRPr lang="en-US" sz="650" dirty="0"/>
          </a:p>
        </p:txBody>
      </p:sp>
      <p:sp>
        <p:nvSpPr>
          <p:cNvPr id="18" name="Shape 15"/>
          <p:cNvSpPr/>
          <p:nvPr/>
        </p:nvSpPr>
        <p:spPr>
          <a:xfrm>
            <a:off x="723900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1200" y="3706368"/>
            <a:ext cx="3268133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COPPER TECHNOLOGY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711200" y="3940937"/>
            <a:ext cx="3115733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of the world’s copper rod passes through a Southwire SCR® system.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474633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461933" y="3706368"/>
            <a:ext cx="3268133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U.S. POWER GRID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4461933" y="3940937"/>
            <a:ext cx="3115733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produce half of the wire and cable that moves U.S. electricity.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225367" y="3581400"/>
            <a:ext cx="330200" cy="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12667" y="3706368"/>
            <a:ext cx="3268133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50" kern="0" dirty="0">
                <a:solidFill>
                  <a:srgbClr val="9D4E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AMERICAN HOMES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8212667" y="3940937"/>
            <a:ext cx="3115733" cy="229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6E6C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of American homes contain wiring produced by Southwire.</a:t>
            </a:r>
            <a:endParaRPr lang="en-US" sz="950" dirty="0"/>
          </a:p>
        </p:txBody>
      </p:sp>
      <p:pic>
        <p:nvPicPr>
          <p:cNvPr id="27" name="Image 1" descr="assets/wide_y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026025"/>
            <a:ext cx="12192000" cy="1400175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711200" y="6595999"/>
            <a:ext cx="4064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8"/>
              </a:lnSpc>
              <a:buNone/>
            </a:pPr>
            <a:r>
              <a:rPr lang="en-US" sz="650" dirty="0">
                <a:solidFill>
                  <a:srgbClr val="9693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Power Generation Solutions</a:t>
            </a:r>
            <a:endParaRPr lang="en-US" sz="650" dirty="0"/>
          </a:p>
        </p:txBody>
      </p:sp>
      <p:sp>
        <p:nvSpPr>
          <p:cNvPr id="29" name="Text 25"/>
          <p:cNvSpPr/>
          <p:nvPr/>
        </p:nvSpPr>
        <p:spPr>
          <a:xfrm>
            <a:off x="10718800" y="65959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C67A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6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9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hex_side_f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42355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474355" y="0"/>
            <a:ext cx="0" cy="6858000"/>
          </a:xfrm>
          <a:prstGeom prst="line">
            <a:avLst/>
          </a:prstGeom>
          <a:noFill/>
          <a:ln w="17780">
            <a:solidFill>
              <a:srgbClr val="C67A43"/>
            </a:solidFill>
            <a:prstDash val="solid"/>
          </a:ln>
        </p:spPr>
      </p:sp>
      <p:pic>
        <p:nvPicPr>
          <p:cNvPr id="4" name="Image 1" descr="assets/lockup_dark_key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75800" y="482600"/>
            <a:ext cx="1905000" cy="40807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2083955" y="1020445"/>
            <a:ext cx="38100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750" dirty="0"/>
          </a:p>
        </p:txBody>
      </p:sp>
      <p:sp>
        <p:nvSpPr>
          <p:cNvPr id="6" name="Text 2"/>
          <p:cNvSpPr/>
          <p:nvPr/>
        </p:nvSpPr>
        <p:spPr>
          <a:xfrm>
            <a:off x="2083955" y="1225042"/>
            <a:ext cx="889000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SITE WALK.  ONE HOUR.</a:t>
            </a:r>
            <a:endParaRPr lang="en-US" sz="2700" dirty="0"/>
          </a:p>
        </p:txBody>
      </p:sp>
      <p:sp>
        <p:nvSpPr>
          <p:cNvPr id="7" name="Text 3"/>
          <p:cNvSpPr/>
          <p:nvPr/>
        </p:nvSpPr>
        <p:spPr>
          <a:xfrm>
            <a:off x="2083955" y="1656842"/>
            <a:ext cx="8890000" cy="651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SALES PRESENTATION.</a:t>
            </a:r>
            <a:endParaRPr lang="en-US" sz="2700" dirty="0"/>
          </a:p>
        </p:txBody>
      </p:sp>
      <p:sp>
        <p:nvSpPr>
          <p:cNvPr id="8" name="Shape 4"/>
          <p:cNvSpPr/>
          <p:nvPr/>
        </p:nvSpPr>
        <p:spPr>
          <a:xfrm>
            <a:off x="2083955" y="2286000"/>
            <a:ext cx="812800" cy="0"/>
          </a:xfrm>
          <a:prstGeom prst="line">
            <a:avLst/>
          </a:prstGeom>
          <a:noFill/>
          <a:ln w="15240">
            <a:solidFill>
              <a:srgbClr val="C67A43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2083955" y="2461260"/>
            <a:ext cx="889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NRG selects the starting scope — one live package, conversion/uprate screen or planned-outage</a:t>
            </a:r>
            <a:endParaRPr lang="en-US" sz="1000" dirty="0"/>
          </a:p>
          <a:p>
            <a:pPr algn="l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replacement — and brings the people closest to execution.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2337955" y="3378200"/>
            <a:ext cx="8761845" cy="0"/>
          </a:xfrm>
          <a:prstGeom prst="line">
            <a:avLst/>
          </a:prstGeom>
          <a:noFill/>
          <a:ln w="11430">
            <a:solidFill>
              <a:srgbClr val="C67A43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210955" y="3251200"/>
            <a:ext cx="254000" cy="2540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2" name="Text 8"/>
          <p:cNvSpPr/>
          <p:nvPr/>
        </p:nvSpPr>
        <p:spPr>
          <a:xfrm>
            <a:off x="2083955" y="3306191"/>
            <a:ext cx="508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50" dirty="0"/>
          </a:p>
        </p:txBody>
      </p:sp>
      <p:sp>
        <p:nvSpPr>
          <p:cNvPr id="13" name="Text 9"/>
          <p:cNvSpPr/>
          <p:nvPr/>
        </p:nvSpPr>
        <p:spPr>
          <a:xfrm>
            <a:off x="1385455" y="3594913"/>
            <a:ext cx="1905000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8"/>
              </a:lnSpc>
              <a:buNone/>
            </a:pPr>
            <a:r>
              <a:rPr lang="en-US" sz="680" b="1" spc="10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SCOPE</a:t>
            </a:r>
            <a:endParaRPr lang="en-US" sz="680" dirty="0"/>
          </a:p>
        </p:txBody>
      </p:sp>
      <p:sp>
        <p:nvSpPr>
          <p:cNvPr id="14" name="Shape 10"/>
          <p:cNvSpPr/>
          <p:nvPr/>
        </p:nvSpPr>
        <p:spPr>
          <a:xfrm>
            <a:off x="5131570" y="3251200"/>
            <a:ext cx="254000" cy="2540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5" name="Text 11"/>
          <p:cNvSpPr/>
          <p:nvPr/>
        </p:nvSpPr>
        <p:spPr>
          <a:xfrm>
            <a:off x="5004570" y="3306191"/>
            <a:ext cx="508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4306070" y="3594913"/>
            <a:ext cx="1905000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8"/>
              </a:lnSpc>
              <a:buNone/>
            </a:pPr>
            <a:r>
              <a:rPr lang="en-US" sz="680" b="1" spc="10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THE WORK</a:t>
            </a:r>
            <a:endParaRPr lang="en-US" sz="680" dirty="0"/>
          </a:p>
        </p:txBody>
      </p:sp>
      <p:sp>
        <p:nvSpPr>
          <p:cNvPr id="17" name="Shape 13"/>
          <p:cNvSpPr/>
          <p:nvPr/>
        </p:nvSpPr>
        <p:spPr>
          <a:xfrm>
            <a:off x="8052185" y="3251200"/>
            <a:ext cx="254000" cy="254000"/>
          </a:xfrm>
          <a:prstGeom prst="ellipse">
            <a:avLst/>
          </a:prstGeom>
          <a:solidFill>
            <a:srgbClr val="32353A"/>
          </a:solidFill>
          <a:ln/>
        </p:spPr>
      </p:sp>
      <p:sp>
        <p:nvSpPr>
          <p:cNvPr id="18" name="Text 14"/>
          <p:cNvSpPr/>
          <p:nvPr/>
        </p:nvSpPr>
        <p:spPr>
          <a:xfrm>
            <a:off x="7925185" y="3306191"/>
            <a:ext cx="508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7226685" y="3594913"/>
            <a:ext cx="1905000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8"/>
              </a:lnSpc>
              <a:buNone/>
            </a:pPr>
            <a:r>
              <a:rPr lang="en-US" sz="680" b="1" spc="10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THE RISK</a:t>
            </a:r>
            <a:endParaRPr lang="en-US" sz="680" dirty="0"/>
          </a:p>
        </p:txBody>
      </p:sp>
      <p:sp>
        <p:nvSpPr>
          <p:cNvPr id="20" name="Shape 16"/>
          <p:cNvSpPr/>
          <p:nvPr/>
        </p:nvSpPr>
        <p:spPr>
          <a:xfrm>
            <a:off x="10972800" y="3251200"/>
            <a:ext cx="254000" cy="254000"/>
          </a:xfrm>
          <a:prstGeom prst="ellipse">
            <a:avLst/>
          </a:prstGeom>
          <a:solidFill>
            <a:srgbClr val="9D4E24"/>
          </a:solidFill>
          <a:ln/>
        </p:spPr>
      </p:sp>
      <p:sp>
        <p:nvSpPr>
          <p:cNvPr id="21" name="Text 17"/>
          <p:cNvSpPr/>
          <p:nvPr/>
        </p:nvSpPr>
        <p:spPr>
          <a:xfrm>
            <a:off x="10845800" y="3306191"/>
            <a:ext cx="508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0147300" y="3594913"/>
            <a:ext cx="1905000" cy="164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18"/>
              </a:lnSpc>
              <a:buNone/>
            </a:pPr>
            <a:r>
              <a:rPr lang="en-US" sz="680" b="1" spc="100" kern="0" dirty="0">
                <a:solidFill>
                  <a:srgbClr val="ECEA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</a:t>
            </a:r>
            <a:endParaRPr lang="en-US" sz="680" dirty="0"/>
          </a:p>
        </p:txBody>
      </p:sp>
      <p:sp>
        <p:nvSpPr>
          <p:cNvPr id="23" name="Text 19"/>
          <p:cNvSpPr/>
          <p:nvPr/>
        </p:nvSpPr>
        <p:spPr>
          <a:xfrm>
            <a:off x="2083955" y="4061968"/>
            <a:ext cx="1270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3404755" y="4042283"/>
            <a:ext cx="8076045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live scope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2083955" y="4330700"/>
            <a:ext cx="9396845" cy="0"/>
          </a:xfrm>
          <a:prstGeom prst="line">
            <a:avLst/>
          </a:prstGeom>
          <a:noFill/>
          <a:ln w="7620">
            <a:solidFill>
              <a:srgbClr val="3C3F44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083955" y="4595368"/>
            <a:ext cx="1270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3404755" y="4575683"/>
            <a:ext cx="8076045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execution-risk read-back — milestone exposure, route, reel + release constraints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2083955" y="4864100"/>
            <a:ext cx="9396845" cy="0"/>
          </a:xfrm>
          <a:prstGeom prst="line">
            <a:avLst/>
          </a:prstGeom>
          <a:noFill/>
          <a:ln w="7620">
            <a:solidFill>
              <a:srgbClr val="3C3F44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2083955" y="5128768"/>
            <a:ext cx="1270000" cy="19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0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800" dirty="0"/>
          </a:p>
        </p:txBody>
      </p:sp>
      <p:sp>
        <p:nvSpPr>
          <p:cNvPr id="30" name="Text 26"/>
          <p:cNvSpPr/>
          <p:nvPr/>
        </p:nvSpPr>
        <p:spPr>
          <a:xfrm>
            <a:off x="3404755" y="5109083"/>
            <a:ext cx="8076045" cy="2533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Stop, standardize or define a bounded pilot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2083955" y="5397500"/>
            <a:ext cx="9396845" cy="0"/>
          </a:xfrm>
          <a:prstGeom prst="line">
            <a:avLst/>
          </a:prstGeom>
          <a:noFill/>
          <a:ln w="7620">
            <a:solidFill>
              <a:srgbClr val="3C3F44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2083955" y="5801614"/>
            <a:ext cx="8890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spc="16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PRICING EXERCISE. NO BROAD COMMERCIAL COMMITMENT.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2083955" y="6163691"/>
            <a:ext cx="8890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 Hardt   |   Director, Power Generation Solutions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2083955" y="6366891"/>
            <a:ext cx="8890000" cy="2051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dirty="0">
                <a:solidFill>
                  <a:srgbClr val="A8A6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stephan.hardt@southwire.com   |   +1 470-439-8488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0718800" y="6392799"/>
            <a:ext cx="762000" cy="1568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78"/>
              </a:lnSpc>
              <a:buNone/>
            </a:pPr>
            <a:r>
              <a:rPr lang="en-US" sz="650" b="1" spc="120" kern="0" dirty="0">
                <a:solidFill>
                  <a:srgbClr val="E3A06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Accelerating Time to Power — NRG | Southwire Power Generation Solutions</dc:title>
  <dc:subject>SWR-PG-BROCHURE-NRG Rev 01</dc:subject>
  <dc:creator>Stephan Hardt</dc:creator>
  <cp:lastModifiedBy>Stephan Hardt</cp:lastModifiedBy>
  <cp:revision>1</cp:revision>
  <dcterms:created xsi:type="dcterms:W3CDTF">2026-08-14T15:46:39Z</dcterms:created>
  <dcterms:modified xsi:type="dcterms:W3CDTF">2026-08-14T15:46:39Z</dcterms:modified>
</cp:coreProperties>
</file>