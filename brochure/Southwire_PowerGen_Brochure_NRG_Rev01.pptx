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x_top_f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4300" y="-114300"/>
            <a:ext cx="10515600" cy="1699347"/>
          </a:xfrm>
          <a:prstGeom prst="rect">
            <a:avLst/>
          </a:prstGeom>
        </p:spPr>
      </p:pic>
      <p:pic>
        <p:nvPicPr>
          <p:cNvPr id="3" name="Image 1" descr="assets/hex_bottom_f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" y="6187353"/>
            <a:ext cx="10515600" cy="1699347"/>
          </a:xfrm>
          <a:prstGeom prst="rect">
            <a:avLst/>
          </a:prstGeom>
        </p:spPr>
      </p:pic>
      <p:pic>
        <p:nvPicPr>
          <p:cNvPr id="4" name="Image 2" descr="assets/lockup_dark_key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1348207"/>
            <a:ext cx="2540000" cy="54409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84200" y="2898140"/>
            <a:ext cx="8890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584200" y="3558540"/>
            <a:ext cx="8890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000" b="1" i="1" spc="60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POWER</a:t>
            </a:r>
            <a:endParaRPr lang="en-US" sz="4000" dirty="0"/>
          </a:p>
        </p:txBody>
      </p:sp>
      <p:sp>
        <p:nvSpPr>
          <p:cNvPr id="7" name="Shape 2"/>
          <p:cNvSpPr/>
          <p:nvPr/>
        </p:nvSpPr>
        <p:spPr>
          <a:xfrm>
            <a:off x="4241800" y="4406900"/>
            <a:ext cx="1574800" cy="0"/>
          </a:xfrm>
          <a:prstGeom prst="line">
            <a:avLst/>
          </a:prstGeom>
          <a:noFill/>
          <a:ln w="15240">
            <a:solidFill>
              <a:srgbClr val="C67A4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84200" y="4747006"/>
            <a:ext cx="8890000" cy="23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&amp; protecting power readiness across NRG's gas power generation buildout.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203200" y="5131613"/>
            <a:ext cx="965200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680" spc="110" kern="0" dirty="0">
                <a:solidFill>
                  <a:srgbClr val="969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CYCLE  ·  SIMPLE CYCLE &amp; PEAKERS  ·  MODULAR POWER  ·  BLACK START  ·  COAL/GAS REPOWER  ·  GREENFIELD &amp; BROWNFIELD</a:t>
            </a:r>
            <a:endParaRPr lang="en-US" sz="680" dirty="0"/>
          </a:p>
        </p:txBody>
      </p:sp>
      <p:sp>
        <p:nvSpPr>
          <p:cNvPr id="10" name="Text 5"/>
          <p:cNvSpPr/>
          <p:nvPr/>
        </p:nvSpPr>
        <p:spPr>
          <a:xfrm>
            <a:off x="584200" y="5769991"/>
            <a:ext cx="8890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spc="2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SCHEDULE CERTAINTY THROUGH ENERGIZATION.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584200" y="6722745"/>
            <a:ext cx="889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9E9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Director, Power Generation Solutions   |   www.southwire.com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" y="-114300"/>
            <a:ext cx="10515600" cy="158750"/>
          </a:xfrm>
          <a:prstGeom prst="rect">
            <a:avLst/>
          </a:prstGeom>
          <a:solidFill>
            <a:srgbClr val="C67A43"/>
          </a:solidFill>
          <a:ln/>
        </p:spPr>
      </p:sp>
      <p:pic>
        <p:nvPicPr>
          <p:cNvPr id="3" name="Image 0" descr="assets/lockup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6700"/>
            <a:ext cx="1384770" cy="29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2900" y="334645"/>
            <a:ext cx="2794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085342"/>
            <a:ext cx="8382000" cy="984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NRG's growth agenda creates three distinct</a:t>
            </a:r>
            <a:endParaRPr lang="en-US" sz="27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electrical-delivery environments &amp; power demand.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71500" y="2925064"/>
            <a:ext cx="26670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GW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84200" y="35941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3769868"/>
            <a:ext cx="2667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50" kern="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TEF PORTFOLIO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40298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 operating; two targeting mid-2028. Not the entire portfolio under construction.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95700" y="2925064"/>
            <a:ext cx="26670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GW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3708400" y="35941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95700" y="3769868"/>
            <a:ext cx="2667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50" kern="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NEWBUILD DEVELOPMENT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95700" y="40298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 and EPC access supports a development runway through 2032.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19900" y="2925064"/>
            <a:ext cx="26670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 GW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6832600" y="35941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9900" y="3769868"/>
            <a:ext cx="2667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50" kern="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FLEET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19900" y="40298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after the LS Power acquisition; ~1–2 GW of upgrades under evaluation.</a:t>
            </a:r>
            <a:endParaRPr lang="en-US" sz="950" dirty="0"/>
          </a:p>
        </p:txBody>
      </p:sp>
      <p:pic>
        <p:nvPicPr>
          <p:cNvPr id="18" name="Image 1" descr="assets/peaker_wa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807" y="4330700"/>
            <a:ext cx="4422893" cy="2489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1500" y="5166360"/>
            <a:ext cx="50800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Specifications, capacity, metals hedging, releases, reels, package interfaces and field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still have to converge on COD.  Do not sum the figures — asset states overlap.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71500" y="6538976"/>
            <a:ext cx="381000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00" dirty="0">
                <a:solidFill>
                  <a:srgbClr val="969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NRG 2Q26, Aug. 4, 2026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-114300" y="6819900"/>
            <a:ext cx="10515600" cy="106680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22" name="Text 18"/>
          <p:cNvSpPr/>
          <p:nvPr/>
        </p:nvSpPr>
        <p:spPr>
          <a:xfrm>
            <a:off x="571500" y="7071868"/>
            <a:ext cx="6350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8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ASSET STATES. ONE REQUIREMENT.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71500" y="7280021"/>
            <a:ext cx="6350000" cy="28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schedule certainty through energization.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71500" y="76246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8C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8724900" y="7624699"/>
            <a:ext cx="762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b="1" spc="1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sk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5945"/>
            <a:ext cx="381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71500" y="781558"/>
            <a:ext cx="7874000" cy="850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power is an electrical execution problem</a:t>
            </a:r>
            <a:endParaRPr lang="en-US" sz="23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is a cable-buying problem.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84200" y="1828800"/>
            <a:ext cx="152400" cy="0"/>
          </a:xfrm>
          <a:prstGeom prst="line">
            <a:avLst/>
          </a:prstGeom>
          <a:noFill/>
          <a:ln w="17780">
            <a:solidFill>
              <a:srgbClr val="9D4E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900" y="1743837"/>
            <a:ext cx="7874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cross packages, zones, POI, contractors and turnover paths.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84200" y="2057400"/>
            <a:ext cx="152400" cy="0"/>
          </a:xfrm>
          <a:prstGeom prst="line">
            <a:avLst/>
          </a:prstGeom>
          <a:noFill/>
          <a:ln w="17780">
            <a:solidFill>
              <a:srgbClr val="9D4E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900" y="1972437"/>
            <a:ext cx="7874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material decisions return as handling, rework and commissioning exposure.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4200" y="2286000"/>
            <a:ext cx="152400" cy="0"/>
          </a:xfrm>
          <a:prstGeom prst="line">
            <a:avLst/>
          </a:prstGeom>
          <a:noFill/>
          <a:ln w="17780">
            <a:solidFill>
              <a:srgbClr val="9D4E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900" y="2201037"/>
            <a:ext cx="7874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the workstream as a system protects schedule better than isolated purchase-order optimization.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-114300" y="7327900"/>
            <a:ext cx="10515600" cy="55880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7535037"/>
            <a:ext cx="8890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plant-wide electrical-delivery partner — cable scope ready for the workface, not merely available at the warehouse.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76900" y="5888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   ·   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" y="-114300"/>
            <a:ext cx="10515600" cy="158750"/>
          </a:xfrm>
          <a:prstGeom prst="rect">
            <a:avLst/>
          </a:prstGeom>
          <a:solidFill>
            <a:srgbClr val="C67A43"/>
          </a:solidFill>
          <a:ln/>
        </p:spPr>
      </p:sp>
      <p:pic>
        <p:nvPicPr>
          <p:cNvPr id="3" name="Image 0" descr="assets/lockup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6700"/>
            <a:ext cx="1384770" cy="29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2900" y="334645"/>
            <a:ext cx="2794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RISKS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085342"/>
            <a:ext cx="8382000" cy="984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execution risks can erode certainty</a:t>
            </a:r>
            <a:endParaRPr lang="en-US" sz="27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design and energization.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71500" y="3474466"/>
            <a:ext cx="26670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84200" y="39497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4118991"/>
            <a:ext cx="2667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spc="12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&amp; DEMAND PRESSURE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43854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pulls, dense terminations and compressed turnover windows concentrate labor when flexibility is lowest.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95700" y="3474466"/>
            <a:ext cx="26670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708400" y="39497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95700" y="4118991"/>
            <a:ext cx="2667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spc="12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+ INSTALLATION FIT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95700" y="43854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Ratings, routes, reel lengths, accessories and releases must match the workface, not only the BOM — or material arrives right and installs wrong.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19900" y="3474466"/>
            <a:ext cx="26670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832600" y="39497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9900" y="4118991"/>
            <a:ext cx="2667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spc="12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COORDINATION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819900" y="43854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Civil, electrical, OEM and contractor decisions can converge after routing and procurement choices are already locked, turning gaps into rework.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-114300" y="6819900"/>
            <a:ext cx="10515600" cy="106680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7115175"/>
            <a:ext cx="7620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handoffs become schedule and commissioning exposure.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71500" y="7440422"/>
            <a:ext cx="762000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spc="160" kern="0" dirty="0">
                <a:solidFill>
                  <a:srgbClr val="969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AVAILABILITY   |   MATERIAL READINESS   |   DECISION TIMING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71500" y="76246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8C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8724900" y="7624699"/>
            <a:ext cx="762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b="1" spc="1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rior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99745"/>
            <a:ext cx="381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71500" y="692404"/>
            <a:ext cx="7874000" cy="87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coordinated flow aligns decisions</a:t>
            </a:r>
            <a:endParaRPr lang="en-US" sz="24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planning through turnover.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71500" y="1553337"/>
            <a:ext cx="7874000" cy="38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Southwire connects application support, material planning, sequenced logistics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field readiness — without changing project accountability.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-114300" y="6108700"/>
            <a:ext cx="10515600" cy="177800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7" name="Shape 4"/>
          <p:cNvSpPr/>
          <p:nvPr/>
        </p:nvSpPr>
        <p:spPr>
          <a:xfrm>
            <a:off x="1028700" y="6616700"/>
            <a:ext cx="8001000" cy="0"/>
          </a:xfrm>
          <a:prstGeom prst="line">
            <a:avLst/>
          </a:prstGeom>
          <a:noFill/>
          <a:ln w="12700">
            <a:solidFill>
              <a:srgbClr val="C67A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2650" y="6470650"/>
            <a:ext cx="292100" cy="292100"/>
          </a:xfrm>
          <a:prstGeom prst="ellipse">
            <a:avLst/>
          </a:prstGeom>
          <a:solidFill>
            <a:srgbClr val="32353A"/>
          </a:solidFill>
          <a:ln/>
        </p:spPr>
      </p:sp>
      <p:sp>
        <p:nvSpPr>
          <p:cNvPr id="9" name="Text 6"/>
          <p:cNvSpPr/>
          <p:nvPr/>
        </p:nvSpPr>
        <p:spPr>
          <a:xfrm>
            <a:off x="838200" y="6534277"/>
            <a:ext cx="381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0200" y="6881622"/>
            <a:ext cx="139700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+ FORECAST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482850" y="6470650"/>
            <a:ext cx="292100" cy="292100"/>
          </a:xfrm>
          <a:prstGeom prst="ellipse">
            <a:avLst/>
          </a:prstGeom>
          <a:solidFill>
            <a:srgbClr val="32353A"/>
          </a:solidFill>
          <a:ln/>
        </p:spPr>
      </p:sp>
      <p:sp>
        <p:nvSpPr>
          <p:cNvPr id="12" name="Text 9"/>
          <p:cNvSpPr/>
          <p:nvPr/>
        </p:nvSpPr>
        <p:spPr>
          <a:xfrm>
            <a:off x="2438400" y="6534277"/>
            <a:ext cx="381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930400" y="6881622"/>
            <a:ext cx="139700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ALIGNMENT +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083050" y="6470650"/>
            <a:ext cx="292100" cy="292100"/>
          </a:xfrm>
          <a:prstGeom prst="ellipse">
            <a:avLst/>
          </a:prstGeom>
          <a:solidFill>
            <a:srgbClr val="32353A"/>
          </a:solidFill>
          <a:ln/>
        </p:spPr>
      </p:sp>
      <p:sp>
        <p:nvSpPr>
          <p:cNvPr id="15" name="Text 12"/>
          <p:cNvSpPr/>
          <p:nvPr/>
        </p:nvSpPr>
        <p:spPr>
          <a:xfrm>
            <a:off x="4038600" y="6534277"/>
            <a:ext cx="381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30600" y="6881622"/>
            <a:ext cx="1397000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+</a:t>
            </a:r>
            <a:endParaRPr lang="en-US" sz="7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 STRATEGY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683250" y="6470650"/>
            <a:ext cx="292100" cy="292100"/>
          </a:xfrm>
          <a:prstGeom prst="ellipse">
            <a:avLst/>
          </a:prstGeom>
          <a:solidFill>
            <a:srgbClr val="32353A"/>
          </a:solidFill>
          <a:ln/>
        </p:spPr>
      </p:sp>
      <p:sp>
        <p:nvSpPr>
          <p:cNvPr id="18" name="Text 15"/>
          <p:cNvSpPr/>
          <p:nvPr/>
        </p:nvSpPr>
        <p:spPr>
          <a:xfrm>
            <a:off x="5638800" y="6534277"/>
            <a:ext cx="381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130800" y="6881622"/>
            <a:ext cx="1397000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+</a:t>
            </a:r>
            <a:endParaRPr lang="en-US" sz="7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7283450" y="6470650"/>
            <a:ext cx="292100" cy="292100"/>
          </a:xfrm>
          <a:prstGeom prst="ellipse">
            <a:avLst/>
          </a:prstGeom>
          <a:solidFill>
            <a:srgbClr val="32353A"/>
          </a:solidFill>
          <a:ln/>
        </p:spPr>
      </p:sp>
      <p:sp>
        <p:nvSpPr>
          <p:cNvPr id="21" name="Text 18"/>
          <p:cNvSpPr/>
          <p:nvPr/>
        </p:nvSpPr>
        <p:spPr>
          <a:xfrm>
            <a:off x="7239000" y="6534277"/>
            <a:ext cx="381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731000" y="6881622"/>
            <a:ext cx="139700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READINESS +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883650" y="6470650"/>
            <a:ext cx="292100" cy="292100"/>
          </a:xfrm>
          <a:prstGeom prst="ellipse">
            <a:avLst/>
          </a:prstGeom>
          <a:solidFill>
            <a:srgbClr val="9D4E24"/>
          </a:solidFill>
          <a:ln/>
        </p:spPr>
      </p:sp>
      <p:sp>
        <p:nvSpPr>
          <p:cNvPr id="24" name="Text 21"/>
          <p:cNvSpPr/>
          <p:nvPr/>
        </p:nvSpPr>
        <p:spPr>
          <a:xfrm>
            <a:off x="8839200" y="6534277"/>
            <a:ext cx="381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31200" y="6881622"/>
            <a:ext cx="1397000" cy="27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SUPPORT +</a:t>
            </a:r>
            <a:endParaRPr lang="en-US" sz="7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700" b="1" spc="8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84200" y="7395591"/>
            <a:ext cx="8890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spc="16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FIELD-ENGINEER WHAT IS UNIQUE. PREFABRICATE WHAT REPEATS.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71500" y="7656576"/>
            <a:ext cx="381000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00" dirty="0">
                <a:solidFill>
                  <a:srgbClr val="8C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8724900" y="7656576"/>
            <a:ext cx="76200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10"/>
              </a:lnSpc>
              <a:buNone/>
            </a:pPr>
            <a:r>
              <a:rPr lang="en-US" sz="600" b="1" spc="1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" y="-114300"/>
            <a:ext cx="10515600" cy="158750"/>
          </a:xfrm>
          <a:prstGeom prst="rect">
            <a:avLst/>
          </a:prstGeom>
          <a:solidFill>
            <a:srgbClr val="C67A43"/>
          </a:solidFill>
          <a:ln/>
        </p:spPr>
      </p:sp>
      <p:pic>
        <p:nvPicPr>
          <p:cNvPr id="3" name="Image 0" descr="assets/lockup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6700"/>
            <a:ext cx="1384770" cy="29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2900" y="334645"/>
            <a:ext cx="2794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PROPOSITION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74214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69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8724900" y="7421499"/>
            <a:ext cx="762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b="1" spc="12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71500" y="1705864"/>
            <a:ext cx="83820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Southwire helps IPPs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71500" y="2264664"/>
            <a:ext cx="83820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time to power.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96900" y="3086100"/>
            <a:ext cx="1574800" cy="0"/>
          </a:xfrm>
          <a:prstGeom prst="line">
            <a:avLst/>
          </a:prstGeom>
          <a:noFill/>
          <a:ln w="15240">
            <a:solidFill>
              <a:srgbClr val="C67A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3527298"/>
            <a:ext cx="812800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transforming fragmented plant-wide cable procurement into a coordinated,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workface-ready electrical delivery system — reducing schedule risk, installed effort,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commissioning exposure from planning through energization.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01345"/>
            <a:ext cx="381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71500" y="806958"/>
            <a:ext cx="7874000" cy="850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experience indicates where</a:t>
            </a:r>
            <a:endParaRPr lang="en-US" sz="23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test — not what NRG will save.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71500" y="2415032"/>
            <a:ext cx="304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4,400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882900" y="2781300"/>
            <a:ext cx="533400" cy="0"/>
          </a:xfrm>
          <a:prstGeom prst="line">
            <a:avLst/>
          </a:prstGeom>
          <a:noFill/>
          <a:ln w="20320">
            <a:solidFill>
              <a:srgbClr val="C67A43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670300" y="2415032"/>
            <a:ext cx="30480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~880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3150413"/>
            <a:ext cx="2794000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0" b="1" spc="100" kern="0" dirty="0">
                <a:solidFill>
                  <a:srgbClr val="B2B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FIELD HOURS</a:t>
            </a:r>
            <a:endParaRPr lang="en-US" sz="68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680" b="1" spc="100" kern="0" dirty="0">
                <a:solidFill>
                  <a:srgbClr val="B2B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SITE-BUILT BASELINE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3670300" y="3150413"/>
            <a:ext cx="2794000" cy="282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0" b="1" spc="10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FIELD HOURS</a:t>
            </a:r>
            <a:endParaRPr lang="en-US" sz="68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680" b="1" spc="10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FACTORY-BUILT ASSEMBLY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571500" y="3636391"/>
            <a:ext cx="4826000" cy="34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69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hours per electrical spine in one repetitive modular-generation scope.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69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adjacent-market benchmark — not an NRG result.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1500" y="4385945"/>
            <a:ext cx="381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4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SUGGESTS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1500" y="4614037"/>
            <a:ext cx="4191000" cy="37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repeatable interfaces may be candidates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offsite work.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1500" y="5300345"/>
            <a:ext cx="381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4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PROVE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71500" y="5528437"/>
            <a:ext cx="4191000" cy="37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NRG savings, schedule reduction or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critical-path removal.</a:t>
            </a:r>
            <a:endParaRPr lang="en-US" sz="950" dirty="0"/>
          </a:p>
        </p:txBody>
      </p:sp>
      <p:pic>
        <p:nvPicPr>
          <p:cNvPr id="14" name="Image 0" descr="assets/xray_f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0" y="2562860"/>
            <a:ext cx="4876800" cy="2225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59400" y="5106213"/>
            <a:ext cx="464820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80" b="1" spc="10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ROUTED MODEL — WHAT MAKES THE FACTORY-BUILT NUMBER POSSIBLE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5359400" y="5350891"/>
            <a:ext cx="4699000" cy="34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electrical system — trays, routes and cable planned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plant-wide, so repeatable runs can be built offsite.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59400" y="5827776"/>
            <a:ext cx="469900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00" dirty="0">
                <a:solidFill>
                  <a:srgbClr val="8C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CCGT tray &amp; cable x-ray · conceptual — not for construction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71500" y="6519545"/>
            <a:ext cx="889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THE CASE WITH NRG SCOPE, LABOR RATES, SCHEDULE LOGIC AND ACCEPTANCE CRITERIA.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71500" y="6722745"/>
            <a:ext cx="889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20" kern="0" dirty="0">
                <a:solidFill>
                  <a:srgbClr val="969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PRESUMPTION THAT THE ANSWER IS PREFAB — OR THAT SOUTHWIRE BELONGS IN THE SOLUTION.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71500" y="74976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69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8724900" y="7497699"/>
            <a:ext cx="762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b="1" spc="1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" y="-114300"/>
            <a:ext cx="10515600" cy="158750"/>
          </a:xfrm>
          <a:prstGeom prst="rect">
            <a:avLst/>
          </a:prstGeom>
          <a:solidFill>
            <a:srgbClr val="C67A43"/>
          </a:solidFill>
          <a:ln/>
        </p:spPr>
      </p:sp>
      <p:pic>
        <p:nvPicPr>
          <p:cNvPr id="3" name="Image 0" descr="assets/lockup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6700"/>
            <a:ext cx="1384770" cy="29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2900" y="334645"/>
            <a:ext cx="2794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ECONOMICS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098296"/>
            <a:ext cx="8382000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is a small cost category with</a:t>
            </a:r>
            <a:endParaRPr lang="en-US" sz="26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outsized execution consequences.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71500" y="2086483"/>
            <a:ext cx="8128000" cy="41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lens is how electrical decisions influence COD readiness, installed effort, capital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certainty and lifecycle continuity — not unit price alone.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942082"/>
            <a:ext cx="127000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84200" y="33274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3458591"/>
            <a:ext cx="41783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spc="10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/ REVENUE START &amp; ENERGY DELIVERED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" y="3674237"/>
            <a:ext cx="39751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visibility, delivered power, release timing and installation readiness can influence energization milestones.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08600" y="2942082"/>
            <a:ext cx="127000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321300" y="33274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8600" y="3458591"/>
            <a:ext cx="41783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spc="10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COST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308600" y="3674237"/>
            <a:ext cx="39751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Routes, reels, cuts, pulls, congestion and rework often matter more than purchase price alone.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1500" y="4567682"/>
            <a:ext cx="127000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84200" y="49530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5084191"/>
            <a:ext cx="41783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spc="10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CERTAINTY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" y="5299837"/>
            <a:ext cx="39751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scope visibility supports commodity planning, material allocation and contingency discipline.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308600" y="4567682"/>
            <a:ext cx="127000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321300" y="49530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8600" y="5084191"/>
            <a:ext cx="41783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spc="10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/ LIFECYCLE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308600" y="5299837"/>
            <a:ext cx="39751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records, spares, condition screens and replacement planning support long-term continuity.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-114300" y="6921500"/>
            <a:ext cx="10515600" cy="96520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7198360"/>
            <a:ext cx="812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spc="18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CAPEX SHARE. HIGH SCHEDULE AND COMMISSIONING LEVERAGE.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71500" y="76246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8C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8724900" y="7624699"/>
            <a:ext cx="762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b="1" spc="1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" y="-114300"/>
            <a:ext cx="10515600" cy="158750"/>
          </a:xfrm>
          <a:prstGeom prst="rect">
            <a:avLst/>
          </a:prstGeom>
          <a:solidFill>
            <a:srgbClr val="C67A43"/>
          </a:solidFill>
          <a:ln/>
        </p:spPr>
      </p:sp>
      <p:pic>
        <p:nvPicPr>
          <p:cNvPr id="3" name="Image 0" descr="assets/lockup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6700"/>
            <a:ext cx="1384770" cy="29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2900" y="334645"/>
            <a:ext cx="2794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PLANT-WIDE COVERAGE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022096"/>
            <a:ext cx="8382000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clusters map a routed 3×1 electrical</a:t>
            </a:r>
            <a:endParaRPr lang="en-US" sz="26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model.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84200" y="25273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2594991"/>
            <a:ext cx="2556933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+ SITE BACKBONE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2918714"/>
            <a:ext cx="253153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Switchyard, GSU/grid tie and MV corridors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395345"/>
            <a:ext cx="25315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HV/EHV · MV · protection/control · fiber · grounding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699933" y="25273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87233" y="2594991"/>
            <a:ext cx="2556933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ISLAND + BOP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87233" y="2918714"/>
            <a:ext cx="253153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HRSG, turbine hall and GT inlet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87233" y="3395345"/>
            <a:ext cx="25315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MV/LV/VFD · I&amp;C · F&amp;G/ESD · CEMS · heat trace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815667" y="25273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02967" y="2594991"/>
            <a:ext cx="2556933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+ PACKAGED SYSTEMS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02967" y="2918714"/>
            <a:ext cx="253153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BESS, reel staging, prefab/skids and modular power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02967" y="3395345"/>
            <a:ext cx="25315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DC/MV/LV · controls · fiber · engineered sets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200" y="42799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" y="4347591"/>
            <a:ext cx="2556933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REJECTION + WATER + BOP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1500" y="4671314"/>
            <a:ext cx="253153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ACC, cooling and water/wastewater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1500" y="5147945"/>
            <a:ext cx="25315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fan/pump power · VFD · controls · wet runs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99933" y="42799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87233" y="4347591"/>
            <a:ext cx="2556933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+ DISTRIBUTION + BOP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687233" y="4671314"/>
            <a:ext cx="253153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building, e-house and MCC/VFD/UPS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87233" y="5147945"/>
            <a:ext cx="25315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MV/LV/VFD · essential AC/DC · life safety · BAS/data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815667" y="42799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02967" y="4347591"/>
            <a:ext cx="2556933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+ AUXILIARY + BOP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2967" y="4671314"/>
            <a:ext cx="2531533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capture and gas metering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02967" y="5147945"/>
            <a:ext cx="25315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power/control · instrumentation · F&amp;G · fiber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-114300" y="6819900"/>
            <a:ext cx="10515600" cy="106680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31" name="Text 28"/>
          <p:cNvSpPr/>
          <p:nvPr/>
        </p:nvSpPr>
        <p:spPr>
          <a:xfrm>
            <a:off x="571500" y="7078345"/>
            <a:ext cx="9144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4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CLASSES — HV/EHV · MV 5–35 kV · LV 600 V · VFD · ESSENTIAL AC/DC · I&amp;C · FIBER/NETWORK · LIFE SAFETY · GROUNDING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71500" y="7338822"/>
            <a:ext cx="889000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69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not NRG/IFC. Excludes generator-output bus, OEM wiring and contractor methods.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71500" y="76246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8C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8724900" y="7624699"/>
            <a:ext cx="762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b="1" spc="1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" y="-114300"/>
            <a:ext cx="10515600" cy="158750"/>
          </a:xfrm>
          <a:prstGeom prst="rect">
            <a:avLst/>
          </a:prstGeom>
          <a:solidFill>
            <a:srgbClr val="C67A43"/>
          </a:solidFill>
          <a:ln/>
        </p:spPr>
      </p:sp>
      <p:pic>
        <p:nvPicPr>
          <p:cNvPr id="3" name="Image 0" descr="assets/lockup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6700"/>
            <a:ext cx="1384770" cy="29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2900" y="334645"/>
            <a:ext cx="2794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022096"/>
            <a:ext cx="8382000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decision rights preserve existing</a:t>
            </a:r>
            <a:endParaRPr lang="en-US" sz="26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accountability.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71500" y="2245868"/>
            <a:ext cx="2794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0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NRG + UTILITY INTERFACE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92500" y="2226437"/>
            <a:ext cx="5969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priorities, portfolio standards, risk tolerances, acceptance criteria and investment decisions.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71500" y="2755900"/>
            <a:ext cx="891540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2906268"/>
            <a:ext cx="2794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0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&amp; OE/EOR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92500" y="2886837"/>
            <a:ext cx="5969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authority, calculations, specifications, routing basis and approved technical design.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1500" y="3416300"/>
            <a:ext cx="891540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3566668"/>
            <a:ext cx="2794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0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&amp; INTEGRATORS / PACKAGERS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492500" y="3547237"/>
            <a:ext cx="5969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Equipment-package interfaces, internal wiring, approved terminations and warranty boundaries.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" y="4076700"/>
            <a:ext cx="891540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4227068"/>
            <a:ext cx="2794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00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CONTRACTOR · CHANNEL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92500" y="4207637"/>
            <a:ext cx="5969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means and methods, pull planning, workface execution, testing support and field feedback.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1500" y="4737100"/>
            <a:ext cx="891540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4500" y="4787900"/>
            <a:ext cx="9423400" cy="584200"/>
          </a:xfrm>
          <a:prstGeom prst="rect">
            <a:avLst/>
          </a:prstGeom>
          <a:solidFill>
            <a:srgbClr val="F0E4D6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4887468"/>
            <a:ext cx="2794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00" kern="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SOUTHWIRE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492500" y="4868037"/>
            <a:ext cx="59690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3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support, material and capacity visibility, engineered cable and reel strategy, sequenced delivery and selected field support.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1500" y="5397500"/>
            <a:ext cx="891540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-114300" y="6921500"/>
            <a:ext cx="10515600" cy="96520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" y="7185406"/>
            <a:ext cx="8382000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Southwire connects selected decisions — it does not replace owner, EPC, OEM, Contractor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Channel accountability or preference.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1500" y="76246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8C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8724900" y="7624699"/>
            <a:ext cx="762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b="1" spc="12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" y="-114300"/>
            <a:ext cx="10515600" cy="158750"/>
          </a:xfrm>
          <a:prstGeom prst="rect">
            <a:avLst/>
          </a:prstGeom>
          <a:solidFill>
            <a:srgbClr val="C67A43"/>
          </a:solidFill>
          <a:ln/>
        </p:spPr>
      </p:sp>
      <p:pic>
        <p:nvPicPr>
          <p:cNvPr id="3" name="Image 0" descr="assets/lockup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6700"/>
            <a:ext cx="1384770" cy="29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2900" y="334645"/>
            <a:ext cx="2794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984250"/>
            <a:ext cx="8382000" cy="91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family-held American manufacturer —</a:t>
            </a:r>
            <a:endParaRPr lang="en-US" sz="2500" dirty="0"/>
          </a:p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copper rod to finished cable since 1950.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71500" y="1940560"/>
            <a:ext cx="8382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 Richards founded Southwire after the poles his crews built stood wireless for months after World War II.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12 employees and three secondhand machines in Carrollton, Georgia, Southwire remains family-held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vertically integrated — from copper rod through finished cable.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1500" y="3009900"/>
            <a:ext cx="8915400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3257296"/>
            <a:ext cx="1783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71500" y="3789299"/>
            <a:ext cx="178308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spc="110" kern="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354580" y="3257296"/>
            <a:ext cx="1783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9,000+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354580" y="3789299"/>
            <a:ext cx="178308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spc="110" kern="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WORLDWIDE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137660" y="3257296"/>
            <a:ext cx="1783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$9.7B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137660" y="3789299"/>
            <a:ext cx="178308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spc="110" kern="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REVENUE · FORBES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920740" y="3257296"/>
            <a:ext cx="1783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20740" y="3789299"/>
            <a:ext cx="178308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spc="110" kern="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 SERVED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7703820" y="3257296"/>
            <a:ext cx="1783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703820" y="3789299"/>
            <a:ext cx="178308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spc="110" kern="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MARK SITES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584200" y="43815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" y="4531868"/>
            <a:ext cx="2667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50" kern="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TECHNOLOGY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1500" y="47918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the world’s copper rod passes through a Southwire SCR® system.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708400" y="43815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95700" y="4531868"/>
            <a:ext cx="2667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50" kern="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POWER GRID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695700" y="47918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produce half of the wire and cable that moves U.S. electricity.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832600" y="4381500"/>
            <a:ext cx="330200" cy="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9900" y="4531868"/>
            <a:ext cx="2667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50" kern="0" dirty="0">
                <a:solidFill>
                  <a:srgbClr val="9D4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HOMES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19900" y="4791837"/>
            <a:ext cx="2514600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American homes contain wiring produced by Southwire.</a:t>
            </a:r>
            <a:endParaRPr lang="en-US" sz="950" dirty="0"/>
          </a:p>
        </p:txBody>
      </p:sp>
      <p:pic>
        <p:nvPicPr>
          <p:cNvPr id="27" name="Image 1" descr="assets/yard_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" y="5558433"/>
            <a:ext cx="10515600" cy="179486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71500" y="7548499"/>
            <a:ext cx="3810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69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Power Generation Solutions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8724900" y="7548499"/>
            <a:ext cx="76200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b="1" spc="12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x_side_f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4300" y="-114300"/>
            <a:ext cx="1660814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97314" y="0"/>
            <a:ext cx="0" cy="7772400"/>
          </a:xfrm>
          <a:prstGeom prst="line">
            <a:avLst/>
          </a:prstGeom>
          <a:noFill/>
          <a:ln w="17780">
            <a:solidFill>
              <a:srgbClr val="C67A43"/>
            </a:solidFill>
            <a:prstDash val="solid"/>
          </a:ln>
        </p:spPr>
      </p:sp>
      <p:pic>
        <p:nvPicPr>
          <p:cNvPr id="4" name="Image 1" descr="assets/lockup_dark_key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495300"/>
            <a:ext cx="2133600" cy="4570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57714" y="1007745"/>
            <a:ext cx="381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spc="16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2257714" y="1288034"/>
            <a:ext cx="7112000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5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SITE WALK.  ONE HOUR.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2257714" y="1796034"/>
            <a:ext cx="7112000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5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SALES PRESENTATION.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2257714" y="2298700"/>
            <a:ext cx="812800" cy="0"/>
          </a:xfrm>
          <a:prstGeom prst="line">
            <a:avLst/>
          </a:prstGeom>
          <a:noFill/>
          <a:ln w="15240">
            <a:solidFill>
              <a:srgbClr val="C67A4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57714" y="2492883"/>
            <a:ext cx="7366000" cy="41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NRG selects the starting scope — one live package, conversion/uprate screen or planned-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 replacement — and brings the people closest to execution.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410114" y="3517900"/>
            <a:ext cx="6695786" cy="0"/>
          </a:xfrm>
          <a:prstGeom prst="line">
            <a:avLst/>
          </a:prstGeom>
          <a:noFill/>
          <a:ln w="11430">
            <a:solidFill>
              <a:srgbClr val="C67A4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276764" y="3384550"/>
            <a:ext cx="266700" cy="266700"/>
          </a:xfrm>
          <a:prstGeom prst="ellipse">
            <a:avLst/>
          </a:prstGeom>
          <a:solidFill>
            <a:srgbClr val="32353A"/>
          </a:solidFill>
          <a:ln/>
        </p:spPr>
      </p:sp>
      <p:sp>
        <p:nvSpPr>
          <p:cNvPr id="12" name="Text 8"/>
          <p:cNvSpPr/>
          <p:nvPr/>
        </p:nvSpPr>
        <p:spPr>
          <a:xfrm>
            <a:off x="2219614" y="3445891"/>
            <a:ext cx="381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584614" y="3760013"/>
            <a:ext cx="165100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680" b="1" spc="10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SCOPE</a:t>
            </a:r>
            <a:endParaRPr lang="en-US" sz="680" dirty="0"/>
          </a:p>
        </p:txBody>
      </p:sp>
      <p:sp>
        <p:nvSpPr>
          <p:cNvPr id="14" name="Shape 10"/>
          <p:cNvSpPr/>
          <p:nvPr/>
        </p:nvSpPr>
        <p:spPr>
          <a:xfrm>
            <a:off x="4508692" y="3384550"/>
            <a:ext cx="266700" cy="266700"/>
          </a:xfrm>
          <a:prstGeom prst="ellipse">
            <a:avLst/>
          </a:prstGeom>
          <a:solidFill>
            <a:srgbClr val="32353A"/>
          </a:solidFill>
          <a:ln/>
        </p:spPr>
      </p:sp>
      <p:sp>
        <p:nvSpPr>
          <p:cNvPr id="15" name="Text 11"/>
          <p:cNvSpPr/>
          <p:nvPr/>
        </p:nvSpPr>
        <p:spPr>
          <a:xfrm>
            <a:off x="4451542" y="3445891"/>
            <a:ext cx="381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816542" y="3760013"/>
            <a:ext cx="165100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680" b="1" spc="10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WORK</a:t>
            </a:r>
            <a:endParaRPr lang="en-US" sz="680" dirty="0"/>
          </a:p>
        </p:txBody>
      </p:sp>
      <p:sp>
        <p:nvSpPr>
          <p:cNvPr id="17" name="Shape 13"/>
          <p:cNvSpPr/>
          <p:nvPr/>
        </p:nvSpPr>
        <p:spPr>
          <a:xfrm>
            <a:off x="6740621" y="3384550"/>
            <a:ext cx="266700" cy="266700"/>
          </a:xfrm>
          <a:prstGeom prst="ellipse">
            <a:avLst/>
          </a:prstGeom>
          <a:solidFill>
            <a:srgbClr val="32353A"/>
          </a:solidFill>
          <a:ln/>
        </p:spPr>
      </p:sp>
      <p:sp>
        <p:nvSpPr>
          <p:cNvPr id="18" name="Text 14"/>
          <p:cNvSpPr/>
          <p:nvPr/>
        </p:nvSpPr>
        <p:spPr>
          <a:xfrm>
            <a:off x="6683471" y="3445891"/>
            <a:ext cx="381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048471" y="3760013"/>
            <a:ext cx="165100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680" b="1" spc="10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RISK</a:t>
            </a:r>
            <a:endParaRPr lang="en-US" sz="680" dirty="0"/>
          </a:p>
        </p:txBody>
      </p:sp>
      <p:sp>
        <p:nvSpPr>
          <p:cNvPr id="20" name="Shape 16"/>
          <p:cNvSpPr/>
          <p:nvPr/>
        </p:nvSpPr>
        <p:spPr>
          <a:xfrm>
            <a:off x="8972550" y="3384550"/>
            <a:ext cx="266700" cy="266700"/>
          </a:xfrm>
          <a:prstGeom prst="ellipse">
            <a:avLst/>
          </a:prstGeom>
          <a:solidFill>
            <a:srgbClr val="9D4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915400" y="3445891"/>
            <a:ext cx="381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280400" y="3760013"/>
            <a:ext cx="165100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680" b="1" spc="100" kern="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680" dirty="0"/>
          </a:p>
        </p:txBody>
      </p:sp>
      <p:sp>
        <p:nvSpPr>
          <p:cNvPr id="23" name="Text 19"/>
          <p:cNvSpPr/>
          <p:nvPr/>
        </p:nvSpPr>
        <p:spPr>
          <a:xfrm>
            <a:off x="2257714" y="4379468"/>
            <a:ext cx="1143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6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426114" y="4359783"/>
            <a:ext cx="5969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live scope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257714" y="4648200"/>
            <a:ext cx="7229186" cy="0"/>
          </a:xfrm>
          <a:prstGeom prst="line">
            <a:avLst/>
          </a:prstGeom>
          <a:noFill/>
          <a:ln w="7620">
            <a:solidFill>
              <a:srgbClr val="3C3F4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257714" y="4887468"/>
            <a:ext cx="1143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6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426114" y="4867783"/>
            <a:ext cx="5969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execution-risk read-back — milestone exposure, route, reel + release constraints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257714" y="5156200"/>
            <a:ext cx="7229186" cy="0"/>
          </a:xfrm>
          <a:prstGeom prst="line">
            <a:avLst/>
          </a:prstGeom>
          <a:noFill/>
          <a:ln w="7620">
            <a:solidFill>
              <a:srgbClr val="3C3F4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57714" y="5395468"/>
            <a:ext cx="1143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spc="16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426114" y="5375783"/>
            <a:ext cx="5969000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Stop, standardize or define a bounded pilot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2257714" y="5664200"/>
            <a:ext cx="7229186" cy="0"/>
          </a:xfrm>
          <a:prstGeom prst="line">
            <a:avLst/>
          </a:prstGeom>
          <a:noFill/>
          <a:ln w="7620">
            <a:solidFill>
              <a:srgbClr val="3C3F4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257714" y="6220714"/>
            <a:ext cx="711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spc="160" kern="0" dirty="0">
                <a:solidFill>
                  <a:srgbClr val="E3A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PRICING EXERCISE. NO BROAD COMMERCIAL COMMITMENT.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257714" y="6735191"/>
            <a:ext cx="7112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  |   Director, Power Generation Solutions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2257714" y="6938391"/>
            <a:ext cx="7112000" cy="17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A8A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stephan.hardt@southwire.com   |   +1 470-439-8488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Accelerating Time to Power — NRG | Southwire Power Generation Solutions</dc:title>
  <dc:subject>SWR-PG-BROCHURE-NRG Rev 01</dc:subject>
  <dc:creator>Stephan Hardt</dc:creator>
  <cp:lastModifiedBy>Stephan Hardt</cp:lastModifiedBy>
  <cp:revision>1</cp:revision>
  <dcterms:created xsi:type="dcterms:W3CDTF">2026-08-14T11:05:10Z</dcterms:created>
  <dcterms:modified xsi:type="dcterms:W3CDTF">2026-08-14T11:05:10Z</dcterms:modified>
</cp:coreProperties>
</file>