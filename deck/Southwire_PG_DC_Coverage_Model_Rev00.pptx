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session: this is Version 0 — a model to be challenged and rewritten here, then refined by Marc and Stephan before it goes to Jack. The package is built around three things, in order: the customer sees one coordinated Southwire; someone is accountable for every dollar we say we are pursuing; the assignment goes to the team that can actually execute. Session rules from Aug 17: three non-negotiable outcomes and a parking lot with owners.
[Sources] SWR-PG-ROE Rev 00 §1, §10; Aug 17 and Aug 24 working calls.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categories requested are not one taxonomy, and the session should not try to make them one. Power Generation, Data Center, Industrial and Utility describe the asset or end market the cable serves. OEM describes a customer type — a manufacturer that designs Southwire product into its own equipment and buys to a program spec, repeatedly — and it cuts across all four. Ownership is assigned on axis 1; coverage method and the coordinator role are decided on axis 2.
[Sources] SWR-PG-ROE Rev 00 §2–3; outside-in readout Part A (peers run product/segment structures with data center as a cross-cutting theme).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Rules 1 and 2 are applied, in order, to every opportunity and settle most cases. Rules 3–6 only exist for a genuine split. On strategy strength: as a primary rule it needs a judge and there is no neutral one below Donna, it rewards presentation over position, and it invites re-litigation every quarter. As a scored tie-breaker with a 90-day execution check it is useful because it forces both teams to write a real plan — best executed strategy keeps the opportunity. Marc's own Aug 24 question — who would be the judge inside Southwire — is the reason it cannot be the rule.
[Sources] SWR-PG-ROE Rev 00 §4.1, §4.3.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two boundary questions asked most, plus the industrial line. Behind-the-meter generation defaulting to PG was agreed in principle on the Aug 24 call — as generation equipment regardless of end user. Two facts settle most industrial cases: does the site export, and is the generation asset owned by a third party (if so, that owner monetizes generation and it is PG). Exception still to decide: a merchant line or a BESS-to-plant tie owned by the generator.
[Sources] SWR-PG-ROE Rev 00 §3.7; Aug 20 and Aug 24 calls.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each case through Rules 1–2 out loud; none of them needs a tie-breaker. Distributor issuing the PO on an OEM-led deal: the distributor is a channel — ownership follows the OEM product line, and the distributor is managed under Marc's direct-versus-distribution rule. Public record backs the pattern: Powell's largest-ever data-center order is itself a behind-the-meter generation asset — the two verticals converge in a single order.
[Sources] SWR-PG-ROE Rev 00 §4.2; outside-in readout Part C (Powell 10-Q/8-K, Q3 2026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Putting both jobs in one person per company is what forces defensive account-holding. A coordinator whose vertical adds no value to a given opportunity may delegate the customer face for that opportunity — written and time-boxed. Sales credit goes to the opportunity lead; influence credit for the coordinator is a compensation question for Marc and finance (TO SUPPLY) — influence must trace to the PO line or attribution will be disputed (Stephan's Aug 17 concern). Published practice supports exactly this separation (ZS/SAMA account-vs-opportunity ownership; McKinsey one-face-many-specialists).
[Sources] SWR-PG-ROE Rev 00 §5; outside-in readout Part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Fairness is the only way this survives contact with Jack: the same standard, in the same words, applied to Tim's accounts and to PG's. A reset fight in the first tranche costs more political capital than the accounts are worth. Open item (TO SUPPLY): whether the same standard applies to Brian Sides' accounts and to distributor- and agent-owned accounts (Bob Bennish's organization) — if not, the DC team will ask why the rule only runs one way.
[Sources] SWR-PG-ROE Rev 00 §6; Marc's Aug 24 question on contest-versus-reset.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criteria, 0–3 each, 18 maximum. Scores and plans are filed with the opportunity record so the next contest starts from evidence, not memory. This is where strategy strength lives — as the forcing function that makes both teams write a plan with dates and dollars, with a 90-day execution test — not as a primary rule.
[Sources] SWR-PG-ROE Rev 00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proposed leads are what the rules would give, conditional on the facts marked TO SUPPLY — without Tim's documented activity the table shows what PG would propose, not what the evidence supports. nVent/Trachte and the cooling OEMs are in the tranche because they show the model rejecting a PG claim as well as making one. Site work in motion: Texas week of Sept 21 — Enchanted Rock confirmed, VoltaGrid being scheduled, Phil Metz on Powell, Stephan on NRG / CPV / Vistra / Chevron.
[Sources] SWR-PG-ROE Rev 00 §8, §11; July quoting figures as sent to Marc Aug 25 (17 IPP pursuits, &gt;$200M W&amp;C).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public, citable sources; no internal information. The recurring public answer to overlap is cross-divisional coordination plus vertical sales alignment — not hard account walls. The most stable ownership discriminator in the public evidence is the buying center: energy/power procurement versus facility construction versus EPC versus utility. This is the outside validation for the two-axis frame and the two-role model.
[Sources] Outside-in readout (Prysmian FY2025 results and data-center statements; Eaton FY2025 10-K; Hubbell Investor Day 2024 and Q2 2026 call; Schneider via Utility Dive 2026; Powell 10-K/10-Q and Q3 2026 call; Canary Media on Google/Microsoft energy teams; ZS/SAMA, McKinsey, HBR on coverage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gas-power executive readout (research cutoff Aug 27): base-case $170–240M per year in POs through 2030, constant 2026 dollars, manufacturer net sales, generation-side cable only; shipments peak 2028–29 at ~$240M. Two things move the answer most: Southwire's own cable-per-MW history (the model carries a 5.3x multiple over the public floor) and a fuller project census (86% of TAM is unnamed residual). 2026 split: $240M full-year market, ~$73M still open after Aug 27, $89M awarded-but-unshipped backlog. Mention, do not present, unless asked.
[Sources] Gas-Power Wire &amp; Cable Executive Readout (model v1, 27 QA tests, 3 disclosed exceptions); NRG/GE Vernova/Kiewit 8-K; GEM reconciliation in the same readout.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Governance behind this slide: each vertical director proposes ownership for their own accounts in tranches of ten with evidence attached; Marc and Jack jointly approve the rules once; tranches approve within two weeks or default to the proposal — silence cannot hold an account. Contested opportunities review at 90 days; coordinator lists quarterly; whoever claims an account reports its status monthly — claiming everything means reporting on everything, which shrinks lists on its own. Escalation: Marc and Jack with the rubric; unresolved after two weeks goes to Donna (whether Jack is Marc's peer is TO SUPPLY — it determines whether Donna is the right escalation).
[Sources] SWR-PG-ROE Rev 00 §9–10.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has been invented to fill a table — every account fact not in hand is marked TO SUPPLY, and this is the full list. The first four items are the evidence request that leaves today's session addressed to Tim via Jack.
[Sources] SWR-PG-ROE Rev 00 §11.1.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eight handwritten prep questions, in the order the session hits them. Internal decisions still open behind them: plant switchyard (recommend PG), grid-side BESS (PG or Renewables — not ready for Jack), captive cogeneration (Industrial by default with PG supporting the generation spec; exporting or third-party-owned goes to PG), Brian Sides' scope against PG's 2028-29 horizon (agreed in principle Aug 20).
[Sources] SWR-PG-ROE Rev 00 §12, §3.2, §10.1.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D21"/>
        </a:solidFill>
      </p:bgPr>
    </p:bg>
    <p:spTree>
      <p:nvGrpSpPr>
        <p:cNvPr id="1" name=""/>
        <p:cNvGrpSpPr/>
        <p:nvPr/>
      </p:nvGrpSpPr>
      <p:grpSpPr>
        <a:xfrm>
          <a:off x="0" y="0"/>
          <a:ext cx="0" cy="0"/>
          <a:chOff x="0" y="0"/>
          <a:chExt cx="0" cy="0"/>
        </a:xfrm>
      </p:grpSpPr>
      <p:sp>
        <p:nvSpPr>
          <p:cNvPr id="2" name="Text 0"/>
          <p:cNvSpPr txBox="1"/>
          <p:nvPr/>
        </p:nvSpPr>
        <p:spPr>
          <a:xfrm>
            <a:off x="548640" y="438912"/>
            <a:ext cx="11091672" cy="274320"/>
          </a:xfrm>
          <a:prstGeom prst="rect">
            <a:avLst/>
          </a:prstGeom>
          <a:noFill/>
          <a:ln/>
        </p:spPr>
        <p:txBody>
          <a:bodyPr wrap="square" lIns="0" tIns="0" rIns="0" bIns="0" rtlCol="0" anchor="ctr"/>
          <a:lstStyle/>
          <a:p>
            <a:pPr algn="l" indent="0" marL="0">
              <a:buNone/>
            </a:pPr>
            <a:r>
              <a:rPr lang="en-US" sz="1050" b="1" spc="200" kern="0" dirty="0">
                <a:solidFill>
                  <a:srgbClr val="C67A43"/>
                </a:solidFill>
                <a:latin typeface="Arial" pitchFamily="34" charset="0"/>
                <a:ea typeface="Arial" pitchFamily="34" charset="-122"/>
                <a:cs typeface="Arial" pitchFamily="34" charset="-120"/>
              </a:rPr>
              <a:t>POWER GENERATION × DATA CENTER · WORKING SESSION · MARC HALL / STEPHAN HARDT · THURSDAY 9:00–1:00</a:t>
            </a:r>
            <a:endParaRPr lang="en-US" sz="1050" dirty="0"/>
          </a:p>
        </p:txBody>
      </p:sp>
      <p:sp>
        <p:nvSpPr>
          <p:cNvPr id="3" name="Text 1"/>
          <p:cNvSpPr txBox="1"/>
          <p:nvPr/>
        </p:nvSpPr>
        <p:spPr>
          <a:xfrm>
            <a:off x="548640" y="768096"/>
            <a:ext cx="11091672" cy="731520"/>
          </a:xfrm>
          <a:prstGeom prst="rect">
            <a:avLst/>
          </a:prstGeom>
          <a:noFill/>
          <a:ln/>
        </p:spPr>
        <p:txBody>
          <a:bodyPr wrap="square" lIns="0" tIns="0" rIns="0" bIns="0" rtlCol="0" anchor="t"/>
          <a:lstStyle/>
          <a:p>
            <a:pPr algn="l" indent="0" marL="0">
              <a:buNone/>
            </a:pPr>
            <a:r>
              <a:rPr lang="en-US" sz="3100" b="1" dirty="0">
                <a:solidFill>
                  <a:srgbClr val="FFFFFF"/>
                </a:solidFill>
                <a:latin typeface="Arial" pitchFamily="34" charset="0"/>
                <a:ea typeface="Arial" pitchFamily="34" charset="-122"/>
                <a:cs typeface="Arial" pitchFamily="34" charset="-120"/>
              </a:rPr>
              <a:t>One coordinated face. One owner for every dollar. Execution decides.</a:t>
            </a:r>
            <a:endParaRPr lang="en-US" sz="3100" dirty="0"/>
          </a:p>
        </p:txBody>
      </p:sp>
      <p:sp>
        <p:nvSpPr>
          <p:cNvPr id="4" name="Text 2"/>
          <p:cNvSpPr txBox="1"/>
          <p:nvPr/>
        </p:nvSpPr>
        <p:spPr>
          <a:xfrm>
            <a:off x="548640" y="1847088"/>
            <a:ext cx="10607040" cy="566928"/>
          </a:xfrm>
          <a:prstGeom prst="rect">
            <a:avLst/>
          </a:prstGeom>
          <a:noFill/>
          <a:ln/>
        </p:spPr>
        <p:txBody>
          <a:bodyPr wrap="square" lIns="0" tIns="0" rIns="0" bIns="0" rtlCol="0" anchor="t"/>
          <a:lstStyle/>
          <a:p>
            <a:pPr indent="0" marL="0">
              <a:buNone/>
            </a:pPr>
            <a:r>
              <a:rPr lang="en-US" sz="1300" dirty="0">
                <a:solidFill>
                  <a:srgbClr val="A6ACB3"/>
                </a:solidFill>
                <a:latin typeface="Arial" pitchFamily="34" charset="0"/>
                <a:ea typeface="Arial" pitchFamily="34" charset="-122"/>
                <a:cs typeface="Arial" pitchFamily="34" charset="-120"/>
              </a:rPr>
              <a:t>Coverage model, boundary rules and rules of engagement — Version 0, built to be challenged and rewritten in this room before anything goes to Jack. Nothing in it is approved.</a:t>
            </a:r>
            <a:endParaRPr lang="en-US" sz="1300" dirty="0"/>
          </a:p>
        </p:txBody>
      </p:sp>
      <p:sp>
        <p:nvSpPr>
          <p:cNvPr id="5" name="Text 3"/>
          <p:cNvSpPr txBox="1"/>
          <p:nvPr/>
        </p:nvSpPr>
        <p:spPr>
          <a:xfrm>
            <a:off x="548640" y="2468880"/>
            <a:ext cx="7315200" cy="237744"/>
          </a:xfrm>
          <a:prstGeom prst="rect">
            <a:avLst/>
          </a:prstGeom>
          <a:noFill/>
          <a:ln/>
        </p:spPr>
        <p:txBody>
          <a:bodyPr wrap="square" lIns="0" tIns="0" rIns="0" bIns="0" rtlCol="0" anchor="ctr"/>
          <a:lstStyle/>
          <a:p>
            <a:pPr indent="0" marL="0">
              <a:buNone/>
            </a:pPr>
            <a:r>
              <a:rPr lang="en-US" sz="1000" b="1" spc="150" kern="0" dirty="0">
                <a:solidFill>
                  <a:srgbClr val="C67A43"/>
                </a:solidFill>
                <a:latin typeface="Arial" pitchFamily="34" charset="0"/>
                <a:ea typeface="Arial" pitchFamily="34" charset="-122"/>
                <a:cs typeface="Arial" pitchFamily="34" charset="-120"/>
              </a:rPr>
              <a:t>THREE NON-NEGOTIABLE OUTCOMES FOR TODAY</a:t>
            </a:r>
            <a:endParaRPr lang="en-US" sz="1000" dirty="0"/>
          </a:p>
        </p:txBody>
      </p:sp>
      <p:sp>
        <p:nvSpPr>
          <p:cNvPr id="6" name="Shape 4"/>
          <p:cNvSpPr/>
          <p:nvPr/>
        </p:nvSpPr>
        <p:spPr>
          <a:xfrm>
            <a:off x="548640" y="2834640"/>
            <a:ext cx="11091672" cy="868680"/>
          </a:xfrm>
          <a:prstGeom prst="rect">
            <a:avLst/>
          </a:prstGeom>
          <a:solidFill>
            <a:srgbClr val="23272C"/>
          </a:solidFill>
          <a:ln/>
        </p:spPr>
      </p:sp>
      <p:sp>
        <p:nvSpPr>
          <p:cNvPr id="7" name="Text 5"/>
          <p:cNvSpPr txBox="1"/>
          <p:nvPr/>
        </p:nvSpPr>
        <p:spPr>
          <a:xfrm>
            <a:off x="822960" y="2999232"/>
            <a:ext cx="548640" cy="548640"/>
          </a:xfrm>
          <a:prstGeom prst="rect">
            <a:avLst/>
          </a:prstGeom>
          <a:noFill/>
          <a:ln/>
        </p:spPr>
        <p:txBody>
          <a:bodyPr wrap="square" lIns="0" tIns="0" rIns="0" bIns="0" rtlCol="0" anchor="t"/>
          <a:lstStyle/>
          <a:p>
            <a:pPr indent="0" marL="0">
              <a:buNone/>
            </a:pPr>
            <a:r>
              <a:rPr lang="en-US" sz="2600" b="1" dirty="0">
                <a:solidFill>
                  <a:srgbClr val="C67A43"/>
                </a:solidFill>
                <a:latin typeface="Arial" pitchFamily="34" charset="0"/>
                <a:ea typeface="Arial" pitchFamily="34" charset="-122"/>
                <a:cs typeface="Arial" pitchFamily="34" charset="-120"/>
              </a:rPr>
              <a:t>1</a:t>
            </a:r>
            <a:endParaRPr lang="en-US" sz="2600" dirty="0"/>
          </a:p>
        </p:txBody>
      </p:sp>
      <p:sp>
        <p:nvSpPr>
          <p:cNvPr id="8" name="Text 6"/>
          <p:cNvSpPr txBox="1"/>
          <p:nvPr/>
        </p:nvSpPr>
        <p:spPr>
          <a:xfrm>
            <a:off x="1554480" y="2999232"/>
            <a:ext cx="9784080" cy="566928"/>
          </a:xfrm>
          <a:prstGeom prst="rect">
            <a:avLst/>
          </a:prstGeom>
          <a:noFill/>
          <a:ln/>
        </p:spPr>
        <p:txBody>
          <a:bodyPr wrap="square" lIns="0" tIns="0" rIns="0" bIns="0" rtlCol="0" anchor="t"/>
          <a:lstStyle/>
          <a:p>
            <a:pPr indent="0" marL="0">
              <a:buNone/>
            </a:pPr>
            <a:r>
              <a:rPr lang="en-US" sz="1350" dirty="0">
                <a:solidFill>
                  <a:srgbClr val="FFFFFF"/>
                </a:solidFill>
                <a:latin typeface="Arial" pitchFamily="34" charset="0"/>
                <a:ea typeface="Arial" pitchFamily="34" charset="-122"/>
                <a:cs typeface="Arial" pitchFamily="34" charset="-120"/>
              </a:rPr>
              <a:t>The one-page definition, signed by Marc and Stephan — asset served plus specification control.</a:t>
            </a:r>
            <a:endParaRPr lang="en-US" sz="1350" dirty="0"/>
          </a:p>
        </p:txBody>
      </p:sp>
      <p:sp>
        <p:nvSpPr>
          <p:cNvPr id="9" name="Shape 7"/>
          <p:cNvSpPr/>
          <p:nvPr/>
        </p:nvSpPr>
        <p:spPr>
          <a:xfrm>
            <a:off x="548640" y="3886200"/>
            <a:ext cx="11091672" cy="868680"/>
          </a:xfrm>
          <a:prstGeom prst="rect">
            <a:avLst/>
          </a:prstGeom>
          <a:solidFill>
            <a:srgbClr val="23272C"/>
          </a:solidFill>
          <a:ln/>
        </p:spPr>
      </p:sp>
      <p:sp>
        <p:nvSpPr>
          <p:cNvPr id="10" name="Text 8"/>
          <p:cNvSpPr txBox="1"/>
          <p:nvPr/>
        </p:nvSpPr>
        <p:spPr>
          <a:xfrm>
            <a:off x="822960" y="4050792"/>
            <a:ext cx="548640" cy="548640"/>
          </a:xfrm>
          <a:prstGeom prst="rect">
            <a:avLst/>
          </a:prstGeom>
          <a:noFill/>
          <a:ln/>
        </p:spPr>
        <p:txBody>
          <a:bodyPr wrap="square" lIns="0" tIns="0" rIns="0" bIns="0" rtlCol="0" anchor="t"/>
          <a:lstStyle/>
          <a:p>
            <a:pPr indent="0" marL="0">
              <a:buNone/>
            </a:pPr>
            <a:r>
              <a:rPr lang="en-US" sz="2600" b="1" dirty="0">
                <a:solidFill>
                  <a:srgbClr val="C67A43"/>
                </a:solidFill>
                <a:latin typeface="Arial" pitchFamily="34" charset="0"/>
                <a:ea typeface="Arial" pitchFamily="34" charset="-122"/>
                <a:cs typeface="Arial" pitchFamily="34" charset="-120"/>
              </a:rPr>
              <a:t>2</a:t>
            </a:r>
            <a:endParaRPr lang="en-US" sz="2600" dirty="0"/>
          </a:p>
        </p:txBody>
      </p:sp>
      <p:sp>
        <p:nvSpPr>
          <p:cNvPr id="11" name="Text 9"/>
          <p:cNvSpPr txBox="1"/>
          <p:nvPr/>
        </p:nvSpPr>
        <p:spPr>
          <a:xfrm>
            <a:off x="1554480" y="4050792"/>
            <a:ext cx="9784080" cy="566928"/>
          </a:xfrm>
          <a:prstGeom prst="rect">
            <a:avLst/>
          </a:prstGeom>
          <a:noFill/>
          <a:ln/>
        </p:spPr>
        <p:txBody>
          <a:bodyPr wrap="square" lIns="0" tIns="0" rIns="0" bIns="0" rtlCol="0" anchor="t"/>
          <a:lstStyle/>
          <a:p>
            <a:pPr indent="0" marL="0">
              <a:buNone/>
            </a:pPr>
            <a:r>
              <a:rPr lang="en-US" sz="1350" dirty="0">
                <a:solidFill>
                  <a:srgbClr val="FFFFFF"/>
                </a:solidFill>
                <a:latin typeface="Arial" pitchFamily="34" charset="0"/>
                <a:ea typeface="Arial" pitchFamily="34" charset="-122"/>
                <a:cs typeface="Arial" pitchFamily="34" charset="-120"/>
              </a:rPr>
              <a:t>Tranche 1 — ten accounts with proposed roles, and the evidence request to Tim.</a:t>
            </a:r>
            <a:endParaRPr lang="en-US" sz="1350" dirty="0"/>
          </a:p>
        </p:txBody>
      </p:sp>
      <p:sp>
        <p:nvSpPr>
          <p:cNvPr id="12" name="Shape 10"/>
          <p:cNvSpPr/>
          <p:nvPr/>
        </p:nvSpPr>
        <p:spPr>
          <a:xfrm>
            <a:off x="548640" y="4937760"/>
            <a:ext cx="11091672" cy="868680"/>
          </a:xfrm>
          <a:prstGeom prst="rect">
            <a:avLst/>
          </a:prstGeom>
          <a:solidFill>
            <a:srgbClr val="23272C"/>
          </a:solidFill>
          <a:ln/>
        </p:spPr>
      </p:sp>
      <p:sp>
        <p:nvSpPr>
          <p:cNvPr id="13" name="Text 11"/>
          <p:cNvSpPr txBox="1"/>
          <p:nvPr/>
        </p:nvSpPr>
        <p:spPr>
          <a:xfrm>
            <a:off x="822960" y="5102352"/>
            <a:ext cx="548640" cy="548640"/>
          </a:xfrm>
          <a:prstGeom prst="rect">
            <a:avLst/>
          </a:prstGeom>
          <a:noFill/>
          <a:ln/>
        </p:spPr>
        <p:txBody>
          <a:bodyPr wrap="square" lIns="0" tIns="0" rIns="0" bIns="0" rtlCol="0" anchor="t"/>
          <a:lstStyle/>
          <a:p>
            <a:pPr indent="0" marL="0">
              <a:buNone/>
            </a:pPr>
            <a:r>
              <a:rPr lang="en-US" sz="2600" b="1" dirty="0">
                <a:solidFill>
                  <a:srgbClr val="C67A43"/>
                </a:solidFill>
                <a:latin typeface="Arial" pitchFamily="34" charset="0"/>
                <a:ea typeface="Arial" pitchFamily="34" charset="-122"/>
                <a:cs typeface="Arial" pitchFamily="34" charset="-120"/>
              </a:rPr>
              <a:t>3</a:t>
            </a:r>
            <a:endParaRPr lang="en-US" sz="2600" dirty="0"/>
          </a:p>
        </p:txBody>
      </p:sp>
      <p:sp>
        <p:nvSpPr>
          <p:cNvPr id="14" name="Text 12"/>
          <p:cNvSpPr txBox="1"/>
          <p:nvPr/>
        </p:nvSpPr>
        <p:spPr>
          <a:xfrm>
            <a:off x="1554480" y="5102352"/>
            <a:ext cx="9784080" cy="566928"/>
          </a:xfrm>
          <a:prstGeom prst="rect">
            <a:avLst/>
          </a:prstGeom>
          <a:noFill/>
          <a:ln/>
        </p:spPr>
        <p:txBody>
          <a:bodyPr wrap="square" lIns="0" tIns="0" rIns="0" bIns="0" rtlCol="0" anchor="t"/>
          <a:lstStyle/>
          <a:p>
            <a:pPr indent="0" marL="0">
              <a:buNone/>
            </a:pPr>
            <a:r>
              <a:rPr lang="en-US" sz="1350" dirty="0">
                <a:solidFill>
                  <a:srgbClr val="FFFFFF"/>
                </a:solidFill>
                <a:latin typeface="Arial" pitchFamily="34" charset="0"/>
                <a:ea typeface="Arial" pitchFamily="34" charset="-122"/>
                <a:cs typeface="Arial" pitchFamily="34" charset="-120"/>
              </a:rPr>
              <a:t>The six-item ask to Jack, with a meeting date.</a:t>
            </a:r>
            <a:endParaRPr lang="en-US" sz="1350" dirty="0"/>
          </a:p>
        </p:txBody>
      </p:sp>
      <p:sp>
        <p:nvSpPr>
          <p:cNvPr id="15" name="Text 13"/>
          <p:cNvSpPr txBox="1"/>
          <p:nvPr/>
        </p:nvSpPr>
        <p:spPr>
          <a:xfrm>
            <a:off x="548640" y="6035040"/>
            <a:ext cx="11091672" cy="274320"/>
          </a:xfrm>
          <a:prstGeom prst="rect">
            <a:avLst/>
          </a:prstGeom>
          <a:noFill/>
          <a:ln/>
        </p:spPr>
        <p:txBody>
          <a:bodyPr wrap="square" lIns="0" tIns="0" rIns="0" bIns="0" rtlCol="0" anchor="ctr"/>
          <a:lstStyle/>
          <a:p>
            <a:pPr indent="0" marL="0">
              <a:buNone/>
            </a:pPr>
            <a:r>
              <a:rPr lang="en-US" sz="950" i="1" dirty="0">
                <a:solidFill>
                  <a:srgbClr val="A6ACB3"/>
                </a:solidFill>
                <a:latin typeface="Arial" pitchFamily="34" charset="0"/>
                <a:ea typeface="Arial" pitchFamily="34" charset="-122"/>
                <a:cs typeface="Arial" pitchFamily="34" charset="-120"/>
              </a:rPr>
              <a:t>How to read this deck:  [F] known fact · [A] assumption · [R] recommendation · TO SUPPLY = a fact still needed. Challenge the [A]s first — the [R]s depend on them.</a:t>
            </a:r>
            <a:endParaRPr lang="en-US" sz="950" dirty="0"/>
          </a:p>
        </p:txBody>
      </p:sp>
      <p:sp>
        <p:nvSpPr>
          <p:cNvPr id="16" name="Text 14"/>
          <p:cNvSpPr txBox="1"/>
          <p:nvPr/>
        </p:nvSpPr>
        <p:spPr>
          <a:xfrm>
            <a:off x="548640" y="6510528"/>
            <a:ext cx="5029200" cy="237744"/>
          </a:xfrm>
          <a:prstGeom prst="rect">
            <a:avLst/>
          </a:prstGeom>
          <a:noFill/>
          <a:ln/>
        </p:spPr>
        <p:txBody>
          <a:bodyPr wrap="square" lIns="0" tIns="0" rIns="0" bIns="0" rtlCol="0" anchor="ctr"/>
          <a:lstStyle/>
          <a:p>
            <a:pPr algn="l" indent="0" marL="0">
              <a:buNone/>
            </a:pPr>
            <a:r>
              <a:rPr lang="en-US" sz="800" dirty="0">
                <a:solidFill>
                  <a:srgbClr val="8C9299"/>
                </a:solidFill>
                <a:latin typeface="Arial" pitchFamily="34" charset="0"/>
                <a:ea typeface="Arial" pitchFamily="34" charset="-122"/>
                <a:cs typeface="Arial" pitchFamily="34" charset="-120"/>
              </a:rPr>
              <a:t>Stephan Hardt · Power Generation Solutions</a:t>
            </a:r>
            <a:endParaRPr lang="en-US" sz="800" dirty="0"/>
          </a:p>
        </p:txBody>
      </p:sp>
      <p:sp>
        <p:nvSpPr>
          <p:cNvPr id="17" name="Text 15"/>
          <p:cNvSpPr txBox="1"/>
          <p:nvPr/>
        </p:nvSpPr>
        <p:spPr>
          <a:xfrm>
            <a:off x="5943600" y="6510528"/>
            <a:ext cx="5696712" cy="237744"/>
          </a:xfrm>
          <a:prstGeom prst="rect">
            <a:avLst/>
          </a:prstGeom>
          <a:noFill/>
          <a:ln/>
        </p:spPr>
        <p:txBody>
          <a:bodyPr wrap="square" lIns="0" tIns="0" rIns="0" bIns="0" rtlCol="0" anchor="ctr"/>
          <a:lstStyle/>
          <a:p>
            <a:pPr algn="r" indent="0" marL="0">
              <a:buNone/>
            </a:pPr>
            <a:r>
              <a:rPr lang="en-US" sz="800" dirty="0">
                <a:solidFill>
                  <a:srgbClr val="8C9299"/>
                </a:solidFill>
                <a:latin typeface="Arial" pitchFamily="34" charset="0"/>
                <a:ea typeface="Arial" pitchFamily="34" charset="-122"/>
                <a:cs typeface="Arial" pitchFamily="34" charset="-120"/>
              </a:rPr>
              <a:t>SWR-PG-ROE Rev 00 · Working draft — Southwire internal · slide 1 of 14</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38912"/>
            <a:ext cx="11091672" cy="274320"/>
          </a:xfrm>
          <a:prstGeom prst="rect">
            <a:avLst/>
          </a:prstGeom>
          <a:noFill/>
          <a:ln/>
        </p:spPr>
        <p:txBody>
          <a:bodyPr wrap="square" lIns="0" tIns="0" rIns="0" bIns="0" rtlCol="0" anchor="ctr"/>
          <a:lstStyle/>
          <a:p>
            <a:pPr algn="l" indent="0" marL="0">
              <a:buNone/>
            </a:pPr>
            <a:r>
              <a:rPr lang="en-US" sz="1050" b="1" spc="200" kern="0" dirty="0">
                <a:solidFill>
                  <a:srgbClr val="C67A43"/>
                </a:solidFill>
                <a:latin typeface="Arial" pitchFamily="34" charset="0"/>
                <a:ea typeface="Arial" pitchFamily="34" charset="-122"/>
                <a:cs typeface="Arial" pitchFamily="34" charset="-120"/>
              </a:rPr>
              <a:t>THE STRUCTURAL FIX</a:t>
            </a:r>
            <a:endParaRPr lang="en-US" sz="1050" dirty="0"/>
          </a:p>
        </p:txBody>
      </p:sp>
      <p:sp>
        <p:nvSpPr>
          <p:cNvPr id="3" name="Text 1"/>
          <p:cNvSpPr txBox="1"/>
          <p:nvPr/>
        </p:nvSpPr>
        <p:spPr>
          <a:xfrm>
            <a:off x="11109960" y="438912"/>
            <a:ext cx="530352" cy="237744"/>
          </a:xfrm>
          <a:prstGeom prst="roundRect">
            <a:avLst>
              <a:gd name="adj" fmla="val 15385"/>
            </a:avLst>
          </a:prstGeom>
          <a:solidFill>
            <a:srgbClr val="C67A43"/>
          </a:solidFill>
          <a:ln/>
        </p:spPr>
        <p:txBody>
          <a:bodyPr wrap="square" lIns="0" tIns="0" rIns="0" bIns="0" rtlCol="0" anchor="ctr"/>
          <a:lstStyle/>
          <a:p>
            <a:pPr algn="ctr" indent="0" marL="0">
              <a:buNone/>
            </a:pPr>
            <a:r>
              <a:rPr lang="en-US" sz="800" b="1" spc="100" kern="0" dirty="0">
                <a:solidFill>
                  <a:srgbClr val="FFFFFF"/>
                </a:solidFill>
                <a:latin typeface="Arial" pitchFamily="34" charset="0"/>
                <a:ea typeface="Arial" pitchFamily="34" charset="-122"/>
                <a:cs typeface="Arial" pitchFamily="34" charset="-120"/>
              </a:rPr>
              <a:t>[R]</a:t>
            </a:r>
            <a:endParaRPr lang="en-US" sz="800" dirty="0"/>
          </a:p>
        </p:txBody>
      </p:sp>
      <p:sp>
        <p:nvSpPr>
          <p:cNvPr id="4" name="Text 2"/>
          <p:cNvSpPr txBox="1"/>
          <p:nvPr/>
        </p:nvSpPr>
        <p:spPr>
          <a:xfrm>
            <a:off x="548640" y="768096"/>
            <a:ext cx="11091672" cy="640080"/>
          </a:xfrm>
          <a:prstGeom prst="rect">
            <a:avLst/>
          </a:prstGeom>
          <a:noFill/>
          <a:ln/>
        </p:spPr>
        <p:txBody>
          <a:bodyPr wrap="square" lIns="0" tIns="0" rIns="0" bIns="0" rtlCol="0" anchor="t"/>
          <a:lstStyle/>
          <a:p>
            <a:pPr algn="l" indent="0" marL="0">
              <a:buNone/>
            </a:pPr>
            <a:r>
              <a:rPr lang="en-US" sz="2800" b="1" dirty="0">
                <a:solidFill>
                  <a:srgbClr val="1A1D21"/>
                </a:solidFill>
                <a:latin typeface="Arial" pitchFamily="34" charset="0"/>
                <a:ea typeface="Arial" pitchFamily="34" charset="-122"/>
                <a:cs typeface="Arial" pitchFamily="34" charset="-120"/>
              </a:rPr>
              <a:t>Five labels, two axes. Ownership follows the asset; coverage follows the buyer.</a:t>
            </a:r>
            <a:endParaRPr lang="en-US" sz="2800" dirty="0"/>
          </a:p>
        </p:txBody>
      </p:sp>
      <p:sp>
        <p:nvSpPr>
          <p:cNvPr id="5" name="Shape 3"/>
          <p:cNvSpPr/>
          <p:nvPr/>
        </p:nvSpPr>
        <p:spPr>
          <a:xfrm>
            <a:off x="548640" y="1783080"/>
            <a:ext cx="5468112" cy="2743200"/>
          </a:xfrm>
          <a:prstGeom prst="rect">
            <a:avLst/>
          </a:prstGeom>
          <a:solidFill>
            <a:srgbClr val="F5F4F2"/>
          </a:solidFill>
          <a:ln/>
        </p:spPr>
      </p:sp>
      <p:sp>
        <p:nvSpPr>
          <p:cNvPr id="6" name="Text 4"/>
          <p:cNvSpPr txBox="1"/>
          <p:nvPr/>
        </p:nvSpPr>
        <p:spPr>
          <a:xfrm>
            <a:off x="777240" y="1965960"/>
            <a:ext cx="5029200" cy="256032"/>
          </a:xfrm>
          <a:prstGeom prst="rect">
            <a:avLst/>
          </a:prstGeom>
          <a:noFill/>
          <a:ln/>
        </p:spPr>
        <p:txBody>
          <a:bodyPr wrap="square" lIns="0" tIns="0" rIns="0" bIns="0" rtlCol="0" anchor="ctr"/>
          <a:lstStyle/>
          <a:p>
            <a:pPr indent="0" marL="0">
              <a:buNone/>
            </a:pPr>
            <a:r>
              <a:rPr lang="en-US" sz="1100" b="1" spc="150" kern="0" dirty="0">
                <a:solidFill>
                  <a:srgbClr val="C67A43"/>
                </a:solidFill>
                <a:latin typeface="Arial" pitchFamily="34" charset="0"/>
                <a:ea typeface="Arial" pitchFamily="34" charset="-122"/>
                <a:cs typeface="Arial" pitchFamily="34" charset="-120"/>
              </a:rPr>
              <a:t>AXIS 1 — ASSET SERVED</a:t>
            </a:r>
            <a:endParaRPr lang="en-US" sz="1100" dirty="0"/>
          </a:p>
        </p:txBody>
      </p:sp>
      <p:sp>
        <p:nvSpPr>
          <p:cNvPr id="7" name="Text 5"/>
          <p:cNvSpPr txBox="1"/>
          <p:nvPr/>
        </p:nvSpPr>
        <p:spPr>
          <a:xfrm>
            <a:off x="777240" y="2286000"/>
            <a:ext cx="5029200" cy="292608"/>
          </a:xfrm>
          <a:prstGeom prst="rect">
            <a:avLst/>
          </a:prstGeom>
          <a:noFill/>
          <a:ln/>
        </p:spPr>
        <p:txBody>
          <a:bodyPr wrap="square" lIns="0" tIns="0" rIns="0" bIns="0" rtlCol="0" anchor="ctr"/>
          <a:lstStyle/>
          <a:p>
            <a:pPr indent="0" marL="0">
              <a:buNone/>
            </a:pPr>
            <a:r>
              <a:rPr lang="en-US" sz="1300" b="1" dirty="0">
                <a:solidFill>
                  <a:srgbClr val="1A1D21"/>
                </a:solidFill>
                <a:latin typeface="Arial" pitchFamily="34" charset="0"/>
                <a:ea typeface="Arial" pitchFamily="34" charset="-122"/>
                <a:cs typeface="Arial" pitchFamily="34" charset="-120"/>
              </a:rPr>
              <a:t>What does the cable physically feed?</a:t>
            </a:r>
            <a:endParaRPr lang="en-US" sz="1300" dirty="0"/>
          </a:p>
        </p:txBody>
      </p:sp>
      <p:sp>
        <p:nvSpPr>
          <p:cNvPr id="8" name="Text 6"/>
          <p:cNvSpPr txBox="1"/>
          <p:nvPr/>
        </p:nvSpPr>
        <p:spPr>
          <a:xfrm>
            <a:off x="777240" y="2697480"/>
            <a:ext cx="5029200" cy="868680"/>
          </a:xfrm>
          <a:prstGeom prst="rect">
            <a:avLst/>
          </a:prstGeom>
          <a:noFill/>
          <a:ln/>
        </p:spPr>
        <p:txBody>
          <a:bodyPr wrap="square" lIns="0" tIns="0" rIns="0" bIns="0" rtlCol="0" anchor="t"/>
          <a:lstStyle/>
          <a:p>
            <a:pPr indent="0" marL="0">
              <a:buNone/>
            </a:pPr>
            <a:r>
              <a:rPr lang="en-US" sz="1150" dirty="0">
                <a:solidFill>
                  <a:srgbClr val="1A1D21"/>
                </a:solidFill>
                <a:latin typeface="Arial" pitchFamily="34" charset="0"/>
                <a:ea typeface="Arial" pitchFamily="34" charset="-122"/>
                <a:cs typeface="Arial" pitchFamily="34" charset="-120"/>
              </a:rPr>
              <a:t>Generation asset (up to the POI) · T&amp;D · consuming facility: data center · consuming facility: industrial process</a:t>
            </a:r>
            <a:endParaRPr lang="en-US" sz="1150" dirty="0"/>
          </a:p>
        </p:txBody>
      </p:sp>
      <p:sp>
        <p:nvSpPr>
          <p:cNvPr id="9" name="Text 7"/>
          <p:cNvSpPr txBox="1"/>
          <p:nvPr/>
        </p:nvSpPr>
        <p:spPr>
          <a:xfrm>
            <a:off x="777240" y="3977640"/>
            <a:ext cx="5029200" cy="411480"/>
          </a:xfrm>
          <a:prstGeom prst="rect">
            <a:avLst/>
          </a:prstGeom>
          <a:noFill/>
          <a:ln/>
        </p:spPr>
        <p:txBody>
          <a:bodyPr wrap="square" lIns="0" tIns="0" rIns="0" bIns="0" rtlCol="0" anchor="t"/>
          <a:lstStyle/>
          <a:p>
            <a:pPr indent="0" marL="0">
              <a:buNone/>
            </a:pPr>
            <a:r>
              <a:rPr lang="en-US" sz="1100" i="1" dirty="0">
                <a:solidFill>
                  <a:srgbClr val="6B7075"/>
                </a:solidFill>
                <a:latin typeface="Arial" pitchFamily="34" charset="0"/>
                <a:ea typeface="Arial" pitchFamily="34" charset="-122"/>
                <a:cs typeface="Arial" pitchFamily="34" charset="-120"/>
              </a:rPr>
              <a:t>Assigns opportunity ownership</a:t>
            </a:r>
            <a:endParaRPr lang="en-US" sz="1100" dirty="0"/>
          </a:p>
        </p:txBody>
      </p:sp>
      <p:sp>
        <p:nvSpPr>
          <p:cNvPr id="10" name="Shape 8"/>
          <p:cNvSpPr/>
          <p:nvPr/>
        </p:nvSpPr>
        <p:spPr>
          <a:xfrm>
            <a:off x="6172200" y="1783080"/>
            <a:ext cx="5468112" cy="2743200"/>
          </a:xfrm>
          <a:prstGeom prst="rect">
            <a:avLst/>
          </a:prstGeom>
          <a:solidFill>
            <a:srgbClr val="F5F4F2"/>
          </a:solidFill>
          <a:ln/>
        </p:spPr>
      </p:sp>
      <p:sp>
        <p:nvSpPr>
          <p:cNvPr id="11" name="Text 9"/>
          <p:cNvSpPr txBox="1"/>
          <p:nvPr/>
        </p:nvSpPr>
        <p:spPr>
          <a:xfrm>
            <a:off x="6400800" y="1965960"/>
            <a:ext cx="5029200" cy="256032"/>
          </a:xfrm>
          <a:prstGeom prst="rect">
            <a:avLst/>
          </a:prstGeom>
          <a:noFill/>
          <a:ln/>
        </p:spPr>
        <p:txBody>
          <a:bodyPr wrap="square" lIns="0" tIns="0" rIns="0" bIns="0" rtlCol="0" anchor="ctr"/>
          <a:lstStyle/>
          <a:p>
            <a:pPr indent="0" marL="0">
              <a:buNone/>
            </a:pPr>
            <a:r>
              <a:rPr lang="en-US" sz="1100" b="1" spc="150" kern="0" dirty="0">
                <a:solidFill>
                  <a:srgbClr val="C67A43"/>
                </a:solidFill>
                <a:latin typeface="Arial" pitchFamily="34" charset="0"/>
                <a:ea typeface="Arial" pitchFamily="34" charset="-122"/>
                <a:cs typeface="Arial" pitchFamily="34" charset="-120"/>
              </a:rPr>
              <a:t>AXIS 2 — CUSTOMER TYPE</a:t>
            </a:r>
            <a:endParaRPr lang="en-US" sz="1100" dirty="0"/>
          </a:p>
        </p:txBody>
      </p:sp>
      <p:sp>
        <p:nvSpPr>
          <p:cNvPr id="12" name="Text 10"/>
          <p:cNvSpPr txBox="1"/>
          <p:nvPr/>
        </p:nvSpPr>
        <p:spPr>
          <a:xfrm>
            <a:off x="6400800" y="2286000"/>
            <a:ext cx="5029200" cy="292608"/>
          </a:xfrm>
          <a:prstGeom prst="rect">
            <a:avLst/>
          </a:prstGeom>
          <a:noFill/>
          <a:ln/>
        </p:spPr>
        <p:txBody>
          <a:bodyPr wrap="square" lIns="0" tIns="0" rIns="0" bIns="0" rtlCol="0" anchor="ctr"/>
          <a:lstStyle/>
          <a:p>
            <a:pPr indent="0" marL="0">
              <a:buNone/>
            </a:pPr>
            <a:r>
              <a:rPr lang="en-US" sz="1300" b="1" dirty="0">
                <a:solidFill>
                  <a:srgbClr val="1A1D21"/>
                </a:solidFill>
                <a:latin typeface="Arial" pitchFamily="34" charset="0"/>
                <a:ea typeface="Arial" pitchFamily="34" charset="-122"/>
                <a:cs typeface="Arial" pitchFamily="34" charset="-120"/>
              </a:rPr>
              <a:t>Who is buying, and how do they buy?</a:t>
            </a:r>
            <a:endParaRPr lang="en-US" sz="1300" dirty="0"/>
          </a:p>
        </p:txBody>
      </p:sp>
      <p:sp>
        <p:nvSpPr>
          <p:cNvPr id="13" name="Text 11"/>
          <p:cNvSpPr txBox="1"/>
          <p:nvPr/>
        </p:nvSpPr>
        <p:spPr>
          <a:xfrm>
            <a:off x="6400800" y="2697480"/>
            <a:ext cx="5029200" cy="868680"/>
          </a:xfrm>
          <a:prstGeom prst="rect">
            <a:avLst/>
          </a:prstGeom>
          <a:noFill/>
          <a:ln/>
        </p:spPr>
        <p:txBody>
          <a:bodyPr wrap="square" lIns="0" tIns="0" rIns="0" bIns="0" rtlCol="0" anchor="t"/>
          <a:lstStyle/>
          <a:p>
            <a:pPr indent="0" marL="0">
              <a:buNone/>
            </a:pPr>
            <a:r>
              <a:rPr lang="en-US" sz="1150" dirty="0">
                <a:solidFill>
                  <a:srgbClr val="1A1D21"/>
                </a:solidFill>
                <a:latin typeface="Arial" pitchFamily="34" charset="0"/>
                <a:ea typeface="Arial" pitchFamily="34" charset="-122"/>
                <a:cs typeface="Arial" pitchFamily="34" charset="-120"/>
              </a:rPr>
              <a:t>OEM / packager · owner / developer · EPC / contractor · utility framework · distributor (channel)</a:t>
            </a:r>
            <a:endParaRPr lang="en-US" sz="1150" dirty="0"/>
          </a:p>
        </p:txBody>
      </p:sp>
      <p:sp>
        <p:nvSpPr>
          <p:cNvPr id="14" name="Text 12"/>
          <p:cNvSpPr txBox="1"/>
          <p:nvPr/>
        </p:nvSpPr>
        <p:spPr>
          <a:xfrm>
            <a:off x="6400800" y="3977640"/>
            <a:ext cx="5029200" cy="411480"/>
          </a:xfrm>
          <a:prstGeom prst="rect">
            <a:avLst/>
          </a:prstGeom>
          <a:noFill/>
          <a:ln/>
        </p:spPr>
        <p:txBody>
          <a:bodyPr wrap="square" lIns="0" tIns="0" rIns="0" bIns="0" rtlCol="0" anchor="t"/>
          <a:lstStyle/>
          <a:p>
            <a:pPr indent="0" marL="0">
              <a:buNone/>
            </a:pPr>
            <a:r>
              <a:rPr lang="en-US" sz="1100" i="1" dirty="0">
                <a:solidFill>
                  <a:srgbClr val="6B7075"/>
                </a:solidFill>
                <a:latin typeface="Arial" pitchFamily="34" charset="0"/>
                <a:ea typeface="Arial" pitchFamily="34" charset="-122"/>
                <a:cs typeface="Arial" pitchFamily="34" charset="-120"/>
              </a:rPr>
              <a:t>Decides coverage method, channel, and who coordinates the account</a:t>
            </a:r>
            <a:endParaRPr lang="en-US" sz="1100" dirty="0"/>
          </a:p>
        </p:txBody>
      </p:sp>
      <p:sp>
        <p:nvSpPr>
          <p:cNvPr id="15" name="Text 13"/>
          <p:cNvSpPr txBox="1"/>
          <p:nvPr/>
        </p:nvSpPr>
        <p:spPr>
          <a:xfrm>
            <a:off x="548640" y="4892040"/>
            <a:ext cx="11091672" cy="640080"/>
          </a:xfrm>
          <a:prstGeom prst="rect">
            <a:avLst/>
          </a:prstGeom>
          <a:noFill/>
          <a:ln/>
        </p:spPr>
        <p:txBody>
          <a:bodyPr wrap="square" lIns="0" tIns="0" rIns="0" bIns="0" rtlCol="0" anchor="t"/>
          <a:lstStyle/>
          <a:p>
            <a:pPr indent="0" marL="0">
              <a:buNone/>
            </a:pPr>
            <a:r>
              <a:rPr lang="en-US" sz="1300" dirty="0">
                <a:solidFill>
                  <a:srgbClr val="1A1D21"/>
                </a:solidFill>
                <a:latin typeface="Arial" pitchFamily="34" charset="0"/>
                <a:ea typeface="Arial" pitchFamily="34" charset="-122"/>
                <a:cs typeface="Arial" pitchFamily="34" charset="-120"/>
              </a:rPr>
              <a:t>PG, DC, Industrial and Utility are axis-1 values. OEM is axis-2 — a customer type, not a territory. That is why Powell splits by product line and application, never as a whole company.</a:t>
            </a:r>
            <a:endParaRPr lang="en-US" sz="1300" dirty="0"/>
          </a:p>
        </p:txBody>
      </p:sp>
      <p:sp>
        <p:nvSpPr>
          <p:cNvPr id="16" name="Text 14"/>
          <p:cNvSpPr txBox="1"/>
          <p:nvPr/>
        </p:nvSpPr>
        <p:spPr>
          <a:xfrm>
            <a:off x="548640" y="5577840"/>
            <a:ext cx="11091672" cy="292608"/>
          </a:xfrm>
          <a:prstGeom prst="rect">
            <a:avLst/>
          </a:prstGeom>
          <a:noFill/>
          <a:ln/>
        </p:spPr>
        <p:txBody>
          <a:bodyPr wrap="square" lIns="0" tIns="0" rIns="0" bIns="0" rtlCol="0" anchor="ctr"/>
          <a:lstStyle/>
          <a:p>
            <a:pPr indent="0" marL="0">
              <a:buNone/>
            </a:pPr>
            <a:r>
              <a:rPr lang="en-US" sz="1100" i="1" dirty="0">
                <a:solidFill>
                  <a:srgbClr val="6B7075"/>
                </a:solidFill>
                <a:latin typeface="Arial" pitchFamily="34" charset="0"/>
                <a:ea typeface="Arial" pitchFamily="34" charset="-122"/>
                <a:cs typeface="Arial" pitchFamily="34" charset="-120"/>
              </a:rPr>
              <a:t>Forcing five mutually exclusive boxes is exactly what produces the Powell problem.</a:t>
            </a:r>
            <a:endParaRPr lang="en-US" sz="1100" dirty="0"/>
          </a:p>
        </p:txBody>
      </p:sp>
      <p:sp>
        <p:nvSpPr>
          <p:cNvPr id="17" name="Text 15"/>
          <p:cNvSpPr txBox="1"/>
          <p:nvPr/>
        </p:nvSpPr>
        <p:spPr>
          <a:xfrm>
            <a:off x="548640" y="6510528"/>
            <a:ext cx="5029200" cy="237744"/>
          </a:xfrm>
          <a:prstGeom prst="rect">
            <a:avLst/>
          </a:prstGeom>
          <a:noFill/>
          <a:ln/>
        </p:spPr>
        <p:txBody>
          <a:bodyPr wrap="square" lIns="0" tIns="0" rIns="0" bIns="0" rtlCol="0" anchor="ctr"/>
          <a:lstStyle/>
          <a:p>
            <a:pPr algn="l" indent="0" marL="0">
              <a:buNone/>
            </a:pPr>
            <a:r>
              <a:rPr lang="en-US" sz="800" dirty="0">
                <a:solidFill>
                  <a:srgbClr val="9A9FA4"/>
                </a:solidFill>
                <a:latin typeface="Arial" pitchFamily="34" charset="0"/>
                <a:ea typeface="Arial" pitchFamily="34" charset="-122"/>
                <a:cs typeface="Arial" pitchFamily="34" charset="-120"/>
              </a:rPr>
              <a:t>Stephan Hardt · Power Generation Solutions</a:t>
            </a:r>
            <a:endParaRPr lang="en-US" sz="800" dirty="0"/>
          </a:p>
        </p:txBody>
      </p:sp>
      <p:sp>
        <p:nvSpPr>
          <p:cNvPr id="18" name="Text 16"/>
          <p:cNvSpPr txBox="1"/>
          <p:nvPr/>
        </p:nvSpPr>
        <p:spPr>
          <a:xfrm>
            <a:off x="5943600" y="6510528"/>
            <a:ext cx="5696712" cy="237744"/>
          </a:xfrm>
          <a:prstGeom prst="rect">
            <a:avLst/>
          </a:prstGeom>
          <a:noFill/>
          <a:ln/>
        </p:spPr>
        <p:txBody>
          <a:bodyPr wrap="square" lIns="0" tIns="0" rIns="0" bIns="0" rtlCol="0" anchor="ctr"/>
          <a:lstStyle/>
          <a:p>
            <a:pPr algn="r" indent="0" marL="0">
              <a:buNone/>
            </a:pPr>
            <a:r>
              <a:rPr lang="en-US" sz="800" dirty="0">
                <a:solidFill>
                  <a:srgbClr val="9A9FA4"/>
                </a:solidFill>
                <a:latin typeface="Arial" pitchFamily="34" charset="0"/>
                <a:ea typeface="Arial" pitchFamily="34" charset="-122"/>
                <a:cs typeface="Arial" pitchFamily="34" charset="-120"/>
              </a:rPr>
              <a:t>SWR-PG-ROE Rev 00 · Working draft — Southwire internal · slide 2 of 14</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38912"/>
            <a:ext cx="11091672" cy="274320"/>
          </a:xfrm>
          <a:prstGeom prst="rect">
            <a:avLst/>
          </a:prstGeom>
          <a:noFill/>
          <a:ln/>
        </p:spPr>
        <p:txBody>
          <a:bodyPr wrap="square" lIns="0" tIns="0" rIns="0" bIns="0" rtlCol="0" anchor="ctr"/>
          <a:lstStyle/>
          <a:p>
            <a:pPr algn="l" indent="0" marL="0">
              <a:buNone/>
            </a:pPr>
            <a:r>
              <a:rPr lang="en-US" sz="1050" b="1" spc="200" kern="0" dirty="0">
                <a:solidFill>
                  <a:srgbClr val="C67A43"/>
                </a:solidFill>
                <a:latin typeface="Arial" pitchFamily="34" charset="0"/>
                <a:ea typeface="Arial" pitchFamily="34" charset="-122"/>
                <a:cs typeface="Arial" pitchFamily="34" charset="-120"/>
              </a:rPr>
              <a:t>OWNERSHIP RULES — APPLIED IN ORDER</a:t>
            </a:r>
            <a:endParaRPr lang="en-US" sz="1050" dirty="0"/>
          </a:p>
        </p:txBody>
      </p:sp>
      <p:sp>
        <p:nvSpPr>
          <p:cNvPr id="3" name="Text 1"/>
          <p:cNvSpPr txBox="1"/>
          <p:nvPr/>
        </p:nvSpPr>
        <p:spPr>
          <a:xfrm>
            <a:off x="548640" y="768096"/>
            <a:ext cx="11091672" cy="457200"/>
          </a:xfrm>
          <a:prstGeom prst="rect">
            <a:avLst/>
          </a:prstGeom>
          <a:noFill/>
          <a:ln/>
        </p:spPr>
        <p:txBody>
          <a:bodyPr wrap="square" lIns="0" tIns="0" rIns="0" bIns="0" rtlCol="0" anchor="t"/>
          <a:lstStyle/>
          <a:p>
            <a:pPr algn="l" indent="0" marL="0">
              <a:buNone/>
            </a:pPr>
            <a:r>
              <a:rPr lang="en-US" sz="2600" b="1" dirty="0">
                <a:solidFill>
                  <a:srgbClr val="1A1D21"/>
                </a:solidFill>
                <a:latin typeface="Arial" pitchFamily="34" charset="0"/>
                <a:ea typeface="Arial" pitchFamily="34" charset="-122"/>
                <a:cs typeface="Arial" pitchFamily="34" charset="-120"/>
              </a:rPr>
              <a:t>Two rules decide most cases. The rest are tie-breakers.</a:t>
            </a:r>
            <a:endParaRPr lang="en-US" sz="2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1672" cy="914400"/>
        </p:xfrm>
        <a:graphic>
          <a:graphicData uri="http://schemas.openxmlformats.org/drawingml/2006/table">
            <a:tbl>
              <a:tblPr/>
              <a:tblGrid>
                <a:gridCol w="502920"/>
                <a:gridCol w="1874520"/>
                <a:gridCol w="4160520"/>
                <a:gridCol w="4553712"/>
              </a:tblGrid>
              <a:tr h="512064">
                <a:tc>
                  <a:txBody>
                    <a:bodyPr/>
                    <a:lstStyle/>
                    <a:p>
                      <a:pPr algn="ctr" indent="0" marL="0">
                        <a:buNone/>
                      </a:pPr>
                      <a:r>
                        <a:rPr lang="en-US" sz="950" b="1" dirty="0">
                          <a:solidFill>
                            <a:srgbClr val="C67A43"/>
                          </a:solidFill>
                          <a:latin typeface="Arial" pitchFamily="34" charset="0"/>
                          <a:ea typeface="Arial" pitchFamily="34" charset="-122"/>
                          <a:cs typeface="Arial" pitchFamily="34" charset="-120"/>
                        </a:rPr>
                        <a:t>1</a:t>
                      </a:r>
                      <a:endParaRPr lang="en-US" sz="950" dirty="0">
                        <a:latin typeface="Arial" charset="0"/>
                        <a:ea typeface="Arial" charset="0"/>
                        <a:cs typeface="Arial" charset="0"/>
                      </a:endParaRPr>
                    </a:p>
                  </a:txBody>
                  <a:tcPr marL="73152" marR="73152" marT="36576" marB="36576"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tcPr>
                </a:tc>
                <a:tc>
                  <a:txBody>
                    <a:bodyPr/>
                    <a:lstStyle/>
                    <a:p>
                      <a:pPr indent="0" marL="0">
                        <a:buNone/>
                      </a:pPr>
                      <a:r>
                        <a:rPr lang="en-US" sz="950" b="1" dirty="0">
                          <a:solidFill>
                            <a:srgbClr val="1A1D21"/>
                          </a:solidFill>
                          <a:latin typeface="Arial" pitchFamily="34" charset="0"/>
                          <a:ea typeface="Arial" pitchFamily="34" charset="-122"/>
                          <a:cs typeface="Arial" pitchFamily="34" charset="-120"/>
                        </a:rPr>
                        <a:t>Asset served</a:t>
                      </a:r>
                      <a:endParaRPr lang="en-US" sz="950" dirty="0">
                        <a:latin typeface="Arial" charset="0"/>
                        <a:ea typeface="Arial" charset="0"/>
                        <a:cs typeface="Arial" charset="0"/>
                      </a:endParaRPr>
                    </a:p>
                  </a:txBody>
                  <a:tcPr marL="73152" marR="73152" marT="36576" marB="36576"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tcPr>
                </a:tc>
                <a:tc>
                  <a:txBody>
                    <a:bodyPr/>
                    <a:lstStyle/>
                    <a:p>
                      <a:pPr indent="0" marL="0">
                        <a:buNone/>
                      </a:pPr>
                      <a:r>
                        <a:rPr lang="en-US" sz="950" dirty="0">
                          <a:solidFill>
                            <a:srgbClr val="1A1D21"/>
                          </a:solidFill>
                          <a:latin typeface="Arial" pitchFamily="34" charset="0"/>
                          <a:ea typeface="Arial" pitchFamily="34" charset="-122"/>
                          <a:cs typeface="Arial" pitchFamily="34" charset="-120"/>
                        </a:rPr>
                        <a:t>Is the cable feeding a generation asset (to the POI), a consuming facility, or T&amp;D?</a:t>
                      </a:r>
                      <a:endParaRPr lang="en-US" sz="950" dirty="0">
                        <a:latin typeface="Arial" charset="0"/>
                        <a:ea typeface="Arial" charset="0"/>
                        <a:cs typeface="Arial" charset="0"/>
                      </a:endParaRPr>
                    </a:p>
                  </a:txBody>
                  <a:tcPr marL="73152" marR="73152" marT="36576" marB="36576"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tcPr>
                </a:tc>
                <a:tc>
                  <a:txBody>
                    <a:bodyPr/>
                    <a:lstStyle/>
                    <a:p>
                      <a:pPr indent="0" marL="0">
                        <a:buNone/>
                      </a:pPr>
                      <a:r>
                        <a:rPr lang="en-US" sz="950" dirty="0">
                          <a:solidFill>
                            <a:srgbClr val="6B7075"/>
                          </a:solidFill>
                          <a:latin typeface="Arial" pitchFamily="34" charset="0"/>
                          <a:ea typeface="Arial" pitchFamily="34" charset="-122"/>
                          <a:cs typeface="Arial" pitchFamily="34" charset="-120"/>
                        </a:rPr>
                        <a:t>Controls — cannot be overridden by relationship, PO issuer or preference</a:t>
                      </a:r>
                      <a:endParaRPr lang="en-US" sz="950" dirty="0">
                        <a:latin typeface="Arial" charset="0"/>
                        <a:ea typeface="Arial" charset="0"/>
                        <a:cs typeface="Arial" charset="0"/>
                      </a:endParaRPr>
                    </a:p>
                  </a:txBody>
                  <a:tcPr marL="73152" marR="73152" marT="36576" marB="36576"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tcPr>
                </a:tc>
              </a:tr>
              <a:tr h="512064">
                <a:tc>
                  <a:txBody>
                    <a:bodyPr/>
                    <a:lstStyle/>
                    <a:p>
                      <a:pPr algn="ctr" indent="0" marL="0">
                        <a:buNone/>
                      </a:pPr>
                      <a:r>
                        <a:rPr lang="en-US" sz="950" b="1" dirty="0">
                          <a:solidFill>
                            <a:srgbClr val="C67A43"/>
                          </a:solidFill>
                          <a:latin typeface="Arial" pitchFamily="34" charset="0"/>
                          <a:ea typeface="Arial" pitchFamily="34" charset="-122"/>
                          <a:cs typeface="Arial" pitchFamily="34" charset="-120"/>
                        </a:rPr>
                        <a:t>2</a:t>
                      </a:r>
                      <a:endParaRPr lang="en-US" sz="950" dirty="0">
                        <a:latin typeface="Arial" charset="0"/>
                        <a:ea typeface="Arial" charset="0"/>
                        <a:cs typeface="Arial" charset="0"/>
                      </a:endParaRPr>
                    </a:p>
                  </a:txBody>
                  <a:tcPr marL="73152" marR="73152" marT="36576" marB="36576"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tcPr>
                </a:tc>
                <a:tc>
                  <a:txBody>
                    <a:bodyPr/>
                    <a:lstStyle/>
                    <a:p>
                      <a:pPr indent="0" marL="0">
                        <a:buNone/>
                      </a:pPr>
                      <a:r>
                        <a:rPr lang="en-US" sz="950" b="1" dirty="0">
                          <a:solidFill>
                            <a:srgbClr val="1A1D21"/>
                          </a:solidFill>
                          <a:latin typeface="Arial" pitchFamily="34" charset="0"/>
                          <a:ea typeface="Arial" pitchFamily="34" charset="-122"/>
                          <a:cs typeface="Arial" pitchFamily="34" charset="-120"/>
                        </a:rPr>
                        <a:t>Specification control</a:t>
                      </a:r>
                      <a:endParaRPr lang="en-US" sz="950" dirty="0">
                        <a:latin typeface="Arial" charset="0"/>
                        <a:ea typeface="Arial" charset="0"/>
                        <a:cs typeface="Arial" charset="0"/>
                      </a:endParaRPr>
                    </a:p>
                  </a:txBody>
                  <a:tcPr marL="73152" marR="73152" marT="36576" marB="36576"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tcPr>
                </a:tc>
                <a:tc>
                  <a:txBody>
                    <a:bodyPr/>
                    <a:lstStyle/>
                    <a:p>
                      <a:pPr indent="0" marL="0">
                        <a:buNone/>
                      </a:pPr>
                      <a:r>
                        <a:rPr lang="en-US" sz="950" dirty="0">
                          <a:solidFill>
                            <a:srgbClr val="1A1D21"/>
                          </a:solidFill>
                          <a:latin typeface="Arial" pitchFamily="34" charset="0"/>
                          <a:ea typeface="Arial" pitchFamily="34" charset="-122"/>
                          <a:cs typeface="Arial" pitchFamily="34" charset="-120"/>
                        </a:rPr>
                        <a:t>Which buying center writes or approves the spec and makes the selection?</a:t>
                      </a:r>
                      <a:endParaRPr lang="en-US" sz="950" dirty="0">
                        <a:latin typeface="Arial" charset="0"/>
                        <a:ea typeface="Arial" charset="0"/>
                        <a:cs typeface="Arial" charset="0"/>
                      </a:endParaRPr>
                    </a:p>
                  </a:txBody>
                  <a:tcPr marL="73152" marR="73152" marT="36576" marB="36576"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tcPr>
                </a:tc>
                <a:tc>
                  <a:txBody>
                    <a:bodyPr/>
                    <a:lstStyle/>
                    <a:p>
                      <a:pPr indent="0" marL="0">
                        <a:buNone/>
                      </a:pPr>
                      <a:r>
                        <a:rPr lang="en-US" sz="950" dirty="0">
                          <a:solidFill>
                            <a:srgbClr val="6B7075"/>
                          </a:solidFill>
                          <a:latin typeface="Arial" pitchFamily="34" charset="0"/>
                          <a:ea typeface="Arial" pitchFamily="34" charset="-122"/>
                          <a:cs typeface="Arial" pitchFamily="34" charset="-120"/>
                        </a:rPr>
                        <a:t>Controls — the EPC, GC or distributor issuing the PO is a channel, never assigned ownership</a:t>
                      </a:r>
                      <a:endParaRPr lang="en-US" sz="950" dirty="0">
                        <a:latin typeface="Arial" charset="0"/>
                        <a:ea typeface="Arial" charset="0"/>
                        <a:cs typeface="Arial" charset="0"/>
                      </a:endParaRPr>
                    </a:p>
                  </a:txBody>
                  <a:tcPr marL="73152" marR="73152" marT="36576" marB="36576"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tcPr>
                </a:tc>
              </a:tr>
              <a:tr h="512064">
                <a:tc>
                  <a:txBody>
                    <a:bodyPr/>
                    <a:lstStyle/>
                    <a:p>
                      <a:pPr algn="ctr" indent="0" marL="0">
                        <a:buNone/>
                      </a:pPr>
                      <a:r>
                        <a:rPr lang="en-US" sz="950" b="1" dirty="0">
                          <a:solidFill>
                            <a:srgbClr val="C67A43"/>
                          </a:solidFill>
                          <a:latin typeface="Arial" pitchFamily="34" charset="0"/>
                          <a:ea typeface="Arial" pitchFamily="34" charset="-122"/>
                          <a:cs typeface="Arial" pitchFamily="34" charset="-120"/>
                        </a:rPr>
                        <a:t>M</a:t>
                      </a:r>
                      <a:endParaRPr lang="en-US" sz="950" dirty="0">
                        <a:latin typeface="Arial" charset="0"/>
                        <a:ea typeface="Arial" charset="0"/>
                        <a:cs typeface="Arial" charset="0"/>
                      </a:endParaRPr>
                    </a:p>
                  </a:txBody>
                  <a:tcPr marL="73152" marR="73152" marT="36576" marB="36576"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tcPr>
                </a:tc>
                <a:tc>
                  <a:txBody>
                    <a:bodyPr/>
                    <a:lstStyle/>
                    <a:p>
                      <a:pPr indent="0" marL="0">
                        <a:buNone/>
                      </a:pPr>
                      <a:r>
                        <a:rPr lang="en-US" sz="950" b="1" dirty="0">
                          <a:solidFill>
                            <a:srgbClr val="1A1D21"/>
                          </a:solidFill>
                          <a:latin typeface="Arial" pitchFamily="34" charset="0"/>
                          <a:ea typeface="Arial" pitchFamily="34" charset="-122"/>
                          <a:cs typeface="Arial" pitchFamily="34" charset="-120"/>
                        </a:rPr>
                        <a:t>Mixed scope</a:t>
                      </a:r>
                      <a:endParaRPr lang="en-US" sz="950" dirty="0">
                        <a:latin typeface="Arial" charset="0"/>
                        <a:ea typeface="Arial" charset="0"/>
                        <a:cs typeface="Arial" charset="0"/>
                      </a:endParaRPr>
                    </a:p>
                  </a:txBody>
                  <a:tcPr marL="73152" marR="73152" marT="36576" marB="36576"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tcPr>
                </a:tc>
                <a:tc>
                  <a:txBody>
                    <a:bodyPr/>
                    <a:lstStyle/>
                    <a:p>
                      <a:pPr indent="0" marL="0">
                        <a:buNone/>
                      </a:pPr>
                      <a:r>
                        <a:rPr lang="en-US" sz="950" dirty="0">
                          <a:solidFill>
                            <a:srgbClr val="1A1D21"/>
                          </a:solidFill>
                          <a:latin typeface="Arial" pitchFamily="34" charset="0"/>
                          <a:ea typeface="Arial" pitchFamily="34" charset="-122"/>
                          <a:cs typeface="Arial" pitchFamily="34" charset="-120"/>
                        </a:rPr>
                        <a:t>One project holds a generation scope and a facility scope</a:t>
                      </a:r>
                      <a:endParaRPr lang="en-US" sz="950" dirty="0">
                        <a:latin typeface="Arial" charset="0"/>
                        <a:ea typeface="Arial" charset="0"/>
                        <a:cs typeface="Arial" charset="0"/>
                      </a:endParaRPr>
                    </a:p>
                  </a:txBody>
                  <a:tcPr marL="73152" marR="73152" marT="36576" marB="36576"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tcPr>
                </a:tc>
                <a:tc>
                  <a:txBody>
                    <a:bodyPr/>
                    <a:lstStyle/>
                    <a:p>
                      <a:pPr indent="0" marL="0">
                        <a:buNone/>
                      </a:pPr>
                      <a:r>
                        <a:rPr lang="en-US" sz="950" dirty="0">
                          <a:solidFill>
                            <a:srgbClr val="6B7075"/>
                          </a:solidFill>
                          <a:latin typeface="Arial" pitchFamily="34" charset="0"/>
                          <a:ea typeface="Arial" pitchFamily="34" charset="-122"/>
                          <a:cs typeface="Arial" pitchFamily="34" charset="-120"/>
                        </a:rPr>
                        <a:t>Split by scope — one joint plan, one customer face; do not force one owner</a:t>
                      </a:r>
                      <a:endParaRPr lang="en-US" sz="950" dirty="0">
                        <a:latin typeface="Arial" charset="0"/>
                        <a:ea typeface="Arial" charset="0"/>
                        <a:cs typeface="Arial" charset="0"/>
                      </a:endParaRPr>
                    </a:p>
                  </a:txBody>
                  <a:tcPr marL="73152" marR="73152" marT="36576" marB="36576"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tcPr>
                </a:tc>
              </a:tr>
              <a:tr h="512064">
                <a:tc>
                  <a:txBody>
                    <a:bodyPr/>
                    <a:lstStyle/>
                    <a:p>
                      <a:pPr algn="ctr" indent="0" marL="0">
                        <a:buNone/>
                      </a:pPr>
                      <a:r>
                        <a:rPr lang="en-US" sz="950" b="1" dirty="0">
                          <a:solidFill>
                            <a:srgbClr val="C67A43"/>
                          </a:solidFill>
                          <a:latin typeface="Arial" pitchFamily="34" charset="0"/>
                          <a:ea typeface="Arial" pitchFamily="34" charset="-122"/>
                          <a:cs typeface="Arial" pitchFamily="34" charset="-120"/>
                        </a:rPr>
                        <a:t>3</a:t>
                      </a:r>
                      <a:endParaRPr lang="en-US" sz="950" dirty="0">
                        <a:latin typeface="Arial" charset="0"/>
                        <a:ea typeface="Arial" charset="0"/>
                        <a:cs typeface="Arial" charset="0"/>
                      </a:endParaRPr>
                    </a:p>
                  </a:txBody>
                  <a:tcPr marL="73152" marR="73152" marT="36576" marB="36576"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tcPr>
                </a:tc>
                <a:tc>
                  <a:txBody>
                    <a:bodyPr/>
                    <a:lstStyle/>
                    <a:p>
                      <a:pPr indent="0" marL="0">
                        <a:buNone/>
                      </a:pPr>
                      <a:r>
                        <a:rPr lang="en-US" sz="950" b="1" dirty="0">
                          <a:solidFill>
                            <a:srgbClr val="1A1D21"/>
                          </a:solidFill>
                          <a:latin typeface="Arial" pitchFamily="34" charset="0"/>
                          <a:ea typeface="Arial" pitchFamily="34" charset="-122"/>
                          <a:cs typeface="Arial" pitchFamily="34" charset="-120"/>
                        </a:rPr>
                        <a:t>Documented activity</a:t>
                      </a:r>
                      <a:endParaRPr lang="en-US" sz="950" dirty="0">
                        <a:latin typeface="Arial" charset="0"/>
                        <a:ea typeface="Arial" charset="0"/>
                        <a:cs typeface="Arial" charset="0"/>
                      </a:endParaRPr>
                    </a:p>
                  </a:txBody>
                  <a:tcPr marL="73152" marR="73152" marT="36576" marB="36576"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tcPr>
                </a:tc>
                <a:tc>
                  <a:txBody>
                    <a:bodyPr/>
                    <a:lstStyle/>
                    <a:p>
                      <a:pPr indent="0" marL="0">
                        <a:buNone/>
                      </a:pPr>
                      <a:r>
                        <a:rPr lang="en-US" sz="950" dirty="0">
                          <a:solidFill>
                            <a:srgbClr val="1A1D21"/>
                          </a:solidFill>
                          <a:latin typeface="Arial" pitchFamily="34" charset="0"/>
                          <a:ea typeface="Arial" pitchFamily="34" charset="-122"/>
                          <a:cs typeface="Arial" pitchFamily="34" charset="-120"/>
                        </a:rPr>
                        <a:t>Evidence at the opportunity level (four-part standard)</a:t>
                      </a:r>
                      <a:endParaRPr lang="en-US" sz="950" dirty="0">
                        <a:latin typeface="Arial" charset="0"/>
                        <a:ea typeface="Arial" charset="0"/>
                        <a:cs typeface="Arial" charset="0"/>
                      </a:endParaRPr>
                    </a:p>
                  </a:txBody>
                  <a:tcPr marL="73152" marR="73152" marT="36576" marB="36576"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tcPr>
                </a:tc>
                <a:tc>
                  <a:txBody>
                    <a:bodyPr/>
                    <a:lstStyle/>
                    <a:p>
                      <a:pPr indent="0" marL="0">
                        <a:buNone/>
                      </a:pPr>
                      <a:r>
                        <a:rPr lang="en-US" sz="950" dirty="0">
                          <a:solidFill>
                            <a:srgbClr val="6B7075"/>
                          </a:solidFill>
                          <a:latin typeface="Arial" pitchFamily="34" charset="0"/>
                          <a:ea typeface="Arial" pitchFamily="34" charset="-122"/>
                          <a:cs typeface="Arial" pitchFamily="34" charset="-120"/>
                        </a:rPr>
                        <a:t>Tie-break — evidence, never a veto</a:t>
                      </a:r>
                      <a:endParaRPr lang="en-US" sz="950" dirty="0">
                        <a:latin typeface="Arial" charset="0"/>
                        <a:ea typeface="Arial" charset="0"/>
                        <a:cs typeface="Arial" charset="0"/>
                      </a:endParaRPr>
                    </a:p>
                  </a:txBody>
                  <a:tcPr marL="73152" marR="73152" marT="36576" marB="36576"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tcPr>
                </a:tc>
              </a:tr>
              <a:tr h="512064">
                <a:tc>
                  <a:txBody>
                    <a:bodyPr/>
                    <a:lstStyle/>
                    <a:p>
                      <a:pPr algn="ctr" indent="0" marL="0">
                        <a:buNone/>
                      </a:pPr>
                      <a:r>
                        <a:rPr lang="en-US" sz="950" b="1" dirty="0">
                          <a:solidFill>
                            <a:srgbClr val="C67A43"/>
                          </a:solidFill>
                          <a:latin typeface="Arial" pitchFamily="34" charset="0"/>
                          <a:ea typeface="Arial" pitchFamily="34" charset="-122"/>
                          <a:cs typeface="Arial" pitchFamily="34" charset="-120"/>
                        </a:rPr>
                        <a:t>4</a:t>
                      </a:r>
                      <a:endParaRPr lang="en-US" sz="950" dirty="0">
                        <a:latin typeface="Arial" charset="0"/>
                        <a:ea typeface="Arial" charset="0"/>
                        <a:cs typeface="Arial" charset="0"/>
                      </a:endParaRPr>
                    </a:p>
                  </a:txBody>
                  <a:tcPr marL="73152" marR="73152" marT="36576" marB="36576"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tcPr>
                </a:tc>
                <a:tc>
                  <a:txBody>
                    <a:bodyPr/>
                    <a:lstStyle/>
                    <a:p>
                      <a:pPr indent="0" marL="0">
                        <a:buNone/>
                      </a:pPr>
                      <a:r>
                        <a:rPr lang="en-US" sz="950" b="1" dirty="0">
                          <a:solidFill>
                            <a:srgbClr val="1A1D21"/>
                          </a:solidFill>
                          <a:latin typeface="Arial" pitchFamily="34" charset="0"/>
                          <a:ea typeface="Arial" pitchFamily="34" charset="-122"/>
                          <a:cs typeface="Arial" pitchFamily="34" charset="-120"/>
                        </a:rPr>
                        <a:t>Customer preference</a:t>
                      </a:r>
                      <a:endParaRPr lang="en-US" sz="950" dirty="0">
                        <a:latin typeface="Arial" charset="0"/>
                        <a:ea typeface="Arial" charset="0"/>
                        <a:cs typeface="Arial" charset="0"/>
                      </a:endParaRPr>
                    </a:p>
                  </a:txBody>
                  <a:tcPr marL="73152" marR="73152" marT="36576" marB="36576"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tcPr>
                </a:tc>
                <a:tc>
                  <a:txBody>
                    <a:bodyPr/>
                    <a:lstStyle/>
                    <a:p>
                      <a:pPr indent="0" marL="0">
                        <a:buNone/>
                      </a:pPr>
                      <a:r>
                        <a:rPr lang="en-US" sz="950" dirty="0">
                          <a:solidFill>
                            <a:srgbClr val="1A1D21"/>
                          </a:solidFill>
                          <a:latin typeface="Arial" pitchFamily="34" charset="0"/>
                          <a:ea typeface="Arial" pitchFamily="34" charset="-122"/>
                          <a:cs typeface="Arial" pitchFamily="34" charset="-120"/>
                        </a:rPr>
                        <a:t>Written, from the buying center that controls the spec</a:t>
                      </a:r>
                      <a:endParaRPr lang="en-US" sz="950" dirty="0">
                        <a:latin typeface="Arial" charset="0"/>
                        <a:ea typeface="Arial" charset="0"/>
                        <a:cs typeface="Arial" charset="0"/>
                      </a:endParaRPr>
                    </a:p>
                  </a:txBody>
                  <a:tcPr marL="73152" marR="73152" marT="36576" marB="36576"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tcPr>
                </a:tc>
                <a:tc>
                  <a:txBody>
                    <a:bodyPr/>
                    <a:lstStyle/>
                    <a:p>
                      <a:pPr indent="0" marL="0">
                        <a:buNone/>
                      </a:pPr>
                      <a:r>
                        <a:rPr lang="en-US" sz="950" dirty="0">
                          <a:solidFill>
                            <a:srgbClr val="6B7075"/>
                          </a:solidFill>
                          <a:latin typeface="Arial" pitchFamily="34" charset="0"/>
                          <a:ea typeface="Arial" pitchFamily="34" charset="-122"/>
                          <a:cs typeface="Arial" pitchFamily="34" charset="-120"/>
                        </a:rPr>
                        <a:t>Tie-break — decides service model, never moves an opportunity across the Rule-1 line</a:t>
                      </a:r>
                      <a:endParaRPr lang="en-US" sz="950" dirty="0">
                        <a:latin typeface="Arial" charset="0"/>
                        <a:ea typeface="Arial" charset="0"/>
                        <a:cs typeface="Arial" charset="0"/>
                      </a:endParaRPr>
                    </a:p>
                  </a:txBody>
                  <a:tcPr marL="73152" marR="73152" marT="36576" marB="36576"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tcPr>
                </a:tc>
              </a:tr>
              <a:tr h="512064">
                <a:tc>
                  <a:txBody>
                    <a:bodyPr/>
                    <a:lstStyle/>
                    <a:p>
                      <a:pPr algn="ctr" indent="0" marL="0">
                        <a:buNone/>
                      </a:pPr>
                      <a:r>
                        <a:rPr lang="en-US" sz="950" b="1" dirty="0">
                          <a:solidFill>
                            <a:srgbClr val="C67A43"/>
                          </a:solidFill>
                          <a:latin typeface="Arial" pitchFamily="34" charset="0"/>
                          <a:ea typeface="Arial" pitchFamily="34" charset="-122"/>
                          <a:cs typeface="Arial" pitchFamily="34" charset="-120"/>
                        </a:rPr>
                        <a:t>5</a:t>
                      </a:r>
                      <a:endParaRPr lang="en-US" sz="950" dirty="0">
                        <a:latin typeface="Arial" charset="0"/>
                        <a:ea typeface="Arial" charset="0"/>
                        <a:cs typeface="Arial" charset="0"/>
                      </a:endParaRPr>
                    </a:p>
                  </a:txBody>
                  <a:tcPr marL="73152" marR="73152" marT="36576" marB="36576"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tcPr>
                </a:tc>
                <a:tc>
                  <a:txBody>
                    <a:bodyPr/>
                    <a:lstStyle/>
                    <a:p>
                      <a:pPr indent="0" marL="0">
                        <a:buNone/>
                      </a:pPr>
                      <a:r>
                        <a:rPr lang="en-US" sz="950" b="1" dirty="0">
                          <a:solidFill>
                            <a:srgbClr val="1A1D21"/>
                          </a:solidFill>
                          <a:latin typeface="Arial" pitchFamily="34" charset="0"/>
                          <a:ea typeface="Arial" pitchFamily="34" charset="-122"/>
                          <a:cs typeface="Arial" pitchFamily="34" charset="-120"/>
                        </a:rPr>
                        <a:t>Capability &amp; capacity</a:t>
                      </a:r>
                      <a:endParaRPr lang="en-US" sz="950" dirty="0">
                        <a:latin typeface="Arial" charset="0"/>
                        <a:ea typeface="Arial" charset="0"/>
                        <a:cs typeface="Arial" charset="0"/>
                      </a:endParaRPr>
                    </a:p>
                  </a:txBody>
                  <a:tcPr marL="73152" marR="73152" marT="36576" marB="36576"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tcPr>
                </a:tc>
                <a:tc>
                  <a:txBody>
                    <a:bodyPr/>
                    <a:lstStyle/>
                    <a:p>
                      <a:pPr indent="0" marL="0">
                        <a:buNone/>
                      </a:pPr>
                      <a:r>
                        <a:rPr lang="en-US" sz="950" dirty="0">
                          <a:solidFill>
                            <a:srgbClr val="1A1D21"/>
                          </a:solidFill>
                          <a:latin typeface="Arial" pitchFamily="34" charset="0"/>
                          <a:ea typeface="Arial" pitchFamily="34" charset="-122"/>
                          <a:cs typeface="Arial" pitchFamily="34" charset="-120"/>
                        </a:rPr>
                        <a:t>Named resource, product expertise, capacity for what is quoted</a:t>
                      </a:r>
                      <a:endParaRPr lang="en-US" sz="950" dirty="0">
                        <a:latin typeface="Arial" charset="0"/>
                        <a:ea typeface="Arial" charset="0"/>
                        <a:cs typeface="Arial" charset="0"/>
                      </a:endParaRPr>
                    </a:p>
                  </a:txBody>
                  <a:tcPr marL="73152" marR="73152" marT="36576" marB="36576"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tcPr>
                </a:tc>
                <a:tc>
                  <a:txBody>
                    <a:bodyPr/>
                    <a:lstStyle/>
                    <a:p>
                      <a:pPr indent="0" marL="0">
                        <a:buNone/>
                      </a:pPr>
                      <a:r>
                        <a:rPr lang="en-US" sz="950" dirty="0">
                          <a:solidFill>
                            <a:srgbClr val="6B7075"/>
                          </a:solidFill>
                          <a:latin typeface="Arial" pitchFamily="34" charset="0"/>
                          <a:ea typeface="Arial" pitchFamily="34" charset="-122"/>
                          <a:cs typeface="Arial" pitchFamily="34" charset="-120"/>
                        </a:rPr>
                        <a:t>Tie-break — capacity is allocated separately by product management after ownership</a:t>
                      </a:r>
                      <a:endParaRPr lang="en-US" sz="950" dirty="0">
                        <a:latin typeface="Arial" charset="0"/>
                        <a:ea typeface="Arial" charset="0"/>
                        <a:cs typeface="Arial" charset="0"/>
                      </a:endParaRPr>
                    </a:p>
                  </a:txBody>
                  <a:tcPr marL="73152" marR="73152" marT="36576" marB="36576"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tcPr>
                </a:tc>
              </a:tr>
              <a:tr h="512064">
                <a:tc>
                  <a:txBody>
                    <a:bodyPr/>
                    <a:lstStyle/>
                    <a:p>
                      <a:pPr algn="ctr" indent="0" marL="0">
                        <a:buNone/>
                      </a:pPr>
                      <a:r>
                        <a:rPr lang="en-US" sz="950" b="1" dirty="0">
                          <a:solidFill>
                            <a:srgbClr val="C67A43"/>
                          </a:solidFill>
                          <a:latin typeface="Arial" pitchFamily="34" charset="0"/>
                          <a:ea typeface="Arial" pitchFamily="34" charset="-122"/>
                          <a:cs typeface="Arial" pitchFamily="34" charset="-120"/>
                        </a:rPr>
                        <a:t>6</a:t>
                      </a:r>
                      <a:endParaRPr lang="en-US" sz="950" dirty="0">
                        <a:latin typeface="Arial" charset="0"/>
                        <a:ea typeface="Arial" charset="0"/>
                        <a:cs typeface="Arial" charset="0"/>
                      </a:endParaRPr>
                    </a:p>
                  </a:txBody>
                  <a:tcPr marL="73152" marR="73152" marT="36576" marB="36576"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tcPr>
                </a:tc>
                <a:tc>
                  <a:txBody>
                    <a:bodyPr/>
                    <a:lstStyle/>
                    <a:p>
                      <a:pPr indent="0" marL="0">
                        <a:buNone/>
                      </a:pPr>
                      <a:r>
                        <a:rPr lang="en-US" sz="950" b="1" dirty="0">
                          <a:solidFill>
                            <a:srgbClr val="1A1D21"/>
                          </a:solidFill>
                          <a:latin typeface="Arial" pitchFamily="34" charset="0"/>
                          <a:ea typeface="Arial" pitchFamily="34" charset="-122"/>
                          <a:cs typeface="Arial" pitchFamily="34" charset="-120"/>
                        </a:rPr>
                        <a:t>Strategy strength</a:t>
                      </a:r>
                      <a:endParaRPr lang="en-US" sz="950" dirty="0">
                        <a:latin typeface="Arial" charset="0"/>
                        <a:ea typeface="Arial" charset="0"/>
                        <a:cs typeface="Arial" charset="0"/>
                      </a:endParaRPr>
                    </a:p>
                  </a:txBody>
                  <a:tcPr marL="73152" marR="73152" marT="36576" marB="36576"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tcPr>
                </a:tc>
                <a:tc>
                  <a:txBody>
                    <a:bodyPr/>
                    <a:lstStyle/>
                    <a:p>
                      <a:pPr indent="0" marL="0">
                        <a:buNone/>
                      </a:pPr>
                      <a:r>
                        <a:rPr lang="en-US" sz="950" dirty="0">
                          <a:solidFill>
                            <a:srgbClr val="1A1D21"/>
                          </a:solidFill>
                          <a:latin typeface="Arial" pitchFamily="34" charset="0"/>
                          <a:ea typeface="Arial" pitchFamily="34" charset="-122"/>
                          <a:cs typeface="Arial" pitchFamily="34" charset="-120"/>
                        </a:rPr>
                        <a:t>Scored on the six-criterion rubric, in writing, before the meeting</a:t>
                      </a:r>
                      <a:endParaRPr lang="en-US" sz="950" dirty="0">
                        <a:latin typeface="Arial" charset="0"/>
                        <a:ea typeface="Arial" charset="0"/>
                        <a:cs typeface="Arial" charset="0"/>
                      </a:endParaRPr>
                    </a:p>
                  </a:txBody>
                  <a:tcPr marL="73152" marR="73152" marT="36576" marB="36576"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tcPr>
                </a:tc>
                <a:tc>
                  <a:txBody>
                    <a:bodyPr/>
                    <a:lstStyle/>
                    <a:p>
                      <a:pPr indent="0" marL="0">
                        <a:buNone/>
                      </a:pPr>
                      <a:r>
                        <a:rPr lang="en-US" sz="950" dirty="0">
                          <a:solidFill>
                            <a:srgbClr val="6B7075"/>
                          </a:solidFill>
                          <a:latin typeface="Arial" pitchFamily="34" charset="0"/>
                          <a:ea typeface="Arial" pitchFamily="34" charset="-122"/>
                          <a:cs typeface="Arial" pitchFamily="34" charset="-120"/>
                        </a:rPr>
                        <a:t>Last resort — only when Rules 1–2 genuinely split; winner must show execution at 90 days</a:t>
                      </a:r>
                      <a:endParaRPr lang="en-US" sz="950" dirty="0">
                        <a:latin typeface="Arial" charset="0"/>
                        <a:ea typeface="Arial" charset="0"/>
                        <a:cs typeface="Arial" charset="0"/>
                      </a:endParaRPr>
                    </a:p>
                  </a:txBody>
                  <a:tcPr marL="73152" marR="73152" marT="36576" marB="36576"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tcPr>
                </a:tc>
              </a:tr>
              <a:tr h="512064">
                <a:tc>
                  <a:txBody>
                    <a:bodyPr/>
                    <a:lstStyle/>
                    <a:p>
                      <a:pPr algn="ctr" indent="0" marL="0">
                        <a:buNone/>
                      </a:pPr>
                      <a:r>
                        <a:rPr lang="en-US" sz="950" b="1" dirty="0">
                          <a:solidFill>
                            <a:srgbClr val="C67A43"/>
                          </a:solidFill>
                          <a:latin typeface="Arial" pitchFamily="34" charset="0"/>
                          <a:ea typeface="Arial" pitchFamily="34" charset="-122"/>
                          <a:cs typeface="Arial" pitchFamily="34" charset="-120"/>
                        </a:rPr>
                        <a:t>—</a:t>
                      </a:r>
                      <a:endParaRPr lang="en-US" sz="950" dirty="0">
                        <a:latin typeface="Arial" charset="0"/>
                        <a:ea typeface="Arial" charset="0"/>
                        <a:cs typeface="Arial" charset="0"/>
                      </a:endParaRPr>
                    </a:p>
                  </a:txBody>
                  <a:tcPr marL="73152" marR="73152" marT="36576" marB="36576"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tcPr>
                </a:tc>
                <a:tc>
                  <a:txBody>
                    <a:bodyPr/>
                    <a:lstStyle/>
                    <a:p>
                      <a:pPr indent="0" marL="0">
                        <a:buNone/>
                      </a:pPr>
                      <a:r>
                        <a:rPr lang="en-US" sz="950" b="1" dirty="0">
                          <a:solidFill>
                            <a:srgbClr val="1A1D21"/>
                          </a:solidFill>
                          <a:latin typeface="Arial" pitchFamily="34" charset="0"/>
                          <a:ea typeface="Arial" pitchFamily="34" charset="-122"/>
                          <a:cs typeface="Arial" pitchFamily="34" charset="-120"/>
                        </a:rPr>
                        <a:t>Corporate relationship</a:t>
                      </a:r>
                      <a:endParaRPr lang="en-US" sz="950" dirty="0">
                        <a:latin typeface="Arial" charset="0"/>
                        <a:ea typeface="Arial" charset="0"/>
                        <a:cs typeface="Arial" charset="0"/>
                      </a:endParaRPr>
                    </a:p>
                  </a:txBody>
                  <a:tcPr marL="73152" marR="73152" marT="36576" marB="36576"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tcPr>
                </a:tc>
                <a:tc>
                  <a:txBody>
                    <a:bodyPr/>
                    <a:lstStyle/>
                    <a:p>
                      <a:pPr indent="0" marL="0">
                        <a:buNone/>
                      </a:pPr>
                      <a:r>
                        <a:rPr lang="en-US" sz="950" dirty="0">
                          <a:solidFill>
                            <a:srgbClr val="1A1D21"/>
                          </a:solidFill>
                          <a:latin typeface="Arial" pitchFamily="34" charset="0"/>
                          <a:ea typeface="Arial" pitchFamily="34" charset="-122"/>
                          <a:cs typeface="Arial" pitchFamily="34" charset="-120"/>
                        </a:rPr>
                        <a:t>“I have known this guy for ten years.”</a:t>
                      </a:r>
                      <a:endParaRPr lang="en-US" sz="950" dirty="0">
                        <a:latin typeface="Arial" charset="0"/>
                        <a:ea typeface="Arial" charset="0"/>
                        <a:cs typeface="Arial" charset="0"/>
                      </a:endParaRPr>
                    </a:p>
                  </a:txBody>
                  <a:tcPr marL="73152" marR="73152" marT="36576" marB="36576"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tcPr>
                </a:tc>
                <a:tc>
                  <a:txBody>
                    <a:bodyPr/>
                    <a:lstStyle/>
                    <a:p>
                      <a:pPr indent="0" marL="0">
                        <a:buNone/>
                      </a:pPr>
                      <a:r>
                        <a:rPr lang="en-US" sz="950" dirty="0">
                          <a:solidFill>
                            <a:srgbClr val="6B7075"/>
                          </a:solidFill>
                          <a:latin typeface="Arial" pitchFamily="34" charset="0"/>
                          <a:ea typeface="Arial" pitchFamily="34" charset="-122"/>
                          <a:cs typeface="Arial" pitchFamily="34" charset="-120"/>
                        </a:rPr>
                        <a:t>Not a rule — appears only as evidence inside Rules 3 and 4</a:t>
                      </a:r>
                      <a:endParaRPr lang="en-US" sz="950" dirty="0">
                        <a:latin typeface="Arial" charset="0"/>
                        <a:ea typeface="Arial" charset="0"/>
                        <a:cs typeface="Arial" charset="0"/>
                      </a:endParaRPr>
                    </a:p>
                  </a:txBody>
                  <a:tcPr marL="73152" marR="73152" marT="36576" marB="36576"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tcPr>
                </a:tc>
              </a:tr>
            </a:tbl>
          </a:graphicData>
        </a:graphic>
      </p:graphicFrame>
      <p:sp>
        <p:nvSpPr>
          <p:cNvPr id="5" name="Text 2"/>
          <p:cNvSpPr txBox="1"/>
          <p:nvPr/>
        </p:nvSpPr>
        <p:spPr>
          <a:xfrm>
            <a:off x="548640" y="5989320"/>
            <a:ext cx="11091672" cy="274320"/>
          </a:xfrm>
          <a:prstGeom prst="rect">
            <a:avLst/>
          </a:prstGeom>
          <a:noFill/>
          <a:ln/>
        </p:spPr>
        <p:txBody>
          <a:bodyPr wrap="square" lIns="0" tIns="0" rIns="0" bIns="0" rtlCol="0" anchor="ctr"/>
          <a:lstStyle/>
          <a:p>
            <a:pPr indent="0" marL="0">
              <a:buNone/>
            </a:pPr>
            <a:r>
              <a:rPr lang="en-US" sz="1050" i="1" dirty="0">
                <a:solidFill>
                  <a:srgbClr val="6B7075"/>
                </a:solidFill>
                <a:latin typeface="Arial" pitchFamily="34" charset="0"/>
                <a:ea typeface="Arial" pitchFamily="34" charset="-122"/>
                <a:cs typeface="Arial" pitchFamily="34" charset="-120"/>
              </a:rPr>
              <a:t>Settle today: the order of Rules 1–6, and whether strategy strength is a tie-breaker or nothing.</a:t>
            </a:r>
            <a:endParaRPr lang="en-US" sz="1050" dirty="0"/>
          </a:p>
        </p:txBody>
      </p:sp>
      <p:sp>
        <p:nvSpPr>
          <p:cNvPr id="6" name="Text 3"/>
          <p:cNvSpPr txBox="1"/>
          <p:nvPr/>
        </p:nvSpPr>
        <p:spPr>
          <a:xfrm>
            <a:off x="548640" y="6510528"/>
            <a:ext cx="5029200" cy="237744"/>
          </a:xfrm>
          <a:prstGeom prst="rect">
            <a:avLst/>
          </a:prstGeom>
          <a:noFill/>
          <a:ln/>
        </p:spPr>
        <p:txBody>
          <a:bodyPr wrap="square" lIns="0" tIns="0" rIns="0" bIns="0" rtlCol="0" anchor="ctr"/>
          <a:lstStyle/>
          <a:p>
            <a:pPr algn="l" indent="0" marL="0">
              <a:buNone/>
            </a:pPr>
            <a:r>
              <a:rPr lang="en-US" sz="800" dirty="0">
                <a:solidFill>
                  <a:srgbClr val="9A9FA4"/>
                </a:solidFill>
                <a:latin typeface="Arial" pitchFamily="34" charset="0"/>
                <a:ea typeface="Arial" pitchFamily="34" charset="-122"/>
                <a:cs typeface="Arial" pitchFamily="34" charset="-120"/>
              </a:rPr>
              <a:t>Stephan Hardt · Power Generation Solutions</a:t>
            </a:r>
            <a:endParaRPr lang="en-US" sz="800" dirty="0"/>
          </a:p>
        </p:txBody>
      </p:sp>
      <p:sp>
        <p:nvSpPr>
          <p:cNvPr id="7" name="Text 4"/>
          <p:cNvSpPr txBox="1"/>
          <p:nvPr/>
        </p:nvSpPr>
        <p:spPr>
          <a:xfrm>
            <a:off x="5943600" y="6510528"/>
            <a:ext cx="5696712" cy="237744"/>
          </a:xfrm>
          <a:prstGeom prst="rect">
            <a:avLst/>
          </a:prstGeom>
          <a:noFill/>
          <a:ln/>
        </p:spPr>
        <p:txBody>
          <a:bodyPr wrap="square" lIns="0" tIns="0" rIns="0" bIns="0" rtlCol="0" anchor="ctr"/>
          <a:lstStyle/>
          <a:p>
            <a:pPr algn="r" indent="0" marL="0">
              <a:buNone/>
            </a:pPr>
            <a:r>
              <a:rPr lang="en-US" sz="800" dirty="0">
                <a:solidFill>
                  <a:srgbClr val="9A9FA4"/>
                </a:solidFill>
                <a:latin typeface="Arial" pitchFamily="34" charset="0"/>
                <a:ea typeface="Arial" pitchFamily="34" charset="-122"/>
                <a:cs typeface="Arial" pitchFamily="34" charset="-120"/>
              </a:rPr>
              <a:t>SWR-PG-ROE Rev 00 · Working draft — Southwire internal · slide 3 of 14</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38912"/>
            <a:ext cx="11091672" cy="274320"/>
          </a:xfrm>
          <a:prstGeom prst="rect">
            <a:avLst/>
          </a:prstGeom>
          <a:noFill/>
          <a:ln/>
        </p:spPr>
        <p:txBody>
          <a:bodyPr wrap="square" lIns="0" tIns="0" rIns="0" bIns="0" rtlCol="0" anchor="ctr"/>
          <a:lstStyle/>
          <a:p>
            <a:pPr algn="l" indent="0" marL="0">
              <a:buNone/>
            </a:pPr>
            <a:r>
              <a:rPr lang="en-US" sz="1050" b="1" spc="200" kern="0" dirty="0">
                <a:solidFill>
                  <a:srgbClr val="C67A43"/>
                </a:solidFill>
                <a:latin typeface="Arial" pitchFamily="34" charset="0"/>
                <a:ea typeface="Arial" pitchFamily="34" charset="-122"/>
                <a:cs typeface="Arial" pitchFamily="34" charset="-120"/>
              </a:rPr>
              <a:t>THE THREE BOUNDARY STATEMENTS</a:t>
            </a:r>
            <a:endParaRPr lang="en-US" sz="1050" dirty="0"/>
          </a:p>
        </p:txBody>
      </p:sp>
      <p:sp>
        <p:nvSpPr>
          <p:cNvPr id="3" name="Text 1"/>
          <p:cNvSpPr txBox="1"/>
          <p:nvPr/>
        </p:nvSpPr>
        <p:spPr>
          <a:xfrm>
            <a:off x="548640" y="768096"/>
            <a:ext cx="11091672" cy="731520"/>
          </a:xfrm>
          <a:prstGeom prst="rect">
            <a:avLst/>
          </a:prstGeom>
          <a:noFill/>
          <a:ln/>
        </p:spPr>
        <p:txBody>
          <a:bodyPr wrap="square" lIns="0" tIns="0" rIns="0" bIns="0" rtlCol="0" anchor="t"/>
          <a:lstStyle/>
          <a:p>
            <a:pPr algn="l" indent="0" marL="0">
              <a:buNone/>
            </a:pPr>
            <a:r>
              <a:rPr lang="en-US" sz="3000" b="1" dirty="0">
                <a:solidFill>
                  <a:srgbClr val="1A1D21"/>
                </a:solidFill>
                <a:latin typeface="Arial" pitchFamily="34" charset="0"/>
                <a:ea typeface="Arial" pitchFamily="34" charset="-122"/>
                <a:cs typeface="Arial" pitchFamily="34" charset="-120"/>
              </a:rPr>
              <a:t>The POI is the line. A generator is a generator wherever it sits.</a:t>
            </a:r>
            <a:endParaRPr lang="en-US" sz="3000" dirty="0"/>
          </a:p>
        </p:txBody>
      </p:sp>
      <p:sp>
        <p:nvSpPr>
          <p:cNvPr id="4" name="Shape 2"/>
          <p:cNvSpPr/>
          <p:nvPr/>
        </p:nvSpPr>
        <p:spPr>
          <a:xfrm>
            <a:off x="548640" y="1783080"/>
            <a:ext cx="11091672" cy="1234440"/>
          </a:xfrm>
          <a:prstGeom prst="rect">
            <a:avLst/>
          </a:prstGeom>
          <a:solidFill>
            <a:srgbClr val="F5F4F2"/>
          </a:solidFill>
          <a:ln/>
        </p:spPr>
      </p:sp>
      <p:sp>
        <p:nvSpPr>
          <p:cNvPr id="5" name="Text 3"/>
          <p:cNvSpPr txBox="1"/>
          <p:nvPr/>
        </p:nvSpPr>
        <p:spPr>
          <a:xfrm>
            <a:off x="822960" y="1929384"/>
            <a:ext cx="2926080" cy="256032"/>
          </a:xfrm>
          <a:prstGeom prst="rect">
            <a:avLst/>
          </a:prstGeom>
          <a:noFill/>
          <a:ln/>
        </p:spPr>
        <p:txBody>
          <a:bodyPr wrap="square" lIns="0" tIns="0" rIns="0" bIns="0" rtlCol="0" anchor="ctr"/>
          <a:lstStyle/>
          <a:p>
            <a:pPr indent="0" marL="0">
              <a:buNone/>
            </a:pPr>
            <a:r>
              <a:rPr lang="en-US" sz="1100" b="1" spc="150" kern="0" dirty="0">
                <a:solidFill>
                  <a:srgbClr val="C67A43"/>
                </a:solidFill>
                <a:latin typeface="Arial" pitchFamily="34" charset="0"/>
                <a:ea typeface="Arial" pitchFamily="34" charset="-122"/>
                <a:cs typeface="Arial" pitchFamily="34" charset="-120"/>
              </a:rPr>
              <a:t>PG ↔ UTILITY</a:t>
            </a:r>
            <a:endParaRPr lang="en-US" sz="1100" dirty="0"/>
          </a:p>
        </p:txBody>
      </p:sp>
      <p:sp>
        <p:nvSpPr>
          <p:cNvPr id="6" name="Text 4"/>
          <p:cNvSpPr txBox="1"/>
          <p:nvPr/>
        </p:nvSpPr>
        <p:spPr>
          <a:xfrm>
            <a:off x="10881360" y="1911096"/>
            <a:ext cx="566928" cy="237744"/>
          </a:xfrm>
          <a:prstGeom prst="roundRect">
            <a:avLst>
              <a:gd name="adj" fmla="val 15385"/>
            </a:avLst>
          </a:prstGeom>
          <a:solidFill>
            <a:srgbClr val="C67A43"/>
          </a:solidFill>
          <a:ln/>
        </p:spPr>
        <p:txBody>
          <a:bodyPr wrap="square" lIns="0" tIns="0" rIns="0" bIns="0" rtlCol="0" anchor="ctr"/>
          <a:lstStyle/>
          <a:p>
            <a:pPr algn="ctr" indent="0" marL="0">
              <a:buNone/>
            </a:pPr>
            <a:r>
              <a:rPr lang="en-US" sz="800" b="1" spc="100" kern="0" dirty="0">
                <a:solidFill>
                  <a:srgbClr val="FFFFFF"/>
                </a:solidFill>
                <a:latin typeface="Arial" pitchFamily="34" charset="0"/>
                <a:ea typeface="Arial" pitchFamily="34" charset="-122"/>
                <a:cs typeface="Arial" pitchFamily="34" charset="-120"/>
              </a:rPr>
              <a:t>[R]</a:t>
            </a:r>
            <a:endParaRPr lang="en-US" sz="800" dirty="0"/>
          </a:p>
        </p:txBody>
      </p:sp>
      <p:sp>
        <p:nvSpPr>
          <p:cNvPr id="7" name="Text 5"/>
          <p:cNvSpPr txBox="1"/>
          <p:nvPr/>
        </p:nvSpPr>
        <p:spPr>
          <a:xfrm>
            <a:off x="822960" y="2240280"/>
            <a:ext cx="10515600" cy="685800"/>
          </a:xfrm>
          <a:prstGeom prst="rect">
            <a:avLst/>
          </a:prstGeom>
          <a:noFill/>
          <a:ln/>
        </p:spPr>
        <p:txBody>
          <a:bodyPr wrap="square" lIns="0" tIns="0" rIns="0" bIns="0" rtlCol="0" anchor="t"/>
          <a:lstStyle/>
          <a:p>
            <a:pPr indent="0" marL="0">
              <a:buNone/>
            </a:pPr>
            <a:r>
              <a:rPr lang="en-US" sz="1200" dirty="0">
                <a:solidFill>
                  <a:srgbClr val="1A1D21"/>
                </a:solidFill>
                <a:latin typeface="Arial" pitchFamily="34" charset="0"/>
                <a:ea typeface="Arial" pitchFamily="34" charset="-122"/>
                <a:cs typeface="Arial" pitchFamily="34" charset="-120"/>
              </a:rPr>
              <a:t>Generator side of the GSU high side / plant switchyard is PG; the grid side is Utility. Transmission built to move a plant's output is Utility infrastructure even when a generation project triggered it.</a:t>
            </a:r>
            <a:endParaRPr lang="en-US" sz="1200" dirty="0"/>
          </a:p>
        </p:txBody>
      </p:sp>
      <p:sp>
        <p:nvSpPr>
          <p:cNvPr id="8" name="Shape 6"/>
          <p:cNvSpPr/>
          <p:nvPr/>
        </p:nvSpPr>
        <p:spPr>
          <a:xfrm>
            <a:off x="548640" y="3200400"/>
            <a:ext cx="11091672" cy="1234440"/>
          </a:xfrm>
          <a:prstGeom prst="rect">
            <a:avLst/>
          </a:prstGeom>
          <a:solidFill>
            <a:srgbClr val="F5F4F2"/>
          </a:solidFill>
          <a:ln/>
        </p:spPr>
      </p:sp>
      <p:sp>
        <p:nvSpPr>
          <p:cNvPr id="9" name="Text 7"/>
          <p:cNvSpPr txBox="1"/>
          <p:nvPr/>
        </p:nvSpPr>
        <p:spPr>
          <a:xfrm>
            <a:off x="822960" y="3346704"/>
            <a:ext cx="2926080" cy="256032"/>
          </a:xfrm>
          <a:prstGeom prst="rect">
            <a:avLst/>
          </a:prstGeom>
          <a:noFill/>
          <a:ln/>
        </p:spPr>
        <p:txBody>
          <a:bodyPr wrap="square" lIns="0" tIns="0" rIns="0" bIns="0" rtlCol="0" anchor="ctr"/>
          <a:lstStyle/>
          <a:p>
            <a:pPr indent="0" marL="0">
              <a:buNone/>
            </a:pPr>
            <a:r>
              <a:rPr lang="en-US" sz="1100" b="1" spc="150" kern="0" dirty="0">
                <a:solidFill>
                  <a:srgbClr val="C67A43"/>
                </a:solidFill>
                <a:latin typeface="Arial" pitchFamily="34" charset="0"/>
                <a:ea typeface="Arial" pitchFamily="34" charset="-122"/>
                <a:cs typeface="Arial" pitchFamily="34" charset="-120"/>
              </a:rPr>
              <a:t>PG ↔ DATA CENTER</a:t>
            </a:r>
            <a:endParaRPr lang="en-US" sz="1100" dirty="0"/>
          </a:p>
        </p:txBody>
      </p:sp>
      <p:sp>
        <p:nvSpPr>
          <p:cNvPr id="10" name="Text 8"/>
          <p:cNvSpPr txBox="1"/>
          <p:nvPr/>
        </p:nvSpPr>
        <p:spPr>
          <a:xfrm>
            <a:off x="10881360" y="3328416"/>
            <a:ext cx="566928" cy="237744"/>
          </a:xfrm>
          <a:prstGeom prst="roundRect">
            <a:avLst>
              <a:gd name="adj" fmla="val 15385"/>
            </a:avLst>
          </a:prstGeom>
          <a:solidFill>
            <a:srgbClr val="C67A43"/>
          </a:solidFill>
          <a:ln/>
        </p:spPr>
        <p:txBody>
          <a:bodyPr wrap="square" lIns="0" tIns="0" rIns="0" bIns="0" rtlCol="0" anchor="ctr"/>
          <a:lstStyle/>
          <a:p>
            <a:pPr algn="ctr" indent="0" marL="0">
              <a:buNone/>
            </a:pPr>
            <a:r>
              <a:rPr lang="en-US" sz="800" b="1" spc="100" kern="0" dirty="0">
                <a:solidFill>
                  <a:srgbClr val="FFFFFF"/>
                </a:solidFill>
                <a:latin typeface="Arial" pitchFamily="34" charset="0"/>
                <a:ea typeface="Arial" pitchFamily="34" charset="-122"/>
                <a:cs typeface="Arial" pitchFamily="34" charset="-120"/>
              </a:rPr>
              <a:t>[F/R]</a:t>
            </a:r>
            <a:endParaRPr lang="en-US" sz="800" dirty="0"/>
          </a:p>
        </p:txBody>
      </p:sp>
      <p:sp>
        <p:nvSpPr>
          <p:cNvPr id="11" name="Text 9"/>
          <p:cNvSpPr txBox="1"/>
          <p:nvPr/>
        </p:nvSpPr>
        <p:spPr>
          <a:xfrm>
            <a:off x="822960" y="3657600"/>
            <a:ext cx="10515600" cy="685800"/>
          </a:xfrm>
          <a:prstGeom prst="rect">
            <a:avLst/>
          </a:prstGeom>
          <a:noFill/>
          <a:ln/>
        </p:spPr>
        <p:txBody>
          <a:bodyPr wrap="square" lIns="0" tIns="0" rIns="0" bIns="0" rtlCol="0" anchor="t"/>
          <a:lstStyle/>
          <a:p>
            <a:pPr indent="0" marL="0">
              <a:buNone/>
            </a:pPr>
            <a:r>
              <a:rPr lang="en-US" sz="1200" dirty="0">
                <a:solidFill>
                  <a:srgbClr val="1A1D21"/>
                </a:solidFill>
                <a:latin typeface="Arial" pitchFamily="34" charset="0"/>
                <a:ea typeface="Arial" pitchFamily="34" charset="-122"/>
                <a:cs typeface="Arial" pitchFamily="34" charset="-120"/>
              </a:rPr>
              <a:t>Behind-the-meter generation at a data center is PG — stated as asset type, never meter position. The campus electrical from the utility interconnection inward to the rack is DC.</a:t>
            </a:r>
            <a:endParaRPr lang="en-US" sz="1200" dirty="0"/>
          </a:p>
        </p:txBody>
      </p:sp>
      <p:sp>
        <p:nvSpPr>
          <p:cNvPr id="12" name="Shape 10"/>
          <p:cNvSpPr/>
          <p:nvPr/>
        </p:nvSpPr>
        <p:spPr>
          <a:xfrm>
            <a:off x="548640" y="4617720"/>
            <a:ext cx="11091672" cy="1234440"/>
          </a:xfrm>
          <a:prstGeom prst="rect">
            <a:avLst/>
          </a:prstGeom>
          <a:solidFill>
            <a:srgbClr val="F5F4F2"/>
          </a:solidFill>
          <a:ln/>
        </p:spPr>
      </p:sp>
      <p:sp>
        <p:nvSpPr>
          <p:cNvPr id="13" name="Text 11"/>
          <p:cNvSpPr txBox="1"/>
          <p:nvPr/>
        </p:nvSpPr>
        <p:spPr>
          <a:xfrm>
            <a:off x="822960" y="4764024"/>
            <a:ext cx="2926080" cy="256032"/>
          </a:xfrm>
          <a:prstGeom prst="rect">
            <a:avLst/>
          </a:prstGeom>
          <a:noFill/>
          <a:ln/>
        </p:spPr>
        <p:txBody>
          <a:bodyPr wrap="square" lIns="0" tIns="0" rIns="0" bIns="0" rtlCol="0" anchor="ctr"/>
          <a:lstStyle/>
          <a:p>
            <a:pPr indent="0" marL="0">
              <a:buNone/>
            </a:pPr>
            <a:r>
              <a:rPr lang="en-US" sz="1100" b="1" spc="150" kern="0" dirty="0">
                <a:solidFill>
                  <a:srgbClr val="C67A43"/>
                </a:solidFill>
                <a:latin typeface="Arial" pitchFamily="34" charset="0"/>
                <a:ea typeface="Arial" pitchFamily="34" charset="-122"/>
                <a:cs typeface="Arial" pitchFamily="34" charset="-120"/>
              </a:rPr>
              <a:t>PG ↔ INDUSTRIAL</a:t>
            </a:r>
            <a:endParaRPr lang="en-US" sz="1100" dirty="0"/>
          </a:p>
        </p:txBody>
      </p:sp>
      <p:sp>
        <p:nvSpPr>
          <p:cNvPr id="14" name="Text 12"/>
          <p:cNvSpPr txBox="1"/>
          <p:nvPr/>
        </p:nvSpPr>
        <p:spPr>
          <a:xfrm>
            <a:off x="10881360" y="4745736"/>
            <a:ext cx="566928" cy="237744"/>
          </a:xfrm>
          <a:prstGeom prst="roundRect">
            <a:avLst>
              <a:gd name="adj" fmla="val 15385"/>
            </a:avLst>
          </a:prstGeom>
          <a:solidFill>
            <a:srgbClr val="C67A43"/>
          </a:solidFill>
          <a:ln/>
        </p:spPr>
        <p:txBody>
          <a:bodyPr wrap="square" lIns="0" tIns="0" rIns="0" bIns="0" rtlCol="0" anchor="ctr"/>
          <a:lstStyle/>
          <a:p>
            <a:pPr algn="ctr" indent="0" marL="0">
              <a:buNone/>
            </a:pPr>
            <a:r>
              <a:rPr lang="en-US" sz="800" b="1" spc="100" kern="0" dirty="0">
                <a:solidFill>
                  <a:srgbClr val="FFFFFF"/>
                </a:solidFill>
                <a:latin typeface="Arial" pitchFamily="34" charset="0"/>
                <a:ea typeface="Arial" pitchFamily="34" charset="-122"/>
                <a:cs typeface="Arial" pitchFamily="34" charset="-120"/>
              </a:rPr>
              <a:t>[R]</a:t>
            </a:r>
            <a:endParaRPr lang="en-US" sz="800" dirty="0"/>
          </a:p>
        </p:txBody>
      </p:sp>
      <p:sp>
        <p:nvSpPr>
          <p:cNvPr id="15" name="Text 13"/>
          <p:cNvSpPr txBox="1"/>
          <p:nvPr/>
        </p:nvSpPr>
        <p:spPr>
          <a:xfrm>
            <a:off x="822960" y="5074920"/>
            <a:ext cx="10515600" cy="685800"/>
          </a:xfrm>
          <a:prstGeom prst="rect">
            <a:avLst/>
          </a:prstGeom>
          <a:noFill/>
          <a:ln/>
        </p:spPr>
        <p:txBody>
          <a:bodyPr wrap="square" lIns="0" tIns="0" rIns="0" bIns="0" rtlCol="0" anchor="t"/>
          <a:lstStyle/>
          <a:p>
            <a:pPr indent="0" marL="0">
              <a:buNone/>
            </a:pPr>
            <a:r>
              <a:rPr lang="en-US" sz="1200" dirty="0">
                <a:solidFill>
                  <a:srgbClr val="1A1D21"/>
                </a:solidFill>
                <a:latin typeface="Arial" pitchFamily="34" charset="0"/>
                <a:ea typeface="Arial" pitchFamily="34" charset="-122"/>
                <a:cs typeface="Arial" pitchFamily="34" charset="-120"/>
              </a:rPr>
              <a:t>The test is the purpose of the electron. Produced for sale, export or as a standalone product: PG. Produced and consumed inside the fence to run a process: Industrial, with PG supporting the generation-equipment spec.</a:t>
            </a:r>
            <a:endParaRPr lang="en-US" sz="1200" dirty="0"/>
          </a:p>
        </p:txBody>
      </p:sp>
      <p:sp>
        <p:nvSpPr>
          <p:cNvPr id="16" name="Text 14"/>
          <p:cNvSpPr txBox="1"/>
          <p:nvPr/>
        </p:nvSpPr>
        <p:spPr>
          <a:xfrm>
            <a:off x="548640" y="5989320"/>
            <a:ext cx="11091672" cy="320040"/>
          </a:xfrm>
          <a:prstGeom prst="rect">
            <a:avLst/>
          </a:prstGeom>
          <a:noFill/>
          <a:ln/>
        </p:spPr>
        <p:txBody>
          <a:bodyPr wrap="square" lIns="0" tIns="0" rIns="0" bIns="0" rtlCol="0" anchor="ctr"/>
          <a:lstStyle/>
          <a:p>
            <a:pPr indent="0" marL="0">
              <a:buNone/>
            </a:pPr>
            <a:r>
              <a:rPr lang="en-US" sz="1000" i="1" dirty="0">
                <a:solidFill>
                  <a:srgbClr val="6B7075"/>
                </a:solidFill>
                <a:latin typeface="Arial" pitchFamily="34" charset="0"/>
                <a:ea typeface="Arial" pitchFamily="34" charset="-122"/>
                <a:cs typeface="Arial" pitchFamily="34" charset="-120"/>
              </a:rPr>
              <a:t>Say it as asset type or the DC team will read the BTM rule as a territory grab. Front-of-meter / behind-the-meter framing was rejected on Aug 20 — this wording is consistent with that.</a:t>
            </a:r>
            <a:endParaRPr lang="en-US" sz="1000" dirty="0"/>
          </a:p>
        </p:txBody>
      </p:sp>
      <p:sp>
        <p:nvSpPr>
          <p:cNvPr id="17" name="Text 15"/>
          <p:cNvSpPr txBox="1"/>
          <p:nvPr/>
        </p:nvSpPr>
        <p:spPr>
          <a:xfrm>
            <a:off x="548640" y="6510528"/>
            <a:ext cx="5029200" cy="237744"/>
          </a:xfrm>
          <a:prstGeom prst="rect">
            <a:avLst/>
          </a:prstGeom>
          <a:noFill/>
          <a:ln/>
        </p:spPr>
        <p:txBody>
          <a:bodyPr wrap="square" lIns="0" tIns="0" rIns="0" bIns="0" rtlCol="0" anchor="ctr"/>
          <a:lstStyle/>
          <a:p>
            <a:pPr algn="l" indent="0" marL="0">
              <a:buNone/>
            </a:pPr>
            <a:r>
              <a:rPr lang="en-US" sz="800" dirty="0">
                <a:solidFill>
                  <a:srgbClr val="9A9FA4"/>
                </a:solidFill>
                <a:latin typeface="Arial" pitchFamily="34" charset="0"/>
                <a:ea typeface="Arial" pitchFamily="34" charset="-122"/>
                <a:cs typeface="Arial" pitchFamily="34" charset="-120"/>
              </a:rPr>
              <a:t>Stephan Hardt · Power Generation Solutions</a:t>
            </a:r>
            <a:endParaRPr lang="en-US" sz="800" dirty="0"/>
          </a:p>
        </p:txBody>
      </p:sp>
      <p:sp>
        <p:nvSpPr>
          <p:cNvPr id="18" name="Text 16"/>
          <p:cNvSpPr txBox="1"/>
          <p:nvPr/>
        </p:nvSpPr>
        <p:spPr>
          <a:xfrm>
            <a:off x="5943600" y="6510528"/>
            <a:ext cx="5696712" cy="237744"/>
          </a:xfrm>
          <a:prstGeom prst="rect">
            <a:avLst/>
          </a:prstGeom>
          <a:noFill/>
          <a:ln/>
        </p:spPr>
        <p:txBody>
          <a:bodyPr wrap="square" lIns="0" tIns="0" rIns="0" bIns="0" rtlCol="0" anchor="ctr"/>
          <a:lstStyle/>
          <a:p>
            <a:pPr algn="r" indent="0" marL="0">
              <a:buNone/>
            </a:pPr>
            <a:r>
              <a:rPr lang="en-US" sz="800" dirty="0">
                <a:solidFill>
                  <a:srgbClr val="9A9FA4"/>
                </a:solidFill>
                <a:latin typeface="Arial" pitchFamily="34" charset="0"/>
                <a:ea typeface="Arial" pitchFamily="34" charset="-122"/>
                <a:cs typeface="Arial" pitchFamily="34" charset="-120"/>
              </a:rPr>
              <a:t>SWR-PG-ROE Rev 00 · Working draft — Southwire internal · slide 4 of 14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38912"/>
            <a:ext cx="11091672" cy="274320"/>
          </a:xfrm>
          <a:prstGeom prst="rect">
            <a:avLst/>
          </a:prstGeom>
          <a:noFill/>
          <a:ln/>
        </p:spPr>
        <p:txBody>
          <a:bodyPr wrap="square" lIns="0" tIns="0" rIns="0" bIns="0" rtlCol="0" anchor="ctr"/>
          <a:lstStyle/>
          <a:p>
            <a:pPr algn="l" indent="0" marL="0">
              <a:buNone/>
            </a:pPr>
            <a:r>
              <a:rPr lang="en-US" sz="1050" b="1" spc="200" kern="0" dirty="0">
                <a:solidFill>
                  <a:srgbClr val="C67A43"/>
                </a:solidFill>
                <a:latin typeface="Arial" pitchFamily="34" charset="0"/>
                <a:ea typeface="Arial" pitchFamily="34" charset="-122"/>
                <a:cs typeface="Arial" pitchFamily="34" charset="-120"/>
              </a:rPr>
              <a:t>THE RULES APPLIED TO THE HARD CASES</a:t>
            </a:r>
            <a:endParaRPr lang="en-US" sz="1050" dirty="0"/>
          </a:p>
        </p:txBody>
      </p:sp>
      <p:sp>
        <p:nvSpPr>
          <p:cNvPr id="3" name="Text 1"/>
          <p:cNvSpPr txBox="1"/>
          <p:nvPr/>
        </p:nvSpPr>
        <p:spPr>
          <a:xfrm>
            <a:off x="548640" y="768096"/>
            <a:ext cx="11091672" cy="457200"/>
          </a:xfrm>
          <a:prstGeom prst="rect">
            <a:avLst/>
          </a:prstGeom>
          <a:noFill/>
          <a:ln/>
        </p:spPr>
        <p:txBody>
          <a:bodyPr wrap="square" lIns="0" tIns="0" rIns="0" bIns="0" rtlCol="0" anchor="t"/>
          <a:lstStyle/>
          <a:p>
            <a:pPr algn="l" indent="0" marL="0">
              <a:buNone/>
            </a:pPr>
            <a:r>
              <a:rPr lang="en-US" sz="2600" b="1" dirty="0">
                <a:solidFill>
                  <a:srgbClr val="1A1D21"/>
                </a:solidFill>
                <a:latin typeface="Arial" pitchFamily="34" charset="0"/>
                <a:ea typeface="Arial" pitchFamily="34" charset="-122"/>
                <a:cs typeface="Arial" pitchFamily="34" charset="-120"/>
              </a:rPr>
              <a:t>Same account, same product — the asset decides, per scope.</a:t>
            </a:r>
            <a:endParaRPr lang="en-US" sz="2600" dirty="0"/>
          </a:p>
        </p:txBody>
      </p:sp>
      <p:sp>
        <p:nvSpPr>
          <p:cNvPr id="4" name="Shape 2"/>
          <p:cNvSpPr/>
          <p:nvPr/>
        </p:nvSpPr>
        <p:spPr>
          <a:xfrm>
            <a:off x="566928" y="1764792"/>
            <a:ext cx="82296" cy="82296"/>
          </a:xfrm>
          <a:prstGeom prst="ellipse">
            <a:avLst/>
          </a:prstGeom>
          <a:solidFill>
            <a:srgbClr val="C67A43"/>
          </a:solidFill>
          <a:ln/>
        </p:spPr>
      </p:sp>
      <p:sp>
        <p:nvSpPr>
          <p:cNvPr id="5" name="Text 3"/>
          <p:cNvSpPr txBox="1"/>
          <p:nvPr/>
        </p:nvSpPr>
        <p:spPr>
          <a:xfrm>
            <a:off x="868680" y="1691640"/>
            <a:ext cx="10744200" cy="621792"/>
          </a:xfrm>
          <a:prstGeom prst="rect">
            <a:avLst/>
          </a:prstGeom>
          <a:noFill/>
          <a:ln/>
        </p:spPr>
        <p:txBody>
          <a:bodyPr wrap="square" lIns="0" tIns="0" rIns="0" bIns="0" rtlCol="0" anchor="t"/>
          <a:lstStyle/>
          <a:p>
            <a:pPr indent="0" marL="0">
              <a:buNone/>
            </a:pPr>
            <a:r>
              <a:rPr lang="en-US" sz="1150" b="1" dirty="0">
                <a:solidFill>
                  <a:srgbClr val="1A1D21"/>
                </a:solidFill>
                <a:latin typeface="Arial" pitchFamily="34" charset="0"/>
                <a:ea typeface="Arial" pitchFamily="34" charset="-122"/>
                <a:cs typeface="Arial" pitchFamily="34" charset="-120"/>
              </a:rPr>
              <a:t>Powell switchgear into a gas plant — </a:t>
            </a:r>
            <a:pPr indent="0" marL="0">
              <a:buNone/>
            </a:pPr>
            <a:r>
              <a:rPr lang="en-US" sz="1150" dirty="0">
                <a:solidFill>
                  <a:srgbClr val="6B7075"/>
                </a:solidFill>
                <a:latin typeface="Arial" pitchFamily="34" charset="0"/>
                <a:ea typeface="Arial" pitchFamily="34" charset="-122"/>
                <a:cs typeface="Arial" pitchFamily="34" charset="-120"/>
              </a:rPr>
              <a:t>PG — Powell engineering controls the spec; an OEM program. The PO may come from a distributor; irrelevant to ownership.</a:t>
            </a:r>
            <a:endParaRPr lang="en-US" sz="1150" dirty="0"/>
          </a:p>
        </p:txBody>
      </p:sp>
      <p:sp>
        <p:nvSpPr>
          <p:cNvPr id="6" name="Shape 4"/>
          <p:cNvSpPr/>
          <p:nvPr/>
        </p:nvSpPr>
        <p:spPr>
          <a:xfrm>
            <a:off x="566928" y="2478024"/>
            <a:ext cx="82296" cy="82296"/>
          </a:xfrm>
          <a:prstGeom prst="ellipse">
            <a:avLst/>
          </a:prstGeom>
          <a:solidFill>
            <a:srgbClr val="C67A43"/>
          </a:solidFill>
          <a:ln/>
        </p:spPr>
      </p:sp>
      <p:sp>
        <p:nvSpPr>
          <p:cNvPr id="7" name="Text 5"/>
          <p:cNvSpPr txBox="1"/>
          <p:nvPr/>
        </p:nvSpPr>
        <p:spPr>
          <a:xfrm>
            <a:off x="868680" y="2404872"/>
            <a:ext cx="10744200" cy="621792"/>
          </a:xfrm>
          <a:prstGeom prst="rect">
            <a:avLst/>
          </a:prstGeom>
          <a:noFill/>
          <a:ln/>
        </p:spPr>
        <p:txBody>
          <a:bodyPr wrap="square" lIns="0" tIns="0" rIns="0" bIns="0" rtlCol="0" anchor="t"/>
          <a:lstStyle/>
          <a:p>
            <a:pPr indent="0" marL="0">
              <a:buNone/>
            </a:pPr>
            <a:r>
              <a:rPr lang="en-US" sz="1150" b="1" dirty="0">
                <a:solidFill>
                  <a:srgbClr val="1A1D21"/>
                </a:solidFill>
                <a:latin typeface="Arial" pitchFamily="34" charset="0"/>
                <a:ea typeface="Arial" pitchFamily="34" charset="-122"/>
                <a:cs typeface="Arial" pitchFamily="34" charset="-120"/>
              </a:rPr>
              <a:t>Powell switchgear inside a data-center campus — </a:t>
            </a:r>
            <a:pPr indent="0" marL="0">
              <a:buNone/>
            </a:pPr>
            <a:r>
              <a:rPr lang="en-US" sz="1150" dirty="0">
                <a:solidFill>
                  <a:srgbClr val="6B7075"/>
                </a:solidFill>
                <a:latin typeface="Arial" pitchFamily="34" charset="0"/>
                <a:ea typeface="Arial" pitchFamily="34" charset="-122"/>
                <a:cs typeface="Arial" pitchFamily="34" charset="-120"/>
              </a:rPr>
              <a:t>DC — same OEM, different scope. One Powell coordinator, two opportunity leads.</a:t>
            </a:r>
            <a:endParaRPr lang="en-US" sz="1150" dirty="0"/>
          </a:p>
        </p:txBody>
      </p:sp>
      <p:sp>
        <p:nvSpPr>
          <p:cNvPr id="8" name="Shape 6"/>
          <p:cNvSpPr/>
          <p:nvPr/>
        </p:nvSpPr>
        <p:spPr>
          <a:xfrm>
            <a:off x="566928" y="3191256"/>
            <a:ext cx="82296" cy="82296"/>
          </a:xfrm>
          <a:prstGeom prst="ellipse">
            <a:avLst/>
          </a:prstGeom>
          <a:solidFill>
            <a:srgbClr val="C67A43"/>
          </a:solidFill>
          <a:ln/>
        </p:spPr>
      </p:sp>
      <p:sp>
        <p:nvSpPr>
          <p:cNvPr id="9" name="Text 7"/>
          <p:cNvSpPr txBox="1"/>
          <p:nvPr/>
        </p:nvSpPr>
        <p:spPr>
          <a:xfrm>
            <a:off x="868680" y="3118104"/>
            <a:ext cx="10744200" cy="621792"/>
          </a:xfrm>
          <a:prstGeom prst="rect">
            <a:avLst/>
          </a:prstGeom>
          <a:noFill/>
          <a:ln/>
        </p:spPr>
        <p:txBody>
          <a:bodyPr wrap="square" lIns="0" tIns="0" rIns="0" bIns="0" rtlCol="0" anchor="t"/>
          <a:lstStyle/>
          <a:p>
            <a:pPr indent="0" marL="0">
              <a:buNone/>
            </a:pPr>
            <a:r>
              <a:rPr lang="en-US" sz="1150" b="1" dirty="0">
                <a:solidFill>
                  <a:srgbClr val="1A1D21"/>
                </a:solidFill>
                <a:latin typeface="Arial" pitchFamily="34" charset="0"/>
                <a:ea typeface="Arial" pitchFamily="34" charset="-122"/>
                <a:cs typeface="Arial" pitchFamily="34" charset="-120"/>
              </a:rPr>
              <a:t>Enchanted Rock / VoltaGrid generation at data centers — </a:t>
            </a:r>
            <a:pPr indent="0" marL="0">
              <a:buNone/>
            </a:pPr>
            <a:r>
              <a:rPr lang="en-US" sz="1150" dirty="0">
                <a:solidFill>
                  <a:srgbClr val="6B7075"/>
                </a:solidFill>
                <a:latin typeface="Arial" pitchFamily="34" charset="0"/>
                <a:ea typeface="Arial" pitchFamily="34" charset="-122"/>
                <a:cs typeface="Arial" pitchFamily="34" charset="-120"/>
              </a:rPr>
              <a:t>PG — the asset is a generator regardless of the meter; DC keeps the campus interface. Agreed in principle Aug 24 [F].</a:t>
            </a:r>
            <a:endParaRPr lang="en-US" sz="1150" dirty="0"/>
          </a:p>
        </p:txBody>
      </p:sp>
      <p:sp>
        <p:nvSpPr>
          <p:cNvPr id="10" name="Shape 8"/>
          <p:cNvSpPr/>
          <p:nvPr/>
        </p:nvSpPr>
        <p:spPr>
          <a:xfrm>
            <a:off x="566928" y="3904488"/>
            <a:ext cx="82296" cy="82296"/>
          </a:xfrm>
          <a:prstGeom prst="ellipse">
            <a:avLst/>
          </a:prstGeom>
          <a:solidFill>
            <a:srgbClr val="C67A43"/>
          </a:solidFill>
          <a:ln/>
        </p:spPr>
      </p:sp>
      <p:sp>
        <p:nvSpPr>
          <p:cNvPr id="11" name="Text 9"/>
          <p:cNvSpPr txBox="1"/>
          <p:nvPr/>
        </p:nvSpPr>
        <p:spPr>
          <a:xfrm>
            <a:off x="868680" y="3831336"/>
            <a:ext cx="10744200" cy="621792"/>
          </a:xfrm>
          <a:prstGeom prst="rect">
            <a:avLst/>
          </a:prstGeom>
          <a:noFill/>
          <a:ln/>
        </p:spPr>
        <p:txBody>
          <a:bodyPr wrap="square" lIns="0" tIns="0" rIns="0" bIns="0" rtlCol="0" anchor="t"/>
          <a:lstStyle/>
          <a:p>
            <a:pPr indent="0" marL="0">
              <a:buNone/>
            </a:pPr>
            <a:r>
              <a:rPr lang="en-US" sz="1150" b="1" dirty="0">
                <a:solidFill>
                  <a:srgbClr val="1A1D21"/>
                </a:solidFill>
                <a:latin typeface="Arial" pitchFamily="34" charset="0"/>
                <a:ea typeface="Arial" pitchFamily="34" charset="-122"/>
                <a:cs typeface="Arial" pitchFamily="34" charset="-120"/>
              </a:rPr>
              <a:t>Hyperscaler buying packaged generators — </a:t>
            </a:r>
            <a:pPr indent="0" marL="0">
              <a:buNone/>
            </a:pPr>
            <a:r>
              <a:rPr lang="en-US" sz="1150" dirty="0">
                <a:solidFill>
                  <a:srgbClr val="6B7075"/>
                </a:solidFill>
                <a:latin typeface="Arial" pitchFamily="34" charset="0"/>
                <a:ea typeface="Arial" pitchFamily="34" charset="-122"/>
                <a:cs typeface="Arial" pitchFamily="34" charset="-120"/>
              </a:rPr>
              <a:t>PG for the generation scope — their energy team controls the spec, not the facility team DC calls on. DC remains account coordinator (80/20 facility spend).</a:t>
            </a:r>
            <a:endParaRPr lang="en-US" sz="1150" dirty="0"/>
          </a:p>
        </p:txBody>
      </p:sp>
      <p:sp>
        <p:nvSpPr>
          <p:cNvPr id="12" name="Shape 10"/>
          <p:cNvSpPr/>
          <p:nvPr/>
        </p:nvSpPr>
        <p:spPr>
          <a:xfrm>
            <a:off x="566928" y="4617720"/>
            <a:ext cx="82296" cy="82296"/>
          </a:xfrm>
          <a:prstGeom prst="ellipse">
            <a:avLst/>
          </a:prstGeom>
          <a:solidFill>
            <a:srgbClr val="C67A43"/>
          </a:solidFill>
          <a:ln/>
        </p:spPr>
      </p:sp>
      <p:sp>
        <p:nvSpPr>
          <p:cNvPr id="13" name="Text 11"/>
          <p:cNvSpPr txBox="1"/>
          <p:nvPr/>
        </p:nvSpPr>
        <p:spPr>
          <a:xfrm>
            <a:off x="868680" y="4544568"/>
            <a:ext cx="10744200" cy="621792"/>
          </a:xfrm>
          <a:prstGeom prst="rect">
            <a:avLst/>
          </a:prstGeom>
          <a:noFill/>
          <a:ln/>
        </p:spPr>
        <p:txBody>
          <a:bodyPr wrap="square" lIns="0" tIns="0" rIns="0" bIns="0" rtlCol="0" anchor="t"/>
          <a:lstStyle/>
          <a:p>
            <a:pPr indent="0" marL="0">
              <a:buNone/>
            </a:pPr>
            <a:r>
              <a:rPr lang="en-US" sz="1150" b="1" dirty="0">
                <a:solidFill>
                  <a:srgbClr val="1A1D21"/>
                </a:solidFill>
                <a:latin typeface="Arial" pitchFamily="34" charset="0"/>
                <a:ea typeface="Arial" pitchFamily="34" charset="-122"/>
                <a:cs typeface="Arial" pitchFamily="34" charset="-120"/>
              </a:rPr>
              <a:t>Power-plant EPC issuing the cable PO — </a:t>
            </a:r>
            <a:pPr indent="0" marL="0">
              <a:buNone/>
            </a:pPr>
            <a:r>
              <a:rPr lang="en-US" sz="1150" dirty="0">
                <a:solidFill>
                  <a:srgbClr val="6B7075"/>
                </a:solidFill>
                <a:latin typeface="Arial" pitchFamily="34" charset="0"/>
                <a:ea typeface="Arial" pitchFamily="34" charset="-122"/>
                <a:cs typeface="Arial" pitchFamily="34" charset="-120"/>
              </a:rPr>
              <a:t>PG — the PO confirms the opportunity, it does not create ownership. The EPC's corporate coordinator is a separate decision.</a:t>
            </a:r>
            <a:endParaRPr lang="en-US" sz="1150" dirty="0"/>
          </a:p>
        </p:txBody>
      </p:sp>
      <p:sp>
        <p:nvSpPr>
          <p:cNvPr id="14" name="Shape 12"/>
          <p:cNvSpPr/>
          <p:nvPr/>
        </p:nvSpPr>
        <p:spPr>
          <a:xfrm>
            <a:off x="566928" y="5330952"/>
            <a:ext cx="82296" cy="82296"/>
          </a:xfrm>
          <a:prstGeom prst="ellipse">
            <a:avLst/>
          </a:prstGeom>
          <a:solidFill>
            <a:srgbClr val="C67A43"/>
          </a:solidFill>
          <a:ln/>
        </p:spPr>
      </p:sp>
      <p:sp>
        <p:nvSpPr>
          <p:cNvPr id="15" name="Text 13"/>
          <p:cNvSpPr txBox="1"/>
          <p:nvPr/>
        </p:nvSpPr>
        <p:spPr>
          <a:xfrm>
            <a:off x="868680" y="5257800"/>
            <a:ext cx="10744200" cy="621792"/>
          </a:xfrm>
          <a:prstGeom prst="rect">
            <a:avLst/>
          </a:prstGeom>
          <a:noFill/>
          <a:ln/>
        </p:spPr>
        <p:txBody>
          <a:bodyPr wrap="square" lIns="0" tIns="0" rIns="0" bIns="0" rtlCol="0" anchor="t"/>
          <a:lstStyle/>
          <a:p>
            <a:pPr indent="0" marL="0">
              <a:buNone/>
            </a:pPr>
            <a:r>
              <a:rPr lang="en-US" sz="1150" b="1" dirty="0">
                <a:solidFill>
                  <a:srgbClr val="1A1D21"/>
                </a:solidFill>
                <a:latin typeface="Arial" pitchFamily="34" charset="0"/>
                <a:ea typeface="Arial" pitchFamily="34" charset="-122"/>
                <a:cs typeface="Arial" pitchFamily="34" charset="-120"/>
              </a:rPr>
              <a:t>BESS integrator on grid and facility work — </a:t>
            </a:r>
            <a:pPr indent="0" marL="0">
              <a:buNone/>
            </a:pPr>
            <a:r>
              <a:rPr lang="en-US" sz="1150" dirty="0">
                <a:solidFill>
                  <a:srgbClr val="6B7075"/>
                </a:solidFill>
                <a:latin typeface="Arial" pitchFamily="34" charset="0"/>
                <a:ea typeface="Arial" pitchFamily="34" charset="-122"/>
                <a:cs typeface="Arial" pitchFamily="34" charset="-120"/>
              </a:rPr>
              <a:t>Split by scope — grid or generation-side to PG (Renewables open), facility-side storage to DC.</a:t>
            </a:r>
            <a:endParaRPr lang="en-US" sz="1150" dirty="0"/>
          </a:p>
        </p:txBody>
      </p:sp>
      <p:sp>
        <p:nvSpPr>
          <p:cNvPr id="16" name="Text 14"/>
          <p:cNvSpPr txBox="1"/>
          <p:nvPr/>
        </p:nvSpPr>
        <p:spPr>
          <a:xfrm>
            <a:off x="548640" y="6035040"/>
            <a:ext cx="11091672" cy="274320"/>
          </a:xfrm>
          <a:prstGeom prst="rect">
            <a:avLst/>
          </a:prstGeom>
          <a:noFill/>
          <a:ln/>
        </p:spPr>
        <p:txBody>
          <a:bodyPr wrap="square" lIns="0" tIns="0" rIns="0" bIns="0" rtlCol="0" anchor="ctr"/>
          <a:lstStyle/>
          <a:p>
            <a:pPr indent="0" marL="0">
              <a:buNone/>
            </a:pPr>
            <a:r>
              <a:rPr lang="en-US" sz="1050" i="1" dirty="0">
                <a:solidFill>
                  <a:srgbClr val="6B7075"/>
                </a:solidFill>
                <a:latin typeface="Arial" pitchFamily="34" charset="0"/>
                <a:ea typeface="Arial" pitchFamily="34" charset="-122"/>
                <a:cs typeface="Arial" pitchFamily="34" charset="-120"/>
              </a:rPr>
              <a:t>The hyperscaler row is the highest-politics case — and the clearest reason the two-role model exists.</a:t>
            </a:r>
            <a:endParaRPr lang="en-US" sz="1050" dirty="0"/>
          </a:p>
        </p:txBody>
      </p:sp>
      <p:sp>
        <p:nvSpPr>
          <p:cNvPr id="17" name="Text 15"/>
          <p:cNvSpPr txBox="1"/>
          <p:nvPr/>
        </p:nvSpPr>
        <p:spPr>
          <a:xfrm>
            <a:off x="548640" y="6510528"/>
            <a:ext cx="5029200" cy="237744"/>
          </a:xfrm>
          <a:prstGeom prst="rect">
            <a:avLst/>
          </a:prstGeom>
          <a:noFill/>
          <a:ln/>
        </p:spPr>
        <p:txBody>
          <a:bodyPr wrap="square" lIns="0" tIns="0" rIns="0" bIns="0" rtlCol="0" anchor="ctr"/>
          <a:lstStyle/>
          <a:p>
            <a:pPr algn="l" indent="0" marL="0">
              <a:buNone/>
            </a:pPr>
            <a:r>
              <a:rPr lang="en-US" sz="800" dirty="0">
                <a:solidFill>
                  <a:srgbClr val="9A9FA4"/>
                </a:solidFill>
                <a:latin typeface="Arial" pitchFamily="34" charset="0"/>
                <a:ea typeface="Arial" pitchFamily="34" charset="-122"/>
                <a:cs typeface="Arial" pitchFamily="34" charset="-120"/>
              </a:rPr>
              <a:t>Stephan Hardt · Power Generation Solutions</a:t>
            </a:r>
            <a:endParaRPr lang="en-US" sz="800" dirty="0"/>
          </a:p>
        </p:txBody>
      </p:sp>
      <p:sp>
        <p:nvSpPr>
          <p:cNvPr id="18" name="Text 16"/>
          <p:cNvSpPr txBox="1"/>
          <p:nvPr/>
        </p:nvSpPr>
        <p:spPr>
          <a:xfrm>
            <a:off x="5943600" y="6510528"/>
            <a:ext cx="5696712" cy="237744"/>
          </a:xfrm>
          <a:prstGeom prst="rect">
            <a:avLst/>
          </a:prstGeom>
          <a:noFill/>
          <a:ln/>
        </p:spPr>
        <p:txBody>
          <a:bodyPr wrap="square" lIns="0" tIns="0" rIns="0" bIns="0" rtlCol="0" anchor="ctr"/>
          <a:lstStyle/>
          <a:p>
            <a:pPr algn="r" indent="0" marL="0">
              <a:buNone/>
            </a:pPr>
            <a:r>
              <a:rPr lang="en-US" sz="800" dirty="0">
                <a:solidFill>
                  <a:srgbClr val="9A9FA4"/>
                </a:solidFill>
                <a:latin typeface="Arial" pitchFamily="34" charset="0"/>
                <a:ea typeface="Arial" pitchFamily="34" charset="-122"/>
                <a:cs typeface="Arial" pitchFamily="34" charset="-120"/>
              </a:rPr>
              <a:t>SWR-PG-ROE Rev 00 · Working draft — Southwire internal · slide 5 of 14</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38912"/>
            <a:ext cx="11091672" cy="274320"/>
          </a:xfrm>
          <a:prstGeom prst="rect">
            <a:avLst/>
          </a:prstGeom>
          <a:noFill/>
          <a:ln/>
        </p:spPr>
        <p:txBody>
          <a:bodyPr wrap="square" lIns="0" tIns="0" rIns="0" bIns="0" rtlCol="0" anchor="ctr"/>
          <a:lstStyle/>
          <a:p>
            <a:pPr algn="l" indent="0" marL="0">
              <a:buNone/>
            </a:pPr>
            <a:r>
              <a:rPr lang="en-US" sz="1050" b="1" spc="200" kern="0" dirty="0">
                <a:solidFill>
                  <a:srgbClr val="C67A43"/>
                </a:solidFill>
                <a:latin typeface="Arial" pitchFamily="34" charset="0"/>
                <a:ea typeface="Arial" pitchFamily="34" charset="-122"/>
                <a:cs typeface="Arial" pitchFamily="34" charset="-120"/>
              </a:rPr>
              <a:t>ACCOUNT VERSUS OPPORTUNITY OWNERSHIP</a:t>
            </a:r>
            <a:endParaRPr lang="en-US" sz="1050" dirty="0"/>
          </a:p>
        </p:txBody>
      </p:sp>
      <p:sp>
        <p:nvSpPr>
          <p:cNvPr id="3" name="Text 1"/>
          <p:cNvSpPr txBox="1"/>
          <p:nvPr/>
        </p:nvSpPr>
        <p:spPr>
          <a:xfrm>
            <a:off x="548640" y="768096"/>
            <a:ext cx="11091672" cy="640080"/>
          </a:xfrm>
          <a:prstGeom prst="rect">
            <a:avLst/>
          </a:prstGeom>
          <a:noFill/>
          <a:ln/>
        </p:spPr>
        <p:txBody>
          <a:bodyPr wrap="square" lIns="0" tIns="0" rIns="0" bIns="0" rtlCol="0" anchor="t"/>
          <a:lstStyle/>
          <a:p>
            <a:pPr algn="l" indent="0" marL="0">
              <a:buNone/>
            </a:pPr>
            <a:r>
              <a:rPr lang="en-US" sz="2700" b="1" dirty="0">
                <a:solidFill>
                  <a:srgbClr val="1A1D21"/>
                </a:solidFill>
                <a:latin typeface="Arial" pitchFamily="34" charset="0"/>
                <a:ea typeface="Arial" pitchFamily="34" charset="-122"/>
                <a:cs typeface="Arial" pitchFamily="34" charset="-120"/>
              </a:rPr>
              <a:t>Account leadership and opportunity ownership are different jobs. Separate them.</a:t>
            </a:r>
            <a:endParaRPr lang="en-US" sz="2700" dirty="0"/>
          </a:p>
        </p:txBody>
      </p:sp>
      <p:sp>
        <p:nvSpPr>
          <p:cNvPr id="4" name="Shape 2"/>
          <p:cNvSpPr/>
          <p:nvPr/>
        </p:nvSpPr>
        <p:spPr>
          <a:xfrm>
            <a:off x="548640" y="1691640"/>
            <a:ext cx="5468112" cy="3063240"/>
          </a:xfrm>
          <a:prstGeom prst="rect">
            <a:avLst/>
          </a:prstGeom>
          <a:solidFill>
            <a:srgbClr val="F5F4F2"/>
          </a:solidFill>
          <a:ln/>
        </p:spPr>
      </p:sp>
      <p:sp>
        <p:nvSpPr>
          <p:cNvPr id="5" name="Text 3"/>
          <p:cNvSpPr txBox="1"/>
          <p:nvPr/>
        </p:nvSpPr>
        <p:spPr>
          <a:xfrm>
            <a:off x="777240" y="1847088"/>
            <a:ext cx="5029200" cy="256032"/>
          </a:xfrm>
          <a:prstGeom prst="rect">
            <a:avLst/>
          </a:prstGeom>
          <a:noFill/>
          <a:ln/>
        </p:spPr>
        <p:txBody>
          <a:bodyPr wrap="square" lIns="0" tIns="0" rIns="0" bIns="0" rtlCol="0" anchor="ctr"/>
          <a:lstStyle/>
          <a:p>
            <a:pPr indent="0" marL="0">
              <a:buNone/>
            </a:pPr>
            <a:r>
              <a:rPr lang="en-US" sz="1000" b="1" spc="100" kern="0" dirty="0">
                <a:solidFill>
                  <a:srgbClr val="C67A43"/>
                </a:solidFill>
                <a:latin typeface="Arial" pitchFamily="34" charset="0"/>
                <a:ea typeface="Arial" pitchFamily="34" charset="-122"/>
                <a:cs typeface="Arial" pitchFamily="34" charset="-120"/>
              </a:rPr>
              <a:t>ACCOUNT COORDINATOR — ONE PER CUSTOMER</a:t>
            </a:r>
            <a:endParaRPr lang="en-US" sz="1000" dirty="0"/>
          </a:p>
        </p:txBody>
      </p:sp>
      <p:sp>
        <p:nvSpPr>
          <p:cNvPr id="6" name="Text 4"/>
          <p:cNvSpPr txBox="1"/>
          <p:nvPr/>
        </p:nvSpPr>
        <p:spPr>
          <a:xfrm>
            <a:off x="777240" y="2176272"/>
            <a:ext cx="5029200" cy="868680"/>
          </a:xfrm>
          <a:prstGeom prst="rect">
            <a:avLst/>
          </a:prstGeom>
          <a:noFill/>
          <a:ln/>
        </p:spPr>
        <p:txBody>
          <a:bodyPr wrap="square" lIns="0" tIns="0" rIns="0" bIns="0" rtlCol="0" anchor="t"/>
          <a:lstStyle/>
          <a:p>
            <a:pPr indent="0" marL="0">
              <a:buNone/>
            </a:pPr>
            <a:r>
              <a:rPr lang="en-US" sz="1050" dirty="0">
                <a:solidFill>
                  <a:srgbClr val="1A1D21"/>
                </a:solidFill>
                <a:latin typeface="Arial" pitchFamily="34" charset="0"/>
                <a:ea typeface="Arial" pitchFamily="34" charset="-122"/>
                <a:cs typeface="Arial" pitchFamily="34" charset="-120"/>
              </a:rPr>
              <a:t>Owns the relationship map, joint account plan and call calendar; makes the first call; rolls up the forecast across verticals; runs the quarterly joint review.</a:t>
            </a:r>
            <a:endParaRPr lang="en-US" sz="1050" dirty="0"/>
          </a:p>
        </p:txBody>
      </p:sp>
      <p:sp>
        <p:nvSpPr>
          <p:cNvPr id="7" name="Text 5"/>
          <p:cNvSpPr txBox="1"/>
          <p:nvPr/>
        </p:nvSpPr>
        <p:spPr>
          <a:xfrm>
            <a:off x="777240" y="3108960"/>
            <a:ext cx="5029200" cy="594360"/>
          </a:xfrm>
          <a:prstGeom prst="rect">
            <a:avLst/>
          </a:prstGeom>
          <a:noFill/>
          <a:ln/>
        </p:spPr>
        <p:txBody>
          <a:bodyPr wrap="square" lIns="0" tIns="0" rIns="0" bIns="0" rtlCol="0" anchor="t"/>
          <a:lstStyle/>
          <a:p>
            <a:pPr indent="0" marL="0">
              <a:buNone/>
            </a:pPr>
            <a:r>
              <a:rPr lang="en-US" sz="1050" dirty="0">
                <a:solidFill>
                  <a:srgbClr val="1A1D21"/>
                </a:solidFill>
                <a:latin typeface="Arial" pitchFamily="34" charset="0"/>
                <a:ea typeface="Arial" pitchFamily="34" charset="-122"/>
                <a:cs typeface="Arial" pitchFamily="34" charset="-120"/>
              </a:rPr>
              <a:t>Assigned to the vertical with the majority of Southwire-relevant spend — the 80/20 test. Reviewed annually.</a:t>
            </a:r>
            <a:endParaRPr lang="en-US" sz="1050" dirty="0"/>
          </a:p>
        </p:txBody>
      </p:sp>
      <p:sp>
        <p:nvSpPr>
          <p:cNvPr id="8" name="Text 6"/>
          <p:cNvSpPr txBox="1"/>
          <p:nvPr/>
        </p:nvSpPr>
        <p:spPr>
          <a:xfrm>
            <a:off x="777240" y="3886200"/>
            <a:ext cx="5029200" cy="777240"/>
          </a:xfrm>
          <a:prstGeom prst="rect">
            <a:avLst/>
          </a:prstGeom>
          <a:noFill/>
          <a:ln/>
        </p:spPr>
        <p:txBody>
          <a:bodyPr wrap="square" lIns="0" tIns="0" rIns="0" bIns="0" rtlCol="0" anchor="t"/>
          <a:lstStyle/>
          <a:p>
            <a:pPr indent="0" marL="0">
              <a:buNone/>
            </a:pPr>
            <a:r>
              <a:rPr lang="en-US" sz="1000" i="1" dirty="0">
                <a:solidFill>
                  <a:srgbClr val="6B7075"/>
                </a:solidFill>
                <a:latin typeface="Arial" pitchFamily="34" charset="0"/>
                <a:ea typeface="Arial" pitchFamily="34" charset="-122"/>
                <a:cs typeface="Arial" pitchFamily="34" charset="-120"/>
              </a:rPr>
              <a:t>Does not own: any opportunity outside its scope, the right to block the other vertical, or sales credit on its opportunities.</a:t>
            </a:r>
            <a:endParaRPr lang="en-US" sz="1000" dirty="0"/>
          </a:p>
        </p:txBody>
      </p:sp>
      <p:sp>
        <p:nvSpPr>
          <p:cNvPr id="9" name="Shape 7"/>
          <p:cNvSpPr/>
          <p:nvPr/>
        </p:nvSpPr>
        <p:spPr>
          <a:xfrm>
            <a:off x="6172200" y="1691640"/>
            <a:ext cx="5468112" cy="3063240"/>
          </a:xfrm>
          <a:prstGeom prst="rect">
            <a:avLst/>
          </a:prstGeom>
          <a:solidFill>
            <a:srgbClr val="F5F4F2"/>
          </a:solidFill>
          <a:ln/>
        </p:spPr>
      </p:sp>
      <p:sp>
        <p:nvSpPr>
          <p:cNvPr id="10" name="Text 8"/>
          <p:cNvSpPr txBox="1"/>
          <p:nvPr/>
        </p:nvSpPr>
        <p:spPr>
          <a:xfrm>
            <a:off x="6400800" y="1847088"/>
            <a:ext cx="5029200" cy="256032"/>
          </a:xfrm>
          <a:prstGeom prst="rect">
            <a:avLst/>
          </a:prstGeom>
          <a:noFill/>
          <a:ln/>
        </p:spPr>
        <p:txBody>
          <a:bodyPr wrap="square" lIns="0" tIns="0" rIns="0" bIns="0" rtlCol="0" anchor="ctr"/>
          <a:lstStyle/>
          <a:p>
            <a:pPr indent="0" marL="0">
              <a:buNone/>
            </a:pPr>
            <a:r>
              <a:rPr lang="en-US" sz="1000" b="1" spc="100" kern="0" dirty="0">
                <a:solidFill>
                  <a:srgbClr val="C67A43"/>
                </a:solidFill>
                <a:latin typeface="Arial" pitchFamily="34" charset="0"/>
                <a:ea typeface="Arial" pitchFamily="34" charset="-122"/>
                <a:cs typeface="Arial" pitchFamily="34" charset="-120"/>
              </a:rPr>
              <a:t>OPPORTUNITY LEAD</a:t>
            </a:r>
            <a:endParaRPr lang="en-US" sz="1000" dirty="0"/>
          </a:p>
        </p:txBody>
      </p:sp>
      <p:sp>
        <p:nvSpPr>
          <p:cNvPr id="11" name="Text 9"/>
          <p:cNvSpPr txBox="1"/>
          <p:nvPr/>
        </p:nvSpPr>
        <p:spPr>
          <a:xfrm>
            <a:off x="6400800" y="2176272"/>
            <a:ext cx="5029200" cy="868680"/>
          </a:xfrm>
          <a:prstGeom prst="rect">
            <a:avLst/>
          </a:prstGeom>
          <a:noFill/>
          <a:ln/>
        </p:spPr>
        <p:txBody>
          <a:bodyPr wrap="square" lIns="0" tIns="0" rIns="0" bIns="0" rtlCol="0" anchor="t"/>
          <a:lstStyle/>
          <a:p>
            <a:pPr indent="0" marL="0">
              <a:buNone/>
            </a:pPr>
            <a:r>
              <a:rPr lang="en-US" sz="1050" dirty="0">
                <a:solidFill>
                  <a:srgbClr val="1A1D21"/>
                </a:solidFill>
                <a:latin typeface="Arial" pitchFamily="34" charset="0"/>
                <a:ea typeface="Arial" pitchFamily="34" charset="-122"/>
                <a:cs typeface="Arial" pitchFamily="34" charset="-120"/>
              </a:rPr>
              <a:t>Owns the pursuit: spec engagement, quote, channel decision, forecast line, SAP/CPQ record, close. Receives the sales credit.</a:t>
            </a:r>
            <a:endParaRPr lang="en-US" sz="1050" dirty="0"/>
          </a:p>
        </p:txBody>
      </p:sp>
      <p:sp>
        <p:nvSpPr>
          <p:cNvPr id="12" name="Text 10"/>
          <p:cNvSpPr txBox="1"/>
          <p:nvPr/>
        </p:nvSpPr>
        <p:spPr>
          <a:xfrm>
            <a:off x="6400800" y="3108960"/>
            <a:ext cx="5029200" cy="594360"/>
          </a:xfrm>
          <a:prstGeom prst="rect">
            <a:avLst/>
          </a:prstGeom>
          <a:noFill/>
          <a:ln/>
        </p:spPr>
        <p:txBody>
          <a:bodyPr wrap="square" lIns="0" tIns="0" rIns="0" bIns="0" rtlCol="0" anchor="t"/>
          <a:lstStyle/>
          <a:p>
            <a:pPr indent="0" marL="0">
              <a:buNone/>
            </a:pPr>
            <a:r>
              <a:rPr lang="en-US" sz="1050" dirty="0">
                <a:solidFill>
                  <a:srgbClr val="1A1D21"/>
                </a:solidFill>
                <a:latin typeface="Arial" pitchFamily="34" charset="0"/>
                <a:ea typeface="Arial" pitchFamily="34" charset="-122"/>
                <a:cs typeface="Arial" pitchFamily="34" charset="-120"/>
              </a:rPr>
              <a:t>Assigned by Rules 1–2 — the asset and the spec, never the PO.</a:t>
            </a:r>
            <a:endParaRPr lang="en-US" sz="1050" dirty="0"/>
          </a:p>
        </p:txBody>
      </p:sp>
      <p:sp>
        <p:nvSpPr>
          <p:cNvPr id="13" name="Text 11"/>
          <p:cNvSpPr txBox="1"/>
          <p:nvPr/>
        </p:nvSpPr>
        <p:spPr>
          <a:xfrm>
            <a:off x="6400800" y="3886200"/>
            <a:ext cx="5029200" cy="777240"/>
          </a:xfrm>
          <a:prstGeom prst="rect">
            <a:avLst/>
          </a:prstGeom>
          <a:noFill/>
          <a:ln/>
        </p:spPr>
        <p:txBody>
          <a:bodyPr wrap="square" lIns="0" tIns="0" rIns="0" bIns="0" rtlCol="0" anchor="t"/>
          <a:lstStyle/>
          <a:p>
            <a:pPr indent="0" marL="0">
              <a:buNone/>
            </a:pPr>
            <a:r>
              <a:rPr lang="en-US" sz="1000" i="1" dirty="0">
                <a:solidFill>
                  <a:srgbClr val="6B7075"/>
                </a:solidFill>
                <a:latin typeface="Arial" pitchFamily="34" charset="0"/>
                <a:ea typeface="Arial" pitchFamily="34" charset="-122"/>
                <a:cs typeface="Arial" pitchFamily="34" charset="-120"/>
              </a:rPr>
              <a:t>Does not own: the customer relationship as a whole, or the right to call into the account without informing the coordinator.</a:t>
            </a:r>
            <a:endParaRPr lang="en-US" sz="1000" dirty="0"/>
          </a:p>
        </p:txBody>
      </p:sp>
      <p:sp>
        <p:nvSpPr>
          <p:cNvPr id="14" name="Shape 12"/>
          <p:cNvSpPr/>
          <p:nvPr/>
        </p:nvSpPr>
        <p:spPr>
          <a:xfrm>
            <a:off x="548640" y="5074920"/>
            <a:ext cx="11091672" cy="1051560"/>
          </a:xfrm>
          <a:prstGeom prst="rect">
            <a:avLst/>
          </a:prstGeom>
          <a:solidFill>
            <a:srgbClr val="C67A43"/>
          </a:solidFill>
          <a:ln/>
        </p:spPr>
      </p:sp>
      <p:sp>
        <p:nvSpPr>
          <p:cNvPr id="15" name="Text 13"/>
          <p:cNvSpPr txBox="1"/>
          <p:nvPr/>
        </p:nvSpPr>
        <p:spPr>
          <a:xfrm>
            <a:off x="822960" y="5193792"/>
            <a:ext cx="5486400" cy="219456"/>
          </a:xfrm>
          <a:prstGeom prst="rect">
            <a:avLst/>
          </a:prstGeom>
          <a:noFill/>
          <a:ln/>
        </p:spPr>
        <p:txBody>
          <a:bodyPr wrap="square" lIns="0" tIns="0" rIns="0" bIns="0" rtlCol="0" anchor="ctr"/>
          <a:lstStyle/>
          <a:p>
            <a:pPr indent="0" marL="0">
              <a:buNone/>
            </a:pPr>
            <a:r>
              <a:rPr lang="en-US" sz="850" b="1" spc="150" kern="0" dirty="0">
                <a:solidFill>
                  <a:srgbClr val="F6E3D3"/>
                </a:solidFill>
                <a:latin typeface="Arial" pitchFamily="34" charset="0"/>
                <a:ea typeface="Arial" pitchFamily="34" charset="-122"/>
                <a:cs typeface="Arial" pitchFamily="34" charset="-120"/>
              </a:rPr>
              <a:t>HOW THE CUSTOMER SEES ONE SOUTHWIRE</a:t>
            </a:r>
            <a:endParaRPr lang="en-US" sz="850" dirty="0"/>
          </a:p>
        </p:txBody>
      </p:sp>
      <p:sp>
        <p:nvSpPr>
          <p:cNvPr id="16" name="Text 14"/>
          <p:cNvSpPr txBox="1"/>
          <p:nvPr/>
        </p:nvSpPr>
        <p:spPr>
          <a:xfrm>
            <a:off x="822960" y="5440680"/>
            <a:ext cx="10515600" cy="594360"/>
          </a:xfrm>
          <a:prstGeom prst="rect">
            <a:avLst/>
          </a:prstGeom>
          <a:noFill/>
          <a:ln/>
        </p:spPr>
        <p:txBody>
          <a:bodyPr wrap="square" lIns="0" tIns="0" rIns="0" bIns="0" rtlCol="0" anchor="t"/>
          <a:lstStyle/>
          <a:p>
            <a:pPr indent="0" marL="0">
              <a:buNone/>
            </a:pPr>
            <a:r>
              <a:rPr lang="en-US" sz="1150" dirty="0">
                <a:solidFill>
                  <a:srgbClr val="FFFFFF"/>
                </a:solidFill>
                <a:latin typeface="Arial" pitchFamily="34" charset="0"/>
                <a:ea typeface="Arial" pitchFamily="34" charset="-122"/>
                <a:cs typeface="Arial" pitchFamily="34" charset="-120"/>
              </a:rPr>
              <a:t>One written introduction naming both roles · 24-hour courtesy note before any call into a coordinated account — the coordinator can join, not refuse · one record per opportunity in SAP/CPQ, or it does not exist · quarterly joint account review.</a:t>
            </a:r>
            <a:endParaRPr lang="en-US" sz="1150" dirty="0"/>
          </a:p>
        </p:txBody>
      </p:sp>
      <p:sp>
        <p:nvSpPr>
          <p:cNvPr id="17" name="Text 15"/>
          <p:cNvSpPr txBox="1"/>
          <p:nvPr/>
        </p:nvSpPr>
        <p:spPr>
          <a:xfrm>
            <a:off x="548640" y="6510528"/>
            <a:ext cx="5029200" cy="237744"/>
          </a:xfrm>
          <a:prstGeom prst="rect">
            <a:avLst/>
          </a:prstGeom>
          <a:noFill/>
          <a:ln/>
        </p:spPr>
        <p:txBody>
          <a:bodyPr wrap="square" lIns="0" tIns="0" rIns="0" bIns="0" rtlCol="0" anchor="ctr"/>
          <a:lstStyle/>
          <a:p>
            <a:pPr algn="l" indent="0" marL="0">
              <a:buNone/>
            </a:pPr>
            <a:r>
              <a:rPr lang="en-US" sz="800" dirty="0">
                <a:solidFill>
                  <a:srgbClr val="9A9FA4"/>
                </a:solidFill>
                <a:latin typeface="Arial" pitchFamily="34" charset="0"/>
                <a:ea typeface="Arial" pitchFamily="34" charset="-122"/>
                <a:cs typeface="Arial" pitchFamily="34" charset="-120"/>
              </a:rPr>
              <a:t>Stephan Hardt · Power Generation Solutions</a:t>
            </a:r>
            <a:endParaRPr lang="en-US" sz="800" dirty="0"/>
          </a:p>
        </p:txBody>
      </p:sp>
      <p:sp>
        <p:nvSpPr>
          <p:cNvPr id="18" name="Text 16"/>
          <p:cNvSpPr txBox="1"/>
          <p:nvPr/>
        </p:nvSpPr>
        <p:spPr>
          <a:xfrm>
            <a:off x="5943600" y="6510528"/>
            <a:ext cx="5696712" cy="237744"/>
          </a:xfrm>
          <a:prstGeom prst="rect">
            <a:avLst/>
          </a:prstGeom>
          <a:noFill/>
          <a:ln/>
        </p:spPr>
        <p:txBody>
          <a:bodyPr wrap="square" lIns="0" tIns="0" rIns="0" bIns="0" rtlCol="0" anchor="ctr"/>
          <a:lstStyle/>
          <a:p>
            <a:pPr algn="r" indent="0" marL="0">
              <a:buNone/>
            </a:pPr>
            <a:r>
              <a:rPr lang="en-US" sz="800" dirty="0">
                <a:solidFill>
                  <a:srgbClr val="9A9FA4"/>
                </a:solidFill>
                <a:latin typeface="Arial" pitchFamily="34" charset="0"/>
                <a:ea typeface="Arial" pitchFamily="34" charset="-122"/>
                <a:cs typeface="Arial" pitchFamily="34" charset="-120"/>
              </a:rPr>
              <a:t>SWR-PG-ROE Rev 00 · Working draft — Southwire internal · slide 6 of 14</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38912"/>
            <a:ext cx="11091672" cy="274320"/>
          </a:xfrm>
          <a:prstGeom prst="rect">
            <a:avLst/>
          </a:prstGeom>
          <a:noFill/>
          <a:ln/>
        </p:spPr>
        <p:txBody>
          <a:bodyPr wrap="square" lIns="0" tIns="0" rIns="0" bIns="0" rtlCol="0" anchor="ctr"/>
          <a:lstStyle/>
          <a:p>
            <a:pPr algn="l" indent="0" marL="0">
              <a:buNone/>
            </a:pPr>
            <a:r>
              <a:rPr lang="en-US" sz="1050" b="1" spc="200" kern="0" dirty="0">
                <a:solidFill>
                  <a:srgbClr val="C67A43"/>
                </a:solidFill>
                <a:latin typeface="Arial" pitchFamily="34" charset="0"/>
                <a:ea typeface="Arial" pitchFamily="34" charset="-122"/>
                <a:cs typeface="Arial" pitchFamily="34" charset="-120"/>
              </a:rPr>
              <a:t>EXISTING-ACCOUNT TREATMENT — TIM'S AND OURS, SAME WORDS</a:t>
            </a:r>
            <a:endParaRPr lang="en-US" sz="1050" dirty="0"/>
          </a:p>
        </p:txBody>
      </p:sp>
      <p:sp>
        <p:nvSpPr>
          <p:cNvPr id="3" name="Text 1"/>
          <p:cNvSpPr txBox="1"/>
          <p:nvPr/>
        </p:nvSpPr>
        <p:spPr>
          <a:xfrm>
            <a:off x="548640" y="768096"/>
            <a:ext cx="11091672" cy="731520"/>
          </a:xfrm>
          <a:prstGeom prst="rect">
            <a:avLst/>
          </a:prstGeom>
          <a:noFill/>
          <a:ln/>
        </p:spPr>
        <p:txBody>
          <a:bodyPr wrap="square" lIns="0" tIns="0" rIns="0" bIns="0" rtlCol="0" anchor="t"/>
          <a:lstStyle/>
          <a:p>
            <a:pPr algn="l" indent="0" marL="0">
              <a:buNone/>
            </a:pPr>
            <a:r>
              <a:rPr lang="en-US" sz="3000" b="1" dirty="0">
                <a:solidFill>
                  <a:srgbClr val="1A1D21"/>
                </a:solidFill>
                <a:latin typeface="Arial" pitchFamily="34" charset="0"/>
                <a:ea typeface="Arial" pitchFamily="34" charset="-122"/>
                <a:cs typeface="Arial" pitchFamily="34" charset="-120"/>
              </a:rPr>
              <a:t>Evidence decides, in both directions. Lists do not.</a:t>
            </a:r>
            <a:endParaRPr lang="en-US" sz="3000" dirty="0"/>
          </a:p>
        </p:txBody>
      </p:sp>
      <p:sp>
        <p:nvSpPr>
          <p:cNvPr id="4" name="Text 2"/>
          <p:cNvSpPr txBox="1"/>
          <p:nvPr/>
        </p:nvSpPr>
        <p:spPr>
          <a:xfrm>
            <a:off x="548640" y="1691640"/>
            <a:ext cx="5486400" cy="237744"/>
          </a:xfrm>
          <a:prstGeom prst="rect">
            <a:avLst/>
          </a:prstGeom>
          <a:noFill/>
          <a:ln/>
        </p:spPr>
        <p:txBody>
          <a:bodyPr wrap="square" lIns="0" tIns="0" rIns="0" bIns="0" rtlCol="0" anchor="ctr"/>
          <a:lstStyle/>
          <a:p>
            <a:pPr indent="0" marL="0">
              <a:buNone/>
            </a:pPr>
            <a:r>
              <a:rPr lang="en-US" sz="1000" b="1" spc="150" kern="0" dirty="0">
                <a:solidFill>
                  <a:srgbClr val="C67A43"/>
                </a:solidFill>
                <a:latin typeface="Arial" pitchFamily="34" charset="0"/>
                <a:ea typeface="Arial" pitchFamily="34" charset="-122"/>
                <a:cs typeface="Arial" pitchFamily="34" charset="-120"/>
              </a:rPr>
              <a:t>AN ACTIVE PURSUIT NEEDS ALL FOUR</a:t>
            </a:r>
            <a:endParaRPr lang="en-US" sz="1000" dirty="0"/>
          </a:p>
        </p:txBody>
      </p:sp>
      <p:sp>
        <p:nvSpPr>
          <p:cNvPr id="5" name="Text 3"/>
          <p:cNvSpPr txBox="1"/>
          <p:nvPr/>
        </p:nvSpPr>
        <p:spPr>
          <a:xfrm>
            <a:off x="566928" y="2011680"/>
            <a:ext cx="320040" cy="274320"/>
          </a:xfrm>
          <a:prstGeom prst="rect">
            <a:avLst/>
          </a:prstGeom>
          <a:noFill/>
          <a:ln/>
        </p:spPr>
        <p:txBody>
          <a:bodyPr wrap="square" lIns="0" tIns="0" rIns="0" bIns="0" rtlCol="0" anchor="t"/>
          <a:lstStyle/>
          <a:p>
            <a:pPr indent="0" marL="0">
              <a:buNone/>
            </a:pPr>
            <a:r>
              <a:rPr lang="en-US" sz="1300" b="1" dirty="0">
                <a:solidFill>
                  <a:srgbClr val="C67A43"/>
                </a:solidFill>
                <a:latin typeface="Arial" pitchFamily="34" charset="0"/>
                <a:ea typeface="Arial" pitchFamily="34" charset="-122"/>
                <a:cs typeface="Arial" pitchFamily="34" charset="-120"/>
              </a:rPr>
              <a:t>1</a:t>
            </a:r>
            <a:endParaRPr lang="en-US" sz="1300" dirty="0"/>
          </a:p>
        </p:txBody>
      </p:sp>
      <p:sp>
        <p:nvSpPr>
          <p:cNvPr id="6" name="Text 4"/>
          <p:cNvSpPr txBox="1"/>
          <p:nvPr/>
        </p:nvSpPr>
        <p:spPr>
          <a:xfrm>
            <a:off x="960120" y="2011680"/>
            <a:ext cx="10607040" cy="457200"/>
          </a:xfrm>
          <a:prstGeom prst="rect">
            <a:avLst/>
          </a:prstGeom>
          <a:noFill/>
          <a:ln/>
        </p:spPr>
        <p:txBody>
          <a:bodyPr wrap="square" lIns="0" tIns="0" rIns="0" bIns="0" rtlCol="0" anchor="t"/>
          <a:lstStyle/>
          <a:p>
            <a:pPr indent="0" marL="0">
              <a:buNone/>
            </a:pPr>
            <a:r>
              <a:rPr lang="en-US" sz="1150" dirty="0">
                <a:solidFill>
                  <a:srgbClr val="1A1D21"/>
                </a:solidFill>
                <a:latin typeface="Arial" pitchFamily="34" charset="0"/>
                <a:ea typeface="Arial" pitchFamily="34" charset="-122"/>
                <a:cs typeface="Arial" pitchFamily="34" charset="-120"/>
              </a:rPr>
              <a:t>A named opportunity: project, program or product line — an SAP/CPQ ID, OEM program or part-number family.</a:t>
            </a:r>
            <a:endParaRPr lang="en-US" sz="1150" dirty="0"/>
          </a:p>
        </p:txBody>
      </p:sp>
      <p:sp>
        <p:nvSpPr>
          <p:cNvPr id="7" name="Text 5"/>
          <p:cNvSpPr txBox="1"/>
          <p:nvPr/>
        </p:nvSpPr>
        <p:spPr>
          <a:xfrm>
            <a:off x="566928" y="2523744"/>
            <a:ext cx="320040" cy="274320"/>
          </a:xfrm>
          <a:prstGeom prst="rect">
            <a:avLst/>
          </a:prstGeom>
          <a:noFill/>
          <a:ln/>
        </p:spPr>
        <p:txBody>
          <a:bodyPr wrap="square" lIns="0" tIns="0" rIns="0" bIns="0" rtlCol="0" anchor="t"/>
          <a:lstStyle/>
          <a:p>
            <a:pPr indent="0" marL="0">
              <a:buNone/>
            </a:pPr>
            <a:r>
              <a:rPr lang="en-US" sz="1300" b="1" dirty="0">
                <a:solidFill>
                  <a:srgbClr val="C67A43"/>
                </a:solidFill>
                <a:latin typeface="Arial" pitchFamily="34" charset="0"/>
                <a:ea typeface="Arial" pitchFamily="34" charset="-122"/>
                <a:cs typeface="Arial" pitchFamily="34" charset="-120"/>
              </a:rPr>
              <a:t>2</a:t>
            </a:r>
            <a:endParaRPr lang="en-US" sz="1300" dirty="0"/>
          </a:p>
        </p:txBody>
      </p:sp>
      <p:sp>
        <p:nvSpPr>
          <p:cNvPr id="8" name="Text 6"/>
          <p:cNvSpPr txBox="1"/>
          <p:nvPr/>
        </p:nvSpPr>
        <p:spPr>
          <a:xfrm>
            <a:off x="960120" y="2523744"/>
            <a:ext cx="10607040" cy="457200"/>
          </a:xfrm>
          <a:prstGeom prst="rect">
            <a:avLst/>
          </a:prstGeom>
          <a:noFill/>
          <a:ln/>
        </p:spPr>
        <p:txBody>
          <a:bodyPr wrap="square" lIns="0" tIns="0" rIns="0" bIns="0" rtlCol="0" anchor="t"/>
          <a:lstStyle/>
          <a:p>
            <a:pPr indent="0" marL="0">
              <a:buNone/>
            </a:pPr>
            <a:r>
              <a:rPr lang="en-US" sz="1150" dirty="0">
                <a:solidFill>
                  <a:srgbClr val="1A1D21"/>
                </a:solidFill>
                <a:latin typeface="Arial" pitchFamily="34" charset="0"/>
                <a:ea typeface="Arial" pitchFamily="34" charset="-122"/>
                <a:cs typeface="Arial" pitchFamily="34" charset="-120"/>
              </a:rPr>
              <a:t>A dated interaction with the controlling buying center inside the last 90 days — not “I talk to them all the time.”</a:t>
            </a:r>
            <a:endParaRPr lang="en-US" sz="1150" dirty="0"/>
          </a:p>
        </p:txBody>
      </p:sp>
      <p:sp>
        <p:nvSpPr>
          <p:cNvPr id="9" name="Text 7"/>
          <p:cNvSpPr txBox="1"/>
          <p:nvPr/>
        </p:nvSpPr>
        <p:spPr>
          <a:xfrm>
            <a:off x="566928" y="3035808"/>
            <a:ext cx="320040" cy="274320"/>
          </a:xfrm>
          <a:prstGeom prst="rect">
            <a:avLst/>
          </a:prstGeom>
          <a:noFill/>
          <a:ln/>
        </p:spPr>
        <p:txBody>
          <a:bodyPr wrap="square" lIns="0" tIns="0" rIns="0" bIns="0" rtlCol="0" anchor="t"/>
          <a:lstStyle/>
          <a:p>
            <a:pPr indent="0" marL="0">
              <a:buNone/>
            </a:pPr>
            <a:r>
              <a:rPr lang="en-US" sz="1300" b="1" dirty="0">
                <a:solidFill>
                  <a:srgbClr val="C67A43"/>
                </a:solidFill>
                <a:latin typeface="Arial" pitchFamily="34" charset="0"/>
                <a:ea typeface="Arial" pitchFamily="34" charset="-122"/>
                <a:cs typeface="Arial" pitchFamily="34" charset="-120"/>
              </a:rPr>
              <a:t>3</a:t>
            </a:r>
            <a:endParaRPr lang="en-US" sz="1300" dirty="0"/>
          </a:p>
        </p:txBody>
      </p:sp>
      <p:sp>
        <p:nvSpPr>
          <p:cNvPr id="10" name="Text 8"/>
          <p:cNvSpPr txBox="1"/>
          <p:nvPr/>
        </p:nvSpPr>
        <p:spPr>
          <a:xfrm>
            <a:off x="960120" y="3035808"/>
            <a:ext cx="10607040" cy="457200"/>
          </a:xfrm>
          <a:prstGeom prst="rect">
            <a:avLst/>
          </a:prstGeom>
          <a:noFill/>
          <a:ln/>
        </p:spPr>
        <p:txBody>
          <a:bodyPr wrap="square" lIns="0" tIns="0" rIns="0" bIns="0" rtlCol="0" anchor="t"/>
          <a:lstStyle/>
          <a:p>
            <a:pPr indent="0" marL="0">
              <a:buNone/>
            </a:pPr>
            <a:r>
              <a:rPr lang="en-US" sz="1150" dirty="0">
                <a:solidFill>
                  <a:srgbClr val="1A1D21"/>
                </a:solidFill>
                <a:latin typeface="Arial" pitchFamily="34" charset="0"/>
                <a:ea typeface="Arial" pitchFamily="34" charset="-122"/>
                <a:cs typeface="Arial" pitchFamily="34" charset="-120"/>
              </a:rPr>
              <a:t>A quote, sample, spec submission or approved-vendor process in motion.</a:t>
            </a:r>
            <a:endParaRPr lang="en-US" sz="1150" dirty="0"/>
          </a:p>
        </p:txBody>
      </p:sp>
      <p:sp>
        <p:nvSpPr>
          <p:cNvPr id="11" name="Text 9"/>
          <p:cNvSpPr txBox="1"/>
          <p:nvPr/>
        </p:nvSpPr>
        <p:spPr>
          <a:xfrm>
            <a:off x="566928" y="3547872"/>
            <a:ext cx="320040" cy="274320"/>
          </a:xfrm>
          <a:prstGeom prst="rect">
            <a:avLst/>
          </a:prstGeom>
          <a:noFill/>
          <a:ln/>
        </p:spPr>
        <p:txBody>
          <a:bodyPr wrap="square" lIns="0" tIns="0" rIns="0" bIns="0" rtlCol="0" anchor="t"/>
          <a:lstStyle/>
          <a:p>
            <a:pPr indent="0" marL="0">
              <a:buNone/>
            </a:pPr>
            <a:r>
              <a:rPr lang="en-US" sz="1300" b="1" dirty="0">
                <a:solidFill>
                  <a:srgbClr val="C67A43"/>
                </a:solidFill>
                <a:latin typeface="Arial" pitchFamily="34" charset="0"/>
                <a:ea typeface="Arial" pitchFamily="34" charset="-122"/>
                <a:cs typeface="Arial" pitchFamily="34" charset="-120"/>
              </a:rPr>
              <a:t>4</a:t>
            </a:r>
            <a:endParaRPr lang="en-US" sz="1300" dirty="0"/>
          </a:p>
        </p:txBody>
      </p:sp>
      <p:sp>
        <p:nvSpPr>
          <p:cNvPr id="12" name="Text 10"/>
          <p:cNvSpPr txBox="1"/>
          <p:nvPr/>
        </p:nvSpPr>
        <p:spPr>
          <a:xfrm>
            <a:off x="960120" y="3547872"/>
            <a:ext cx="10607040" cy="457200"/>
          </a:xfrm>
          <a:prstGeom prst="rect">
            <a:avLst/>
          </a:prstGeom>
          <a:noFill/>
          <a:ln/>
        </p:spPr>
        <p:txBody>
          <a:bodyPr wrap="square" lIns="0" tIns="0" rIns="0" bIns="0" rtlCol="0" anchor="t"/>
          <a:lstStyle/>
          <a:p>
            <a:pPr indent="0" marL="0">
              <a:buNone/>
            </a:pPr>
            <a:r>
              <a:rPr lang="en-US" sz="1150" dirty="0">
                <a:solidFill>
                  <a:srgbClr val="1A1D21"/>
                </a:solidFill>
                <a:latin typeface="Arial" pitchFamily="34" charset="0"/>
                <a:ea typeface="Arial" pitchFamily="34" charset="-122"/>
                <a:cs typeface="Arial" pitchFamily="34" charset="-120"/>
              </a:rPr>
              <a:t>A dated next step with an owner — not “following up.”</a:t>
            </a:r>
            <a:endParaRPr lang="en-US" sz="1150" dirty="0"/>
          </a:p>
        </p:txBody>
      </p:sp>
      <p:sp>
        <p:nvSpPr>
          <p:cNvPr id="13" name="Shape 11"/>
          <p:cNvSpPr/>
          <p:nvPr/>
        </p:nvSpPr>
        <p:spPr>
          <a:xfrm>
            <a:off x="548640" y="4297680"/>
            <a:ext cx="3557016" cy="1600200"/>
          </a:xfrm>
          <a:prstGeom prst="rect">
            <a:avLst/>
          </a:prstGeom>
          <a:solidFill>
            <a:srgbClr val="F5F4F2"/>
          </a:solidFill>
          <a:ln/>
        </p:spPr>
      </p:sp>
      <p:sp>
        <p:nvSpPr>
          <p:cNvPr id="14" name="Text 12"/>
          <p:cNvSpPr txBox="1"/>
          <p:nvPr/>
        </p:nvSpPr>
        <p:spPr>
          <a:xfrm>
            <a:off x="731520" y="4425696"/>
            <a:ext cx="3200400" cy="219456"/>
          </a:xfrm>
          <a:prstGeom prst="rect">
            <a:avLst/>
          </a:prstGeom>
          <a:noFill/>
          <a:ln/>
        </p:spPr>
        <p:txBody>
          <a:bodyPr wrap="square" lIns="0" tIns="0" rIns="0" bIns="0" rtlCol="0" anchor="ctr"/>
          <a:lstStyle/>
          <a:p>
            <a:pPr indent="0" marL="0">
              <a:buNone/>
            </a:pPr>
            <a:r>
              <a:rPr lang="en-US" sz="950" b="1" spc="120" kern="0" dirty="0">
                <a:solidFill>
                  <a:srgbClr val="C67A43"/>
                </a:solidFill>
                <a:latin typeface="Arial" pitchFamily="34" charset="0"/>
                <a:ea typeface="Arial" pitchFamily="34" charset="-122"/>
                <a:cs typeface="Arial" pitchFamily="34" charset="-120"/>
              </a:rPr>
              <a:t>GRANDFATHERED</a:t>
            </a:r>
            <a:endParaRPr lang="en-US" sz="950" dirty="0"/>
          </a:p>
        </p:txBody>
      </p:sp>
      <p:sp>
        <p:nvSpPr>
          <p:cNvPr id="15" name="Text 13"/>
          <p:cNvSpPr txBox="1"/>
          <p:nvPr/>
        </p:nvSpPr>
        <p:spPr>
          <a:xfrm>
            <a:off x="731520" y="4700016"/>
            <a:ext cx="3200400" cy="1097280"/>
          </a:xfrm>
          <a:prstGeom prst="rect">
            <a:avLst/>
          </a:prstGeom>
          <a:noFill/>
          <a:ln/>
        </p:spPr>
        <p:txBody>
          <a:bodyPr wrap="square" lIns="0" tIns="0" rIns="0" bIns="0" rtlCol="0" anchor="t"/>
          <a:lstStyle/>
          <a:p>
            <a:pPr indent="0" marL="0">
              <a:buNone/>
            </a:pPr>
            <a:r>
              <a:rPr lang="en-US" sz="950" dirty="0">
                <a:solidFill>
                  <a:srgbClr val="1A1D21"/>
                </a:solidFill>
                <a:latin typeface="Arial" pitchFamily="34" charset="0"/>
                <a:ea typeface="Arial" pitchFamily="34" charset="-122"/>
                <a:cs typeface="Arial" pitchFamily="34" charset="-120"/>
              </a:rPr>
              <a:t>Documented active opportunities · the product lines and programs actually quoted or specified · the coordinator role where the customer's 80/20 spend is in the incumbent's scope.</a:t>
            </a:r>
            <a:endParaRPr lang="en-US" sz="950" dirty="0"/>
          </a:p>
        </p:txBody>
      </p:sp>
      <p:sp>
        <p:nvSpPr>
          <p:cNvPr id="16" name="Shape 14"/>
          <p:cNvSpPr/>
          <p:nvPr/>
        </p:nvSpPr>
        <p:spPr>
          <a:xfrm>
            <a:off x="4315968" y="4297680"/>
            <a:ext cx="3557016" cy="1600200"/>
          </a:xfrm>
          <a:prstGeom prst="rect">
            <a:avLst/>
          </a:prstGeom>
          <a:solidFill>
            <a:srgbClr val="F5F4F2"/>
          </a:solidFill>
          <a:ln/>
        </p:spPr>
      </p:sp>
      <p:sp>
        <p:nvSpPr>
          <p:cNvPr id="17" name="Text 15"/>
          <p:cNvSpPr txBox="1"/>
          <p:nvPr/>
        </p:nvSpPr>
        <p:spPr>
          <a:xfrm>
            <a:off x="4498848" y="4425696"/>
            <a:ext cx="3200400" cy="219456"/>
          </a:xfrm>
          <a:prstGeom prst="rect">
            <a:avLst/>
          </a:prstGeom>
          <a:noFill/>
          <a:ln/>
        </p:spPr>
        <p:txBody>
          <a:bodyPr wrap="square" lIns="0" tIns="0" rIns="0" bIns="0" rtlCol="0" anchor="ctr"/>
          <a:lstStyle/>
          <a:p>
            <a:pPr indent="0" marL="0">
              <a:buNone/>
            </a:pPr>
            <a:r>
              <a:rPr lang="en-US" sz="950" b="1" spc="120" kern="0" dirty="0">
                <a:solidFill>
                  <a:srgbClr val="C67A43"/>
                </a:solidFill>
                <a:latin typeface="Arial" pitchFamily="34" charset="0"/>
                <a:ea typeface="Arial" pitchFamily="34" charset="-122"/>
                <a:cs typeface="Arial" pitchFamily="34" charset="-120"/>
              </a:rPr>
              <a:t>NOT GRANDFATHERED</a:t>
            </a:r>
            <a:endParaRPr lang="en-US" sz="950" dirty="0"/>
          </a:p>
        </p:txBody>
      </p:sp>
      <p:sp>
        <p:nvSpPr>
          <p:cNvPr id="18" name="Text 16"/>
          <p:cNvSpPr txBox="1"/>
          <p:nvPr/>
        </p:nvSpPr>
        <p:spPr>
          <a:xfrm>
            <a:off x="4498848" y="4700016"/>
            <a:ext cx="3200400" cy="1097280"/>
          </a:xfrm>
          <a:prstGeom prst="rect">
            <a:avLst/>
          </a:prstGeom>
          <a:noFill/>
          <a:ln/>
        </p:spPr>
        <p:txBody>
          <a:bodyPr wrap="square" lIns="0" tIns="0" rIns="0" bIns="0" rtlCol="0" anchor="t"/>
          <a:lstStyle/>
          <a:p>
            <a:pPr indent="0" marL="0">
              <a:buNone/>
            </a:pPr>
            <a:r>
              <a:rPr lang="en-US" sz="950" dirty="0">
                <a:solidFill>
                  <a:srgbClr val="1A1D21"/>
                </a:solidFill>
                <a:latin typeface="Arial" pitchFamily="34" charset="0"/>
                <a:ea typeface="Arial" pitchFamily="34" charset="-122"/>
                <a:cs typeface="Arial" pitchFamily="34" charset="-120"/>
              </a:rPr>
              <a:t>The rest of the company. An active program on one product line does not confer the others. A company name on a list is not evidence.</a:t>
            </a:r>
            <a:endParaRPr lang="en-US" sz="950" dirty="0"/>
          </a:p>
        </p:txBody>
      </p:sp>
      <p:sp>
        <p:nvSpPr>
          <p:cNvPr id="19" name="Shape 17"/>
          <p:cNvSpPr/>
          <p:nvPr/>
        </p:nvSpPr>
        <p:spPr>
          <a:xfrm>
            <a:off x="8083296" y="4297680"/>
            <a:ext cx="3557016" cy="1600200"/>
          </a:xfrm>
          <a:prstGeom prst="rect">
            <a:avLst/>
          </a:prstGeom>
          <a:solidFill>
            <a:srgbClr val="F5F4F2"/>
          </a:solidFill>
          <a:ln/>
        </p:spPr>
      </p:sp>
      <p:sp>
        <p:nvSpPr>
          <p:cNvPr id="20" name="Text 18"/>
          <p:cNvSpPr txBox="1"/>
          <p:nvPr/>
        </p:nvSpPr>
        <p:spPr>
          <a:xfrm>
            <a:off x="8266176" y="4425696"/>
            <a:ext cx="3200400" cy="219456"/>
          </a:xfrm>
          <a:prstGeom prst="rect">
            <a:avLst/>
          </a:prstGeom>
          <a:noFill/>
          <a:ln/>
        </p:spPr>
        <p:txBody>
          <a:bodyPr wrap="square" lIns="0" tIns="0" rIns="0" bIns="0" rtlCol="0" anchor="ctr"/>
          <a:lstStyle/>
          <a:p>
            <a:pPr indent="0" marL="0">
              <a:buNone/>
            </a:pPr>
            <a:r>
              <a:rPr lang="en-US" sz="950" b="1" spc="120" kern="0" dirty="0">
                <a:solidFill>
                  <a:srgbClr val="C67A43"/>
                </a:solidFill>
                <a:latin typeface="Arial" pitchFamily="34" charset="0"/>
                <a:ea typeface="Arial" pitchFamily="34" charset="-122"/>
                <a:cs typeface="Arial" pitchFamily="34" charset="-120"/>
              </a:rPr>
              <a:t>RELEASE</a:t>
            </a:r>
            <a:endParaRPr lang="en-US" sz="950" dirty="0"/>
          </a:p>
        </p:txBody>
      </p:sp>
      <p:sp>
        <p:nvSpPr>
          <p:cNvPr id="21" name="Text 19"/>
          <p:cNvSpPr txBox="1"/>
          <p:nvPr/>
        </p:nvSpPr>
        <p:spPr>
          <a:xfrm>
            <a:off x="8266176" y="4700016"/>
            <a:ext cx="3200400" cy="1097280"/>
          </a:xfrm>
          <a:prstGeom prst="rect">
            <a:avLst/>
          </a:prstGeom>
          <a:noFill/>
          <a:ln/>
        </p:spPr>
        <p:txBody>
          <a:bodyPr wrap="square" lIns="0" tIns="0" rIns="0" bIns="0" rtlCol="0" anchor="t"/>
          <a:lstStyle/>
          <a:p>
            <a:pPr indent="0" marL="0">
              <a:buNone/>
            </a:pPr>
            <a:r>
              <a:rPr lang="en-US" sz="950" dirty="0">
                <a:solidFill>
                  <a:srgbClr val="1A1D21"/>
                </a:solidFill>
                <a:latin typeface="Arial" pitchFamily="34" charset="0"/>
                <a:ea typeface="Arial" pitchFamily="34" charset="-122"/>
                <a:cs typeface="Arial" pitchFamily="34" charset="-120"/>
              </a:rPr>
              <a:t>Opportunity: 90 days without a documented interaction or next step — release is automatic, no negotiation. Coordinator: 180 days without a joint plan, reassigned at the quarterly review.</a:t>
            </a:r>
            <a:endParaRPr lang="en-US" sz="950" dirty="0"/>
          </a:p>
        </p:txBody>
      </p:sp>
      <p:sp>
        <p:nvSpPr>
          <p:cNvPr id="22" name="Text 20"/>
          <p:cNvSpPr txBox="1"/>
          <p:nvPr/>
        </p:nvSpPr>
        <p:spPr>
          <a:xfrm>
            <a:off x="548640" y="6053328"/>
            <a:ext cx="502920" cy="237744"/>
          </a:xfrm>
          <a:prstGeom prst="roundRect">
            <a:avLst>
              <a:gd name="adj" fmla="val 15385"/>
            </a:avLst>
          </a:prstGeom>
          <a:solidFill>
            <a:srgbClr val="C67A43"/>
          </a:solidFill>
          <a:ln/>
        </p:spPr>
        <p:txBody>
          <a:bodyPr wrap="square" lIns="0" tIns="0" rIns="0" bIns="0" rtlCol="0" anchor="ctr"/>
          <a:lstStyle/>
          <a:p>
            <a:pPr algn="ctr" indent="0" marL="0">
              <a:buNone/>
            </a:pPr>
            <a:r>
              <a:rPr lang="en-US" sz="800" b="1" spc="100" kern="0" dirty="0">
                <a:solidFill>
                  <a:srgbClr val="FFFFFF"/>
                </a:solidFill>
                <a:latin typeface="Arial" pitchFamily="34" charset="0"/>
                <a:ea typeface="Arial" pitchFamily="34" charset="-122"/>
                <a:cs typeface="Arial" pitchFamily="34" charset="-120"/>
              </a:rPr>
              <a:t>[R]</a:t>
            </a:r>
            <a:endParaRPr lang="en-US" sz="800" dirty="0"/>
          </a:p>
        </p:txBody>
      </p:sp>
      <p:sp>
        <p:nvSpPr>
          <p:cNvPr id="23" name="Text 21"/>
          <p:cNvSpPr txBox="1"/>
          <p:nvPr/>
        </p:nvSpPr>
        <p:spPr>
          <a:xfrm>
            <a:off x="1188720" y="6035040"/>
            <a:ext cx="10424160" cy="320040"/>
          </a:xfrm>
          <a:prstGeom prst="rect">
            <a:avLst/>
          </a:prstGeom>
          <a:noFill/>
          <a:ln/>
        </p:spPr>
        <p:txBody>
          <a:bodyPr wrap="square" lIns="0" tIns="0" rIns="0" bIns="0" rtlCol="0" anchor="t"/>
          <a:lstStyle/>
          <a:p>
            <a:pPr indent="0" marL="0">
              <a:buNone/>
            </a:pPr>
            <a:r>
              <a:rPr lang="en-US" sz="1050" dirty="0">
                <a:solidFill>
                  <a:srgbClr val="1A1D21"/>
                </a:solidFill>
                <a:latin typeface="Arial" pitchFamily="34" charset="0"/>
                <a:ea typeface="Arial" pitchFamily="34" charset="-122"/>
                <a:cs typeface="Arial" pitchFamily="34" charset="-120"/>
              </a:rPr>
              <a:t>Contest only where the evidence standard is not met; do not reset active pursuits. Applied honestly, the standard moves more accounts than a reset would.</a:t>
            </a:r>
            <a:endParaRPr lang="en-US" sz="1050" dirty="0"/>
          </a:p>
        </p:txBody>
      </p:sp>
      <p:sp>
        <p:nvSpPr>
          <p:cNvPr id="24" name="Text 22"/>
          <p:cNvSpPr txBox="1"/>
          <p:nvPr/>
        </p:nvSpPr>
        <p:spPr>
          <a:xfrm>
            <a:off x="548640" y="6510528"/>
            <a:ext cx="5029200" cy="237744"/>
          </a:xfrm>
          <a:prstGeom prst="rect">
            <a:avLst/>
          </a:prstGeom>
          <a:noFill/>
          <a:ln/>
        </p:spPr>
        <p:txBody>
          <a:bodyPr wrap="square" lIns="0" tIns="0" rIns="0" bIns="0" rtlCol="0" anchor="ctr"/>
          <a:lstStyle/>
          <a:p>
            <a:pPr algn="l" indent="0" marL="0">
              <a:buNone/>
            </a:pPr>
            <a:r>
              <a:rPr lang="en-US" sz="800" dirty="0">
                <a:solidFill>
                  <a:srgbClr val="9A9FA4"/>
                </a:solidFill>
                <a:latin typeface="Arial" pitchFamily="34" charset="0"/>
                <a:ea typeface="Arial" pitchFamily="34" charset="-122"/>
                <a:cs typeface="Arial" pitchFamily="34" charset="-120"/>
              </a:rPr>
              <a:t>Stephan Hardt · Power Generation Solutions</a:t>
            </a:r>
            <a:endParaRPr lang="en-US" sz="800" dirty="0"/>
          </a:p>
        </p:txBody>
      </p:sp>
      <p:sp>
        <p:nvSpPr>
          <p:cNvPr id="25" name="Text 23"/>
          <p:cNvSpPr txBox="1"/>
          <p:nvPr/>
        </p:nvSpPr>
        <p:spPr>
          <a:xfrm>
            <a:off x="5943600" y="6510528"/>
            <a:ext cx="5696712" cy="237744"/>
          </a:xfrm>
          <a:prstGeom prst="rect">
            <a:avLst/>
          </a:prstGeom>
          <a:noFill/>
          <a:ln/>
        </p:spPr>
        <p:txBody>
          <a:bodyPr wrap="square" lIns="0" tIns="0" rIns="0" bIns="0" rtlCol="0" anchor="ctr"/>
          <a:lstStyle/>
          <a:p>
            <a:pPr algn="r" indent="0" marL="0">
              <a:buNone/>
            </a:pPr>
            <a:r>
              <a:rPr lang="en-US" sz="800" dirty="0">
                <a:solidFill>
                  <a:srgbClr val="9A9FA4"/>
                </a:solidFill>
                <a:latin typeface="Arial" pitchFamily="34" charset="0"/>
                <a:ea typeface="Arial" pitchFamily="34" charset="-122"/>
                <a:cs typeface="Arial" pitchFamily="34" charset="-120"/>
              </a:rPr>
              <a:t>SWR-PG-ROE Rev 00 · Working draft — Southwire internal · slide 7 of 14</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38912"/>
            <a:ext cx="11091672" cy="274320"/>
          </a:xfrm>
          <a:prstGeom prst="rect">
            <a:avLst/>
          </a:prstGeom>
          <a:noFill/>
          <a:ln/>
        </p:spPr>
        <p:txBody>
          <a:bodyPr wrap="square" lIns="0" tIns="0" rIns="0" bIns="0" rtlCol="0" anchor="ctr"/>
          <a:lstStyle/>
          <a:p>
            <a:pPr algn="l" indent="0" marL="0">
              <a:buNone/>
            </a:pPr>
            <a:r>
              <a:rPr lang="en-US" sz="1050" b="1" spc="200" kern="0" dirty="0">
                <a:solidFill>
                  <a:srgbClr val="C67A43"/>
                </a:solidFill>
                <a:latin typeface="Arial" pitchFamily="34" charset="0"/>
                <a:ea typeface="Arial" pitchFamily="34" charset="-122"/>
                <a:cs typeface="Arial" pitchFamily="34" charset="-120"/>
              </a:rPr>
              <a:t>CONTESTED-OPPORTUNITY RUBRIC — ONLY WHEN RULES 1–2 GENUINELY SPLIT</a:t>
            </a:r>
            <a:endParaRPr lang="en-US" sz="1050" dirty="0"/>
          </a:p>
        </p:txBody>
      </p:sp>
      <p:sp>
        <p:nvSpPr>
          <p:cNvPr id="3" name="Text 1"/>
          <p:cNvSpPr txBox="1"/>
          <p:nvPr/>
        </p:nvSpPr>
        <p:spPr>
          <a:xfrm>
            <a:off x="548640" y="768096"/>
            <a:ext cx="11091672" cy="640080"/>
          </a:xfrm>
          <a:prstGeom prst="rect">
            <a:avLst/>
          </a:prstGeom>
          <a:noFill/>
          <a:ln/>
        </p:spPr>
        <p:txBody>
          <a:bodyPr wrap="square" lIns="0" tIns="0" rIns="0" bIns="0" rtlCol="0" anchor="t"/>
          <a:lstStyle/>
          <a:p>
            <a:pPr algn="l" indent="0" marL="0">
              <a:buNone/>
            </a:pPr>
            <a:r>
              <a:rPr lang="en-US" sz="2700" b="1" dirty="0">
                <a:solidFill>
                  <a:srgbClr val="1A1D21"/>
                </a:solidFill>
                <a:latin typeface="Arial" pitchFamily="34" charset="0"/>
                <a:ea typeface="Arial" pitchFamily="34" charset="-122"/>
                <a:cs typeface="Arial" pitchFamily="34" charset="-120"/>
              </a:rPr>
              <a:t>Score in writing before the meeting. Decide at four points. Re-score at 90 days.</a:t>
            </a:r>
            <a:endParaRPr lang="en-US" sz="2700" dirty="0"/>
          </a:p>
        </p:txBody>
      </p:sp>
      <p:sp>
        <p:nvSpPr>
          <p:cNvPr id="4" name="Text 2"/>
          <p:cNvSpPr txBox="1"/>
          <p:nvPr/>
        </p:nvSpPr>
        <p:spPr>
          <a:xfrm>
            <a:off x="566928" y="1783080"/>
            <a:ext cx="320040" cy="274320"/>
          </a:xfrm>
          <a:prstGeom prst="rect">
            <a:avLst/>
          </a:prstGeom>
          <a:noFill/>
          <a:ln/>
        </p:spPr>
        <p:txBody>
          <a:bodyPr wrap="square" lIns="0" tIns="0" rIns="0" bIns="0" rtlCol="0" anchor="t"/>
          <a:lstStyle/>
          <a:p>
            <a:pPr indent="0" marL="0">
              <a:buNone/>
            </a:pPr>
            <a:r>
              <a:rPr lang="en-US" sz="1300" b="1" dirty="0">
                <a:solidFill>
                  <a:srgbClr val="C67A43"/>
                </a:solidFill>
                <a:latin typeface="Arial" pitchFamily="34" charset="0"/>
                <a:ea typeface="Arial" pitchFamily="34" charset="-122"/>
                <a:cs typeface="Arial" pitchFamily="34" charset="-120"/>
              </a:rPr>
              <a:t>1</a:t>
            </a:r>
            <a:endParaRPr lang="en-US" sz="1300" dirty="0"/>
          </a:p>
        </p:txBody>
      </p:sp>
      <p:sp>
        <p:nvSpPr>
          <p:cNvPr id="5" name="Text 3"/>
          <p:cNvSpPr txBox="1"/>
          <p:nvPr/>
        </p:nvSpPr>
        <p:spPr>
          <a:xfrm>
            <a:off x="960120" y="1783080"/>
            <a:ext cx="10607040" cy="384048"/>
          </a:xfrm>
          <a:prstGeom prst="rect">
            <a:avLst/>
          </a:prstGeom>
          <a:noFill/>
          <a:ln/>
        </p:spPr>
        <p:txBody>
          <a:bodyPr wrap="square" lIns="0" tIns="0" rIns="0" bIns="0" rtlCol="0" anchor="t"/>
          <a:lstStyle/>
          <a:p>
            <a:pPr indent="0" marL="0">
              <a:buNone/>
            </a:pPr>
            <a:r>
              <a:rPr lang="en-US" sz="1150" b="1" dirty="0">
                <a:solidFill>
                  <a:srgbClr val="1A1D21"/>
                </a:solidFill>
                <a:latin typeface="Arial" pitchFamily="34" charset="0"/>
                <a:ea typeface="Arial" pitchFamily="34" charset="-122"/>
                <a:cs typeface="Arial" pitchFamily="34" charset="-120"/>
              </a:rPr>
              <a:t>Application fit — </a:t>
            </a:r>
            <a:pPr indent="0" marL="0">
              <a:buNone/>
            </a:pPr>
            <a:r>
              <a:rPr lang="en-US" sz="1150" dirty="0">
                <a:solidFill>
                  <a:srgbClr val="6B7075"/>
                </a:solidFill>
                <a:latin typeface="Arial" pitchFamily="34" charset="0"/>
                <a:ea typeface="Arial" pitchFamily="34" charset="-122"/>
                <a:cs typeface="Arial" pitchFamily="34" charset="-120"/>
              </a:rPr>
              <a:t>the asset served and its POI position</a:t>
            </a:r>
            <a:endParaRPr lang="en-US" sz="1150" dirty="0"/>
          </a:p>
        </p:txBody>
      </p:sp>
      <p:sp>
        <p:nvSpPr>
          <p:cNvPr id="6" name="Text 4"/>
          <p:cNvSpPr txBox="1"/>
          <p:nvPr/>
        </p:nvSpPr>
        <p:spPr>
          <a:xfrm>
            <a:off x="566928" y="2258568"/>
            <a:ext cx="320040" cy="274320"/>
          </a:xfrm>
          <a:prstGeom prst="rect">
            <a:avLst/>
          </a:prstGeom>
          <a:noFill/>
          <a:ln/>
        </p:spPr>
        <p:txBody>
          <a:bodyPr wrap="square" lIns="0" tIns="0" rIns="0" bIns="0" rtlCol="0" anchor="t"/>
          <a:lstStyle/>
          <a:p>
            <a:pPr indent="0" marL="0">
              <a:buNone/>
            </a:pPr>
            <a:r>
              <a:rPr lang="en-US" sz="1300" b="1" dirty="0">
                <a:solidFill>
                  <a:srgbClr val="C67A43"/>
                </a:solidFill>
                <a:latin typeface="Arial" pitchFamily="34" charset="0"/>
                <a:ea typeface="Arial" pitchFamily="34" charset="-122"/>
                <a:cs typeface="Arial" pitchFamily="34" charset="-120"/>
              </a:rPr>
              <a:t>2</a:t>
            </a:r>
            <a:endParaRPr lang="en-US" sz="1300" dirty="0"/>
          </a:p>
        </p:txBody>
      </p:sp>
      <p:sp>
        <p:nvSpPr>
          <p:cNvPr id="7" name="Text 5"/>
          <p:cNvSpPr txBox="1"/>
          <p:nvPr/>
        </p:nvSpPr>
        <p:spPr>
          <a:xfrm>
            <a:off x="960120" y="2258568"/>
            <a:ext cx="10607040" cy="384048"/>
          </a:xfrm>
          <a:prstGeom prst="rect">
            <a:avLst/>
          </a:prstGeom>
          <a:noFill/>
          <a:ln/>
        </p:spPr>
        <p:txBody>
          <a:bodyPr wrap="square" lIns="0" tIns="0" rIns="0" bIns="0" rtlCol="0" anchor="t"/>
          <a:lstStyle/>
          <a:p>
            <a:pPr indent="0" marL="0">
              <a:buNone/>
            </a:pPr>
            <a:r>
              <a:rPr lang="en-US" sz="1150" b="1" dirty="0">
                <a:solidFill>
                  <a:srgbClr val="1A1D21"/>
                </a:solidFill>
                <a:latin typeface="Arial" pitchFamily="34" charset="0"/>
                <a:ea typeface="Arial" pitchFamily="34" charset="-122"/>
                <a:cs typeface="Arial" pitchFamily="34" charset="-120"/>
              </a:rPr>
              <a:t>Access to the controlling buying center — </a:t>
            </a:r>
            <a:pPr indent="0" marL="0">
              <a:buNone/>
            </a:pPr>
            <a:r>
              <a:rPr lang="en-US" sz="1150" dirty="0">
                <a:solidFill>
                  <a:srgbClr val="6B7075"/>
                </a:solidFill>
                <a:latin typeface="Arial" pitchFamily="34" charset="0"/>
                <a:ea typeface="Arial" pitchFamily="34" charset="-122"/>
                <a:cs typeface="Arial" pitchFamily="34" charset="-120"/>
              </a:rPr>
              <a:t>named contacts with dates, in the group that writes the spec</a:t>
            </a:r>
            <a:endParaRPr lang="en-US" sz="1150" dirty="0"/>
          </a:p>
        </p:txBody>
      </p:sp>
      <p:sp>
        <p:nvSpPr>
          <p:cNvPr id="8" name="Text 6"/>
          <p:cNvSpPr txBox="1"/>
          <p:nvPr/>
        </p:nvSpPr>
        <p:spPr>
          <a:xfrm>
            <a:off x="566928" y="2734056"/>
            <a:ext cx="320040" cy="274320"/>
          </a:xfrm>
          <a:prstGeom prst="rect">
            <a:avLst/>
          </a:prstGeom>
          <a:noFill/>
          <a:ln/>
        </p:spPr>
        <p:txBody>
          <a:bodyPr wrap="square" lIns="0" tIns="0" rIns="0" bIns="0" rtlCol="0" anchor="t"/>
          <a:lstStyle/>
          <a:p>
            <a:pPr indent="0" marL="0">
              <a:buNone/>
            </a:pPr>
            <a:r>
              <a:rPr lang="en-US" sz="1300" b="1" dirty="0">
                <a:solidFill>
                  <a:srgbClr val="C67A43"/>
                </a:solidFill>
                <a:latin typeface="Arial" pitchFamily="34" charset="0"/>
                <a:ea typeface="Arial" pitchFamily="34" charset="-122"/>
                <a:cs typeface="Arial" pitchFamily="34" charset="-120"/>
              </a:rPr>
              <a:t>3</a:t>
            </a:r>
            <a:endParaRPr lang="en-US" sz="1300" dirty="0"/>
          </a:p>
        </p:txBody>
      </p:sp>
      <p:sp>
        <p:nvSpPr>
          <p:cNvPr id="9" name="Text 7"/>
          <p:cNvSpPr txBox="1"/>
          <p:nvPr/>
        </p:nvSpPr>
        <p:spPr>
          <a:xfrm>
            <a:off x="960120" y="2734056"/>
            <a:ext cx="10607040" cy="384048"/>
          </a:xfrm>
          <a:prstGeom prst="rect">
            <a:avLst/>
          </a:prstGeom>
          <a:noFill/>
          <a:ln/>
        </p:spPr>
        <p:txBody>
          <a:bodyPr wrap="square" lIns="0" tIns="0" rIns="0" bIns="0" rtlCol="0" anchor="t"/>
          <a:lstStyle/>
          <a:p>
            <a:pPr indent="0" marL="0">
              <a:buNone/>
            </a:pPr>
            <a:r>
              <a:rPr lang="en-US" sz="1150" b="1" dirty="0">
                <a:solidFill>
                  <a:srgbClr val="1A1D21"/>
                </a:solidFill>
                <a:latin typeface="Arial" pitchFamily="34" charset="0"/>
                <a:ea typeface="Arial" pitchFamily="34" charset="-122"/>
                <a:cs typeface="Arial" pitchFamily="34" charset="-120"/>
              </a:rPr>
              <a:t>Documented activity, last 90 days — </a:t>
            </a:r>
            <a:pPr indent="0" marL="0">
              <a:buNone/>
            </a:pPr>
            <a:r>
              <a:rPr lang="en-US" sz="1150" dirty="0">
                <a:solidFill>
                  <a:srgbClr val="6B7075"/>
                </a:solidFill>
                <a:latin typeface="Arial" pitchFamily="34" charset="0"/>
                <a:ea typeface="Arial" pitchFamily="34" charset="-122"/>
                <a:cs typeface="Arial" pitchFamily="34" charset="-120"/>
              </a:rPr>
              <a:t>all four evidence requirements met</a:t>
            </a:r>
            <a:endParaRPr lang="en-US" sz="1150" dirty="0"/>
          </a:p>
        </p:txBody>
      </p:sp>
      <p:sp>
        <p:nvSpPr>
          <p:cNvPr id="10" name="Text 8"/>
          <p:cNvSpPr txBox="1"/>
          <p:nvPr/>
        </p:nvSpPr>
        <p:spPr>
          <a:xfrm>
            <a:off x="566928" y="3209544"/>
            <a:ext cx="320040" cy="274320"/>
          </a:xfrm>
          <a:prstGeom prst="rect">
            <a:avLst/>
          </a:prstGeom>
          <a:noFill/>
          <a:ln/>
        </p:spPr>
        <p:txBody>
          <a:bodyPr wrap="square" lIns="0" tIns="0" rIns="0" bIns="0" rtlCol="0" anchor="t"/>
          <a:lstStyle/>
          <a:p>
            <a:pPr indent="0" marL="0">
              <a:buNone/>
            </a:pPr>
            <a:r>
              <a:rPr lang="en-US" sz="1300" b="1" dirty="0">
                <a:solidFill>
                  <a:srgbClr val="C67A43"/>
                </a:solidFill>
                <a:latin typeface="Arial" pitchFamily="34" charset="0"/>
                <a:ea typeface="Arial" pitchFamily="34" charset="-122"/>
                <a:cs typeface="Arial" pitchFamily="34" charset="-120"/>
              </a:rPr>
              <a:t>4</a:t>
            </a:r>
            <a:endParaRPr lang="en-US" sz="1300" dirty="0"/>
          </a:p>
        </p:txBody>
      </p:sp>
      <p:sp>
        <p:nvSpPr>
          <p:cNvPr id="11" name="Text 9"/>
          <p:cNvSpPr txBox="1"/>
          <p:nvPr/>
        </p:nvSpPr>
        <p:spPr>
          <a:xfrm>
            <a:off x="960120" y="3209544"/>
            <a:ext cx="10607040" cy="384048"/>
          </a:xfrm>
          <a:prstGeom prst="rect">
            <a:avLst/>
          </a:prstGeom>
          <a:noFill/>
          <a:ln/>
        </p:spPr>
        <p:txBody>
          <a:bodyPr wrap="square" lIns="0" tIns="0" rIns="0" bIns="0" rtlCol="0" anchor="t"/>
          <a:lstStyle/>
          <a:p>
            <a:pPr indent="0" marL="0">
              <a:buNone/>
            </a:pPr>
            <a:r>
              <a:rPr lang="en-US" sz="1150" b="1" dirty="0">
                <a:solidFill>
                  <a:srgbClr val="1A1D21"/>
                </a:solidFill>
                <a:latin typeface="Arial" pitchFamily="34" charset="0"/>
                <a:ea typeface="Arial" pitchFamily="34" charset="-122"/>
                <a:cs typeface="Arial" pitchFamily="34" charset="-120"/>
              </a:rPr>
              <a:t>Capability to execute — </a:t>
            </a:r>
            <a:pPr indent="0" marL="0">
              <a:buNone/>
            </a:pPr>
            <a:r>
              <a:rPr lang="en-US" sz="1150" dirty="0">
                <a:solidFill>
                  <a:srgbClr val="6B7075"/>
                </a:solidFill>
                <a:latin typeface="Arial" pitchFamily="34" charset="0"/>
                <a:ea typeface="Arial" pitchFamily="34" charset="-122"/>
                <a:cs typeface="Arial" pitchFamily="34" charset="-120"/>
              </a:rPr>
              <a:t>named resource with bandwidth; product-management confirmation on capacity</a:t>
            </a:r>
            <a:endParaRPr lang="en-US" sz="1150" dirty="0"/>
          </a:p>
        </p:txBody>
      </p:sp>
      <p:sp>
        <p:nvSpPr>
          <p:cNvPr id="12" name="Text 10"/>
          <p:cNvSpPr txBox="1"/>
          <p:nvPr/>
        </p:nvSpPr>
        <p:spPr>
          <a:xfrm>
            <a:off x="566928" y="3685032"/>
            <a:ext cx="320040" cy="274320"/>
          </a:xfrm>
          <a:prstGeom prst="rect">
            <a:avLst/>
          </a:prstGeom>
          <a:noFill/>
          <a:ln/>
        </p:spPr>
        <p:txBody>
          <a:bodyPr wrap="square" lIns="0" tIns="0" rIns="0" bIns="0" rtlCol="0" anchor="t"/>
          <a:lstStyle/>
          <a:p>
            <a:pPr indent="0" marL="0">
              <a:buNone/>
            </a:pPr>
            <a:r>
              <a:rPr lang="en-US" sz="1300" b="1" dirty="0">
                <a:solidFill>
                  <a:srgbClr val="C67A43"/>
                </a:solidFill>
                <a:latin typeface="Arial" pitchFamily="34" charset="0"/>
                <a:ea typeface="Arial" pitchFamily="34" charset="-122"/>
                <a:cs typeface="Arial" pitchFamily="34" charset="-120"/>
              </a:rPr>
              <a:t>5</a:t>
            </a:r>
            <a:endParaRPr lang="en-US" sz="1300" dirty="0"/>
          </a:p>
        </p:txBody>
      </p:sp>
      <p:sp>
        <p:nvSpPr>
          <p:cNvPr id="13" name="Text 11"/>
          <p:cNvSpPr txBox="1"/>
          <p:nvPr/>
        </p:nvSpPr>
        <p:spPr>
          <a:xfrm>
            <a:off x="960120" y="3685032"/>
            <a:ext cx="10607040" cy="384048"/>
          </a:xfrm>
          <a:prstGeom prst="rect">
            <a:avLst/>
          </a:prstGeom>
          <a:noFill/>
          <a:ln/>
        </p:spPr>
        <p:txBody>
          <a:bodyPr wrap="square" lIns="0" tIns="0" rIns="0" bIns="0" rtlCol="0" anchor="t"/>
          <a:lstStyle/>
          <a:p>
            <a:pPr indent="0" marL="0">
              <a:buNone/>
            </a:pPr>
            <a:r>
              <a:rPr lang="en-US" sz="1150" b="1" dirty="0">
                <a:solidFill>
                  <a:srgbClr val="1A1D21"/>
                </a:solidFill>
                <a:latin typeface="Arial" pitchFamily="34" charset="0"/>
                <a:ea typeface="Arial" pitchFamily="34" charset="-122"/>
                <a:cs typeface="Arial" pitchFamily="34" charset="-120"/>
              </a:rPr>
              <a:t>Documented customer preference — </a:t>
            </a:r>
            <a:pPr indent="0" marL="0">
              <a:buNone/>
            </a:pPr>
            <a:r>
              <a:rPr lang="en-US" sz="1150" dirty="0">
                <a:solidFill>
                  <a:srgbClr val="6B7075"/>
                </a:solidFill>
                <a:latin typeface="Arial" pitchFamily="34" charset="0"/>
                <a:ea typeface="Arial" pitchFamily="34" charset="-122"/>
                <a:cs typeface="Arial" pitchFamily="34" charset="-120"/>
              </a:rPr>
              <a:t>written, from the controlling buying center only</a:t>
            </a:r>
            <a:endParaRPr lang="en-US" sz="1150" dirty="0"/>
          </a:p>
        </p:txBody>
      </p:sp>
      <p:sp>
        <p:nvSpPr>
          <p:cNvPr id="14" name="Text 12"/>
          <p:cNvSpPr txBox="1"/>
          <p:nvPr/>
        </p:nvSpPr>
        <p:spPr>
          <a:xfrm>
            <a:off x="566928" y="4160520"/>
            <a:ext cx="320040" cy="274320"/>
          </a:xfrm>
          <a:prstGeom prst="rect">
            <a:avLst/>
          </a:prstGeom>
          <a:noFill/>
          <a:ln/>
        </p:spPr>
        <p:txBody>
          <a:bodyPr wrap="square" lIns="0" tIns="0" rIns="0" bIns="0" rtlCol="0" anchor="t"/>
          <a:lstStyle/>
          <a:p>
            <a:pPr indent="0" marL="0">
              <a:buNone/>
            </a:pPr>
            <a:r>
              <a:rPr lang="en-US" sz="1300" b="1" dirty="0">
                <a:solidFill>
                  <a:srgbClr val="C67A43"/>
                </a:solidFill>
                <a:latin typeface="Arial" pitchFamily="34" charset="0"/>
                <a:ea typeface="Arial" pitchFamily="34" charset="-122"/>
                <a:cs typeface="Arial" pitchFamily="34" charset="-120"/>
              </a:rPr>
              <a:t>6</a:t>
            </a:r>
            <a:endParaRPr lang="en-US" sz="1300" dirty="0"/>
          </a:p>
        </p:txBody>
      </p:sp>
      <p:sp>
        <p:nvSpPr>
          <p:cNvPr id="15" name="Text 13"/>
          <p:cNvSpPr txBox="1"/>
          <p:nvPr/>
        </p:nvSpPr>
        <p:spPr>
          <a:xfrm>
            <a:off x="960120" y="4160520"/>
            <a:ext cx="10607040" cy="384048"/>
          </a:xfrm>
          <a:prstGeom prst="rect">
            <a:avLst/>
          </a:prstGeom>
          <a:noFill/>
          <a:ln/>
        </p:spPr>
        <p:txBody>
          <a:bodyPr wrap="square" lIns="0" tIns="0" rIns="0" bIns="0" rtlCol="0" anchor="t"/>
          <a:lstStyle/>
          <a:p>
            <a:pPr indent="0" marL="0">
              <a:buNone/>
            </a:pPr>
            <a:r>
              <a:rPr lang="en-US" sz="1150" b="1" dirty="0">
                <a:solidFill>
                  <a:srgbClr val="1A1D21"/>
                </a:solidFill>
                <a:latin typeface="Arial" pitchFamily="34" charset="0"/>
                <a:ea typeface="Arial" pitchFamily="34" charset="-122"/>
                <a:cs typeface="Arial" pitchFamily="34" charset="-120"/>
              </a:rPr>
              <a:t>Plan quality — </a:t>
            </a:r>
            <a:pPr indent="0" marL="0">
              <a:buNone/>
            </a:pPr>
            <a:r>
              <a:rPr lang="en-US" sz="1150" dirty="0">
                <a:solidFill>
                  <a:srgbClr val="6B7075"/>
                </a:solidFill>
                <a:latin typeface="Arial" pitchFamily="34" charset="0"/>
                <a:ea typeface="Arial" pitchFamily="34" charset="-122"/>
                <a:cs typeface="Arial" pitchFamily="34" charset="-120"/>
              </a:rPr>
              <a:t>target dollars, dated milestones, channel decision — one page, submitted before the meeting</a:t>
            </a:r>
            <a:endParaRPr lang="en-US" sz="1150" dirty="0"/>
          </a:p>
        </p:txBody>
      </p:sp>
      <p:sp>
        <p:nvSpPr>
          <p:cNvPr id="16" name="Text 14"/>
          <p:cNvSpPr txBox="1"/>
          <p:nvPr/>
        </p:nvSpPr>
        <p:spPr>
          <a:xfrm>
            <a:off x="548640" y="4709160"/>
            <a:ext cx="11091672" cy="457200"/>
          </a:xfrm>
          <a:prstGeom prst="rect">
            <a:avLst/>
          </a:prstGeom>
          <a:noFill/>
          <a:ln/>
        </p:spPr>
        <p:txBody>
          <a:bodyPr wrap="square" lIns="0" tIns="0" rIns="0" bIns="0" rtlCol="0" anchor="t"/>
          <a:lstStyle/>
          <a:p>
            <a:pPr indent="0" marL="0">
              <a:buNone/>
            </a:pPr>
            <a:r>
              <a:rPr lang="en-US" sz="1050" i="1" dirty="0">
                <a:solidFill>
                  <a:srgbClr val="6B7075"/>
                </a:solidFill>
                <a:latin typeface="Arial" pitchFamily="34" charset="0"/>
                <a:ea typeface="Arial" pitchFamily="34" charset="-122"/>
                <a:cs typeface="Arial" pitchFamily="34" charset="-120"/>
              </a:rPr>
              <a:t>Each 0–3, both teams score, Marc and Jack confirm. Relationship tenure is deliberately not a criterion — it shows up only through access, activity and preference.</a:t>
            </a:r>
            <a:endParaRPr lang="en-US" sz="1050" dirty="0"/>
          </a:p>
        </p:txBody>
      </p:sp>
      <p:sp>
        <p:nvSpPr>
          <p:cNvPr id="17" name="Shape 15"/>
          <p:cNvSpPr/>
          <p:nvPr/>
        </p:nvSpPr>
        <p:spPr>
          <a:xfrm>
            <a:off x="548640" y="5303520"/>
            <a:ext cx="11091672" cy="868680"/>
          </a:xfrm>
          <a:prstGeom prst="rect">
            <a:avLst/>
          </a:prstGeom>
          <a:solidFill>
            <a:srgbClr val="F5F4F2"/>
          </a:solidFill>
          <a:ln/>
        </p:spPr>
      </p:sp>
      <p:sp>
        <p:nvSpPr>
          <p:cNvPr id="18" name="Text 16"/>
          <p:cNvSpPr txBox="1"/>
          <p:nvPr/>
        </p:nvSpPr>
        <p:spPr>
          <a:xfrm>
            <a:off x="822960" y="5468112"/>
            <a:ext cx="10515600" cy="566928"/>
          </a:xfrm>
          <a:prstGeom prst="rect">
            <a:avLst/>
          </a:prstGeom>
          <a:noFill/>
          <a:ln/>
        </p:spPr>
        <p:txBody>
          <a:bodyPr wrap="square" lIns="0" tIns="0" rIns="0" bIns="0" rtlCol="0" anchor="t"/>
          <a:lstStyle/>
          <a:p>
            <a:pPr indent="0" marL="0">
              <a:buNone/>
            </a:pPr>
            <a:r>
              <a:rPr lang="en-US" sz="1150" dirty="0">
                <a:solidFill>
                  <a:srgbClr val="1A1D21"/>
                </a:solidFill>
                <a:latin typeface="Arial" pitchFamily="34" charset="0"/>
                <a:ea typeface="Arial" pitchFamily="34" charset="-122"/>
                <a:cs typeface="Arial" pitchFamily="34" charset="-120"/>
              </a:rPr>
              <a:t>Margin of 4+ leads · margin of 3 or less: shared coverage with an explicit written split — no “joint ownership” without one · milestones missed without documented reason: re-score or release. The best executed strategy keeps the opportunity.</a:t>
            </a:r>
            <a:endParaRPr lang="en-US" sz="1150" dirty="0"/>
          </a:p>
        </p:txBody>
      </p:sp>
      <p:sp>
        <p:nvSpPr>
          <p:cNvPr id="19" name="Text 17"/>
          <p:cNvSpPr txBox="1"/>
          <p:nvPr/>
        </p:nvSpPr>
        <p:spPr>
          <a:xfrm>
            <a:off x="548640" y="6510528"/>
            <a:ext cx="5029200" cy="237744"/>
          </a:xfrm>
          <a:prstGeom prst="rect">
            <a:avLst/>
          </a:prstGeom>
          <a:noFill/>
          <a:ln/>
        </p:spPr>
        <p:txBody>
          <a:bodyPr wrap="square" lIns="0" tIns="0" rIns="0" bIns="0" rtlCol="0" anchor="ctr"/>
          <a:lstStyle/>
          <a:p>
            <a:pPr algn="l" indent="0" marL="0">
              <a:buNone/>
            </a:pPr>
            <a:r>
              <a:rPr lang="en-US" sz="800" dirty="0">
                <a:solidFill>
                  <a:srgbClr val="9A9FA4"/>
                </a:solidFill>
                <a:latin typeface="Arial" pitchFamily="34" charset="0"/>
                <a:ea typeface="Arial" pitchFamily="34" charset="-122"/>
                <a:cs typeface="Arial" pitchFamily="34" charset="-120"/>
              </a:rPr>
              <a:t>Stephan Hardt · Power Generation Solutions</a:t>
            </a:r>
            <a:endParaRPr lang="en-US" sz="800" dirty="0"/>
          </a:p>
        </p:txBody>
      </p:sp>
      <p:sp>
        <p:nvSpPr>
          <p:cNvPr id="20" name="Text 18"/>
          <p:cNvSpPr txBox="1"/>
          <p:nvPr/>
        </p:nvSpPr>
        <p:spPr>
          <a:xfrm>
            <a:off x="5943600" y="6510528"/>
            <a:ext cx="5696712" cy="237744"/>
          </a:xfrm>
          <a:prstGeom prst="rect">
            <a:avLst/>
          </a:prstGeom>
          <a:noFill/>
          <a:ln/>
        </p:spPr>
        <p:txBody>
          <a:bodyPr wrap="square" lIns="0" tIns="0" rIns="0" bIns="0" rtlCol="0" anchor="ctr"/>
          <a:lstStyle/>
          <a:p>
            <a:pPr algn="r" indent="0" marL="0">
              <a:buNone/>
            </a:pPr>
            <a:r>
              <a:rPr lang="en-US" sz="800" dirty="0">
                <a:solidFill>
                  <a:srgbClr val="9A9FA4"/>
                </a:solidFill>
                <a:latin typeface="Arial" pitchFamily="34" charset="0"/>
                <a:ea typeface="Arial" pitchFamily="34" charset="-122"/>
                <a:cs typeface="Arial" pitchFamily="34" charset="-120"/>
              </a:rPr>
              <a:t>SWR-PG-ROE Rev 00 · Working draft — Southwire internal · slide 8 of 14</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38912"/>
            <a:ext cx="11091672" cy="274320"/>
          </a:xfrm>
          <a:prstGeom prst="rect">
            <a:avLst/>
          </a:prstGeom>
          <a:noFill/>
          <a:ln/>
        </p:spPr>
        <p:txBody>
          <a:bodyPr wrap="square" lIns="0" tIns="0" rIns="0" bIns="0" rtlCol="0" anchor="ctr"/>
          <a:lstStyle/>
          <a:p>
            <a:pPr algn="l" indent="0" marL="0">
              <a:buNone/>
            </a:pPr>
            <a:r>
              <a:rPr lang="en-US" sz="1050" b="1" spc="200" kern="0" dirty="0">
                <a:solidFill>
                  <a:srgbClr val="C67A43"/>
                </a:solidFill>
                <a:latin typeface="Arial" pitchFamily="34" charset="0"/>
                <a:ea typeface="Arial" pitchFamily="34" charset="-122"/>
                <a:cs typeface="Arial" pitchFamily="34" charset="-120"/>
              </a:rPr>
              <a:t>TRANCHE 1 — THE ACCOUNTS, ON EVIDENCE</a:t>
            </a:r>
            <a:endParaRPr lang="en-US" sz="1050" dirty="0"/>
          </a:p>
        </p:txBody>
      </p:sp>
      <p:sp>
        <p:nvSpPr>
          <p:cNvPr id="3" name="Text 1"/>
          <p:cNvSpPr txBox="1"/>
          <p:nvPr/>
        </p:nvSpPr>
        <p:spPr>
          <a:xfrm>
            <a:off x="548640" y="768096"/>
            <a:ext cx="11091672" cy="438912"/>
          </a:xfrm>
          <a:prstGeom prst="rect">
            <a:avLst/>
          </a:prstGeom>
          <a:noFill/>
          <a:ln/>
        </p:spPr>
        <p:txBody>
          <a:bodyPr wrap="square" lIns="0" tIns="0" rIns="0" bIns="0" rtlCol="0" anchor="t"/>
          <a:lstStyle/>
          <a:p>
            <a:pPr algn="l" indent="0" marL="0">
              <a:buNone/>
            </a:pPr>
            <a:r>
              <a:rPr lang="en-US" sz="2400" b="1" dirty="0">
                <a:solidFill>
                  <a:srgbClr val="1A1D21"/>
                </a:solidFill>
                <a:latin typeface="Arial" pitchFamily="34" charset="0"/>
                <a:ea typeface="Arial" pitchFamily="34" charset="-122"/>
                <a:cs typeface="Arial" pitchFamily="34" charset="-120"/>
              </a:rPr>
              <a:t>Ten accounts, proposed on the rules. Gaps marked, not invented.</a:t>
            </a:r>
            <a:endParaRPr lang="en-US" sz="2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1672" cy="914400"/>
        </p:xfrm>
        <a:graphic>
          <a:graphicData uri="http://schemas.openxmlformats.org/drawingml/2006/table">
            <a:tbl>
              <a:tblPr/>
              <a:tblGrid>
                <a:gridCol w="2834640"/>
                <a:gridCol w="2514600"/>
                <a:gridCol w="2770632"/>
                <a:gridCol w="2971800"/>
              </a:tblGrid>
              <a:tr h="384048">
                <a:tc>
                  <a:txBody>
                    <a:bodyPr/>
                    <a:lstStyle/>
                    <a:p>
                      <a:pPr indent="0" marL="0">
                        <a:buNone/>
                      </a:pPr>
                      <a:r>
                        <a:rPr lang="en-US" sz="850" b="1" dirty="0">
                          <a:solidFill>
                            <a:srgbClr val="FFFFFF"/>
                          </a:solidFill>
                          <a:latin typeface="Arial" pitchFamily="34" charset="0"/>
                          <a:ea typeface="Arial" pitchFamily="34" charset="-122"/>
                          <a:cs typeface="Arial" pitchFamily="34" charset="-120"/>
                        </a:rPr>
                        <a:t>Account</a:t>
                      </a:r>
                      <a:endParaRPr lang="en-US" sz="850" dirty="0">
                        <a:latin typeface="Arial" charset="0"/>
                        <a:ea typeface="Arial" charset="0"/>
                        <a:cs typeface="Arial" charset="0"/>
                      </a:endParaRPr>
                    </a:p>
                  </a:txBody>
                  <a:tcPr marL="64008" marR="64008" marT="27432" marB="27432"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solidFill>
                      <a:srgbClr val="C67A43"/>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Proposed coordinator</a:t>
                      </a:r>
                      <a:endParaRPr lang="en-US" sz="850" dirty="0">
                        <a:latin typeface="Arial" charset="0"/>
                        <a:ea typeface="Arial" charset="0"/>
                        <a:cs typeface="Arial" charset="0"/>
                      </a:endParaRPr>
                    </a:p>
                  </a:txBody>
                  <a:tcPr marL="64008" marR="64008" marT="27432" marB="27432"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solidFill>
                      <a:srgbClr val="C67A43"/>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Proposed opportunity lead</a:t>
                      </a:r>
                      <a:endParaRPr lang="en-US" sz="850" dirty="0">
                        <a:latin typeface="Arial" charset="0"/>
                        <a:ea typeface="Arial" charset="0"/>
                        <a:cs typeface="Arial" charset="0"/>
                      </a:endParaRPr>
                    </a:p>
                  </a:txBody>
                  <a:tcPr marL="64008" marR="64008" marT="27432" marB="27432"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solidFill>
                      <a:srgbClr val="C67A43"/>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Open item / decision</a:t>
                      </a:r>
                      <a:endParaRPr lang="en-US" sz="850" dirty="0">
                        <a:latin typeface="Arial" charset="0"/>
                        <a:ea typeface="Arial" charset="0"/>
                        <a:cs typeface="Arial" charset="0"/>
                      </a:endParaRPr>
                    </a:p>
                  </a:txBody>
                  <a:tcPr marL="64008" marR="64008" marT="27432" marB="27432"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solidFill>
                      <a:srgbClr val="C67A43"/>
                    </a:solidFill>
                  </a:tcPr>
                </a:tc>
              </a:tr>
              <a:tr h="384048">
                <a:tc>
                  <a:txBody>
                    <a:bodyPr/>
                    <a:lstStyle/>
                    <a:p>
                      <a:pPr indent="0" marL="0">
                        <a:buNone/>
                      </a:pPr>
                      <a:r>
                        <a:rPr lang="en-US" sz="850" b="1" dirty="0">
                          <a:solidFill>
                            <a:srgbClr val="1A1D21"/>
                          </a:solidFill>
                          <a:latin typeface="Arial" pitchFamily="34" charset="0"/>
                          <a:ea typeface="Arial" pitchFamily="34" charset="-122"/>
                          <a:cs typeface="Arial" pitchFamily="34" charset="-120"/>
                        </a:rPr>
                        <a:t>Powell Industries</a:t>
                      </a:r>
                      <a:endParaRPr lang="en-US" sz="850" dirty="0">
                        <a:latin typeface="Arial" charset="0"/>
                        <a:ea typeface="Arial" charset="0"/>
                        <a:cs typeface="Arial" charset="0"/>
                      </a:endParaRPr>
                    </a:p>
                  </a:txBody>
                  <a:tcPr marL="64008" marR="64008" marT="27432" marB="27432"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tcPr>
                </a:tc>
                <a:tc>
                  <a:txBody>
                    <a:bodyPr/>
                    <a:lstStyle/>
                    <a:p>
                      <a:pPr indent="0" marL="0">
                        <a:buNone/>
                      </a:pPr>
                      <a:r>
                        <a:rPr lang="en-US" sz="850" dirty="0">
                          <a:solidFill>
                            <a:srgbClr val="C67A43"/>
                          </a:solidFill>
                          <a:latin typeface="Arial" pitchFamily="34" charset="0"/>
                          <a:ea typeface="Arial" pitchFamily="34" charset="-122"/>
                          <a:cs typeface="Arial" pitchFamily="34" charset="-120"/>
                        </a:rPr>
                        <a:t>TO SUPPLY — 80/20 split</a:t>
                      </a:r>
                      <a:endParaRPr lang="en-US" sz="850" dirty="0">
                        <a:latin typeface="Arial" charset="0"/>
                        <a:ea typeface="Arial" charset="0"/>
                        <a:cs typeface="Arial" charset="0"/>
                      </a:endParaRPr>
                    </a:p>
                  </a:txBody>
                  <a:tcPr marL="64008" marR="64008" marT="27432" marB="27432"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tcPr>
                </a:tc>
                <a:tc>
                  <a:txBody>
                    <a:bodyPr/>
                    <a:lstStyle/>
                    <a:p>
                      <a:pPr indent="0" marL="0">
                        <a:buNone/>
                      </a:pPr>
                      <a:r>
                        <a:rPr lang="en-US" sz="850" dirty="0">
                          <a:solidFill>
                            <a:srgbClr val="1A1D21"/>
                          </a:solidFill>
                          <a:latin typeface="Arial" pitchFamily="34" charset="0"/>
                          <a:ea typeface="Arial" pitchFamily="34" charset="-122"/>
                          <a:cs typeface="Arial" pitchFamily="34" charset="-120"/>
                        </a:rPr>
                        <a:t>PG gas-plant lines · DC campus lines</a:t>
                      </a:r>
                      <a:endParaRPr lang="en-US" sz="850" dirty="0">
                        <a:latin typeface="Arial" charset="0"/>
                        <a:ea typeface="Arial" charset="0"/>
                        <a:cs typeface="Arial" charset="0"/>
                      </a:endParaRPr>
                    </a:p>
                  </a:txBody>
                  <a:tcPr marL="64008" marR="64008" marT="27432" marB="27432"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tcPr>
                </a:tc>
                <a:tc>
                  <a:txBody>
                    <a:bodyPr/>
                    <a:lstStyle/>
                    <a:p>
                      <a:pPr indent="0" marL="0">
                        <a:buNone/>
                      </a:pPr>
                      <a:r>
                        <a:rPr lang="en-US" sz="850" dirty="0">
                          <a:solidFill>
                            <a:srgbClr val="6B7075"/>
                          </a:solidFill>
                          <a:latin typeface="Arial" pitchFamily="34" charset="0"/>
                          <a:ea typeface="Arial" pitchFamily="34" charset="-122"/>
                          <a:cs typeface="Arial" pitchFamily="34" charset="-120"/>
                        </a:rPr>
                        <a:t>Jack confirms split by project end-use; Tim's activity</a:t>
                      </a:r>
                      <a:endParaRPr lang="en-US" sz="850" dirty="0">
                        <a:latin typeface="Arial" charset="0"/>
                        <a:ea typeface="Arial" charset="0"/>
                        <a:cs typeface="Arial" charset="0"/>
                      </a:endParaRPr>
                    </a:p>
                  </a:txBody>
                  <a:tcPr marL="64008" marR="64008" marT="27432" marB="27432"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tcPr>
                </a:tc>
              </a:tr>
              <a:tr h="384048">
                <a:tc>
                  <a:txBody>
                    <a:bodyPr/>
                    <a:lstStyle/>
                    <a:p>
                      <a:pPr indent="0" marL="0">
                        <a:buNone/>
                      </a:pPr>
                      <a:r>
                        <a:rPr lang="en-US" sz="850" b="1" dirty="0">
                          <a:solidFill>
                            <a:srgbClr val="1A1D21"/>
                          </a:solidFill>
                          <a:latin typeface="Arial" pitchFamily="34" charset="0"/>
                          <a:ea typeface="Arial" pitchFamily="34" charset="-122"/>
                          <a:cs typeface="Arial" pitchFamily="34" charset="-120"/>
                        </a:rPr>
                        <a:t>Enchanted Rock · VoltaGrid</a:t>
                      </a:r>
                      <a:endParaRPr lang="en-US" sz="850" dirty="0">
                        <a:latin typeface="Arial" charset="0"/>
                        <a:ea typeface="Arial" charset="0"/>
                        <a:cs typeface="Arial" charset="0"/>
                      </a:endParaRPr>
                    </a:p>
                  </a:txBody>
                  <a:tcPr marL="64008" marR="64008" marT="27432" marB="27432"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tcPr>
                </a:tc>
                <a:tc>
                  <a:txBody>
                    <a:bodyPr/>
                    <a:lstStyle/>
                    <a:p>
                      <a:pPr indent="0" marL="0">
                        <a:buNone/>
                      </a:pPr>
                      <a:r>
                        <a:rPr lang="en-US" sz="850" dirty="0">
                          <a:solidFill>
                            <a:srgbClr val="1A1D21"/>
                          </a:solidFill>
                          <a:latin typeface="Arial" pitchFamily="34" charset="0"/>
                          <a:ea typeface="Arial" pitchFamily="34" charset="-122"/>
                          <a:cs typeface="Arial" pitchFamily="34" charset="-120"/>
                        </a:rPr>
                        <a:t>PG</a:t>
                      </a:r>
                      <a:endParaRPr lang="en-US" sz="850" dirty="0">
                        <a:latin typeface="Arial" charset="0"/>
                        <a:ea typeface="Arial" charset="0"/>
                        <a:cs typeface="Arial" charset="0"/>
                      </a:endParaRPr>
                    </a:p>
                  </a:txBody>
                  <a:tcPr marL="64008" marR="64008" marT="27432" marB="27432"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tcPr>
                </a:tc>
                <a:tc>
                  <a:txBody>
                    <a:bodyPr/>
                    <a:lstStyle/>
                    <a:p>
                      <a:pPr indent="0" marL="0">
                        <a:buNone/>
                      </a:pPr>
                      <a:r>
                        <a:rPr lang="en-US" sz="850" dirty="0">
                          <a:solidFill>
                            <a:srgbClr val="1A1D21"/>
                          </a:solidFill>
                          <a:latin typeface="Arial" pitchFamily="34" charset="0"/>
                          <a:ea typeface="Arial" pitchFamily="34" charset="-122"/>
                          <a:cs typeface="Arial" pitchFamily="34" charset="-120"/>
                        </a:rPr>
                        <a:t>PG</a:t>
                      </a:r>
                      <a:endParaRPr lang="en-US" sz="850" dirty="0">
                        <a:latin typeface="Arial" charset="0"/>
                        <a:ea typeface="Arial" charset="0"/>
                        <a:cs typeface="Arial" charset="0"/>
                      </a:endParaRPr>
                    </a:p>
                  </a:txBody>
                  <a:tcPr marL="64008" marR="64008" marT="27432" marB="27432"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tcPr>
                </a:tc>
                <a:tc>
                  <a:txBody>
                    <a:bodyPr/>
                    <a:lstStyle/>
                    <a:p>
                      <a:pPr indent="0" marL="0">
                        <a:buNone/>
                      </a:pPr>
                      <a:r>
                        <a:rPr lang="en-US" sz="850" dirty="0">
                          <a:solidFill>
                            <a:srgbClr val="6B7075"/>
                          </a:solidFill>
                          <a:latin typeface="Arial" pitchFamily="34" charset="0"/>
                          <a:ea typeface="Arial" pitchFamily="34" charset="-122"/>
                          <a:cs typeface="Arial" pitchFamily="34" charset="-120"/>
                        </a:rPr>
                        <a:t>Ratify BTM-default-to-PG as asset type</a:t>
                      </a:r>
                      <a:endParaRPr lang="en-US" sz="850" dirty="0">
                        <a:latin typeface="Arial" charset="0"/>
                        <a:ea typeface="Arial" charset="0"/>
                        <a:cs typeface="Arial" charset="0"/>
                      </a:endParaRPr>
                    </a:p>
                  </a:txBody>
                  <a:tcPr marL="64008" marR="64008" marT="27432" marB="27432"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tcPr>
                </a:tc>
              </a:tr>
              <a:tr h="384048">
                <a:tc>
                  <a:txBody>
                    <a:bodyPr/>
                    <a:lstStyle/>
                    <a:p>
                      <a:pPr indent="0" marL="0">
                        <a:buNone/>
                      </a:pPr>
                      <a:r>
                        <a:rPr lang="en-US" sz="850" b="1" dirty="0">
                          <a:solidFill>
                            <a:srgbClr val="1A1D21"/>
                          </a:solidFill>
                          <a:latin typeface="Arial" pitchFamily="34" charset="0"/>
                          <a:ea typeface="Arial" pitchFamily="34" charset="-122"/>
                          <a:cs typeface="Arial" pitchFamily="34" charset="-120"/>
                        </a:rPr>
                        <a:t>Hyperscalers (Google · Microsoft)</a:t>
                      </a:r>
                      <a:endParaRPr lang="en-US" sz="850" dirty="0">
                        <a:latin typeface="Arial" charset="0"/>
                        <a:ea typeface="Arial" charset="0"/>
                        <a:cs typeface="Arial" charset="0"/>
                      </a:endParaRPr>
                    </a:p>
                  </a:txBody>
                  <a:tcPr marL="64008" marR="64008" marT="27432" marB="27432"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tcPr>
                </a:tc>
                <a:tc>
                  <a:txBody>
                    <a:bodyPr/>
                    <a:lstStyle/>
                    <a:p>
                      <a:pPr indent="0" marL="0">
                        <a:buNone/>
                      </a:pPr>
                      <a:r>
                        <a:rPr lang="en-US" sz="850" dirty="0">
                          <a:solidFill>
                            <a:srgbClr val="1A1D21"/>
                          </a:solidFill>
                          <a:latin typeface="Arial" pitchFamily="34" charset="0"/>
                          <a:ea typeface="Arial" pitchFamily="34" charset="-122"/>
                          <a:cs typeface="Arial" pitchFamily="34" charset="-120"/>
                        </a:rPr>
                        <a:t>DC — 80/20 is facility</a:t>
                      </a:r>
                      <a:endParaRPr lang="en-US" sz="850" dirty="0">
                        <a:latin typeface="Arial" charset="0"/>
                        <a:ea typeface="Arial" charset="0"/>
                        <a:cs typeface="Arial" charset="0"/>
                      </a:endParaRPr>
                    </a:p>
                  </a:txBody>
                  <a:tcPr marL="64008" marR="64008" marT="27432" marB="27432"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tcPr>
                </a:tc>
                <a:tc>
                  <a:txBody>
                    <a:bodyPr/>
                    <a:lstStyle/>
                    <a:p>
                      <a:pPr indent="0" marL="0">
                        <a:buNone/>
                      </a:pPr>
                      <a:r>
                        <a:rPr lang="en-US" sz="850" dirty="0">
                          <a:solidFill>
                            <a:srgbClr val="1A1D21"/>
                          </a:solidFill>
                          <a:latin typeface="Arial" pitchFamily="34" charset="0"/>
                          <a:ea typeface="Arial" pitchFamily="34" charset="-122"/>
                          <a:cs typeface="Arial" pitchFamily="34" charset="-120"/>
                        </a:rPr>
                        <a:t>PG for generation scope</a:t>
                      </a:r>
                      <a:endParaRPr lang="en-US" sz="850" dirty="0">
                        <a:latin typeface="Arial" charset="0"/>
                        <a:ea typeface="Arial" charset="0"/>
                        <a:cs typeface="Arial" charset="0"/>
                      </a:endParaRPr>
                    </a:p>
                  </a:txBody>
                  <a:tcPr marL="64008" marR="64008" marT="27432" marB="27432"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tcPr>
                </a:tc>
                <a:tc>
                  <a:txBody>
                    <a:bodyPr/>
                    <a:lstStyle/>
                    <a:p>
                      <a:pPr indent="0" marL="0">
                        <a:buNone/>
                      </a:pPr>
                      <a:r>
                        <a:rPr lang="en-US" sz="850" dirty="0">
                          <a:solidFill>
                            <a:srgbClr val="6B7075"/>
                          </a:solidFill>
                          <a:latin typeface="Arial" pitchFamily="34" charset="0"/>
                          <a:ea typeface="Arial" pitchFamily="34" charset="-122"/>
                          <a:cs typeface="Arial" pitchFamily="34" charset="-120"/>
                        </a:rPr>
                        <a:t>First test of the two-role model</a:t>
                      </a:r>
                      <a:endParaRPr lang="en-US" sz="850" dirty="0">
                        <a:latin typeface="Arial" charset="0"/>
                        <a:ea typeface="Arial" charset="0"/>
                        <a:cs typeface="Arial" charset="0"/>
                      </a:endParaRPr>
                    </a:p>
                  </a:txBody>
                  <a:tcPr marL="64008" marR="64008" marT="27432" marB="27432"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tcPr>
                </a:tc>
              </a:tr>
              <a:tr h="384048">
                <a:tc>
                  <a:txBody>
                    <a:bodyPr/>
                    <a:lstStyle/>
                    <a:p>
                      <a:pPr indent="0" marL="0">
                        <a:buNone/>
                      </a:pPr>
                      <a:r>
                        <a:rPr lang="en-US" sz="850" b="1" dirty="0">
                          <a:solidFill>
                            <a:srgbClr val="1A1D21"/>
                          </a:solidFill>
                          <a:latin typeface="Arial" pitchFamily="34" charset="0"/>
                          <a:ea typeface="Arial" pitchFamily="34" charset="-122"/>
                          <a:cs typeface="Arial" pitchFamily="34" charset="-120"/>
                        </a:rPr>
                        <a:t>NRG · CPV (IPPs)</a:t>
                      </a:r>
                      <a:endParaRPr lang="en-US" sz="850" dirty="0">
                        <a:latin typeface="Arial" charset="0"/>
                        <a:ea typeface="Arial" charset="0"/>
                        <a:cs typeface="Arial" charset="0"/>
                      </a:endParaRPr>
                    </a:p>
                  </a:txBody>
                  <a:tcPr marL="64008" marR="64008" marT="27432" marB="27432"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tcPr>
                </a:tc>
                <a:tc>
                  <a:txBody>
                    <a:bodyPr/>
                    <a:lstStyle/>
                    <a:p>
                      <a:pPr indent="0" marL="0">
                        <a:buNone/>
                      </a:pPr>
                      <a:r>
                        <a:rPr lang="en-US" sz="850" dirty="0">
                          <a:solidFill>
                            <a:srgbClr val="1A1D21"/>
                          </a:solidFill>
                          <a:latin typeface="Arial" pitchFamily="34" charset="0"/>
                          <a:ea typeface="Arial" pitchFamily="34" charset="-122"/>
                          <a:cs typeface="Arial" pitchFamily="34" charset="-120"/>
                        </a:rPr>
                        <a:t>PG</a:t>
                      </a:r>
                      <a:endParaRPr lang="en-US" sz="850" dirty="0">
                        <a:latin typeface="Arial" charset="0"/>
                        <a:ea typeface="Arial" charset="0"/>
                        <a:cs typeface="Arial" charset="0"/>
                      </a:endParaRPr>
                    </a:p>
                  </a:txBody>
                  <a:tcPr marL="64008" marR="64008" marT="27432" marB="27432"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tcPr>
                </a:tc>
                <a:tc>
                  <a:txBody>
                    <a:bodyPr/>
                    <a:lstStyle/>
                    <a:p>
                      <a:pPr indent="0" marL="0">
                        <a:buNone/>
                      </a:pPr>
                      <a:r>
                        <a:rPr lang="en-US" sz="850" dirty="0">
                          <a:solidFill>
                            <a:srgbClr val="1A1D21"/>
                          </a:solidFill>
                          <a:latin typeface="Arial" pitchFamily="34" charset="0"/>
                          <a:ea typeface="Arial" pitchFamily="34" charset="-122"/>
                          <a:cs typeface="Arial" pitchFamily="34" charset="-120"/>
                        </a:rPr>
                        <a:t>PG</a:t>
                      </a:r>
                      <a:endParaRPr lang="en-US" sz="850" dirty="0">
                        <a:latin typeface="Arial" charset="0"/>
                        <a:ea typeface="Arial" charset="0"/>
                        <a:cs typeface="Arial" charset="0"/>
                      </a:endParaRPr>
                    </a:p>
                  </a:txBody>
                  <a:tcPr marL="64008" marR="64008" marT="27432" marB="27432"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tcPr>
                </a:tc>
                <a:tc>
                  <a:txBody>
                    <a:bodyPr/>
                    <a:lstStyle/>
                    <a:p>
                      <a:pPr indent="0" marL="0">
                        <a:buNone/>
                      </a:pPr>
                      <a:r>
                        <a:rPr lang="en-US" sz="850" dirty="0">
                          <a:solidFill>
                            <a:srgbClr val="6B7075"/>
                          </a:solidFill>
                          <a:latin typeface="Arial" pitchFamily="34" charset="0"/>
                          <a:ea typeface="Arial" pitchFamily="34" charset="-122"/>
                          <a:cs typeface="Arial" pitchFamily="34" charset="-120"/>
                        </a:rPr>
                        <a:t>PG-vs-Brian split (2028-29 horizon); distributor rules</a:t>
                      </a:r>
                      <a:endParaRPr lang="en-US" sz="850" dirty="0">
                        <a:latin typeface="Arial" charset="0"/>
                        <a:ea typeface="Arial" charset="0"/>
                        <a:cs typeface="Arial" charset="0"/>
                      </a:endParaRPr>
                    </a:p>
                  </a:txBody>
                  <a:tcPr marL="64008" marR="64008" marT="27432" marB="27432"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tcPr>
                </a:tc>
              </a:tr>
              <a:tr h="384048">
                <a:tc>
                  <a:txBody>
                    <a:bodyPr/>
                    <a:lstStyle/>
                    <a:p>
                      <a:pPr indent="0" marL="0">
                        <a:buNone/>
                      </a:pPr>
                      <a:r>
                        <a:rPr lang="en-US" sz="850" b="1" dirty="0">
                          <a:solidFill>
                            <a:srgbClr val="1A1D21"/>
                          </a:solidFill>
                          <a:latin typeface="Arial" pitchFamily="34" charset="0"/>
                          <a:ea typeface="Arial" pitchFamily="34" charset="-122"/>
                          <a:cs typeface="Arial" pitchFamily="34" charset="-120"/>
                        </a:rPr>
                        <a:t>Southern Company / Southern Power</a:t>
                      </a:r>
                      <a:endParaRPr lang="en-US" sz="850" dirty="0">
                        <a:latin typeface="Arial" charset="0"/>
                        <a:ea typeface="Arial" charset="0"/>
                        <a:cs typeface="Arial" charset="0"/>
                      </a:endParaRPr>
                    </a:p>
                  </a:txBody>
                  <a:tcPr marL="64008" marR="64008" marT="27432" marB="27432"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tcPr>
                </a:tc>
                <a:tc>
                  <a:txBody>
                    <a:bodyPr/>
                    <a:lstStyle/>
                    <a:p>
                      <a:pPr indent="0" marL="0">
                        <a:buNone/>
                      </a:pPr>
                      <a:r>
                        <a:rPr lang="en-US" sz="850" dirty="0">
                          <a:solidFill>
                            <a:srgbClr val="1A1D21"/>
                          </a:solidFill>
                          <a:latin typeface="Arial" pitchFamily="34" charset="0"/>
                          <a:ea typeface="Arial" pitchFamily="34" charset="-122"/>
                          <a:cs typeface="Arial" pitchFamily="34" charset="-120"/>
                        </a:rPr>
                        <a:t>Utility for the IOUs; PG for Southern Power</a:t>
                      </a:r>
                      <a:endParaRPr lang="en-US" sz="850" dirty="0">
                        <a:latin typeface="Arial" charset="0"/>
                        <a:ea typeface="Arial" charset="0"/>
                        <a:cs typeface="Arial" charset="0"/>
                      </a:endParaRPr>
                    </a:p>
                  </a:txBody>
                  <a:tcPr marL="64008" marR="64008" marT="27432" marB="27432"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tcPr>
                </a:tc>
                <a:tc>
                  <a:txBody>
                    <a:bodyPr/>
                    <a:lstStyle/>
                    <a:p>
                      <a:pPr indent="0" marL="0">
                        <a:buNone/>
                      </a:pPr>
                      <a:r>
                        <a:rPr lang="en-US" sz="850" dirty="0">
                          <a:solidFill>
                            <a:srgbClr val="1A1D21"/>
                          </a:solidFill>
                          <a:latin typeface="Arial" pitchFamily="34" charset="0"/>
                          <a:ea typeface="Arial" pitchFamily="34" charset="-122"/>
                          <a:cs typeface="Arial" pitchFamily="34" charset="-120"/>
                        </a:rPr>
                        <a:t>PG</a:t>
                      </a:r>
                      <a:endParaRPr lang="en-US" sz="850" dirty="0">
                        <a:latin typeface="Arial" charset="0"/>
                        <a:ea typeface="Arial" charset="0"/>
                        <a:cs typeface="Arial" charset="0"/>
                      </a:endParaRPr>
                    </a:p>
                  </a:txBody>
                  <a:tcPr marL="64008" marR="64008" marT="27432" marB="27432"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tcPr>
                </a:tc>
                <a:tc>
                  <a:txBody>
                    <a:bodyPr/>
                    <a:lstStyle/>
                    <a:p>
                      <a:pPr indent="0" marL="0">
                        <a:buNone/>
                      </a:pPr>
                      <a:r>
                        <a:rPr lang="en-US" sz="850" dirty="0">
                          <a:solidFill>
                            <a:srgbClr val="6B7075"/>
                          </a:solidFill>
                          <a:latin typeface="Arial" pitchFamily="34" charset="0"/>
                          <a:ea typeface="Arial" pitchFamily="34" charset="-122"/>
                          <a:cs typeface="Arial" pitchFamily="34" charset="-120"/>
                        </a:rPr>
                        <a:t>How PG operates inside a utility framework agreement</a:t>
                      </a:r>
                      <a:endParaRPr lang="en-US" sz="850" dirty="0">
                        <a:latin typeface="Arial" charset="0"/>
                        <a:ea typeface="Arial" charset="0"/>
                        <a:cs typeface="Arial" charset="0"/>
                      </a:endParaRPr>
                    </a:p>
                  </a:txBody>
                  <a:tcPr marL="64008" marR="64008" marT="27432" marB="27432"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tcPr>
                </a:tc>
              </a:tr>
              <a:tr h="384048">
                <a:tc>
                  <a:txBody>
                    <a:bodyPr/>
                    <a:lstStyle/>
                    <a:p>
                      <a:pPr indent="0" marL="0">
                        <a:buNone/>
                      </a:pPr>
                      <a:r>
                        <a:rPr lang="en-US" sz="850" b="1" dirty="0">
                          <a:solidFill>
                            <a:srgbClr val="1A1D21"/>
                          </a:solidFill>
                          <a:latin typeface="Arial" pitchFamily="34" charset="0"/>
                          <a:ea typeface="Arial" pitchFamily="34" charset="-122"/>
                          <a:cs typeface="Arial" pitchFamily="34" charset="-120"/>
                        </a:rPr>
                        <a:t>Utility T&amp;D / substation build</a:t>
                      </a:r>
                      <a:endParaRPr lang="en-US" sz="850" dirty="0">
                        <a:latin typeface="Arial" charset="0"/>
                        <a:ea typeface="Arial" charset="0"/>
                        <a:cs typeface="Arial" charset="0"/>
                      </a:endParaRPr>
                    </a:p>
                  </a:txBody>
                  <a:tcPr marL="64008" marR="64008" marT="27432" marB="27432"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tcPr>
                </a:tc>
                <a:tc>
                  <a:txBody>
                    <a:bodyPr/>
                    <a:lstStyle/>
                    <a:p>
                      <a:pPr indent="0" marL="0">
                        <a:buNone/>
                      </a:pPr>
                      <a:r>
                        <a:rPr lang="en-US" sz="850" dirty="0">
                          <a:solidFill>
                            <a:srgbClr val="1A1D21"/>
                          </a:solidFill>
                          <a:latin typeface="Arial" pitchFamily="34" charset="0"/>
                          <a:ea typeface="Arial" pitchFamily="34" charset="-122"/>
                          <a:cs typeface="Arial" pitchFamily="34" charset="-120"/>
                        </a:rPr>
                        <a:t>Utility</a:t>
                      </a:r>
                      <a:endParaRPr lang="en-US" sz="850" dirty="0">
                        <a:latin typeface="Arial" charset="0"/>
                        <a:ea typeface="Arial" charset="0"/>
                        <a:cs typeface="Arial" charset="0"/>
                      </a:endParaRPr>
                    </a:p>
                  </a:txBody>
                  <a:tcPr marL="64008" marR="64008" marT="27432" marB="27432"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tcPr>
                </a:tc>
                <a:tc>
                  <a:txBody>
                    <a:bodyPr/>
                    <a:lstStyle/>
                    <a:p>
                      <a:pPr indent="0" marL="0">
                        <a:buNone/>
                      </a:pPr>
                      <a:r>
                        <a:rPr lang="en-US" sz="850" dirty="0">
                          <a:solidFill>
                            <a:srgbClr val="1A1D21"/>
                          </a:solidFill>
                          <a:latin typeface="Arial" pitchFamily="34" charset="0"/>
                          <a:ea typeface="Arial" pitchFamily="34" charset="-122"/>
                          <a:cs typeface="Arial" pitchFamily="34" charset="-120"/>
                        </a:rPr>
                        <a:t>Utility</a:t>
                      </a:r>
                      <a:endParaRPr lang="en-US" sz="850" dirty="0">
                        <a:latin typeface="Arial" charset="0"/>
                        <a:ea typeface="Arial" charset="0"/>
                        <a:cs typeface="Arial" charset="0"/>
                      </a:endParaRPr>
                    </a:p>
                  </a:txBody>
                  <a:tcPr marL="64008" marR="64008" marT="27432" marB="27432"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tcPr>
                </a:tc>
                <a:tc>
                  <a:txBody>
                    <a:bodyPr/>
                    <a:lstStyle/>
                    <a:p>
                      <a:pPr indent="0" marL="0">
                        <a:buNone/>
                      </a:pPr>
                      <a:r>
                        <a:rPr lang="en-US" sz="850" dirty="0">
                          <a:solidFill>
                            <a:srgbClr val="6B7075"/>
                          </a:solidFill>
                          <a:latin typeface="Arial" pitchFamily="34" charset="0"/>
                          <a:ea typeface="Arial" pitchFamily="34" charset="-122"/>
                          <a:cs typeface="Arial" pitchFamily="34" charset="-120"/>
                        </a:rPr>
                        <a:t>Ratify the POI rule; plant-switchyard question</a:t>
                      </a:r>
                      <a:endParaRPr lang="en-US" sz="850" dirty="0">
                        <a:latin typeface="Arial" charset="0"/>
                        <a:ea typeface="Arial" charset="0"/>
                        <a:cs typeface="Arial" charset="0"/>
                      </a:endParaRPr>
                    </a:p>
                  </a:txBody>
                  <a:tcPr marL="64008" marR="64008" marT="27432" marB="27432"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tcPr>
                </a:tc>
              </a:tr>
              <a:tr h="384048">
                <a:tc>
                  <a:txBody>
                    <a:bodyPr/>
                    <a:lstStyle/>
                    <a:p>
                      <a:pPr indent="0" marL="0">
                        <a:buNone/>
                      </a:pPr>
                      <a:r>
                        <a:rPr lang="en-US" sz="850" b="1" dirty="0">
                          <a:solidFill>
                            <a:srgbClr val="1A1D21"/>
                          </a:solidFill>
                          <a:latin typeface="Arial" pitchFamily="34" charset="0"/>
                          <a:ea typeface="Arial" pitchFamily="34" charset="-122"/>
                          <a:cs typeface="Arial" pitchFamily="34" charset="-120"/>
                        </a:rPr>
                        <a:t>Kiewit · Gemma · Burns &amp; McDonnell</a:t>
                      </a:r>
                      <a:endParaRPr lang="en-US" sz="850" dirty="0">
                        <a:latin typeface="Arial" charset="0"/>
                        <a:ea typeface="Arial" charset="0"/>
                        <a:cs typeface="Arial" charset="0"/>
                      </a:endParaRPr>
                    </a:p>
                  </a:txBody>
                  <a:tcPr marL="64008" marR="64008" marT="27432" marB="27432"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tcPr>
                </a:tc>
                <a:tc>
                  <a:txBody>
                    <a:bodyPr/>
                    <a:lstStyle/>
                    <a:p>
                      <a:pPr indent="0" marL="0">
                        <a:buNone/>
                      </a:pPr>
                      <a:r>
                        <a:rPr lang="en-US" sz="850" dirty="0">
                          <a:solidFill>
                            <a:srgbClr val="C67A43"/>
                          </a:solidFill>
                          <a:latin typeface="Arial" pitchFamily="34" charset="0"/>
                          <a:ea typeface="Arial" pitchFamily="34" charset="-122"/>
                          <a:cs typeface="Arial" pitchFamily="34" charset="-120"/>
                        </a:rPr>
                        <a:t>TO SUPPLY — by primary end market</a:t>
                      </a:r>
                      <a:endParaRPr lang="en-US" sz="850" dirty="0">
                        <a:latin typeface="Arial" charset="0"/>
                        <a:ea typeface="Arial" charset="0"/>
                        <a:cs typeface="Arial" charset="0"/>
                      </a:endParaRPr>
                    </a:p>
                  </a:txBody>
                  <a:tcPr marL="64008" marR="64008" marT="27432" marB="27432"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tcPr>
                </a:tc>
                <a:tc>
                  <a:txBody>
                    <a:bodyPr/>
                    <a:lstStyle/>
                    <a:p>
                      <a:pPr indent="0" marL="0">
                        <a:buNone/>
                      </a:pPr>
                      <a:r>
                        <a:rPr lang="en-US" sz="850" dirty="0">
                          <a:solidFill>
                            <a:srgbClr val="1A1D21"/>
                          </a:solidFill>
                          <a:latin typeface="Arial" pitchFamily="34" charset="0"/>
                          <a:ea typeface="Arial" pitchFamily="34" charset="-122"/>
                          <a:cs typeface="Arial" pitchFamily="34" charset="-120"/>
                        </a:rPr>
                        <a:t>PG for generation projects</a:t>
                      </a:r>
                      <a:endParaRPr lang="en-US" sz="850" dirty="0">
                        <a:latin typeface="Arial" charset="0"/>
                        <a:ea typeface="Arial" charset="0"/>
                        <a:cs typeface="Arial" charset="0"/>
                      </a:endParaRPr>
                    </a:p>
                  </a:txBody>
                  <a:tcPr marL="64008" marR="64008" marT="27432" marB="27432"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tcPr>
                </a:tc>
                <a:tc>
                  <a:txBody>
                    <a:bodyPr/>
                    <a:lstStyle/>
                    <a:p>
                      <a:pPr indent="0" marL="0">
                        <a:buNone/>
                      </a:pPr>
                      <a:r>
                        <a:rPr lang="en-US" sz="850" dirty="0">
                          <a:solidFill>
                            <a:srgbClr val="6B7075"/>
                          </a:solidFill>
                          <a:latin typeface="Arial" pitchFamily="34" charset="0"/>
                          <a:ea typeface="Arial" pitchFamily="34" charset="-122"/>
                          <a:cs typeface="Arial" pitchFamily="34" charset="-120"/>
                        </a:rPr>
                        <a:t>Corporate coordinator rule for EPCs, before Jack asks</a:t>
                      </a:r>
                      <a:endParaRPr lang="en-US" sz="850" dirty="0">
                        <a:latin typeface="Arial" charset="0"/>
                        <a:ea typeface="Arial" charset="0"/>
                        <a:cs typeface="Arial" charset="0"/>
                      </a:endParaRPr>
                    </a:p>
                  </a:txBody>
                  <a:tcPr marL="64008" marR="64008" marT="27432" marB="27432"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tcPr>
                </a:tc>
              </a:tr>
              <a:tr h="384048">
                <a:tc>
                  <a:txBody>
                    <a:bodyPr/>
                    <a:lstStyle/>
                    <a:p>
                      <a:pPr indent="0" marL="0">
                        <a:buNone/>
                      </a:pPr>
                      <a:r>
                        <a:rPr lang="en-US" sz="850" b="1" dirty="0">
                          <a:solidFill>
                            <a:srgbClr val="1A1D21"/>
                          </a:solidFill>
                          <a:latin typeface="Arial" pitchFamily="34" charset="0"/>
                          <a:ea typeface="Arial" pitchFamily="34" charset="-122"/>
                          <a:cs typeface="Arial" pitchFamily="34" charset="-120"/>
                        </a:rPr>
                        <a:t>nVent / Trachte (eHouses)</a:t>
                      </a:r>
                      <a:endParaRPr lang="en-US" sz="850" dirty="0">
                        <a:latin typeface="Arial" charset="0"/>
                        <a:ea typeface="Arial" charset="0"/>
                        <a:cs typeface="Arial" charset="0"/>
                      </a:endParaRPr>
                    </a:p>
                  </a:txBody>
                  <a:tcPr marL="64008" marR="64008" marT="27432" marB="27432"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tcPr>
                </a:tc>
                <a:tc>
                  <a:txBody>
                    <a:bodyPr/>
                    <a:lstStyle/>
                    <a:p>
                      <a:pPr indent="0" marL="0">
                        <a:buNone/>
                      </a:pPr>
                      <a:r>
                        <a:rPr lang="en-US" sz="850" dirty="0">
                          <a:solidFill>
                            <a:srgbClr val="C67A43"/>
                          </a:solidFill>
                          <a:latin typeface="Arial" pitchFamily="34" charset="0"/>
                          <a:ea typeface="Arial" pitchFamily="34" charset="-122"/>
                          <a:cs typeface="Arial" pitchFamily="34" charset="-120"/>
                        </a:rPr>
                        <a:t>TO SUPPLY</a:t>
                      </a:r>
                      <a:endParaRPr lang="en-US" sz="850" dirty="0">
                        <a:latin typeface="Arial" charset="0"/>
                        <a:ea typeface="Arial" charset="0"/>
                        <a:cs typeface="Arial" charset="0"/>
                      </a:endParaRPr>
                    </a:p>
                  </a:txBody>
                  <a:tcPr marL="64008" marR="64008" marT="27432" marB="27432"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tcPr>
                </a:tc>
                <a:tc>
                  <a:txBody>
                    <a:bodyPr/>
                    <a:lstStyle/>
                    <a:p>
                      <a:pPr indent="0" marL="0">
                        <a:buNone/>
                      </a:pPr>
                      <a:r>
                        <a:rPr lang="en-US" sz="850" dirty="0">
                          <a:solidFill>
                            <a:srgbClr val="1A1D21"/>
                          </a:solidFill>
                          <a:latin typeface="Arial" pitchFamily="34" charset="0"/>
                          <a:ea typeface="Arial" pitchFamily="34" charset="-122"/>
                          <a:cs typeface="Arial" pitchFamily="34" charset="-120"/>
                        </a:rPr>
                        <a:t>By project end-use</a:t>
                      </a:r>
                      <a:endParaRPr lang="en-US" sz="850" dirty="0">
                        <a:latin typeface="Arial" charset="0"/>
                        <a:ea typeface="Arial" charset="0"/>
                        <a:cs typeface="Arial" charset="0"/>
                      </a:endParaRPr>
                    </a:p>
                  </a:txBody>
                  <a:tcPr marL="64008" marR="64008" marT="27432" marB="27432"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tcPr>
                </a:tc>
                <a:tc>
                  <a:txBody>
                    <a:bodyPr/>
                    <a:lstStyle/>
                    <a:p>
                      <a:pPr indent="0" marL="0">
                        <a:buNone/>
                      </a:pPr>
                      <a:r>
                        <a:rPr lang="en-US" sz="850" dirty="0">
                          <a:solidFill>
                            <a:srgbClr val="6B7075"/>
                          </a:solidFill>
                          <a:latin typeface="Arial" pitchFamily="34" charset="0"/>
                          <a:ea typeface="Arial" pitchFamily="34" charset="-122"/>
                          <a:cs typeface="Arial" pitchFamily="34" charset="-120"/>
                        </a:rPr>
                        <a:t>First account through the rubric, with Tim</a:t>
                      </a:r>
                      <a:endParaRPr lang="en-US" sz="850" dirty="0">
                        <a:latin typeface="Arial" charset="0"/>
                        <a:ea typeface="Arial" charset="0"/>
                        <a:cs typeface="Arial" charset="0"/>
                      </a:endParaRPr>
                    </a:p>
                  </a:txBody>
                  <a:tcPr marL="64008" marR="64008" marT="27432" marB="27432"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tcPr>
                </a:tc>
              </a:tr>
              <a:tr h="384048">
                <a:tc>
                  <a:txBody>
                    <a:bodyPr/>
                    <a:lstStyle/>
                    <a:p>
                      <a:pPr indent="0" marL="0">
                        <a:buNone/>
                      </a:pPr>
                      <a:r>
                        <a:rPr lang="en-US" sz="850" b="1" dirty="0">
                          <a:solidFill>
                            <a:srgbClr val="1A1D21"/>
                          </a:solidFill>
                          <a:latin typeface="Arial" pitchFamily="34" charset="0"/>
                          <a:ea typeface="Arial" pitchFamily="34" charset="-122"/>
                          <a:cs typeface="Arial" pitchFamily="34" charset="-120"/>
                        </a:rPr>
                        <a:t>BESS integrators (Fluence · Tesla…)</a:t>
                      </a:r>
                      <a:endParaRPr lang="en-US" sz="850" dirty="0">
                        <a:latin typeface="Arial" charset="0"/>
                        <a:ea typeface="Arial" charset="0"/>
                        <a:cs typeface="Arial" charset="0"/>
                      </a:endParaRPr>
                    </a:p>
                  </a:txBody>
                  <a:tcPr marL="64008" marR="64008" marT="27432" marB="27432"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tcPr>
                </a:tc>
                <a:tc>
                  <a:txBody>
                    <a:bodyPr/>
                    <a:lstStyle/>
                    <a:p>
                      <a:pPr indent="0" marL="0">
                        <a:buNone/>
                      </a:pPr>
                      <a:r>
                        <a:rPr lang="en-US" sz="850" dirty="0">
                          <a:solidFill>
                            <a:srgbClr val="C67A43"/>
                          </a:solidFill>
                          <a:latin typeface="Arial" pitchFamily="34" charset="0"/>
                          <a:ea typeface="Arial" pitchFamily="34" charset="-122"/>
                          <a:cs typeface="Arial" pitchFamily="34" charset="-120"/>
                        </a:rPr>
                        <a:t>TO SUPPLY — Renewables vs PG</a:t>
                      </a:r>
                      <a:endParaRPr lang="en-US" sz="850" dirty="0">
                        <a:latin typeface="Arial" charset="0"/>
                        <a:ea typeface="Arial" charset="0"/>
                        <a:cs typeface="Arial" charset="0"/>
                      </a:endParaRPr>
                    </a:p>
                  </a:txBody>
                  <a:tcPr marL="64008" marR="64008" marT="27432" marB="27432"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tcPr>
                </a:tc>
                <a:tc>
                  <a:txBody>
                    <a:bodyPr/>
                    <a:lstStyle/>
                    <a:p>
                      <a:pPr indent="0" marL="0">
                        <a:buNone/>
                      </a:pPr>
                      <a:r>
                        <a:rPr lang="en-US" sz="850" dirty="0">
                          <a:solidFill>
                            <a:srgbClr val="1A1D21"/>
                          </a:solidFill>
                          <a:latin typeface="Arial" pitchFamily="34" charset="0"/>
                          <a:ea typeface="Arial" pitchFamily="34" charset="-122"/>
                          <a:cs typeface="Arial" pitchFamily="34" charset="-120"/>
                        </a:rPr>
                        <a:t>PG or Renewables grid-side · DC facility-side</a:t>
                      </a:r>
                      <a:endParaRPr lang="en-US" sz="850" dirty="0">
                        <a:latin typeface="Arial" charset="0"/>
                        <a:ea typeface="Arial" charset="0"/>
                        <a:cs typeface="Arial" charset="0"/>
                      </a:endParaRPr>
                    </a:p>
                  </a:txBody>
                  <a:tcPr marL="64008" marR="64008" marT="27432" marB="27432"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tcPr>
                </a:tc>
                <a:tc>
                  <a:txBody>
                    <a:bodyPr/>
                    <a:lstStyle/>
                    <a:p>
                      <a:pPr indent="0" marL="0">
                        <a:buNone/>
                      </a:pPr>
                      <a:r>
                        <a:rPr lang="en-US" sz="850" dirty="0">
                          <a:solidFill>
                            <a:srgbClr val="6B7075"/>
                          </a:solidFill>
                          <a:latin typeface="Arial" pitchFamily="34" charset="0"/>
                          <a:ea typeface="Arial" pitchFamily="34" charset="-122"/>
                          <a:cs typeface="Arial" pitchFamily="34" charset="-120"/>
                        </a:rPr>
                        <a:t>Where grid-side BESS sits; not ready for Jack</a:t>
                      </a:r>
                      <a:endParaRPr lang="en-US" sz="850" dirty="0">
                        <a:latin typeface="Arial" charset="0"/>
                        <a:ea typeface="Arial" charset="0"/>
                        <a:cs typeface="Arial" charset="0"/>
                      </a:endParaRPr>
                    </a:p>
                  </a:txBody>
                  <a:tcPr marL="64008" marR="64008" marT="27432" marB="27432"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tcPr>
                </a:tc>
              </a:tr>
              <a:tr h="384048">
                <a:tc>
                  <a:txBody>
                    <a:bodyPr/>
                    <a:lstStyle/>
                    <a:p>
                      <a:pPr indent="0" marL="0">
                        <a:buNone/>
                      </a:pPr>
                      <a:r>
                        <a:rPr lang="en-US" sz="850" b="1" dirty="0">
                          <a:solidFill>
                            <a:srgbClr val="1A1D21"/>
                          </a:solidFill>
                          <a:latin typeface="Arial" pitchFamily="34" charset="0"/>
                          <a:ea typeface="Arial" pitchFamily="34" charset="-122"/>
                          <a:cs typeface="Arial" pitchFamily="34" charset="-120"/>
                        </a:rPr>
                        <a:t>Cooling / HVAC OEMs</a:t>
                      </a:r>
                      <a:endParaRPr lang="en-US" sz="850" dirty="0">
                        <a:latin typeface="Arial" charset="0"/>
                        <a:ea typeface="Arial" charset="0"/>
                        <a:cs typeface="Arial" charset="0"/>
                      </a:endParaRPr>
                    </a:p>
                  </a:txBody>
                  <a:tcPr marL="64008" marR="64008" marT="27432" marB="27432"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tcPr>
                </a:tc>
                <a:tc>
                  <a:txBody>
                    <a:bodyPr/>
                    <a:lstStyle/>
                    <a:p>
                      <a:pPr indent="0" marL="0">
                        <a:buNone/>
                      </a:pPr>
                      <a:r>
                        <a:rPr lang="en-US" sz="850" dirty="0">
                          <a:solidFill>
                            <a:srgbClr val="1A1D21"/>
                          </a:solidFill>
                          <a:latin typeface="Arial" pitchFamily="34" charset="0"/>
                          <a:ea typeface="Arial" pitchFamily="34" charset="-122"/>
                          <a:cs typeface="Arial" pitchFamily="34" charset="-120"/>
                        </a:rPr>
                        <a:t>DC</a:t>
                      </a:r>
                      <a:endParaRPr lang="en-US" sz="850" dirty="0">
                        <a:latin typeface="Arial" charset="0"/>
                        <a:ea typeface="Arial" charset="0"/>
                        <a:cs typeface="Arial" charset="0"/>
                      </a:endParaRPr>
                    </a:p>
                  </a:txBody>
                  <a:tcPr marL="64008" marR="64008" marT="27432" marB="27432"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tcPr>
                </a:tc>
                <a:tc>
                  <a:txBody>
                    <a:bodyPr/>
                    <a:lstStyle/>
                    <a:p>
                      <a:pPr indent="0" marL="0">
                        <a:buNone/>
                      </a:pPr>
                      <a:r>
                        <a:rPr lang="en-US" sz="850" dirty="0">
                          <a:solidFill>
                            <a:srgbClr val="1A1D21"/>
                          </a:solidFill>
                          <a:latin typeface="Arial" pitchFamily="34" charset="0"/>
                          <a:ea typeface="Arial" pitchFamily="34" charset="-122"/>
                          <a:cs typeface="Arial" pitchFamily="34" charset="-120"/>
                        </a:rPr>
                        <a:t>DC</a:t>
                      </a:r>
                      <a:endParaRPr lang="en-US" sz="850" dirty="0">
                        <a:latin typeface="Arial" charset="0"/>
                        <a:ea typeface="Arial" charset="0"/>
                        <a:cs typeface="Arial" charset="0"/>
                      </a:endParaRPr>
                    </a:p>
                  </a:txBody>
                  <a:tcPr marL="64008" marR="64008" marT="27432" marB="27432"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tcPr>
                </a:tc>
                <a:tc>
                  <a:txBody>
                    <a:bodyPr/>
                    <a:lstStyle/>
                    <a:p>
                      <a:pPr indent="0" marL="0">
                        <a:buNone/>
                      </a:pPr>
                      <a:r>
                        <a:rPr lang="en-US" sz="850" dirty="0">
                          <a:solidFill>
                            <a:srgbClr val="6B7075"/>
                          </a:solidFill>
                          <a:latin typeface="Arial" pitchFamily="34" charset="0"/>
                          <a:ea typeface="Arial" pitchFamily="34" charset="-122"/>
                          <a:cs typeface="Arial" pitchFamily="34" charset="-120"/>
                        </a:rPr>
                        <a:t>None — listed to show PG is not claiming everything</a:t>
                      </a:r>
                      <a:endParaRPr lang="en-US" sz="850" dirty="0">
                        <a:latin typeface="Arial" charset="0"/>
                        <a:ea typeface="Arial" charset="0"/>
                        <a:cs typeface="Arial" charset="0"/>
                      </a:endParaRPr>
                    </a:p>
                  </a:txBody>
                  <a:tcPr marL="64008" marR="64008" marT="27432" marB="27432"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tcPr>
                </a:tc>
              </a:tr>
            </a:tbl>
          </a:graphicData>
        </a:graphic>
      </p:graphicFrame>
      <p:sp>
        <p:nvSpPr>
          <p:cNvPr id="5" name="Text 2"/>
          <p:cNvSpPr txBox="1"/>
          <p:nvPr/>
        </p:nvSpPr>
        <p:spPr>
          <a:xfrm>
            <a:off x="548640" y="5943600"/>
            <a:ext cx="11091672" cy="457200"/>
          </a:xfrm>
          <a:prstGeom prst="rect">
            <a:avLst/>
          </a:prstGeom>
          <a:noFill/>
          <a:ln/>
        </p:spPr>
        <p:txBody>
          <a:bodyPr wrap="square" lIns="0" tIns="0" rIns="0" bIns="0" rtlCol="0" anchor="t"/>
          <a:lstStyle/>
          <a:p>
            <a:pPr indent="0" marL="0">
              <a:buNone/>
            </a:pPr>
            <a:r>
              <a:rPr lang="en-US" sz="950" i="1" dirty="0">
                <a:solidFill>
                  <a:srgbClr val="6B7075"/>
                </a:solidFill>
                <a:latin typeface="Arial" pitchFamily="34" charset="0"/>
                <a:ea typeface="Arial" pitchFamily="34" charset="-122"/>
                <a:cs typeface="Arial" pitchFamily="34" charset="-120"/>
              </a:rPr>
              <a:t>July quoting on these accounts: Powell ~$3.4M · Enchanted Rock $2.3M (~40% GM) · VoltaGrid $1M · nVent/Trachte ~$3M — quoting, not bookings [F]. Every proposed lead is conditional on Tim's documented activity — TO SUPPLY.</a:t>
            </a:r>
            <a:endParaRPr lang="en-US" sz="950" dirty="0"/>
          </a:p>
        </p:txBody>
      </p:sp>
      <p:sp>
        <p:nvSpPr>
          <p:cNvPr id="6" name="Text 3"/>
          <p:cNvSpPr txBox="1"/>
          <p:nvPr/>
        </p:nvSpPr>
        <p:spPr>
          <a:xfrm>
            <a:off x="548640" y="6510528"/>
            <a:ext cx="5029200" cy="237744"/>
          </a:xfrm>
          <a:prstGeom prst="rect">
            <a:avLst/>
          </a:prstGeom>
          <a:noFill/>
          <a:ln/>
        </p:spPr>
        <p:txBody>
          <a:bodyPr wrap="square" lIns="0" tIns="0" rIns="0" bIns="0" rtlCol="0" anchor="ctr"/>
          <a:lstStyle/>
          <a:p>
            <a:pPr algn="l" indent="0" marL="0">
              <a:buNone/>
            </a:pPr>
            <a:r>
              <a:rPr lang="en-US" sz="800" dirty="0">
                <a:solidFill>
                  <a:srgbClr val="9A9FA4"/>
                </a:solidFill>
                <a:latin typeface="Arial" pitchFamily="34" charset="0"/>
                <a:ea typeface="Arial" pitchFamily="34" charset="-122"/>
                <a:cs typeface="Arial" pitchFamily="34" charset="-120"/>
              </a:rPr>
              <a:t>Stephan Hardt · Power Generation Solutions</a:t>
            </a:r>
            <a:endParaRPr lang="en-US" sz="800" dirty="0"/>
          </a:p>
        </p:txBody>
      </p:sp>
      <p:sp>
        <p:nvSpPr>
          <p:cNvPr id="7" name="Text 4"/>
          <p:cNvSpPr txBox="1"/>
          <p:nvPr/>
        </p:nvSpPr>
        <p:spPr>
          <a:xfrm>
            <a:off x="5943600" y="6510528"/>
            <a:ext cx="5696712" cy="237744"/>
          </a:xfrm>
          <a:prstGeom prst="rect">
            <a:avLst/>
          </a:prstGeom>
          <a:noFill/>
          <a:ln/>
        </p:spPr>
        <p:txBody>
          <a:bodyPr wrap="square" lIns="0" tIns="0" rIns="0" bIns="0" rtlCol="0" anchor="ctr"/>
          <a:lstStyle/>
          <a:p>
            <a:pPr algn="r" indent="0" marL="0">
              <a:buNone/>
            </a:pPr>
            <a:r>
              <a:rPr lang="en-US" sz="800" dirty="0">
                <a:solidFill>
                  <a:srgbClr val="9A9FA4"/>
                </a:solidFill>
                <a:latin typeface="Arial" pitchFamily="34" charset="0"/>
                <a:ea typeface="Arial" pitchFamily="34" charset="-122"/>
                <a:cs typeface="Arial" pitchFamily="34" charset="-120"/>
              </a:rPr>
              <a:t>SWR-PG-ROE Rev 00 · Working draft — Southwire internal · slide 9 of 14</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1D21"/>
        </a:solidFill>
      </p:bgPr>
    </p:bg>
    <p:spTree>
      <p:nvGrpSpPr>
        <p:cNvPr id="1" name=""/>
        <p:cNvGrpSpPr/>
        <p:nvPr/>
      </p:nvGrpSpPr>
      <p:grpSpPr>
        <a:xfrm>
          <a:off x="0" y="0"/>
          <a:ext cx="0" cy="0"/>
          <a:chOff x="0" y="0"/>
          <a:chExt cx="0" cy="0"/>
        </a:xfrm>
      </p:grpSpPr>
      <p:sp>
        <p:nvSpPr>
          <p:cNvPr id="2" name="Text 0"/>
          <p:cNvSpPr txBox="1"/>
          <p:nvPr/>
        </p:nvSpPr>
        <p:spPr>
          <a:xfrm>
            <a:off x="548640" y="438912"/>
            <a:ext cx="11091672" cy="274320"/>
          </a:xfrm>
          <a:prstGeom prst="rect">
            <a:avLst/>
          </a:prstGeom>
          <a:noFill/>
          <a:ln/>
        </p:spPr>
        <p:txBody>
          <a:bodyPr wrap="square" lIns="0" tIns="0" rIns="0" bIns="0" rtlCol="0" anchor="ctr"/>
          <a:lstStyle/>
          <a:p>
            <a:pPr algn="l" indent="0" marL="0">
              <a:buNone/>
            </a:pPr>
            <a:r>
              <a:rPr lang="en-US" sz="1050" b="1" spc="200" kern="0" dirty="0">
                <a:solidFill>
                  <a:srgbClr val="C67A43"/>
                </a:solidFill>
                <a:latin typeface="Arial" pitchFamily="34" charset="0"/>
                <a:ea typeface="Arial" pitchFamily="34" charset="-122"/>
                <a:cs typeface="Arial" pitchFamily="34" charset="-120"/>
              </a:rPr>
              <a:t>OUTSIDE-IN — WHAT PEERS AND PUBLISHED PRACTICE ACTUALLY DO</a:t>
            </a:r>
            <a:endParaRPr lang="en-US" sz="1050" dirty="0"/>
          </a:p>
        </p:txBody>
      </p:sp>
      <p:sp>
        <p:nvSpPr>
          <p:cNvPr id="3" name="Text 1"/>
          <p:cNvSpPr txBox="1"/>
          <p:nvPr/>
        </p:nvSpPr>
        <p:spPr>
          <a:xfrm>
            <a:off x="548640" y="768096"/>
            <a:ext cx="11091672" cy="640080"/>
          </a:xfrm>
          <a:prstGeom prst="rect">
            <a:avLst/>
          </a:prstGeom>
          <a:noFill/>
          <a:ln/>
        </p:spPr>
        <p:txBody>
          <a:bodyPr wrap="square" lIns="0" tIns="0" rIns="0" bIns="0" rtlCol="0" anchor="t"/>
          <a:lstStyle/>
          <a:p>
            <a:pPr algn="l" indent="0" marL="0">
              <a:buNone/>
            </a:pPr>
            <a:r>
              <a:rPr lang="en-US" sz="2700" b="1" dirty="0">
                <a:solidFill>
                  <a:srgbClr val="FFFFFF"/>
                </a:solidFill>
                <a:latin typeface="Arial" pitchFamily="34" charset="0"/>
                <a:ea typeface="Arial" pitchFamily="34" charset="-122"/>
                <a:cs typeface="Arial" pitchFamily="34" charset="-120"/>
              </a:rPr>
              <a:t>No peer splits these into two account-owning teams. The buying center decides.</a:t>
            </a:r>
            <a:endParaRPr lang="en-US" sz="2700" dirty="0"/>
          </a:p>
        </p:txBody>
      </p:sp>
      <p:sp>
        <p:nvSpPr>
          <p:cNvPr id="4" name="Shape 2"/>
          <p:cNvSpPr/>
          <p:nvPr/>
        </p:nvSpPr>
        <p:spPr>
          <a:xfrm>
            <a:off x="566928" y="1810512"/>
            <a:ext cx="82296" cy="82296"/>
          </a:xfrm>
          <a:prstGeom prst="ellipse">
            <a:avLst/>
          </a:prstGeom>
          <a:solidFill>
            <a:srgbClr val="C67A43"/>
          </a:solidFill>
          <a:ln/>
        </p:spPr>
      </p:sp>
      <p:sp>
        <p:nvSpPr>
          <p:cNvPr id="5" name="Text 3"/>
          <p:cNvSpPr txBox="1"/>
          <p:nvPr/>
        </p:nvSpPr>
        <p:spPr>
          <a:xfrm>
            <a:off x="868680" y="1737360"/>
            <a:ext cx="10698480" cy="6858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Prysmian, Eaton and Hubbell run product/segment structures and treat data center as a cross-cutting demand theme — coordinated across divisions, one face to the customer.</a:t>
            </a:r>
            <a:endParaRPr lang="en-US" sz="1200" dirty="0"/>
          </a:p>
        </p:txBody>
      </p:sp>
      <p:sp>
        <p:nvSpPr>
          <p:cNvPr id="6" name="Shape 4"/>
          <p:cNvSpPr/>
          <p:nvPr/>
        </p:nvSpPr>
        <p:spPr>
          <a:xfrm>
            <a:off x="566928" y="2587752"/>
            <a:ext cx="82296" cy="82296"/>
          </a:xfrm>
          <a:prstGeom prst="ellipse">
            <a:avLst/>
          </a:prstGeom>
          <a:solidFill>
            <a:srgbClr val="C67A43"/>
          </a:solidFill>
          <a:ln/>
        </p:spPr>
      </p:sp>
      <p:sp>
        <p:nvSpPr>
          <p:cNvPr id="7" name="Text 5"/>
          <p:cNvSpPr txBox="1"/>
          <p:nvPr/>
        </p:nvSpPr>
        <p:spPr>
          <a:xfrm>
            <a:off x="868680" y="2514600"/>
            <a:ext cx="10698480" cy="6858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Schneider names the vertical outright; Hubbell publicly credits sales-force alignment for its data-center share gains.</a:t>
            </a:r>
            <a:endParaRPr lang="en-US" sz="1200" dirty="0"/>
          </a:p>
        </p:txBody>
      </p:sp>
      <p:sp>
        <p:nvSpPr>
          <p:cNvPr id="8" name="Shape 6"/>
          <p:cNvSpPr/>
          <p:nvPr/>
        </p:nvSpPr>
        <p:spPr>
          <a:xfrm>
            <a:off x="566928" y="3364992"/>
            <a:ext cx="82296" cy="82296"/>
          </a:xfrm>
          <a:prstGeom prst="ellipse">
            <a:avLst/>
          </a:prstGeom>
          <a:solidFill>
            <a:srgbClr val="C67A43"/>
          </a:solidFill>
          <a:ln/>
        </p:spPr>
      </p:sp>
      <p:sp>
        <p:nvSpPr>
          <p:cNvPr id="9" name="Text 7"/>
          <p:cNvSpPr txBox="1"/>
          <p:nvPr/>
        </p:nvSpPr>
        <p:spPr>
          <a:xfrm>
            <a:off x="868680" y="3291840"/>
            <a:ext cx="10698480" cy="6858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Powell's largest-ever data-center order is itself a behind-the-meter generation asset — the overlap is structural, not a Southwire artifact.</a:t>
            </a:r>
            <a:endParaRPr lang="en-US" sz="1200" dirty="0"/>
          </a:p>
        </p:txBody>
      </p:sp>
      <p:sp>
        <p:nvSpPr>
          <p:cNvPr id="10" name="Shape 8"/>
          <p:cNvSpPr/>
          <p:nvPr/>
        </p:nvSpPr>
        <p:spPr>
          <a:xfrm>
            <a:off x="566928" y="4142232"/>
            <a:ext cx="82296" cy="82296"/>
          </a:xfrm>
          <a:prstGeom prst="ellipse">
            <a:avLst/>
          </a:prstGeom>
          <a:solidFill>
            <a:srgbClr val="C67A43"/>
          </a:solidFill>
          <a:ln/>
        </p:spPr>
      </p:sp>
      <p:sp>
        <p:nvSpPr>
          <p:cNvPr id="11" name="Text 9"/>
          <p:cNvSpPr txBox="1"/>
          <p:nvPr/>
        </p:nvSpPr>
        <p:spPr>
          <a:xfrm>
            <a:off x="868680" y="4069080"/>
            <a:ext cx="10698480" cy="6858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Hyperscaler generation purchases run through named energy / power-procurement teams (Google, Microsoft), distinct from facility construction.</a:t>
            </a:r>
            <a:endParaRPr lang="en-US" sz="1200" dirty="0"/>
          </a:p>
        </p:txBody>
      </p:sp>
      <p:sp>
        <p:nvSpPr>
          <p:cNvPr id="12" name="Shape 10"/>
          <p:cNvSpPr/>
          <p:nvPr/>
        </p:nvSpPr>
        <p:spPr>
          <a:xfrm>
            <a:off x="566928" y="4919472"/>
            <a:ext cx="82296" cy="82296"/>
          </a:xfrm>
          <a:prstGeom prst="ellipse">
            <a:avLst/>
          </a:prstGeom>
          <a:solidFill>
            <a:srgbClr val="C67A43"/>
          </a:solidFill>
          <a:ln/>
        </p:spPr>
      </p:sp>
      <p:sp>
        <p:nvSpPr>
          <p:cNvPr id="13" name="Text 11"/>
          <p:cNvSpPr txBox="1"/>
          <p:nvPr/>
        </p:nvSpPr>
        <p:spPr>
          <a:xfrm>
            <a:off x="868680" y="4846320"/>
            <a:ext cx="10698480" cy="6858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Published practice: separate account from opportunity ownership · written rules of engagement with CRM enforcement · 30-60-90 grandfathering · monthly re-planning · bespoke treatment only for the top overlap accounts.</a:t>
            </a:r>
            <a:endParaRPr lang="en-US" sz="1200" dirty="0"/>
          </a:p>
        </p:txBody>
      </p:sp>
      <p:sp>
        <p:nvSpPr>
          <p:cNvPr id="14" name="Text 12"/>
          <p:cNvSpPr txBox="1"/>
          <p:nvPr/>
        </p:nvSpPr>
        <p:spPr>
          <a:xfrm>
            <a:off x="548640" y="5806440"/>
            <a:ext cx="11091672" cy="365760"/>
          </a:xfrm>
          <a:prstGeom prst="rect">
            <a:avLst/>
          </a:prstGeom>
          <a:noFill/>
          <a:ln/>
        </p:spPr>
        <p:txBody>
          <a:bodyPr wrap="square" lIns="0" tIns="0" rIns="0" bIns="0" rtlCol="0" anchor="ctr"/>
          <a:lstStyle/>
          <a:p>
            <a:pPr indent="0" marL="0">
              <a:buNone/>
            </a:pPr>
            <a:r>
              <a:rPr lang="en-US" sz="1500" b="1" dirty="0">
                <a:solidFill>
                  <a:srgbClr val="C67A43"/>
                </a:solidFill>
                <a:latin typeface="Arial" pitchFamily="34" charset="0"/>
                <a:ea typeface="Arial" pitchFamily="34" charset="-122"/>
                <a:cs typeface="Arial" pitchFamily="34" charset="-120"/>
              </a:rPr>
              <a:t>One face, many specialists — written rules, not walls.</a:t>
            </a:r>
            <a:endParaRPr lang="en-US" sz="1500" dirty="0"/>
          </a:p>
        </p:txBody>
      </p:sp>
      <p:sp>
        <p:nvSpPr>
          <p:cNvPr id="15" name="Text 13"/>
          <p:cNvSpPr txBox="1"/>
          <p:nvPr/>
        </p:nvSpPr>
        <p:spPr>
          <a:xfrm>
            <a:off x="548640" y="6510528"/>
            <a:ext cx="5029200" cy="237744"/>
          </a:xfrm>
          <a:prstGeom prst="rect">
            <a:avLst/>
          </a:prstGeom>
          <a:noFill/>
          <a:ln/>
        </p:spPr>
        <p:txBody>
          <a:bodyPr wrap="square" lIns="0" tIns="0" rIns="0" bIns="0" rtlCol="0" anchor="ctr"/>
          <a:lstStyle/>
          <a:p>
            <a:pPr algn="l" indent="0" marL="0">
              <a:buNone/>
            </a:pPr>
            <a:r>
              <a:rPr lang="en-US" sz="800" dirty="0">
                <a:solidFill>
                  <a:srgbClr val="8C9299"/>
                </a:solidFill>
                <a:latin typeface="Arial" pitchFamily="34" charset="0"/>
                <a:ea typeface="Arial" pitchFamily="34" charset="-122"/>
                <a:cs typeface="Arial" pitchFamily="34" charset="-120"/>
              </a:rPr>
              <a:t>Stephan Hardt · Power Generation Solutions</a:t>
            </a:r>
            <a:endParaRPr lang="en-US" sz="800" dirty="0"/>
          </a:p>
        </p:txBody>
      </p:sp>
      <p:sp>
        <p:nvSpPr>
          <p:cNvPr id="16" name="Text 14"/>
          <p:cNvSpPr txBox="1"/>
          <p:nvPr/>
        </p:nvSpPr>
        <p:spPr>
          <a:xfrm>
            <a:off x="5943600" y="6510528"/>
            <a:ext cx="5696712" cy="237744"/>
          </a:xfrm>
          <a:prstGeom prst="rect">
            <a:avLst/>
          </a:prstGeom>
          <a:noFill/>
          <a:ln/>
        </p:spPr>
        <p:txBody>
          <a:bodyPr wrap="square" lIns="0" tIns="0" rIns="0" bIns="0" rtlCol="0" anchor="ctr"/>
          <a:lstStyle/>
          <a:p>
            <a:pPr algn="r" indent="0" marL="0">
              <a:buNone/>
            </a:pPr>
            <a:r>
              <a:rPr lang="en-US" sz="800" dirty="0">
                <a:solidFill>
                  <a:srgbClr val="8C9299"/>
                </a:solidFill>
                <a:latin typeface="Arial" pitchFamily="34" charset="0"/>
                <a:ea typeface="Arial" pitchFamily="34" charset="-122"/>
                <a:cs typeface="Arial" pitchFamily="34" charset="-120"/>
              </a:rPr>
              <a:t>SWR-PG-ROE Rev 00 · Working draft — Southwire internal · slide 10 of 14</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38912"/>
            <a:ext cx="11091672" cy="274320"/>
          </a:xfrm>
          <a:prstGeom prst="rect">
            <a:avLst/>
          </a:prstGeom>
          <a:noFill/>
          <a:ln/>
        </p:spPr>
        <p:txBody>
          <a:bodyPr wrap="square" lIns="0" tIns="0" rIns="0" bIns="0" rtlCol="0" anchor="ctr"/>
          <a:lstStyle/>
          <a:p>
            <a:pPr algn="l" indent="0" marL="0">
              <a:buNone/>
            </a:pPr>
            <a:r>
              <a:rPr lang="en-US" sz="1050" b="1" spc="200" kern="0" dirty="0">
                <a:solidFill>
                  <a:srgbClr val="C67A43"/>
                </a:solidFill>
                <a:latin typeface="Arial" pitchFamily="34" charset="0"/>
                <a:ea typeface="Arial" pitchFamily="34" charset="-122"/>
                <a:cs typeface="Arial" pitchFamily="34" charset="-120"/>
              </a:rPr>
              <a:t>WHAT THE BOUNDARY IS WORTH</a:t>
            </a:r>
            <a:endParaRPr lang="en-US" sz="1050" dirty="0"/>
          </a:p>
        </p:txBody>
      </p:sp>
      <p:sp>
        <p:nvSpPr>
          <p:cNvPr id="3" name="Text 1"/>
          <p:cNvSpPr txBox="1"/>
          <p:nvPr/>
        </p:nvSpPr>
        <p:spPr>
          <a:xfrm>
            <a:off x="10561320" y="420624"/>
            <a:ext cx="1078992" cy="237744"/>
          </a:xfrm>
          <a:prstGeom prst="roundRect">
            <a:avLst>
              <a:gd name="adj" fmla="val 15385"/>
            </a:avLst>
          </a:prstGeom>
          <a:solidFill>
            <a:srgbClr val="C67A43"/>
          </a:solidFill>
          <a:ln/>
        </p:spPr>
        <p:txBody>
          <a:bodyPr wrap="square" lIns="0" tIns="0" rIns="0" bIns="0" rtlCol="0" anchor="ctr"/>
          <a:lstStyle/>
          <a:p>
            <a:pPr algn="ctr" indent="0" marL="0">
              <a:buNone/>
            </a:pPr>
            <a:r>
              <a:rPr lang="en-US" sz="800" b="1" spc="100" kern="0" dirty="0">
                <a:solidFill>
                  <a:srgbClr val="FFFFFF"/>
                </a:solidFill>
                <a:latin typeface="Arial" pitchFamily="34" charset="0"/>
                <a:ea typeface="Arial" pitchFamily="34" charset="-122"/>
                <a:cs typeface="Arial" pitchFamily="34" charset="-120"/>
              </a:rPr>
              <a:t>PROVISIONAL</a:t>
            </a:r>
            <a:endParaRPr lang="en-US" sz="800" dirty="0"/>
          </a:p>
        </p:txBody>
      </p:sp>
      <p:sp>
        <p:nvSpPr>
          <p:cNvPr id="4" name="Text 2"/>
          <p:cNvSpPr txBox="1"/>
          <p:nvPr/>
        </p:nvSpPr>
        <p:spPr>
          <a:xfrm>
            <a:off x="548640" y="768096"/>
            <a:ext cx="11091672" cy="640080"/>
          </a:xfrm>
          <a:prstGeom prst="rect">
            <a:avLst/>
          </a:prstGeom>
          <a:noFill/>
          <a:ln/>
        </p:spPr>
        <p:txBody>
          <a:bodyPr wrap="square" lIns="0" tIns="0" rIns="0" bIns="0" rtlCol="0" anchor="t"/>
          <a:lstStyle/>
          <a:p>
            <a:pPr algn="l" indent="0" marL="0">
              <a:buNone/>
            </a:pPr>
            <a:r>
              <a:rPr lang="en-US" sz="2900" b="1" dirty="0">
                <a:solidFill>
                  <a:srgbClr val="1A1D21"/>
                </a:solidFill>
                <a:latin typeface="Arial" pitchFamily="34" charset="0"/>
                <a:ea typeface="Arial" pitchFamily="34" charset="-122"/>
                <a:cs typeface="Arial" pitchFamily="34" charset="-120"/>
              </a:rPr>
              <a:t>$170–240M a year in gas-generation cable POs through 2030.</a:t>
            </a:r>
            <a:endParaRPr lang="en-US" sz="2900" dirty="0"/>
          </a:p>
        </p:txBody>
      </p:sp>
      <p:sp>
        <p:nvSpPr>
          <p:cNvPr id="5" name="Shape 3"/>
          <p:cNvSpPr/>
          <p:nvPr/>
        </p:nvSpPr>
        <p:spPr>
          <a:xfrm>
            <a:off x="566928" y="1810512"/>
            <a:ext cx="82296" cy="82296"/>
          </a:xfrm>
          <a:prstGeom prst="ellipse">
            <a:avLst/>
          </a:prstGeom>
          <a:solidFill>
            <a:srgbClr val="C67A43"/>
          </a:solidFill>
          <a:ln/>
        </p:spPr>
      </p:sp>
      <p:sp>
        <p:nvSpPr>
          <p:cNvPr id="6" name="Text 4"/>
          <p:cNvSpPr txBox="1"/>
          <p:nvPr/>
        </p:nvSpPr>
        <p:spPr>
          <a:xfrm>
            <a:off x="868680" y="1737360"/>
            <a:ext cx="10698480" cy="777240"/>
          </a:xfrm>
          <a:prstGeom prst="rect">
            <a:avLst/>
          </a:prstGeom>
          <a:noFill/>
          <a:ln/>
        </p:spPr>
        <p:txBody>
          <a:bodyPr wrap="square" lIns="0" tIns="0" rIns="0" bIns="0" rtlCol="0" anchor="t"/>
          <a:lstStyle/>
          <a:p>
            <a:pPr indent="0" marL="0">
              <a:buNone/>
            </a:pPr>
            <a:r>
              <a:rPr lang="en-US" sz="1200" dirty="0">
                <a:solidFill>
                  <a:srgbClr val="1A1D21"/>
                </a:solidFill>
                <a:latin typeface="Arial" pitchFamily="34" charset="0"/>
                <a:ea typeface="Arial" pitchFamily="34" charset="-122"/>
                <a:cs typeface="Arial" pitchFamily="34" charset="-120"/>
              </a:rPr>
              <a:t>Cumulative 2026–35 base ~$1.7B (scenario range $0.8B–$5.0B). Only 46% of named MW is evidence-backed and no internal quote, BOM or PO data is loaded — the model stays provisional until it is.</a:t>
            </a:r>
            <a:endParaRPr lang="en-US" sz="1200" dirty="0"/>
          </a:p>
        </p:txBody>
      </p:sp>
      <p:sp>
        <p:nvSpPr>
          <p:cNvPr id="7" name="Shape 5"/>
          <p:cNvSpPr/>
          <p:nvPr/>
        </p:nvSpPr>
        <p:spPr>
          <a:xfrm>
            <a:off x="566928" y="2706624"/>
            <a:ext cx="82296" cy="82296"/>
          </a:xfrm>
          <a:prstGeom prst="ellipse">
            <a:avLst/>
          </a:prstGeom>
          <a:solidFill>
            <a:srgbClr val="C67A43"/>
          </a:solidFill>
          <a:ln/>
        </p:spPr>
      </p:sp>
      <p:sp>
        <p:nvSpPr>
          <p:cNvPr id="8" name="Text 6"/>
          <p:cNvSpPr txBox="1"/>
          <p:nvPr/>
        </p:nvSpPr>
        <p:spPr>
          <a:xfrm>
            <a:off x="868680" y="2633472"/>
            <a:ext cx="10698480" cy="777240"/>
          </a:xfrm>
          <a:prstGeom prst="rect">
            <a:avLst/>
          </a:prstGeom>
          <a:noFill/>
          <a:ln/>
        </p:spPr>
        <p:txBody>
          <a:bodyPr wrap="square" lIns="0" tIns="0" rIns="0" bIns="0" rtlCol="0" anchor="t"/>
          <a:lstStyle/>
          <a:p>
            <a:pPr indent="0" marL="0">
              <a:buNone/>
            </a:pPr>
            <a:r>
              <a:rPr lang="en-US" sz="1200" dirty="0">
                <a:solidFill>
                  <a:srgbClr val="1A1D21"/>
                </a:solidFill>
                <a:latin typeface="Arial" pitchFamily="34" charset="0"/>
                <a:ea typeface="Arial" pitchFamily="34" charset="-122"/>
                <a:cs typeface="Arial" pitchFamily="34" charset="-120"/>
              </a:rPr>
              <a:t>Roughly a quarter of near-term value sits in named buying windows open in the next 18 months — controlled mainly by EPCs (Kiewit first) and utility procurement, not plant owners.</a:t>
            </a:r>
            <a:endParaRPr lang="en-US" sz="1200" dirty="0"/>
          </a:p>
        </p:txBody>
      </p:sp>
      <p:sp>
        <p:nvSpPr>
          <p:cNvPr id="9" name="Shape 7"/>
          <p:cNvSpPr/>
          <p:nvPr/>
        </p:nvSpPr>
        <p:spPr>
          <a:xfrm>
            <a:off x="566928" y="3602736"/>
            <a:ext cx="82296" cy="82296"/>
          </a:xfrm>
          <a:prstGeom prst="ellipse">
            <a:avLst/>
          </a:prstGeom>
          <a:solidFill>
            <a:srgbClr val="C67A43"/>
          </a:solidFill>
          <a:ln/>
        </p:spPr>
      </p:sp>
      <p:sp>
        <p:nvSpPr>
          <p:cNvPr id="10" name="Text 8"/>
          <p:cNvSpPr txBox="1"/>
          <p:nvPr/>
        </p:nvSpPr>
        <p:spPr>
          <a:xfrm>
            <a:off x="868680" y="3529584"/>
            <a:ext cx="10698480" cy="777240"/>
          </a:xfrm>
          <a:prstGeom prst="rect">
            <a:avLst/>
          </a:prstGeom>
          <a:noFill/>
          <a:ln/>
        </p:spPr>
        <p:txBody>
          <a:bodyPr wrap="square" lIns="0" tIns="0" rIns="0" bIns="0" rtlCol="0" anchor="t"/>
          <a:lstStyle/>
          <a:p>
            <a:pPr indent="0" marL="0">
              <a:buNone/>
            </a:pPr>
            <a:r>
              <a:rPr lang="en-US" sz="1200" dirty="0">
                <a:solidFill>
                  <a:srgbClr val="1A1D21"/>
                </a:solidFill>
                <a:latin typeface="Arial" pitchFamily="34" charset="0"/>
                <a:ea typeface="Arial" pitchFamily="34" charset="-122"/>
                <a:cs typeface="Arial" pitchFamily="34" charset="-120"/>
              </a:rPr>
              <a:t>Turbine backlogs are sold out for years — GE Vernova 116 GW, Siemens Energy ~69 GW, Mitsubishi 35 GW — with ~20% explicitly data-center-tied. Cable can be contracted 3–4 years before COD; the 2028–2030 buying window is open now.</a:t>
            </a:r>
            <a:endParaRPr lang="en-US" sz="1200" dirty="0"/>
          </a:p>
        </p:txBody>
      </p:sp>
      <p:sp>
        <p:nvSpPr>
          <p:cNvPr id="11" name="Shape 9"/>
          <p:cNvSpPr/>
          <p:nvPr/>
        </p:nvSpPr>
        <p:spPr>
          <a:xfrm>
            <a:off x="566928" y="4498848"/>
            <a:ext cx="82296" cy="82296"/>
          </a:xfrm>
          <a:prstGeom prst="ellipse">
            <a:avLst/>
          </a:prstGeom>
          <a:solidFill>
            <a:srgbClr val="C67A43"/>
          </a:solidFill>
          <a:ln/>
        </p:spPr>
      </p:sp>
      <p:sp>
        <p:nvSpPr>
          <p:cNvPr id="12" name="Text 10"/>
          <p:cNvSpPr txBox="1"/>
          <p:nvPr/>
        </p:nvSpPr>
        <p:spPr>
          <a:xfrm>
            <a:off x="868680" y="4425696"/>
            <a:ext cx="10698480" cy="777240"/>
          </a:xfrm>
          <a:prstGeom prst="rect">
            <a:avLst/>
          </a:prstGeom>
          <a:noFill/>
          <a:ln/>
        </p:spPr>
        <p:txBody>
          <a:bodyPr wrap="square" lIns="0" tIns="0" rIns="0" bIns="0" rtlCol="0" anchor="t"/>
          <a:lstStyle/>
          <a:p>
            <a:pPr indent="0" marL="0">
              <a:buNone/>
            </a:pPr>
            <a:r>
              <a:rPr lang="en-US" sz="1200" dirty="0">
                <a:solidFill>
                  <a:srgbClr val="1A1D21"/>
                </a:solidFill>
                <a:latin typeface="Arial" pitchFamily="34" charset="0"/>
                <a:ea typeface="Arial" pitchFamily="34" charset="-122"/>
                <a:cs typeface="Arial" pitchFamily="34" charset="-120"/>
              </a:rPr>
              <a:t>The GEM 189 GW figure is a gross proposal inventory, never a market total or a control number.</a:t>
            </a:r>
            <a:endParaRPr lang="en-US" sz="1200" dirty="0"/>
          </a:p>
        </p:txBody>
      </p:sp>
      <p:sp>
        <p:nvSpPr>
          <p:cNvPr id="13" name="Text 11"/>
          <p:cNvSpPr txBox="1"/>
          <p:nvPr/>
        </p:nvSpPr>
        <p:spPr>
          <a:xfrm>
            <a:off x="548640" y="5532120"/>
            <a:ext cx="502920" cy="237744"/>
          </a:xfrm>
          <a:prstGeom prst="roundRect">
            <a:avLst>
              <a:gd name="adj" fmla="val 15385"/>
            </a:avLst>
          </a:prstGeom>
          <a:solidFill>
            <a:srgbClr val="C67A43"/>
          </a:solidFill>
          <a:ln/>
        </p:spPr>
        <p:txBody>
          <a:bodyPr wrap="square" lIns="0" tIns="0" rIns="0" bIns="0" rtlCol="0" anchor="ctr"/>
          <a:lstStyle/>
          <a:p>
            <a:pPr algn="ctr" indent="0" marL="0">
              <a:buNone/>
            </a:pPr>
            <a:r>
              <a:rPr lang="en-US" sz="800" b="1" spc="100" kern="0" dirty="0">
                <a:solidFill>
                  <a:srgbClr val="FFFFFF"/>
                </a:solidFill>
                <a:latin typeface="Arial" pitchFamily="34" charset="0"/>
                <a:ea typeface="Arial" pitchFamily="34" charset="-122"/>
                <a:cs typeface="Arial" pitchFamily="34" charset="-120"/>
              </a:rPr>
              <a:t>[R]</a:t>
            </a:r>
            <a:endParaRPr lang="en-US" sz="800" dirty="0"/>
          </a:p>
        </p:txBody>
      </p:sp>
      <p:sp>
        <p:nvSpPr>
          <p:cNvPr id="14" name="Text 12"/>
          <p:cNvSpPr txBox="1"/>
          <p:nvPr/>
        </p:nvSpPr>
        <p:spPr>
          <a:xfrm>
            <a:off x="1188720" y="5513832"/>
            <a:ext cx="10424160" cy="457200"/>
          </a:xfrm>
          <a:prstGeom prst="rect">
            <a:avLst/>
          </a:prstGeom>
          <a:noFill/>
          <a:ln/>
        </p:spPr>
        <p:txBody>
          <a:bodyPr wrap="square" lIns="0" tIns="0" rIns="0" bIns="0" rtlCol="0" anchor="t"/>
          <a:lstStyle/>
          <a:p>
            <a:pPr indent="0" marL="0">
              <a:buNone/>
            </a:pPr>
            <a:r>
              <a:rPr lang="en-US" sz="1100" dirty="0">
                <a:solidFill>
                  <a:srgbClr val="1A1D21"/>
                </a:solidFill>
                <a:latin typeface="Arial" pitchFamily="34" charset="0"/>
                <a:ea typeface="Arial" pitchFamily="34" charset="-122"/>
                <a:cs typeface="Arial" pitchFamily="34" charset="-120"/>
              </a:rPr>
              <a:t>No dollar figure goes in front of Jack until the internal data request is filled. The stake is why the boundary matters this quarter — not a forecast.</a:t>
            </a:r>
            <a:endParaRPr lang="en-US" sz="1100" dirty="0"/>
          </a:p>
        </p:txBody>
      </p:sp>
      <p:sp>
        <p:nvSpPr>
          <p:cNvPr id="15" name="Text 13"/>
          <p:cNvSpPr txBox="1"/>
          <p:nvPr/>
        </p:nvSpPr>
        <p:spPr>
          <a:xfrm>
            <a:off x="548640" y="6510528"/>
            <a:ext cx="5029200" cy="237744"/>
          </a:xfrm>
          <a:prstGeom prst="rect">
            <a:avLst/>
          </a:prstGeom>
          <a:noFill/>
          <a:ln/>
        </p:spPr>
        <p:txBody>
          <a:bodyPr wrap="square" lIns="0" tIns="0" rIns="0" bIns="0" rtlCol="0" anchor="ctr"/>
          <a:lstStyle/>
          <a:p>
            <a:pPr algn="l" indent="0" marL="0">
              <a:buNone/>
            </a:pPr>
            <a:r>
              <a:rPr lang="en-US" sz="800" dirty="0">
                <a:solidFill>
                  <a:srgbClr val="9A9FA4"/>
                </a:solidFill>
                <a:latin typeface="Arial" pitchFamily="34" charset="0"/>
                <a:ea typeface="Arial" pitchFamily="34" charset="-122"/>
                <a:cs typeface="Arial" pitchFamily="34" charset="-120"/>
              </a:rPr>
              <a:t>Stephan Hardt · Power Generation Solutions</a:t>
            </a:r>
            <a:endParaRPr lang="en-US" sz="800" dirty="0"/>
          </a:p>
        </p:txBody>
      </p:sp>
      <p:sp>
        <p:nvSpPr>
          <p:cNvPr id="16" name="Text 14"/>
          <p:cNvSpPr txBox="1"/>
          <p:nvPr/>
        </p:nvSpPr>
        <p:spPr>
          <a:xfrm>
            <a:off x="5943600" y="6510528"/>
            <a:ext cx="5696712" cy="237744"/>
          </a:xfrm>
          <a:prstGeom prst="rect">
            <a:avLst/>
          </a:prstGeom>
          <a:noFill/>
          <a:ln/>
        </p:spPr>
        <p:txBody>
          <a:bodyPr wrap="square" lIns="0" tIns="0" rIns="0" bIns="0" rtlCol="0" anchor="ctr"/>
          <a:lstStyle/>
          <a:p>
            <a:pPr algn="r" indent="0" marL="0">
              <a:buNone/>
            </a:pPr>
            <a:r>
              <a:rPr lang="en-US" sz="800" dirty="0">
                <a:solidFill>
                  <a:srgbClr val="9A9FA4"/>
                </a:solidFill>
                <a:latin typeface="Arial" pitchFamily="34" charset="0"/>
                <a:ea typeface="Arial" pitchFamily="34" charset="-122"/>
                <a:cs typeface="Arial" pitchFamily="34" charset="-120"/>
              </a:rPr>
              <a:t>SWR-PG-ROE Rev 00 · Working draft — Southwire internal · slide 11 of 14</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1D21"/>
        </a:solidFill>
      </p:bgPr>
    </p:bg>
    <p:spTree>
      <p:nvGrpSpPr>
        <p:cNvPr id="1" name=""/>
        <p:cNvGrpSpPr/>
        <p:nvPr/>
      </p:nvGrpSpPr>
      <p:grpSpPr>
        <a:xfrm>
          <a:off x="0" y="0"/>
          <a:ext cx="0" cy="0"/>
          <a:chOff x="0" y="0"/>
          <a:chExt cx="0" cy="0"/>
        </a:xfrm>
      </p:grpSpPr>
      <p:sp>
        <p:nvSpPr>
          <p:cNvPr id="2" name="Text 0"/>
          <p:cNvSpPr txBox="1"/>
          <p:nvPr/>
        </p:nvSpPr>
        <p:spPr>
          <a:xfrm>
            <a:off x="548640" y="438912"/>
            <a:ext cx="11091672" cy="274320"/>
          </a:xfrm>
          <a:prstGeom prst="rect">
            <a:avLst/>
          </a:prstGeom>
          <a:noFill/>
          <a:ln/>
        </p:spPr>
        <p:txBody>
          <a:bodyPr wrap="square" lIns="0" tIns="0" rIns="0" bIns="0" rtlCol="0" anchor="ctr"/>
          <a:lstStyle/>
          <a:p>
            <a:pPr algn="l" indent="0" marL="0">
              <a:buNone/>
            </a:pPr>
            <a:r>
              <a:rPr lang="en-US" sz="1050" b="1" spc="200" kern="0" dirty="0">
                <a:solidFill>
                  <a:srgbClr val="C67A43"/>
                </a:solidFill>
                <a:latin typeface="Arial" pitchFamily="34" charset="0"/>
                <a:ea typeface="Arial" pitchFamily="34" charset="-122"/>
                <a:cs typeface="Arial" pitchFamily="34" charset="-120"/>
              </a:rPr>
              <a:t>TODAY, AND THE ASK TO JACK</a:t>
            </a:r>
            <a:endParaRPr lang="en-US" sz="1050" dirty="0"/>
          </a:p>
        </p:txBody>
      </p:sp>
      <p:sp>
        <p:nvSpPr>
          <p:cNvPr id="3" name="Text 1"/>
          <p:cNvSpPr txBox="1"/>
          <p:nvPr/>
        </p:nvSpPr>
        <p:spPr>
          <a:xfrm>
            <a:off x="548640" y="768096"/>
            <a:ext cx="11091672" cy="640080"/>
          </a:xfrm>
          <a:prstGeom prst="rect">
            <a:avLst/>
          </a:prstGeom>
          <a:noFill/>
          <a:ln/>
        </p:spPr>
        <p:txBody>
          <a:bodyPr wrap="square" lIns="0" tIns="0" rIns="0" bIns="0" rtlCol="0" anchor="t"/>
          <a:lstStyle/>
          <a:p>
            <a:pPr algn="l" indent="0" marL="0">
              <a:buNone/>
            </a:pPr>
            <a:r>
              <a:rPr lang="en-US" sz="2800" b="1" dirty="0">
                <a:solidFill>
                  <a:srgbClr val="FFFFFF"/>
                </a:solidFill>
                <a:latin typeface="Arial" pitchFamily="34" charset="0"/>
                <a:ea typeface="Arial" pitchFamily="34" charset="-122"/>
                <a:cs typeface="Arial" pitchFamily="34" charset="-120"/>
              </a:rPr>
              <a:t>Three outcomes leave this room. Six items go to Jack, once.</a:t>
            </a:r>
            <a:endParaRPr lang="en-US" sz="2800" dirty="0"/>
          </a:p>
        </p:txBody>
      </p:sp>
      <p:sp>
        <p:nvSpPr>
          <p:cNvPr id="4" name="Text 2"/>
          <p:cNvSpPr txBox="1"/>
          <p:nvPr/>
        </p:nvSpPr>
        <p:spPr>
          <a:xfrm>
            <a:off x="548640" y="1645920"/>
            <a:ext cx="2743200" cy="237744"/>
          </a:xfrm>
          <a:prstGeom prst="rect">
            <a:avLst/>
          </a:prstGeom>
          <a:noFill/>
          <a:ln/>
        </p:spPr>
        <p:txBody>
          <a:bodyPr wrap="square" lIns="0" tIns="0" rIns="0" bIns="0" rtlCol="0" anchor="ctr"/>
          <a:lstStyle/>
          <a:p>
            <a:pPr indent="0" marL="0">
              <a:buNone/>
            </a:pPr>
            <a:r>
              <a:rPr lang="en-US" sz="1000" b="1" spc="150" kern="0" dirty="0">
                <a:solidFill>
                  <a:srgbClr val="C67A43"/>
                </a:solidFill>
                <a:latin typeface="Arial" pitchFamily="34" charset="0"/>
                <a:ea typeface="Arial" pitchFamily="34" charset="-122"/>
                <a:cs typeface="Arial" pitchFamily="34" charset="-120"/>
              </a:rPr>
              <a:t>THIS SESSION</a:t>
            </a:r>
            <a:endParaRPr lang="en-US" sz="1000" dirty="0"/>
          </a:p>
        </p:txBody>
      </p:sp>
      <p:sp>
        <p:nvSpPr>
          <p:cNvPr id="5" name="Text 3"/>
          <p:cNvSpPr txBox="1"/>
          <p:nvPr/>
        </p:nvSpPr>
        <p:spPr>
          <a:xfrm>
            <a:off x="548640" y="1965960"/>
            <a:ext cx="777240" cy="274320"/>
          </a:xfrm>
          <a:prstGeom prst="rect">
            <a:avLst/>
          </a:prstGeom>
          <a:noFill/>
          <a:ln/>
        </p:spPr>
        <p:txBody>
          <a:bodyPr wrap="square" lIns="0" tIns="0" rIns="0" bIns="0" rtlCol="0" anchor="t"/>
          <a:lstStyle/>
          <a:p>
            <a:pPr indent="0" marL="0">
              <a:buNone/>
            </a:pPr>
            <a:r>
              <a:rPr lang="en-US" sz="1050" b="1" dirty="0">
                <a:solidFill>
                  <a:srgbClr val="C67A43"/>
                </a:solidFill>
                <a:latin typeface="Arial" pitchFamily="34" charset="0"/>
                <a:ea typeface="Arial" pitchFamily="34" charset="-122"/>
                <a:cs typeface="Arial" pitchFamily="34" charset="-120"/>
              </a:rPr>
              <a:t>9:00</a:t>
            </a:r>
            <a:endParaRPr lang="en-US" sz="1050" dirty="0"/>
          </a:p>
        </p:txBody>
      </p:sp>
      <p:sp>
        <p:nvSpPr>
          <p:cNvPr id="6" name="Text 4"/>
          <p:cNvSpPr txBox="1"/>
          <p:nvPr/>
        </p:nvSpPr>
        <p:spPr>
          <a:xfrm>
            <a:off x="1417320" y="1965960"/>
            <a:ext cx="4206240" cy="274320"/>
          </a:xfrm>
          <a:prstGeom prst="rect">
            <a:avLst/>
          </a:prstGeom>
          <a:noFill/>
          <a:ln/>
        </p:spPr>
        <p:txBody>
          <a:bodyPr wrap="square" lIns="0" tIns="0" rIns="0" bIns="0" rtlCol="0" anchor="t"/>
          <a:lstStyle/>
          <a:p>
            <a:pPr indent="0" marL="0">
              <a:buNone/>
            </a:pPr>
            <a:r>
              <a:rPr lang="en-US" sz="1050" dirty="0">
                <a:solidFill>
                  <a:srgbClr val="FFFFFF"/>
                </a:solidFill>
                <a:latin typeface="Arial" pitchFamily="34" charset="0"/>
                <a:ea typeface="Arial" pitchFamily="34" charset="-122"/>
                <a:cs typeface="Arial" pitchFamily="34" charset="-120"/>
              </a:rPr>
              <a:t>Outcomes and parking lot</a:t>
            </a:r>
            <a:endParaRPr lang="en-US" sz="1050" dirty="0"/>
          </a:p>
        </p:txBody>
      </p:sp>
      <p:sp>
        <p:nvSpPr>
          <p:cNvPr id="7" name="Text 5"/>
          <p:cNvSpPr txBox="1"/>
          <p:nvPr/>
        </p:nvSpPr>
        <p:spPr>
          <a:xfrm>
            <a:off x="548640" y="2350008"/>
            <a:ext cx="777240" cy="274320"/>
          </a:xfrm>
          <a:prstGeom prst="rect">
            <a:avLst/>
          </a:prstGeom>
          <a:noFill/>
          <a:ln/>
        </p:spPr>
        <p:txBody>
          <a:bodyPr wrap="square" lIns="0" tIns="0" rIns="0" bIns="0" rtlCol="0" anchor="t"/>
          <a:lstStyle/>
          <a:p>
            <a:pPr indent="0" marL="0">
              <a:buNone/>
            </a:pPr>
            <a:r>
              <a:rPr lang="en-US" sz="1050" b="1" dirty="0">
                <a:solidFill>
                  <a:srgbClr val="C67A43"/>
                </a:solidFill>
                <a:latin typeface="Arial" pitchFamily="34" charset="0"/>
                <a:ea typeface="Arial" pitchFamily="34" charset="-122"/>
                <a:cs typeface="Arial" pitchFamily="34" charset="-120"/>
              </a:rPr>
              <a:t>9:20</a:t>
            </a:r>
            <a:endParaRPr lang="en-US" sz="1050" dirty="0"/>
          </a:p>
        </p:txBody>
      </p:sp>
      <p:sp>
        <p:nvSpPr>
          <p:cNvPr id="8" name="Text 6"/>
          <p:cNvSpPr txBox="1"/>
          <p:nvPr/>
        </p:nvSpPr>
        <p:spPr>
          <a:xfrm>
            <a:off x="1417320" y="2350008"/>
            <a:ext cx="4206240" cy="274320"/>
          </a:xfrm>
          <a:prstGeom prst="rect">
            <a:avLst/>
          </a:prstGeom>
          <a:noFill/>
          <a:ln/>
        </p:spPr>
        <p:txBody>
          <a:bodyPr wrap="square" lIns="0" tIns="0" rIns="0" bIns="0" rtlCol="0" anchor="t"/>
          <a:lstStyle/>
          <a:p>
            <a:pPr indent="0" marL="0">
              <a:buNone/>
            </a:pPr>
            <a:r>
              <a:rPr lang="en-US" sz="1050" dirty="0">
                <a:solidFill>
                  <a:srgbClr val="FFFFFF"/>
                </a:solidFill>
                <a:latin typeface="Arial" pitchFamily="34" charset="0"/>
                <a:ea typeface="Arial" pitchFamily="34" charset="-122"/>
                <a:cs typeface="Arial" pitchFamily="34" charset="-120"/>
              </a:rPr>
              <a:t>Definitions — the one-page output</a:t>
            </a:r>
            <a:endParaRPr lang="en-US" sz="1050" dirty="0"/>
          </a:p>
        </p:txBody>
      </p:sp>
      <p:sp>
        <p:nvSpPr>
          <p:cNvPr id="9" name="Text 7"/>
          <p:cNvSpPr txBox="1"/>
          <p:nvPr/>
        </p:nvSpPr>
        <p:spPr>
          <a:xfrm>
            <a:off x="548640" y="2734056"/>
            <a:ext cx="777240" cy="274320"/>
          </a:xfrm>
          <a:prstGeom prst="rect">
            <a:avLst/>
          </a:prstGeom>
          <a:noFill/>
          <a:ln/>
        </p:spPr>
        <p:txBody>
          <a:bodyPr wrap="square" lIns="0" tIns="0" rIns="0" bIns="0" rtlCol="0" anchor="t"/>
          <a:lstStyle/>
          <a:p>
            <a:pPr indent="0" marL="0">
              <a:buNone/>
            </a:pPr>
            <a:r>
              <a:rPr lang="en-US" sz="1050" b="1" dirty="0">
                <a:solidFill>
                  <a:srgbClr val="C67A43"/>
                </a:solidFill>
                <a:latin typeface="Arial" pitchFamily="34" charset="0"/>
                <a:ea typeface="Arial" pitchFamily="34" charset="-122"/>
                <a:cs typeface="Arial" pitchFamily="34" charset="-120"/>
              </a:rPr>
              <a:t>10:10</a:t>
            </a:r>
            <a:endParaRPr lang="en-US" sz="1050" dirty="0"/>
          </a:p>
        </p:txBody>
      </p:sp>
      <p:sp>
        <p:nvSpPr>
          <p:cNvPr id="10" name="Text 8"/>
          <p:cNvSpPr txBox="1"/>
          <p:nvPr/>
        </p:nvSpPr>
        <p:spPr>
          <a:xfrm>
            <a:off x="1417320" y="2734056"/>
            <a:ext cx="4206240" cy="274320"/>
          </a:xfrm>
          <a:prstGeom prst="rect">
            <a:avLst/>
          </a:prstGeom>
          <a:noFill/>
          <a:ln/>
        </p:spPr>
        <p:txBody>
          <a:bodyPr wrap="square" lIns="0" tIns="0" rIns="0" bIns="0" rtlCol="0" anchor="t"/>
          <a:lstStyle/>
          <a:p>
            <a:pPr indent="0" marL="0">
              <a:buNone/>
            </a:pPr>
            <a:r>
              <a:rPr lang="en-US" sz="1050" dirty="0">
                <a:solidFill>
                  <a:srgbClr val="FFFFFF"/>
                </a:solidFill>
                <a:latin typeface="Arial" pitchFamily="34" charset="0"/>
                <a:ea typeface="Arial" pitchFamily="34" charset="-122"/>
                <a:cs typeface="Arial" pitchFamily="34" charset="-120"/>
              </a:rPr>
              <a:t>Rule hierarchy; strategy-strength question</a:t>
            </a:r>
            <a:endParaRPr lang="en-US" sz="1050" dirty="0"/>
          </a:p>
        </p:txBody>
      </p:sp>
      <p:sp>
        <p:nvSpPr>
          <p:cNvPr id="11" name="Text 9"/>
          <p:cNvSpPr txBox="1"/>
          <p:nvPr/>
        </p:nvSpPr>
        <p:spPr>
          <a:xfrm>
            <a:off x="548640" y="3118104"/>
            <a:ext cx="777240" cy="274320"/>
          </a:xfrm>
          <a:prstGeom prst="rect">
            <a:avLst/>
          </a:prstGeom>
          <a:noFill/>
          <a:ln/>
        </p:spPr>
        <p:txBody>
          <a:bodyPr wrap="square" lIns="0" tIns="0" rIns="0" bIns="0" rtlCol="0" anchor="t"/>
          <a:lstStyle/>
          <a:p>
            <a:pPr indent="0" marL="0">
              <a:buNone/>
            </a:pPr>
            <a:r>
              <a:rPr lang="en-US" sz="1050" b="1" dirty="0">
                <a:solidFill>
                  <a:srgbClr val="C67A43"/>
                </a:solidFill>
                <a:latin typeface="Arial" pitchFamily="34" charset="0"/>
                <a:ea typeface="Arial" pitchFamily="34" charset="-122"/>
                <a:cs typeface="Arial" pitchFamily="34" charset="-120"/>
              </a:rPr>
              <a:t>11:00</a:t>
            </a:r>
            <a:endParaRPr lang="en-US" sz="1050" dirty="0"/>
          </a:p>
        </p:txBody>
      </p:sp>
      <p:sp>
        <p:nvSpPr>
          <p:cNvPr id="12" name="Text 10"/>
          <p:cNvSpPr txBox="1"/>
          <p:nvPr/>
        </p:nvSpPr>
        <p:spPr>
          <a:xfrm>
            <a:off x="1417320" y="3118104"/>
            <a:ext cx="4206240" cy="274320"/>
          </a:xfrm>
          <a:prstGeom prst="rect">
            <a:avLst/>
          </a:prstGeom>
          <a:noFill/>
          <a:ln/>
        </p:spPr>
        <p:txBody>
          <a:bodyPr wrap="square" lIns="0" tIns="0" rIns="0" bIns="0" rtlCol="0" anchor="t"/>
          <a:lstStyle/>
          <a:p>
            <a:pPr indent="0" marL="0">
              <a:buNone/>
            </a:pPr>
            <a:r>
              <a:rPr lang="en-US" sz="1050" dirty="0">
                <a:solidFill>
                  <a:srgbClr val="FFFFFF"/>
                </a:solidFill>
                <a:latin typeface="Arial" pitchFamily="34" charset="0"/>
                <a:ea typeface="Arial" pitchFamily="34" charset="-122"/>
                <a:cs typeface="Arial" pitchFamily="34" charset="-120"/>
              </a:rPr>
              <a:t>Tranche 1 — roles and evidence request</a:t>
            </a:r>
            <a:endParaRPr lang="en-US" sz="1050" dirty="0"/>
          </a:p>
        </p:txBody>
      </p:sp>
      <p:sp>
        <p:nvSpPr>
          <p:cNvPr id="13" name="Text 11"/>
          <p:cNvSpPr txBox="1"/>
          <p:nvPr/>
        </p:nvSpPr>
        <p:spPr>
          <a:xfrm>
            <a:off x="548640" y="3502152"/>
            <a:ext cx="777240" cy="274320"/>
          </a:xfrm>
          <a:prstGeom prst="rect">
            <a:avLst/>
          </a:prstGeom>
          <a:noFill/>
          <a:ln/>
        </p:spPr>
        <p:txBody>
          <a:bodyPr wrap="square" lIns="0" tIns="0" rIns="0" bIns="0" rtlCol="0" anchor="t"/>
          <a:lstStyle/>
          <a:p>
            <a:pPr indent="0" marL="0">
              <a:buNone/>
            </a:pPr>
            <a:r>
              <a:rPr lang="en-US" sz="1050" b="1" dirty="0">
                <a:solidFill>
                  <a:srgbClr val="C67A43"/>
                </a:solidFill>
                <a:latin typeface="Arial" pitchFamily="34" charset="0"/>
                <a:ea typeface="Arial" pitchFamily="34" charset="-122"/>
                <a:cs typeface="Arial" pitchFamily="34" charset="-120"/>
              </a:rPr>
              <a:t>11:50</a:t>
            </a:r>
            <a:endParaRPr lang="en-US" sz="1050" dirty="0"/>
          </a:p>
        </p:txBody>
      </p:sp>
      <p:sp>
        <p:nvSpPr>
          <p:cNvPr id="14" name="Text 12"/>
          <p:cNvSpPr txBox="1"/>
          <p:nvPr/>
        </p:nvSpPr>
        <p:spPr>
          <a:xfrm>
            <a:off x="1417320" y="3502152"/>
            <a:ext cx="4206240" cy="274320"/>
          </a:xfrm>
          <a:prstGeom prst="rect">
            <a:avLst/>
          </a:prstGeom>
          <a:noFill/>
          <a:ln/>
        </p:spPr>
        <p:txBody>
          <a:bodyPr wrap="square" lIns="0" tIns="0" rIns="0" bIns="0" rtlCol="0" anchor="t"/>
          <a:lstStyle/>
          <a:p>
            <a:pPr indent="0" marL="0">
              <a:buNone/>
            </a:pPr>
            <a:r>
              <a:rPr lang="en-US" sz="1050" dirty="0">
                <a:solidFill>
                  <a:srgbClr val="FFFFFF"/>
                </a:solidFill>
                <a:latin typeface="Arial" pitchFamily="34" charset="0"/>
                <a:ea typeface="Arial" pitchFamily="34" charset="-122"/>
                <a:cs typeface="Arial" pitchFamily="34" charset="-120"/>
              </a:rPr>
              <a:t>Existing accounts — standard and release</a:t>
            </a:r>
            <a:endParaRPr lang="en-US" sz="1050" dirty="0"/>
          </a:p>
        </p:txBody>
      </p:sp>
      <p:sp>
        <p:nvSpPr>
          <p:cNvPr id="15" name="Text 13"/>
          <p:cNvSpPr txBox="1"/>
          <p:nvPr/>
        </p:nvSpPr>
        <p:spPr>
          <a:xfrm>
            <a:off x="548640" y="3886200"/>
            <a:ext cx="777240" cy="274320"/>
          </a:xfrm>
          <a:prstGeom prst="rect">
            <a:avLst/>
          </a:prstGeom>
          <a:noFill/>
          <a:ln/>
        </p:spPr>
        <p:txBody>
          <a:bodyPr wrap="square" lIns="0" tIns="0" rIns="0" bIns="0" rtlCol="0" anchor="t"/>
          <a:lstStyle/>
          <a:p>
            <a:pPr indent="0" marL="0">
              <a:buNone/>
            </a:pPr>
            <a:r>
              <a:rPr lang="en-US" sz="1050" b="1" dirty="0">
                <a:solidFill>
                  <a:srgbClr val="C67A43"/>
                </a:solidFill>
                <a:latin typeface="Arial" pitchFamily="34" charset="0"/>
                <a:ea typeface="Arial" pitchFamily="34" charset="-122"/>
                <a:cs typeface="Arial" pitchFamily="34" charset="-120"/>
              </a:rPr>
              <a:t>12:20</a:t>
            </a:r>
            <a:endParaRPr lang="en-US" sz="1050" dirty="0"/>
          </a:p>
        </p:txBody>
      </p:sp>
      <p:sp>
        <p:nvSpPr>
          <p:cNvPr id="16" name="Text 14"/>
          <p:cNvSpPr txBox="1"/>
          <p:nvPr/>
        </p:nvSpPr>
        <p:spPr>
          <a:xfrm>
            <a:off x="1417320" y="3886200"/>
            <a:ext cx="4206240" cy="274320"/>
          </a:xfrm>
          <a:prstGeom prst="rect">
            <a:avLst/>
          </a:prstGeom>
          <a:noFill/>
          <a:ln/>
        </p:spPr>
        <p:txBody>
          <a:bodyPr wrap="square" lIns="0" tIns="0" rIns="0" bIns="0" rtlCol="0" anchor="t"/>
          <a:lstStyle/>
          <a:p>
            <a:pPr indent="0" marL="0">
              <a:buNone/>
            </a:pPr>
            <a:r>
              <a:rPr lang="en-US" sz="1050" dirty="0">
                <a:solidFill>
                  <a:srgbClr val="FFFFFF"/>
                </a:solidFill>
                <a:latin typeface="Arial" pitchFamily="34" charset="0"/>
                <a:ea typeface="Arial" pitchFamily="34" charset="-122"/>
                <a:cs typeface="Arial" pitchFamily="34" charset="-120"/>
              </a:rPr>
              <a:t>The ask to Jack; who presents which</a:t>
            </a:r>
            <a:endParaRPr lang="en-US" sz="1050" dirty="0"/>
          </a:p>
        </p:txBody>
      </p:sp>
      <p:sp>
        <p:nvSpPr>
          <p:cNvPr id="17" name="Text 15"/>
          <p:cNvSpPr txBox="1"/>
          <p:nvPr/>
        </p:nvSpPr>
        <p:spPr>
          <a:xfrm>
            <a:off x="548640" y="4270248"/>
            <a:ext cx="777240" cy="274320"/>
          </a:xfrm>
          <a:prstGeom prst="rect">
            <a:avLst/>
          </a:prstGeom>
          <a:noFill/>
          <a:ln/>
        </p:spPr>
        <p:txBody>
          <a:bodyPr wrap="square" lIns="0" tIns="0" rIns="0" bIns="0" rtlCol="0" anchor="t"/>
          <a:lstStyle/>
          <a:p>
            <a:pPr indent="0" marL="0">
              <a:buNone/>
            </a:pPr>
            <a:r>
              <a:rPr lang="en-US" sz="1050" b="1" dirty="0">
                <a:solidFill>
                  <a:srgbClr val="C67A43"/>
                </a:solidFill>
                <a:latin typeface="Arial" pitchFamily="34" charset="0"/>
                <a:ea typeface="Arial" pitchFamily="34" charset="-122"/>
                <a:cs typeface="Arial" pitchFamily="34" charset="-120"/>
              </a:rPr>
              <a:t>12:45</a:t>
            </a:r>
            <a:endParaRPr lang="en-US" sz="1050" dirty="0"/>
          </a:p>
        </p:txBody>
      </p:sp>
      <p:sp>
        <p:nvSpPr>
          <p:cNvPr id="18" name="Text 16"/>
          <p:cNvSpPr txBox="1"/>
          <p:nvPr/>
        </p:nvSpPr>
        <p:spPr>
          <a:xfrm>
            <a:off x="1417320" y="4270248"/>
            <a:ext cx="4206240" cy="274320"/>
          </a:xfrm>
          <a:prstGeom prst="rect">
            <a:avLst/>
          </a:prstGeom>
          <a:noFill/>
          <a:ln/>
        </p:spPr>
        <p:txBody>
          <a:bodyPr wrap="square" lIns="0" tIns="0" rIns="0" bIns="0" rtlCol="0" anchor="t"/>
          <a:lstStyle/>
          <a:p>
            <a:pPr indent="0" marL="0">
              <a:buNone/>
            </a:pPr>
            <a:r>
              <a:rPr lang="en-US" sz="1050" dirty="0">
                <a:solidFill>
                  <a:srgbClr val="FFFFFF"/>
                </a:solidFill>
                <a:latin typeface="Arial" pitchFamily="34" charset="0"/>
                <a:ea typeface="Arial" pitchFamily="34" charset="-122"/>
                <a:cs typeface="Arial" pitchFamily="34" charset="-120"/>
              </a:rPr>
              <a:t>Every parked item gets an owner and a date</a:t>
            </a:r>
            <a:endParaRPr lang="en-US" sz="1050" dirty="0"/>
          </a:p>
        </p:txBody>
      </p:sp>
      <p:sp>
        <p:nvSpPr>
          <p:cNvPr id="19" name="Text 17"/>
          <p:cNvSpPr txBox="1"/>
          <p:nvPr/>
        </p:nvSpPr>
        <p:spPr>
          <a:xfrm>
            <a:off x="548640" y="4846320"/>
            <a:ext cx="5120640" cy="685800"/>
          </a:xfrm>
          <a:prstGeom prst="rect">
            <a:avLst/>
          </a:prstGeom>
          <a:noFill/>
          <a:ln/>
        </p:spPr>
        <p:txBody>
          <a:bodyPr wrap="square" lIns="0" tIns="0" rIns="0" bIns="0" rtlCol="0" anchor="t"/>
          <a:lstStyle/>
          <a:p>
            <a:pPr indent="0" marL="0">
              <a:buNone/>
            </a:pPr>
            <a:r>
              <a:rPr lang="en-US" sz="1000" i="1" dirty="0">
                <a:solidFill>
                  <a:srgbClr val="A6ACB3"/>
                </a:solidFill>
                <a:latin typeface="Arial" pitchFamily="34" charset="0"/>
                <a:ea typeface="Arial" pitchFamily="34" charset="-122"/>
                <a:cs typeface="Arial" pitchFamily="34" charset="-120"/>
              </a:rPr>
              <a:t>Not for Jack: resource transfers · every contested case · the PG-Renewables and PG-Brian lines — Marc's to settle first.</a:t>
            </a:r>
            <a:endParaRPr lang="en-US" sz="1000" dirty="0"/>
          </a:p>
        </p:txBody>
      </p:sp>
      <p:sp>
        <p:nvSpPr>
          <p:cNvPr id="20" name="Text 18"/>
          <p:cNvSpPr txBox="1"/>
          <p:nvPr/>
        </p:nvSpPr>
        <p:spPr>
          <a:xfrm>
            <a:off x="6126480" y="1645920"/>
            <a:ext cx="5394960" cy="237744"/>
          </a:xfrm>
          <a:prstGeom prst="rect">
            <a:avLst/>
          </a:prstGeom>
          <a:noFill/>
          <a:ln/>
        </p:spPr>
        <p:txBody>
          <a:bodyPr wrap="square" lIns="0" tIns="0" rIns="0" bIns="0" rtlCol="0" anchor="ctr"/>
          <a:lstStyle/>
          <a:p>
            <a:pPr indent="0" marL="0">
              <a:buNone/>
            </a:pPr>
            <a:r>
              <a:rPr lang="en-US" sz="1000" b="1" spc="150" kern="0" dirty="0">
                <a:solidFill>
                  <a:srgbClr val="C67A43"/>
                </a:solidFill>
                <a:latin typeface="Arial" pitchFamily="34" charset="0"/>
                <a:ea typeface="Arial" pitchFamily="34" charset="-122"/>
                <a:cs typeface="Arial" pitchFamily="34" charset="-120"/>
              </a:rPr>
              <a:t>THE SIX ITEMS JACK SIGNS</a:t>
            </a:r>
            <a:endParaRPr lang="en-US" sz="1000" dirty="0"/>
          </a:p>
        </p:txBody>
      </p:sp>
      <p:sp>
        <p:nvSpPr>
          <p:cNvPr id="21" name="Text 19"/>
          <p:cNvSpPr txBox="1"/>
          <p:nvPr/>
        </p:nvSpPr>
        <p:spPr>
          <a:xfrm>
            <a:off x="6126480" y="1965960"/>
            <a:ext cx="292608" cy="274320"/>
          </a:xfrm>
          <a:prstGeom prst="rect">
            <a:avLst/>
          </a:prstGeom>
          <a:noFill/>
          <a:ln/>
        </p:spPr>
        <p:txBody>
          <a:bodyPr wrap="square" lIns="0" tIns="0" rIns="0" bIns="0" rtlCol="0" anchor="t"/>
          <a:lstStyle/>
          <a:p>
            <a:pPr indent="0" marL="0">
              <a:buNone/>
            </a:pPr>
            <a:r>
              <a:rPr lang="en-US" sz="1100" b="1" dirty="0">
                <a:solidFill>
                  <a:srgbClr val="C67A43"/>
                </a:solidFill>
                <a:latin typeface="Arial" pitchFamily="34" charset="0"/>
                <a:ea typeface="Arial" pitchFamily="34" charset="-122"/>
                <a:cs typeface="Arial" pitchFamily="34" charset="-120"/>
              </a:rPr>
              <a:t>1</a:t>
            </a:r>
            <a:endParaRPr lang="en-US" sz="1100" dirty="0"/>
          </a:p>
        </p:txBody>
      </p:sp>
      <p:sp>
        <p:nvSpPr>
          <p:cNvPr id="22" name="Text 20"/>
          <p:cNvSpPr txBox="1"/>
          <p:nvPr/>
        </p:nvSpPr>
        <p:spPr>
          <a:xfrm>
            <a:off x="6492240" y="1965960"/>
            <a:ext cx="5120640" cy="548640"/>
          </a:xfrm>
          <a:prstGeom prst="rect">
            <a:avLst/>
          </a:prstGeom>
          <a:noFill/>
          <a:ln/>
        </p:spPr>
        <p:txBody>
          <a:bodyPr wrap="square" lIns="0" tIns="0" rIns="0" bIns="0" rtlCol="0" anchor="t"/>
          <a:lstStyle/>
          <a:p>
            <a:pPr indent="0" marL="0">
              <a:buNone/>
            </a:pPr>
            <a:r>
              <a:rPr lang="en-US" sz="1050" dirty="0">
                <a:solidFill>
                  <a:srgbClr val="FFFFFF"/>
                </a:solidFill>
                <a:latin typeface="Arial" pitchFamily="34" charset="0"/>
                <a:ea typeface="Arial" pitchFamily="34" charset="-122"/>
                <a:cs typeface="Arial" pitchFamily="34" charset="-120"/>
              </a:rPr>
              <a:t>The two-line definition — asset served plus specification control, POI rule, BTM stated as asset type.</a:t>
            </a:r>
            <a:endParaRPr lang="en-US" sz="1050" dirty="0"/>
          </a:p>
        </p:txBody>
      </p:sp>
      <p:sp>
        <p:nvSpPr>
          <p:cNvPr id="23" name="Text 21"/>
          <p:cNvSpPr txBox="1"/>
          <p:nvPr/>
        </p:nvSpPr>
        <p:spPr>
          <a:xfrm>
            <a:off x="6126480" y="2542032"/>
            <a:ext cx="292608" cy="274320"/>
          </a:xfrm>
          <a:prstGeom prst="rect">
            <a:avLst/>
          </a:prstGeom>
          <a:noFill/>
          <a:ln/>
        </p:spPr>
        <p:txBody>
          <a:bodyPr wrap="square" lIns="0" tIns="0" rIns="0" bIns="0" rtlCol="0" anchor="t"/>
          <a:lstStyle/>
          <a:p>
            <a:pPr indent="0" marL="0">
              <a:buNone/>
            </a:pPr>
            <a:r>
              <a:rPr lang="en-US" sz="1100" b="1" dirty="0">
                <a:solidFill>
                  <a:srgbClr val="C67A43"/>
                </a:solidFill>
                <a:latin typeface="Arial" pitchFamily="34" charset="0"/>
                <a:ea typeface="Arial" pitchFamily="34" charset="-122"/>
                <a:cs typeface="Arial" pitchFamily="34" charset="-120"/>
              </a:rPr>
              <a:t>2</a:t>
            </a:r>
            <a:endParaRPr lang="en-US" sz="1100" dirty="0"/>
          </a:p>
        </p:txBody>
      </p:sp>
      <p:sp>
        <p:nvSpPr>
          <p:cNvPr id="24" name="Text 22"/>
          <p:cNvSpPr txBox="1"/>
          <p:nvPr/>
        </p:nvSpPr>
        <p:spPr>
          <a:xfrm>
            <a:off x="6492240" y="2542032"/>
            <a:ext cx="5120640" cy="548640"/>
          </a:xfrm>
          <a:prstGeom prst="rect">
            <a:avLst/>
          </a:prstGeom>
          <a:noFill/>
          <a:ln/>
        </p:spPr>
        <p:txBody>
          <a:bodyPr wrap="square" lIns="0" tIns="0" rIns="0" bIns="0" rtlCol="0" anchor="t"/>
          <a:lstStyle/>
          <a:p>
            <a:pPr indent="0" marL="0">
              <a:buNone/>
            </a:pPr>
            <a:r>
              <a:rPr lang="en-US" sz="1050" dirty="0">
                <a:solidFill>
                  <a:srgbClr val="FFFFFF"/>
                </a:solidFill>
                <a:latin typeface="Arial" pitchFamily="34" charset="0"/>
                <a:ea typeface="Arial" pitchFamily="34" charset="-122"/>
                <a:cs typeface="Arial" pitchFamily="34" charset="-120"/>
              </a:rPr>
              <a:t>The rule hierarchy, with strategy strength as last resort only.</a:t>
            </a:r>
            <a:endParaRPr lang="en-US" sz="1050" dirty="0"/>
          </a:p>
        </p:txBody>
      </p:sp>
      <p:sp>
        <p:nvSpPr>
          <p:cNvPr id="25" name="Text 23"/>
          <p:cNvSpPr txBox="1"/>
          <p:nvPr/>
        </p:nvSpPr>
        <p:spPr>
          <a:xfrm>
            <a:off x="6126480" y="3118104"/>
            <a:ext cx="292608" cy="274320"/>
          </a:xfrm>
          <a:prstGeom prst="rect">
            <a:avLst/>
          </a:prstGeom>
          <a:noFill/>
          <a:ln/>
        </p:spPr>
        <p:txBody>
          <a:bodyPr wrap="square" lIns="0" tIns="0" rIns="0" bIns="0" rtlCol="0" anchor="t"/>
          <a:lstStyle/>
          <a:p>
            <a:pPr indent="0" marL="0">
              <a:buNone/>
            </a:pPr>
            <a:r>
              <a:rPr lang="en-US" sz="1100" b="1" dirty="0">
                <a:solidFill>
                  <a:srgbClr val="C67A43"/>
                </a:solidFill>
                <a:latin typeface="Arial" pitchFamily="34" charset="0"/>
                <a:ea typeface="Arial" pitchFamily="34" charset="-122"/>
                <a:cs typeface="Arial" pitchFamily="34" charset="-120"/>
              </a:rPr>
              <a:t>3</a:t>
            </a:r>
            <a:endParaRPr lang="en-US" sz="1100" dirty="0"/>
          </a:p>
        </p:txBody>
      </p:sp>
      <p:sp>
        <p:nvSpPr>
          <p:cNvPr id="26" name="Text 24"/>
          <p:cNvSpPr txBox="1"/>
          <p:nvPr/>
        </p:nvSpPr>
        <p:spPr>
          <a:xfrm>
            <a:off x="6492240" y="3118104"/>
            <a:ext cx="5120640" cy="548640"/>
          </a:xfrm>
          <a:prstGeom prst="rect">
            <a:avLst/>
          </a:prstGeom>
          <a:noFill/>
          <a:ln/>
        </p:spPr>
        <p:txBody>
          <a:bodyPr wrap="square" lIns="0" tIns="0" rIns="0" bIns="0" rtlCol="0" anchor="t"/>
          <a:lstStyle/>
          <a:p>
            <a:pPr indent="0" marL="0">
              <a:buNone/>
            </a:pPr>
            <a:r>
              <a:rPr lang="en-US" sz="1050" dirty="0">
                <a:solidFill>
                  <a:srgbClr val="FFFFFF"/>
                </a:solidFill>
                <a:latin typeface="Arial" pitchFamily="34" charset="0"/>
                <a:ea typeface="Arial" pitchFamily="34" charset="-122"/>
                <a:cs typeface="Arial" pitchFamily="34" charset="-120"/>
              </a:rPr>
              <a:t>The evidence standard and 90/180-day release — both verticals.</a:t>
            </a:r>
            <a:endParaRPr lang="en-US" sz="1050" dirty="0"/>
          </a:p>
        </p:txBody>
      </p:sp>
      <p:sp>
        <p:nvSpPr>
          <p:cNvPr id="27" name="Text 25"/>
          <p:cNvSpPr txBox="1"/>
          <p:nvPr/>
        </p:nvSpPr>
        <p:spPr>
          <a:xfrm>
            <a:off x="6126480" y="3694176"/>
            <a:ext cx="292608" cy="274320"/>
          </a:xfrm>
          <a:prstGeom prst="rect">
            <a:avLst/>
          </a:prstGeom>
          <a:noFill/>
          <a:ln/>
        </p:spPr>
        <p:txBody>
          <a:bodyPr wrap="square" lIns="0" tIns="0" rIns="0" bIns="0" rtlCol="0" anchor="t"/>
          <a:lstStyle/>
          <a:p>
            <a:pPr indent="0" marL="0">
              <a:buNone/>
            </a:pPr>
            <a:r>
              <a:rPr lang="en-US" sz="1100" b="1" dirty="0">
                <a:solidFill>
                  <a:srgbClr val="C67A43"/>
                </a:solidFill>
                <a:latin typeface="Arial" pitchFamily="34" charset="0"/>
                <a:ea typeface="Arial" pitchFamily="34" charset="-122"/>
                <a:cs typeface="Arial" pitchFamily="34" charset="-120"/>
              </a:rPr>
              <a:t>4</a:t>
            </a:r>
            <a:endParaRPr lang="en-US" sz="1100" dirty="0"/>
          </a:p>
        </p:txBody>
      </p:sp>
      <p:sp>
        <p:nvSpPr>
          <p:cNvPr id="28" name="Text 26"/>
          <p:cNvSpPr txBox="1"/>
          <p:nvPr/>
        </p:nvSpPr>
        <p:spPr>
          <a:xfrm>
            <a:off x="6492240" y="3694176"/>
            <a:ext cx="5120640" cy="548640"/>
          </a:xfrm>
          <a:prstGeom prst="rect">
            <a:avLst/>
          </a:prstGeom>
          <a:noFill/>
          <a:ln/>
        </p:spPr>
        <p:txBody>
          <a:bodyPr wrap="square" lIns="0" tIns="0" rIns="0" bIns="0" rtlCol="0" anchor="t"/>
          <a:lstStyle/>
          <a:p>
            <a:pPr indent="0" marL="0">
              <a:buNone/>
            </a:pPr>
            <a:r>
              <a:rPr lang="en-US" sz="1050" dirty="0">
                <a:solidFill>
                  <a:srgbClr val="FFFFFF"/>
                </a:solidFill>
                <a:latin typeface="Arial" pitchFamily="34" charset="0"/>
                <a:ea typeface="Arial" pitchFamily="34" charset="-122"/>
                <a:cs typeface="Arial" pitchFamily="34" charset="-120"/>
              </a:rPr>
              <a:t>The two-role model, the 24-hour courtesy rule, the single-record rule.</a:t>
            </a:r>
            <a:endParaRPr lang="en-US" sz="1050" dirty="0"/>
          </a:p>
        </p:txBody>
      </p:sp>
      <p:sp>
        <p:nvSpPr>
          <p:cNvPr id="29" name="Text 27"/>
          <p:cNvSpPr txBox="1"/>
          <p:nvPr/>
        </p:nvSpPr>
        <p:spPr>
          <a:xfrm>
            <a:off x="6126480" y="4270248"/>
            <a:ext cx="292608" cy="274320"/>
          </a:xfrm>
          <a:prstGeom prst="rect">
            <a:avLst/>
          </a:prstGeom>
          <a:noFill/>
          <a:ln/>
        </p:spPr>
        <p:txBody>
          <a:bodyPr wrap="square" lIns="0" tIns="0" rIns="0" bIns="0" rtlCol="0" anchor="t"/>
          <a:lstStyle/>
          <a:p>
            <a:pPr indent="0" marL="0">
              <a:buNone/>
            </a:pPr>
            <a:r>
              <a:rPr lang="en-US" sz="1100" b="1" dirty="0">
                <a:solidFill>
                  <a:srgbClr val="C67A43"/>
                </a:solidFill>
                <a:latin typeface="Arial" pitchFamily="34" charset="0"/>
                <a:ea typeface="Arial" pitchFamily="34" charset="-122"/>
                <a:cs typeface="Arial" pitchFamily="34" charset="-120"/>
              </a:rPr>
              <a:t>5</a:t>
            </a:r>
            <a:endParaRPr lang="en-US" sz="1100" dirty="0"/>
          </a:p>
        </p:txBody>
      </p:sp>
      <p:sp>
        <p:nvSpPr>
          <p:cNvPr id="30" name="Text 28"/>
          <p:cNvSpPr txBox="1"/>
          <p:nvPr/>
        </p:nvSpPr>
        <p:spPr>
          <a:xfrm>
            <a:off x="6492240" y="4270248"/>
            <a:ext cx="5120640" cy="548640"/>
          </a:xfrm>
          <a:prstGeom prst="rect">
            <a:avLst/>
          </a:prstGeom>
          <a:noFill/>
          <a:ln/>
        </p:spPr>
        <p:txBody>
          <a:bodyPr wrap="square" lIns="0" tIns="0" rIns="0" bIns="0" rtlCol="0" anchor="t"/>
          <a:lstStyle/>
          <a:p>
            <a:pPr indent="0" marL="0">
              <a:buNone/>
            </a:pPr>
            <a:r>
              <a:rPr lang="en-US" sz="1050" dirty="0">
                <a:solidFill>
                  <a:srgbClr val="FFFFFF"/>
                </a:solidFill>
                <a:latin typeface="Arial" pitchFamily="34" charset="0"/>
                <a:ea typeface="Arial" pitchFamily="34" charset="-122"/>
                <a:cs typeface="Arial" pitchFamily="34" charset="-120"/>
              </a:rPr>
              <a:t>Tranche 1 — ten accounts with roles, and the evidence request for Tim's activity.</a:t>
            </a:r>
            <a:endParaRPr lang="en-US" sz="1050" dirty="0"/>
          </a:p>
        </p:txBody>
      </p:sp>
      <p:sp>
        <p:nvSpPr>
          <p:cNvPr id="31" name="Text 29"/>
          <p:cNvSpPr txBox="1"/>
          <p:nvPr/>
        </p:nvSpPr>
        <p:spPr>
          <a:xfrm>
            <a:off x="6126480" y="4846320"/>
            <a:ext cx="292608" cy="274320"/>
          </a:xfrm>
          <a:prstGeom prst="rect">
            <a:avLst/>
          </a:prstGeom>
          <a:noFill/>
          <a:ln/>
        </p:spPr>
        <p:txBody>
          <a:bodyPr wrap="square" lIns="0" tIns="0" rIns="0" bIns="0" rtlCol="0" anchor="t"/>
          <a:lstStyle/>
          <a:p>
            <a:pPr indent="0" marL="0">
              <a:buNone/>
            </a:pPr>
            <a:r>
              <a:rPr lang="en-US" sz="1100" b="1" dirty="0">
                <a:solidFill>
                  <a:srgbClr val="C67A43"/>
                </a:solidFill>
                <a:latin typeface="Arial" pitchFamily="34" charset="0"/>
                <a:ea typeface="Arial" pitchFamily="34" charset="-122"/>
                <a:cs typeface="Arial" pitchFamily="34" charset="-120"/>
              </a:rPr>
              <a:t>6</a:t>
            </a:r>
            <a:endParaRPr lang="en-US" sz="1100" dirty="0"/>
          </a:p>
        </p:txBody>
      </p:sp>
      <p:sp>
        <p:nvSpPr>
          <p:cNvPr id="32" name="Text 30"/>
          <p:cNvSpPr txBox="1"/>
          <p:nvPr/>
        </p:nvSpPr>
        <p:spPr>
          <a:xfrm>
            <a:off x="6492240" y="4846320"/>
            <a:ext cx="5120640" cy="548640"/>
          </a:xfrm>
          <a:prstGeom prst="rect">
            <a:avLst/>
          </a:prstGeom>
          <a:noFill/>
          <a:ln/>
        </p:spPr>
        <p:txBody>
          <a:bodyPr wrap="square" lIns="0" tIns="0" rIns="0" bIns="0" rtlCol="0" anchor="t"/>
          <a:lstStyle/>
          <a:p>
            <a:pPr indent="0" marL="0">
              <a:buNone/>
            </a:pPr>
            <a:r>
              <a:rPr lang="en-US" sz="1050" dirty="0">
                <a:solidFill>
                  <a:srgbClr val="FFFFFF"/>
                </a:solidFill>
                <a:latin typeface="Arial" pitchFamily="34" charset="0"/>
                <a:ea typeface="Arial" pitchFamily="34" charset="-122"/>
                <a:cs typeface="Arial" pitchFamily="34" charset="-120"/>
              </a:rPr>
              <a:t>The mutual monthly reporting obligation.</a:t>
            </a:r>
            <a:endParaRPr lang="en-US" sz="1050" dirty="0"/>
          </a:p>
        </p:txBody>
      </p:sp>
      <p:sp>
        <p:nvSpPr>
          <p:cNvPr id="33" name="Text 31"/>
          <p:cNvSpPr txBox="1"/>
          <p:nvPr/>
        </p:nvSpPr>
        <p:spPr>
          <a:xfrm>
            <a:off x="548640" y="5806440"/>
            <a:ext cx="11091672" cy="365760"/>
          </a:xfrm>
          <a:prstGeom prst="rect">
            <a:avLst/>
          </a:prstGeom>
          <a:noFill/>
          <a:ln/>
        </p:spPr>
        <p:txBody>
          <a:bodyPr wrap="square" lIns="0" tIns="0" rIns="0" bIns="0" rtlCol="0" anchor="ctr"/>
          <a:lstStyle/>
          <a:p>
            <a:pPr indent="0" marL="0">
              <a:buNone/>
            </a:pPr>
            <a:r>
              <a:rPr lang="en-US" sz="1400" b="1" dirty="0">
                <a:solidFill>
                  <a:srgbClr val="C67A43"/>
                </a:solidFill>
                <a:latin typeface="Arial" pitchFamily="34" charset="0"/>
                <a:ea typeface="Arial" pitchFamily="34" charset="-122"/>
                <a:cs typeface="Arial" pitchFamily="34" charset="-120"/>
              </a:rPr>
              <a:t>Jack approves the machine, not each output. Unresolved after two weeks goes to Donna as sponsor of the PG mandate.</a:t>
            </a:r>
            <a:endParaRPr lang="en-US" sz="1400" dirty="0"/>
          </a:p>
        </p:txBody>
      </p:sp>
      <p:sp>
        <p:nvSpPr>
          <p:cNvPr id="34" name="Text 32"/>
          <p:cNvSpPr txBox="1"/>
          <p:nvPr/>
        </p:nvSpPr>
        <p:spPr>
          <a:xfrm>
            <a:off x="548640" y="6510528"/>
            <a:ext cx="5029200" cy="237744"/>
          </a:xfrm>
          <a:prstGeom prst="rect">
            <a:avLst/>
          </a:prstGeom>
          <a:noFill/>
          <a:ln/>
        </p:spPr>
        <p:txBody>
          <a:bodyPr wrap="square" lIns="0" tIns="0" rIns="0" bIns="0" rtlCol="0" anchor="ctr"/>
          <a:lstStyle/>
          <a:p>
            <a:pPr algn="l" indent="0" marL="0">
              <a:buNone/>
            </a:pPr>
            <a:r>
              <a:rPr lang="en-US" sz="800" dirty="0">
                <a:solidFill>
                  <a:srgbClr val="8C9299"/>
                </a:solidFill>
                <a:latin typeface="Arial" pitchFamily="34" charset="0"/>
                <a:ea typeface="Arial" pitchFamily="34" charset="-122"/>
                <a:cs typeface="Arial" pitchFamily="34" charset="-120"/>
              </a:rPr>
              <a:t>Stephan Hardt · Power Generation Solutions</a:t>
            </a:r>
            <a:endParaRPr lang="en-US" sz="800" dirty="0"/>
          </a:p>
        </p:txBody>
      </p:sp>
      <p:sp>
        <p:nvSpPr>
          <p:cNvPr id="35" name="Text 33"/>
          <p:cNvSpPr txBox="1"/>
          <p:nvPr/>
        </p:nvSpPr>
        <p:spPr>
          <a:xfrm>
            <a:off x="5943600" y="6510528"/>
            <a:ext cx="5696712" cy="237744"/>
          </a:xfrm>
          <a:prstGeom prst="rect">
            <a:avLst/>
          </a:prstGeom>
          <a:noFill/>
          <a:ln/>
        </p:spPr>
        <p:txBody>
          <a:bodyPr wrap="square" lIns="0" tIns="0" rIns="0" bIns="0" rtlCol="0" anchor="ctr"/>
          <a:lstStyle/>
          <a:p>
            <a:pPr algn="r" indent="0" marL="0">
              <a:buNone/>
            </a:pPr>
            <a:r>
              <a:rPr lang="en-US" sz="800" dirty="0">
                <a:solidFill>
                  <a:srgbClr val="8C9299"/>
                </a:solidFill>
                <a:latin typeface="Arial" pitchFamily="34" charset="0"/>
                <a:ea typeface="Arial" pitchFamily="34" charset="-122"/>
                <a:cs typeface="Arial" pitchFamily="34" charset="-120"/>
              </a:rPr>
              <a:t>SWR-PG-ROE Rev 00 · Working draft — Southwire internal · slide 12 of 14</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1091672" cy="365760"/>
          </a:xfrm>
          <a:prstGeom prst="rect">
            <a:avLst/>
          </a:prstGeom>
          <a:noFill/>
          <a:ln/>
        </p:spPr>
        <p:txBody>
          <a:bodyPr wrap="square" lIns="0" tIns="0" rIns="0" bIns="0" rtlCol="0" anchor="ctr"/>
          <a:lstStyle/>
          <a:p>
            <a:pPr indent="0" marL="0">
              <a:buNone/>
            </a:pPr>
            <a:r>
              <a:rPr lang="en-US" sz="1500" b="1" dirty="0">
                <a:solidFill>
                  <a:srgbClr val="1A1D21"/>
                </a:solidFill>
                <a:latin typeface="Arial" pitchFamily="34" charset="0"/>
                <a:ea typeface="Arial" pitchFamily="34" charset="-122"/>
                <a:cs typeface="Arial" pitchFamily="34" charset="-120"/>
              </a:rPr>
              <a:t>APPENDIX 1 — TO SUPPLY BEFORE THE TABLE IS DEFENSIBLE</a:t>
            </a:r>
            <a:endParaRPr lang="en-US" sz="1500" dirty="0"/>
          </a:p>
        </p:txBody>
      </p:sp>
      <p:sp>
        <p:nvSpPr>
          <p:cNvPr id="3" name="Shape 1"/>
          <p:cNvSpPr/>
          <p:nvPr/>
        </p:nvSpPr>
        <p:spPr>
          <a:xfrm>
            <a:off x="566928" y="1252728"/>
            <a:ext cx="82296" cy="82296"/>
          </a:xfrm>
          <a:prstGeom prst="ellipse">
            <a:avLst/>
          </a:prstGeom>
          <a:solidFill>
            <a:srgbClr val="C67A43"/>
          </a:solidFill>
          <a:ln/>
        </p:spPr>
      </p:sp>
      <p:sp>
        <p:nvSpPr>
          <p:cNvPr id="4" name="Text 2"/>
          <p:cNvSpPr txBox="1"/>
          <p:nvPr/>
        </p:nvSpPr>
        <p:spPr>
          <a:xfrm>
            <a:off x="868680" y="1188720"/>
            <a:ext cx="10698480" cy="475488"/>
          </a:xfrm>
          <a:prstGeom prst="rect">
            <a:avLst/>
          </a:prstGeom>
          <a:noFill/>
          <a:ln/>
        </p:spPr>
        <p:txBody>
          <a:bodyPr wrap="square" lIns="0" tIns="0" rIns="0" bIns="0" rtlCol="0" anchor="t"/>
          <a:lstStyle/>
          <a:p>
            <a:pPr indent="0" marL="0">
              <a:buNone/>
            </a:pPr>
            <a:r>
              <a:rPr lang="en-US" sz="1050" dirty="0">
                <a:solidFill>
                  <a:srgbClr val="1A1D21"/>
                </a:solidFill>
                <a:latin typeface="Arial" pitchFamily="34" charset="0"/>
                <a:ea typeface="Arial" pitchFamily="34" charset="-122"/>
                <a:cs typeface="Arial" pitchFamily="34" charset="-120"/>
              </a:rPr>
              <a:t>Tim Schmidt's documented activity at Powell, Enchanted Rock, VoltaGrid, nVent/Trachte and the hyperscalers — opportunity IDs, quote numbers, contact names, last-contact dates, next steps.</a:t>
            </a:r>
            <a:endParaRPr lang="en-US" sz="1050" dirty="0"/>
          </a:p>
        </p:txBody>
      </p:sp>
      <p:sp>
        <p:nvSpPr>
          <p:cNvPr id="5" name="Shape 3"/>
          <p:cNvSpPr/>
          <p:nvPr/>
        </p:nvSpPr>
        <p:spPr>
          <a:xfrm>
            <a:off x="566928" y="1764792"/>
            <a:ext cx="82296" cy="82296"/>
          </a:xfrm>
          <a:prstGeom prst="ellipse">
            <a:avLst/>
          </a:prstGeom>
          <a:solidFill>
            <a:srgbClr val="C67A43"/>
          </a:solidFill>
          <a:ln/>
        </p:spPr>
      </p:sp>
      <p:sp>
        <p:nvSpPr>
          <p:cNvPr id="6" name="Text 4"/>
          <p:cNvSpPr txBox="1"/>
          <p:nvPr/>
        </p:nvSpPr>
        <p:spPr>
          <a:xfrm>
            <a:off x="868680" y="1700784"/>
            <a:ext cx="10698480" cy="475488"/>
          </a:xfrm>
          <a:prstGeom prst="rect">
            <a:avLst/>
          </a:prstGeom>
          <a:noFill/>
          <a:ln/>
        </p:spPr>
        <p:txBody>
          <a:bodyPr wrap="square" lIns="0" tIns="0" rIns="0" bIns="0" rtlCol="0" anchor="t"/>
          <a:lstStyle/>
          <a:p>
            <a:pPr indent="0" marL="0">
              <a:buNone/>
            </a:pPr>
            <a:r>
              <a:rPr lang="en-US" sz="1050" dirty="0">
                <a:solidFill>
                  <a:srgbClr val="1A1D21"/>
                </a:solidFill>
                <a:latin typeface="Arial" pitchFamily="34" charset="0"/>
                <a:ea typeface="Arial" pitchFamily="34" charset="-122"/>
                <a:cs typeface="Arial" pitchFamily="34" charset="-120"/>
              </a:rPr>
              <a:t>Tim's scope in his own words, and Jack's org chart with reporting lines.</a:t>
            </a:r>
            <a:endParaRPr lang="en-US" sz="1050" dirty="0"/>
          </a:p>
        </p:txBody>
      </p:sp>
      <p:sp>
        <p:nvSpPr>
          <p:cNvPr id="7" name="Shape 5"/>
          <p:cNvSpPr/>
          <p:nvPr/>
        </p:nvSpPr>
        <p:spPr>
          <a:xfrm>
            <a:off x="566928" y="2276856"/>
            <a:ext cx="82296" cy="82296"/>
          </a:xfrm>
          <a:prstGeom prst="ellipse">
            <a:avLst/>
          </a:prstGeom>
          <a:solidFill>
            <a:srgbClr val="C67A43"/>
          </a:solidFill>
          <a:ln/>
        </p:spPr>
      </p:sp>
      <p:sp>
        <p:nvSpPr>
          <p:cNvPr id="8" name="Text 6"/>
          <p:cNvSpPr txBox="1"/>
          <p:nvPr/>
        </p:nvSpPr>
        <p:spPr>
          <a:xfrm>
            <a:off x="868680" y="2212848"/>
            <a:ext cx="10698480" cy="475488"/>
          </a:xfrm>
          <a:prstGeom prst="rect">
            <a:avLst/>
          </a:prstGeom>
          <a:noFill/>
          <a:ln/>
        </p:spPr>
        <p:txBody>
          <a:bodyPr wrap="square" lIns="0" tIns="0" rIns="0" bIns="0" rtlCol="0" anchor="t"/>
          <a:lstStyle/>
          <a:p>
            <a:pPr indent="0" marL="0">
              <a:buNone/>
            </a:pPr>
            <a:r>
              <a:rPr lang="en-US" sz="1050" dirty="0">
                <a:solidFill>
                  <a:srgbClr val="1A1D21"/>
                </a:solidFill>
                <a:latin typeface="Arial" pitchFamily="34" charset="0"/>
                <a:ea typeface="Arial" pitchFamily="34" charset="-122"/>
                <a:cs typeface="Arial" pitchFamily="34" charset="-120"/>
              </a:rPr>
              <a:t>Whether Jack and Marc are peers, and who arbitrates above them.</a:t>
            </a:r>
            <a:endParaRPr lang="en-US" sz="1050" dirty="0"/>
          </a:p>
        </p:txBody>
      </p:sp>
      <p:sp>
        <p:nvSpPr>
          <p:cNvPr id="9" name="Shape 7"/>
          <p:cNvSpPr/>
          <p:nvPr/>
        </p:nvSpPr>
        <p:spPr>
          <a:xfrm>
            <a:off x="566928" y="2788920"/>
            <a:ext cx="82296" cy="82296"/>
          </a:xfrm>
          <a:prstGeom prst="ellipse">
            <a:avLst/>
          </a:prstGeom>
          <a:solidFill>
            <a:srgbClr val="C67A43"/>
          </a:solidFill>
          <a:ln/>
        </p:spPr>
      </p:sp>
      <p:sp>
        <p:nvSpPr>
          <p:cNvPr id="10" name="Text 8"/>
          <p:cNvSpPr txBox="1"/>
          <p:nvPr/>
        </p:nvSpPr>
        <p:spPr>
          <a:xfrm>
            <a:off x="868680" y="2724912"/>
            <a:ext cx="10698480" cy="475488"/>
          </a:xfrm>
          <a:prstGeom prst="rect">
            <a:avLst/>
          </a:prstGeom>
          <a:noFill/>
          <a:ln/>
        </p:spPr>
        <p:txBody>
          <a:bodyPr wrap="square" lIns="0" tIns="0" rIns="0" bIns="0" rtlCol="0" anchor="t"/>
          <a:lstStyle/>
          <a:p>
            <a:pPr indent="0" marL="0">
              <a:buNone/>
            </a:pPr>
            <a:r>
              <a:rPr lang="en-US" sz="1050" dirty="0">
                <a:solidFill>
                  <a:srgbClr val="1A1D21"/>
                </a:solidFill>
                <a:latin typeface="Arial" pitchFamily="34" charset="0"/>
                <a:ea typeface="Arial" pitchFamily="34" charset="-122"/>
                <a:cs typeface="Arial" pitchFamily="34" charset="-120"/>
              </a:rPr>
              <a:t>Powell's revenue mix with Southwire — generation versus data center — to run the 80/20 test.</a:t>
            </a:r>
            <a:endParaRPr lang="en-US" sz="1050" dirty="0"/>
          </a:p>
        </p:txBody>
      </p:sp>
      <p:sp>
        <p:nvSpPr>
          <p:cNvPr id="11" name="Shape 9"/>
          <p:cNvSpPr/>
          <p:nvPr/>
        </p:nvSpPr>
        <p:spPr>
          <a:xfrm>
            <a:off x="566928" y="3300984"/>
            <a:ext cx="82296" cy="82296"/>
          </a:xfrm>
          <a:prstGeom prst="ellipse">
            <a:avLst/>
          </a:prstGeom>
          <a:solidFill>
            <a:srgbClr val="C67A43"/>
          </a:solidFill>
          <a:ln/>
        </p:spPr>
      </p:sp>
      <p:sp>
        <p:nvSpPr>
          <p:cNvPr id="12" name="Text 10"/>
          <p:cNvSpPr txBox="1"/>
          <p:nvPr/>
        </p:nvSpPr>
        <p:spPr>
          <a:xfrm>
            <a:off x="868680" y="3236976"/>
            <a:ext cx="10698480" cy="475488"/>
          </a:xfrm>
          <a:prstGeom prst="rect">
            <a:avLst/>
          </a:prstGeom>
          <a:noFill/>
          <a:ln/>
        </p:spPr>
        <p:txBody>
          <a:bodyPr wrap="square" lIns="0" tIns="0" rIns="0" bIns="0" rtlCol="0" anchor="t"/>
          <a:lstStyle/>
          <a:p>
            <a:pPr indent="0" marL="0">
              <a:buNone/>
            </a:pPr>
            <a:r>
              <a:rPr lang="en-US" sz="1050" dirty="0">
                <a:solidFill>
                  <a:srgbClr val="1A1D21"/>
                </a:solidFill>
                <a:latin typeface="Arial" pitchFamily="34" charset="0"/>
                <a:ea typeface="Arial" pitchFamily="34" charset="-122"/>
                <a:cs typeface="Arial" pitchFamily="34" charset="-120"/>
              </a:rPr>
              <a:t>The legacy utility and industrial teams' current activity at Southern Company, the EPCs and the substation work.</a:t>
            </a:r>
            <a:endParaRPr lang="en-US" sz="1050" dirty="0"/>
          </a:p>
        </p:txBody>
      </p:sp>
      <p:sp>
        <p:nvSpPr>
          <p:cNvPr id="13" name="Shape 11"/>
          <p:cNvSpPr/>
          <p:nvPr/>
        </p:nvSpPr>
        <p:spPr>
          <a:xfrm>
            <a:off x="566928" y="3813048"/>
            <a:ext cx="82296" cy="82296"/>
          </a:xfrm>
          <a:prstGeom prst="ellipse">
            <a:avLst/>
          </a:prstGeom>
          <a:solidFill>
            <a:srgbClr val="C67A43"/>
          </a:solidFill>
          <a:ln/>
        </p:spPr>
      </p:sp>
      <p:sp>
        <p:nvSpPr>
          <p:cNvPr id="14" name="Text 12"/>
          <p:cNvSpPr txBox="1"/>
          <p:nvPr/>
        </p:nvSpPr>
        <p:spPr>
          <a:xfrm>
            <a:off x="868680" y="3749040"/>
            <a:ext cx="10698480" cy="475488"/>
          </a:xfrm>
          <a:prstGeom prst="rect">
            <a:avLst/>
          </a:prstGeom>
          <a:noFill/>
          <a:ln/>
        </p:spPr>
        <p:txBody>
          <a:bodyPr wrap="square" lIns="0" tIns="0" rIns="0" bIns="0" rtlCol="0" anchor="t"/>
          <a:lstStyle/>
          <a:p>
            <a:pPr indent="0" marL="0">
              <a:buNone/>
            </a:pPr>
            <a:r>
              <a:rPr lang="en-US" sz="1050" dirty="0">
                <a:solidFill>
                  <a:srgbClr val="1A1D21"/>
                </a:solidFill>
                <a:latin typeface="Arial" pitchFamily="34" charset="0"/>
                <a:ea typeface="Arial" pitchFamily="34" charset="-122"/>
                <a:cs typeface="Arial" pitchFamily="34" charset="-120"/>
              </a:rPr>
              <a:t>Brian Sides' account list and what he considers his backbone scope.</a:t>
            </a:r>
            <a:endParaRPr lang="en-US" sz="1050" dirty="0"/>
          </a:p>
        </p:txBody>
      </p:sp>
      <p:sp>
        <p:nvSpPr>
          <p:cNvPr id="15" name="Shape 13"/>
          <p:cNvSpPr/>
          <p:nvPr/>
        </p:nvSpPr>
        <p:spPr>
          <a:xfrm>
            <a:off x="566928" y="4325112"/>
            <a:ext cx="82296" cy="82296"/>
          </a:xfrm>
          <a:prstGeom prst="ellipse">
            <a:avLst/>
          </a:prstGeom>
          <a:solidFill>
            <a:srgbClr val="C67A43"/>
          </a:solidFill>
          <a:ln/>
        </p:spPr>
      </p:sp>
      <p:sp>
        <p:nvSpPr>
          <p:cNvPr id="16" name="Text 14"/>
          <p:cNvSpPr txBox="1"/>
          <p:nvPr/>
        </p:nvSpPr>
        <p:spPr>
          <a:xfrm>
            <a:off x="868680" y="4261104"/>
            <a:ext cx="10698480" cy="475488"/>
          </a:xfrm>
          <a:prstGeom prst="rect">
            <a:avLst/>
          </a:prstGeom>
          <a:noFill/>
          <a:ln/>
        </p:spPr>
        <p:txBody>
          <a:bodyPr wrap="square" lIns="0" tIns="0" rIns="0" bIns="0" rtlCol="0" anchor="t"/>
          <a:lstStyle/>
          <a:p>
            <a:pPr indent="0" marL="0">
              <a:buNone/>
            </a:pPr>
            <a:r>
              <a:rPr lang="en-US" sz="1050" dirty="0">
                <a:solidFill>
                  <a:srgbClr val="1A1D21"/>
                </a:solidFill>
                <a:latin typeface="Arial" pitchFamily="34" charset="0"/>
                <a:ea typeface="Arial" pitchFamily="34" charset="-122"/>
                <a:cs typeface="Arial" pitchFamily="34" charset="-120"/>
              </a:rPr>
              <a:t>Distributor and agent ownership rules as they stand today (Bob Bennish's organization), and how influence is credited on the PO line.</a:t>
            </a:r>
            <a:endParaRPr lang="en-US" sz="1050" dirty="0"/>
          </a:p>
        </p:txBody>
      </p:sp>
      <p:sp>
        <p:nvSpPr>
          <p:cNvPr id="17" name="Shape 15"/>
          <p:cNvSpPr/>
          <p:nvPr/>
        </p:nvSpPr>
        <p:spPr>
          <a:xfrm>
            <a:off x="566928" y="4837176"/>
            <a:ext cx="82296" cy="82296"/>
          </a:xfrm>
          <a:prstGeom prst="ellipse">
            <a:avLst/>
          </a:prstGeom>
          <a:solidFill>
            <a:srgbClr val="C67A43"/>
          </a:solidFill>
          <a:ln/>
        </p:spPr>
      </p:sp>
      <p:sp>
        <p:nvSpPr>
          <p:cNvPr id="18" name="Text 16"/>
          <p:cNvSpPr txBox="1"/>
          <p:nvPr/>
        </p:nvSpPr>
        <p:spPr>
          <a:xfrm>
            <a:off x="868680" y="4773168"/>
            <a:ext cx="10698480" cy="475488"/>
          </a:xfrm>
          <a:prstGeom prst="rect">
            <a:avLst/>
          </a:prstGeom>
          <a:noFill/>
          <a:ln/>
        </p:spPr>
        <p:txBody>
          <a:bodyPr wrap="square" lIns="0" tIns="0" rIns="0" bIns="0" rtlCol="0" anchor="t"/>
          <a:lstStyle/>
          <a:p>
            <a:pPr indent="0" marL="0">
              <a:buNone/>
            </a:pPr>
            <a:r>
              <a:rPr lang="en-US" sz="1050" dirty="0">
                <a:solidFill>
                  <a:srgbClr val="1A1D21"/>
                </a:solidFill>
                <a:latin typeface="Arial" pitchFamily="34" charset="0"/>
                <a:ea typeface="Arial" pitchFamily="34" charset="-122"/>
                <a:cs typeface="Arial" pitchFamily="34" charset="-120"/>
              </a:rPr>
              <a:t>Product management's position on MV capacity available for PG opportunities in 2026–27, so the rubric's capability criterion can be scored honestly.</a:t>
            </a:r>
            <a:endParaRPr lang="en-US" sz="1050" dirty="0"/>
          </a:p>
        </p:txBody>
      </p:sp>
      <p:sp>
        <p:nvSpPr>
          <p:cNvPr id="19" name="Shape 17"/>
          <p:cNvSpPr/>
          <p:nvPr/>
        </p:nvSpPr>
        <p:spPr>
          <a:xfrm>
            <a:off x="566928" y="5349240"/>
            <a:ext cx="82296" cy="82296"/>
          </a:xfrm>
          <a:prstGeom prst="ellipse">
            <a:avLst/>
          </a:prstGeom>
          <a:solidFill>
            <a:srgbClr val="C67A43"/>
          </a:solidFill>
          <a:ln/>
        </p:spPr>
      </p:sp>
      <p:sp>
        <p:nvSpPr>
          <p:cNvPr id="20" name="Text 18"/>
          <p:cNvSpPr txBox="1"/>
          <p:nvPr/>
        </p:nvSpPr>
        <p:spPr>
          <a:xfrm>
            <a:off x="868680" y="5285232"/>
            <a:ext cx="10698480" cy="475488"/>
          </a:xfrm>
          <a:prstGeom prst="rect">
            <a:avLst/>
          </a:prstGeom>
          <a:noFill/>
          <a:ln/>
        </p:spPr>
        <p:txBody>
          <a:bodyPr wrap="square" lIns="0" tIns="0" rIns="0" bIns="0" rtlCol="0" anchor="t"/>
          <a:lstStyle/>
          <a:p>
            <a:pPr indent="0" marL="0">
              <a:buNone/>
            </a:pPr>
            <a:r>
              <a:rPr lang="en-US" sz="1050" dirty="0">
                <a:solidFill>
                  <a:srgbClr val="1A1D21"/>
                </a:solidFill>
                <a:latin typeface="Arial" pitchFamily="34" charset="0"/>
                <a:ea typeface="Arial" pitchFamily="34" charset="-122"/>
                <a:cs typeface="Arial" pitchFamily="34" charset="-120"/>
              </a:rPr>
              <a:t>The Renewables vertical's position on grid-side BESS.</a:t>
            </a:r>
            <a:endParaRPr lang="en-US" sz="1050" dirty="0"/>
          </a:p>
        </p:txBody>
      </p:sp>
      <p:sp>
        <p:nvSpPr>
          <p:cNvPr id="21" name="Shape 19"/>
          <p:cNvSpPr/>
          <p:nvPr/>
        </p:nvSpPr>
        <p:spPr>
          <a:xfrm>
            <a:off x="566928" y="5861304"/>
            <a:ext cx="82296" cy="82296"/>
          </a:xfrm>
          <a:prstGeom prst="ellipse">
            <a:avLst/>
          </a:prstGeom>
          <a:solidFill>
            <a:srgbClr val="C67A43"/>
          </a:solidFill>
          <a:ln/>
        </p:spPr>
      </p:sp>
      <p:sp>
        <p:nvSpPr>
          <p:cNvPr id="22" name="Text 20"/>
          <p:cNvSpPr txBox="1"/>
          <p:nvPr/>
        </p:nvSpPr>
        <p:spPr>
          <a:xfrm>
            <a:off x="868680" y="5797296"/>
            <a:ext cx="10698480" cy="475488"/>
          </a:xfrm>
          <a:prstGeom prst="rect">
            <a:avLst/>
          </a:prstGeom>
          <a:noFill/>
          <a:ln/>
        </p:spPr>
        <p:txBody>
          <a:bodyPr wrap="square" lIns="0" tIns="0" rIns="0" bIns="0" rtlCol="0" anchor="t"/>
          <a:lstStyle/>
          <a:p>
            <a:pPr indent="0" marL="0">
              <a:buNone/>
            </a:pPr>
            <a:r>
              <a:rPr lang="en-US" sz="1050" dirty="0">
                <a:solidFill>
                  <a:srgbClr val="1A1D21"/>
                </a:solidFill>
                <a:latin typeface="Arial" pitchFamily="34" charset="0"/>
                <a:ea typeface="Arial" pitchFamily="34" charset="-122"/>
                <a:cs typeface="Arial" pitchFamily="34" charset="-120"/>
              </a:rPr>
              <a:t>Any hyperscaler pursuit the DC team currently has open, so the Google introduction does not land on top of it.</a:t>
            </a:r>
            <a:endParaRPr lang="en-US" sz="1050" dirty="0"/>
          </a:p>
        </p:txBody>
      </p:sp>
      <p:sp>
        <p:nvSpPr>
          <p:cNvPr id="23" name="Text 21"/>
          <p:cNvSpPr txBox="1"/>
          <p:nvPr/>
        </p:nvSpPr>
        <p:spPr>
          <a:xfrm>
            <a:off x="548640" y="6510528"/>
            <a:ext cx="5029200" cy="237744"/>
          </a:xfrm>
          <a:prstGeom prst="rect">
            <a:avLst/>
          </a:prstGeom>
          <a:noFill/>
          <a:ln/>
        </p:spPr>
        <p:txBody>
          <a:bodyPr wrap="square" lIns="0" tIns="0" rIns="0" bIns="0" rtlCol="0" anchor="ctr"/>
          <a:lstStyle/>
          <a:p>
            <a:pPr algn="l" indent="0" marL="0">
              <a:buNone/>
            </a:pPr>
            <a:r>
              <a:rPr lang="en-US" sz="800" dirty="0">
                <a:solidFill>
                  <a:srgbClr val="9A9FA4"/>
                </a:solidFill>
                <a:latin typeface="Arial" pitchFamily="34" charset="0"/>
                <a:ea typeface="Arial" pitchFamily="34" charset="-122"/>
                <a:cs typeface="Arial" pitchFamily="34" charset="-120"/>
              </a:rPr>
              <a:t>Stephan Hardt · Power Generation Solutions</a:t>
            </a:r>
            <a:endParaRPr lang="en-US" sz="800" dirty="0"/>
          </a:p>
        </p:txBody>
      </p:sp>
      <p:sp>
        <p:nvSpPr>
          <p:cNvPr id="24" name="Text 22"/>
          <p:cNvSpPr txBox="1"/>
          <p:nvPr/>
        </p:nvSpPr>
        <p:spPr>
          <a:xfrm>
            <a:off x="5943600" y="6510528"/>
            <a:ext cx="5696712" cy="237744"/>
          </a:xfrm>
          <a:prstGeom prst="rect">
            <a:avLst/>
          </a:prstGeom>
          <a:noFill/>
          <a:ln/>
        </p:spPr>
        <p:txBody>
          <a:bodyPr wrap="square" lIns="0" tIns="0" rIns="0" bIns="0" rtlCol="0" anchor="ctr"/>
          <a:lstStyle/>
          <a:p>
            <a:pPr algn="r" indent="0" marL="0">
              <a:buNone/>
            </a:pPr>
            <a:r>
              <a:rPr lang="en-US" sz="800" dirty="0">
                <a:solidFill>
                  <a:srgbClr val="9A9FA4"/>
                </a:solidFill>
                <a:latin typeface="Arial" pitchFamily="34" charset="0"/>
                <a:ea typeface="Arial" pitchFamily="34" charset="-122"/>
                <a:cs typeface="Arial" pitchFamily="34" charset="-120"/>
              </a:rPr>
              <a:t>SWR-PG-ROE Rev 00 · Working draft — Southwire internal · slide 13 of 14</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1091672" cy="365760"/>
          </a:xfrm>
          <a:prstGeom prst="rect">
            <a:avLst/>
          </a:prstGeom>
          <a:noFill/>
          <a:ln/>
        </p:spPr>
        <p:txBody>
          <a:bodyPr wrap="square" lIns="0" tIns="0" rIns="0" bIns="0" rtlCol="0" anchor="ctr"/>
          <a:lstStyle/>
          <a:p>
            <a:pPr indent="0" marL="0">
              <a:buNone/>
            </a:pPr>
            <a:r>
              <a:rPr lang="en-US" sz="1500" b="1" dirty="0">
                <a:solidFill>
                  <a:srgbClr val="1A1D21"/>
                </a:solidFill>
                <a:latin typeface="Arial" pitchFamily="34" charset="0"/>
                <a:ea typeface="Arial" pitchFamily="34" charset="-122"/>
                <a:cs typeface="Arial" pitchFamily="34" charset="-120"/>
              </a:rPr>
              <a:t>APPENDIX 2 — THE QUESTIONS, IN SESSION ORDER</a:t>
            </a:r>
            <a:endParaRPr lang="en-US" sz="1500" dirty="0"/>
          </a:p>
        </p:txBody>
      </p:sp>
      <p:sp>
        <p:nvSpPr>
          <p:cNvPr id="3" name="Text 1"/>
          <p:cNvSpPr txBox="1"/>
          <p:nvPr/>
        </p:nvSpPr>
        <p:spPr>
          <a:xfrm>
            <a:off x="566928" y="1234440"/>
            <a:ext cx="365760" cy="320040"/>
          </a:xfrm>
          <a:prstGeom prst="rect">
            <a:avLst/>
          </a:prstGeom>
          <a:noFill/>
          <a:ln/>
        </p:spPr>
        <p:txBody>
          <a:bodyPr wrap="square" lIns="0" tIns="0" rIns="0" bIns="0" rtlCol="0" anchor="t"/>
          <a:lstStyle/>
          <a:p>
            <a:pPr indent="0" marL="0">
              <a:buNone/>
            </a:pPr>
            <a:r>
              <a:rPr lang="en-US" sz="1400" b="1" dirty="0">
                <a:solidFill>
                  <a:srgbClr val="C67A43"/>
                </a:solidFill>
                <a:latin typeface="Arial" pitchFamily="34" charset="0"/>
                <a:ea typeface="Arial" pitchFamily="34" charset="-122"/>
                <a:cs typeface="Arial" pitchFamily="34" charset="-120"/>
              </a:rPr>
              <a:t>1</a:t>
            </a:r>
            <a:endParaRPr lang="en-US" sz="1400" dirty="0"/>
          </a:p>
        </p:txBody>
      </p:sp>
      <p:sp>
        <p:nvSpPr>
          <p:cNvPr id="4" name="Text 2"/>
          <p:cNvSpPr txBox="1"/>
          <p:nvPr/>
        </p:nvSpPr>
        <p:spPr>
          <a:xfrm>
            <a:off x="1051560" y="1234440"/>
            <a:ext cx="10515600" cy="457200"/>
          </a:xfrm>
          <a:prstGeom prst="rect">
            <a:avLst/>
          </a:prstGeom>
          <a:noFill/>
          <a:ln/>
        </p:spPr>
        <p:txBody>
          <a:bodyPr wrap="square" lIns="0" tIns="0" rIns="0" bIns="0" rtlCol="0" anchor="t"/>
          <a:lstStyle/>
          <a:p>
            <a:pPr indent="0" marL="0">
              <a:buNone/>
            </a:pPr>
            <a:r>
              <a:rPr lang="en-US" sz="1200" dirty="0">
                <a:solidFill>
                  <a:srgbClr val="1A1D21"/>
                </a:solidFill>
                <a:latin typeface="Arial" pitchFamily="34" charset="0"/>
                <a:ea typeface="Arial" pitchFamily="34" charset="-122"/>
                <a:cs typeface="Arial" pitchFamily="34" charset="-120"/>
              </a:rPr>
              <a:t>What asset does the cable feed, and who writes the spec — and is that really enough to decide most cases?</a:t>
            </a:r>
            <a:endParaRPr lang="en-US" sz="1200" dirty="0"/>
          </a:p>
        </p:txBody>
      </p:sp>
      <p:sp>
        <p:nvSpPr>
          <p:cNvPr id="5" name="Text 3"/>
          <p:cNvSpPr txBox="1"/>
          <p:nvPr/>
        </p:nvSpPr>
        <p:spPr>
          <a:xfrm>
            <a:off x="566928" y="1837944"/>
            <a:ext cx="365760" cy="320040"/>
          </a:xfrm>
          <a:prstGeom prst="rect">
            <a:avLst/>
          </a:prstGeom>
          <a:noFill/>
          <a:ln/>
        </p:spPr>
        <p:txBody>
          <a:bodyPr wrap="square" lIns="0" tIns="0" rIns="0" bIns="0" rtlCol="0" anchor="t"/>
          <a:lstStyle/>
          <a:p>
            <a:pPr indent="0" marL="0">
              <a:buNone/>
            </a:pPr>
            <a:r>
              <a:rPr lang="en-US" sz="1400" b="1" dirty="0">
                <a:solidFill>
                  <a:srgbClr val="C67A43"/>
                </a:solidFill>
                <a:latin typeface="Arial" pitchFamily="34" charset="0"/>
                <a:ea typeface="Arial" pitchFamily="34" charset="-122"/>
                <a:cs typeface="Arial" pitchFamily="34" charset="-120"/>
              </a:rPr>
              <a:t>2</a:t>
            </a:r>
            <a:endParaRPr lang="en-US" sz="1400" dirty="0"/>
          </a:p>
        </p:txBody>
      </p:sp>
      <p:sp>
        <p:nvSpPr>
          <p:cNvPr id="6" name="Text 4"/>
          <p:cNvSpPr txBox="1"/>
          <p:nvPr/>
        </p:nvSpPr>
        <p:spPr>
          <a:xfrm>
            <a:off x="1051560" y="1837944"/>
            <a:ext cx="10515600" cy="457200"/>
          </a:xfrm>
          <a:prstGeom prst="rect">
            <a:avLst/>
          </a:prstGeom>
          <a:noFill/>
          <a:ln/>
        </p:spPr>
        <p:txBody>
          <a:bodyPr wrap="square" lIns="0" tIns="0" rIns="0" bIns="0" rtlCol="0" anchor="t"/>
          <a:lstStyle/>
          <a:p>
            <a:pPr indent="0" marL="0">
              <a:buNone/>
            </a:pPr>
            <a:r>
              <a:rPr lang="en-US" sz="1200" dirty="0">
                <a:solidFill>
                  <a:srgbClr val="1A1D21"/>
                </a:solidFill>
                <a:latin typeface="Arial" pitchFamily="34" charset="0"/>
                <a:ea typeface="Arial" pitchFamily="34" charset="-122"/>
                <a:cs typeface="Arial" pitchFamily="34" charset="-120"/>
              </a:rPr>
              <a:t>Company or opportunity — which level are we assigning, and what do we lose if it is company?</a:t>
            </a:r>
            <a:endParaRPr lang="en-US" sz="1200" dirty="0"/>
          </a:p>
        </p:txBody>
      </p:sp>
      <p:sp>
        <p:nvSpPr>
          <p:cNvPr id="7" name="Text 5"/>
          <p:cNvSpPr txBox="1"/>
          <p:nvPr/>
        </p:nvSpPr>
        <p:spPr>
          <a:xfrm>
            <a:off x="566928" y="2441448"/>
            <a:ext cx="365760" cy="320040"/>
          </a:xfrm>
          <a:prstGeom prst="rect">
            <a:avLst/>
          </a:prstGeom>
          <a:noFill/>
          <a:ln/>
        </p:spPr>
        <p:txBody>
          <a:bodyPr wrap="square" lIns="0" tIns="0" rIns="0" bIns="0" rtlCol="0" anchor="t"/>
          <a:lstStyle/>
          <a:p>
            <a:pPr indent="0" marL="0">
              <a:buNone/>
            </a:pPr>
            <a:r>
              <a:rPr lang="en-US" sz="1400" b="1" dirty="0">
                <a:solidFill>
                  <a:srgbClr val="C67A43"/>
                </a:solidFill>
                <a:latin typeface="Arial" pitchFamily="34" charset="0"/>
                <a:ea typeface="Arial" pitchFamily="34" charset="-122"/>
                <a:cs typeface="Arial" pitchFamily="34" charset="-120"/>
              </a:rPr>
              <a:t>3</a:t>
            </a:r>
            <a:endParaRPr lang="en-US" sz="1400" dirty="0"/>
          </a:p>
        </p:txBody>
      </p:sp>
      <p:sp>
        <p:nvSpPr>
          <p:cNvPr id="8" name="Text 6"/>
          <p:cNvSpPr txBox="1"/>
          <p:nvPr/>
        </p:nvSpPr>
        <p:spPr>
          <a:xfrm>
            <a:off x="1051560" y="2441448"/>
            <a:ext cx="10515600" cy="457200"/>
          </a:xfrm>
          <a:prstGeom prst="rect">
            <a:avLst/>
          </a:prstGeom>
          <a:noFill/>
          <a:ln/>
        </p:spPr>
        <p:txBody>
          <a:bodyPr wrap="square" lIns="0" tIns="0" rIns="0" bIns="0" rtlCol="0" anchor="t"/>
          <a:lstStyle/>
          <a:p>
            <a:pPr indent="0" marL="0">
              <a:buNone/>
            </a:pPr>
            <a:r>
              <a:rPr lang="en-US" sz="1200" dirty="0">
                <a:solidFill>
                  <a:srgbClr val="1A1D21"/>
                </a:solidFill>
                <a:latin typeface="Arial" pitchFamily="34" charset="0"/>
                <a:ea typeface="Arial" pitchFamily="34" charset="-122"/>
                <a:cs typeface="Arial" pitchFamily="34" charset="-120"/>
              </a:rPr>
              <a:t>A generator at a data center: are we saying “asset type” or are we saying “behind the meter”?</a:t>
            </a:r>
            <a:endParaRPr lang="en-US" sz="1200" dirty="0"/>
          </a:p>
        </p:txBody>
      </p:sp>
      <p:sp>
        <p:nvSpPr>
          <p:cNvPr id="9" name="Text 7"/>
          <p:cNvSpPr txBox="1"/>
          <p:nvPr/>
        </p:nvSpPr>
        <p:spPr>
          <a:xfrm>
            <a:off x="566928" y="3044952"/>
            <a:ext cx="365760" cy="320040"/>
          </a:xfrm>
          <a:prstGeom prst="rect">
            <a:avLst/>
          </a:prstGeom>
          <a:noFill/>
          <a:ln/>
        </p:spPr>
        <p:txBody>
          <a:bodyPr wrap="square" lIns="0" tIns="0" rIns="0" bIns="0" rtlCol="0" anchor="t"/>
          <a:lstStyle/>
          <a:p>
            <a:pPr indent="0" marL="0">
              <a:buNone/>
            </a:pPr>
            <a:r>
              <a:rPr lang="en-US" sz="1400" b="1" dirty="0">
                <a:solidFill>
                  <a:srgbClr val="C67A43"/>
                </a:solidFill>
                <a:latin typeface="Arial" pitchFamily="34" charset="0"/>
                <a:ea typeface="Arial" pitchFamily="34" charset="-122"/>
                <a:cs typeface="Arial" pitchFamily="34" charset="-120"/>
              </a:rPr>
              <a:t>4</a:t>
            </a:r>
            <a:endParaRPr lang="en-US" sz="1400" dirty="0"/>
          </a:p>
        </p:txBody>
      </p:sp>
      <p:sp>
        <p:nvSpPr>
          <p:cNvPr id="10" name="Text 8"/>
          <p:cNvSpPr txBox="1"/>
          <p:nvPr/>
        </p:nvSpPr>
        <p:spPr>
          <a:xfrm>
            <a:off x="1051560" y="3044952"/>
            <a:ext cx="10515600" cy="457200"/>
          </a:xfrm>
          <a:prstGeom prst="rect">
            <a:avLst/>
          </a:prstGeom>
          <a:noFill/>
          <a:ln/>
        </p:spPr>
        <p:txBody>
          <a:bodyPr wrap="square" lIns="0" tIns="0" rIns="0" bIns="0" rtlCol="0" anchor="t"/>
          <a:lstStyle/>
          <a:p>
            <a:pPr indent="0" marL="0">
              <a:buNone/>
            </a:pPr>
            <a:r>
              <a:rPr lang="en-US" sz="1200" dirty="0">
                <a:solidFill>
                  <a:srgbClr val="1A1D21"/>
                </a:solidFill>
                <a:latin typeface="Arial" pitchFamily="34" charset="0"/>
                <a:ea typeface="Arial" pitchFamily="34" charset="-122"/>
                <a:cs typeface="Arial" pitchFamily="34" charset="-120"/>
              </a:rPr>
              <a:t>What evidence would we accept from Tim — and would we pass our own test on every account we are claiming?</a:t>
            </a:r>
            <a:endParaRPr lang="en-US" sz="1200" dirty="0"/>
          </a:p>
        </p:txBody>
      </p:sp>
      <p:sp>
        <p:nvSpPr>
          <p:cNvPr id="11" name="Text 9"/>
          <p:cNvSpPr txBox="1"/>
          <p:nvPr/>
        </p:nvSpPr>
        <p:spPr>
          <a:xfrm>
            <a:off x="566928" y="3648456"/>
            <a:ext cx="365760" cy="320040"/>
          </a:xfrm>
          <a:prstGeom prst="rect">
            <a:avLst/>
          </a:prstGeom>
          <a:noFill/>
          <a:ln/>
        </p:spPr>
        <p:txBody>
          <a:bodyPr wrap="square" lIns="0" tIns="0" rIns="0" bIns="0" rtlCol="0" anchor="t"/>
          <a:lstStyle/>
          <a:p>
            <a:pPr indent="0" marL="0">
              <a:buNone/>
            </a:pPr>
            <a:r>
              <a:rPr lang="en-US" sz="1400" b="1" dirty="0">
                <a:solidFill>
                  <a:srgbClr val="C67A43"/>
                </a:solidFill>
                <a:latin typeface="Arial" pitchFamily="34" charset="0"/>
                <a:ea typeface="Arial" pitchFamily="34" charset="-122"/>
                <a:cs typeface="Arial" pitchFamily="34" charset="-120"/>
              </a:rPr>
              <a:t>5</a:t>
            </a:r>
            <a:endParaRPr lang="en-US" sz="1400" dirty="0"/>
          </a:p>
        </p:txBody>
      </p:sp>
      <p:sp>
        <p:nvSpPr>
          <p:cNvPr id="12" name="Text 10"/>
          <p:cNvSpPr txBox="1"/>
          <p:nvPr/>
        </p:nvSpPr>
        <p:spPr>
          <a:xfrm>
            <a:off x="1051560" y="3648456"/>
            <a:ext cx="10515600" cy="457200"/>
          </a:xfrm>
          <a:prstGeom prst="rect">
            <a:avLst/>
          </a:prstGeom>
          <a:noFill/>
          <a:ln/>
        </p:spPr>
        <p:txBody>
          <a:bodyPr wrap="square" lIns="0" tIns="0" rIns="0" bIns="0" rtlCol="0" anchor="t"/>
          <a:lstStyle/>
          <a:p>
            <a:pPr indent="0" marL="0">
              <a:buNone/>
            </a:pPr>
            <a:r>
              <a:rPr lang="en-US" sz="1200" dirty="0">
                <a:solidFill>
                  <a:srgbClr val="1A1D21"/>
                </a:solidFill>
                <a:latin typeface="Arial" pitchFamily="34" charset="0"/>
                <a:ea typeface="Arial" pitchFamily="34" charset="-122"/>
                <a:cs typeface="Arial" pitchFamily="34" charset="-120"/>
              </a:rPr>
              <a:t>If the customer prefers us, is that the buying center that controls the spec, or a supportive individual?</a:t>
            </a:r>
            <a:endParaRPr lang="en-US" sz="1200" dirty="0"/>
          </a:p>
        </p:txBody>
      </p:sp>
      <p:sp>
        <p:nvSpPr>
          <p:cNvPr id="13" name="Text 11"/>
          <p:cNvSpPr txBox="1"/>
          <p:nvPr/>
        </p:nvSpPr>
        <p:spPr>
          <a:xfrm>
            <a:off x="566928" y="4251960"/>
            <a:ext cx="365760" cy="320040"/>
          </a:xfrm>
          <a:prstGeom prst="rect">
            <a:avLst/>
          </a:prstGeom>
          <a:noFill/>
          <a:ln/>
        </p:spPr>
        <p:txBody>
          <a:bodyPr wrap="square" lIns="0" tIns="0" rIns="0" bIns="0" rtlCol="0" anchor="t"/>
          <a:lstStyle/>
          <a:p>
            <a:pPr indent="0" marL="0">
              <a:buNone/>
            </a:pPr>
            <a:r>
              <a:rPr lang="en-US" sz="1400" b="1" dirty="0">
                <a:solidFill>
                  <a:srgbClr val="C67A43"/>
                </a:solidFill>
                <a:latin typeface="Arial" pitchFamily="34" charset="0"/>
                <a:ea typeface="Arial" pitchFamily="34" charset="-122"/>
                <a:cs typeface="Arial" pitchFamily="34" charset="-120"/>
              </a:rPr>
              <a:t>6</a:t>
            </a:r>
            <a:endParaRPr lang="en-US" sz="1400" dirty="0"/>
          </a:p>
        </p:txBody>
      </p:sp>
      <p:sp>
        <p:nvSpPr>
          <p:cNvPr id="14" name="Text 12"/>
          <p:cNvSpPr txBox="1"/>
          <p:nvPr/>
        </p:nvSpPr>
        <p:spPr>
          <a:xfrm>
            <a:off x="1051560" y="4251960"/>
            <a:ext cx="10515600" cy="457200"/>
          </a:xfrm>
          <a:prstGeom prst="rect">
            <a:avLst/>
          </a:prstGeom>
          <a:noFill/>
          <a:ln/>
        </p:spPr>
        <p:txBody>
          <a:bodyPr wrap="square" lIns="0" tIns="0" rIns="0" bIns="0" rtlCol="0" anchor="t"/>
          <a:lstStyle/>
          <a:p>
            <a:pPr indent="0" marL="0">
              <a:buNone/>
            </a:pPr>
            <a:r>
              <a:rPr lang="en-US" sz="1200" dirty="0">
                <a:solidFill>
                  <a:srgbClr val="1A1D21"/>
                </a:solidFill>
                <a:latin typeface="Arial" pitchFamily="34" charset="0"/>
                <a:ea typeface="Arial" pitchFamily="34" charset="-122"/>
                <a:cs typeface="Arial" pitchFamily="34" charset="-120"/>
              </a:rPr>
              <a:t>Who judges a contested case, and what happens at day 90 if the winner has not moved?</a:t>
            </a:r>
            <a:endParaRPr lang="en-US" sz="1200" dirty="0"/>
          </a:p>
        </p:txBody>
      </p:sp>
      <p:sp>
        <p:nvSpPr>
          <p:cNvPr id="15" name="Text 13"/>
          <p:cNvSpPr txBox="1"/>
          <p:nvPr/>
        </p:nvSpPr>
        <p:spPr>
          <a:xfrm>
            <a:off x="566928" y="4855464"/>
            <a:ext cx="365760" cy="320040"/>
          </a:xfrm>
          <a:prstGeom prst="rect">
            <a:avLst/>
          </a:prstGeom>
          <a:noFill/>
          <a:ln/>
        </p:spPr>
        <p:txBody>
          <a:bodyPr wrap="square" lIns="0" tIns="0" rIns="0" bIns="0" rtlCol="0" anchor="t"/>
          <a:lstStyle/>
          <a:p>
            <a:pPr indent="0" marL="0">
              <a:buNone/>
            </a:pPr>
            <a:r>
              <a:rPr lang="en-US" sz="1400" b="1" dirty="0">
                <a:solidFill>
                  <a:srgbClr val="C67A43"/>
                </a:solidFill>
                <a:latin typeface="Arial" pitchFamily="34" charset="0"/>
                <a:ea typeface="Arial" pitchFamily="34" charset="-122"/>
                <a:cs typeface="Arial" pitchFamily="34" charset="-120"/>
              </a:rPr>
              <a:t>7</a:t>
            </a:r>
            <a:endParaRPr lang="en-US" sz="1400" dirty="0"/>
          </a:p>
        </p:txBody>
      </p:sp>
      <p:sp>
        <p:nvSpPr>
          <p:cNvPr id="16" name="Text 14"/>
          <p:cNvSpPr txBox="1"/>
          <p:nvPr/>
        </p:nvSpPr>
        <p:spPr>
          <a:xfrm>
            <a:off x="1051560" y="4855464"/>
            <a:ext cx="10515600" cy="457200"/>
          </a:xfrm>
          <a:prstGeom prst="rect">
            <a:avLst/>
          </a:prstGeom>
          <a:noFill/>
          <a:ln/>
        </p:spPr>
        <p:txBody>
          <a:bodyPr wrap="square" lIns="0" tIns="0" rIns="0" bIns="0" rtlCol="0" anchor="t"/>
          <a:lstStyle/>
          <a:p>
            <a:pPr indent="0" marL="0">
              <a:buNone/>
            </a:pPr>
            <a:r>
              <a:rPr lang="en-US" sz="1200" dirty="0">
                <a:solidFill>
                  <a:srgbClr val="1A1D21"/>
                </a:solidFill>
                <a:latin typeface="Arial" pitchFamily="34" charset="0"/>
                <a:ea typeface="Arial" pitchFamily="34" charset="-122"/>
                <a:cs typeface="Arial" pitchFamily="34" charset="-120"/>
              </a:rPr>
              <a:t>What are the six things Jack signs — and which conversation are we deliberately not having with him yet?</a:t>
            </a:r>
            <a:endParaRPr lang="en-US" sz="1200" dirty="0"/>
          </a:p>
        </p:txBody>
      </p:sp>
      <p:sp>
        <p:nvSpPr>
          <p:cNvPr id="17" name="Text 15"/>
          <p:cNvSpPr txBox="1"/>
          <p:nvPr/>
        </p:nvSpPr>
        <p:spPr>
          <a:xfrm>
            <a:off x="566928" y="5458968"/>
            <a:ext cx="365760" cy="320040"/>
          </a:xfrm>
          <a:prstGeom prst="rect">
            <a:avLst/>
          </a:prstGeom>
          <a:noFill/>
          <a:ln/>
        </p:spPr>
        <p:txBody>
          <a:bodyPr wrap="square" lIns="0" tIns="0" rIns="0" bIns="0" rtlCol="0" anchor="t"/>
          <a:lstStyle/>
          <a:p>
            <a:pPr indent="0" marL="0">
              <a:buNone/>
            </a:pPr>
            <a:r>
              <a:rPr lang="en-US" sz="1400" b="1" dirty="0">
                <a:solidFill>
                  <a:srgbClr val="C67A43"/>
                </a:solidFill>
                <a:latin typeface="Arial" pitchFamily="34" charset="0"/>
                <a:ea typeface="Arial" pitchFamily="34" charset="-122"/>
                <a:cs typeface="Arial" pitchFamily="34" charset="-120"/>
              </a:rPr>
              <a:t>8</a:t>
            </a:r>
            <a:endParaRPr lang="en-US" sz="1400" dirty="0"/>
          </a:p>
        </p:txBody>
      </p:sp>
      <p:sp>
        <p:nvSpPr>
          <p:cNvPr id="18" name="Text 16"/>
          <p:cNvSpPr txBox="1"/>
          <p:nvPr/>
        </p:nvSpPr>
        <p:spPr>
          <a:xfrm>
            <a:off x="1051560" y="5458968"/>
            <a:ext cx="10515600" cy="457200"/>
          </a:xfrm>
          <a:prstGeom prst="rect">
            <a:avLst/>
          </a:prstGeom>
          <a:noFill/>
          <a:ln/>
        </p:spPr>
        <p:txBody>
          <a:bodyPr wrap="square" lIns="0" tIns="0" rIns="0" bIns="0" rtlCol="0" anchor="t"/>
          <a:lstStyle/>
          <a:p>
            <a:pPr indent="0" marL="0">
              <a:buNone/>
            </a:pPr>
            <a:r>
              <a:rPr lang="en-US" sz="1200" dirty="0">
                <a:solidFill>
                  <a:srgbClr val="1A1D21"/>
                </a:solidFill>
                <a:latin typeface="Arial" pitchFamily="34" charset="0"/>
                <a:ea typeface="Arial" pitchFamily="34" charset="-122"/>
                <a:cs typeface="Arial" pitchFamily="34" charset="-120"/>
              </a:rPr>
              <a:t>Where do BESS, the plant switchyard and captive cogeneration go — and are Marc and Stephan actually agreed?</a:t>
            </a:r>
            <a:endParaRPr lang="en-US" sz="1200" dirty="0"/>
          </a:p>
        </p:txBody>
      </p:sp>
      <p:sp>
        <p:nvSpPr>
          <p:cNvPr id="19" name="Text 17"/>
          <p:cNvSpPr txBox="1"/>
          <p:nvPr/>
        </p:nvSpPr>
        <p:spPr>
          <a:xfrm>
            <a:off x="548640" y="6510528"/>
            <a:ext cx="5029200" cy="237744"/>
          </a:xfrm>
          <a:prstGeom prst="rect">
            <a:avLst/>
          </a:prstGeom>
          <a:noFill/>
          <a:ln/>
        </p:spPr>
        <p:txBody>
          <a:bodyPr wrap="square" lIns="0" tIns="0" rIns="0" bIns="0" rtlCol="0" anchor="ctr"/>
          <a:lstStyle/>
          <a:p>
            <a:pPr algn="l" indent="0" marL="0">
              <a:buNone/>
            </a:pPr>
            <a:r>
              <a:rPr lang="en-US" sz="800" dirty="0">
                <a:solidFill>
                  <a:srgbClr val="9A9FA4"/>
                </a:solidFill>
                <a:latin typeface="Arial" pitchFamily="34" charset="0"/>
                <a:ea typeface="Arial" pitchFamily="34" charset="-122"/>
                <a:cs typeface="Arial" pitchFamily="34" charset="-120"/>
              </a:rPr>
              <a:t>Stephan Hardt · Power Generation Solutions</a:t>
            </a:r>
            <a:endParaRPr lang="en-US" sz="800" dirty="0"/>
          </a:p>
        </p:txBody>
      </p:sp>
      <p:sp>
        <p:nvSpPr>
          <p:cNvPr id="20" name="Text 18"/>
          <p:cNvSpPr txBox="1"/>
          <p:nvPr/>
        </p:nvSpPr>
        <p:spPr>
          <a:xfrm>
            <a:off x="5943600" y="6510528"/>
            <a:ext cx="5696712" cy="237744"/>
          </a:xfrm>
          <a:prstGeom prst="rect">
            <a:avLst/>
          </a:prstGeom>
          <a:noFill/>
          <a:ln/>
        </p:spPr>
        <p:txBody>
          <a:bodyPr wrap="square" lIns="0" tIns="0" rIns="0" bIns="0" rtlCol="0" anchor="ctr"/>
          <a:lstStyle/>
          <a:p>
            <a:pPr algn="r" indent="0" marL="0">
              <a:buNone/>
            </a:pPr>
            <a:r>
              <a:rPr lang="en-US" sz="800" dirty="0">
                <a:solidFill>
                  <a:srgbClr val="9A9FA4"/>
                </a:solidFill>
                <a:latin typeface="Arial" pitchFamily="34" charset="0"/>
                <a:ea typeface="Arial" pitchFamily="34" charset="-122"/>
                <a:cs typeface="Arial" pitchFamily="34" charset="-120"/>
              </a:rPr>
              <a:t>SWR-PG-ROE Rev 00 · Working draft — Southwire internal · slide 14 of 14</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Southwire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 Generation x Data Center — Coverage Model — SWR-PG-ROE Rev 00</dc:title>
  <dc:subject>PptxGenJS Presentation</dc:subject>
  <dc:creator>Stephan Hardt</dc:creator>
  <cp:lastModifiedBy>Stephan Hardt</cp:lastModifiedBy>
  <cp:revision>1</cp:revision>
  <dcterms:created xsi:type="dcterms:W3CDTF">2026-08-31T20:13:09Z</dcterms:created>
  <dcterms:modified xsi:type="dcterms:W3CDTF">2026-08-31T20:13:09Z</dcterms:modified>
</cp:coreProperties>
</file>