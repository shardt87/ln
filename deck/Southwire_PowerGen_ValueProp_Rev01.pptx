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matters to Donna: this capability is what lets a cable manufacturer hold spec-level conversations — no agency retainer, no per-project art budget. The plant model drives the application-zone mapping and the One-Line Read conversation; the NRG teaser came out of a generic capabilities request. The outsourced-cost figure is a placeholder until a comparable visualization-firm quote is in hand.
[Sources] Internal asset archive (A1–A3, Rev 89 set; NRG teaser Rev 11). Outsourced estimate: to verify against a visualization-firm rate card or dated quote.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paragraph per engagement. NRG: teaser delivered against their public program; site visit on the table; taught us to read an account's own numbers back to them. CPV: active development conversations; taught us how offtaker/PPA financing shapes what a developer will pay for. Southern Power: warm inbound at SVP level; taught us success stories open doors. The strategy pivot (OEM- and EPC-first) traces to real IPP feedback — they push execution risk to their EPCs — not a whiteboard.
[Sources] July OEM quoting report (~$9.7M, quoting not bookings); engagement notes per account; market model is PROVISIONAL pending internal PO history and BOMs — US_Gas_Power_Wire_Cable_Market_Model_v1.xlsx (17 sheets, live formulas) with the executive readout, research cutoff Aug 27,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decisions behind the diagram: fiber is out; hydro is deferred (longer clock, no near-term staffing) — detail in Appendix 3. End-user-agnostic scope (BESS and fuel cells regardless of who owns them) matters for the OEM lane: the same package electrical scope shows up behind the meter and in front of it. Boundary at the POI is what makes the utility relationship a funnel rather than a turf question.
[Sources] Scope definition workbook; Appendix 3 in/out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each trend showed up in our own account conversations: interconnection-queue pressure and BTM moves came up with the data-center-adjacent IPP conversations; offtaker-anchored PPA financing came directly from CPV; combined-cycle preference and hydrogen-capable turbine specs recur in OEM conversations; carbon-capture-ready is specified in new designs while capture systems remain cost-prohibitive (that split is Known; deployment timing is a Working Assumption); hyperscaler internal power teams are visible in hiring and in who shows up at generation events.
[Sources] Public record: Microsoft–Chevron behind-the-meter deal announcement; NRG 2Q26 earnings (Aug 4, 2026) for program context; account conversation notes per 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same architecture translates lane to lane: the umbrella is execution hours, not cable price. For OEMs that reads as consolidation (fewer POs, fewer integration gaps); for EPCs as engineered systems and spec support off the critical path; for utility generation as HV underground and grounding on the plant side of the POI. The NRG figures are their own public program read back to them — 1.5 GW TEF portfolio, 5.4 GW newbuild runway, 25.8 GW operating fleet, per 2Q26 earnings; never summed. Benchmark arithmetic lives in Appendix 4 only — gross is not net.
[Sources] NRG 2Q26 earnings (Aug 4, 2026), public record. Prefab benchmark: Appendix 4 (adjacent-market, a fuel cell manufacturer's program).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funnel logic: T&amp;D is excluded from this vertical's scope, so the utility team's value here is access, not quota. Ask one is largely published-report work — low lift. The Birmingham note is an account fact, not blame: Jay Carver owns the Georgia Power account. On agent credit, the Whitehead dual-credit arrangement exists as word-of-mouth only today — that is why this is tagged Decision Required rather than proposed as policy.
[Sources] Agent report from the Birmingham generation event; account ownership per the utility team's coverage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CIE play: lead with the full-plant application overview, then ask where the BOM stands — don't open with the ask. If the Sept 2 Alabaster visit lands before this meeting, update the BOM status live and drop the To Verify tag. The $11/kW MV field benchmark is what recalibrated the portfolio estimates — it puts a number on medium-voltage scope per plant and keeps the distribution conversation grounded.
[Sources] CIE Wire visit plan (Sept 2, Alabaster); $11/kW MV field benchmark from project reference data; distribution routing per Brian Sides.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OEM is the near-term engine while project lanes mature: shorter cycles, a clean new segment for the direct team, no channel conflict. Say the caveat out loud: $9.7M is July quoting activity, not booked revenue. Day-one guidance to the team: stay off utility accounts.
[Sources] July OEM quoting report (~$9.7M, quoting). Lead-flow routing: Jeff's direct team, Tim Tucker as point. OEM map: Appendix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Cadence proposal: this group reconvenes monthly for the first quarter, then quarterly; lane owners report against the asks on this slide. The 30-day strategy document (with BD) lands: validated market model (replacing the PROVISIONAL tag), lane plans with owners and dates, the agent-credit decision, and the utility funnel mechanics agreed with John's team. The market line stays PROVISIONAL out loud: base case $170–240M per year in U.S. gas-generation cable POs through 2030 (constant 2026 dollars, manufacturer net sales, generation-side cable only), 2026 SAM ~$172M, cumulative 2026–35 SAM ~$1.0B — only 46% of named MW is evidence-backed and no internal quote/BOM/PO data is loaded, so no figure is presented as validated.
[Sources] Internal — roles per current org; asks trace to slides 5–8. Market: US_Gas_Power_Wire_Cable_Market_Model_v1.xlsx (Executive_Summary, base scenario, PO-year view) and the gas-power executive readout (research cutoff Aug 27, 2026) — PROVISIONAL, model passes 27 QA tests with 3 disclosed exceptions.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illustration set, dated, oldest to newest. If any composite is exported as an image, the credit line gets burned into the pixels — not a separate overlay.
[Sources] Internal asset archive (A1 early collateral; A2 Rev 89 render set).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Mike Patello's OEM map — target OEMs by application zone. Pull up from slide 8 if asked.
[Sources] Mike Patello's OEM mapping.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in/out table behind slide 3, with one-line rationale each — including the fiber-out and hydro-deferred decisions.
[Sources] Scope definition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caveat band matters more than the arithmetic: this is an adjacent-market benchmark from a fuel cell manufacturer's public prefab program, not an NRG or Southwire-project result; savings are gross, not net; installed cost goes up — the argument is TCO over asset life. Slides 5 and 8 deliberately carry none of this dollar math.
[Sources] Fuel cell manufacturer's public prefab program (field-hour benchmark); internal extrapolation.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GENERATION SOLUTIONS · SEPT 3, 2026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the technical assets of an engineering partner — in-house.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65576" cy="2148840"/>
          </a:xfrm>
          <a:prstGeom prst="rect">
            <a:avLst/>
          </a:prstGeom>
          <a:solidFill>
            <a:srgbClr val="22262B"/>
          </a:solidFill>
          <a:ln w="9525">
            <a:solidFill>
              <a:srgbClr val="C67A4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319125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A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6A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first-generation collateral (A1)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95344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6A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— generic collateral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61688" y="1691640"/>
            <a:ext cx="3465576" cy="2148840"/>
          </a:xfrm>
          <a:prstGeom prst="rect">
            <a:avLst/>
          </a:prstGeom>
          <a:solidFill>
            <a:srgbClr val="22262B"/>
          </a:solidFill>
          <a:ln w="9525">
            <a:solidFill>
              <a:srgbClr val="C67A43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498848" y="1691640"/>
            <a:ext cx="319125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A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6A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CCGT plant render + SK-120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6A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zones (A2)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3895344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6A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— CAD-grade site model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174736" y="1691640"/>
            <a:ext cx="3465576" cy="2148840"/>
          </a:xfrm>
          <a:prstGeom prst="rect">
            <a:avLst/>
          </a:prstGeom>
          <a:solidFill>
            <a:srgbClr val="22262B"/>
          </a:solidFill>
          <a:ln w="9525">
            <a:solidFill>
              <a:srgbClr val="C67A43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8311896" y="1691640"/>
            <a:ext cx="319125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A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6A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NRG teaser cover, Rev 11 (A3)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174736" y="3895344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6A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2026 — account-specific teaser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254203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827264" y="254203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262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52628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assets, not marketing art — the plant model drives the zone mapping and the One-Line Read.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02920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02920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turned a generic capabilities request into an account-specific teaser.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55321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in-house. Outsourced to a technical-visualization firm, the same asset set is estimated at $X.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921240" y="5532120"/>
            <a:ext cx="793699" cy="237744"/>
          </a:xfrm>
          <a:prstGeom prst="roundRect">
            <a:avLst>
              <a:gd name="adj" fmla="val 15385"/>
            </a:avLst>
          </a:prstGeom>
          <a:solidFill>
            <a:srgbClr val="C67A4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VERIFY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594360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6A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basis: comparable visualization-firm quote, dated ___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105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9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· Power Generation Solutions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6510528"/>
            <a:ext cx="5056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9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SWR-PG-VP Rev 01 · Internal — Southwire · slide 1 of 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VERTICAL STANDS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Educated, adapting, executing.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794760" y="1572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1572768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017520" cy="3154680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148840"/>
            <a:ext cx="2606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vertical</a:t>
            </a:r>
            <a:endParaRPr lang="en-US" sz="12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definition</a:t>
            </a:r>
            <a:endParaRPr lang="en-US" sz="12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market view</a:t>
            </a:r>
            <a:endParaRPr lang="en-US" sz="12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collateral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794760" y="1920240"/>
            <a:ext cx="4754880" cy="1517904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005072" y="20482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2029968"/>
            <a:ext cx="925373" cy="237744"/>
          </a:xfrm>
          <a:prstGeom prst="roundRect">
            <a:avLst>
              <a:gd name="adj" fmla="val 15385"/>
            </a:avLst>
          </a:prstGeom>
          <a:solidFill>
            <a:srgbClr val="C67A4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PROVISIONAL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4005072" y="2304288"/>
            <a:ext cx="4334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mapped and sized · customer set locked — IPP / EPC / OEM / utility generation · 3D plant model + application zones · ~$9.7M July OEM quoting · Patrick and Mike onboard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94760" y="3566160"/>
            <a:ext cx="4754880" cy="1508760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005072" y="36941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ENGAGED &amp; LEARNED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005072" y="3950208"/>
            <a:ext cx="4334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NRG — teaser in motion, site visit on the table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CPV — active development, offtaker / PPA financing insight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Power — warm inbound, SVP level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78240" y="1920240"/>
            <a:ext cx="2862072" cy="3154680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88552" y="2148840"/>
            <a:ext cx="245059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Lanes activated, with owners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funnel running with the incumbent team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engine scaled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document with BD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303520"/>
            <a:ext cx="11091672" cy="1005840"/>
          </a:xfrm>
          <a:prstGeom prst="rect">
            <a:avLst/>
          </a:prstGeom>
          <a:solidFill>
            <a:srgbClr val="C67A4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4132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6E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OUTREACH TAUGHT US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6509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IPPs push execution risk to their EPCs — so we go OEM- and EPC-first near-term and play the IPP game long. Discovery beats pitching. Success stories open doors.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5105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· Power Generation Solutions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6510528"/>
            <a:ext cx="5056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SWR-PG-VP Rev 01 · Internal — Southwire · slide 2 of 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DEFINITION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inside the fence. Boundary at the point of interconnection.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858000" cy="2788920"/>
          </a:xfrm>
          <a:prstGeom prst="rect">
            <a:avLst/>
          </a:prstGeom>
          <a:solidFill>
            <a:srgbClr val="FDF8F3"/>
          </a:solidFill>
          <a:ln w="25400">
            <a:solidFill>
              <a:srgbClr val="C67A4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385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FENCE — POWERGEN SCOPE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188366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67A4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" y="23774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packages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35224" y="2377440"/>
            <a:ext cx="188366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67A4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08376" y="23774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BOP cable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01768" y="2377440"/>
            <a:ext cx="188366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67A4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74920" y="23774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Switchgear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3218688"/>
            <a:ext cx="291693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67A4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41832" y="3218688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Step-up and generation-side e-houses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68496" y="3218688"/>
            <a:ext cx="291693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67A4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41648" y="3218688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· fuel cells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1148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primary · nuclear secondary — scope holds regardless of end user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06640" y="3291840"/>
            <a:ext cx="1097280" cy="0"/>
          </a:xfrm>
          <a:prstGeom prst="line">
            <a:avLst/>
          </a:prstGeom>
          <a:noFill/>
          <a:ln w="15875">
            <a:solidFill>
              <a:srgbClr val="6B707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59168" y="2962656"/>
            <a:ext cx="694944" cy="6949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67A4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59168" y="296265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03920" y="2377440"/>
            <a:ext cx="3136392" cy="1828800"/>
          </a:xfrm>
          <a:prstGeom prst="rect">
            <a:avLst/>
          </a:prstGeom>
          <a:solidFill>
            <a:srgbClr val="F1F1F1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32520" y="2606040"/>
            <a:ext cx="26791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55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UTILITY-OWNED T&amp;D AND GRID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 for this vertical. The incumbent team's market.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029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Excluding T&amp;D is why the utility ask is a funnel, not a sales push.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105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· Power Generation Solutions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6510528"/>
            <a:ext cx="5056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SWR-PG-VP Rev 01 · Internal — Southwire · slide 3 of 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TRENDS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trend adds electrical scope inside the fence.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82296" cy="82296"/>
          </a:xfrm>
          <a:prstGeom prst="ellipse">
            <a:avLst/>
          </a:prstGeom>
          <a:solidFill>
            <a:srgbClr val="C67A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8869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Interconnection queues push data centers and industrials to on-site and behind-the-meter generation — Microsoft–Chevron BTM deal as the marker.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578608"/>
            <a:ext cx="82296" cy="82296"/>
          </a:xfrm>
          <a:prstGeom prst="ellipse">
            <a:avLst/>
          </a:prstGeom>
          <a:solidFill>
            <a:srgbClr val="C67A4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48716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Offtaker-anchored PPAs are financing new plants.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127248"/>
            <a:ext cx="82296" cy="82296"/>
          </a:xfrm>
          <a:prstGeom prst="ellipse">
            <a:avLst/>
          </a:prstGeom>
          <a:solidFill>
            <a:srgbClr val="C67A4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03580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cycle favored on efficiency and the sustainability story.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675888"/>
            <a:ext cx="82296" cy="82296"/>
          </a:xfrm>
          <a:prstGeom prst="ellipse">
            <a:avLst/>
          </a:prstGeom>
          <a:solidFill>
            <a:srgbClr val="C67A4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58444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Hydrogen-capable turbines being specified.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224528"/>
            <a:ext cx="82296" cy="82296"/>
          </a:xfrm>
          <a:prstGeom prst="ellipse">
            <a:avLst/>
          </a:prstGeom>
          <a:solidFill>
            <a:srgbClr val="C67A4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13308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Carbon-capture-ready designs specified; capture systems still cost-prohibitive.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919472"/>
            <a:ext cx="82296" cy="82296"/>
          </a:xfrm>
          <a:prstGeom prst="ellipse">
            <a:avLst/>
          </a:prstGeom>
          <a:solidFill>
            <a:srgbClr val="C67A4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82803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Hyperscalers are building internal power-generation teams.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4114800"/>
            <a:ext cx="2331720" cy="237744"/>
          </a:xfrm>
          <a:prstGeom prst="roundRect">
            <a:avLst>
              <a:gd name="adj" fmla="val 15385"/>
            </a:avLst>
          </a:prstGeom>
          <a:solidFill>
            <a:srgbClr val="C67A4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— WORKING ASSUMPTION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generation, built faster, closer to load — all of it wired.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105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9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· Power Generation Solutions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6510528"/>
            <a:ext cx="5056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9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SWR-PG-VP Rev 01 · Internal — Southwire · slide 4 of 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 BY LANE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438912"/>
            <a:ext cx="530352" cy="237744"/>
          </a:xfrm>
          <a:prstGeom prst="roundRect">
            <a:avLst>
              <a:gd name="adj" fmla="val 15385"/>
            </a:avLst>
          </a:prstGeom>
          <a:solidFill>
            <a:srgbClr val="C67A4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68096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power is an electrical execution problem before it is a cable-buying problem. We take hours out of the electrical scope.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7223760" cy="1097280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939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68296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supplier across the package's electrical scope — fewer POs, fewer gaps, faster integration.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7223760" cy="1097280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3284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02736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cable systems and spec support that take field hours off the critical path.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7223760" cy="1097280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5628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GEN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837176"/>
            <a:ext cx="6766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 underground and grounding for the plant side of the POI, backed by the incumbent team's relationships.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6692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wording: working draft for Stephan's edit.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1965960"/>
            <a:ext cx="3593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— NRG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2267712"/>
            <a:ext cx="3593592" cy="1554480"/>
          </a:xfrm>
          <a:prstGeom prst="rect">
            <a:avLst/>
          </a:prstGeom>
          <a:solidFill>
            <a:srgbClr val="F1EEEA"/>
          </a:solidFill>
          <a:ln w="9525">
            <a:solidFill>
              <a:srgbClr val="C67A43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8183880" y="2267712"/>
            <a:ext cx="33192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NRG teaser cover (A3)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65008" y="4014216"/>
            <a:ext cx="82296" cy="82296"/>
          </a:xfrm>
          <a:prstGeom prst="ellipse">
            <a:avLst/>
          </a:prstGeom>
          <a:solidFill>
            <a:srgbClr val="C67A4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02752" y="3950208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their public program back — 1.5 GW TEF · 5.4 GW newbuild runway · 25.8 GW fleet (2Q26)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65008" y="4654296"/>
            <a:ext cx="82296" cy="82296"/>
          </a:xfrm>
          <a:prstGeom prst="ellipse">
            <a:avLst/>
          </a:prstGeom>
          <a:solidFill>
            <a:srgbClr val="C67A4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02752" y="459028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Owner's Equation levers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65008" y="4946904"/>
            <a:ext cx="82296" cy="82296"/>
          </a:xfrm>
          <a:prstGeom prst="ellipse">
            <a:avLst/>
          </a:prstGeom>
          <a:solidFill>
            <a:srgbClr val="C67A4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02752" y="488289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Prefab case, honesty framing intact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5285232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prop deployed against a named account — in motion, not closed.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105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· Power Generation Solutions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6510528"/>
            <a:ext cx="5056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SWR-PG-VP Rev 01 · Internal — Southwire · slide 5 of 13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LANE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utility team is the funnel. Here's the ask.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81051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on which IOUs and co-ops are building generation.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22199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 — part of it comes from published reports. Low lift.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72491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support on generation-side opportunities.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41071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 underground and grounding as the utility side's product contribution to plants.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11091672" cy="868680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3708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Power hosted a generation event in Birmingham. Our agent attended; we weren't in the room. We need to know before, not after.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40680"/>
            <a:ext cx="1320394" cy="237744"/>
          </a:xfrm>
          <a:prstGeom prst="roundRect">
            <a:avLst>
              <a:gd name="adj" fmla="val 15385"/>
            </a:avLst>
          </a:prstGeom>
          <a:solidFill>
            <a:srgbClr val="C67A4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REQUIRED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5422392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credit for non-portfolio products — how do agents get paid or recognized when they open generation doors?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105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· Power Generation Solutions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6510528"/>
            <a:ext cx="5056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SWR-PG-VP Rev 01 · Internal — Southwire · slide 6 of 13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LANE · RENAMED FROM INDUSTRIAL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 the spec where the cable decisions actually get made.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671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Patrick is the execution resource — upstream spec work with EPCs, ahead of the RFQ.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2944368"/>
            <a:ext cx="793699" cy="237744"/>
          </a:xfrm>
          <a:prstGeom prst="roundRect">
            <a:avLst>
              <a:gd name="adj" fmla="val 15385"/>
            </a:avLst>
          </a:prstGeom>
          <a:solidFill>
            <a:srgbClr val="C67A4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VERIFY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6440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through Brian Sides and CIE Wire. Visit Sept 2, Alabaster. Full project BOM outstanding — being chased there; update live in this meeting.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STANDALONE CHANNEL STRATEGY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988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Brian signals where distribution needs activating. Medium-voltage interconnect — switchgear-class OEMs — routes through his world.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5778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long game, alongside IPP project work.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5105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· Power Generation Solutions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6510528"/>
            <a:ext cx="5056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SWR-PG-VP Rev 01 · Internal — Southwire · slide 7 of 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LANE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7772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0" b="1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$9.7M</a:t>
            </a:r>
            <a:endParaRPr lang="en-US" sz="9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quoted to generation OEMs in July.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877056"/>
            <a:ext cx="82296" cy="82296"/>
          </a:xfrm>
          <a:prstGeom prst="ellipse">
            <a:avLst/>
          </a:prstGeom>
          <a:solidFill>
            <a:srgbClr val="C67A4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379476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flow: Jeff's direct team first — Tim Tucker is the point — then OEM distribution.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4379976"/>
            <a:ext cx="82296" cy="82296"/>
          </a:xfrm>
          <a:prstGeom prst="ellipse">
            <a:avLst/>
          </a:prstGeom>
          <a:solidFill>
            <a:srgbClr val="C67A4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29768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OEMs are a new segment for the direct team. Clean lane, no channel conflict.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4882896"/>
            <a:ext cx="82296" cy="82296"/>
          </a:xfrm>
          <a:prstGeom prst="ellipse">
            <a:avLst/>
          </a:prstGeom>
          <a:solidFill>
            <a:srgbClr val="C67A4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8006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Mike's OEM map on hand — appendix; pull up if asked.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5778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PowerGen makes money now — while the project lanes mature.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5105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· Power Generation Solutions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6510528"/>
            <a:ext cx="5056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SWR-PG-VP Rev 01 · Internal — Southwire · slide 8 of 13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— PEOPLE AND COORDINATION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on the page. Ask per lane.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502920"/>
          </a:xfrm>
          <a:prstGeom prst="rect">
            <a:avLst/>
          </a:prstGeom>
          <a:solidFill>
            <a:srgbClr val="C67A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· Marc — vertical leads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46120" y="2286000"/>
            <a:ext cx="0" cy="228600"/>
          </a:xfrm>
          <a:prstGeom prst="line">
            <a:avLst/>
          </a:prstGeom>
          <a:noFill/>
          <a:ln w="12700">
            <a:solidFill>
              <a:srgbClr val="A6ACB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514600"/>
            <a:ext cx="2606040" cy="841248"/>
          </a:xfrm>
          <a:prstGeom prst="rect">
            <a:avLst/>
          </a:prstGeom>
          <a:solidFill>
            <a:srgbClr val="2327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2624328"/>
            <a:ext cx="227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Patrick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6A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2514600"/>
            <a:ext cx="2606040" cy="841248"/>
          </a:xfrm>
          <a:prstGeom prst="rect">
            <a:avLst/>
          </a:prstGeom>
          <a:solidFill>
            <a:srgbClr val="2327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02152" y="2624328"/>
            <a:ext cx="227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Mike Patello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6A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· Tucker / Murray mentoring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493008"/>
            <a:ext cx="2606040" cy="841248"/>
          </a:xfrm>
          <a:prstGeom prst="rect">
            <a:avLst/>
          </a:prstGeom>
          <a:solidFill>
            <a:srgbClr val="2327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3602736"/>
            <a:ext cx="227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Jeff's team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6A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+ lead flow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7560" y="3493008"/>
            <a:ext cx="2606040" cy="841248"/>
          </a:xfrm>
          <a:prstGeom prst="rect">
            <a:avLst/>
          </a:prstGeom>
          <a:solidFill>
            <a:srgbClr val="2327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02152" y="3602736"/>
            <a:ext cx="227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Brian Sides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6A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signals · MV / industrial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471416"/>
            <a:ext cx="2606040" cy="841248"/>
          </a:xfrm>
          <a:prstGeom prst="rect">
            <a:avLst/>
          </a:prstGeom>
          <a:solidFill>
            <a:srgbClr val="2327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4581144"/>
            <a:ext cx="227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John's utility team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6A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· market intel · agents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37560" y="4471416"/>
            <a:ext cx="2606040" cy="841248"/>
          </a:xfrm>
          <a:prstGeom prst="rect">
            <a:avLst/>
          </a:prstGeom>
          <a:solidFill>
            <a:srgbClr val="2327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02152" y="4581144"/>
            <a:ext cx="2276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</a:t>
            </a:r>
            <a:endParaRPr lang="en-US" sz="105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6A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lead-gen and data arm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810512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1945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2194560"/>
            <a:ext cx="3730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asks — visibility, agent support, HV underground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9992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2999232"/>
            <a:ext cx="3730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 closure + spec access upstream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3657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3657600"/>
            <a:ext cx="3730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lane, scale lead flow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315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909560" y="4315968"/>
            <a:ext cx="3730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Donna as sponsor — strategy document, cross-team decisions, agent credit first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5138928"/>
            <a:ext cx="925373" cy="237744"/>
          </a:xfrm>
          <a:prstGeom prst="roundRect">
            <a:avLst>
              <a:gd name="adj" fmla="val 15385"/>
            </a:avLst>
          </a:prstGeom>
          <a:solidFill>
            <a:srgbClr val="C67A4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PROVISIONAL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5440680"/>
            <a:ext cx="5239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AC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behind the lanes: $170–240M a year in U.S. gas-generation cable POs through 2030 — model v1, awaiting internal PO history and BOMs.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064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homework is done. This is the operating model.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5105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9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· Power Generation Solutions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6510528"/>
            <a:ext cx="5056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9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SWR-PG-VP Rev 01 · Internal — Southwire · slide 9 of 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1 — ILLUSTRATION EVOLUTION, FULL SET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465576" cy="2240280"/>
          </a:xfrm>
          <a:prstGeom prst="rect">
            <a:avLst/>
          </a:prstGeom>
          <a:solidFill>
            <a:srgbClr val="F1EEEA"/>
          </a:solidFill>
          <a:ln w="9525">
            <a:solidFill>
              <a:srgbClr val="C67A43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319125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— frame 1 (A1/A2 set)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19856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___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361688" y="1143000"/>
            <a:ext cx="3465576" cy="2240280"/>
          </a:xfrm>
          <a:prstGeom prst="rect">
            <a:avLst/>
          </a:prstGeom>
          <a:solidFill>
            <a:srgbClr val="F1EEEA"/>
          </a:solidFill>
          <a:ln w="9525">
            <a:solidFill>
              <a:srgbClr val="C67A43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498848" y="1143000"/>
            <a:ext cx="319125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— frame 2 (A1/A2 set)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3419856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___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174736" y="1143000"/>
            <a:ext cx="3465576" cy="2240280"/>
          </a:xfrm>
          <a:prstGeom prst="rect">
            <a:avLst/>
          </a:prstGeom>
          <a:solidFill>
            <a:srgbClr val="F1EEEA"/>
          </a:solidFill>
          <a:ln w="9525">
            <a:solidFill>
              <a:srgbClr val="C67A43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311896" y="1143000"/>
            <a:ext cx="319125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— frame 3 (A1/A2 set)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174736" y="3419856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___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3465576" cy="2240280"/>
          </a:xfrm>
          <a:prstGeom prst="rect">
            <a:avLst/>
          </a:prstGeom>
          <a:solidFill>
            <a:srgbClr val="F1EEEA"/>
          </a:solidFill>
          <a:ln w="9525">
            <a:solidFill>
              <a:srgbClr val="C67A43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" y="3703320"/>
            <a:ext cx="319125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— frame 4 (A1/A2 set)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80176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___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61688" y="3703320"/>
            <a:ext cx="3465576" cy="2240280"/>
          </a:xfrm>
          <a:prstGeom prst="rect">
            <a:avLst/>
          </a:prstGeom>
          <a:solidFill>
            <a:srgbClr val="F1EEEA"/>
          </a:solidFill>
          <a:ln w="9525">
            <a:solidFill>
              <a:srgbClr val="C67A43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4498848" y="3703320"/>
            <a:ext cx="319125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— frame 5 (A1/A2 set)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5980176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___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174736" y="3703320"/>
            <a:ext cx="3465576" cy="2240280"/>
          </a:xfrm>
          <a:prstGeom prst="rect">
            <a:avLst/>
          </a:prstGeom>
          <a:solidFill>
            <a:srgbClr val="F1EEEA"/>
          </a:solidFill>
          <a:ln w="9525">
            <a:solidFill>
              <a:srgbClr val="C67A43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8311896" y="3703320"/>
            <a:ext cx="319125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— frame 6 (A1/A2 set)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174736" y="5980176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___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5105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· Power Generation Solutions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6510528"/>
            <a:ext cx="5056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SWR-PG-VP Rev 01 · Internal — Southwire · slide 10 of 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2 — OEM MAP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91672" cy="5074920"/>
          </a:xfrm>
          <a:prstGeom prst="rect">
            <a:avLst/>
          </a:prstGeom>
          <a:solidFill>
            <a:srgbClr val="F1EEEA"/>
          </a:solidFill>
          <a:ln w="9525">
            <a:solidFill>
              <a:srgbClr val="C67A43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— Mike's OEM map (A4): target OEMs by application zone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· Power Generation Solutions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6510528"/>
            <a:ext cx="5056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SWR-PG-VP Rev 01 · Internal — Southwire · slide 11 of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3 — DEFINITION DETAIL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206240"/>
                <a:gridCol w="560527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67A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 generation (primary)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0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market; where the buildout 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67A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Nuclear (secondary)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0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Longer clock; track, don't staff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67A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Generation packages, BOP cable, switchgear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0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Inside the fence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67A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Step-up and generation-side e-houses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0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 side of the POI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67A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BESS and fuel cells — any end user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0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 holds behind the meter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70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Utility-owned T&amp;D and grid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0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Boundary at the POI; the incumbent team's market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70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Fiber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0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Adjacent scope, different buyer; revisit only with a project pull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70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DEFERRED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D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Hydro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0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Revisit later; no near-term staffing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5105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· Power Generation Solutions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6583680" y="6510528"/>
            <a:ext cx="5056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SWR-PG-VP Rev 01 · Internal — Southwire · slide 12 of 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4 — BENCHMARK ARITHMETIC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2240280" cy="237744"/>
          </a:xfrm>
          <a:prstGeom prst="roundRect">
            <a:avLst>
              <a:gd name="adj" fmla="val 15385"/>
            </a:avLst>
          </a:prstGeom>
          <a:solidFill>
            <a:srgbClr val="C67A4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ADJACENT-MARKET BENCHMARK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Prefab spine case — a fuel cell manufacturer's program.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4,400 → ~880 field hours per installation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2907792"/>
            <a:ext cx="82296" cy="82296"/>
          </a:xfrm>
          <a:prstGeom prst="ellipse">
            <a:avLst/>
          </a:prstGeom>
          <a:solidFill>
            <a:srgbClr val="C67A4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8346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$418K field labor at stick-build → $83.6K prefab → $334K saved per unit (gross).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383280"/>
            <a:ext cx="82296" cy="82296"/>
          </a:xfrm>
          <a:prstGeom prst="ellipse">
            <a:avLst/>
          </a:prstGeom>
          <a:solidFill>
            <a:srgbClr val="C67A4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3101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Extrapolated across a 100-unit program: $33.4M — an extrapolation, not a forecast.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091672" cy="1417320"/>
          </a:xfrm>
          <a:prstGeom prst="rect">
            <a:avLst/>
          </a:prstGeom>
          <a:solidFill>
            <a:srgbClr val="F7EE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261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67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CAVEATS — READ BEFORE USING THESE NUMBERS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17136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Adjacent-market benchmark from a fuel cell manufacturer's program — not an NRG or Southwire-project result. Gross is not net. Installed cost is higher — the argument is TCO over asset life. This slide exists so the main deck never carries dollar math.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Stephan Hardt · Power Generation Solutions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6510528"/>
            <a:ext cx="5056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SWR-PG-VP Rev 01 · Internal — Southwire · slide 13 of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Southwire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Southwire PowerGen Value Proposition — SWR-PG-VP Rev 01</dc:title>
  <dc:subject>PptxGenJS Presentation</dc:subject>
  <dc:creator>Stephan Hardt</dc:creator>
  <cp:lastModifiedBy>Stephan Hardt</cp:lastModifiedBy>
  <cp:revision>1</cp:revision>
  <dcterms:created xsi:type="dcterms:W3CDTF">2026-08-31T21:05:29Z</dcterms:created>
  <dcterms:modified xsi:type="dcterms:W3CDTF">2026-08-31T21:05:29Z</dcterms:modified>
</cp:coreProperties>
</file>