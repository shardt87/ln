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Backlog (GW)</c:v>
                </c:pt>
              </c:strCache>
            </c:strRef>
          </c:tx>
          <c:spPr>
            <a:solidFill>
              <a:srgbClr val="C874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GE Vernova</c:v>
                  </c:pt>
                  <c:pt idx="1">
                    <c:v>Siemens Energy</c:v>
                  </c:pt>
                  <c:pt idx="2">
                    <c:v>Mitsubishi Heavy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69</c:v>
                </c:pt>
                <c:pt idx="2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73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Set the objective: align Southwire PowerGen and AXE on where growth is, and land one concrete ask. Presenters: Stephan and Marc; Phil and Bob support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agenda quickly. Q&amp;A closes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the figures from last month's PG call deck. Source each number on the slide before Friday. Placeholders in brackets must be replaced.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gas is the dispatchable foundation; renewables are the intermittent layer, and geothermal, nuclear and other sources sit on top. Bridge to the pipeline: this is why gas projects drive our wire and cable opportunity. Confirm the claims on fastest firm capacity to build with data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in the pipeline data and market sizing. Right-hand column is the bridge to the ask: use AXE's target list once we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plant map by area number: 01 gas turbines and generators, 02 steam turbine, 03 HRSGs, 04 MCC/VFD/UPS/DC/I&amp;C, 05 E-house, 09 fuel gas, 13 GSUs and switchyard, and so on. Each area is a cable application; the application guide has a page for each (page references are in the list on the slide). Next slide zooms into the HRSG.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Simplified combined-cycle plant, left to right: fuel gas, gas turbine and generator, HRSG and steam turbine, then step-up transformer and switchyard to the grid. Numbered callouts are the cable applications: 1 MV/HV power, 2 control and instrumentation, 3 LV power and auxiliaries, 4 grounding grid, 5 hazardous-area cable at the fuel gas supply.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HRSG Blender views (3 pages). Page 2 shows the pressure parts and segregated cable routes; page 3 shows the local power, controls and field connections. Ratings, protection and final circuit design remain project-specific.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1: gas turbine auxiliaries. Follow the field cable from the electrical room to the turbine package (application guide p.4). Auxiliary motor power, package controls, process measurements.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2: inside the HRSG. Pressure parts and segregated cable routes (HRSG views p.2).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3: HRSG local equipment. Auxiliary MCC, control and I/O panel, power and control trays, junction boxes, bonding (HRSG views p.3).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4: HRSGs and field instrumentation. Actuators and local power, process loops, multipair field collection (application guide p.7).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5: steam turbine auxiliaries. Lube oil and turning gear, essential DC loads, monitoring and trip interfaces (application guide p.8).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6: fuel-gas metering and conditioning. Heater and skid auxiliaries, valves and shutdown interfaces, armored instrumentation (application guide p.19).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7: E-house and MV/LV distribution. MV feeders, LV distribution, switchgear control interfaces (application guide p.10). This is the OEM and module-builder story.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8: GSUs and auxiliary transformers. Generator and HV connection, cooling and cabinet supply, alarms and protection (application guide p.20).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9: switchyard, protection and export. Utility export, breaker control, protection and telecom (application guide p.21).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Fly-through 10: grounding, bonding and cable shields. Plant grid, equipment and tray bonds, shield and armor termination (application guide p.23). Source: Southwire combined-cycle wire &amp; cable application guide and HRSG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categories. Swap in the official one-page PowerGen line card and attach it as a leave-behind.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Backlogs: GE Vernova 116 GW (June 2026), Siemens Energy 69 GW (June 30), Mitsubishi Heavy 35 GW large-frame (Aug 6). Behind-the-meter figure is from Cleanview via press. Verify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from Stephan's reply to Marc. Agree with Marc on other expectations of AXE before Friday and add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Phil and Bob help field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600" kern="0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Powering the Next Generation of Generation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and Anixter: joint opportunity in traditional power generation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Anixter Global Accounts Meeting  |  Tuesday, October 6,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demand outlook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10-15 years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453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pipeline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18013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&amp; cable market size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gas plant tour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Southwire is strong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37744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56032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40" dirty="0"/>
          </a:p>
        </p:txBody>
      </p:sp>
      <p:sp>
        <p:nvSpPr>
          <p:cNvPr id="21" name="Text 19"/>
          <p:cNvSpPr txBox="1"/>
          <p:nvPr/>
        </p:nvSpPr>
        <p:spPr>
          <a:xfrm>
            <a:off x="5532120" y="2505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line card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28529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PowerGen offering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4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 overview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mfrs to packagers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29000"/>
            <a:ext cx="40233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611880"/>
            <a:ext cx="502920" cy="5029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4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35570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partnership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532120" y="3904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go together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power demand is climbing, gas is answering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~166 GW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US peak load growth by 2030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38328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~90 GW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that growth tied to data centers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0604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72200" y="13716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 yrs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488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turbine lead time; OEM backlogs run ~5 yrs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driving it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and AI load growth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Electrification, reshoring and industrial demand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 capacity needed to firm up renewables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Grid Strategies National Load Growth Report 2025 (utility forecasts; analysts see data center growth nearer 65 GW); OEM backlog reports, 2026.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is the foundation of the power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Renewables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and wind: variable output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10512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901952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Geothermal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01952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but limited sites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63824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255264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Nuclear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55264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long lead times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17136" y="1280160"/>
            <a:ext cx="123444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08576" y="13716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08576" y="178308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Storage, hydro, biomass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5294376" cy="1554480"/>
          </a:xfrm>
          <a:prstGeom prst="rect">
            <a:avLst/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GAS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566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Dispatchable, on-demand capacity that firms up and balances every other source on the grid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1280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gas is the base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169164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when the wind and sun do not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Ramps fast to follow data center and peak 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firm capacity to build at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build needs wire and cable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in queue and the wire &amp; cable prize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 power projects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IPP build-out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development: ~378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construction: ~52 GW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data centers: ~189 GW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On-site and packaged gas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Behind-the-meter for data centers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planned, 46 projects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Microsoft: 5+ GW signed in 2026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 units: 12-15 mo delivery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AXE and Southwire overlap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560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target accounts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08960"/>
            <a:ext cx="2240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target list: to be shared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data center-linked gas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account plan per project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5262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Global Energy Monitor (H1 2026); Cleanview BTM tracker; press reports. Wire &amp; cable $ sizing: Southwire estimate.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Virtual tour: Southwire across a gas plant</a:t>
            </a:r>
            <a:endParaRPr lang="en-US" sz="2600" dirty="0"/>
          </a:p>
        </p:txBody>
      </p:sp>
      <p:pic>
        <p:nvPicPr>
          <p:cNvPr id="3" name="Image 0" descr="/home/user/ln/presentations/plant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14553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348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Southwire combined-cycle wire &amp; cable application guide. Generic 3x1 plant, illustrative.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power flows through a gas plant</a:t>
            </a:r>
            <a:endParaRPr lang="en-US" sz="2600" dirty="0"/>
          </a:p>
        </p:txBody>
      </p:sp>
      <p:pic>
        <p:nvPicPr>
          <p:cNvPr id="3" name="Image 0" descr="/home/user/ln/presentations/plant_sch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40" dirty="0"/>
          </a:p>
        </p:txBody>
      </p:sp>
      <p:sp>
        <p:nvSpPr>
          <p:cNvPr id="6" name="Text 3"/>
          <p:cNvSpPr txBox="1"/>
          <p:nvPr/>
        </p:nvSpPr>
        <p:spPr>
          <a:xfrm>
            <a:off x="80467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 / HV power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10312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03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245059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&amp; instrumentation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74904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409651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 power &amp; auxiliaries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9496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40" dirty="0"/>
          </a:p>
        </p:txBody>
      </p:sp>
      <p:sp>
        <p:nvSpPr>
          <p:cNvPr id="15" name="Text 12"/>
          <p:cNvSpPr txBox="1"/>
          <p:nvPr/>
        </p:nvSpPr>
        <p:spPr>
          <a:xfrm>
            <a:off x="574243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grid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040880" y="4160520"/>
            <a:ext cx="274320" cy="27432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4088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840" dirty="0"/>
          </a:p>
        </p:txBody>
      </p:sp>
      <p:sp>
        <p:nvSpPr>
          <p:cNvPr id="18" name="Text 15"/>
          <p:cNvSpPr txBox="1"/>
          <p:nvPr/>
        </p:nvSpPr>
        <p:spPr>
          <a:xfrm>
            <a:off x="7388352" y="41148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Hazardous-area cable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Zoom in: the heat recovery steam generator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2976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user/ln/presentations/hrsg_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114800" cy="3218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0" y="118872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0" y="1188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84" dirty="0"/>
          </a:p>
        </p:txBody>
      </p:sp>
      <p:sp>
        <p:nvSpPr>
          <p:cNvPr id="7" name="Text 4"/>
          <p:cNvSpPr txBox="1"/>
          <p:nvPr/>
        </p:nvSpPr>
        <p:spPr>
          <a:xfrm>
            <a:off x="5394960" y="11887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exhaust interface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0" y="151790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5179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84" dirty="0"/>
          </a:p>
        </p:txBody>
      </p:sp>
      <p:sp>
        <p:nvSpPr>
          <p:cNvPr id="10" name="Text 7"/>
          <p:cNvSpPr txBox="1"/>
          <p:nvPr/>
        </p:nvSpPr>
        <p:spPr>
          <a:xfrm>
            <a:off x="5394960" y="15179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Inlet diffuser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0" y="184708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0" y="1847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84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Insulated HRSG casing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0" y="2176272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1762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84" dirty="0"/>
          </a:p>
        </p:txBody>
      </p:sp>
      <p:sp>
        <p:nvSpPr>
          <p:cNvPr id="16" name="Text 13"/>
          <p:cNvSpPr txBox="1"/>
          <p:nvPr/>
        </p:nvSpPr>
        <p:spPr>
          <a:xfrm>
            <a:off x="5394960" y="21762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drums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0" y="2505456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0" y="25054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84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2505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stair tower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0" y="2834640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2834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84" dirty="0"/>
          </a:p>
        </p:txBody>
      </p:sp>
      <p:sp>
        <p:nvSpPr>
          <p:cNvPr id="22" name="Text 19"/>
          <p:cNvSpPr txBox="1"/>
          <p:nvPr/>
        </p:nvSpPr>
        <p:spPr>
          <a:xfrm>
            <a:off x="5394960" y="2834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plenum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29200" y="3163824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0" y="31638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784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31638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 stack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0" y="3493008"/>
            <a:ext cx="256032" cy="256032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3493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784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7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Auxiliary power and controls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0" y="3886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Cable touchpoints: auxiliary MCC, control and I/O panel, power and control trays, field junction boxes, protective bonding.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5262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model; not a construction drawing.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hrsg_p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hrsg_p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0"/>
            <a:ext cx="6858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n/presentations/flythrough/cc_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PowerGen product line card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6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Medium voltage power cable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2900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6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and instrumentation cable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4630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0116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voltage power and auxiliary cable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6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and bare conductor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42900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2900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342900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Hazardous-area and specialty cable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035040" y="288036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3063240"/>
            <a:ext cx="411480" cy="41148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6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6118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wire and MC cable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detail: Southwire combined-cycle wire &amp; cable application guide.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OEM market: who builds the plant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gas turbine backlog (GW)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3657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0" y="128016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709160" y="13258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Turbine OEMs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Vernova, Siemens Energy, Mitsubishi Heavy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MV, LV and control cable for OEM-built equipment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2240280"/>
            <a:ext cx="41148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709160" y="22860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Packagers and engine makers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Turbines (Caterpillar), Wartsila, energy-as-a-service developers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packaged and pre-terminated cable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0" y="3200400"/>
            <a:ext cx="4114800" cy="822960"/>
          </a:xfrm>
          <a:prstGeom prst="rect">
            <a:avLst/>
          </a:prstGeom>
          <a:solidFill>
            <a:srgbClr val="0F1B2D"/>
          </a:solidFill>
          <a:ln w="9525">
            <a:solidFill>
              <a:srgbClr val="0F1B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709160" y="32461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center on-site power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~56 GW planned behind-the-meter, 46 projects</a:t>
            </a:r>
            <a:endParaRPr lang="en-US" sz="1300" dirty="0"/>
          </a:p>
          <a:p>
            <a:pPr indent="0" marL="0">
              <a:buNone/>
            </a:pPr>
            <a:r>
              <a:rPr lang="en-US" sz="1100" b="1" dirty="0">
                <a:solidFill>
                  <a:srgbClr val="C87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Southwire: full plant cable package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AXE adds value: logistics, inventory and project coordination for OEMs and packagers (to discuss).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46227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OEM Q2 2026 reports (GE Vernova, Siemens Energy, Mitsubishi Heavy); Cleanview BTM tracker; press reports.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 and partnership opportunities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344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growth is long-lived and gas-heavy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9202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is strong across the plant, and on the OEM side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457200" cy="457200"/>
          </a:xfrm>
          <a:prstGeom prst="ellipse">
            <a:avLst/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606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 plan beats parallel pursuits of the same projects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143000"/>
          </a:xfrm>
          <a:prstGeom prst="roundRect">
            <a:avLst>
              <a:gd name="adj" fmla="val 8000"/>
            </a:avLst>
          </a:prstGeom>
          <a:solidFill>
            <a:srgbClr val="C8742B"/>
          </a:solidFill>
          <a:ln w="12700">
            <a:solidFill>
              <a:srgbClr val="C874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Southwire into AXE's Gas Power Projects and build a joint strategy around their target list.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Southwire PowerGen  |  Anixter Global Accounts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 Hardt  |  Marc Hall  |  Phil Metz  |  Bob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Southwire PowerGen x Anixter Global Accounts</dc:title>
  <dc:subject>PptxGenJS Presentation</dc:subject>
  <dc:creator>PptxGenJS</dc:creator>
  <cp:lastModifiedBy>PptxGenJS</cp:lastModifiedBy>
  <cp:revision>1</cp:revision>
  <dcterms:created xsi:type="dcterms:W3CDTF">2026-09-29T18:41:12Z</dcterms:created>
  <dcterms:modified xsi:type="dcterms:W3CDTF">2026-09-29T18:41:12Z</dcterms:modified>
</cp:coreProperties>
</file>