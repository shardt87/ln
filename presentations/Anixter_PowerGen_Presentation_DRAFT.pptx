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Backlog (GW)</c:v>
                </c:pt>
              </c:strCache>
            </c:strRef>
          </c:tx>
          <c:spPr>
            <a:solidFill>
              <a:srgbClr val="C874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B2735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GE Vernova</c:v>
                  </c:pt>
                  <c:pt idx="1">
                    <c:v>Siemens Energy</c:v>
                  </c:pt>
                  <c:pt idx="2">
                    <c:v>Mitsubishi Heavy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116</c:v>
                </c:pt>
                <c:pt idx="1">
                  <c:v>69</c:v>
                </c:pt>
                <c:pt idx="2">
                  <c:v>35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1B2735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B2735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40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Opening. Set the objective: align Southwire PowerGen and AXE on where growth is, and land one concrete ask. Presenters: Stephan and Marc; Phil and Bob support Q&amp;A.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the agenda quickly. Q&amp;A closes the session.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Refresh the figures from last month's PG call deck. Source each number on the slide before Friday. Placeholders in brackets must be replaced.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Message: gas is the dispatchable foundation; renewables are the intermittent layer, and geothermal, nuclear and other sources sit on top. Bridge to the pipeline: this is why gas projects drive our wire and cable opportunity. Confirm the claims on fastest firm capacity to build with data before Friday.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Put in the pipeline data and market sizing. Right-hand column is the bridge to the ask: use AXE's target list once we have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the plant map by area number: 01 gas turbines and generators, 02 steam turbine, 03 HRSGs, 04 MCC/VFD/UPS/DC/I&amp;C, 05 E-house, 09 fuel gas, 13 GSUs and switchyard, and so on. Each area is a cable application; the application guide has a page for each (page references are in the list on the slide). Next slide zooms into the HRSG.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HRSG Blender views (3 pages). Page 2 shows the pressure parts and segregated cable routes; page 3 shows the local power, controls and field connections. Ratings, protection and final circuit design remain project-specific.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Placeholder categories. Swap in the official one-page PowerGen line card and attach it as a leave-behind.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Backlogs: GE Vernova 116 GW (June 2026), Siemens Energy 69 GW (June 30), Mitsubishi Heavy 35 GW large-frame (Aug 6). Behind-the-meter figure is from Cleanview via press. Verify before presenting.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ask is from Stephan's reply to Marc. Agree with Marc on other expectations of AXE before Friday and add 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Phil and Bob help field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0972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600" kern="0" dirty="0">
                <a:solidFill>
                  <a:srgbClr val="C87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POWERGEN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554480"/>
            <a:ext cx="7680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Powering the Next Generation of Generation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0632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Southwire and Anixter: joint opportunity in traditional power generation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4206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0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Anixter Global Accounts Meeting  |  Tuesday, October 6,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B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Today's agenda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325880"/>
            <a:ext cx="40233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3E8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40080" y="1508760"/>
            <a:ext cx="502920" cy="502920"/>
          </a:xfrm>
          <a:prstGeom prst="ellipse">
            <a:avLst/>
          </a:prstGeom>
          <a:solidFill>
            <a:srgbClr val="C8742B"/>
          </a:solidFill>
          <a:ln w="12700">
            <a:solidFill>
              <a:srgbClr val="C8742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5087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4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40" dirty="0"/>
          </a:p>
        </p:txBody>
      </p:sp>
      <p:sp>
        <p:nvSpPr>
          <p:cNvPr id="6" name="Text 4"/>
          <p:cNvSpPr txBox="1"/>
          <p:nvPr/>
        </p:nvSpPr>
        <p:spPr>
          <a:xfrm>
            <a:off x="1325880" y="1453896"/>
            <a:ext cx="3017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B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Power demand outlook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1325880" y="180136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10-15 years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663440" y="1325880"/>
            <a:ext cx="40233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3E8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846320" y="1508760"/>
            <a:ext cx="502920" cy="502920"/>
          </a:xfrm>
          <a:prstGeom prst="ellipse">
            <a:avLst/>
          </a:prstGeom>
          <a:solidFill>
            <a:srgbClr val="C8742B"/>
          </a:solidFill>
          <a:ln w="12700">
            <a:solidFill>
              <a:srgbClr val="C8742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846320" y="15087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4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40" dirty="0"/>
          </a:p>
        </p:txBody>
      </p:sp>
      <p:sp>
        <p:nvSpPr>
          <p:cNvPr id="11" name="Text 9"/>
          <p:cNvSpPr txBox="1"/>
          <p:nvPr/>
        </p:nvSpPr>
        <p:spPr>
          <a:xfrm>
            <a:off x="5532120" y="1453896"/>
            <a:ext cx="3017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B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Project pipeline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5532120" y="180136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Wire &amp; cable market size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2377440"/>
            <a:ext cx="40233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3E8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40080" y="2560320"/>
            <a:ext cx="502920" cy="502920"/>
          </a:xfrm>
          <a:prstGeom prst="ellipse">
            <a:avLst/>
          </a:prstGeom>
          <a:solidFill>
            <a:srgbClr val="C8742B"/>
          </a:solidFill>
          <a:ln w="12700">
            <a:solidFill>
              <a:srgbClr val="C8742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0080" y="2560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4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40" dirty="0"/>
          </a:p>
        </p:txBody>
      </p:sp>
      <p:sp>
        <p:nvSpPr>
          <p:cNvPr id="16" name="Text 14"/>
          <p:cNvSpPr txBox="1"/>
          <p:nvPr/>
        </p:nvSpPr>
        <p:spPr>
          <a:xfrm>
            <a:off x="1325880" y="2505456"/>
            <a:ext cx="3017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B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Virtual gas plant tour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1325880" y="285292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Southwire is strong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663440" y="2377440"/>
            <a:ext cx="40233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3E8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846320" y="2560320"/>
            <a:ext cx="502920" cy="502920"/>
          </a:xfrm>
          <a:prstGeom prst="ellipse">
            <a:avLst/>
          </a:prstGeom>
          <a:solidFill>
            <a:srgbClr val="C8742B"/>
          </a:solidFill>
          <a:ln w="12700">
            <a:solidFill>
              <a:srgbClr val="C8742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846320" y="2560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4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40" dirty="0"/>
          </a:p>
        </p:txBody>
      </p:sp>
      <p:sp>
        <p:nvSpPr>
          <p:cNvPr id="21" name="Text 19"/>
          <p:cNvSpPr txBox="1"/>
          <p:nvPr/>
        </p:nvSpPr>
        <p:spPr>
          <a:xfrm>
            <a:off x="5532120" y="2505456"/>
            <a:ext cx="3017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B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Product line card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5532120" y="285292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PowerGen offering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457200" y="3429000"/>
            <a:ext cx="40233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3E8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640080" y="3611880"/>
            <a:ext cx="502920" cy="502920"/>
          </a:xfrm>
          <a:prstGeom prst="ellipse">
            <a:avLst/>
          </a:prstGeom>
          <a:solidFill>
            <a:srgbClr val="C8742B"/>
          </a:solidFill>
          <a:ln w="12700">
            <a:solidFill>
              <a:srgbClr val="C8742B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40080" y="36118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4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540" dirty="0"/>
          </a:p>
        </p:txBody>
      </p:sp>
      <p:sp>
        <p:nvSpPr>
          <p:cNvPr id="26" name="Text 24"/>
          <p:cNvSpPr txBox="1"/>
          <p:nvPr/>
        </p:nvSpPr>
        <p:spPr>
          <a:xfrm>
            <a:off x="1325880" y="3557016"/>
            <a:ext cx="3017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B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OEM market overview</a:t>
            </a:r>
            <a:endParaRPr lang="en-US" sz="1700" dirty="0"/>
          </a:p>
        </p:txBody>
      </p:sp>
      <p:sp>
        <p:nvSpPr>
          <p:cNvPr id="27" name="Text 25"/>
          <p:cNvSpPr txBox="1"/>
          <p:nvPr/>
        </p:nvSpPr>
        <p:spPr>
          <a:xfrm>
            <a:off x="1325880" y="390448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Equipment mfrs to packagers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29000"/>
            <a:ext cx="40233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3E8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4846320" y="3611880"/>
            <a:ext cx="502920" cy="502920"/>
          </a:xfrm>
          <a:prstGeom prst="ellipse">
            <a:avLst/>
          </a:prstGeom>
          <a:solidFill>
            <a:srgbClr val="C8742B"/>
          </a:solidFill>
          <a:ln w="12700">
            <a:solidFill>
              <a:srgbClr val="C8742B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4846320" y="36118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4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540" dirty="0"/>
          </a:p>
        </p:txBody>
      </p:sp>
      <p:sp>
        <p:nvSpPr>
          <p:cNvPr id="31" name="Text 29"/>
          <p:cNvSpPr txBox="1"/>
          <p:nvPr/>
        </p:nvSpPr>
        <p:spPr>
          <a:xfrm>
            <a:off x="5532120" y="3557016"/>
            <a:ext cx="3017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B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Takeaways &amp; partnership</a:t>
            </a:r>
            <a:endParaRPr lang="en-US" sz="1700" dirty="0"/>
          </a:p>
        </p:txBody>
      </p:sp>
      <p:sp>
        <p:nvSpPr>
          <p:cNvPr id="32" name="Text 30"/>
          <p:cNvSpPr txBox="1"/>
          <p:nvPr/>
        </p:nvSpPr>
        <p:spPr>
          <a:xfrm>
            <a:off x="5532120" y="390448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we go together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457200" y="47548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Southwire PowerGen  |  Anixter Global Accounts</a:t>
            </a:r>
            <a:endParaRPr lang="en-US" sz="1000" dirty="0"/>
          </a:p>
        </p:txBody>
      </p:sp>
      <p:sp>
        <p:nvSpPr>
          <p:cNvPr id="34" name="Text 32"/>
          <p:cNvSpPr txBox="1"/>
          <p:nvPr/>
        </p:nvSpPr>
        <p:spPr>
          <a:xfrm>
            <a:off x="8229600" y="475488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B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 power demand is climbing, gas is answering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2606040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E3E8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594360" y="1371600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874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~166 GW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2148840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Forecast US peak load growth by 2030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246120" y="1280160"/>
            <a:ext cx="2606040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E3E8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3383280" y="1371600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874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~90 GW</a:t>
            </a:r>
            <a:endParaRPr lang="en-US" sz="4000" dirty="0"/>
          </a:p>
        </p:txBody>
      </p:sp>
      <p:sp>
        <p:nvSpPr>
          <p:cNvPr id="8" name="Text 6"/>
          <p:cNvSpPr txBox="1"/>
          <p:nvPr/>
        </p:nvSpPr>
        <p:spPr>
          <a:xfrm>
            <a:off x="3383280" y="2148840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that growth tied to data centers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035040" y="1280160"/>
            <a:ext cx="2606040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E3E8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6172200" y="1371600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874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3+ yrs</a:t>
            </a:r>
            <a:endParaRPr lang="en-US" sz="4000" dirty="0"/>
          </a:p>
        </p:txBody>
      </p:sp>
      <p:sp>
        <p:nvSpPr>
          <p:cNvPr id="11" name="Text 9"/>
          <p:cNvSpPr txBox="1"/>
          <p:nvPr/>
        </p:nvSpPr>
        <p:spPr>
          <a:xfrm>
            <a:off x="6172200" y="2148840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 turbine lead time; OEM backlogs run ~5 yrs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31089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B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driving it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347472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center and AI load growth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Electrification, reshoring and industrial demand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Dispatchable capacity needed to firm up renewables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4434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Grid Strategies National Load Growth Report 2025 (utility forecasts; analysts see data center growth nearer 65 GW); OEM backlog reports, 2026.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47548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Southwire PowerGen  |  Anixter Global Accounts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8229600" y="475488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B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Gas is the foundation of the power stack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123444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E3E8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548640" y="1371600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1B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Renewables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783080"/>
            <a:ext cx="1051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Solar and wind: variable output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1810512" y="1280160"/>
            <a:ext cx="123444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E3E8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1901952" y="1371600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1B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Geothermal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901952" y="1783080"/>
            <a:ext cx="1051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Firm, but limited sites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163824" y="1280160"/>
            <a:ext cx="123444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E3E8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3255264" y="1371600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1B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Nuclear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3255264" y="1783080"/>
            <a:ext cx="1051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Firm, long lead times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17136" y="1280160"/>
            <a:ext cx="123444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E3E8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4608576" y="1371600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1B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Other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4608576" y="1783080"/>
            <a:ext cx="1051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Storage, hydro, biomass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2788920"/>
            <a:ext cx="5294376" cy="1554480"/>
          </a:xfrm>
          <a:prstGeom prst="rect">
            <a:avLst/>
          </a:prstGeom>
          <a:solidFill>
            <a:srgbClr val="0F1B2D"/>
          </a:solidFill>
          <a:ln w="12700">
            <a:solidFill>
              <a:srgbClr val="0F1B2D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685800" y="297180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NATURAL GAS</a:t>
            </a:r>
            <a:endParaRPr lang="en-US" sz="2800" dirty="0"/>
          </a:p>
        </p:txBody>
      </p:sp>
      <p:sp>
        <p:nvSpPr>
          <p:cNvPr id="17" name="Text 15"/>
          <p:cNvSpPr txBox="1"/>
          <p:nvPr/>
        </p:nvSpPr>
        <p:spPr>
          <a:xfrm>
            <a:off x="685800" y="356616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Dispatchable, on-demand capacity that firms up and balances every other source on the grid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126480" y="128016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B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gas is the base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6126480" y="1691640"/>
            <a:ext cx="256032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when the wind and sun do not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Ramps fast to follow data center and peak load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Fastest firm capacity to build at scale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new build needs wire and cable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47548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Southwire PowerGen  |  Anixter Global Accounts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8229600" y="475488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B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Projects in queue and the wire &amp; cable prize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2606040" cy="3200400"/>
          </a:xfrm>
          <a:prstGeom prst="rect">
            <a:avLst/>
          </a:prstGeom>
          <a:solidFill>
            <a:srgbClr val="FFFFFF"/>
          </a:solidFill>
          <a:ln w="9525">
            <a:solidFill>
              <a:srgbClr val="E3E8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40080" y="1463040"/>
            <a:ext cx="457200" cy="457200"/>
          </a:xfrm>
          <a:prstGeom prst="ellipse">
            <a:avLst/>
          </a:prstGeom>
          <a:solidFill>
            <a:srgbClr val="C8742B"/>
          </a:solidFill>
          <a:ln w="12700">
            <a:solidFill>
              <a:srgbClr val="C8742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463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01168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F1B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Gas power projects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56032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Utility and IPP build-out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3108960"/>
            <a:ext cx="22402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development: ~378 GW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construction: ~52 GW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Tied to data centers: ~189 GW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46120" y="1280160"/>
            <a:ext cx="2606040" cy="3200400"/>
          </a:xfrm>
          <a:prstGeom prst="rect">
            <a:avLst/>
          </a:prstGeom>
          <a:solidFill>
            <a:srgbClr val="FFFFFF"/>
          </a:solidFill>
          <a:ln w="9525">
            <a:solidFill>
              <a:srgbClr val="E3E8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429000" y="1463040"/>
            <a:ext cx="457200" cy="457200"/>
          </a:xfrm>
          <a:prstGeom prst="ellipse">
            <a:avLst/>
          </a:prstGeom>
          <a:solidFill>
            <a:srgbClr val="C8742B"/>
          </a:solidFill>
          <a:ln w="12700">
            <a:solidFill>
              <a:srgbClr val="C8742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429000" y="1463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3429000" y="201168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F1B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On-site and packaged gas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3429000" y="256032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Behind-the-meter for data centers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3429000" y="3108960"/>
            <a:ext cx="22402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~56 GW planned, 46 projects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Microsoft: 5+ GW signed in 2026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Packaged units: 12-15 mo delivery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035040" y="1280160"/>
            <a:ext cx="2606040" cy="3200400"/>
          </a:xfrm>
          <a:prstGeom prst="rect">
            <a:avLst/>
          </a:prstGeom>
          <a:solidFill>
            <a:srgbClr val="0F1B2D"/>
          </a:solidFill>
          <a:ln w="9525">
            <a:solidFill>
              <a:srgbClr val="0F1B2D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217920" y="1463040"/>
            <a:ext cx="457200" cy="457200"/>
          </a:xfrm>
          <a:prstGeom prst="ellipse">
            <a:avLst/>
          </a:prstGeom>
          <a:solidFill>
            <a:srgbClr val="C8742B"/>
          </a:solidFill>
          <a:ln w="12700">
            <a:solidFill>
              <a:srgbClr val="C8742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217920" y="1463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217920" y="201168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AXE and Southwire overlap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6217920" y="256032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target accounts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6217920" y="3108960"/>
            <a:ext cx="22402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AXE target list: to be shared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Focus: data center-linked gas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Joint account plan per project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457200" y="452628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Global Energy Monitor (H1 2026); Cleanview BTM tracker; press reports. Wire &amp; cable $ sizing: Southwire estimate.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457200" y="47548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Southwire PowerGen  |  Anixter Global Accounts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8229600" y="475488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B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Virtual tour: Southwire across a gas plant</a:t>
            </a:r>
            <a:endParaRPr lang="en-US" sz="2600" dirty="0"/>
          </a:p>
        </p:txBody>
      </p:sp>
      <p:pic>
        <p:nvPicPr>
          <p:cNvPr id="3" name="Image 0" descr="/home/user/ln/presentations/plant_map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43000"/>
            <a:ext cx="8229600" cy="314553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44348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Southwire combined-cycle wire &amp; cable application guide. Generic 3x1 plant, illustrative.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47548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Southwire PowerGen  |  Anixter Global Accounts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8229600" y="475488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B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Zoom in: the heat recovery steam generator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297680" cy="3291840"/>
          </a:xfrm>
          <a:prstGeom prst="rect">
            <a:avLst/>
          </a:prstGeom>
          <a:solidFill>
            <a:srgbClr val="FFFFFF"/>
          </a:solidFill>
          <a:ln w="9525">
            <a:solidFill>
              <a:srgbClr val="E3E8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4" name="Image 0" descr="/home/user/ln/presentations/hrsg_view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34440"/>
            <a:ext cx="4114800" cy="321868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029200" y="1188720"/>
            <a:ext cx="256032" cy="256032"/>
          </a:xfrm>
          <a:prstGeom prst="ellipse">
            <a:avLst/>
          </a:prstGeom>
          <a:solidFill>
            <a:srgbClr val="C8742B"/>
          </a:solidFill>
          <a:ln w="12700">
            <a:solidFill>
              <a:srgbClr val="C8742B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029200" y="118872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4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784" dirty="0"/>
          </a:p>
        </p:txBody>
      </p:sp>
      <p:sp>
        <p:nvSpPr>
          <p:cNvPr id="7" name="Text 4"/>
          <p:cNvSpPr txBox="1"/>
          <p:nvPr/>
        </p:nvSpPr>
        <p:spPr>
          <a:xfrm>
            <a:off x="5394960" y="118872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Turbine exhaust interface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5029200" y="1517904"/>
            <a:ext cx="256032" cy="256032"/>
          </a:xfrm>
          <a:prstGeom prst="ellipse">
            <a:avLst/>
          </a:prstGeom>
          <a:solidFill>
            <a:srgbClr val="C8742B"/>
          </a:solidFill>
          <a:ln w="12700">
            <a:solidFill>
              <a:srgbClr val="C8742B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029200" y="151790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4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784" dirty="0"/>
          </a:p>
        </p:txBody>
      </p:sp>
      <p:sp>
        <p:nvSpPr>
          <p:cNvPr id="10" name="Text 7"/>
          <p:cNvSpPr txBox="1"/>
          <p:nvPr/>
        </p:nvSpPr>
        <p:spPr>
          <a:xfrm>
            <a:off x="5394960" y="1517904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Inlet diffuser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5029200" y="1847088"/>
            <a:ext cx="256032" cy="256032"/>
          </a:xfrm>
          <a:prstGeom prst="ellipse">
            <a:avLst/>
          </a:prstGeom>
          <a:solidFill>
            <a:srgbClr val="C8742B"/>
          </a:solidFill>
          <a:ln w="12700">
            <a:solidFill>
              <a:srgbClr val="C8742B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5029200" y="184708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4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784" dirty="0"/>
          </a:p>
        </p:txBody>
      </p:sp>
      <p:sp>
        <p:nvSpPr>
          <p:cNvPr id="13" name="Text 10"/>
          <p:cNvSpPr txBox="1"/>
          <p:nvPr/>
        </p:nvSpPr>
        <p:spPr>
          <a:xfrm>
            <a:off x="5394960" y="184708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Insulated HRSG casing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5029200" y="2176272"/>
            <a:ext cx="256032" cy="256032"/>
          </a:xfrm>
          <a:prstGeom prst="ellipse">
            <a:avLst/>
          </a:prstGeom>
          <a:solidFill>
            <a:srgbClr val="C8742B"/>
          </a:solidFill>
          <a:ln w="12700">
            <a:solidFill>
              <a:srgbClr val="C8742B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029200" y="217627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4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784" dirty="0"/>
          </a:p>
        </p:txBody>
      </p:sp>
      <p:sp>
        <p:nvSpPr>
          <p:cNvPr id="16" name="Text 13"/>
          <p:cNvSpPr txBox="1"/>
          <p:nvPr/>
        </p:nvSpPr>
        <p:spPr>
          <a:xfrm>
            <a:off x="5394960" y="2176272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Steam drums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5029200" y="2505456"/>
            <a:ext cx="256032" cy="256032"/>
          </a:xfrm>
          <a:prstGeom prst="ellipse">
            <a:avLst/>
          </a:prstGeom>
          <a:solidFill>
            <a:srgbClr val="C8742B"/>
          </a:solidFill>
          <a:ln w="12700">
            <a:solidFill>
              <a:srgbClr val="C8742B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029200" y="250545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4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784" dirty="0"/>
          </a:p>
        </p:txBody>
      </p:sp>
      <p:sp>
        <p:nvSpPr>
          <p:cNvPr id="19" name="Text 16"/>
          <p:cNvSpPr txBox="1"/>
          <p:nvPr/>
        </p:nvSpPr>
        <p:spPr>
          <a:xfrm>
            <a:off x="5394960" y="2505456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stair tower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5029200" y="2834640"/>
            <a:ext cx="256032" cy="256032"/>
          </a:xfrm>
          <a:prstGeom prst="ellipse">
            <a:avLst/>
          </a:prstGeom>
          <a:solidFill>
            <a:srgbClr val="C8742B"/>
          </a:solidFill>
          <a:ln w="12700">
            <a:solidFill>
              <a:srgbClr val="C8742B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5029200" y="283464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4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784" dirty="0"/>
          </a:p>
        </p:txBody>
      </p:sp>
      <p:sp>
        <p:nvSpPr>
          <p:cNvPr id="22" name="Text 19"/>
          <p:cNvSpPr txBox="1"/>
          <p:nvPr/>
        </p:nvSpPr>
        <p:spPr>
          <a:xfrm>
            <a:off x="5394960" y="283464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Outlet plenum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5029200" y="3163824"/>
            <a:ext cx="256032" cy="256032"/>
          </a:xfrm>
          <a:prstGeom prst="ellipse">
            <a:avLst/>
          </a:prstGeom>
          <a:solidFill>
            <a:srgbClr val="C8742B"/>
          </a:solidFill>
          <a:ln w="12700">
            <a:solidFill>
              <a:srgbClr val="C8742B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5029200" y="316382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4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784" dirty="0"/>
          </a:p>
        </p:txBody>
      </p:sp>
      <p:sp>
        <p:nvSpPr>
          <p:cNvPr id="25" name="Text 22"/>
          <p:cNvSpPr txBox="1"/>
          <p:nvPr/>
        </p:nvSpPr>
        <p:spPr>
          <a:xfrm>
            <a:off x="5394960" y="3163824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Exhaust stack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5029200" y="3493008"/>
            <a:ext cx="256032" cy="256032"/>
          </a:xfrm>
          <a:prstGeom prst="ellipse">
            <a:avLst/>
          </a:prstGeom>
          <a:solidFill>
            <a:srgbClr val="C8742B"/>
          </a:solidFill>
          <a:ln w="12700">
            <a:solidFill>
              <a:srgbClr val="C8742B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5029200" y="349300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4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784" dirty="0"/>
          </a:p>
        </p:txBody>
      </p:sp>
      <p:sp>
        <p:nvSpPr>
          <p:cNvPr id="28" name="Text 25"/>
          <p:cNvSpPr txBox="1"/>
          <p:nvPr/>
        </p:nvSpPr>
        <p:spPr>
          <a:xfrm>
            <a:off x="5394960" y="349300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Auxiliary power and controls</a:t>
            </a:r>
            <a:endParaRPr lang="en-US" sz="1300" dirty="0"/>
          </a:p>
        </p:txBody>
      </p:sp>
      <p:sp>
        <p:nvSpPr>
          <p:cNvPr id="29" name="Text 26"/>
          <p:cNvSpPr txBox="1"/>
          <p:nvPr/>
        </p:nvSpPr>
        <p:spPr>
          <a:xfrm>
            <a:off x="5029200" y="3886200"/>
            <a:ext cx="3657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Cable touchpoints: auxiliary MCC, control and I/O panel, power and control trays, field junction boxes, protective bonding.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457200" y="4526280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Illustrative model; not a construction drawing.</a:t>
            </a:r>
            <a:endParaRPr lang="en-US" sz="900" dirty="0"/>
          </a:p>
        </p:txBody>
      </p:sp>
      <p:sp>
        <p:nvSpPr>
          <p:cNvPr id="31" name="Text 28"/>
          <p:cNvSpPr txBox="1"/>
          <p:nvPr/>
        </p:nvSpPr>
        <p:spPr>
          <a:xfrm>
            <a:off x="457200" y="47548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Southwire PowerGen  |  Anixter Global Accounts</a:t>
            </a:r>
            <a:endParaRPr lang="en-US" sz="1000" dirty="0"/>
          </a:p>
        </p:txBody>
      </p:sp>
      <p:sp>
        <p:nvSpPr>
          <p:cNvPr id="32" name="Text 29"/>
          <p:cNvSpPr txBox="1"/>
          <p:nvPr/>
        </p:nvSpPr>
        <p:spPr>
          <a:xfrm>
            <a:off x="8229600" y="475488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B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PowerGen product line card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260604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E3E8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40080" y="1463040"/>
            <a:ext cx="411480" cy="411480"/>
          </a:xfrm>
          <a:prstGeom prst="ellipse">
            <a:avLst/>
          </a:prstGeom>
          <a:solidFill>
            <a:srgbClr val="C8742B"/>
          </a:solidFill>
          <a:ln w="12700">
            <a:solidFill>
              <a:srgbClr val="C8742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4630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26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011680"/>
            <a:ext cx="2240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1B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Medium voltage power cable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246120" y="1280160"/>
            <a:ext cx="260604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E3E8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3429000" y="1463040"/>
            <a:ext cx="411480" cy="411480"/>
          </a:xfrm>
          <a:prstGeom prst="ellipse">
            <a:avLst/>
          </a:prstGeom>
          <a:solidFill>
            <a:srgbClr val="C8742B"/>
          </a:solidFill>
          <a:ln w="12700">
            <a:solidFill>
              <a:srgbClr val="C8742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429000" y="14630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260" dirty="0"/>
          </a:p>
        </p:txBody>
      </p:sp>
      <p:sp>
        <p:nvSpPr>
          <p:cNvPr id="10" name="Text 8"/>
          <p:cNvSpPr txBox="1"/>
          <p:nvPr/>
        </p:nvSpPr>
        <p:spPr>
          <a:xfrm>
            <a:off x="3429000" y="2011680"/>
            <a:ext cx="2240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1B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Control and instrumentation cable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035040" y="1280160"/>
            <a:ext cx="260604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E3E8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217920" y="1463040"/>
            <a:ext cx="411480" cy="411480"/>
          </a:xfrm>
          <a:prstGeom prst="ellipse">
            <a:avLst/>
          </a:prstGeom>
          <a:solidFill>
            <a:srgbClr val="C8742B"/>
          </a:solidFill>
          <a:ln w="12700">
            <a:solidFill>
              <a:srgbClr val="C8742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217920" y="14630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260" dirty="0"/>
          </a:p>
        </p:txBody>
      </p:sp>
      <p:sp>
        <p:nvSpPr>
          <p:cNvPr id="14" name="Text 12"/>
          <p:cNvSpPr txBox="1"/>
          <p:nvPr/>
        </p:nvSpPr>
        <p:spPr>
          <a:xfrm>
            <a:off x="6217920" y="2011680"/>
            <a:ext cx="2240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1B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Low voltage power and auxiliary cable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457200" y="2880360"/>
            <a:ext cx="260604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E3E8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40080" y="3063240"/>
            <a:ext cx="411480" cy="411480"/>
          </a:xfrm>
          <a:prstGeom prst="ellipse">
            <a:avLst/>
          </a:prstGeom>
          <a:solidFill>
            <a:srgbClr val="C8742B"/>
          </a:solidFill>
          <a:ln w="12700">
            <a:solidFill>
              <a:srgbClr val="C8742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40080" y="30632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26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3611880"/>
            <a:ext cx="2240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1B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Grounding and bare conductor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3246120" y="2880360"/>
            <a:ext cx="260604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E3E8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3429000" y="3063240"/>
            <a:ext cx="411480" cy="411480"/>
          </a:xfrm>
          <a:prstGeom prst="ellipse">
            <a:avLst/>
          </a:prstGeom>
          <a:solidFill>
            <a:srgbClr val="C8742B"/>
          </a:solidFill>
          <a:ln w="12700">
            <a:solidFill>
              <a:srgbClr val="C8742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429000" y="30632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260" dirty="0"/>
          </a:p>
        </p:txBody>
      </p:sp>
      <p:sp>
        <p:nvSpPr>
          <p:cNvPr id="22" name="Text 20"/>
          <p:cNvSpPr txBox="1"/>
          <p:nvPr/>
        </p:nvSpPr>
        <p:spPr>
          <a:xfrm>
            <a:off x="3429000" y="3611880"/>
            <a:ext cx="2240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1B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Hazardous-area and specialty cable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6035040" y="2880360"/>
            <a:ext cx="260604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E3E8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6217920" y="3063240"/>
            <a:ext cx="411480" cy="411480"/>
          </a:xfrm>
          <a:prstGeom prst="ellipse">
            <a:avLst/>
          </a:prstGeom>
          <a:solidFill>
            <a:srgbClr val="C8742B"/>
          </a:solidFill>
          <a:ln w="12700">
            <a:solidFill>
              <a:srgbClr val="C8742B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217920" y="30632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260" dirty="0"/>
          </a:p>
        </p:txBody>
      </p:sp>
      <p:sp>
        <p:nvSpPr>
          <p:cNvPr id="26" name="Text 24"/>
          <p:cNvSpPr txBox="1"/>
          <p:nvPr/>
        </p:nvSpPr>
        <p:spPr>
          <a:xfrm>
            <a:off x="6217920" y="3611880"/>
            <a:ext cx="2240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1B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Building wire and MC cable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457200" y="443484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detail: Southwire combined-cycle wire &amp; cable application guide.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457200" y="47548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Southwire PowerGen  |  Anixter Global Accounts</a:t>
            </a:r>
            <a:endParaRPr lang="en-US" sz="1000" dirty="0"/>
          </a:p>
        </p:txBody>
      </p:sp>
      <p:sp>
        <p:nvSpPr>
          <p:cNvPr id="29" name="Text 27"/>
          <p:cNvSpPr txBox="1"/>
          <p:nvPr/>
        </p:nvSpPr>
        <p:spPr>
          <a:xfrm>
            <a:off x="8229600" y="475488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B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OEM market: who builds the plant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3840480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E3E8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640080" y="137160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B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Large gas turbine backlog (GW)</a:t>
            </a:r>
            <a:endParaRPr lang="en-US" sz="14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691640"/>
          <a:ext cx="3657600" cy="2240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4572000" y="1280160"/>
            <a:ext cx="4114800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E3E8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4709160" y="1325880"/>
            <a:ext cx="3840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B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Turbine OEMs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 Vernova, Siemens Energy, Mitsubishi Heavy</a:t>
            </a:r>
            <a:endParaRPr lang="en-US" sz="1300" dirty="0"/>
          </a:p>
          <a:p>
            <a:pPr indent="0" marL="0">
              <a:buNone/>
            </a:pPr>
            <a:r>
              <a:rPr lang="en-US" sz="1100" b="1" dirty="0">
                <a:solidFill>
                  <a:srgbClr val="C87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Southwire: MV, LV and control cable for OEM-built equipment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4572000" y="2240280"/>
            <a:ext cx="4114800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E3E8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4709160" y="2286000"/>
            <a:ext cx="3840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B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Packagers and engine makers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Solar Turbines (Caterpillar), Wartsila, energy-as-a-service developers</a:t>
            </a:r>
            <a:endParaRPr lang="en-US" sz="1300" dirty="0"/>
          </a:p>
          <a:p>
            <a:pPr indent="0" marL="0">
              <a:buNone/>
            </a:pPr>
            <a:r>
              <a:rPr lang="en-US" sz="1100" b="1" dirty="0">
                <a:solidFill>
                  <a:srgbClr val="C87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Southwire: packaged and pre-terminated cable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72000" y="3200400"/>
            <a:ext cx="4114800" cy="822960"/>
          </a:xfrm>
          <a:prstGeom prst="rect">
            <a:avLst/>
          </a:prstGeom>
          <a:solidFill>
            <a:srgbClr val="0F1B2D"/>
          </a:solidFill>
          <a:ln w="9525">
            <a:solidFill>
              <a:srgbClr val="0F1B2D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4709160" y="3246120"/>
            <a:ext cx="3840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 center on-site power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~56 GW planned behind-the-meter, 46 projects</a:t>
            </a:r>
            <a:endParaRPr lang="en-US" sz="1300" dirty="0"/>
          </a:p>
          <a:p>
            <a:pPr indent="0" marL="0">
              <a:buNone/>
            </a:pPr>
            <a:r>
              <a:rPr lang="en-US" sz="1100" b="1" dirty="0">
                <a:solidFill>
                  <a:srgbClr val="C87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Southwire: full plant cable package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457200" y="4114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AXE adds value: logistics, inventory and project coordination for OEMs and packagers (to discuss).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457200" y="4462272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OEM Q2 2026 reports (GE Vernova, Siemens Energy, Mitsubishi Heavy); Cleanview BTM tracker; press reports.</a:t>
            </a:r>
            <a:endParaRPr lang="en-US" sz="900" dirty="0"/>
          </a:p>
        </p:txBody>
      </p:sp>
      <p:sp>
        <p:nvSpPr>
          <p:cNvPr id="14" name="Text 11"/>
          <p:cNvSpPr txBox="1"/>
          <p:nvPr/>
        </p:nvSpPr>
        <p:spPr>
          <a:xfrm>
            <a:off x="457200" y="47548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Southwire PowerGen  |  Anixter Global Accounts</a:t>
            </a:r>
            <a:endParaRPr lang="en-US" sz="1000" dirty="0"/>
          </a:p>
        </p:txBody>
      </p:sp>
      <p:sp>
        <p:nvSpPr>
          <p:cNvPr id="15" name="Text 12"/>
          <p:cNvSpPr txBox="1"/>
          <p:nvPr/>
        </p:nvSpPr>
        <p:spPr>
          <a:xfrm>
            <a:off x="8229600" y="475488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takeaways and partnership opportunities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234440"/>
            <a:ext cx="457200" cy="457200"/>
          </a:xfrm>
          <a:prstGeom prst="ellipse">
            <a:avLst/>
          </a:prstGeom>
          <a:solidFill>
            <a:srgbClr val="C8742B"/>
          </a:solidFill>
          <a:ln w="12700">
            <a:solidFill>
              <a:srgbClr val="C874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234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1234440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 growth is long-lived and gas-heavy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457200" y="1920240"/>
            <a:ext cx="457200" cy="457200"/>
          </a:xfrm>
          <a:prstGeom prst="ellipse">
            <a:avLst/>
          </a:prstGeom>
          <a:solidFill>
            <a:srgbClr val="C8742B"/>
          </a:solidFill>
          <a:ln w="12700">
            <a:solidFill>
              <a:srgbClr val="C8742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1920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1920240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Southwire is strong across the plant, and on the OEM side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457200" y="2606040"/>
            <a:ext cx="457200" cy="457200"/>
          </a:xfrm>
          <a:prstGeom prst="ellipse">
            <a:avLst/>
          </a:prstGeom>
          <a:solidFill>
            <a:srgbClr val="C8742B"/>
          </a:solidFill>
          <a:ln w="12700">
            <a:solidFill>
              <a:srgbClr val="C8742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" y="2606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2606040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joint plan beats parallel pursuits of the same projects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457200" y="3383280"/>
            <a:ext cx="8229600" cy="1143000"/>
          </a:xfrm>
          <a:prstGeom prst="roundRect">
            <a:avLst>
              <a:gd name="adj" fmla="val 8000"/>
            </a:avLst>
          </a:prstGeom>
          <a:solidFill>
            <a:srgbClr val="C8742B"/>
          </a:solidFill>
          <a:ln w="12700">
            <a:solidFill>
              <a:srgbClr val="C8742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85800" y="345643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ASK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85800" y="3749040"/>
            <a:ext cx="7772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Loop Southwire into AXE's Gas Power Projects and build a joint strategy around their target list.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47548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FB0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Southwire PowerGen  |  Anixter Global Accounts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8229600" y="475488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FB0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73736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Questions</a:t>
            </a:r>
            <a:endParaRPr lang="en-US" sz="4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7432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Stephan Hardt  |  Marc Hall  |  Phil Metz  |  Bob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Southwire PowerGen x Anixter Global Accounts</dc:title>
  <dc:subject>PptxGenJS Presentation</dc:subject>
  <dc:creator>PptxGenJS</dc:creator>
  <cp:lastModifiedBy>PptxGenJS</cp:lastModifiedBy>
  <cp:revision>1</cp:revision>
  <dcterms:created xsi:type="dcterms:W3CDTF">2026-09-29T18:31:18Z</dcterms:created>
  <dcterms:modified xsi:type="dcterms:W3CDTF">2026-09-29T18:31:18Z</dcterms:modified>
</cp:coreProperties>
</file>