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months ago Southwire set up Power Generation as its own vertical. Today: why gas power is a material channel opportunity, what Southwire has built since March, where Anixter/Wesco and Southwire overlap, and a concrete joint-account working model to leave with.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story on one page. The market: about 378 GW of US gas power in development, 52 GW already under construction. The cable: about 1.2 billion dollars of wire and cable from 2026 to 2035, at 8 to 13 million dollars per GW. The pipeline: Southwire tracks 386 gas projects in 40 states across every owner type. The traction: more than 50 million dollars booked in Q3, 30 million in September alone, and 5 million through Anixter Power Solutions. The ask for today is three joint decisions: the first targets, who owns each account, and the first customer calls.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section is gas-fired power generation only: combined cycle, simple cycle, reciprocating engines and modular gas power. It excludes renewables, storage, nuclear, transmission and data-center facility wiring.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Strategies forecasts about 166 GW of US peak load growth by 2030, roughly 90 GW from data centers (it also warns the data-center share may be overstated). Global Energy Monitor counts about 378 GW of US gas power in development and 52 GW under construction. S&amp;P Global reported quotes of five to seven years for some large turbine models. Dispatchable gas is not the only answer, but it is a critical part of the current build cycle. The chart puts it in history: the 2000 to 2004 merchant boom added about 188 GW, 37.6 GW a year, peaking at 57 GW in 2002, while the last decade has run at about 8 GW a year and 2026 is planned at 6.3 GW. Today's 378 GW pipeline would take a boom-scale build to deliver. The historical series is provisional; most years are still to be verified against EIA.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Large-frame turbines are sold out for years, so developers are turning to engines, aeroderivatives and standard modular plants that ship faster. That modular wave is where package builders, and the cable inside their packages, come in. VoltaGrid is the clearest example: a modular gas platform built on 20 MW reciprocating nodes, a 2.3 GW agreement with Oracle for Texas AI data centers, 1 GW with Vantage Data Centers, and a 1 billion dollar raise from Blackstone and Halliburton in May 2026. VoltaGrid is also one of the package builders on our joint target list. Bars are to scale at 7.5 px per GW; backlog definitions differ by OEM.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sizes the market opportunity in a conservative planning scenario. Of the 378 GW reported pipeline, we take 90 percent of the 52 GW under construction and 13.5 percent of the 326 GW in earlier stages, plus 2.9 GW already operating in 2026: about 93.7 GW of modeled additions through 2036. At a blended 1,923 dollars per kW across combined cycle, peakers and gas engines, that is about 180 billion dollars of whole-plant investment. Wire and cable content runs about 8 to 13 million dollars per GW. 93.7 GW times 8 million is about 750 million; times 13 million is about 1.22 billion. The high end matches the roughly 1.2 billion dollars in Southwire's project model on the next slide. Even at the high end, cable is under one percent of plant cost, about 0.7 percent, but it sits on the critical path to first power.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purchase-order view. Core gas cable, priced at 9.06 dollars per kW for combined cycle, 6.79 for simple cycle and 5.44 for engines, then multiplied by addressable share and win probability, comes to about 1.2 billion dollars of purchase orders from 2026 to 2035. 673 million is tied to named projects, peaking at about 165 million in 2028; the remaining 501 million is a future-project allowance with no named projects yet, which carries the curve from 2031 onward. The numbers under each year are modeled purchase-order-year GW equivalents, not installed capacity. OEM internal wiring and HV cable are excluded, so this is a core field-cable 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11 register holds 386 eligible records across 305 site or campus groups, 205.8 GW gross capacity, before probability weighting, with COD 2026 to 2035. 68 percent is announced only; 45.6 GW is under construction and 9.4 GW approved or at EPC notice to proceed. Eligibility does not establish an open cable package, which is why buyer discovery comes first. Bars are to scale at 5 px per GW.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register holds 386 eligible gas projects in 40 states, about 206 GW gross. Texas alone is 55.5 GW, more than a quarter, split almost evenly between IPPs and behind-the-meter campuses. Louisiana, West Virginia, Ohio, Indiana and Pennsylvania follow at 10 to 16 GW each. Two-thirds of the capacity, about 137 GW, is greenfield: new grid-connected plants and data-center campuses. About 69 GW is brownfield, mostly retired coal sites being repowered and expansions at operating plants. The owner split matters for how we sell: IOUs are 60 percent brownfield, so existing site standards and approved vendor lists apply; IPPs and behind-the-meter campuses are mostly greenfield, so the specification is still open. By grid region, ERCOT (47.6 GW), MISO (45.6 GW) and PJM (41.9 GW) lead, which lines up with the priority geography of Texas, Ohio and Indiana. Site classifications are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gross capacity, before completion probability, GE Vernova (43 GW), Mitsubishi Power (21 GW) and Siemens Energy (18 GW) together carry about 82 GW, 40 percent of the 206 GW register and about three quarters of the capacity where the OEM is known, so Southwire is standardizing around those three. VoltaGrid is shown as a packager: its ABI-1 initial fleet and a Texas power plant are about 1 GW in the model, with the 1.8 GW ABI-1 expansion not yet assessed. Engine and aeroderivative OEMs are smaller here but sell as packages, which is where the channel matters. On the EPC side, Kiewit/TIC leads with about 6.8 GW of primary-role projects due 2027 to 2031; 87 percent of gross capacity has no confirmed constructor, so finding the electrical buyer comes first. Bars are to scale at 12 px per GW.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buying lanes, each with a different question. The package-builder lane is where Anixter/Wesco's channel coverage and Southwire's application support overlap most: internal BOMs repeat, demand is forecastable, and assemblies fit stocking and kitting. Remember the owner split: the owner influences the specification, but an EPC or package builder often buys the cable, so each lane needs its own route. This is a coverage list for joint screening, not a market-share ranking.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seven of our 17 priority pursuits, from the September strategy shortlist, spanning IPP, IOU and cooperative generation, each with a recorded constructor and the next thing to check. Current status, RFQ access and remaining quantities need buyer confirmation, and Homer City phase allocations are unverified. Ask Anixter/Wesco which of these sites and contractors their branches already serve.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Southwire set up Power Generation as its own vertical in early 2026. We now track 386 new gas generation projects across 40 states and every owner type, with 17 priority pursuits validated at about 200 million dollars of cable potential, and more than 50 million dollars booked in the third quarter, 30 million of it in September alone, and 5 million booked through Anixter Power Solutions in Q3. Confirm the booked figures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care about money: capital cost, return on investment and the risk of missing commercial operation date. The owner's engineer writes the specification and approves vendors on the owner's behalf, and the EPC builds the plant and buys the field cable. Influence also flows back: the owner's engineer and the EPC shape what the owner approves, so Southwire needs to be specified upstream. The key insight for this meeting: cable inside packaged equipment is purchased months before the EPC issues a field-cable RFQ. That earlier entry point runs through package builders, and Anixter/Wesco already serves many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 Hall leads the Power Generation vertical and enterprise strategy; he is not presenting today because of a prior customer commitment. Patrick joined as EPC account manager in Kansas City on September 14. Both organizations already call on overlapping package builders, so coordination is the immediate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Gas-fired generation now runs to a new brief: start fast, cycle often and keep the grid steady as renewables rise. Large combined cycle plants and modular gas power put different demands on cable, and Southwire covers both.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Southwire built a full plant model: 16 application zones and 75 equipment nodes, numbered on the render. It connects the physical plant to the equipment interfaces, the cable scope and how it is delivered. It is a learning and sales-enablement tool, and it is what we bring to joint customer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combined cycle block uses every family of cable we make, from HV XLPE leaving the step-up transformers to thermocouple pairs on the gas turbine. Each system has its own construction, route and standards, which is why one coordinated supplier and one distributor make the job simpler.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application families cover the plant as one connected scope. The X-ray view shows where cable lives; colours are presentation colours, not voltage classifications. Generator export from the turbine hall uses isolated-phase bus or an OEM system, not field cable. A product line card and combined cycle application guide are available as leave-behinds for Anixter/Wesco teams.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families cover the whole plant. For Anixter/Wesco, the point is breadth: one line card covers the EPC's bulk power cable, the OEM's skid wiring and the panel builder's control cable. Confirm voltage ranges and listings against current datasheets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families ship to the North American codes Anixter/Wesco's customers specify, and to IEC for export projects. Confirm each listing against the current product datasheet.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Aeroderivatives, reciprocating engines and containerised gensets bring capacity online in months, not years. Their cabling ships as a kit: designed for the skid, cut and terminated, tested and labelled, then plugged in on site.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modular yard shows the alternative package paths: engine gensets, a packaged turbine, microturbines and fuel cells, all collected through an e-house to the customer's MV interface. Each package carries its own power, control and bonding cable, plus the collection and feeder cable between packages.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Electrical work that arrives ready for the installation plan. Each outcome needs a mechanism, a baseline and an agreed measure: installation hours, shortages, on-time delivery and electrical milestone dates. Material readiness and staged delivery are run with distribution, not around it, which is where Anixter/Wesco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programs with public evidence and one open question each. Entergy is the largest single utility program in the register: 16 gas units, about 14 GW gross across Louisiana, Texas, Mississippi and Arkansas, with about 84 million dollars of gross cable. 5.8 GW is already under construction, including the Richland Parish build for Meta’s Hyperion data center. A Sargent &amp; Lundy, TIC and Mitsubishi Power consortium is named on eight units, so the question is who buys balance-of-plant and field cable inside that scope. VoltaGrid is the clearest package-builder case: the 2.3 GW Oracle fleet in Texas and a 1.5 GW equipment order of about 300 engines for delivery by 2028. The joint question is where VoltaGrid's internal wiring ends and site collection cable begins, and who buys each.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Cable inside packaged equipment is specified and bought by the module builder, often months before the EPC field-cable RFQ. Three builder types, all of them accounts both Southwire and Anixter/Wesco call on. Powell Industries is an Anixter/Wesco global account and the clearest immediate overlap for a joint account plan. Core ask: one joint account plan per builder, covering who owns the relationship, who stocks and who quotes.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cadence after October 6. Days 0 to 30: exchange account lists and select five to ten projects or builders. Days 31 to 60: joint calls and technical qualification. Days 61 to 90: supply and inventory proposals where qualified. Each stage ends with a written output so the shortlist stays small and actionable.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Three decisions: confirm the first three to five targets in Texas, Ohio and Indiana, with Powell Industries as the obvious first joint account; assign ownership of each account, including stocking and quoting; and book two or three joint meetings with panel builders and OEM packagers before year-end. Why it works: about 378 GW in development and 52 GW under construction; more than 50 million booked in Q3, 30 million in September alone, and 5 million through Anixter Power Solutions in Q3; and both teams already call on the same builders.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Contact: powergen@southwire.com.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3.png"/><Relationship Id="rId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pic>
        <p:nvPicPr>
          <p:cNvPr id="2" name="Picture 1" descr="cover_67fe3d54.png"/>
          <p:cNvPicPr>
            <a:picLocks noChangeAspect="1"/>
          </p:cNvPicPr>
          <p:nvPr/>
        </p:nvPicPr>
        <p:blipFill>
          <a:blip r:embed="rId2"/>
          <a:stretch>
            <a:fillRect/>
          </a:stretch>
        </p:blipFill>
        <p:spPr>
          <a:xfrm>
            <a:off x="4445000" y="0"/>
            <a:ext cx="7747000" cy="6858000"/>
          </a:xfrm>
          <a:prstGeom prst="rect">
            <a:avLst/>
          </a:prstGeom>
        </p:spPr>
      </p:pic>
      <p:pic>
        <p:nvPicPr>
          <p:cNvPr id="3" name="Picture 2" descr="sw_logo_hr.png"/>
          <p:cNvPicPr>
            <a:picLocks noChangeAspect="1"/>
          </p:cNvPicPr>
          <p:nvPr/>
        </p:nvPicPr>
        <p:blipFill>
          <a:blip r:embed="rId3"/>
          <a:stretch>
            <a:fillRect/>
          </a:stretch>
        </p:blipFill>
        <p:spPr>
          <a:xfrm>
            <a:off x="812800" y="609600"/>
            <a:ext cx="2921000" cy="723900"/>
          </a:xfrm>
          <a:prstGeom prst="rect">
            <a:avLst/>
          </a:prstGeom>
        </p:spPr>
      </p:pic>
      <p:sp>
        <p:nvSpPr>
          <p:cNvPr id="4" name="TextBox 3"/>
          <p:cNvSpPr txBox="1"/>
          <p:nvPr/>
        </p:nvSpPr>
        <p:spPr>
          <a:xfrm>
            <a:off x="812800" y="1562100"/>
            <a:ext cx="3429000" cy="214630"/>
          </a:xfrm>
          <a:prstGeom prst="rect">
            <a:avLst/>
          </a:prstGeom>
          <a:noFill/>
        </p:spPr>
        <p:txBody>
          <a:bodyPr wrap="none" lIns="0" rIns="0" tIns="0" bIns="0" anchor="t">
            <a:noAutofit/>
          </a:bodyPr>
          <a:lstStyle/>
          <a:p>
            <a:pPr algn="l">
              <a:lnSpc>
                <a:spcPts val="1689"/>
              </a:lnSpc>
              <a:spcBef>
                <a:spcPts val="0"/>
              </a:spcBef>
              <a:spcAft>
                <a:spcPts val="0"/>
              </a:spcAft>
            </a:pPr>
            <a:r>
              <a:rPr b="1" i="0" sz="1300" spc="100">
                <a:solidFill>
                  <a:srgbClr val="E39A5F"/>
                </a:solidFill>
                <a:latin typeface="Barlow Condensed"/>
              </a:rPr>
              <a:t>ANIXTER/WESCO GLOBAL ACCOUNTS MEETING</a:t>
            </a:r>
          </a:p>
        </p:txBody>
      </p:sp>
      <p:sp>
        <p:nvSpPr>
          <p:cNvPr id="5" name="Rectangle 4"/>
          <p:cNvSpPr/>
          <p:nvPr/>
        </p:nvSpPr>
        <p:spPr>
          <a:xfrm>
            <a:off x="812800" y="1891010"/>
            <a:ext cx="508000"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2043410"/>
            <a:ext cx="3531870" cy="1822549"/>
          </a:xfrm>
          <a:prstGeom prst="rect">
            <a:avLst/>
          </a:prstGeom>
          <a:noFill/>
        </p:spPr>
        <p:txBody>
          <a:bodyPr wrap="square" lIns="0" rIns="0" tIns="0" bIns="0" anchor="t">
            <a:noAutofit/>
          </a:bodyPr>
          <a:lstStyle/>
          <a:p>
            <a:pPr algn="l">
              <a:lnSpc>
                <a:spcPts val="4784"/>
              </a:lnSpc>
              <a:spcBef>
                <a:spcPts val="0"/>
              </a:spcBef>
              <a:spcAft>
                <a:spcPts val="0"/>
              </a:spcAft>
            </a:pPr>
            <a:r>
              <a:rPr b="0" i="0" sz="5200">
                <a:solidFill>
                  <a:srgbClr val="F5F3EF"/>
                </a:solidFill>
                <a:latin typeface="Barlow Condensed ExtraBold"/>
              </a:rPr>
              <a:t>POWER GENERATION </a:t>
            </a:r>
            <a:r>
              <a:rPr b="0" i="0" sz="5200">
                <a:solidFill>
                  <a:srgbClr val="E39A5F"/>
                </a:solidFill>
                <a:latin typeface="Barlow Condensed ExtraBold"/>
              </a:rPr>
              <a:t>SOLUTIONS</a:t>
            </a:r>
          </a:p>
        </p:txBody>
      </p:sp>
      <p:sp>
        <p:nvSpPr>
          <p:cNvPr id="7" name="TextBox 6"/>
          <p:cNvSpPr txBox="1"/>
          <p:nvPr/>
        </p:nvSpPr>
        <p:spPr>
          <a:xfrm>
            <a:off x="812800" y="3980259"/>
            <a:ext cx="3429000" cy="274320"/>
          </a:xfrm>
          <a:prstGeom prst="rect">
            <a:avLst/>
          </a:prstGeom>
          <a:noFill/>
        </p:spPr>
        <p:txBody>
          <a:bodyPr wrap="none" lIns="0" rIns="0" tIns="0" bIns="0" anchor="t">
            <a:noAutofit/>
          </a:bodyPr>
          <a:lstStyle/>
          <a:p>
            <a:pPr algn="l">
              <a:lnSpc>
                <a:spcPts val="2160"/>
              </a:lnSpc>
              <a:spcBef>
                <a:spcPts val="0"/>
              </a:spcBef>
              <a:spcAft>
                <a:spcPts val="0"/>
              </a:spcAft>
            </a:pPr>
            <a:r>
              <a:rPr b="1" i="0" sz="1800" spc="100">
                <a:solidFill>
                  <a:srgbClr val="C9CDD2"/>
                </a:solidFill>
                <a:latin typeface="Barlow Condensed"/>
              </a:rPr>
              <a:t>SOUTHWIRE × ANIXTER/WESCO</a:t>
            </a:r>
          </a:p>
        </p:txBody>
      </p:sp>
      <p:sp>
        <p:nvSpPr>
          <p:cNvPr id="8" name="TextBox 7"/>
          <p:cNvSpPr txBox="1"/>
          <p:nvPr/>
        </p:nvSpPr>
        <p:spPr>
          <a:xfrm>
            <a:off x="812800" y="4367609"/>
            <a:ext cx="3518368" cy="307340"/>
          </a:xfrm>
          <a:prstGeom prst="rect">
            <a:avLst/>
          </a:prstGeom>
          <a:noFill/>
        </p:spPr>
        <p:txBody>
          <a:bodyPr wrap="none" lIns="0" rIns="0" tIns="0" bIns="0" anchor="t">
            <a:noAutofit/>
          </a:bodyPr>
          <a:lstStyle/>
          <a:p>
            <a:pPr algn="l">
              <a:lnSpc>
                <a:spcPts val="2420"/>
              </a:lnSpc>
              <a:spcBef>
                <a:spcPts val="0"/>
              </a:spcBef>
              <a:spcAft>
                <a:spcPts val="0"/>
              </a:spcAft>
            </a:pPr>
            <a:r>
              <a:rPr b="0" i="0" sz="2200">
                <a:solidFill>
                  <a:srgbClr val="E39A5F"/>
                </a:solidFill>
                <a:latin typeface="Barlow Condensed ExtraBold"/>
              </a:rPr>
              <a:t>ACCELERATING TIME TO POWER™</a:t>
            </a:r>
          </a:p>
        </p:txBody>
      </p:sp>
      <p:sp>
        <p:nvSpPr>
          <p:cNvPr id="9" name="TextBox 8"/>
          <p:cNvSpPr txBox="1"/>
          <p:nvPr/>
        </p:nvSpPr>
        <p:spPr>
          <a:xfrm>
            <a:off x="812800" y="5240139"/>
            <a:ext cx="38100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F5F3EF"/>
                </a:solidFill>
                <a:latin typeface="Barlow Condensed"/>
              </a:rPr>
              <a:t>OCTOBER 6, 2026</a:t>
            </a:r>
          </a:p>
        </p:txBody>
      </p:sp>
      <p:sp>
        <p:nvSpPr>
          <p:cNvPr id="10" name="TextBox 9"/>
          <p:cNvSpPr txBox="1"/>
          <p:nvPr/>
        </p:nvSpPr>
        <p:spPr>
          <a:xfrm>
            <a:off x="812800" y="5506839"/>
            <a:ext cx="3810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Stephan Hardt · Power Generation Solutions</a:t>
            </a:r>
          </a:p>
        </p:txBody>
      </p:sp>
      <p:sp>
        <p:nvSpPr>
          <p:cNvPr id="11" name="TextBox 10"/>
          <p:cNvSpPr txBox="1"/>
          <p:nvPr/>
        </p:nvSpPr>
        <p:spPr>
          <a:xfrm>
            <a:off x="812800" y="5741789"/>
            <a:ext cx="3810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E39A5F"/>
                </a:solidFill>
                <a:latin typeface="Barlow"/>
              </a:rPr>
              <a:t>stephan.hardt@southwire.com</a:t>
            </a:r>
          </a:p>
        </p:txBody>
      </p:sp>
      <p:sp>
        <p:nvSpPr>
          <p:cNvPr id="12" name="TextBox 11"/>
          <p:cNvSpPr txBox="1"/>
          <p:nvPr/>
        </p:nvSpPr>
        <p:spPr>
          <a:xfrm>
            <a:off x="812800" y="6040239"/>
            <a:ext cx="3924300"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8A8F95"/>
                </a:solidFill>
                <a:latin typeface="Barlow"/>
              </a:rPr>
              <a:t>Confidential · Do not distribute</a:t>
            </a:r>
          </a:p>
          <a:p>
            <a:pPr algn="l">
              <a:lnSpc>
                <a:spcPts val="1620"/>
              </a:lnSpc>
              <a:spcBef>
                <a:spcPts val="0"/>
              </a:spcBef>
              <a:spcAft>
                <a:spcPts val="0"/>
              </a:spcAft>
            </a:pPr>
            <a:r>
              <a:rPr b="0" i="0" sz="1200">
                <a:solidFill>
                  <a:srgbClr val="8A8F95"/>
                </a:solidFill>
                <a:latin typeface="Barlow"/>
              </a:rPr>
              <a:t>© 2026 Southwire Company, LLC.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MEETING OBJECTIVE</a:t>
            </a:r>
          </a:p>
        </p:txBody>
      </p:sp>
      <p:sp>
        <p:nvSpPr>
          <p:cNvPr id="3" name="TextBox 2"/>
          <p:cNvSpPr txBox="1"/>
          <p:nvPr/>
        </p:nvSpPr>
        <p:spPr>
          <a:xfrm>
            <a:off x="812800" y="1130300"/>
            <a:ext cx="9639582"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LEAVE TODAY WITH A JOINT-ACCOUNT WORKING MODEL</a:t>
            </a:r>
          </a:p>
        </p:txBody>
      </p:sp>
      <p:sp>
        <p:nvSpPr>
          <p:cNvPr id="4" name="Rectangle 3"/>
          <p:cNvSpPr/>
          <p:nvPr/>
        </p:nvSpPr>
        <p:spPr>
          <a:xfrm>
            <a:off x="812800" y="1892300"/>
            <a:ext cx="3386634" cy="2426196"/>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892300"/>
            <a:ext cx="3386634" cy="76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222500"/>
            <a:ext cx="2878634"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E39A5F"/>
                </a:solidFill>
                <a:latin typeface="Barlow Condensed ExtraBold"/>
              </a:rPr>
              <a:t>01</a:t>
            </a:r>
          </a:p>
        </p:txBody>
      </p:sp>
      <p:sp>
        <p:nvSpPr>
          <p:cNvPr id="7" name="TextBox 6"/>
          <p:cNvSpPr txBox="1"/>
          <p:nvPr/>
        </p:nvSpPr>
        <p:spPr>
          <a:xfrm>
            <a:off x="1066800" y="2885380"/>
            <a:ext cx="2878634" cy="293370"/>
          </a:xfrm>
          <a:prstGeom prst="rect">
            <a:avLst/>
          </a:prstGeom>
          <a:noFill/>
        </p:spPr>
        <p:txBody>
          <a:bodyPr wrap="none" lIns="0" rIns="0" tIns="0" bIns="0" anchor="t">
            <a:noAutofit/>
          </a:bodyPr>
          <a:lstStyle/>
          <a:p>
            <a:pPr algn="l">
              <a:lnSpc>
                <a:spcPts val="2310"/>
              </a:lnSpc>
              <a:spcBef>
                <a:spcPts val="0"/>
              </a:spcBef>
              <a:spcAft>
                <a:spcPts val="0"/>
              </a:spcAft>
            </a:pPr>
            <a:r>
              <a:rPr b="0" i="0" sz="2200">
                <a:solidFill>
                  <a:srgbClr val="F5F3EF"/>
                </a:solidFill>
                <a:latin typeface="Barlow Condensed ExtraBold"/>
              </a:rPr>
              <a:t>BUSINESS UPDATE</a:t>
            </a:r>
          </a:p>
        </p:txBody>
      </p:sp>
      <p:sp>
        <p:nvSpPr>
          <p:cNvPr id="8" name="TextBox 7"/>
          <p:cNvSpPr txBox="1"/>
          <p:nvPr/>
        </p:nvSpPr>
        <p:spPr>
          <a:xfrm>
            <a:off x="1066800" y="3292971"/>
            <a:ext cx="2964993" cy="771525"/>
          </a:xfrm>
          <a:prstGeom prst="rect">
            <a:avLst/>
          </a:prstGeom>
          <a:noFill/>
        </p:spPr>
        <p:txBody>
          <a:bodyPr wrap="square" lIns="0" rIns="0" tIns="0" bIns="0" anchor="t">
            <a:noAutofit/>
          </a:bodyPr>
          <a:lstStyle/>
          <a:p>
            <a:pPr algn="l">
              <a:lnSpc>
                <a:spcPts val="2025"/>
              </a:lnSpc>
              <a:spcBef>
                <a:spcPts val="0"/>
              </a:spcBef>
              <a:spcAft>
                <a:spcPts val="0"/>
              </a:spcAft>
            </a:pPr>
            <a:r>
              <a:rPr b="0" i="0" sz="1500">
                <a:solidFill>
                  <a:srgbClr val="C9CDD2"/>
                </a:solidFill>
                <a:latin typeface="Barlow"/>
              </a:rPr>
              <a:t>Market, OEM order books, the cable opportunity and Southwire progress</a:t>
            </a:r>
          </a:p>
        </p:txBody>
      </p:sp>
      <p:sp>
        <p:nvSpPr>
          <p:cNvPr id="9" name="Rectangle 8"/>
          <p:cNvSpPr/>
          <p:nvPr/>
        </p:nvSpPr>
        <p:spPr>
          <a:xfrm>
            <a:off x="4402634" y="1892300"/>
            <a:ext cx="3386634" cy="2426196"/>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2634" y="1892300"/>
            <a:ext cx="3386634" cy="76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6634" y="2222500"/>
            <a:ext cx="2878634"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B4581F"/>
                </a:solidFill>
                <a:latin typeface="Barlow Condensed ExtraBold"/>
              </a:rPr>
              <a:t>02</a:t>
            </a:r>
          </a:p>
        </p:txBody>
      </p:sp>
      <p:sp>
        <p:nvSpPr>
          <p:cNvPr id="12" name="TextBox 11"/>
          <p:cNvSpPr txBox="1"/>
          <p:nvPr/>
        </p:nvSpPr>
        <p:spPr>
          <a:xfrm>
            <a:off x="4656634" y="2885380"/>
            <a:ext cx="2878634" cy="293370"/>
          </a:xfrm>
          <a:prstGeom prst="rect">
            <a:avLst/>
          </a:prstGeom>
          <a:noFill/>
        </p:spPr>
        <p:txBody>
          <a:bodyPr wrap="none" lIns="0" rIns="0" tIns="0" bIns="0" anchor="t">
            <a:noAutofit/>
          </a:bodyPr>
          <a:lstStyle/>
          <a:p>
            <a:pPr algn="l">
              <a:lnSpc>
                <a:spcPts val="2310"/>
              </a:lnSpc>
              <a:spcBef>
                <a:spcPts val="0"/>
              </a:spcBef>
              <a:spcAft>
                <a:spcPts val="0"/>
              </a:spcAft>
            </a:pPr>
            <a:r>
              <a:rPr b="0" i="0" sz="2200">
                <a:solidFill>
                  <a:srgbClr val="141619"/>
                </a:solidFill>
                <a:latin typeface="Barlow Condensed ExtraBold"/>
              </a:rPr>
              <a:t>GAS POWER SOLUTIONS</a:t>
            </a:r>
          </a:p>
        </p:txBody>
      </p:sp>
      <p:sp>
        <p:nvSpPr>
          <p:cNvPr id="13" name="TextBox 12"/>
          <p:cNvSpPr txBox="1"/>
          <p:nvPr/>
        </p:nvSpPr>
        <p:spPr>
          <a:xfrm>
            <a:off x="4656634" y="3292971"/>
            <a:ext cx="2964993" cy="771525"/>
          </a:xfrm>
          <a:prstGeom prst="rect">
            <a:avLst/>
          </a:prstGeom>
          <a:noFill/>
        </p:spPr>
        <p:txBody>
          <a:bodyPr wrap="square" lIns="0" rIns="0" tIns="0" bIns="0" anchor="t">
            <a:noAutofit/>
          </a:bodyPr>
          <a:lstStyle/>
          <a:p>
            <a:pPr algn="l">
              <a:lnSpc>
                <a:spcPts val="2025"/>
              </a:lnSpc>
              <a:spcBef>
                <a:spcPts val="0"/>
              </a:spcBef>
              <a:spcAft>
                <a:spcPts val="0"/>
              </a:spcAft>
            </a:pPr>
            <a:r>
              <a:rPr b="0" i="0" sz="1500">
                <a:solidFill>
                  <a:srgbClr val="4A525B"/>
                </a:solidFill>
                <a:latin typeface="Barlow"/>
              </a:rPr>
              <a:t>One plant-wide cable scope, from combined cycle to modular packages</a:t>
            </a:r>
          </a:p>
        </p:txBody>
      </p:sp>
      <p:sp>
        <p:nvSpPr>
          <p:cNvPr id="14" name="Rectangle 13"/>
          <p:cNvSpPr/>
          <p:nvPr/>
        </p:nvSpPr>
        <p:spPr>
          <a:xfrm>
            <a:off x="7992467" y="1892300"/>
            <a:ext cx="3386634" cy="2426196"/>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2467" y="1892300"/>
            <a:ext cx="3386634" cy="76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6467" y="2222500"/>
            <a:ext cx="2878634"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B4581F"/>
                </a:solidFill>
                <a:latin typeface="Barlow Condensed ExtraBold"/>
              </a:rPr>
              <a:t>03</a:t>
            </a:r>
          </a:p>
        </p:txBody>
      </p:sp>
      <p:sp>
        <p:nvSpPr>
          <p:cNvPr id="17" name="TextBox 16"/>
          <p:cNvSpPr txBox="1"/>
          <p:nvPr/>
        </p:nvSpPr>
        <p:spPr>
          <a:xfrm>
            <a:off x="8246467" y="2885380"/>
            <a:ext cx="2878634" cy="293370"/>
          </a:xfrm>
          <a:prstGeom prst="rect">
            <a:avLst/>
          </a:prstGeom>
          <a:noFill/>
        </p:spPr>
        <p:txBody>
          <a:bodyPr wrap="none" lIns="0" rIns="0" tIns="0" bIns="0" anchor="t">
            <a:noAutofit/>
          </a:bodyPr>
          <a:lstStyle/>
          <a:p>
            <a:pPr algn="l">
              <a:lnSpc>
                <a:spcPts val="2310"/>
              </a:lnSpc>
              <a:spcBef>
                <a:spcPts val="0"/>
              </a:spcBef>
              <a:spcAft>
                <a:spcPts val="0"/>
              </a:spcAft>
            </a:pPr>
            <a:r>
              <a:rPr b="0" i="0" sz="2200">
                <a:solidFill>
                  <a:srgbClr val="141619"/>
                </a:solidFill>
                <a:latin typeface="Barlow Condensed ExtraBold"/>
              </a:rPr>
              <a:t>WINNING TOGETHER</a:t>
            </a:r>
          </a:p>
        </p:txBody>
      </p:sp>
      <p:sp>
        <p:nvSpPr>
          <p:cNvPr id="18" name="TextBox 17"/>
          <p:cNvSpPr txBox="1"/>
          <p:nvPr/>
        </p:nvSpPr>
        <p:spPr>
          <a:xfrm>
            <a:off x="8246467" y="3292971"/>
            <a:ext cx="2964993" cy="771525"/>
          </a:xfrm>
          <a:prstGeom prst="rect">
            <a:avLst/>
          </a:prstGeom>
          <a:noFill/>
        </p:spPr>
        <p:txBody>
          <a:bodyPr wrap="square" lIns="0" rIns="0" tIns="0" bIns="0" anchor="t">
            <a:noAutofit/>
          </a:bodyPr>
          <a:lstStyle/>
          <a:p>
            <a:pPr algn="l">
              <a:lnSpc>
                <a:spcPts val="2025"/>
              </a:lnSpc>
              <a:spcBef>
                <a:spcPts val="0"/>
              </a:spcBef>
              <a:spcAft>
                <a:spcPts val="0"/>
              </a:spcAft>
            </a:pPr>
            <a:r>
              <a:rPr b="0" i="0" sz="1500">
                <a:solidFill>
                  <a:srgbClr val="4A525B"/>
                </a:solidFill>
                <a:latin typeface="Barlow"/>
              </a:rPr>
              <a:t>Package builders and OEMs we both call on, and three decisions for today</a:t>
            </a:r>
          </a:p>
        </p:txBody>
      </p:sp>
      <p:sp>
        <p:nvSpPr>
          <p:cNvPr id="19" name="TextBox 18"/>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20" name="TextBox 19"/>
          <p:cNvSpPr txBox="1"/>
          <p:nvPr/>
        </p:nvSpPr>
        <p:spPr>
          <a:xfrm>
            <a:off x="11220450" y="6267450"/>
            <a:ext cx="19367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02</a:t>
            </a:r>
          </a:p>
        </p:txBody>
      </p:sp>
      <p:sp>
        <p:nvSpPr>
          <p:cNvPr id="21" name="Rectangle 20"/>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3" name="TextBox 22"/>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24"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THE OPPORTUNITY AT A GLANCE</a:t>
            </a:r>
          </a:p>
        </p:txBody>
      </p:sp>
      <p:sp>
        <p:nvSpPr>
          <p:cNvPr id="3" name="TextBox 2"/>
          <p:cNvSpPr txBox="1"/>
          <p:nvPr/>
        </p:nvSpPr>
        <p:spPr>
          <a:xfrm>
            <a:off x="812800" y="1130300"/>
            <a:ext cx="9810750" cy="1016000"/>
          </a:xfrm>
          <a:prstGeom prst="rect">
            <a:avLst/>
          </a:prstGeom>
          <a:noFill/>
        </p:spPr>
        <p:txBody>
          <a:bodyPr wrap="square" lIns="0" rIns="0" tIns="0" bIns="0" anchor="t">
            <a:noAutofit/>
          </a:bodyPr>
          <a:lstStyle/>
          <a:p>
            <a:pPr algn="l">
              <a:lnSpc>
                <a:spcPts val="4000"/>
              </a:lnSpc>
              <a:spcBef>
                <a:spcPts val="0"/>
              </a:spcBef>
              <a:spcAft>
                <a:spcPts val="0"/>
              </a:spcAft>
            </a:pPr>
            <a:r>
              <a:rPr b="0" i="0" sz="4000">
                <a:solidFill>
                  <a:srgbClr val="F5F3EF"/>
                </a:solidFill>
                <a:latin typeface="Barlow Condensed ExtraBold"/>
              </a:rPr>
              <a:t>A BOOM-SCALE GAS BUILD, AND </a:t>
            </a:r>
            <a:r>
              <a:rPr b="0" i="0" sz="4000">
                <a:solidFill>
                  <a:srgbClr val="E39A5F"/>
                </a:solidFill>
                <a:latin typeface="Barlow Condensed ExtraBold"/>
              </a:rPr>
              <a:t>CABLE IS ON THE CRITICAL PATH</a:t>
            </a:r>
          </a:p>
        </p:txBody>
      </p:sp>
      <p:sp>
        <p:nvSpPr>
          <p:cNvPr id="4" name="Rectangle 3"/>
          <p:cNvSpPr/>
          <p:nvPr/>
        </p:nvSpPr>
        <p:spPr>
          <a:xfrm>
            <a:off x="812800" y="2501900"/>
            <a:ext cx="2279650" cy="216019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501900"/>
            <a:ext cx="2279650" cy="635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794000"/>
            <a:ext cx="187325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C9CDD2"/>
                </a:solidFill>
                <a:latin typeface="Barlow Condensed"/>
              </a:rPr>
              <a:t>THE MARKET</a:t>
            </a:r>
          </a:p>
        </p:txBody>
      </p:sp>
      <p:sp>
        <p:nvSpPr>
          <p:cNvPr id="7" name="TextBox 6"/>
          <p:cNvSpPr txBox="1"/>
          <p:nvPr/>
        </p:nvSpPr>
        <p:spPr>
          <a:xfrm>
            <a:off x="1016000" y="3098800"/>
            <a:ext cx="1873250" cy="525780"/>
          </a:xfrm>
          <a:prstGeom prst="rect">
            <a:avLst/>
          </a:prstGeom>
          <a:noFill/>
        </p:spPr>
        <p:txBody>
          <a:bodyPr wrap="none" lIns="0" rIns="0" tIns="0" bIns="0" anchor="t">
            <a:noAutofit/>
          </a:bodyPr>
          <a:lstStyle/>
          <a:p>
            <a:pPr algn="l">
              <a:lnSpc>
                <a:spcPts val="4140"/>
              </a:lnSpc>
              <a:spcBef>
                <a:spcPts val="0"/>
              </a:spcBef>
              <a:spcAft>
                <a:spcPts val="0"/>
              </a:spcAft>
            </a:pPr>
            <a:r>
              <a:rPr b="0" i="0" sz="4600">
                <a:solidFill>
                  <a:srgbClr val="F5F3EF"/>
                </a:solidFill>
                <a:latin typeface="Barlow Condensed ExtraBold"/>
              </a:rPr>
              <a:t>378 GW</a:t>
            </a:r>
          </a:p>
        </p:txBody>
      </p:sp>
      <p:sp>
        <p:nvSpPr>
          <p:cNvPr id="8" name="TextBox 7"/>
          <p:cNvSpPr txBox="1"/>
          <p:nvPr/>
        </p:nvSpPr>
        <p:spPr>
          <a:xfrm>
            <a:off x="1016000" y="3713460"/>
            <a:ext cx="1929448"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US gas in development; 52 GW already under construction</a:t>
            </a:r>
          </a:p>
        </p:txBody>
      </p:sp>
      <p:sp>
        <p:nvSpPr>
          <p:cNvPr id="9" name="Right Arrow 8"/>
          <p:cNvSpPr/>
          <p:nvPr/>
        </p:nvSpPr>
        <p:spPr>
          <a:xfrm>
            <a:off x="3194050" y="3467695"/>
            <a:ext cx="279400" cy="2286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75050" y="2501900"/>
            <a:ext cx="2279650" cy="2160191"/>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75050" y="2501900"/>
            <a:ext cx="2279650" cy="6350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8250" y="2794000"/>
            <a:ext cx="187325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141619"/>
                </a:solidFill>
                <a:latin typeface="Barlow Condensed"/>
              </a:rPr>
              <a:t>THE CABLE</a:t>
            </a:r>
          </a:p>
        </p:txBody>
      </p:sp>
      <p:sp>
        <p:nvSpPr>
          <p:cNvPr id="13" name="TextBox 12"/>
          <p:cNvSpPr txBox="1"/>
          <p:nvPr/>
        </p:nvSpPr>
        <p:spPr>
          <a:xfrm>
            <a:off x="3778250" y="3098800"/>
            <a:ext cx="1873250" cy="525780"/>
          </a:xfrm>
          <a:prstGeom prst="rect">
            <a:avLst/>
          </a:prstGeom>
          <a:noFill/>
        </p:spPr>
        <p:txBody>
          <a:bodyPr wrap="none" lIns="0" rIns="0" tIns="0" bIns="0" anchor="t">
            <a:noAutofit/>
          </a:bodyPr>
          <a:lstStyle/>
          <a:p>
            <a:pPr algn="l">
              <a:lnSpc>
                <a:spcPts val="4140"/>
              </a:lnSpc>
              <a:spcBef>
                <a:spcPts val="0"/>
              </a:spcBef>
              <a:spcAft>
                <a:spcPts val="0"/>
              </a:spcAft>
            </a:pPr>
            <a:r>
              <a:rPr b="0" i="0" sz="4600">
                <a:solidFill>
                  <a:srgbClr val="FFFDFA"/>
                </a:solidFill>
                <a:latin typeface="Barlow Condensed ExtraBold"/>
              </a:rPr>
              <a:t>~$1.2B</a:t>
            </a:r>
          </a:p>
        </p:txBody>
      </p:sp>
      <p:sp>
        <p:nvSpPr>
          <p:cNvPr id="14" name="TextBox 13"/>
          <p:cNvSpPr txBox="1"/>
          <p:nvPr/>
        </p:nvSpPr>
        <p:spPr>
          <a:xfrm>
            <a:off x="3778250" y="3713460"/>
            <a:ext cx="1929448"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FFFDFA"/>
                </a:solidFill>
                <a:latin typeface="Barlow"/>
              </a:rPr>
              <a:t>Wire &amp; cable, 2026–2035, at $8–13M per GW</a:t>
            </a:r>
          </a:p>
        </p:txBody>
      </p:sp>
      <p:sp>
        <p:nvSpPr>
          <p:cNvPr id="15" name="Right Arrow 14"/>
          <p:cNvSpPr/>
          <p:nvPr/>
        </p:nvSpPr>
        <p:spPr>
          <a:xfrm>
            <a:off x="5956300" y="3467695"/>
            <a:ext cx="279400" cy="2286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37300" y="2501900"/>
            <a:ext cx="2279650" cy="216019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7300" y="2501900"/>
            <a:ext cx="22796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0500" y="2794000"/>
            <a:ext cx="187325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C9CDD2"/>
                </a:solidFill>
                <a:latin typeface="Barlow Condensed"/>
              </a:rPr>
              <a:t>THE PIPELINE</a:t>
            </a:r>
          </a:p>
        </p:txBody>
      </p:sp>
      <p:sp>
        <p:nvSpPr>
          <p:cNvPr id="19" name="TextBox 18"/>
          <p:cNvSpPr txBox="1"/>
          <p:nvPr/>
        </p:nvSpPr>
        <p:spPr>
          <a:xfrm>
            <a:off x="6540500" y="3098800"/>
            <a:ext cx="1873250" cy="525780"/>
          </a:xfrm>
          <a:prstGeom prst="rect">
            <a:avLst/>
          </a:prstGeom>
          <a:noFill/>
        </p:spPr>
        <p:txBody>
          <a:bodyPr wrap="none" lIns="0" rIns="0" tIns="0" bIns="0" anchor="t">
            <a:noAutofit/>
          </a:bodyPr>
          <a:lstStyle/>
          <a:p>
            <a:pPr algn="l">
              <a:lnSpc>
                <a:spcPts val="4140"/>
              </a:lnSpc>
              <a:spcBef>
                <a:spcPts val="0"/>
              </a:spcBef>
              <a:spcAft>
                <a:spcPts val="0"/>
              </a:spcAft>
            </a:pPr>
            <a:r>
              <a:rPr b="0" i="0" sz="4600">
                <a:solidFill>
                  <a:srgbClr val="E39A5F"/>
                </a:solidFill>
                <a:latin typeface="Barlow Condensed ExtraBold"/>
              </a:rPr>
              <a:t>386</a:t>
            </a:r>
          </a:p>
        </p:txBody>
      </p:sp>
      <p:sp>
        <p:nvSpPr>
          <p:cNvPr id="20" name="TextBox 19"/>
          <p:cNvSpPr txBox="1"/>
          <p:nvPr/>
        </p:nvSpPr>
        <p:spPr>
          <a:xfrm>
            <a:off x="6540500" y="3713460"/>
            <a:ext cx="1929448"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Gas projects tracked in 40 states, every owner type</a:t>
            </a:r>
          </a:p>
        </p:txBody>
      </p:sp>
      <p:sp>
        <p:nvSpPr>
          <p:cNvPr id="21" name="Right Arrow 20"/>
          <p:cNvSpPr/>
          <p:nvPr/>
        </p:nvSpPr>
        <p:spPr>
          <a:xfrm>
            <a:off x="8718550" y="3467695"/>
            <a:ext cx="279400" cy="2286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99550" y="2501900"/>
            <a:ext cx="2279650" cy="216019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9550" y="2501900"/>
            <a:ext cx="22796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02750" y="2794000"/>
            <a:ext cx="187325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C9CDD2"/>
                </a:solidFill>
                <a:latin typeface="Barlow Condensed"/>
              </a:rPr>
              <a:t>THE TRACTION</a:t>
            </a:r>
          </a:p>
        </p:txBody>
      </p:sp>
      <p:sp>
        <p:nvSpPr>
          <p:cNvPr id="25" name="TextBox 24"/>
          <p:cNvSpPr txBox="1"/>
          <p:nvPr/>
        </p:nvSpPr>
        <p:spPr>
          <a:xfrm>
            <a:off x="9302750" y="3098800"/>
            <a:ext cx="1873250" cy="525780"/>
          </a:xfrm>
          <a:prstGeom prst="rect">
            <a:avLst/>
          </a:prstGeom>
          <a:noFill/>
        </p:spPr>
        <p:txBody>
          <a:bodyPr wrap="none" lIns="0" rIns="0" tIns="0" bIns="0" anchor="t">
            <a:noAutofit/>
          </a:bodyPr>
          <a:lstStyle/>
          <a:p>
            <a:pPr algn="l">
              <a:lnSpc>
                <a:spcPts val="4140"/>
              </a:lnSpc>
              <a:spcBef>
                <a:spcPts val="0"/>
              </a:spcBef>
              <a:spcAft>
                <a:spcPts val="0"/>
              </a:spcAft>
            </a:pPr>
            <a:r>
              <a:rPr b="0" i="0" sz="4600">
                <a:solidFill>
                  <a:srgbClr val="E39A5F"/>
                </a:solidFill>
                <a:latin typeface="Barlow Condensed ExtraBold"/>
              </a:rPr>
              <a:t>$50M+</a:t>
            </a:r>
          </a:p>
        </p:txBody>
      </p:sp>
      <p:sp>
        <p:nvSpPr>
          <p:cNvPr id="26" name="TextBox 25"/>
          <p:cNvSpPr txBox="1"/>
          <p:nvPr/>
        </p:nvSpPr>
        <p:spPr>
          <a:xfrm>
            <a:off x="9302750" y="3713460"/>
            <a:ext cx="1929448"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Booked in Q3, $30M in September; $5M via Anixter Power Solutions</a:t>
            </a:r>
          </a:p>
        </p:txBody>
      </p:sp>
      <p:sp>
        <p:nvSpPr>
          <p:cNvPr id="27" name="TextBox 26"/>
          <p:cNvSpPr txBox="1"/>
          <p:nvPr/>
        </p:nvSpPr>
        <p:spPr>
          <a:xfrm>
            <a:off x="812800" y="5017691"/>
            <a:ext cx="10160000" cy="292100"/>
          </a:xfrm>
          <a:prstGeom prst="rect">
            <a:avLst/>
          </a:prstGeom>
          <a:noFill/>
        </p:spPr>
        <p:txBody>
          <a:bodyPr wrap="none" lIns="0" rIns="0" tIns="0" bIns="0" anchor="t">
            <a:noAutofit/>
          </a:bodyPr>
          <a:lstStyle/>
          <a:p>
            <a:pPr algn="l">
              <a:lnSpc>
                <a:spcPts val="2300"/>
              </a:lnSpc>
              <a:spcBef>
                <a:spcPts val="0"/>
              </a:spcBef>
              <a:spcAft>
                <a:spcPts val="0"/>
              </a:spcAft>
            </a:pPr>
            <a:r>
              <a:rPr b="0" i="0" sz="2000">
                <a:solidFill>
                  <a:srgbClr val="F5F3EF"/>
                </a:solidFill>
                <a:latin typeface="Barlow Condensed ExtraBold"/>
              </a:rPr>
              <a:t>TODAY'S ASK: </a:t>
            </a:r>
            <a:r>
              <a:rPr b="0" i="0" sz="2000">
                <a:solidFill>
                  <a:srgbClr val="E39A5F"/>
                </a:solidFill>
                <a:latin typeface="Barlow Condensed ExtraBold"/>
              </a:rPr>
              <a:t>PICK THE FIRST JOINT TARGETS, ASSIGN OWNERSHIP, BOOK THE FIRST CALLS</a:t>
            </a:r>
          </a:p>
        </p:txBody>
      </p:sp>
      <p:sp>
        <p:nvSpPr>
          <p:cNvPr id="28" name="TextBox 27"/>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03</a:t>
            </a:r>
          </a:p>
        </p:txBody>
      </p:sp>
      <p:sp>
        <p:nvSpPr>
          <p:cNvPr id="29" name="Rectangle 28"/>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1" name="TextBox 30"/>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pic>
        <p:nvPicPr>
          <p:cNvPr id="32"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pic>
        <p:nvPicPr>
          <p:cNvPr id="2" name="Picture 1" descr="sw_logo_hr.png"/>
          <p:cNvPicPr>
            <a:picLocks noChangeAspect="1"/>
          </p:cNvPicPr>
          <p:nvPr/>
        </p:nvPicPr>
        <p:blipFill>
          <a:blip r:embed="rId2"/>
          <a:stretch>
            <a:fillRect/>
          </a:stretch>
        </p:blipFill>
        <p:spPr>
          <a:xfrm>
            <a:off x="812800" y="457200"/>
            <a:ext cx="2540000" cy="628650"/>
          </a:xfrm>
          <a:prstGeom prst="rect">
            <a:avLst/>
          </a:prstGeom>
        </p:spPr>
      </p:pic>
      <p:pic>
        <p:nvPicPr>
          <p:cNvPr id="3" name="Picture 2" descr="divbiz_da7bde2f.jpg"/>
          <p:cNvPicPr>
            <a:picLocks noChangeAspect="1"/>
          </p:cNvPicPr>
          <p:nvPr/>
        </p:nvPicPr>
        <p:blipFill>
          <a:blip r:embed="rId3"/>
          <a:stretch>
            <a:fillRect/>
          </a:stretch>
        </p:blipFill>
        <p:spPr>
          <a:xfrm>
            <a:off x="4826000" y="0"/>
            <a:ext cx="7366000" cy="6858000"/>
          </a:xfrm>
          <a:prstGeom prst="rect">
            <a:avLst/>
          </a:prstGeom>
        </p:spPr>
      </p:pic>
      <p:sp>
        <p:nvSpPr>
          <p:cNvPr id="4" name="Rectangle 3"/>
          <p:cNvSpPr/>
          <p:nvPr/>
        </p:nvSpPr>
        <p:spPr>
          <a:xfrm>
            <a:off x="0" y="0"/>
            <a:ext cx="101600" cy="685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55738"/>
            <a:ext cx="10566400" cy="917575"/>
          </a:xfrm>
          <a:prstGeom prst="rect">
            <a:avLst/>
          </a:prstGeom>
          <a:noFill/>
        </p:spPr>
        <p:txBody>
          <a:bodyPr wrap="none" lIns="0" rIns="0" tIns="0" bIns="0" anchor="t">
            <a:noAutofit/>
          </a:bodyPr>
          <a:lstStyle/>
          <a:p>
            <a:pPr algn="l">
              <a:lnSpc>
                <a:spcPts val="7225"/>
              </a:lnSpc>
              <a:spcBef>
                <a:spcPts val="0"/>
              </a:spcBef>
              <a:spcAft>
                <a:spcPts val="0"/>
              </a:spcAft>
            </a:pPr>
            <a:r>
              <a:rPr b="0" i="0" sz="8500">
                <a:solidFill>
                  <a:srgbClr val="B4581F"/>
                </a:solidFill>
                <a:latin typeface="Barlow Condensed ExtraBold"/>
              </a:rPr>
              <a:t>01</a:t>
            </a:r>
          </a:p>
        </p:txBody>
      </p:sp>
      <p:sp>
        <p:nvSpPr>
          <p:cNvPr id="6" name="TextBox 5"/>
          <p:cNvSpPr txBox="1"/>
          <p:nvPr/>
        </p:nvSpPr>
        <p:spPr>
          <a:xfrm>
            <a:off x="812800" y="2525712"/>
            <a:ext cx="4970780" cy="1371600"/>
          </a:xfrm>
          <a:prstGeom prst="rect">
            <a:avLst/>
          </a:prstGeom>
          <a:noFill/>
        </p:spPr>
        <p:txBody>
          <a:bodyPr wrap="square" lIns="0" rIns="0" tIns="0" bIns="0" anchor="t">
            <a:noAutofit/>
          </a:bodyPr>
          <a:lstStyle/>
          <a:p>
            <a:pPr algn="l">
              <a:lnSpc>
                <a:spcPts val="5400"/>
              </a:lnSpc>
              <a:spcBef>
                <a:spcPts val="0"/>
              </a:spcBef>
              <a:spcAft>
                <a:spcPts val="0"/>
              </a:spcAft>
            </a:pPr>
            <a:r>
              <a:rPr b="0" i="0" sz="6000">
                <a:solidFill>
                  <a:srgbClr val="F5F3EF"/>
                </a:solidFill>
                <a:latin typeface="Barlow Condensed ExtraBold"/>
              </a:rPr>
              <a:t>BUSINESS </a:t>
            </a:r>
            <a:r>
              <a:rPr b="0" i="0" sz="6000">
                <a:solidFill>
                  <a:srgbClr val="E39A5F"/>
                </a:solidFill>
                <a:latin typeface="Barlow Condensed ExtraBold"/>
              </a:rPr>
              <a:t>UPDATE</a:t>
            </a:r>
          </a:p>
        </p:txBody>
      </p:sp>
      <p:sp>
        <p:nvSpPr>
          <p:cNvPr id="7" name="Rectangle 6"/>
          <p:cNvSpPr/>
          <p:nvPr/>
        </p:nvSpPr>
        <p:spPr>
          <a:xfrm>
            <a:off x="812800" y="4049712"/>
            <a:ext cx="3626148" cy="4826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600" y="4138612"/>
            <a:ext cx="3492181" cy="304800"/>
          </a:xfrm>
          <a:prstGeom prst="rect">
            <a:avLst/>
          </a:prstGeom>
          <a:noFill/>
        </p:spPr>
        <p:txBody>
          <a:bodyPr wrap="none" lIns="0" rIns="0" tIns="0" bIns="0" anchor="t">
            <a:noAutofit/>
          </a:bodyPr>
          <a:lstStyle/>
          <a:p>
            <a:pPr algn="l">
              <a:lnSpc>
                <a:spcPts val="2400"/>
              </a:lnSpc>
              <a:spcBef>
                <a:spcPts val="0"/>
              </a:spcBef>
              <a:spcAft>
                <a:spcPts val="0"/>
              </a:spcAft>
            </a:pPr>
            <a:r>
              <a:rPr b="0" i="0" sz="2000" spc="150">
                <a:solidFill>
                  <a:srgbClr val="FFFDFA"/>
                </a:solidFill>
                <a:latin typeface="Barlow Condensed ExtraBold"/>
              </a:rPr>
              <a:t>GAS POWER GENERATION ONLY</a:t>
            </a:r>
          </a:p>
        </p:txBody>
      </p:sp>
      <p:sp>
        <p:nvSpPr>
          <p:cNvPr id="9" name="Rectangle 8"/>
          <p:cNvSpPr/>
          <p:nvPr/>
        </p:nvSpPr>
        <p:spPr>
          <a:xfrm>
            <a:off x="812800" y="4684712"/>
            <a:ext cx="4064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476726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C9CDD2"/>
                </a:solidFill>
                <a:latin typeface="Barlow Condensed"/>
              </a:rPr>
              <a:t>MARKET, HISTORY AND OEM ORDER BOOKS</a:t>
            </a:r>
          </a:p>
        </p:txBody>
      </p:sp>
      <p:sp>
        <p:nvSpPr>
          <p:cNvPr id="11" name="Rectangle 10"/>
          <p:cNvSpPr/>
          <p:nvPr/>
        </p:nvSpPr>
        <p:spPr>
          <a:xfrm>
            <a:off x="812800" y="5084762"/>
            <a:ext cx="4064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516731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C9CDD2"/>
                </a:solidFill>
                <a:latin typeface="Barlow Condensed"/>
              </a:rPr>
              <a:t>THE ~$1.2B CABLE OPPORTUNITY</a:t>
            </a:r>
          </a:p>
        </p:txBody>
      </p:sp>
      <p:sp>
        <p:nvSpPr>
          <p:cNvPr id="13" name="Rectangle 12"/>
          <p:cNvSpPr/>
          <p:nvPr/>
        </p:nvSpPr>
        <p:spPr>
          <a:xfrm>
            <a:off x="812800" y="5484812"/>
            <a:ext cx="4064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556736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C9CDD2"/>
                </a:solidFill>
                <a:latin typeface="Barlow Condensed"/>
              </a:rPr>
              <a:t>WHERE THE BUILD IS, OWNERS AND BUYERS</a:t>
            </a:r>
          </a:p>
        </p:txBody>
      </p:sp>
      <p:sp>
        <p:nvSpPr>
          <p:cNvPr id="15" name="Rectangle 14"/>
          <p:cNvSpPr/>
          <p:nvPr/>
        </p:nvSpPr>
        <p:spPr>
          <a:xfrm>
            <a:off x="812800" y="5884862"/>
            <a:ext cx="4064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800" y="6284912"/>
            <a:ext cx="4064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800" y="596741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C9CDD2"/>
                </a:solidFill>
                <a:latin typeface="Barlow Condensed"/>
              </a:rPr>
              <a:t>PURSUITS, PROGRESS AND COVERAGE</a:t>
            </a:r>
          </a:p>
        </p:txBody>
      </p:sp>
      <p:sp>
        <p:nvSpPr>
          <p:cNvPr id="18" name="Rectangle 17"/>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0" name="TextBox 19"/>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MARKET CONTEXT</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F5F3EF"/>
                </a:solidFill>
                <a:latin typeface="Barlow Condensed ExtraBold"/>
              </a:rPr>
              <a:t>LOAD GROWTH IS PULLING GAS POWER FORWARD</a:t>
            </a:r>
          </a:p>
        </p:txBody>
      </p:sp>
      <p:sp>
        <p:nvSpPr>
          <p:cNvPr id="4" name="Rectangle 3"/>
          <p:cNvSpPr/>
          <p:nvPr/>
        </p:nvSpPr>
        <p:spPr>
          <a:xfrm>
            <a:off x="812800" y="1841500"/>
            <a:ext cx="24892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019300"/>
            <a:ext cx="2489200" cy="457200"/>
          </a:xfrm>
          <a:prstGeom prst="rect">
            <a:avLst/>
          </a:prstGeom>
          <a:noFill/>
        </p:spPr>
        <p:txBody>
          <a:bodyPr wrap="none" lIns="0" rIns="0" tIns="0" bIns="0" anchor="t">
            <a:noAutofit/>
          </a:bodyPr>
          <a:lstStyle/>
          <a:p>
            <a:pPr algn="l">
              <a:lnSpc>
                <a:spcPts val="3600"/>
              </a:lnSpc>
              <a:spcBef>
                <a:spcPts val="0"/>
              </a:spcBef>
              <a:spcAft>
                <a:spcPts val="0"/>
              </a:spcAft>
            </a:pPr>
            <a:r>
              <a:rPr b="0" i="0" sz="4000">
                <a:solidFill>
                  <a:srgbClr val="E39A5F"/>
                </a:solidFill>
                <a:latin typeface="Barlow Condensed ExtraBold"/>
              </a:rPr>
              <a:t>166 GW</a:t>
            </a:r>
          </a:p>
        </p:txBody>
      </p:sp>
      <p:sp>
        <p:nvSpPr>
          <p:cNvPr id="6" name="TextBox 5"/>
          <p:cNvSpPr txBox="1"/>
          <p:nvPr/>
        </p:nvSpPr>
        <p:spPr>
          <a:xfrm>
            <a:off x="812800" y="2540000"/>
            <a:ext cx="2563876" cy="429220"/>
          </a:xfrm>
          <a:prstGeom prst="rect">
            <a:avLst/>
          </a:prstGeom>
          <a:noFill/>
        </p:spPr>
        <p:txBody>
          <a:bodyPr wrap="square" lIns="0" rIns="0" tIns="0" bIns="0" anchor="t">
            <a:noAutofit/>
          </a:bodyPr>
          <a:lstStyle/>
          <a:p>
            <a:pPr algn="l">
              <a:lnSpc>
                <a:spcPts val="1689"/>
              </a:lnSpc>
              <a:spcBef>
                <a:spcPts val="0"/>
              </a:spcBef>
              <a:spcAft>
                <a:spcPts val="0"/>
              </a:spcAft>
            </a:pPr>
            <a:r>
              <a:rPr b="0" i="0" sz="1300">
                <a:solidFill>
                  <a:srgbClr val="F5F3EF"/>
                </a:solidFill>
                <a:latin typeface="Barlow"/>
              </a:rPr>
              <a:t>US peak load growth forecast by 2030</a:t>
            </a:r>
          </a:p>
        </p:txBody>
      </p:sp>
      <p:sp>
        <p:nvSpPr>
          <p:cNvPr id="7" name="TextBox 6"/>
          <p:cNvSpPr txBox="1"/>
          <p:nvPr/>
        </p:nvSpPr>
        <p:spPr>
          <a:xfrm>
            <a:off x="812800" y="3032720"/>
            <a:ext cx="2513661"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C9CDD2"/>
                </a:solidFill>
                <a:latin typeface="Barlow"/>
              </a:rPr>
              <a:t>About 90 GW of it from data centers</a:t>
            </a:r>
          </a:p>
        </p:txBody>
      </p:sp>
      <p:sp>
        <p:nvSpPr>
          <p:cNvPr id="8" name="Rectangle 7"/>
          <p:cNvSpPr/>
          <p:nvPr/>
        </p:nvSpPr>
        <p:spPr>
          <a:xfrm>
            <a:off x="3505200" y="1841500"/>
            <a:ext cx="24892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019300"/>
            <a:ext cx="2489200" cy="457200"/>
          </a:xfrm>
          <a:prstGeom prst="rect">
            <a:avLst/>
          </a:prstGeom>
          <a:noFill/>
        </p:spPr>
        <p:txBody>
          <a:bodyPr wrap="none" lIns="0" rIns="0" tIns="0" bIns="0" anchor="t">
            <a:noAutofit/>
          </a:bodyPr>
          <a:lstStyle/>
          <a:p>
            <a:pPr algn="l">
              <a:lnSpc>
                <a:spcPts val="3600"/>
              </a:lnSpc>
              <a:spcBef>
                <a:spcPts val="0"/>
              </a:spcBef>
              <a:spcAft>
                <a:spcPts val="0"/>
              </a:spcAft>
            </a:pPr>
            <a:r>
              <a:rPr b="0" i="0" sz="4000">
                <a:solidFill>
                  <a:srgbClr val="E39A5F"/>
                </a:solidFill>
                <a:latin typeface="Barlow Condensed ExtraBold"/>
              </a:rPr>
              <a:t>378 GW</a:t>
            </a:r>
          </a:p>
        </p:txBody>
      </p:sp>
      <p:sp>
        <p:nvSpPr>
          <p:cNvPr id="10" name="TextBox 9"/>
          <p:cNvSpPr txBox="1"/>
          <p:nvPr/>
        </p:nvSpPr>
        <p:spPr>
          <a:xfrm>
            <a:off x="3505200" y="2540000"/>
            <a:ext cx="2563876" cy="429220"/>
          </a:xfrm>
          <a:prstGeom prst="rect">
            <a:avLst/>
          </a:prstGeom>
          <a:noFill/>
        </p:spPr>
        <p:txBody>
          <a:bodyPr wrap="square" lIns="0" rIns="0" tIns="0" bIns="0" anchor="t">
            <a:noAutofit/>
          </a:bodyPr>
          <a:lstStyle/>
          <a:p>
            <a:pPr algn="l">
              <a:lnSpc>
                <a:spcPts val="1689"/>
              </a:lnSpc>
              <a:spcBef>
                <a:spcPts val="0"/>
              </a:spcBef>
              <a:spcAft>
                <a:spcPts val="0"/>
              </a:spcAft>
            </a:pPr>
            <a:r>
              <a:rPr b="0" i="0" sz="1300">
                <a:solidFill>
                  <a:srgbClr val="F5F3EF"/>
                </a:solidFill>
                <a:latin typeface="Barlow"/>
              </a:rPr>
              <a:t>US gas power in development, mid-2026</a:t>
            </a:r>
          </a:p>
        </p:txBody>
      </p:sp>
      <p:sp>
        <p:nvSpPr>
          <p:cNvPr id="11" name="TextBox 10"/>
          <p:cNvSpPr txBox="1"/>
          <p:nvPr/>
        </p:nvSpPr>
        <p:spPr>
          <a:xfrm>
            <a:off x="3505200" y="3032720"/>
            <a:ext cx="24892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C9CDD2"/>
                </a:solidFill>
                <a:latin typeface="Barlow"/>
              </a:rPr>
              <a:t>189 GW tied to data centers</a:t>
            </a:r>
          </a:p>
        </p:txBody>
      </p:sp>
      <p:sp>
        <p:nvSpPr>
          <p:cNvPr id="12" name="Rectangle 11"/>
          <p:cNvSpPr/>
          <p:nvPr/>
        </p:nvSpPr>
        <p:spPr>
          <a:xfrm>
            <a:off x="6197600" y="1841500"/>
            <a:ext cx="24892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7600" y="2019300"/>
            <a:ext cx="2489200" cy="457200"/>
          </a:xfrm>
          <a:prstGeom prst="rect">
            <a:avLst/>
          </a:prstGeom>
          <a:noFill/>
        </p:spPr>
        <p:txBody>
          <a:bodyPr wrap="none" lIns="0" rIns="0" tIns="0" bIns="0" anchor="t">
            <a:noAutofit/>
          </a:bodyPr>
          <a:lstStyle/>
          <a:p>
            <a:pPr algn="l">
              <a:lnSpc>
                <a:spcPts val="3600"/>
              </a:lnSpc>
              <a:spcBef>
                <a:spcPts val="0"/>
              </a:spcBef>
              <a:spcAft>
                <a:spcPts val="0"/>
              </a:spcAft>
            </a:pPr>
            <a:r>
              <a:rPr b="0" i="0" sz="4000">
                <a:solidFill>
                  <a:srgbClr val="E39A5F"/>
                </a:solidFill>
                <a:latin typeface="Barlow Condensed ExtraBold"/>
              </a:rPr>
              <a:t>52 GW</a:t>
            </a:r>
          </a:p>
        </p:txBody>
      </p:sp>
      <p:sp>
        <p:nvSpPr>
          <p:cNvPr id="14" name="TextBox 13"/>
          <p:cNvSpPr txBox="1"/>
          <p:nvPr/>
        </p:nvSpPr>
        <p:spPr>
          <a:xfrm>
            <a:off x="6197600" y="2540000"/>
            <a:ext cx="2563876" cy="429220"/>
          </a:xfrm>
          <a:prstGeom prst="rect">
            <a:avLst/>
          </a:prstGeom>
          <a:noFill/>
        </p:spPr>
        <p:txBody>
          <a:bodyPr wrap="square" lIns="0" rIns="0" tIns="0" bIns="0" anchor="t">
            <a:noAutofit/>
          </a:bodyPr>
          <a:lstStyle/>
          <a:p>
            <a:pPr algn="l">
              <a:lnSpc>
                <a:spcPts val="1689"/>
              </a:lnSpc>
              <a:spcBef>
                <a:spcPts val="0"/>
              </a:spcBef>
              <a:spcAft>
                <a:spcPts val="0"/>
              </a:spcAft>
            </a:pPr>
            <a:r>
              <a:rPr b="0" i="0" sz="1300">
                <a:solidFill>
                  <a:srgbClr val="F5F3EF"/>
                </a:solidFill>
                <a:latin typeface="Barlow"/>
              </a:rPr>
              <a:t>under construction, up 76% in H1 2026</a:t>
            </a:r>
          </a:p>
        </p:txBody>
      </p:sp>
      <p:sp>
        <p:nvSpPr>
          <p:cNvPr id="15" name="TextBox 14"/>
          <p:cNvSpPr txBox="1"/>
          <p:nvPr/>
        </p:nvSpPr>
        <p:spPr>
          <a:xfrm>
            <a:off x="6197600" y="3032720"/>
            <a:ext cx="24892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C9CDD2"/>
                </a:solidFill>
                <a:latin typeface="Barlow"/>
              </a:rPr>
              <a:t>The largest gas build in the world</a:t>
            </a:r>
          </a:p>
        </p:txBody>
      </p:sp>
      <p:sp>
        <p:nvSpPr>
          <p:cNvPr id="16" name="Rectangle 15"/>
          <p:cNvSpPr/>
          <p:nvPr/>
        </p:nvSpPr>
        <p:spPr>
          <a:xfrm>
            <a:off x="8890000" y="1841500"/>
            <a:ext cx="24892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0000" y="2019300"/>
            <a:ext cx="2489200" cy="457200"/>
          </a:xfrm>
          <a:prstGeom prst="rect">
            <a:avLst/>
          </a:prstGeom>
          <a:noFill/>
        </p:spPr>
        <p:txBody>
          <a:bodyPr wrap="none" lIns="0" rIns="0" tIns="0" bIns="0" anchor="t">
            <a:noAutofit/>
          </a:bodyPr>
          <a:lstStyle/>
          <a:p>
            <a:pPr algn="l">
              <a:lnSpc>
                <a:spcPts val="3600"/>
              </a:lnSpc>
              <a:spcBef>
                <a:spcPts val="0"/>
              </a:spcBef>
              <a:spcAft>
                <a:spcPts val="0"/>
              </a:spcAft>
            </a:pPr>
            <a:r>
              <a:rPr b="0" i="0" sz="4000">
                <a:solidFill>
                  <a:srgbClr val="E39A5F"/>
                </a:solidFill>
                <a:latin typeface="Barlow Condensed ExtraBold"/>
              </a:rPr>
              <a:t>Up to 7 yrs</a:t>
            </a:r>
          </a:p>
        </p:txBody>
      </p:sp>
      <p:sp>
        <p:nvSpPr>
          <p:cNvPr id="18" name="TextBox 17"/>
          <p:cNvSpPr txBox="1"/>
          <p:nvPr/>
        </p:nvSpPr>
        <p:spPr>
          <a:xfrm>
            <a:off x="8890000" y="2540000"/>
            <a:ext cx="2563876" cy="429220"/>
          </a:xfrm>
          <a:prstGeom prst="rect">
            <a:avLst/>
          </a:prstGeom>
          <a:noFill/>
        </p:spPr>
        <p:txBody>
          <a:bodyPr wrap="square" lIns="0" rIns="0" tIns="0" bIns="0" anchor="t">
            <a:noAutofit/>
          </a:bodyPr>
          <a:lstStyle/>
          <a:p>
            <a:pPr algn="l">
              <a:lnSpc>
                <a:spcPts val="1689"/>
              </a:lnSpc>
              <a:spcBef>
                <a:spcPts val="0"/>
              </a:spcBef>
              <a:spcAft>
                <a:spcPts val="0"/>
              </a:spcAft>
            </a:pPr>
            <a:r>
              <a:rPr b="0" i="0" sz="1300">
                <a:solidFill>
                  <a:srgbClr val="F5F3EF"/>
                </a:solidFill>
                <a:latin typeface="Barlow"/>
              </a:rPr>
              <a:t>quoted lead time for some large gas turbines</a:t>
            </a:r>
          </a:p>
        </p:txBody>
      </p:sp>
      <p:sp>
        <p:nvSpPr>
          <p:cNvPr id="19" name="TextBox 18"/>
          <p:cNvSpPr txBox="1"/>
          <p:nvPr/>
        </p:nvSpPr>
        <p:spPr>
          <a:xfrm>
            <a:off x="8890000" y="3032720"/>
            <a:ext cx="2563876"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C9CDD2"/>
                </a:solidFill>
                <a:latin typeface="Barlow"/>
              </a:rPr>
              <a:t>Procurement decisions are being made now</a:t>
            </a:r>
          </a:p>
        </p:txBody>
      </p:sp>
      <p:sp>
        <p:nvSpPr>
          <p:cNvPr id="20" name="TextBox 19"/>
          <p:cNvSpPr txBox="1"/>
          <p:nvPr/>
        </p:nvSpPr>
        <p:spPr>
          <a:xfrm>
            <a:off x="812800" y="4064000"/>
            <a:ext cx="76200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F5F3EF"/>
                </a:solidFill>
                <a:latin typeface="Barlow Condensed"/>
              </a:rPr>
              <a:t>US GAS CAPACITY ADDED PER YEAR, GW · PROVISIONAL</a:t>
            </a:r>
          </a:p>
        </p:txBody>
      </p:sp>
      <p:sp>
        <p:nvSpPr>
          <p:cNvPr id="21" name="Rectangle 20"/>
          <p:cNvSpPr/>
          <p:nvPr/>
        </p:nvSpPr>
        <p:spPr>
          <a:xfrm>
            <a:off x="812800" y="5842000"/>
            <a:ext cx="10566400" cy="12700"/>
          </a:xfrm>
          <a:prstGeom prst="rect">
            <a:avLst/>
          </a:prstGeom>
          <a:solidFill>
            <a:srgbClr val="4A5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3600" y="5797550"/>
            <a:ext cx="241300" cy="444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1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1996</a:t>
            </a:r>
          </a:p>
        </p:txBody>
      </p:sp>
      <p:sp>
        <p:nvSpPr>
          <p:cNvPr id="24" name="Rectangle 23"/>
          <p:cNvSpPr/>
          <p:nvPr/>
        </p:nvSpPr>
        <p:spPr>
          <a:xfrm>
            <a:off x="1200150" y="5772150"/>
            <a:ext cx="241300" cy="698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43050" y="5727700"/>
            <a:ext cx="241300" cy="1143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8595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22500" y="5340350"/>
            <a:ext cx="241300" cy="5016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510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2000</a:t>
            </a:r>
          </a:p>
        </p:txBody>
      </p:sp>
      <p:sp>
        <p:nvSpPr>
          <p:cNvPr id="29" name="Rectangle 28"/>
          <p:cNvSpPr/>
          <p:nvPr/>
        </p:nvSpPr>
        <p:spPr>
          <a:xfrm>
            <a:off x="2565400" y="4927600"/>
            <a:ext cx="241300" cy="914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01950" y="4540250"/>
            <a:ext cx="241300" cy="13017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30500" y="4337050"/>
            <a:ext cx="584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F5F3EF"/>
                </a:solidFill>
                <a:latin typeface="Barlow Condensed ExtraBold"/>
              </a:rPr>
              <a:t>57</a:t>
            </a:r>
          </a:p>
        </p:txBody>
      </p:sp>
      <p:sp>
        <p:nvSpPr>
          <p:cNvPr id="32" name="Rectangle 31"/>
          <p:cNvSpPr/>
          <p:nvPr/>
        </p:nvSpPr>
        <p:spPr>
          <a:xfrm>
            <a:off x="3244850" y="4724400"/>
            <a:ext cx="241300" cy="11176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87750" y="5384800"/>
            <a:ext cx="241300" cy="457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24300" y="5499100"/>
            <a:ext cx="241300" cy="3429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528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2005</a:t>
            </a:r>
          </a:p>
        </p:txBody>
      </p:sp>
      <p:sp>
        <p:nvSpPr>
          <p:cNvPr id="36" name="Rectangle 35"/>
          <p:cNvSpPr/>
          <p:nvPr/>
        </p:nvSpPr>
        <p:spPr>
          <a:xfrm>
            <a:off x="426720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0375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94665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8955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26100" y="5683250"/>
            <a:ext cx="241300" cy="1587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546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2010</a:t>
            </a:r>
          </a:p>
        </p:txBody>
      </p:sp>
      <p:sp>
        <p:nvSpPr>
          <p:cNvPr id="42" name="Rectangle 41"/>
          <p:cNvSpPr/>
          <p:nvPr/>
        </p:nvSpPr>
        <p:spPr>
          <a:xfrm>
            <a:off x="596900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5550" y="5638800"/>
            <a:ext cx="241300" cy="2032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648450" y="5683250"/>
            <a:ext cx="241300" cy="1587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91350" y="5702300"/>
            <a:ext cx="241300" cy="1397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27900" y="5695950"/>
            <a:ext cx="241300" cy="1460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564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2015</a:t>
            </a:r>
          </a:p>
        </p:txBody>
      </p:sp>
      <p:sp>
        <p:nvSpPr>
          <p:cNvPr id="48" name="Rectangle 47"/>
          <p:cNvSpPr/>
          <p:nvPr/>
        </p:nvSpPr>
        <p:spPr>
          <a:xfrm>
            <a:off x="7670800" y="5645150"/>
            <a:ext cx="241300" cy="1968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07350" y="5588000"/>
            <a:ext cx="2413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50250" y="5403850"/>
            <a:ext cx="241300" cy="4381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693150" y="5651500"/>
            <a:ext cx="241300" cy="1905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29700" y="5683250"/>
            <a:ext cx="241300" cy="1587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582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2020</a:t>
            </a:r>
          </a:p>
        </p:txBody>
      </p:sp>
      <p:sp>
        <p:nvSpPr>
          <p:cNvPr id="54" name="Rectangle 53"/>
          <p:cNvSpPr/>
          <p:nvPr/>
        </p:nvSpPr>
        <p:spPr>
          <a:xfrm>
            <a:off x="9372600" y="5695950"/>
            <a:ext cx="241300" cy="1460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709150" y="5715000"/>
            <a:ext cx="241300" cy="127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052050" y="5645150"/>
            <a:ext cx="241300" cy="1968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394950" y="5753100"/>
            <a:ext cx="241300" cy="889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731500" y="5759450"/>
            <a:ext cx="241300" cy="825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074400" y="5695950"/>
            <a:ext cx="241300" cy="1460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02950" y="5892800"/>
            <a:ext cx="584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C9CDD2"/>
                </a:solidFill>
                <a:latin typeface="Barlow"/>
              </a:rPr>
              <a:t>2026</a:t>
            </a:r>
          </a:p>
        </p:txBody>
      </p:sp>
      <p:sp>
        <p:nvSpPr>
          <p:cNvPr id="61" name="TextBox 60"/>
          <p:cNvSpPr txBox="1"/>
          <p:nvPr/>
        </p:nvSpPr>
        <p:spPr>
          <a:xfrm>
            <a:off x="10902950" y="5492750"/>
            <a:ext cx="584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F5F3EF"/>
                </a:solidFill>
                <a:latin typeface="Barlow Condensed ExtraBold"/>
              </a:rPr>
              <a:t>6.3</a:t>
            </a:r>
          </a:p>
        </p:txBody>
      </p:sp>
      <p:sp>
        <p:nvSpPr>
          <p:cNvPr id="62" name="TextBox 61"/>
          <p:cNvSpPr txBox="1"/>
          <p:nvPr/>
        </p:nvSpPr>
        <p:spPr>
          <a:xfrm>
            <a:off x="3556000" y="4445000"/>
            <a:ext cx="33020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E39A5F"/>
                </a:solidFill>
                <a:latin typeface="Barlow Condensed ExtraBold"/>
              </a:rPr>
              <a:t>2000–04 MERCHANT BOOM</a:t>
            </a:r>
          </a:p>
        </p:txBody>
      </p:sp>
      <p:sp>
        <p:nvSpPr>
          <p:cNvPr id="63" name="TextBox 62"/>
          <p:cNvSpPr txBox="1"/>
          <p:nvPr/>
        </p:nvSpPr>
        <p:spPr>
          <a:xfrm>
            <a:off x="3556000" y="4711700"/>
            <a:ext cx="341088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188 GW built · 37.6 GW a year · peak 57 GW in 2002</a:t>
            </a:r>
          </a:p>
        </p:txBody>
      </p:sp>
      <p:sp>
        <p:nvSpPr>
          <p:cNvPr id="64" name="TextBox 63"/>
          <p:cNvSpPr txBox="1"/>
          <p:nvPr/>
        </p:nvSpPr>
        <p:spPr>
          <a:xfrm>
            <a:off x="7493000" y="4826000"/>
            <a:ext cx="33020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2015–25 RUN-RATE: 8.1 GW A YEAR</a:t>
            </a:r>
          </a:p>
        </p:txBody>
      </p:sp>
      <p:sp>
        <p:nvSpPr>
          <p:cNvPr id="65" name="TextBox 64"/>
          <p:cNvSpPr txBox="1"/>
          <p:nvPr/>
        </p:nvSpPr>
        <p:spPr>
          <a:xfrm>
            <a:off x="7493000" y="5092700"/>
            <a:ext cx="333631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Today's pipeline needs a boom-scale build again</a:t>
            </a:r>
          </a:p>
        </p:txBody>
      </p:sp>
      <p:sp>
        <p:nvSpPr>
          <p:cNvPr id="66" name="TextBox 65"/>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Sources: Grid Strategies, 2025; GEM, Aug 2026; S&amp;P Global, May 2025. History: EIA and Southwire provisional series, to be verified.</a:t>
            </a:r>
          </a:p>
        </p:txBody>
      </p:sp>
      <p:sp>
        <p:nvSpPr>
          <p:cNvPr id="67" name="TextBox 66"/>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05</a:t>
            </a:r>
          </a:p>
        </p:txBody>
      </p:sp>
      <p:sp>
        <p:nvSpPr>
          <p:cNvPr id="68" name="Rectangle 67"/>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70" name="TextBox 69"/>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pic>
        <p:nvPicPr>
          <p:cNvPr id="71"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OEM ORDER BOOKS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TURBINE BACKLOGS ARE FULL</a:t>
            </a:r>
          </a:p>
        </p:txBody>
      </p:sp>
      <p:sp>
        <p:nvSpPr>
          <p:cNvPr id="4" name="TextBox 3"/>
          <p:cNvSpPr txBox="1"/>
          <p:nvPr/>
        </p:nvSpPr>
        <p:spPr>
          <a:xfrm>
            <a:off x="812800" y="2006600"/>
            <a:ext cx="1905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SemiBold"/>
              </a:rPr>
              <a:t>GE Vernova</a:t>
            </a:r>
          </a:p>
        </p:txBody>
      </p:sp>
      <p:sp>
        <p:nvSpPr>
          <p:cNvPr id="5" name="Rectangle 4"/>
          <p:cNvSpPr/>
          <p:nvPr/>
        </p:nvSpPr>
        <p:spPr>
          <a:xfrm>
            <a:off x="2870200" y="1892300"/>
            <a:ext cx="5524500" cy="457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7100" y="1952625"/>
            <a:ext cx="740358"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141619"/>
                </a:solidFill>
                <a:latin typeface="Barlow Condensed ExtraBold"/>
              </a:rPr>
              <a:t>116 GW</a:t>
            </a:r>
          </a:p>
        </p:txBody>
      </p:sp>
      <p:sp>
        <p:nvSpPr>
          <p:cNvPr id="7" name="TextBox 6"/>
          <p:cNvSpPr txBox="1"/>
          <p:nvPr/>
        </p:nvSpPr>
        <p:spPr>
          <a:xfrm>
            <a:off x="812800" y="2590800"/>
            <a:ext cx="1905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SemiBold"/>
              </a:rPr>
              <a:t>Siemens Energy</a:t>
            </a:r>
          </a:p>
        </p:txBody>
      </p:sp>
      <p:sp>
        <p:nvSpPr>
          <p:cNvPr id="8" name="Rectangle 7"/>
          <p:cNvSpPr/>
          <p:nvPr/>
        </p:nvSpPr>
        <p:spPr>
          <a:xfrm>
            <a:off x="2870200" y="2476500"/>
            <a:ext cx="3282950" cy="457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5550" y="2536825"/>
            <a:ext cx="847634"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141619"/>
                </a:solidFill>
                <a:latin typeface="Barlow Condensed ExtraBold"/>
              </a:rPr>
              <a:t>~69 GW</a:t>
            </a:r>
          </a:p>
        </p:txBody>
      </p:sp>
      <p:sp>
        <p:nvSpPr>
          <p:cNvPr id="10" name="TextBox 9"/>
          <p:cNvSpPr txBox="1"/>
          <p:nvPr/>
        </p:nvSpPr>
        <p:spPr>
          <a:xfrm>
            <a:off x="812800" y="3175000"/>
            <a:ext cx="1905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SemiBold"/>
              </a:rPr>
              <a:t>Mitsubishi Power</a:t>
            </a:r>
          </a:p>
        </p:txBody>
      </p:sp>
      <p:sp>
        <p:nvSpPr>
          <p:cNvPr id="11" name="Rectangle 10"/>
          <p:cNvSpPr/>
          <p:nvPr/>
        </p:nvSpPr>
        <p:spPr>
          <a:xfrm>
            <a:off x="2870200" y="3060700"/>
            <a:ext cx="1663700" cy="457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6300" y="3121025"/>
            <a:ext cx="699236"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141619"/>
                </a:solidFill>
                <a:latin typeface="Barlow Condensed ExtraBold"/>
              </a:rPr>
              <a:t>35 GW</a:t>
            </a:r>
          </a:p>
        </p:txBody>
      </p:sp>
      <p:sp>
        <p:nvSpPr>
          <p:cNvPr id="13" name="TextBox 12"/>
          <p:cNvSpPr txBox="1"/>
          <p:nvPr/>
        </p:nvSpPr>
        <p:spPr>
          <a:xfrm>
            <a:off x="812800" y="3644900"/>
            <a:ext cx="10566400" cy="213360"/>
          </a:xfrm>
          <a:prstGeom prst="rect">
            <a:avLst/>
          </a:prstGeom>
          <a:noFill/>
        </p:spPr>
        <p:txBody>
          <a:bodyPr wrap="none" lIns="0" rIns="0" tIns="0" bIns="0" anchor="t">
            <a:noAutofit/>
          </a:bodyPr>
          <a:lstStyle/>
          <a:p>
            <a:pPr algn="l">
              <a:lnSpc>
                <a:spcPts val="1680"/>
              </a:lnSpc>
              <a:spcBef>
                <a:spcPts val="0"/>
              </a:spcBef>
              <a:spcAft>
                <a:spcPts val="0"/>
              </a:spcAft>
            </a:pPr>
            <a:r>
              <a:rPr b="0" i="0" sz="1200">
                <a:solidFill>
                  <a:srgbClr val="4A525B"/>
                </a:solidFill>
                <a:latin typeface="Barlow"/>
              </a:rPr>
              <a:t>GE Vernova: firm backlog plus slot reservations, Q2 2026. Siemens Energy: gas turbine backlog, Q3 FY26. Mitsubishi: large-frame backlog, Aug 2026.</a:t>
            </a:r>
          </a:p>
        </p:txBody>
      </p:sp>
      <p:sp>
        <p:nvSpPr>
          <p:cNvPr id="14" name="Rectangle 13"/>
          <p:cNvSpPr/>
          <p:nvPr/>
        </p:nvSpPr>
        <p:spPr>
          <a:xfrm>
            <a:off x="812800" y="4163020"/>
            <a:ext cx="3386634" cy="158363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4340820"/>
            <a:ext cx="3031034"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E39A5F"/>
                </a:solidFill>
                <a:latin typeface="Barlow Condensed ExtraBold"/>
              </a:rPr>
              <a:t>+72%</a:t>
            </a:r>
          </a:p>
        </p:txBody>
      </p:sp>
      <p:sp>
        <p:nvSpPr>
          <p:cNvPr id="16" name="TextBox 15"/>
          <p:cNvSpPr txBox="1"/>
          <p:nvPr/>
        </p:nvSpPr>
        <p:spPr>
          <a:xfrm>
            <a:off x="990600" y="4848820"/>
            <a:ext cx="312196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F5F3EF"/>
                </a:solidFill>
                <a:latin typeface="Barlow"/>
              </a:rPr>
              <a:t>Caterpillar Power Generation sales, Q2 2026</a:t>
            </a:r>
          </a:p>
        </p:txBody>
      </p:sp>
      <p:sp>
        <p:nvSpPr>
          <p:cNvPr id="17" name="Rectangle 16"/>
          <p:cNvSpPr/>
          <p:nvPr/>
        </p:nvSpPr>
        <p:spPr>
          <a:xfrm>
            <a:off x="4402634" y="4163020"/>
            <a:ext cx="3386634" cy="158363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0434" y="4340820"/>
            <a:ext cx="3031034"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E39A5F"/>
                </a:solidFill>
                <a:latin typeface="Barlow Condensed ExtraBold"/>
              </a:rPr>
              <a:t>2.3 GW</a:t>
            </a:r>
          </a:p>
        </p:txBody>
      </p:sp>
      <p:sp>
        <p:nvSpPr>
          <p:cNvPr id="19" name="TextBox 18"/>
          <p:cNvSpPr txBox="1"/>
          <p:nvPr/>
        </p:nvSpPr>
        <p:spPr>
          <a:xfrm>
            <a:off x="4580434" y="4848820"/>
            <a:ext cx="3121965"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F5F3EF"/>
                </a:solidFill>
                <a:latin typeface="Barlow"/>
              </a:rPr>
              <a:t>VoltaGrid modular gas fleet for Oracle's Texas AI data centers, plus 1 GW for Vantage</a:t>
            </a:r>
          </a:p>
        </p:txBody>
      </p:sp>
      <p:sp>
        <p:nvSpPr>
          <p:cNvPr id="20" name="Rectangle 19"/>
          <p:cNvSpPr/>
          <p:nvPr/>
        </p:nvSpPr>
        <p:spPr>
          <a:xfrm>
            <a:off x="7992467" y="4163020"/>
            <a:ext cx="3386634" cy="158363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0267" y="4340820"/>
            <a:ext cx="3031034"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E39A5F"/>
                </a:solidFill>
                <a:latin typeface="Barlow Condensed ExtraBold"/>
              </a:rPr>
              <a:t>500 MW</a:t>
            </a:r>
          </a:p>
        </p:txBody>
      </p:sp>
      <p:sp>
        <p:nvSpPr>
          <p:cNvPr id="22" name="TextBox 21"/>
          <p:cNvSpPr txBox="1"/>
          <p:nvPr/>
        </p:nvSpPr>
        <p:spPr>
          <a:xfrm>
            <a:off x="8170267" y="4848820"/>
            <a:ext cx="312196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F5F3EF"/>
                </a:solidFill>
                <a:latin typeface="Barlow"/>
              </a:rPr>
              <a:t>standard modular SGT-800 plant from Siemens Energy and Eaton</a:t>
            </a:r>
          </a:p>
        </p:txBody>
      </p:sp>
      <p:sp>
        <p:nvSpPr>
          <p:cNvPr id="23" name="TextBox 22"/>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Sources: GE Vernova, Siemens Energy, Caterpillar and Eaton releases; Utility Dive, Aug 2026; POWER, Oct 2025 and Feb 2026</a:t>
            </a:r>
          </a:p>
        </p:txBody>
      </p:sp>
      <p:sp>
        <p:nvSpPr>
          <p:cNvPr id="24" name="TextBox 23"/>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06</a:t>
            </a:r>
          </a:p>
        </p:txBody>
      </p:sp>
      <p:sp>
        <p:nvSpPr>
          <p:cNvPr id="25" name="Rectangle 24"/>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7" name="TextBox 26"/>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28"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SIZING THE OPPORTUNITY · CONSERVATIVE PLANNING SCENARIO</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US GAS GENERATION: A $1B+ WIRE &amp; CABLE PRIZE</a:t>
            </a:r>
          </a:p>
        </p:txBody>
      </p:sp>
      <p:sp>
        <p:nvSpPr>
          <p:cNvPr id="4" name="Rectangle 3"/>
          <p:cNvSpPr/>
          <p:nvPr/>
        </p:nvSpPr>
        <p:spPr>
          <a:xfrm>
            <a:off x="812800" y="1866900"/>
            <a:ext cx="3048000" cy="3989983"/>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866900"/>
            <a:ext cx="3048000" cy="635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133600"/>
            <a:ext cx="26416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50">
                <a:solidFill>
                  <a:srgbClr val="9E4C1A"/>
                </a:solidFill>
                <a:latin typeface="Barlow Condensed"/>
              </a:rPr>
              <a:t>CAPACITY ASSUMPTIONS</a:t>
            </a:r>
          </a:p>
        </p:txBody>
      </p:sp>
      <p:sp>
        <p:nvSpPr>
          <p:cNvPr id="7" name="TextBox 6"/>
          <p:cNvSpPr txBox="1"/>
          <p:nvPr/>
        </p:nvSpPr>
        <p:spPr>
          <a:xfrm>
            <a:off x="1016000" y="2451100"/>
            <a:ext cx="2641600" cy="482600"/>
          </a:xfrm>
          <a:prstGeom prst="rect">
            <a:avLst/>
          </a:prstGeom>
          <a:noFill/>
        </p:spPr>
        <p:txBody>
          <a:bodyPr wrap="none" lIns="0" rIns="0" tIns="0" bIns="0" anchor="t">
            <a:noAutofit/>
          </a:bodyPr>
          <a:lstStyle/>
          <a:p>
            <a:pPr algn="l">
              <a:lnSpc>
                <a:spcPts val="3800"/>
              </a:lnSpc>
              <a:spcBef>
                <a:spcPts val="0"/>
              </a:spcBef>
              <a:spcAft>
                <a:spcPts val="0"/>
              </a:spcAft>
            </a:pPr>
            <a:r>
              <a:rPr b="0" i="0" sz="4000">
                <a:solidFill>
                  <a:srgbClr val="141619"/>
                </a:solidFill>
                <a:latin typeface="Barlow Condensed ExtraBold"/>
              </a:rPr>
              <a:t>378 GW</a:t>
            </a:r>
          </a:p>
        </p:txBody>
      </p:sp>
      <p:sp>
        <p:nvSpPr>
          <p:cNvPr id="8" name="TextBox 7"/>
          <p:cNvSpPr txBox="1"/>
          <p:nvPr/>
        </p:nvSpPr>
        <p:spPr>
          <a:xfrm>
            <a:off x="1016000" y="302260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4A525B"/>
                </a:solidFill>
                <a:latin typeface="Barlow"/>
              </a:rPr>
              <a:t>Reported development pipeline</a:t>
            </a:r>
          </a:p>
        </p:txBody>
      </p:sp>
      <p:sp>
        <p:nvSpPr>
          <p:cNvPr id="9" name="Rectangle 8"/>
          <p:cNvSpPr/>
          <p:nvPr/>
        </p:nvSpPr>
        <p:spPr>
          <a:xfrm>
            <a:off x="1016000" y="3308350"/>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339090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52 GW under construction</a:t>
            </a:r>
          </a:p>
        </p:txBody>
      </p:sp>
      <p:sp>
        <p:nvSpPr>
          <p:cNvPr id="11" name="TextBox 10"/>
          <p:cNvSpPr txBox="1"/>
          <p:nvPr/>
        </p:nvSpPr>
        <p:spPr>
          <a:xfrm>
            <a:off x="1016000" y="3625850"/>
            <a:ext cx="26416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 90% = 46.8 GW</a:t>
            </a:r>
          </a:p>
        </p:txBody>
      </p:sp>
      <p:sp>
        <p:nvSpPr>
          <p:cNvPr id="12" name="Rectangle 11"/>
          <p:cNvSpPr/>
          <p:nvPr/>
        </p:nvSpPr>
        <p:spPr>
          <a:xfrm>
            <a:off x="1016000" y="3930650"/>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401320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326 GW in earlier stages</a:t>
            </a:r>
          </a:p>
        </p:txBody>
      </p:sp>
      <p:sp>
        <p:nvSpPr>
          <p:cNvPr id="14" name="TextBox 13"/>
          <p:cNvSpPr txBox="1"/>
          <p:nvPr/>
        </p:nvSpPr>
        <p:spPr>
          <a:xfrm>
            <a:off x="1016000" y="4248150"/>
            <a:ext cx="26416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 13.5% = 44.0 GW</a:t>
            </a:r>
          </a:p>
        </p:txBody>
      </p:sp>
      <p:sp>
        <p:nvSpPr>
          <p:cNvPr id="15" name="Rectangle 14"/>
          <p:cNvSpPr/>
          <p:nvPr/>
        </p:nvSpPr>
        <p:spPr>
          <a:xfrm>
            <a:off x="1016000" y="4552950"/>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000" y="463550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4A525B"/>
                </a:solidFill>
                <a:latin typeface="Barlow"/>
              </a:rPr>
              <a:t>+ 2.9 GW already operating in 2026</a:t>
            </a:r>
          </a:p>
        </p:txBody>
      </p:sp>
      <p:sp>
        <p:nvSpPr>
          <p:cNvPr id="17" name="TextBox 16"/>
          <p:cNvSpPr txBox="1"/>
          <p:nvPr/>
        </p:nvSpPr>
        <p:spPr>
          <a:xfrm>
            <a:off x="1016000" y="4921250"/>
            <a:ext cx="2641600" cy="434340"/>
          </a:xfrm>
          <a:prstGeom prst="rect">
            <a:avLst/>
          </a:prstGeom>
          <a:noFill/>
        </p:spPr>
        <p:txBody>
          <a:bodyPr wrap="none" lIns="0" rIns="0" tIns="0" bIns="0" anchor="t">
            <a:noAutofit/>
          </a:bodyPr>
          <a:lstStyle/>
          <a:p>
            <a:pPr algn="l">
              <a:lnSpc>
                <a:spcPts val="3420"/>
              </a:lnSpc>
              <a:spcBef>
                <a:spcPts val="0"/>
              </a:spcBef>
              <a:spcAft>
                <a:spcPts val="0"/>
              </a:spcAft>
            </a:pPr>
            <a:r>
              <a:rPr b="0" i="0" sz="3600">
                <a:solidFill>
                  <a:srgbClr val="B4581F"/>
                </a:solidFill>
                <a:latin typeface="Barlow Condensed ExtraBold"/>
              </a:rPr>
              <a:t>93.7 GW</a:t>
            </a:r>
          </a:p>
        </p:txBody>
      </p:sp>
      <p:sp>
        <p:nvSpPr>
          <p:cNvPr id="18" name="TextBox 17"/>
          <p:cNvSpPr txBox="1"/>
          <p:nvPr/>
        </p:nvSpPr>
        <p:spPr>
          <a:xfrm>
            <a:off x="1016000" y="544443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4A525B"/>
                </a:solidFill>
                <a:latin typeface="Barlow"/>
              </a:rPr>
              <a:t>Modeled additions through 2036</a:t>
            </a:r>
          </a:p>
        </p:txBody>
      </p:sp>
      <p:sp>
        <p:nvSpPr>
          <p:cNvPr id="19" name="Right Arrow 18"/>
          <p:cNvSpPr/>
          <p:nvPr/>
        </p:nvSpPr>
        <p:spPr>
          <a:xfrm>
            <a:off x="4064000" y="3747591"/>
            <a:ext cx="304800" cy="2286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1866900"/>
            <a:ext cx="3048000" cy="3989983"/>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0" y="1866900"/>
            <a:ext cx="304800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75200" y="2133600"/>
            <a:ext cx="26416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50">
                <a:solidFill>
                  <a:srgbClr val="9E4C1A"/>
                </a:solidFill>
                <a:latin typeface="Barlow Condensed"/>
              </a:rPr>
              <a:t>WHOLE-PLANT INVESTMENT</a:t>
            </a:r>
          </a:p>
        </p:txBody>
      </p:sp>
      <p:sp>
        <p:nvSpPr>
          <p:cNvPr id="23" name="TextBox 22"/>
          <p:cNvSpPr txBox="1"/>
          <p:nvPr/>
        </p:nvSpPr>
        <p:spPr>
          <a:xfrm>
            <a:off x="4775200" y="2451100"/>
            <a:ext cx="2641600" cy="482600"/>
          </a:xfrm>
          <a:prstGeom prst="rect">
            <a:avLst/>
          </a:prstGeom>
          <a:noFill/>
        </p:spPr>
        <p:txBody>
          <a:bodyPr wrap="none" lIns="0" rIns="0" tIns="0" bIns="0" anchor="t">
            <a:noAutofit/>
          </a:bodyPr>
          <a:lstStyle/>
          <a:p>
            <a:pPr algn="l">
              <a:lnSpc>
                <a:spcPts val="3800"/>
              </a:lnSpc>
              <a:spcBef>
                <a:spcPts val="0"/>
              </a:spcBef>
              <a:spcAft>
                <a:spcPts val="0"/>
              </a:spcAft>
            </a:pPr>
            <a:r>
              <a:rPr b="0" i="0" sz="4000">
                <a:solidFill>
                  <a:srgbClr val="141619"/>
                </a:solidFill>
                <a:latin typeface="Barlow Condensed ExtraBold"/>
              </a:rPr>
              <a:t>~$180B</a:t>
            </a:r>
          </a:p>
        </p:txBody>
      </p:sp>
      <p:sp>
        <p:nvSpPr>
          <p:cNvPr id="24" name="TextBox 23"/>
          <p:cNvSpPr txBox="1"/>
          <p:nvPr/>
        </p:nvSpPr>
        <p:spPr>
          <a:xfrm>
            <a:off x="4775200" y="3022600"/>
            <a:ext cx="2720848" cy="393700"/>
          </a:xfrm>
          <a:prstGeom prst="rect">
            <a:avLst/>
          </a:prstGeom>
          <a:noFill/>
        </p:spPr>
        <p:txBody>
          <a:bodyPr wrap="square" lIns="0" rIns="0" tIns="0" bIns="0" anchor="t">
            <a:noAutofit/>
          </a:bodyPr>
          <a:lstStyle/>
          <a:p>
            <a:pPr algn="l">
              <a:lnSpc>
                <a:spcPts val="1560"/>
              </a:lnSpc>
              <a:spcBef>
                <a:spcPts val="0"/>
              </a:spcBef>
              <a:spcAft>
                <a:spcPts val="0"/>
              </a:spcAft>
            </a:pPr>
            <a:r>
              <a:rPr b="0" i="0" sz="1300">
                <a:solidFill>
                  <a:srgbClr val="4A525B"/>
                </a:solidFill>
                <a:latin typeface="Barlow"/>
              </a:rPr>
              <a:t>Total plant investment over the period</a:t>
            </a:r>
          </a:p>
        </p:txBody>
      </p:sp>
      <p:sp>
        <p:nvSpPr>
          <p:cNvPr id="25" name="Rectangle 24"/>
          <p:cNvSpPr/>
          <p:nvPr/>
        </p:nvSpPr>
        <p:spPr>
          <a:xfrm>
            <a:off x="4775200" y="3505200"/>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5200" y="3587750"/>
            <a:ext cx="26416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93.7 GW × $1,923/kW</a:t>
            </a:r>
          </a:p>
        </p:txBody>
      </p:sp>
      <p:sp>
        <p:nvSpPr>
          <p:cNvPr id="27" name="TextBox 26"/>
          <p:cNvSpPr txBox="1"/>
          <p:nvPr/>
        </p:nvSpPr>
        <p:spPr>
          <a:xfrm>
            <a:off x="4775200" y="3841750"/>
            <a:ext cx="2720848"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4A525B"/>
                </a:solidFill>
                <a:latin typeface="Barlow"/>
              </a:rPr>
              <a:t>Blended cost: CCGT, peakers and gas engines</a:t>
            </a:r>
          </a:p>
        </p:txBody>
      </p:sp>
      <p:sp>
        <p:nvSpPr>
          <p:cNvPr id="28" name="Rectangle 27"/>
          <p:cNvSpPr/>
          <p:nvPr/>
        </p:nvSpPr>
        <p:spPr>
          <a:xfrm>
            <a:off x="4775200" y="4342011"/>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5200" y="4424561"/>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Whole-plant CapEx includes</a:t>
            </a:r>
          </a:p>
        </p:txBody>
      </p:sp>
      <p:sp>
        <p:nvSpPr>
          <p:cNvPr id="30" name="TextBox 29"/>
          <p:cNvSpPr txBox="1"/>
          <p:nvPr/>
        </p:nvSpPr>
        <p:spPr>
          <a:xfrm>
            <a:off x="4775200" y="4659511"/>
            <a:ext cx="2720848"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4A525B"/>
                </a:solidFill>
                <a:latin typeface="Barlow"/>
              </a:rPr>
              <a:t>Generation equipment, auxiliaries, electrical systems and construction</a:t>
            </a:r>
          </a:p>
        </p:txBody>
      </p:sp>
      <p:sp>
        <p:nvSpPr>
          <p:cNvPr id="31" name="Rectangle 30"/>
          <p:cNvSpPr/>
          <p:nvPr/>
        </p:nvSpPr>
        <p:spPr>
          <a:xfrm>
            <a:off x="4775200" y="5159772"/>
            <a:ext cx="2641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75200" y="5242322"/>
            <a:ext cx="2720848"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4A525B"/>
                </a:solidFill>
                <a:latin typeface="Barlow"/>
              </a:rPr>
              <a:t>$2,000–2,400/kW is a whole-plant CCGT reference range</a:t>
            </a:r>
          </a:p>
        </p:txBody>
      </p:sp>
      <p:sp>
        <p:nvSpPr>
          <p:cNvPr id="33" name="Right Arrow 32"/>
          <p:cNvSpPr/>
          <p:nvPr/>
        </p:nvSpPr>
        <p:spPr>
          <a:xfrm>
            <a:off x="7823200" y="3747591"/>
            <a:ext cx="304800" cy="2286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31200" y="1866900"/>
            <a:ext cx="3048000" cy="3989983"/>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31200" y="1866900"/>
            <a:ext cx="304800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34400" y="2133600"/>
            <a:ext cx="26416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50">
                <a:solidFill>
                  <a:srgbClr val="E39A5F"/>
                </a:solidFill>
                <a:latin typeface="Barlow Condensed"/>
              </a:rPr>
              <a:t>PLANT-WIDE WIRE &amp; CABLE</a:t>
            </a:r>
          </a:p>
        </p:txBody>
      </p:sp>
      <p:sp>
        <p:nvSpPr>
          <p:cNvPr id="37" name="TextBox 36"/>
          <p:cNvSpPr txBox="1"/>
          <p:nvPr/>
        </p:nvSpPr>
        <p:spPr>
          <a:xfrm>
            <a:off x="8534400" y="2451100"/>
            <a:ext cx="2641600" cy="482600"/>
          </a:xfrm>
          <a:prstGeom prst="rect">
            <a:avLst/>
          </a:prstGeom>
          <a:noFill/>
        </p:spPr>
        <p:txBody>
          <a:bodyPr wrap="none" lIns="0" rIns="0" tIns="0" bIns="0" anchor="t">
            <a:noAutofit/>
          </a:bodyPr>
          <a:lstStyle/>
          <a:p>
            <a:pPr algn="l">
              <a:lnSpc>
                <a:spcPts val="3800"/>
              </a:lnSpc>
              <a:spcBef>
                <a:spcPts val="0"/>
              </a:spcBef>
              <a:spcAft>
                <a:spcPts val="0"/>
              </a:spcAft>
            </a:pPr>
            <a:r>
              <a:rPr b="0" i="0" sz="4000">
                <a:solidFill>
                  <a:srgbClr val="E39A5F"/>
                </a:solidFill>
                <a:latin typeface="Barlow Condensed ExtraBold"/>
              </a:rPr>
              <a:t>$0.75–1.2B</a:t>
            </a:r>
          </a:p>
        </p:txBody>
      </p:sp>
      <p:sp>
        <p:nvSpPr>
          <p:cNvPr id="38" name="TextBox 37"/>
          <p:cNvSpPr txBox="1"/>
          <p:nvPr/>
        </p:nvSpPr>
        <p:spPr>
          <a:xfrm>
            <a:off x="8534400" y="3022600"/>
            <a:ext cx="26416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C9CDD2"/>
                </a:solidFill>
                <a:latin typeface="Barlow"/>
              </a:rPr>
              <a:t>Cable materials, 2026–2035</a:t>
            </a:r>
          </a:p>
        </p:txBody>
      </p:sp>
      <p:sp>
        <p:nvSpPr>
          <p:cNvPr id="39" name="Rectangle 38"/>
          <p:cNvSpPr/>
          <p:nvPr/>
        </p:nvSpPr>
        <p:spPr>
          <a:xfrm>
            <a:off x="8534400" y="3308350"/>
            <a:ext cx="26416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4400" y="3390900"/>
            <a:ext cx="26416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93.7 GW × $8–13M per GW</a:t>
            </a:r>
          </a:p>
        </p:txBody>
      </p:sp>
      <p:sp>
        <p:nvSpPr>
          <p:cNvPr id="41" name="TextBox 40"/>
          <p:cNvSpPr txBox="1"/>
          <p:nvPr/>
        </p:nvSpPr>
        <p:spPr>
          <a:xfrm>
            <a:off x="8534400" y="3644900"/>
            <a:ext cx="2720848"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C9CDD2"/>
                </a:solidFill>
                <a:latin typeface="Barlow"/>
              </a:rPr>
              <a:t>Wire &amp; cable content: $8M low · $13M high per GW</a:t>
            </a:r>
          </a:p>
        </p:txBody>
      </p:sp>
      <p:sp>
        <p:nvSpPr>
          <p:cNvPr id="42" name="TextBox 41"/>
          <p:cNvSpPr txBox="1"/>
          <p:nvPr/>
        </p:nvSpPr>
        <p:spPr>
          <a:xfrm>
            <a:off x="8534400" y="4094361"/>
            <a:ext cx="26416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C9CDD2"/>
                </a:solidFill>
                <a:latin typeface="Barlow"/>
              </a:rPr>
              <a:t>= $750M low · $1.22B high</a:t>
            </a:r>
          </a:p>
        </p:txBody>
      </p:sp>
      <p:sp>
        <p:nvSpPr>
          <p:cNvPr id="43" name="Rectangle 42"/>
          <p:cNvSpPr/>
          <p:nvPr/>
        </p:nvSpPr>
        <p:spPr>
          <a:xfrm>
            <a:off x="8534400" y="4388941"/>
            <a:ext cx="26416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34400" y="4471491"/>
            <a:ext cx="2720848" cy="754261"/>
          </a:xfrm>
          <a:prstGeom prst="rect">
            <a:avLst/>
          </a:prstGeom>
          <a:noFill/>
        </p:spPr>
        <p:txBody>
          <a:bodyPr wrap="square" lIns="0" rIns="0" tIns="0" bIns="0" anchor="t">
            <a:noAutofit/>
          </a:bodyPr>
          <a:lstStyle/>
          <a:p>
            <a:pPr algn="l">
              <a:lnSpc>
                <a:spcPts val="1980"/>
              </a:lnSpc>
              <a:spcBef>
                <a:spcPts val="0"/>
              </a:spcBef>
              <a:spcAft>
                <a:spcPts val="0"/>
              </a:spcAft>
            </a:pPr>
            <a:r>
              <a:rPr b="0" i="0" sz="1800">
                <a:solidFill>
                  <a:srgbClr val="F5F3EF"/>
                </a:solidFill>
                <a:latin typeface="Barlow Condensed ExtraBold"/>
              </a:rPr>
              <a:t>UNDER 1% OF PLANT CAPEX, ON THE CRITICAL PATH TO FIRST POWER</a:t>
            </a:r>
          </a:p>
        </p:txBody>
      </p:sp>
      <p:sp>
        <p:nvSpPr>
          <p:cNvPr id="45" name="TextBox 44"/>
          <p:cNvSpPr txBox="1"/>
          <p:nvPr/>
        </p:nvSpPr>
        <p:spPr>
          <a:xfrm>
            <a:off x="812800" y="6083300"/>
            <a:ext cx="9810750" cy="368300"/>
          </a:xfrm>
          <a:prstGeom prst="rect">
            <a:avLst/>
          </a:prstGeom>
          <a:noFill/>
        </p:spPr>
        <p:txBody>
          <a:bodyPr wrap="square" lIns="0" rIns="0" tIns="0" bIns="0" anchor="t">
            <a:noAutofit/>
          </a:bodyPr>
          <a:lstStyle/>
          <a:p>
            <a:pPr algn="l">
              <a:lnSpc>
                <a:spcPts val="1439"/>
              </a:lnSpc>
              <a:spcBef>
                <a:spcPts val="0"/>
              </a:spcBef>
              <a:spcAft>
                <a:spcPts val="0"/>
              </a:spcAft>
            </a:pPr>
            <a:r>
              <a:rPr b="0" i="0" sz="1200">
                <a:solidFill>
                  <a:srgbClr val="4A525B"/>
                </a:solidFill>
                <a:latin typeface="Barlow"/>
              </a:rPr>
              <a:t>Pipeline: Global Energy Monitor, Aug 2026. Completion rates, blended cost and the $8–13M per GW cable range are Southwire planning assumptions.</a:t>
            </a:r>
          </a:p>
        </p:txBody>
      </p:sp>
      <p:sp>
        <p:nvSpPr>
          <p:cNvPr id="46" name="TextBox 45"/>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07</a:t>
            </a:r>
          </a:p>
        </p:txBody>
      </p:sp>
      <p:sp>
        <p:nvSpPr>
          <p:cNvPr id="47" name="Rectangle 46"/>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49" name="TextBox 48"/>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50"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HOW BIG IS THE OPPORTUNITY?</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~$1.2B OF CORE GAS CABLE POS, 2026–2035</a:t>
            </a:r>
          </a:p>
        </p:txBody>
      </p:sp>
      <p:sp>
        <p:nvSpPr>
          <p:cNvPr id="4" name="TextBox 3"/>
          <p:cNvSpPr txBox="1"/>
          <p:nvPr/>
        </p:nvSpPr>
        <p:spPr>
          <a:xfrm>
            <a:off x="812800" y="1689100"/>
            <a:ext cx="9525000" cy="240030"/>
          </a:xfrm>
          <a:prstGeom prst="rect">
            <a:avLst/>
          </a:prstGeom>
          <a:noFill/>
        </p:spPr>
        <p:txBody>
          <a:bodyPr wrap="none" lIns="0" rIns="0" tIns="0" bIns="0" anchor="t">
            <a:noAutofit/>
          </a:bodyPr>
          <a:lstStyle/>
          <a:p>
            <a:pPr algn="l">
              <a:lnSpc>
                <a:spcPts val="1889"/>
              </a:lnSpc>
              <a:spcBef>
                <a:spcPts val="0"/>
              </a:spcBef>
              <a:spcAft>
                <a:spcPts val="0"/>
              </a:spcAft>
            </a:pPr>
            <a:r>
              <a:rPr b="0" i="0" sz="1400">
                <a:solidFill>
                  <a:srgbClr val="4A525B"/>
                </a:solidFill>
                <a:latin typeface="Barlow"/>
              </a:rPr>
              <a:t>Core gas cable by purchase-order year. Project likelihood and supply caps are already in the model.</a:t>
            </a:r>
          </a:p>
        </p:txBody>
      </p:sp>
      <p:sp>
        <p:nvSpPr>
          <p:cNvPr id="5" name="Rectangle 4"/>
          <p:cNvSpPr/>
          <p:nvPr/>
        </p:nvSpPr>
        <p:spPr>
          <a:xfrm>
            <a:off x="1333500" y="2054225"/>
            <a:ext cx="17780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87500" y="2044700"/>
            <a:ext cx="123035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Named projects</a:t>
            </a:r>
          </a:p>
        </p:txBody>
      </p:sp>
      <p:sp>
        <p:nvSpPr>
          <p:cNvPr id="7" name="Rectangle 6"/>
          <p:cNvSpPr/>
          <p:nvPr/>
        </p:nvSpPr>
        <p:spPr>
          <a:xfrm>
            <a:off x="2952849" y="2054225"/>
            <a:ext cx="177800" cy="1778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6849" y="2044700"/>
            <a:ext cx="193164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Future-project allowance</a:t>
            </a:r>
          </a:p>
        </p:txBody>
      </p:sp>
      <p:sp>
        <p:nvSpPr>
          <p:cNvPr id="9" name="TextBox 8"/>
          <p:cNvSpPr txBox="1"/>
          <p:nvPr/>
        </p:nvSpPr>
        <p:spPr>
          <a:xfrm>
            <a:off x="812800" y="2044700"/>
            <a:ext cx="4445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$M</a:t>
            </a:r>
          </a:p>
        </p:txBody>
      </p:sp>
      <p:sp>
        <p:nvSpPr>
          <p:cNvPr id="10" name="Rectangle 9"/>
          <p:cNvSpPr/>
          <p:nvPr/>
        </p:nvSpPr>
        <p:spPr>
          <a:xfrm>
            <a:off x="1333500" y="4318000"/>
            <a:ext cx="66040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 y="4216400"/>
            <a:ext cx="419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a:rPr>
              <a:t>50</a:t>
            </a:r>
          </a:p>
        </p:txBody>
      </p:sp>
      <p:sp>
        <p:nvSpPr>
          <p:cNvPr id="12" name="Rectangle 11"/>
          <p:cNvSpPr/>
          <p:nvPr/>
        </p:nvSpPr>
        <p:spPr>
          <a:xfrm>
            <a:off x="1333500" y="3619500"/>
            <a:ext cx="66040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700" y="3517900"/>
            <a:ext cx="419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a:rPr>
              <a:t>100</a:t>
            </a:r>
          </a:p>
        </p:txBody>
      </p:sp>
      <p:sp>
        <p:nvSpPr>
          <p:cNvPr id="14" name="Rectangle 13"/>
          <p:cNvSpPr/>
          <p:nvPr/>
        </p:nvSpPr>
        <p:spPr>
          <a:xfrm>
            <a:off x="1333500" y="2921000"/>
            <a:ext cx="66040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700" y="2819400"/>
            <a:ext cx="419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a:rPr>
              <a:t>150</a:t>
            </a:r>
          </a:p>
        </p:txBody>
      </p:sp>
      <p:sp>
        <p:nvSpPr>
          <p:cNvPr id="16" name="Rectangle 15"/>
          <p:cNvSpPr/>
          <p:nvPr/>
        </p:nvSpPr>
        <p:spPr>
          <a:xfrm>
            <a:off x="1333500" y="5016500"/>
            <a:ext cx="6604000" cy="190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60500" y="3644900"/>
            <a:ext cx="457200" cy="13716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33500" y="34163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$98M</a:t>
            </a:r>
          </a:p>
        </p:txBody>
      </p:sp>
      <p:sp>
        <p:nvSpPr>
          <p:cNvPr id="19" name="TextBox 18"/>
          <p:cNvSpPr txBox="1"/>
          <p:nvPr/>
        </p:nvSpPr>
        <p:spPr>
          <a:xfrm>
            <a:off x="13335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2026</a:t>
            </a:r>
          </a:p>
        </p:txBody>
      </p:sp>
      <p:sp>
        <p:nvSpPr>
          <p:cNvPr id="20" name="TextBox 19"/>
          <p:cNvSpPr txBox="1"/>
          <p:nvPr/>
        </p:nvSpPr>
        <p:spPr>
          <a:xfrm>
            <a:off x="13335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13.2</a:t>
            </a:r>
          </a:p>
        </p:txBody>
      </p:sp>
      <p:sp>
        <p:nvSpPr>
          <p:cNvPr id="21" name="Rectangle 20"/>
          <p:cNvSpPr/>
          <p:nvPr/>
        </p:nvSpPr>
        <p:spPr>
          <a:xfrm>
            <a:off x="2120900" y="3162300"/>
            <a:ext cx="457200" cy="18542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93900" y="29337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$133M</a:t>
            </a:r>
          </a:p>
        </p:txBody>
      </p:sp>
      <p:sp>
        <p:nvSpPr>
          <p:cNvPr id="23" name="TextBox 22"/>
          <p:cNvSpPr txBox="1"/>
          <p:nvPr/>
        </p:nvSpPr>
        <p:spPr>
          <a:xfrm>
            <a:off x="19939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2027</a:t>
            </a:r>
          </a:p>
        </p:txBody>
      </p:sp>
      <p:sp>
        <p:nvSpPr>
          <p:cNvPr id="24" name="TextBox 23"/>
          <p:cNvSpPr txBox="1"/>
          <p:nvPr/>
        </p:nvSpPr>
        <p:spPr>
          <a:xfrm>
            <a:off x="19939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17.0</a:t>
            </a:r>
          </a:p>
        </p:txBody>
      </p:sp>
      <p:sp>
        <p:nvSpPr>
          <p:cNvPr id="25" name="Rectangle 24"/>
          <p:cNvSpPr/>
          <p:nvPr/>
        </p:nvSpPr>
        <p:spPr>
          <a:xfrm>
            <a:off x="2781300" y="2711450"/>
            <a:ext cx="457200" cy="23050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81300" y="2660650"/>
            <a:ext cx="457200" cy="508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54300" y="24320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$169M</a:t>
            </a:r>
          </a:p>
        </p:txBody>
      </p:sp>
      <p:sp>
        <p:nvSpPr>
          <p:cNvPr id="28" name="TextBox 27"/>
          <p:cNvSpPr txBox="1"/>
          <p:nvPr/>
        </p:nvSpPr>
        <p:spPr>
          <a:xfrm>
            <a:off x="26543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2028</a:t>
            </a:r>
          </a:p>
        </p:txBody>
      </p:sp>
      <p:sp>
        <p:nvSpPr>
          <p:cNvPr id="29" name="TextBox 28"/>
          <p:cNvSpPr txBox="1"/>
          <p:nvPr/>
        </p:nvSpPr>
        <p:spPr>
          <a:xfrm>
            <a:off x="26543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20.7</a:t>
            </a:r>
          </a:p>
        </p:txBody>
      </p:sp>
      <p:sp>
        <p:nvSpPr>
          <p:cNvPr id="30" name="Rectangle 29"/>
          <p:cNvSpPr/>
          <p:nvPr/>
        </p:nvSpPr>
        <p:spPr>
          <a:xfrm>
            <a:off x="3441700" y="2813050"/>
            <a:ext cx="457200" cy="22034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41700" y="2635250"/>
            <a:ext cx="457200" cy="1778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14700" y="24066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$170M</a:t>
            </a:r>
          </a:p>
        </p:txBody>
      </p:sp>
      <p:sp>
        <p:nvSpPr>
          <p:cNvPr id="33" name="TextBox 32"/>
          <p:cNvSpPr txBox="1"/>
          <p:nvPr/>
        </p:nvSpPr>
        <p:spPr>
          <a:xfrm>
            <a:off x="33147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2029</a:t>
            </a:r>
          </a:p>
        </p:txBody>
      </p:sp>
      <p:sp>
        <p:nvSpPr>
          <p:cNvPr id="34" name="TextBox 33"/>
          <p:cNvSpPr txBox="1"/>
          <p:nvPr/>
        </p:nvSpPr>
        <p:spPr>
          <a:xfrm>
            <a:off x="33147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21.2</a:t>
            </a:r>
          </a:p>
        </p:txBody>
      </p:sp>
      <p:sp>
        <p:nvSpPr>
          <p:cNvPr id="35" name="Rectangle 34"/>
          <p:cNvSpPr/>
          <p:nvPr/>
        </p:nvSpPr>
        <p:spPr>
          <a:xfrm>
            <a:off x="4102100" y="3854450"/>
            <a:ext cx="457200" cy="11620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02100" y="3416300"/>
            <a:ext cx="457200" cy="4381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75100" y="31877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$114M</a:t>
            </a:r>
          </a:p>
        </p:txBody>
      </p:sp>
      <p:sp>
        <p:nvSpPr>
          <p:cNvPr id="38" name="TextBox 37"/>
          <p:cNvSpPr txBox="1"/>
          <p:nvPr/>
        </p:nvSpPr>
        <p:spPr>
          <a:xfrm>
            <a:off x="39751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2030</a:t>
            </a:r>
          </a:p>
        </p:txBody>
      </p:sp>
      <p:sp>
        <p:nvSpPr>
          <p:cNvPr id="39" name="TextBox 38"/>
          <p:cNvSpPr txBox="1"/>
          <p:nvPr/>
        </p:nvSpPr>
        <p:spPr>
          <a:xfrm>
            <a:off x="39751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14.7</a:t>
            </a:r>
          </a:p>
        </p:txBody>
      </p:sp>
      <p:sp>
        <p:nvSpPr>
          <p:cNvPr id="40" name="Rectangle 39"/>
          <p:cNvSpPr/>
          <p:nvPr/>
        </p:nvSpPr>
        <p:spPr>
          <a:xfrm>
            <a:off x="4762500" y="4724400"/>
            <a:ext cx="457200" cy="292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62500" y="3981450"/>
            <a:ext cx="457200" cy="7429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5500" y="37528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$74M</a:t>
            </a:r>
          </a:p>
        </p:txBody>
      </p:sp>
      <p:sp>
        <p:nvSpPr>
          <p:cNvPr id="43" name="TextBox 42"/>
          <p:cNvSpPr txBox="1"/>
          <p:nvPr/>
        </p:nvSpPr>
        <p:spPr>
          <a:xfrm>
            <a:off x="46355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2031</a:t>
            </a:r>
          </a:p>
        </p:txBody>
      </p:sp>
      <p:sp>
        <p:nvSpPr>
          <p:cNvPr id="44" name="TextBox 43"/>
          <p:cNvSpPr txBox="1"/>
          <p:nvPr/>
        </p:nvSpPr>
        <p:spPr>
          <a:xfrm>
            <a:off x="46355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9.5</a:t>
            </a:r>
          </a:p>
        </p:txBody>
      </p:sp>
      <p:sp>
        <p:nvSpPr>
          <p:cNvPr id="45" name="Rectangle 44"/>
          <p:cNvSpPr/>
          <p:nvPr/>
        </p:nvSpPr>
        <p:spPr>
          <a:xfrm>
            <a:off x="5422900" y="4876800"/>
            <a:ext cx="457200" cy="1397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22900" y="3790950"/>
            <a:ext cx="457200" cy="10858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95900" y="35623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$88M</a:t>
            </a:r>
          </a:p>
        </p:txBody>
      </p:sp>
      <p:sp>
        <p:nvSpPr>
          <p:cNvPr id="48" name="TextBox 47"/>
          <p:cNvSpPr txBox="1"/>
          <p:nvPr/>
        </p:nvSpPr>
        <p:spPr>
          <a:xfrm>
            <a:off x="52959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2032</a:t>
            </a:r>
          </a:p>
        </p:txBody>
      </p:sp>
      <p:sp>
        <p:nvSpPr>
          <p:cNvPr id="49" name="TextBox 48"/>
          <p:cNvSpPr txBox="1"/>
          <p:nvPr/>
        </p:nvSpPr>
        <p:spPr>
          <a:xfrm>
            <a:off x="52959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11.1</a:t>
            </a:r>
          </a:p>
        </p:txBody>
      </p:sp>
      <p:sp>
        <p:nvSpPr>
          <p:cNvPr id="50" name="Rectangle 49"/>
          <p:cNvSpPr/>
          <p:nvPr/>
        </p:nvSpPr>
        <p:spPr>
          <a:xfrm>
            <a:off x="6083300" y="4946650"/>
            <a:ext cx="457200" cy="698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83300" y="3587750"/>
            <a:ext cx="457200" cy="13589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56300" y="33591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$102M</a:t>
            </a:r>
          </a:p>
        </p:txBody>
      </p:sp>
      <p:sp>
        <p:nvSpPr>
          <p:cNvPr id="53" name="TextBox 52"/>
          <p:cNvSpPr txBox="1"/>
          <p:nvPr/>
        </p:nvSpPr>
        <p:spPr>
          <a:xfrm>
            <a:off x="59563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2033</a:t>
            </a:r>
          </a:p>
        </p:txBody>
      </p:sp>
      <p:sp>
        <p:nvSpPr>
          <p:cNvPr id="54" name="TextBox 53"/>
          <p:cNvSpPr txBox="1"/>
          <p:nvPr/>
        </p:nvSpPr>
        <p:spPr>
          <a:xfrm>
            <a:off x="59563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13.2</a:t>
            </a:r>
          </a:p>
        </p:txBody>
      </p:sp>
      <p:sp>
        <p:nvSpPr>
          <p:cNvPr id="55" name="Rectangle 54"/>
          <p:cNvSpPr/>
          <p:nvPr/>
        </p:nvSpPr>
        <p:spPr>
          <a:xfrm>
            <a:off x="6743700" y="4997450"/>
            <a:ext cx="457200" cy="1905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743700" y="3473450"/>
            <a:ext cx="457200" cy="152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6700" y="32448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$110M</a:t>
            </a:r>
          </a:p>
        </p:txBody>
      </p:sp>
      <p:sp>
        <p:nvSpPr>
          <p:cNvPr id="58" name="TextBox 57"/>
          <p:cNvSpPr txBox="1"/>
          <p:nvPr/>
        </p:nvSpPr>
        <p:spPr>
          <a:xfrm>
            <a:off x="66167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2034</a:t>
            </a:r>
          </a:p>
        </p:txBody>
      </p:sp>
      <p:sp>
        <p:nvSpPr>
          <p:cNvPr id="59" name="TextBox 58"/>
          <p:cNvSpPr txBox="1"/>
          <p:nvPr/>
        </p:nvSpPr>
        <p:spPr>
          <a:xfrm>
            <a:off x="66167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14.3</a:t>
            </a:r>
          </a:p>
        </p:txBody>
      </p:sp>
      <p:sp>
        <p:nvSpPr>
          <p:cNvPr id="60" name="Rectangle 59"/>
          <p:cNvSpPr/>
          <p:nvPr/>
        </p:nvSpPr>
        <p:spPr>
          <a:xfrm>
            <a:off x="7404100" y="3409950"/>
            <a:ext cx="457200" cy="160655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7100" y="318135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0" i="0" sz="1300">
                <a:solidFill>
                  <a:srgbClr val="141619"/>
                </a:solidFill>
                <a:latin typeface="Barlow Condensed ExtraBold"/>
              </a:rPr>
              <a:t>$115M</a:t>
            </a:r>
          </a:p>
        </p:txBody>
      </p:sp>
      <p:sp>
        <p:nvSpPr>
          <p:cNvPr id="62" name="TextBox 61"/>
          <p:cNvSpPr txBox="1"/>
          <p:nvPr/>
        </p:nvSpPr>
        <p:spPr>
          <a:xfrm>
            <a:off x="7277100" y="5080000"/>
            <a:ext cx="711200" cy="198120"/>
          </a:xfrm>
          <a:prstGeom prst="rect">
            <a:avLst/>
          </a:prstGeom>
          <a:noFill/>
        </p:spPr>
        <p:txBody>
          <a:bodyPr wrap="none" lIns="0" rIns="0" tIns="0" bIns="0" anchor="t">
            <a:noAutofit/>
          </a:bodyPr>
          <a:lstStyle/>
          <a:p>
            <a:pPr algn="ctr">
              <a:lnSpc>
                <a:spcPts val="1560"/>
              </a:lnSpc>
              <a:spcBef>
                <a:spcPts val="0"/>
              </a:spcBef>
              <a:spcAft>
                <a:spcPts val="0"/>
              </a:spcAft>
            </a:pPr>
            <a:r>
              <a:rPr b="1" i="0" sz="1300">
                <a:solidFill>
                  <a:srgbClr val="141619"/>
                </a:solidFill>
                <a:latin typeface="Barlow Condensed"/>
              </a:rPr>
              <a:t>2035</a:t>
            </a:r>
          </a:p>
        </p:txBody>
      </p:sp>
      <p:sp>
        <p:nvSpPr>
          <p:cNvPr id="63" name="TextBox 62"/>
          <p:cNvSpPr txBox="1"/>
          <p:nvPr/>
        </p:nvSpPr>
        <p:spPr>
          <a:xfrm>
            <a:off x="7277100" y="5283200"/>
            <a:ext cx="711200" cy="184150"/>
          </a:xfrm>
          <a:prstGeom prst="rect">
            <a:avLst/>
          </a:prstGeom>
          <a:noFill/>
        </p:spPr>
        <p:txBody>
          <a:bodyPr wrap="none" lIns="0" rIns="0" tIns="0" bIns="0" anchor="t">
            <a:noAutofit/>
          </a:bodyPr>
          <a:lstStyle/>
          <a:p>
            <a:pPr algn="ctr">
              <a:lnSpc>
                <a:spcPts val="1439"/>
              </a:lnSpc>
              <a:spcBef>
                <a:spcPts val="0"/>
              </a:spcBef>
              <a:spcAft>
                <a:spcPts val="0"/>
              </a:spcAft>
            </a:pPr>
            <a:r>
              <a:rPr b="0" i="0" sz="1200">
                <a:solidFill>
                  <a:srgbClr val="4A525B"/>
                </a:solidFill>
                <a:latin typeface="Barlow"/>
              </a:rPr>
              <a:t>14.9</a:t>
            </a:r>
          </a:p>
        </p:txBody>
      </p:sp>
      <p:sp>
        <p:nvSpPr>
          <p:cNvPr id="64" name="Rectangle 63"/>
          <p:cNvSpPr/>
          <p:nvPr/>
        </p:nvSpPr>
        <p:spPr>
          <a:xfrm>
            <a:off x="8509000" y="2095500"/>
            <a:ext cx="2870200" cy="2598341"/>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509000" y="2095500"/>
            <a:ext cx="287020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12200" y="2362200"/>
            <a:ext cx="2463800" cy="685800"/>
          </a:xfrm>
          <a:prstGeom prst="rect">
            <a:avLst/>
          </a:prstGeom>
          <a:noFill/>
        </p:spPr>
        <p:txBody>
          <a:bodyPr wrap="none" lIns="0" rIns="0" tIns="0" bIns="0" anchor="t">
            <a:noAutofit/>
          </a:bodyPr>
          <a:lstStyle/>
          <a:p>
            <a:pPr algn="l">
              <a:lnSpc>
                <a:spcPts val="5400"/>
              </a:lnSpc>
              <a:spcBef>
                <a:spcPts val="0"/>
              </a:spcBef>
              <a:spcAft>
                <a:spcPts val="0"/>
              </a:spcAft>
            </a:pPr>
            <a:r>
              <a:rPr b="0" i="0" sz="6000">
                <a:solidFill>
                  <a:srgbClr val="E39A5F"/>
                </a:solidFill>
                <a:latin typeface="Barlow Condensed ExtraBold"/>
              </a:rPr>
              <a:t>~$1.2B</a:t>
            </a:r>
          </a:p>
        </p:txBody>
      </p:sp>
      <p:sp>
        <p:nvSpPr>
          <p:cNvPr id="67" name="TextBox 66"/>
          <p:cNvSpPr txBox="1"/>
          <p:nvPr/>
        </p:nvSpPr>
        <p:spPr>
          <a:xfrm>
            <a:off x="8712200" y="3124200"/>
            <a:ext cx="2537714"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2026–2035 priced core · provisional planning case</a:t>
            </a:r>
          </a:p>
        </p:txBody>
      </p:sp>
      <p:sp>
        <p:nvSpPr>
          <p:cNvPr id="68" name="Rectangle 67"/>
          <p:cNvSpPr/>
          <p:nvPr/>
        </p:nvSpPr>
        <p:spPr>
          <a:xfrm>
            <a:off x="8712200" y="3646091"/>
            <a:ext cx="24638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712200" y="3833416"/>
            <a:ext cx="152400" cy="152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53500" y="3741341"/>
            <a:ext cx="1514318"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F5F3EF"/>
                </a:solidFill>
                <a:latin typeface="Barlow Condensed ExtraBold"/>
              </a:rPr>
              <a:t>$673M named</a:t>
            </a:r>
          </a:p>
        </p:txBody>
      </p:sp>
      <p:sp>
        <p:nvSpPr>
          <p:cNvPr id="71" name="Rectangle 70"/>
          <p:cNvSpPr/>
          <p:nvPr/>
        </p:nvSpPr>
        <p:spPr>
          <a:xfrm>
            <a:off x="8712200" y="4246166"/>
            <a:ext cx="152400" cy="1524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953500" y="4154091"/>
            <a:ext cx="1850973"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F5F3EF"/>
                </a:solidFill>
                <a:latin typeface="Barlow Condensed ExtraBold"/>
              </a:rPr>
              <a:t>$501M allowance</a:t>
            </a:r>
          </a:p>
        </p:txBody>
      </p:sp>
      <p:sp>
        <p:nvSpPr>
          <p:cNvPr id="73" name="Rectangle 72"/>
          <p:cNvSpPr/>
          <p:nvPr/>
        </p:nvSpPr>
        <p:spPr>
          <a:xfrm>
            <a:off x="8509000" y="4808141"/>
            <a:ext cx="2870200" cy="10541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509000" y="4808141"/>
            <a:ext cx="50800" cy="1054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37600" y="4935141"/>
            <a:ext cx="24638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a:solidFill>
                  <a:srgbClr val="141619"/>
                </a:solidFill>
                <a:latin typeface="Barlow Condensed"/>
              </a:rPr>
              <a:t>GW × $/kW = $M</a:t>
            </a:r>
          </a:p>
        </p:txBody>
      </p:sp>
      <p:sp>
        <p:nvSpPr>
          <p:cNvPr id="76" name="TextBox 75"/>
          <p:cNvSpPr txBox="1"/>
          <p:nvPr/>
        </p:nvSpPr>
        <p:spPr>
          <a:xfrm>
            <a:off x="8737600" y="5214541"/>
            <a:ext cx="24638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a:solidFill>
                  <a:srgbClr val="4A525B"/>
                </a:solidFill>
                <a:latin typeface="Barlow Condensed"/>
              </a:rPr>
              <a:t>× addressable share</a:t>
            </a:r>
          </a:p>
        </p:txBody>
      </p:sp>
      <p:sp>
        <p:nvSpPr>
          <p:cNvPr id="77" name="TextBox 76"/>
          <p:cNvSpPr txBox="1"/>
          <p:nvPr/>
        </p:nvSpPr>
        <p:spPr>
          <a:xfrm>
            <a:off x="8737600" y="5493941"/>
            <a:ext cx="24638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a:solidFill>
                  <a:srgbClr val="4A525B"/>
                </a:solidFill>
                <a:latin typeface="Barlow Condensed"/>
              </a:rPr>
              <a:t>× win probability</a:t>
            </a:r>
          </a:p>
        </p:txBody>
      </p:sp>
      <p:sp>
        <p:nvSpPr>
          <p:cNvPr id="78" name="TextBox 77"/>
          <p:cNvSpPr txBox="1"/>
          <p:nvPr/>
        </p:nvSpPr>
        <p:spPr>
          <a:xfrm>
            <a:off x="812800" y="5626100"/>
            <a:ext cx="7586980"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4A525B"/>
                </a:solidFill>
                <a:latin typeface="Barlow"/>
              </a:rPr>
              <a:t>Below each year: modeled PO-year GW equivalents, not installed GW. Allowance has no named projects. Core rates ($/kW): combined cycle 9.06 · simple cycle 6.79 · engines 5.44. OEM internal wiring and HV excluded.</a:t>
            </a:r>
          </a:p>
        </p:txBody>
      </p:sp>
      <p:sp>
        <p:nvSpPr>
          <p:cNvPr id="79" name="TextBox 78"/>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08</a:t>
            </a:r>
          </a:p>
        </p:txBody>
      </p:sp>
      <p:sp>
        <p:nvSpPr>
          <p:cNvPr id="80" name="Rectangle 79"/>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82" name="TextBox 81"/>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83"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REVIEWED PROJECT REGISTER</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205.8 GW ELIGIBLE, MOST OF IT STILL EARLY</a:t>
            </a:r>
          </a:p>
        </p:txBody>
      </p:sp>
      <p:sp>
        <p:nvSpPr>
          <p:cNvPr id="4" name="TextBox 3"/>
          <p:cNvSpPr txBox="1"/>
          <p:nvPr/>
        </p:nvSpPr>
        <p:spPr>
          <a:xfrm>
            <a:off x="774700" y="1962150"/>
            <a:ext cx="2133600" cy="215900"/>
          </a:xfrm>
          <a:prstGeom prst="rect">
            <a:avLst/>
          </a:prstGeom>
          <a:noFill/>
        </p:spPr>
        <p:txBody>
          <a:bodyPr wrap="none" lIns="0" rIns="0" tIns="0" bIns="0" anchor="t">
            <a:noAutofit/>
          </a:bodyPr>
          <a:lstStyle/>
          <a:p>
            <a:pPr algn="r">
              <a:lnSpc>
                <a:spcPts val="1680"/>
              </a:lnSpc>
              <a:spcBef>
                <a:spcPts val="0"/>
              </a:spcBef>
              <a:spcAft>
                <a:spcPts val="0"/>
              </a:spcAft>
            </a:pPr>
            <a:r>
              <a:rPr b="0" i="0" sz="1400">
                <a:solidFill>
                  <a:srgbClr val="141619"/>
                </a:solidFill>
                <a:latin typeface="Barlow"/>
              </a:rPr>
              <a:t>Announced</a:t>
            </a:r>
          </a:p>
        </p:txBody>
      </p:sp>
      <p:sp>
        <p:nvSpPr>
          <p:cNvPr id="5" name="Rectangle 4"/>
          <p:cNvSpPr/>
          <p:nvPr/>
        </p:nvSpPr>
        <p:spPr>
          <a:xfrm>
            <a:off x="3035300" y="1892300"/>
            <a:ext cx="4464050" cy="3556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6350" y="1933575"/>
            <a:ext cx="496465"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140.6</a:t>
            </a:r>
          </a:p>
        </p:txBody>
      </p:sp>
      <p:sp>
        <p:nvSpPr>
          <p:cNvPr id="7" name="TextBox 6"/>
          <p:cNvSpPr txBox="1"/>
          <p:nvPr/>
        </p:nvSpPr>
        <p:spPr>
          <a:xfrm>
            <a:off x="774700" y="2457450"/>
            <a:ext cx="2133600" cy="215900"/>
          </a:xfrm>
          <a:prstGeom prst="rect">
            <a:avLst/>
          </a:prstGeom>
          <a:noFill/>
        </p:spPr>
        <p:txBody>
          <a:bodyPr wrap="none" lIns="0" rIns="0" tIns="0" bIns="0" anchor="t">
            <a:noAutofit/>
          </a:bodyPr>
          <a:lstStyle/>
          <a:p>
            <a:pPr algn="r">
              <a:lnSpc>
                <a:spcPts val="1680"/>
              </a:lnSpc>
              <a:spcBef>
                <a:spcPts val="0"/>
              </a:spcBef>
              <a:spcAft>
                <a:spcPts val="0"/>
              </a:spcAft>
            </a:pPr>
            <a:r>
              <a:rPr b="0" i="0" sz="1400">
                <a:solidFill>
                  <a:srgbClr val="141619"/>
                </a:solidFill>
                <a:latin typeface="Barlow"/>
              </a:rPr>
              <a:t>Under construction</a:t>
            </a:r>
          </a:p>
        </p:txBody>
      </p:sp>
      <p:sp>
        <p:nvSpPr>
          <p:cNvPr id="8" name="Rectangle 7"/>
          <p:cNvSpPr/>
          <p:nvPr/>
        </p:nvSpPr>
        <p:spPr>
          <a:xfrm>
            <a:off x="3035300" y="2387600"/>
            <a:ext cx="1447800" cy="3556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0100" y="2428875"/>
            <a:ext cx="423791"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45.6</a:t>
            </a:r>
          </a:p>
        </p:txBody>
      </p:sp>
      <p:sp>
        <p:nvSpPr>
          <p:cNvPr id="10" name="TextBox 9"/>
          <p:cNvSpPr txBox="1"/>
          <p:nvPr/>
        </p:nvSpPr>
        <p:spPr>
          <a:xfrm>
            <a:off x="812800" y="2882900"/>
            <a:ext cx="2158365" cy="431800"/>
          </a:xfrm>
          <a:prstGeom prst="rect">
            <a:avLst/>
          </a:prstGeom>
          <a:noFill/>
        </p:spPr>
        <p:txBody>
          <a:bodyPr wrap="square" lIns="0" rIns="0" tIns="0" bIns="0" anchor="t">
            <a:noAutofit/>
          </a:bodyPr>
          <a:lstStyle/>
          <a:p>
            <a:pPr algn="r">
              <a:lnSpc>
                <a:spcPts val="1680"/>
              </a:lnSpc>
              <a:spcBef>
                <a:spcPts val="0"/>
              </a:spcBef>
              <a:spcAft>
                <a:spcPts val="0"/>
              </a:spcAft>
            </a:pPr>
            <a:r>
              <a:rPr b="0" i="0" sz="1400">
                <a:solidFill>
                  <a:srgbClr val="141619"/>
                </a:solidFill>
                <a:latin typeface="Barlow"/>
              </a:rPr>
              <a:t>Approved · equipment · NTP</a:t>
            </a:r>
          </a:p>
        </p:txBody>
      </p:sp>
      <p:sp>
        <p:nvSpPr>
          <p:cNvPr id="11" name="Rectangle 10"/>
          <p:cNvSpPr/>
          <p:nvPr/>
        </p:nvSpPr>
        <p:spPr>
          <a:xfrm>
            <a:off x="3035300" y="2921000"/>
            <a:ext cx="298450" cy="3556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0750" y="2962275"/>
            <a:ext cx="313571"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9.4</a:t>
            </a:r>
          </a:p>
        </p:txBody>
      </p:sp>
      <p:sp>
        <p:nvSpPr>
          <p:cNvPr id="13" name="TextBox 12"/>
          <p:cNvSpPr txBox="1"/>
          <p:nvPr/>
        </p:nvSpPr>
        <p:spPr>
          <a:xfrm>
            <a:off x="774700" y="3524250"/>
            <a:ext cx="2133600" cy="215900"/>
          </a:xfrm>
          <a:prstGeom prst="rect">
            <a:avLst/>
          </a:prstGeom>
          <a:noFill/>
        </p:spPr>
        <p:txBody>
          <a:bodyPr wrap="none" lIns="0" rIns="0" tIns="0" bIns="0" anchor="t">
            <a:noAutofit/>
          </a:bodyPr>
          <a:lstStyle/>
          <a:p>
            <a:pPr algn="r">
              <a:lnSpc>
                <a:spcPts val="1680"/>
              </a:lnSpc>
              <a:spcBef>
                <a:spcPts val="0"/>
              </a:spcBef>
              <a:spcAft>
                <a:spcPts val="0"/>
              </a:spcAft>
            </a:pPr>
            <a:r>
              <a:rPr b="0" i="0" sz="1400">
                <a:solidFill>
                  <a:srgbClr val="141619"/>
                </a:solidFill>
                <a:latin typeface="Barlow"/>
              </a:rPr>
              <a:t>Permit application</a:t>
            </a:r>
          </a:p>
        </p:txBody>
      </p:sp>
      <p:sp>
        <p:nvSpPr>
          <p:cNvPr id="14" name="Rectangle 13"/>
          <p:cNvSpPr/>
          <p:nvPr/>
        </p:nvSpPr>
        <p:spPr>
          <a:xfrm>
            <a:off x="3035300" y="3454400"/>
            <a:ext cx="234950" cy="3556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97250" y="3495675"/>
            <a:ext cx="282335"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7.3</a:t>
            </a:r>
          </a:p>
        </p:txBody>
      </p:sp>
      <p:sp>
        <p:nvSpPr>
          <p:cNvPr id="16" name="TextBox 15"/>
          <p:cNvSpPr txBox="1"/>
          <p:nvPr/>
        </p:nvSpPr>
        <p:spPr>
          <a:xfrm>
            <a:off x="774700" y="4019550"/>
            <a:ext cx="2133600" cy="215900"/>
          </a:xfrm>
          <a:prstGeom prst="rect">
            <a:avLst/>
          </a:prstGeom>
          <a:noFill/>
        </p:spPr>
        <p:txBody>
          <a:bodyPr wrap="none" lIns="0" rIns="0" tIns="0" bIns="0" anchor="t">
            <a:noAutofit/>
          </a:bodyPr>
          <a:lstStyle/>
          <a:p>
            <a:pPr algn="r">
              <a:lnSpc>
                <a:spcPts val="1680"/>
              </a:lnSpc>
              <a:spcBef>
                <a:spcPts val="0"/>
              </a:spcBef>
              <a:spcAft>
                <a:spcPts val="0"/>
              </a:spcAft>
            </a:pPr>
            <a:r>
              <a:rPr b="0" i="0" sz="1400">
                <a:solidFill>
                  <a:srgbClr val="141619"/>
                </a:solidFill>
                <a:latin typeface="Barlow"/>
              </a:rPr>
              <a:t>Operating</a:t>
            </a:r>
          </a:p>
        </p:txBody>
      </p:sp>
      <p:sp>
        <p:nvSpPr>
          <p:cNvPr id="17" name="Rectangle 16"/>
          <p:cNvSpPr/>
          <p:nvPr/>
        </p:nvSpPr>
        <p:spPr>
          <a:xfrm>
            <a:off x="3035300" y="3949700"/>
            <a:ext cx="95250" cy="3556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7550" y="3990975"/>
            <a:ext cx="289802"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3.0</a:t>
            </a:r>
          </a:p>
        </p:txBody>
      </p:sp>
      <p:sp>
        <p:nvSpPr>
          <p:cNvPr id="19" name="TextBox 18"/>
          <p:cNvSpPr txBox="1"/>
          <p:nvPr/>
        </p:nvSpPr>
        <p:spPr>
          <a:xfrm>
            <a:off x="3035300" y="4445000"/>
            <a:ext cx="52705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Gross GW, COD 2026–2035</a:t>
            </a:r>
          </a:p>
        </p:txBody>
      </p:sp>
      <p:sp>
        <p:nvSpPr>
          <p:cNvPr id="20" name="TextBox 19"/>
          <p:cNvSpPr txBox="1"/>
          <p:nvPr/>
        </p:nvSpPr>
        <p:spPr>
          <a:xfrm>
            <a:off x="8813800" y="2276574"/>
            <a:ext cx="2565400" cy="800100"/>
          </a:xfrm>
          <a:prstGeom prst="rect">
            <a:avLst/>
          </a:prstGeom>
          <a:noFill/>
        </p:spPr>
        <p:txBody>
          <a:bodyPr wrap="none" lIns="0" rIns="0" tIns="0" bIns="0" anchor="t">
            <a:noAutofit/>
          </a:bodyPr>
          <a:lstStyle/>
          <a:p>
            <a:pPr algn="l">
              <a:lnSpc>
                <a:spcPts val="6300"/>
              </a:lnSpc>
              <a:spcBef>
                <a:spcPts val="0"/>
              </a:spcBef>
              <a:spcAft>
                <a:spcPts val="0"/>
              </a:spcAft>
            </a:pPr>
            <a:r>
              <a:rPr b="0" i="0" sz="7000">
                <a:solidFill>
                  <a:srgbClr val="B4581F"/>
                </a:solidFill>
                <a:latin typeface="Barlow Condensed ExtraBold"/>
              </a:rPr>
              <a:t>68%</a:t>
            </a:r>
          </a:p>
        </p:txBody>
      </p:sp>
      <p:sp>
        <p:nvSpPr>
          <p:cNvPr id="21" name="TextBox 20"/>
          <p:cNvSpPr txBox="1"/>
          <p:nvPr/>
        </p:nvSpPr>
        <p:spPr>
          <a:xfrm>
            <a:off x="8813800" y="3178274"/>
            <a:ext cx="2642362" cy="502841"/>
          </a:xfrm>
          <a:prstGeom prst="rect">
            <a:avLst/>
          </a:prstGeom>
          <a:noFill/>
        </p:spPr>
        <p:txBody>
          <a:bodyPr wrap="square" lIns="0" rIns="0" tIns="0" bIns="0" anchor="t">
            <a:noAutofit/>
          </a:bodyPr>
          <a:lstStyle/>
          <a:p>
            <a:pPr algn="l">
              <a:lnSpc>
                <a:spcPts val="1980"/>
              </a:lnSpc>
              <a:spcBef>
                <a:spcPts val="0"/>
              </a:spcBef>
              <a:spcAft>
                <a:spcPts val="0"/>
              </a:spcAft>
            </a:pPr>
            <a:r>
              <a:rPr b="0" i="0" sz="1800">
                <a:solidFill>
                  <a:srgbClr val="141619"/>
                </a:solidFill>
                <a:latin typeface="Barlow Condensed ExtraBold"/>
              </a:rPr>
              <a:t>OF ELIGIBLE CAPACITY IS ONLY ANNOUNCED</a:t>
            </a:r>
          </a:p>
        </p:txBody>
      </p:sp>
      <p:sp>
        <p:nvSpPr>
          <p:cNvPr id="22" name="TextBox 21"/>
          <p:cNvSpPr txBox="1"/>
          <p:nvPr/>
        </p:nvSpPr>
        <p:spPr>
          <a:xfrm>
            <a:off x="8813800" y="3782715"/>
            <a:ext cx="2642362" cy="462161"/>
          </a:xfrm>
          <a:prstGeom prst="rect">
            <a:avLst/>
          </a:prstGeom>
          <a:noFill/>
        </p:spPr>
        <p:txBody>
          <a:bodyPr wrap="square" lIns="0" rIns="0" tIns="0" bIns="0" anchor="t">
            <a:noAutofit/>
          </a:bodyPr>
          <a:lstStyle/>
          <a:p>
            <a:pPr algn="l">
              <a:lnSpc>
                <a:spcPts val="1820"/>
              </a:lnSpc>
              <a:spcBef>
                <a:spcPts val="0"/>
              </a:spcBef>
              <a:spcAft>
                <a:spcPts val="0"/>
              </a:spcAft>
            </a:pPr>
            <a:r>
              <a:rPr b="0" i="0" sz="1300">
                <a:solidFill>
                  <a:srgbClr val="4A525B"/>
                </a:solidFill>
                <a:latin typeface="Barlow"/>
              </a:rPr>
              <a:t>Being on the register does not mean a cable package is open.</a:t>
            </a:r>
          </a:p>
        </p:txBody>
      </p:sp>
      <p:sp>
        <p:nvSpPr>
          <p:cNvPr id="23" name="TextBox 22"/>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Source: Southwire PowerGen register, Sep 11, 2026: 386 records across 305 site groups. Excludes queue-only and undated records.</a:t>
            </a:r>
          </a:p>
        </p:txBody>
      </p:sp>
      <p:sp>
        <p:nvSpPr>
          <p:cNvPr id="24" name="TextBox 23"/>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09</a:t>
            </a:r>
          </a:p>
        </p:txBody>
      </p:sp>
      <p:sp>
        <p:nvSpPr>
          <p:cNvPr id="25" name="Rectangle 24"/>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7" name="TextBox 26"/>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28"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PROJECT CONCENTRATION</a:t>
            </a:r>
          </a:p>
        </p:txBody>
      </p:sp>
      <p:sp>
        <p:nvSpPr>
          <p:cNvPr id="3" name="TextBox 2"/>
          <p:cNvSpPr txBox="1"/>
          <p:nvPr/>
        </p:nvSpPr>
        <p:spPr>
          <a:xfrm>
            <a:off x="812800" y="1130300"/>
            <a:ext cx="10566400" cy="406400"/>
          </a:xfrm>
          <a:prstGeom prst="rect">
            <a:avLst/>
          </a:prstGeom>
          <a:noFill/>
        </p:spPr>
        <p:txBody>
          <a:bodyPr wrap="none" lIns="0" rIns="0" tIns="0" bIns="0" anchor="t">
            <a:noAutofit/>
          </a:bodyPr>
          <a:lstStyle/>
          <a:p>
            <a:pPr algn="l">
              <a:lnSpc>
                <a:spcPts val="3200"/>
              </a:lnSpc>
              <a:spcBef>
                <a:spcPts val="0"/>
              </a:spcBef>
              <a:spcAft>
                <a:spcPts val="0"/>
              </a:spcAft>
            </a:pPr>
            <a:r>
              <a:rPr b="0" i="0" sz="3200">
                <a:solidFill>
                  <a:srgbClr val="141619"/>
                </a:solidFill>
                <a:latin typeface="Barlow Condensed ExtraBold"/>
              </a:rPr>
              <a:t>WHERE THE BUILD IS, WHO OWNS IT, WHAT KIND OF SITE</a:t>
            </a:r>
          </a:p>
        </p:txBody>
      </p:sp>
      <p:sp>
        <p:nvSpPr>
          <p:cNvPr id="4" name="TextBox 3"/>
          <p:cNvSpPr txBox="1"/>
          <p:nvPr/>
        </p:nvSpPr>
        <p:spPr>
          <a:xfrm>
            <a:off x="812800" y="1790700"/>
            <a:ext cx="63500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141619"/>
                </a:solidFill>
                <a:latin typeface="Barlow Condensed"/>
              </a:rPr>
              <a:t>GROSS GW BY STATE · 386 PROJECTS, COD 2026–2035</a:t>
            </a:r>
          </a:p>
        </p:txBody>
      </p:sp>
      <p:sp>
        <p:nvSpPr>
          <p:cNvPr id="5" name="Rectangle 4"/>
          <p:cNvSpPr/>
          <p:nvPr/>
        </p:nvSpPr>
        <p:spPr>
          <a:xfrm>
            <a:off x="4089400" y="20955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63727" y="2184400"/>
            <a:ext cx="194306"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WI</a:t>
            </a:r>
          </a:p>
        </p:txBody>
      </p:sp>
      <p:sp>
        <p:nvSpPr>
          <p:cNvPr id="7" name="TextBox 6"/>
          <p:cNvSpPr txBox="1"/>
          <p:nvPr/>
        </p:nvSpPr>
        <p:spPr>
          <a:xfrm>
            <a:off x="4240113" y="2349500"/>
            <a:ext cx="244368"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4.4</a:t>
            </a:r>
          </a:p>
        </p:txBody>
      </p:sp>
      <p:sp>
        <p:nvSpPr>
          <p:cNvPr id="8" name="Rectangle 7"/>
          <p:cNvSpPr/>
          <p:nvPr/>
        </p:nvSpPr>
        <p:spPr>
          <a:xfrm>
            <a:off x="6273800" y="20955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4655" y="2279650"/>
            <a:ext cx="20156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VT</a:t>
            </a:r>
          </a:p>
        </p:txBody>
      </p:sp>
      <p:sp>
        <p:nvSpPr>
          <p:cNvPr id="10" name="Rectangle 9"/>
          <p:cNvSpPr/>
          <p:nvPr/>
        </p:nvSpPr>
        <p:spPr>
          <a:xfrm>
            <a:off x="6819900" y="20955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2520" y="2279650"/>
            <a:ext cx="21902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ME</a:t>
            </a:r>
          </a:p>
        </p:txBody>
      </p:sp>
      <p:sp>
        <p:nvSpPr>
          <p:cNvPr id="12" name="Rectangle 11"/>
          <p:cNvSpPr/>
          <p:nvPr/>
        </p:nvSpPr>
        <p:spPr>
          <a:xfrm>
            <a:off x="13589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13086" y="2825750"/>
            <a:ext cx="23690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WA</a:t>
            </a:r>
          </a:p>
        </p:txBody>
      </p:sp>
      <p:sp>
        <p:nvSpPr>
          <p:cNvPr id="14" name="Rectangle 13"/>
          <p:cNvSpPr/>
          <p:nvPr/>
        </p:nvSpPr>
        <p:spPr>
          <a:xfrm>
            <a:off x="1905000" y="26416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97484" y="2730500"/>
            <a:ext cx="15581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ID</a:t>
            </a:r>
          </a:p>
        </p:txBody>
      </p:sp>
      <p:sp>
        <p:nvSpPr>
          <p:cNvPr id="16" name="TextBox 15"/>
          <p:cNvSpPr txBox="1"/>
          <p:nvPr/>
        </p:nvSpPr>
        <p:spPr>
          <a:xfrm>
            <a:off x="2078038" y="2895600"/>
            <a:ext cx="19693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1.6</a:t>
            </a:r>
          </a:p>
        </p:txBody>
      </p:sp>
      <p:sp>
        <p:nvSpPr>
          <p:cNvPr id="17" name="Rectangle 16"/>
          <p:cNvSpPr/>
          <p:nvPr/>
        </p:nvSpPr>
        <p:spPr>
          <a:xfrm>
            <a:off x="24511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4712" y="2825750"/>
            <a:ext cx="21702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MT</a:t>
            </a:r>
          </a:p>
        </p:txBody>
      </p:sp>
      <p:sp>
        <p:nvSpPr>
          <p:cNvPr id="19" name="Rectangle 18"/>
          <p:cNvSpPr/>
          <p:nvPr/>
        </p:nvSpPr>
        <p:spPr>
          <a:xfrm>
            <a:off x="2997200" y="26416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61903" y="2730500"/>
            <a:ext cx="21470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ND</a:t>
            </a:r>
          </a:p>
        </p:txBody>
      </p:sp>
      <p:sp>
        <p:nvSpPr>
          <p:cNvPr id="21" name="TextBox 20"/>
          <p:cNvSpPr txBox="1"/>
          <p:nvPr/>
        </p:nvSpPr>
        <p:spPr>
          <a:xfrm>
            <a:off x="3157339" y="2895600"/>
            <a:ext cx="22438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2.2</a:t>
            </a:r>
          </a:p>
        </p:txBody>
      </p:sp>
      <p:sp>
        <p:nvSpPr>
          <p:cNvPr id="22" name="Rectangle 21"/>
          <p:cNvSpPr/>
          <p:nvPr/>
        </p:nvSpPr>
        <p:spPr>
          <a:xfrm>
            <a:off x="35433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0562" y="2825750"/>
            <a:ext cx="23038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MN</a:t>
            </a:r>
          </a:p>
        </p:txBody>
      </p:sp>
      <p:sp>
        <p:nvSpPr>
          <p:cNvPr id="24" name="Rectangle 23"/>
          <p:cNvSpPr/>
          <p:nvPr/>
        </p:nvSpPr>
        <p:spPr>
          <a:xfrm>
            <a:off x="4089400" y="26416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85159" y="2730500"/>
            <a:ext cx="14876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IL</a:t>
            </a:r>
          </a:p>
        </p:txBody>
      </p:sp>
      <p:sp>
        <p:nvSpPr>
          <p:cNvPr id="26" name="TextBox 25"/>
          <p:cNvSpPr txBox="1"/>
          <p:nvPr/>
        </p:nvSpPr>
        <p:spPr>
          <a:xfrm>
            <a:off x="4257774" y="2895600"/>
            <a:ext cx="206927"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1.4</a:t>
            </a:r>
          </a:p>
        </p:txBody>
      </p:sp>
      <p:sp>
        <p:nvSpPr>
          <p:cNvPr id="27" name="Rectangle 26"/>
          <p:cNvSpPr/>
          <p:nvPr/>
        </p:nvSpPr>
        <p:spPr>
          <a:xfrm>
            <a:off x="4635500" y="26416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1238" y="2730500"/>
            <a:ext cx="17011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MI</a:t>
            </a:r>
          </a:p>
        </p:txBody>
      </p:sp>
      <p:sp>
        <p:nvSpPr>
          <p:cNvPr id="29" name="TextBox 28"/>
          <p:cNvSpPr txBox="1"/>
          <p:nvPr/>
        </p:nvSpPr>
        <p:spPr>
          <a:xfrm>
            <a:off x="4821535" y="2895600"/>
            <a:ext cx="16948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1.1</a:t>
            </a:r>
          </a:p>
        </p:txBody>
      </p:sp>
      <p:sp>
        <p:nvSpPr>
          <p:cNvPr id="30" name="Rectangle 29"/>
          <p:cNvSpPr/>
          <p:nvPr/>
        </p:nvSpPr>
        <p:spPr>
          <a:xfrm>
            <a:off x="57277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93098" y="2825750"/>
            <a:ext cx="21323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NY</a:t>
            </a:r>
          </a:p>
        </p:txBody>
      </p:sp>
      <p:sp>
        <p:nvSpPr>
          <p:cNvPr id="32" name="Rectangle 31"/>
          <p:cNvSpPr/>
          <p:nvPr/>
        </p:nvSpPr>
        <p:spPr>
          <a:xfrm>
            <a:off x="62738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550" y="2825750"/>
            <a:ext cx="22733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MA</a:t>
            </a:r>
          </a:p>
        </p:txBody>
      </p:sp>
      <p:sp>
        <p:nvSpPr>
          <p:cNvPr id="34" name="Rectangle 33"/>
          <p:cNvSpPr/>
          <p:nvPr/>
        </p:nvSpPr>
        <p:spPr>
          <a:xfrm>
            <a:off x="6819900" y="26416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82619" y="2825750"/>
            <a:ext cx="21881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NH</a:t>
            </a:r>
          </a:p>
        </p:txBody>
      </p:sp>
      <p:sp>
        <p:nvSpPr>
          <p:cNvPr id="36" name="Rectangle 35"/>
          <p:cNvSpPr/>
          <p:nvPr/>
        </p:nvSpPr>
        <p:spPr>
          <a:xfrm>
            <a:off x="1358900" y="31877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6679" y="3371850"/>
            <a:ext cx="20818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OR</a:t>
            </a:r>
          </a:p>
        </p:txBody>
      </p:sp>
      <p:sp>
        <p:nvSpPr>
          <p:cNvPr id="38" name="Rectangle 37"/>
          <p:cNvSpPr/>
          <p:nvPr/>
        </p:nvSpPr>
        <p:spPr>
          <a:xfrm>
            <a:off x="1905000" y="31877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69604" y="3276600"/>
            <a:ext cx="214815"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NV</a:t>
            </a:r>
          </a:p>
        </p:txBody>
      </p:sp>
      <p:sp>
        <p:nvSpPr>
          <p:cNvPr id="40" name="TextBox 39"/>
          <p:cNvSpPr txBox="1"/>
          <p:nvPr/>
        </p:nvSpPr>
        <p:spPr>
          <a:xfrm>
            <a:off x="2078434" y="3441700"/>
            <a:ext cx="19609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1.9</a:t>
            </a:r>
          </a:p>
        </p:txBody>
      </p:sp>
      <p:sp>
        <p:nvSpPr>
          <p:cNvPr id="41" name="Rectangle 40"/>
          <p:cNvSpPr/>
          <p:nvPr/>
        </p:nvSpPr>
        <p:spPr>
          <a:xfrm>
            <a:off x="2451100" y="31877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01912" y="3276600"/>
            <a:ext cx="24415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WY</a:t>
            </a:r>
          </a:p>
        </p:txBody>
      </p:sp>
      <p:sp>
        <p:nvSpPr>
          <p:cNvPr id="43" name="TextBox 42"/>
          <p:cNvSpPr txBox="1"/>
          <p:nvPr/>
        </p:nvSpPr>
        <p:spPr>
          <a:xfrm>
            <a:off x="2611735" y="3441700"/>
            <a:ext cx="223333"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3.5</a:t>
            </a:r>
          </a:p>
        </p:txBody>
      </p:sp>
      <p:sp>
        <p:nvSpPr>
          <p:cNvPr id="44" name="Rectangle 43"/>
          <p:cNvSpPr/>
          <p:nvPr/>
        </p:nvSpPr>
        <p:spPr>
          <a:xfrm>
            <a:off x="2997200" y="31877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66666" y="3371850"/>
            <a:ext cx="20450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SD</a:t>
            </a:r>
          </a:p>
        </p:txBody>
      </p:sp>
      <p:sp>
        <p:nvSpPr>
          <p:cNvPr id="46" name="Rectangle 45"/>
          <p:cNvSpPr/>
          <p:nvPr/>
        </p:nvSpPr>
        <p:spPr>
          <a:xfrm>
            <a:off x="3543300" y="31877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33701" y="3276600"/>
            <a:ext cx="16023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IA</a:t>
            </a:r>
          </a:p>
        </p:txBody>
      </p:sp>
      <p:sp>
        <p:nvSpPr>
          <p:cNvPr id="48" name="TextBox 47"/>
          <p:cNvSpPr txBox="1"/>
          <p:nvPr/>
        </p:nvSpPr>
        <p:spPr>
          <a:xfrm>
            <a:off x="3707209" y="3441700"/>
            <a:ext cx="216392"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3.0</a:t>
            </a:r>
          </a:p>
        </p:txBody>
      </p:sp>
      <p:sp>
        <p:nvSpPr>
          <p:cNvPr id="49" name="Rectangle 48"/>
          <p:cNvSpPr/>
          <p:nvPr/>
        </p:nvSpPr>
        <p:spPr>
          <a:xfrm>
            <a:off x="4089400" y="3187700"/>
            <a:ext cx="508000" cy="50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78312" y="3276600"/>
            <a:ext cx="16328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FFFDFA"/>
                </a:solidFill>
                <a:latin typeface="Barlow"/>
              </a:rPr>
              <a:t>IN</a:t>
            </a:r>
          </a:p>
        </p:txBody>
      </p:sp>
      <p:sp>
        <p:nvSpPr>
          <p:cNvPr id="51" name="TextBox 50"/>
          <p:cNvSpPr txBox="1"/>
          <p:nvPr/>
        </p:nvSpPr>
        <p:spPr>
          <a:xfrm>
            <a:off x="4225230" y="3441700"/>
            <a:ext cx="275919"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FFFDFA"/>
                </a:solidFill>
                <a:latin typeface="Barlow Condensed ExtraBold"/>
              </a:rPr>
              <a:t>10.3</a:t>
            </a:r>
          </a:p>
        </p:txBody>
      </p:sp>
      <p:sp>
        <p:nvSpPr>
          <p:cNvPr id="52" name="Rectangle 51"/>
          <p:cNvSpPr/>
          <p:nvPr/>
        </p:nvSpPr>
        <p:spPr>
          <a:xfrm>
            <a:off x="4635500" y="3187700"/>
            <a:ext cx="508000" cy="50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01592" y="3276600"/>
            <a:ext cx="211765"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FFFDFA"/>
                </a:solidFill>
                <a:latin typeface="Barlow"/>
              </a:rPr>
              <a:t>OH</a:t>
            </a:r>
          </a:p>
        </p:txBody>
      </p:sp>
      <p:sp>
        <p:nvSpPr>
          <p:cNvPr id="54" name="TextBox 53"/>
          <p:cNvSpPr txBox="1"/>
          <p:nvPr/>
        </p:nvSpPr>
        <p:spPr>
          <a:xfrm>
            <a:off x="4771330" y="3441700"/>
            <a:ext cx="275919"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FFFDFA"/>
                </a:solidFill>
                <a:latin typeface="Barlow Condensed ExtraBold"/>
              </a:rPr>
              <a:t>10.3</a:t>
            </a:r>
          </a:p>
        </p:txBody>
      </p:sp>
      <p:sp>
        <p:nvSpPr>
          <p:cNvPr id="55" name="Rectangle 54"/>
          <p:cNvSpPr/>
          <p:nvPr/>
        </p:nvSpPr>
        <p:spPr>
          <a:xfrm>
            <a:off x="5181600" y="3187700"/>
            <a:ext cx="508000" cy="5080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51760" y="3276600"/>
            <a:ext cx="203035"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PA</a:t>
            </a:r>
          </a:p>
        </p:txBody>
      </p:sp>
      <p:sp>
        <p:nvSpPr>
          <p:cNvPr id="57" name="TextBox 56"/>
          <p:cNvSpPr txBox="1"/>
          <p:nvPr/>
        </p:nvSpPr>
        <p:spPr>
          <a:xfrm>
            <a:off x="5320407" y="3441700"/>
            <a:ext cx="269609"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10.0</a:t>
            </a:r>
          </a:p>
        </p:txBody>
      </p:sp>
      <p:sp>
        <p:nvSpPr>
          <p:cNvPr id="58" name="Rectangle 57"/>
          <p:cNvSpPr/>
          <p:nvPr/>
        </p:nvSpPr>
        <p:spPr>
          <a:xfrm>
            <a:off x="5727700" y="31877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94288" y="3371850"/>
            <a:ext cx="21060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NJ</a:t>
            </a:r>
          </a:p>
        </p:txBody>
      </p:sp>
      <p:sp>
        <p:nvSpPr>
          <p:cNvPr id="60" name="Rectangle 59"/>
          <p:cNvSpPr/>
          <p:nvPr/>
        </p:nvSpPr>
        <p:spPr>
          <a:xfrm>
            <a:off x="6273800" y="31877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45349" y="3371850"/>
            <a:ext cx="20009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CT</a:t>
            </a:r>
          </a:p>
        </p:txBody>
      </p:sp>
      <p:sp>
        <p:nvSpPr>
          <p:cNvPr id="62" name="Rectangle 61"/>
          <p:cNvSpPr/>
          <p:nvPr/>
        </p:nvSpPr>
        <p:spPr>
          <a:xfrm>
            <a:off x="6819900" y="31877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012682" y="3371850"/>
            <a:ext cx="15507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RI</a:t>
            </a:r>
          </a:p>
        </p:txBody>
      </p:sp>
      <p:sp>
        <p:nvSpPr>
          <p:cNvPr id="64" name="Rectangle 63"/>
          <p:cNvSpPr/>
          <p:nvPr/>
        </p:nvSpPr>
        <p:spPr>
          <a:xfrm>
            <a:off x="1358900" y="37338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5786" y="3917950"/>
            <a:ext cx="20997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CA</a:t>
            </a:r>
          </a:p>
        </p:txBody>
      </p:sp>
      <p:sp>
        <p:nvSpPr>
          <p:cNvPr id="66" name="Rectangle 65"/>
          <p:cNvSpPr/>
          <p:nvPr/>
        </p:nvSpPr>
        <p:spPr>
          <a:xfrm>
            <a:off x="1905000" y="37338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074069" y="3822700"/>
            <a:ext cx="20534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UT</a:t>
            </a:r>
          </a:p>
        </p:txBody>
      </p:sp>
      <p:sp>
        <p:nvSpPr>
          <p:cNvPr id="68" name="TextBox 67"/>
          <p:cNvSpPr txBox="1"/>
          <p:nvPr/>
        </p:nvSpPr>
        <p:spPr>
          <a:xfrm>
            <a:off x="2055713" y="3987800"/>
            <a:ext cx="244368"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4.4</a:t>
            </a:r>
          </a:p>
        </p:txBody>
      </p:sp>
      <p:sp>
        <p:nvSpPr>
          <p:cNvPr id="69" name="Rectangle 68"/>
          <p:cNvSpPr/>
          <p:nvPr/>
        </p:nvSpPr>
        <p:spPr>
          <a:xfrm>
            <a:off x="2451100" y="37338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619177" y="3822700"/>
            <a:ext cx="20745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CO</a:t>
            </a:r>
          </a:p>
        </p:txBody>
      </p:sp>
      <p:sp>
        <p:nvSpPr>
          <p:cNvPr id="71" name="TextBox 70"/>
          <p:cNvSpPr txBox="1"/>
          <p:nvPr/>
        </p:nvSpPr>
        <p:spPr>
          <a:xfrm>
            <a:off x="2624138" y="3987800"/>
            <a:ext cx="19693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1.6</a:t>
            </a:r>
          </a:p>
        </p:txBody>
      </p:sp>
      <p:sp>
        <p:nvSpPr>
          <p:cNvPr id="72" name="Rectangle 71"/>
          <p:cNvSpPr/>
          <p:nvPr/>
        </p:nvSpPr>
        <p:spPr>
          <a:xfrm>
            <a:off x="2997200" y="37338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163689" y="3822700"/>
            <a:ext cx="21081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NE</a:t>
            </a:r>
          </a:p>
        </p:txBody>
      </p:sp>
      <p:sp>
        <p:nvSpPr>
          <p:cNvPr id="74" name="TextBox 73"/>
          <p:cNvSpPr txBox="1"/>
          <p:nvPr/>
        </p:nvSpPr>
        <p:spPr>
          <a:xfrm>
            <a:off x="3175695" y="3987800"/>
            <a:ext cx="185366"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1.7</a:t>
            </a:r>
          </a:p>
        </p:txBody>
      </p:sp>
      <p:sp>
        <p:nvSpPr>
          <p:cNvPr id="75" name="Rectangle 74"/>
          <p:cNvSpPr/>
          <p:nvPr/>
        </p:nvSpPr>
        <p:spPr>
          <a:xfrm>
            <a:off x="3543300" y="37338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703935" y="3822700"/>
            <a:ext cx="22333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MO</a:t>
            </a:r>
          </a:p>
        </p:txBody>
      </p:sp>
      <p:sp>
        <p:nvSpPr>
          <p:cNvPr id="77" name="TextBox 76"/>
          <p:cNvSpPr txBox="1"/>
          <p:nvPr/>
        </p:nvSpPr>
        <p:spPr>
          <a:xfrm>
            <a:off x="3702050" y="3987800"/>
            <a:ext cx="22722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4.0</a:t>
            </a:r>
          </a:p>
        </p:txBody>
      </p:sp>
      <p:sp>
        <p:nvSpPr>
          <p:cNvPr id="78" name="Rectangle 77"/>
          <p:cNvSpPr/>
          <p:nvPr/>
        </p:nvSpPr>
        <p:spPr>
          <a:xfrm>
            <a:off x="4089400" y="37338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58171" y="3822700"/>
            <a:ext cx="20598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KY</a:t>
            </a:r>
          </a:p>
        </p:txBody>
      </p:sp>
      <p:sp>
        <p:nvSpPr>
          <p:cNvPr id="80" name="TextBox 79"/>
          <p:cNvSpPr txBox="1"/>
          <p:nvPr/>
        </p:nvSpPr>
        <p:spPr>
          <a:xfrm>
            <a:off x="4249936" y="3987800"/>
            <a:ext cx="22354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2.9</a:t>
            </a:r>
          </a:p>
        </p:txBody>
      </p:sp>
      <p:sp>
        <p:nvSpPr>
          <p:cNvPr id="81" name="Rectangle 80"/>
          <p:cNvSpPr/>
          <p:nvPr/>
        </p:nvSpPr>
        <p:spPr>
          <a:xfrm>
            <a:off x="4635500" y="3733800"/>
            <a:ext cx="508000" cy="50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785519" y="3822700"/>
            <a:ext cx="24584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FFFDFA"/>
                </a:solidFill>
                <a:latin typeface="Barlow"/>
              </a:rPr>
              <a:t>WV</a:t>
            </a:r>
          </a:p>
        </p:txBody>
      </p:sp>
      <p:sp>
        <p:nvSpPr>
          <p:cNvPr id="83" name="TextBox 82"/>
          <p:cNvSpPr txBox="1"/>
          <p:nvPr/>
        </p:nvSpPr>
        <p:spPr>
          <a:xfrm>
            <a:off x="4767064" y="3987800"/>
            <a:ext cx="28496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FFFDFA"/>
                </a:solidFill>
                <a:latin typeface="Barlow Condensed ExtraBold"/>
              </a:rPr>
              <a:t>13.4</a:t>
            </a:r>
          </a:p>
        </p:txBody>
      </p:sp>
      <p:sp>
        <p:nvSpPr>
          <p:cNvPr id="84" name="Rectangle 83"/>
          <p:cNvSpPr/>
          <p:nvPr/>
        </p:nvSpPr>
        <p:spPr>
          <a:xfrm>
            <a:off x="5181600" y="3733800"/>
            <a:ext cx="508000" cy="5080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354538" y="3822700"/>
            <a:ext cx="19725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VA</a:t>
            </a:r>
          </a:p>
        </p:txBody>
      </p:sp>
      <p:sp>
        <p:nvSpPr>
          <p:cNvPr id="86" name="TextBox 85"/>
          <p:cNvSpPr txBox="1"/>
          <p:nvPr/>
        </p:nvSpPr>
        <p:spPr>
          <a:xfrm>
            <a:off x="5341739" y="3987800"/>
            <a:ext cx="224280"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5.2</a:t>
            </a:r>
          </a:p>
        </p:txBody>
      </p:sp>
      <p:sp>
        <p:nvSpPr>
          <p:cNvPr id="87" name="Rectangle 86"/>
          <p:cNvSpPr/>
          <p:nvPr/>
        </p:nvSpPr>
        <p:spPr>
          <a:xfrm>
            <a:off x="5727700" y="37338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888534" y="3917950"/>
            <a:ext cx="22280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MD</a:t>
            </a:r>
          </a:p>
        </p:txBody>
      </p:sp>
      <p:sp>
        <p:nvSpPr>
          <p:cNvPr id="89" name="Rectangle 88"/>
          <p:cNvSpPr/>
          <p:nvPr/>
        </p:nvSpPr>
        <p:spPr>
          <a:xfrm>
            <a:off x="6273800" y="37338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443266" y="3917950"/>
            <a:ext cx="20461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DE</a:t>
            </a:r>
          </a:p>
        </p:txBody>
      </p:sp>
      <p:sp>
        <p:nvSpPr>
          <p:cNvPr id="91" name="Rectangle 90"/>
          <p:cNvSpPr/>
          <p:nvPr/>
        </p:nvSpPr>
        <p:spPr>
          <a:xfrm>
            <a:off x="1905000" y="4279900"/>
            <a:ext cx="508000" cy="5080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074069" y="4368800"/>
            <a:ext cx="20534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AZ</a:t>
            </a:r>
          </a:p>
        </p:txBody>
      </p:sp>
      <p:sp>
        <p:nvSpPr>
          <p:cNvPr id="93" name="TextBox 92"/>
          <p:cNvSpPr txBox="1"/>
          <p:nvPr/>
        </p:nvSpPr>
        <p:spPr>
          <a:xfrm>
            <a:off x="2078038" y="4533900"/>
            <a:ext cx="19693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6.1</a:t>
            </a:r>
          </a:p>
        </p:txBody>
      </p:sp>
      <p:sp>
        <p:nvSpPr>
          <p:cNvPr id="94" name="Rectangle 93"/>
          <p:cNvSpPr/>
          <p:nvPr/>
        </p:nvSpPr>
        <p:spPr>
          <a:xfrm>
            <a:off x="2451100" y="42799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8362" y="4368800"/>
            <a:ext cx="23038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NM</a:t>
            </a:r>
          </a:p>
        </p:txBody>
      </p:sp>
      <p:sp>
        <p:nvSpPr>
          <p:cNvPr id="96" name="TextBox 95"/>
          <p:cNvSpPr txBox="1"/>
          <p:nvPr/>
        </p:nvSpPr>
        <p:spPr>
          <a:xfrm>
            <a:off x="2611636" y="4533900"/>
            <a:ext cx="22354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2.8</a:t>
            </a:r>
          </a:p>
        </p:txBody>
      </p:sp>
      <p:sp>
        <p:nvSpPr>
          <p:cNvPr id="97" name="Rectangle 96"/>
          <p:cNvSpPr/>
          <p:nvPr/>
        </p:nvSpPr>
        <p:spPr>
          <a:xfrm>
            <a:off x="2997200" y="42799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167757" y="4368800"/>
            <a:ext cx="20229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KS</a:t>
            </a:r>
          </a:p>
        </p:txBody>
      </p:sp>
      <p:sp>
        <p:nvSpPr>
          <p:cNvPr id="99" name="TextBox 98"/>
          <p:cNvSpPr txBox="1"/>
          <p:nvPr/>
        </p:nvSpPr>
        <p:spPr>
          <a:xfrm>
            <a:off x="3165574" y="4533900"/>
            <a:ext cx="206927"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1.4</a:t>
            </a:r>
          </a:p>
        </p:txBody>
      </p:sp>
      <p:sp>
        <p:nvSpPr>
          <p:cNvPr id="100" name="Rectangle 99"/>
          <p:cNvSpPr/>
          <p:nvPr/>
        </p:nvSpPr>
        <p:spPr>
          <a:xfrm>
            <a:off x="3543300" y="42799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709194" y="4368800"/>
            <a:ext cx="212185"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AR</a:t>
            </a:r>
          </a:p>
        </p:txBody>
      </p:sp>
      <p:sp>
        <p:nvSpPr>
          <p:cNvPr id="102" name="TextBox 101"/>
          <p:cNvSpPr txBox="1"/>
          <p:nvPr/>
        </p:nvSpPr>
        <p:spPr>
          <a:xfrm>
            <a:off x="3716734" y="4533900"/>
            <a:ext cx="19609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1.8</a:t>
            </a:r>
          </a:p>
        </p:txBody>
      </p:sp>
      <p:sp>
        <p:nvSpPr>
          <p:cNvPr id="103" name="Rectangle 102"/>
          <p:cNvSpPr/>
          <p:nvPr/>
        </p:nvSpPr>
        <p:spPr>
          <a:xfrm>
            <a:off x="4089400" y="42799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256187" y="4368800"/>
            <a:ext cx="210292"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TN</a:t>
            </a:r>
          </a:p>
        </p:txBody>
      </p:sp>
      <p:sp>
        <p:nvSpPr>
          <p:cNvPr id="105" name="TextBox 104"/>
          <p:cNvSpPr txBox="1"/>
          <p:nvPr/>
        </p:nvSpPr>
        <p:spPr>
          <a:xfrm>
            <a:off x="4249936" y="4533900"/>
            <a:ext cx="223544"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3.2</a:t>
            </a:r>
          </a:p>
        </p:txBody>
      </p:sp>
      <p:sp>
        <p:nvSpPr>
          <p:cNvPr id="106" name="Rectangle 105"/>
          <p:cNvSpPr/>
          <p:nvPr/>
        </p:nvSpPr>
        <p:spPr>
          <a:xfrm>
            <a:off x="4635500" y="4279900"/>
            <a:ext cx="508000" cy="5080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800203" y="4368800"/>
            <a:ext cx="214604"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NC</a:t>
            </a:r>
          </a:p>
        </p:txBody>
      </p:sp>
      <p:sp>
        <p:nvSpPr>
          <p:cNvPr id="108" name="TextBox 107"/>
          <p:cNvSpPr txBox="1"/>
          <p:nvPr/>
        </p:nvSpPr>
        <p:spPr>
          <a:xfrm>
            <a:off x="4791273" y="4533900"/>
            <a:ext cx="23353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9.4</a:t>
            </a:r>
          </a:p>
        </p:txBody>
      </p:sp>
      <p:sp>
        <p:nvSpPr>
          <p:cNvPr id="109" name="Rectangle 108"/>
          <p:cNvSpPr/>
          <p:nvPr/>
        </p:nvSpPr>
        <p:spPr>
          <a:xfrm>
            <a:off x="5181600" y="42799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351760" y="4368800"/>
            <a:ext cx="203035"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SC</a:t>
            </a:r>
          </a:p>
        </p:txBody>
      </p:sp>
      <p:sp>
        <p:nvSpPr>
          <p:cNvPr id="111" name="TextBox 110"/>
          <p:cNvSpPr txBox="1"/>
          <p:nvPr/>
        </p:nvSpPr>
        <p:spPr>
          <a:xfrm>
            <a:off x="5336977" y="4533900"/>
            <a:ext cx="234377"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4.6</a:t>
            </a:r>
          </a:p>
        </p:txBody>
      </p:sp>
      <p:sp>
        <p:nvSpPr>
          <p:cNvPr id="112" name="Rectangle 111"/>
          <p:cNvSpPr/>
          <p:nvPr/>
        </p:nvSpPr>
        <p:spPr>
          <a:xfrm>
            <a:off x="5727700" y="4279900"/>
            <a:ext cx="508000" cy="5080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96074" y="4464050"/>
            <a:ext cx="20682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8A8F95"/>
                </a:solidFill>
                <a:latin typeface="Barlow"/>
              </a:rPr>
              <a:t>DC</a:t>
            </a:r>
          </a:p>
        </p:txBody>
      </p:sp>
      <p:sp>
        <p:nvSpPr>
          <p:cNvPr id="114" name="Rectangle 113"/>
          <p:cNvSpPr/>
          <p:nvPr/>
        </p:nvSpPr>
        <p:spPr>
          <a:xfrm>
            <a:off x="2997200" y="48260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164483" y="4914900"/>
            <a:ext cx="20924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OK</a:t>
            </a:r>
          </a:p>
        </p:txBody>
      </p:sp>
      <p:sp>
        <p:nvSpPr>
          <p:cNvPr id="116" name="TextBox 115"/>
          <p:cNvSpPr txBox="1"/>
          <p:nvPr/>
        </p:nvSpPr>
        <p:spPr>
          <a:xfrm>
            <a:off x="3152577" y="5080000"/>
            <a:ext cx="234377"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4.2</a:t>
            </a:r>
          </a:p>
        </p:txBody>
      </p:sp>
      <p:sp>
        <p:nvSpPr>
          <p:cNvPr id="117" name="Rectangle 116"/>
          <p:cNvSpPr/>
          <p:nvPr/>
        </p:nvSpPr>
        <p:spPr>
          <a:xfrm>
            <a:off x="3543300" y="4826000"/>
            <a:ext cx="508000" cy="50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10285" y="4914900"/>
            <a:ext cx="209766"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FFFDFA"/>
                </a:solidFill>
                <a:latin typeface="Barlow"/>
              </a:rPr>
              <a:t>LA</a:t>
            </a:r>
          </a:p>
        </p:txBody>
      </p:sp>
      <p:sp>
        <p:nvSpPr>
          <p:cNvPr id="119" name="TextBox 118"/>
          <p:cNvSpPr txBox="1"/>
          <p:nvPr/>
        </p:nvSpPr>
        <p:spPr>
          <a:xfrm>
            <a:off x="3679527" y="5080000"/>
            <a:ext cx="274973"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FFFDFA"/>
                </a:solidFill>
                <a:latin typeface="Barlow Condensed ExtraBold"/>
              </a:rPr>
              <a:t>16.3</a:t>
            </a:r>
          </a:p>
        </p:txBody>
      </p:sp>
      <p:sp>
        <p:nvSpPr>
          <p:cNvPr id="120" name="Rectangle 119"/>
          <p:cNvSpPr/>
          <p:nvPr/>
        </p:nvSpPr>
        <p:spPr>
          <a:xfrm>
            <a:off x="4089400" y="48260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252119" y="4914900"/>
            <a:ext cx="218811"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MS</a:t>
            </a:r>
          </a:p>
        </p:txBody>
      </p:sp>
      <p:sp>
        <p:nvSpPr>
          <p:cNvPr id="122" name="TextBox 121"/>
          <p:cNvSpPr txBox="1"/>
          <p:nvPr/>
        </p:nvSpPr>
        <p:spPr>
          <a:xfrm>
            <a:off x="4255393" y="5080000"/>
            <a:ext cx="21197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3.7</a:t>
            </a:r>
          </a:p>
        </p:txBody>
      </p:sp>
      <p:sp>
        <p:nvSpPr>
          <p:cNvPr id="123" name="Rectangle 122"/>
          <p:cNvSpPr/>
          <p:nvPr/>
        </p:nvSpPr>
        <p:spPr>
          <a:xfrm>
            <a:off x="4635500" y="48260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04271" y="5010150"/>
            <a:ext cx="205980"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AL</a:t>
            </a:r>
          </a:p>
        </p:txBody>
      </p:sp>
      <p:sp>
        <p:nvSpPr>
          <p:cNvPr id="125" name="Rectangle 124"/>
          <p:cNvSpPr/>
          <p:nvPr/>
        </p:nvSpPr>
        <p:spPr>
          <a:xfrm>
            <a:off x="5181600" y="4826000"/>
            <a:ext cx="508000" cy="5080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5348188" y="4914900"/>
            <a:ext cx="210713"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GA</a:t>
            </a:r>
          </a:p>
        </p:txBody>
      </p:sp>
      <p:sp>
        <p:nvSpPr>
          <p:cNvPr id="127" name="TextBox 126"/>
          <p:cNvSpPr txBox="1"/>
          <p:nvPr/>
        </p:nvSpPr>
        <p:spPr>
          <a:xfrm>
            <a:off x="5348089" y="5080000"/>
            <a:ext cx="210923"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7.9</a:t>
            </a:r>
          </a:p>
        </p:txBody>
      </p:sp>
      <p:sp>
        <p:nvSpPr>
          <p:cNvPr id="128" name="Rectangle 127"/>
          <p:cNvSpPr/>
          <p:nvPr/>
        </p:nvSpPr>
        <p:spPr>
          <a:xfrm>
            <a:off x="812800" y="5372100"/>
            <a:ext cx="508000" cy="5080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78198" y="5461000"/>
            <a:ext cx="213237"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AK</a:t>
            </a:r>
          </a:p>
        </p:txBody>
      </p:sp>
      <p:sp>
        <p:nvSpPr>
          <p:cNvPr id="130" name="TextBox 129"/>
          <p:cNvSpPr txBox="1"/>
          <p:nvPr/>
        </p:nvSpPr>
        <p:spPr>
          <a:xfrm>
            <a:off x="978297" y="5626100"/>
            <a:ext cx="212921"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2.7</a:t>
            </a:r>
          </a:p>
        </p:txBody>
      </p:sp>
      <p:sp>
        <p:nvSpPr>
          <p:cNvPr id="131" name="Rectangle 130"/>
          <p:cNvSpPr/>
          <p:nvPr/>
        </p:nvSpPr>
        <p:spPr>
          <a:xfrm>
            <a:off x="1358900" y="53721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550095" y="5556250"/>
            <a:ext cx="158548"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HI</a:t>
            </a:r>
          </a:p>
        </p:txBody>
      </p:sp>
      <p:sp>
        <p:nvSpPr>
          <p:cNvPr id="133" name="Rectangle 132"/>
          <p:cNvSpPr/>
          <p:nvPr/>
        </p:nvSpPr>
        <p:spPr>
          <a:xfrm>
            <a:off x="2997200" y="5372100"/>
            <a:ext cx="508000" cy="508000"/>
          </a:xfrm>
          <a:prstGeom prst="rect">
            <a:avLst/>
          </a:prstGeom>
          <a:solidFill>
            <a:srgbClr val="7A35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3167658" y="5461000"/>
            <a:ext cx="202404"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FFFDFA"/>
                </a:solidFill>
                <a:latin typeface="Barlow"/>
              </a:rPr>
              <a:t>TX</a:t>
            </a:r>
          </a:p>
        </p:txBody>
      </p:sp>
      <p:sp>
        <p:nvSpPr>
          <p:cNvPr id="135" name="TextBox 134"/>
          <p:cNvSpPr txBox="1"/>
          <p:nvPr/>
        </p:nvSpPr>
        <p:spPr>
          <a:xfrm>
            <a:off x="3120330" y="5626100"/>
            <a:ext cx="302843"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FFFDFA"/>
                </a:solidFill>
                <a:latin typeface="Barlow Condensed ExtraBold"/>
              </a:rPr>
              <a:t>55.5</a:t>
            </a:r>
          </a:p>
        </p:txBody>
      </p:sp>
      <p:sp>
        <p:nvSpPr>
          <p:cNvPr id="136" name="Rectangle 135"/>
          <p:cNvSpPr/>
          <p:nvPr/>
        </p:nvSpPr>
        <p:spPr>
          <a:xfrm>
            <a:off x="5727700" y="5372100"/>
            <a:ext cx="508000" cy="5080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902424" y="5461000"/>
            <a:ext cx="193359" cy="139700"/>
          </a:xfrm>
          <a:prstGeom prst="rect">
            <a:avLst/>
          </a:prstGeom>
          <a:noFill/>
        </p:spPr>
        <p:txBody>
          <a:bodyPr wrap="none" lIns="0" rIns="0" tIns="0" bIns="0" anchor="t">
            <a:noAutofit/>
          </a:bodyPr>
          <a:lstStyle/>
          <a:p>
            <a:pPr algn="l">
              <a:lnSpc>
                <a:spcPts val="1100"/>
              </a:lnSpc>
              <a:spcBef>
                <a:spcPts val="0"/>
              </a:spcBef>
              <a:spcAft>
                <a:spcPts val="0"/>
              </a:spcAft>
            </a:pPr>
            <a:r>
              <a:rPr b="1" i="0" sz="1100">
                <a:solidFill>
                  <a:srgbClr val="141619"/>
                </a:solidFill>
                <a:latin typeface="Barlow"/>
              </a:rPr>
              <a:t>FL</a:t>
            </a:r>
          </a:p>
        </p:txBody>
      </p:sp>
      <p:sp>
        <p:nvSpPr>
          <p:cNvPr id="138" name="TextBox 137"/>
          <p:cNvSpPr txBox="1"/>
          <p:nvPr/>
        </p:nvSpPr>
        <p:spPr>
          <a:xfrm>
            <a:off x="5900738" y="5626100"/>
            <a:ext cx="196935" cy="165100"/>
          </a:xfrm>
          <a:prstGeom prst="rect">
            <a:avLst/>
          </a:prstGeom>
          <a:noFill/>
        </p:spPr>
        <p:txBody>
          <a:bodyPr wrap="none" lIns="0" rIns="0" tIns="0" bIns="0" anchor="t">
            <a:noAutofit/>
          </a:bodyPr>
          <a:lstStyle/>
          <a:p>
            <a:pPr algn="l">
              <a:lnSpc>
                <a:spcPts val="1300"/>
              </a:lnSpc>
              <a:spcBef>
                <a:spcPts val="0"/>
              </a:spcBef>
              <a:spcAft>
                <a:spcPts val="0"/>
              </a:spcAft>
            </a:pPr>
            <a:r>
              <a:rPr b="0" i="0" sz="1300">
                <a:solidFill>
                  <a:srgbClr val="141619"/>
                </a:solidFill>
                <a:latin typeface="Barlow Condensed ExtraBold"/>
              </a:rPr>
              <a:t>1.2</a:t>
            </a:r>
          </a:p>
        </p:txBody>
      </p:sp>
      <p:sp>
        <p:nvSpPr>
          <p:cNvPr id="139" name="Rectangle 138"/>
          <p:cNvSpPr/>
          <p:nvPr/>
        </p:nvSpPr>
        <p:spPr>
          <a:xfrm>
            <a:off x="812800" y="5972175"/>
            <a:ext cx="152400" cy="152400"/>
          </a:xfrm>
          <a:prstGeom prst="rect">
            <a:avLst/>
          </a:prstGeom>
          <a:solidFill>
            <a:srgbClr val="7A35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16000" y="5956300"/>
            <a:ext cx="58838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&gt; 20 GW</a:t>
            </a:r>
          </a:p>
        </p:txBody>
      </p:sp>
      <p:sp>
        <p:nvSpPr>
          <p:cNvPr id="141" name="Rectangle 140"/>
          <p:cNvSpPr/>
          <p:nvPr/>
        </p:nvSpPr>
        <p:spPr>
          <a:xfrm>
            <a:off x="1686818" y="5972175"/>
            <a:ext cx="152400" cy="152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890018" y="5956300"/>
            <a:ext cx="42379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10–20</a:t>
            </a:r>
          </a:p>
        </p:txBody>
      </p:sp>
      <p:sp>
        <p:nvSpPr>
          <p:cNvPr id="143" name="Rectangle 142"/>
          <p:cNvSpPr/>
          <p:nvPr/>
        </p:nvSpPr>
        <p:spPr>
          <a:xfrm>
            <a:off x="2405559" y="5972175"/>
            <a:ext cx="152400" cy="152400"/>
          </a:xfrm>
          <a:prstGeom prst="rect">
            <a:avLst/>
          </a:prstGeom>
          <a:solidFill>
            <a:srgbClr val="D985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608759" y="5956300"/>
            <a:ext cx="32903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5–10</a:t>
            </a:r>
          </a:p>
        </p:txBody>
      </p:sp>
      <p:sp>
        <p:nvSpPr>
          <p:cNvPr id="145" name="Rectangle 144"/>
          <p:cNvSpPr/>
          <p:nvPr/>
        </p:nvSpPr>
        <p:spPr>
          <a:xfrm>
            <a:off x="3034903" y="5972175"/>
            <a:ext cx="152400" cy="152400"/>
          </a:xfrm>
          <a:prstGeom prst="rect">
            <a:avLst/>
          </a:prstGeom>
          <a:solidFill>
            <a:srgbClr val="E9B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3238103" y="5956300"/>
            <a:ext cx="26771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2–5</a:t>
            </a:r>
          </a:p>
        </p:txBody>
      </p:sp>
      <p:sp>
        <p:nvSpPr>
          <p:cNvPr id="147" name="Rectangle 146"/>
          <p:cNvSpPr/>
          <p:nvPr/>
        </p:nvSpPr>
        <p:spPr>
          <a:xfrm>
            <a:off x="3606403" y="5972175"/>
            <a:ext cx="152400" cy="152400"/>
          </a:xfrm>
          <a:prstGeom prst="rect">
            <a:avLst/>
          </a:prstGeom>
          <a:solidFill>
            <a:srgbClr val="F3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809603" y="5956300"/>
            <a:ext cx="22512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&lt; 2</a:t>
            </a:r>
          </a:p>
        </p:txBody>
      </p:sp>
      <p:sp>
        <p:nvSpPr>
          <p:cNvPr id="149" name="Rectangle 148"/>
          <p:cNvSpPr/>
          <p:nvPr/>
        </p:nvSpPr>
        <p:spPr>
          <a:xfrm>
            <a:off x="4137720" y="5972175"/>
            <a:ext cx="152400" cy="15240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340920" y="5956300"/>
            <a:ext cx="394764"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None</a:t>
            </a:r>
          </a:p>
        </p:txBody>
      </p:sp>
      <p:sp>
        <p:nvSpPr>
          <p:cNvPr id="151" name="TextBox 150"/>
          <p:cNvSpPr txBox="1"/>
          <p:nvPr/>
        </p:nvSpPr>
        <p:spPr>
          <a:xfrm>
            <a:off x="7620000" y="1790700"/>
            <a:ext cx="37592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50">
                <a:solidFill>
                  <a:srgbClr val="141619"/>
                </a:solidFill>
                <a:latin typeface="Barlow Condensed"/>
              </a:rPr>
              <a:t>OWNER × SITE, GROSS GW</a:t>
            </a:r>
          </a:p>
        </p:txBody>
      </p:sp>
      <p:sp>
        <p:nvSpPr>
          <p:cNvPr id="152" name="Rectangle 151"/>
          <p:cNvSpPr/>
          <p:nvPr/>
        </p:nvSpPr>
        <p:spPr>
          <a:xfrm>
            <a:off x="7620000" y="2105025"/>
            <a:ext cx="139700" cy="1397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7810500" y="2082800"/>
            <a:ext cx="1000554"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Greenfield 137</a:t>
            </a:r>
          </a:p>
        </p:txBody>
      </p:sp>
      <p:sp>
        <p:nvSpPr>
          <p:cNvPr id="154" name="Rectangle 153"/>
          <p:cNvSpPr/>
          <p:nvPr/>
        </p:nvSpPr>
        <p:spPr>
          <a:xfrm>
            <a:off x="8882856" y="2105025"/>
            <a:ext cx="139700" cy="1397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073356" y="2082800"/>
            <a:ext cx="98309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Brownfield 69</a:t>
            </a:r>
          </a:p>
        </p:txBody>
      </p:sp>
      <p:sp>
        <p:nvSpPr>
          <p:cNvPr id="156" name="TextBox 155"/>
          <p:cNvSpPr txBox="1"/>
          <p:nvPr/>
        </p:nvSpPr>
        <p:spPr>
          <a:xfrm>
            <a:off x="7620000" y="2343150"/>
            <a:ext cx="260038"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a:rPr>
              <a:t>IPP</a:t>
            </a:r>
          </a:p>
        </p:txBody>
      </p:sp>
      <p:sp>
        <p:nvSpPr>
          <p:cNvPr id="157" name="TextBox 156"/>
          <p:cNvSpPr txBox="1"/>
          <p:nvPr/>
        </p:nvSpPr>
        <p:spPr>
          <a:xfrm>
            <a:off x="10323810" y="2343150"/>
            <a:ext cx="114411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51 new · 15 reuse</a:t>
            </a:r>
          </a:p>
        </p:txBody>
      </p:sp>
      <p:sp>
        <p:nvSpPr>
          <p:cNvPr id="158" name="Rectangle 157"/>
          <p:cNvSpPr/>
          <p:nvPr/>
        </p:nvSpPr>
        <p:spPr>
          <a:xfrm>
            <a:off x="7620000" y="2552700"/>
            <a:ext cx="233045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950450" y="2552700"/>
            <a:ext cx="679450" cy="1778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620000" y="2806700"/>
            <a:ext cx="1245604"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a:rPr>
              <a:t>Behind the meter</a:t>
            </a:r>
          </a:p>
        </p:txBody>
      </p:sp>
      <p:sp>
        <p:nvSpPr>
          <p:cNvPr id="161" name="TextBox 160"/>
          <p:cNvSpPr txBox="1"/>
          <p:nvPr/>
        </p:nvSpPr>
        <p:spPr>
          <a:xfrm>
            <a:off x="10346829" y="2806700"/>
            <a:ext cx="111971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55 new · 8 reuse</a:t>
            </a:r>
          </a:p>
        </p:txBody>
      </p:sp>
      <p:sp>
        <p:nvSpPr>
          <p:cNvPr id="162" name="Rectangle 161"/>
          <p:cNvSpPr/>
          <p:nvPr/>
        </p:nvSpPr>
        <p:spPr>
          <a:xfrm>
            <a:off x="7620000" y="3016250"/>
            <a:ext cx="249555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0115550" y="3016250"/>
            <a:ext cx="381000" cy="1778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7620000" y="3270250"/>
            <a:ext cx="270871"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a:rPr>
              <a:t>IOU</a:t>
            </a:r>
          </a:p>
        </p:txBody>
      </p:sp>
      <p:sp>
        <p:nvSpPr>
          <p:cNvPr id="165" name="TextBox 164"/>
          <p:cNvSpPr txBox="1"/>
          <p:nvPr/>
        </p:nvSpPr>
        <p:spPr>
          <a:xfrm>
            <a:off x="10266660" y="3270250"/>
            <a:ext cx="1204692"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23 new · 36 reuse</a:t>
            </a:r>
          </a:p>
        </p:txBody>
      </p:sp>
      <p:sp>
        <p:nvSpPr>
          <p:cNvPr id="166" name="Rectangle 165"/>
          <p:cNvSpPr/>
          <p:nvPr/>
        </p:nvSpPr>
        <p:spPr>
          <a:xfrm>
            <a:off x="7620000" y="3479800"/>
            <a:ext cx="106680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686800" y="3479800"/>
            <a:ext cx="1638300" cy="1778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20000" y="3733800"/>
            <a:ext cx="1030422"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a:rPr>
              <a:t>Co-op / public</a:t>
            </a:r>
          </a:p>
        </p:txBody>
      </p:sp>
      <p:sp>
        <p:nvSpPr>
          <p:cNvPr id="169" name="TextBox 168"/>
          <p:cNvSpPr txBox="1"/>
          <p:nvPr/>
        </p:nvSpPr>
        <p:spPr>
          <a:xfrm>
            <a:off x="10424021" y="3733800"/>
            <a:ext cx="103789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8 new · 9 reuse</a:t>
            </a:r>
          </a:p>
        </p:txBody>
      </p:sp>
      <p:sp>
        <p:nvSpPr>
          <p:cNvPr id="170" name="Rectangle 169"/>
          <p:cNvSpPr/>
          <p:nvPr/>
        </p:nvSpPr>
        <p:spPr>
          <a:xfrm>
            <a:off x="7620000" y="3943350"/>
            <a:ext cx="38100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8001000" y="3943350"/>
            <a:ext cx="431800" cy="1778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7620000" y="4197350"/>
            <a:ext cx="3759200" cy="209550"/>
          </a:xfrm>
          <a:prstGeom prst="rect">
            <a:avLst/>
          </a:prstGeom>
          <a:noFill/>
        </p:spPr>
        <p:txBody>
          <a:bodyPr wrap="none" lIns="0" rIns="0" tIns="0" bIns="0" anchor="t">
            <a:noAutofit/>
          </a:bodyPr>
          <a:lstStyle/>
          <a:p>
            <a:pPr algn="l">
              <a:lnSpc>
                <a:spcPts val="1650"/>
              </a:lnSpc>
              <a:spcBef>
                <a:spcPts val="0"/>
              </a:spcBef>
              <a:spcAft>
                <a:spcPts val="0"/>
              </a:spcAft>
            </a:pPr>
            <a:r>
              <a:rPr b="0" i="0" sz="1500">
                <a:solidFill>
                  <a:srgbClr val="9E4C1A"/>
                </a:solidFill>
                <a:latin typeface="Barlow Condensed ExtraBold"/>
              </a:rPr>
              <a:t>IOUS REUSE OLD SITES; IPPS AND BTM BUILD NEW</a:t>
            </a:r>
          </a:p>
        </p:txBody>
      </p:sp>
      <p:sp>
        <p:nvSpPr>
          <p:cNvPr id="173" name="Rectangle 172"/>
          <p:cNvSpPr/>
          <p:nvPr/>
        </p:nvSpPr>
        <p:spPr>
          <a:xfrm>
            <a:off x="7620000" y="4483100"/>
            <a:ext cx="37592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7620000" y="4584700"/>
            <a:ext cx="88900" cy="889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772400" y="4537075"/>
            <a:ext cx="191071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Greenfield, grid-connected</a:t>
            </a:r>
          </a:p>
        </p:txBody>
      </p:sp>
      <p:sp>
        <p:nvSpPr>
          <p:cNvPr id="176" name="TextBox 175"/>
          <p:cNvSpPr txBox="1"/>
          <p:nvPr/>
        </p:nvSpPr>
        <p:spPr>
          <a:xfrm>
            <a:off x="11122025" y="4521200"/>
            <a:ext cx="29800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Condensed ExtraBold"/>
              </a:rPr>
              <a:t>77.0</a:t>
            </a:r>
          </a:p>
        </p:txBody>
      </p:sp>
      <p:sp>
        <p:nvSpPr>
          <p:cNvPr id="177" name="Rectangle 176"/>
          <p:cNvSpPr/>
          <p:nvPr/>
        </p:nvSpPr>
        <p:spPr>
          <a:xfrm>
            <a:off x="7620000" y="4768850"/>
            <a:ext cx="37592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7620000" y="4870450"/>
            <a:ext cx="88900" cy="889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772400" y="4822825"/>
            <a:ext cx="189178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Data-center / BTM campus</a:t>
            </a:r>
          </a:p>
        </p:txBody>
      </p:sp>
      <p:sp>
        <p:nvSpPr>
          <p:cNvPr id="180" name="TextBox 179"/>
          <p:cNvSpPr txBox="1"/>
          <p:nvPr/>
        </p:nvSpPr>
        <p:spPr>
          <a:xfrm>
            <a:off x="11087001" y="4806950"/>
            <a:ext cx="335131"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Condensed ExtraBold"/>
              </a:rPr>
              <a:t>54.5</a:t>
            </a:r>
          </a:p>
        </p:txBody>
      </p:sp>
      <p:sp>
        <p:nvSpPr>
          <p:cNvPr id="181" name="Rectangle 180"/>
          <p:cNvSpPr/>
          <p:nvPr/>
        </p:nvSpPr>
        <p:spPr>
          <a:xfrm>
            <a:off x="7620000" y="5054600"/>
            <a:ext cx="37592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7620000" y="5156200"/>
            <a:ext cx="88900" cy="889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7772400" y="5108575"/>
            <a:ext cx="1264009"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Coal-site repower</a:t>
            </a:r>
          </a:p>
        </p:txBody>
      </p:sp>
      <p:sp>
        <p:nvSpPr>
          <p:cNvPr id="184" name="TextBox 183"/>
          <p:cNvSpPr txBox="1"/>
          <p:nvPr/>
        </p:nvSpPr>
        <p:spPr>
          <a:xfrm>
            <a:off x="11125398" y="5092700"/>
            <a:ext cx="29443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Condensed ExtraBold"/>
              </a:rPr>
              <a:t>41.3</a:t>
            </a:r>
          </a:p>
        </p:txBody>
      </p:sp>
      <p:sp>
        <p:nvSpPr>
          <p:cNvPr id="185" name="Rectangle 184"/>
          <p:cNvSpPr/>
          <p:nvPr/>
        </p:nvSpPr>
        <p:spPr>
          <a:xfrm>
            <a:off x="7620000" y="5340350"/>
            <a:ext cx="37592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620000" y="5441950"/>
            <a:ext cx="88900" cy="889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772400" y="5394325"/>
            <a:ext cx="2021457"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Expansion at operating plant</a:t>
            </a:r>
          </a:p>
        </p:txBody>
      </p:sp>
      <p:sp>
        <p:nvSpPr>
          <p:cNvPr id="188" name="TextBox 187"/>
          <p:cNvSpPr txBox="1"/>
          <p:nvPr/>
        </p:nvSpPr>
        <p:spPr>
          <a:xfrm>
            <a:off x="11115675" y="5378450"/>
            <a:ext cx="30473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Condensed ExtraBold"/>
              </a:rPr>
              <a:t>21.4</a:t>
            </a:r>
          </a:p>
        </p:txBody>
      </p:sp>
      <p:sp>
        <p:nvSpPr>
          <p:cNvPr id="189" name="Rectangle 188"/>
          <p:cNvSpPr/>
          <p:nvPr/>
        </p:nvSpPr>
        <p:spPr>
          <a:xfrm>
            <a:off x="7620000" y="5626100"/>
            <a:ext cx="37592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620000" y="5727700"/>
            <a:ext cx="88900" cy="88900"/>
          </a:xfrm>
          <a:prstGeom prst="rect">
            <a:avLst/>
          </a:prstGeom>
          <a:solidFill>
            <a:srgbClr val="8A8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772400" y="5680075"/>
            <a:ext cx="2241687"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Industrial captive and site reuse</a:t>
            </a:r>
          </a:p>
        </p:txBody>
      </p:sp>
      <p:sp>
        <p:nvSpPr>
          <p:cNvPr id="192" name="TextBox 191"/>
          <p:cNvSpPr txBox="1"/>
          <p:nvPr/>
        </p:nvSpPr>
        <p:spPr>
          <a:xfrm>
            <a:off x="11153378" y="5664200"/>
            <a:ext cx="264771"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Condensed ExtraBold"/>
              </a:rPr>
              <a:t>11.6</a:t>
            </a:r>
          </a:p>
        </p:txBody>
      </p:sp>
      <p:sp>
        <p:nvSpPr>
          <p:cNvPr id="193" name="TextBox 192"/>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Source: Southwire PowerGen register, Sep 11, 2026. Gross GW, unweighted. Site classes provisional (Rev01).</a:t>
            </a:r>
          </a:p>
        </p:txBody>
      </p:sp>
      <p:sp>
        <p:nvSpPr>
          <p:cNvPr id="194" name="TextBox 193"/>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10</a:t>
            </a:r>
          </a:p>
        </p:txBody>
      </p:sp>
      <p:sp>
        <p:nvSpPr>
          <p:cNvPr id="195" name="Rectangle 194"/>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197" name="TextBox 196"/>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198"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OEMS AND EPCS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THREE TURBINE OEMS CARRY 40% OF THE CAPACITY</a:t>
            </a:r>
          </a:p>
        </p:txBody>
      </p:sp>
      <p:sp>
        <p:nvSpPr>
          <p:cNvPr id="4" name="TextBox 3"/>
          <p:cNvSpPr txBox="1"/>
          <p:nvPr/>
        </p:nvSpPr>
        <p:spPr>
          <a:xfrm>
            <a:off x="812800" y="1866900"/>
            <a:ext cx="57150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50">
                <a:solidFill>
                  <a:srgbClr val="141619"/>
                </a:solidFill>
                <a:latin typeface="Barlow Condensed"/>
              </a:rPr>
              <a:t>GROSS GW BY OEM</a:t>
            </a:r>
          </a:p>
        </p:txBody>
      </p:sp>
      <p:sp>
        <p:nvSpPr>
          <p:cNvPr id="5" name="TextBox 4"/>
          <p:cNvSpPr txBox="1"/>
          <p:nvPr/>
        </p:nvSpPr>
        <p:spPr>
          <a:xfrm>
            <a:off x="812800" y="22129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GE Vernova</a:t>
            </a:r>
          </a:p>
        </p:txBody>
      </p:sp>
      <p:sp>
        <p:nvSpPr>
          <p:cNvPr id="6" name="Rectangle 5"/>
          <p:cNvSpPr/>
          <p:nvPr/>
        </p:nvSpPr>
        <p:spPr>
          <a:xfrm>
            <a:off x="2628900" y="2184400"/>
            <a:ext cx="3302000" cy="254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2500" y="2212975"/>
            <a:ext cx="361424"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43.3</a:t>
            </a:r>
          </a:p>
        </p:txBody>
      </p:sp>
      <p:sp>
        <p:nvSpPr>
          <p:cNvPr id="8" name="TextBox 7"/>
          <p:cNvSpPr txBox="1"/>
          <p:nvPr/>
        </p:nvSpPr>
        <p:spPr>
          <a:xfrm>
            <a:off x="812800" y="25558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Mitsubishi Power</a:t>
            </a:r>
          </a:p>
        </p:txBody>
      </p:sp>
      <p:sp>
        <p:nvSpPr>
          <p:cNvPr id="9" name="Rectangle 8"/>
          <p:cNvSpPr/>
          <p:nvPr/>
        </p:nvSpPr>
        <p:spPr>
          <a:xfrm>
            <a:off x="2628900" y="2527300"/>
            <a:ext cx="1612900" cy="254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2555875"/>
            <a:ext cx="326297"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21.2</a:t>
            </a:r>
          </a:p>
        </p:txBody>
      </p:sp>
      <p:sp>
        <p:nvSpPr>
          <p:cNvPr id="11" name="TextBox 10"/>
          <p:cNvSpPr txBox="1"/>
          <p:nvPr/>
        </p:nvSpPr>
        <p:spPr>
          <a:xfrm>
            <a:off x="812800" y="28987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Siemens Energy</a:t>
            </a:r>
          </a:p>
        </p:txBody>
      </p:sp>
      <p:sp>
        <p:nvSpPr>
          <p:cNvPr id="12" name="Rectangle 11"/>
          <p:cNvSpPr/>
          <p:nvPr/>
        </p:nvSpPr>
        <p:spPr>
          <a:xfrm>
            <a:off x="2628900" y="2870200"/>
            <a:ext cx="1339850" cy="254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70350" y="2898775"/>
            <a:ext cx="302843"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17.6</a:t>
            </a:r>
          </a:p>
        </p:txBody>
      </p:sp>
      <p:sp>
        <p:nvSpPr>
          <p:cNvPr id="14" name="TextBox 13"/>
          <p:cNvSpPr txBox="1"/>
          <p:nvPr/>
        </p:nvSpPr>
        <p:spPr>
          <a:xfrm>
            <a:off x="812800" y="32416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Caterpillar / Solar</a:t>
            </a:r>
          </a:p>
        </p:txBody>
      </p:sp>
      <p:sp>
        <p:nvSpPr>
          <p:cNvPr id="15" name="Rectangle 14"/>
          <p:cNvSpPr/>
          <p:nvPr/>
        </p:nvSpPr>
        <p:spPr>
          <a:xfrm>
            <a:off x="2628900" y="3213100"/>
            <a:ext cx="7112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1700" y="3241675"/>
            <a:ext cx="258356"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9.3</a:t>
            </a:r>
          </a:p>
        </p:txBody>
      </p:sp>
      <p:sp>
        <p:nvSpPr>
          <p:cNvPr id="17" name="TextBox 16"/>
          <p:cNvSpPr txBox="1"/>
          <p:nvPr/>
        </p:nvSpPr>
        <p:spPr>
          <a:xfrm>
            <a:off x="812800" y="35845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Baker Hughes</a:t>
            </a:r>
          </a:p>
        </p:txBody>
      </p:sp>
      <p:sp>
        <p:nvSpPr>
          <p:cNvPr id="18" name="Rectangle 17"/>
          <p:cNvSpPr/>
          <p:nvPr/>
        </p:nvSpPr>
        <p:spPr>
          <a:xfrm>
            <a:off x="2628900" y="3556000"/>
            <a:ext cx="3048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35300" y="3584575"/>
            <a:ext cx="269925"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4.0</a:t>
            </a:r>
          </a:p>
        </p:txBody>
      </p:sp>
      <p:sp>
        <p:nvSpPr>
          <p:cNvPr id="20" name="TextBox 19"/>
          <p:cNvSpPr txBox="1"/>
          <p:nvPr/>
        </p:nvSpPr>
        <p:spPr>
          <a:xfrm>
            <a:off x="812800" y="39274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Wärtsilä</a:t>
            </a:r>
          </a:p>
        </p:txBody>
      </p:sp>
      <p:sp>
        <p:nvSpPr>
          <p:cNvPr id="21" name="Rectangle 20"/>
          <p:cNvSpPr/>
          <p:nvPr/>
        </p:nvSpPr>
        <p:spPr>
          <a:xfrm>
            <a:off x="2628900" y="3898900"/>
            <a:ext cx="2286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59100" y="3927475"/>
            <a:ext cx="260459"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3.0</a:t>
            </a:r>
          </a:p>
        </p:txBody>
      </p:sp>
      <p:sp>
        <p:nvSpPr>
          <p:cNvPr id="23" name="TextBox 22"/>
          <p:cNvSpPr txBox="1"/>
          <p:nvPr/>
        </p:nvSpPr>
        <p:spPr>
          <a:xfrm>
            <a:off x="812800" y="42703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ProEnergy</a:t>
            </a:r>
          </a:p>
        </p:txBody>
      </p:sp>
      <p:sp>
        <p:nvSpPr>
          <p:cNvPr id="24" name="Rectangle 23"/>
          <p:cNvSpPr/>
          <p:nvPr/>
        </p:nvSpPr>
        <p:spPr>
          <a:xfrm>
            <a:off x="2628900" y="4241800"/>
            <a:ext cx="1397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0200" y="4270375"/>
            <a:ext cx="228277"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1.8</a:t>
            </a:r>
          </a:p>
        </p:txBody>
      </p:sp>
      <p:sp>
        <p:nvSpPr>
          <p:cNvPr id="26" name="TextBox 25"/>
          <p:cNvSpPr txBox="1"/>
          <p:nvPr/>
        </p:nvSpPr>
        <p:spPr>
          <a:xfrm>
            <a:off x="812800" y="4613275"/>
            <a:ext cx="17145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VoltaGrid (packager)</a:t>
            </a:r>
          </a:p>
        </p:txBody>
      </p:sp>
      <p:sp>
        <p:nvSpPr>
          <p:cNvPr id="27" name="Rectangle 26"/>
          <p:cNvSpPr/>
          <p:nvPr/>
        </p:nvSpPr>
        <p:spPr>
          <a:xfrm>
            <a:off x="2628900" y="4584700"/>
            <a:ext cx="76200" cy="2540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6700" y="4613275"/>
            <a:ext cx="229328"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141619"/>
                </a:solidFill>
                <a:latin typeface="Barlow"/>
              </a:rPr>
              <a:t>1.0</a:t>
            </a:r>
          </a:p>
        </p:txBody>
      </p:sp>
      <p:sp>
        <p:nvSpPr>
          <p:cNvPr id="29" name="TextBox 28"/>
          <p:cNvSpPr txBox="1"/>
          <p:nvPr/>
        </p:nvSpPr>
        <p:spPr>
          <a:xfrm>
            <a:off x="7035800" y="1866900"/>
            <a:ext cx="43434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50">
                <a:solidFill>
                  <a:srgbClr val="141619"/>
                </a:solidFill>
                <a:latin typeface="Barlow Condensed"/>
              </a:rPr>
              <a:t>NAMED EPCS, GROSS GW</a:t>
            </a:r>
          </a:p>
        </p:txBody>
      </p:sp>
      <p:sp>
        <p:nvSpPr>
          <p:cNvPr id="30" name="Rectangle 29"/>
          <p:cNvSpPr/>
          <p:nvPr/>
        </p:nvSpPr>
        <p:spPr>
          <a:xfrm>
            <a:off x="7048500" y="2197100"/>
            <a:ext cx="4318000" cy="2095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54850" y="220345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F5F3EF"/>
                </a:solidFill>
                <a:latin typeface="Barlow"/>
              </a:rPr>
              <a:t>EPC / constructor</a:t>
            </a:r>
          </a:p>
        </p:txBody>
      </p:sp>
      <p:sp>
        <p:nvSpPr>
          <p:cNvPr id="32" name="TextBox 31"/>
          <p:cNvSpPr txBox="1"/>
          <p:nvPr/>
        </p:nvSpPr>
        <p:spPr>
          <a:xfrm>
            <a:off x="10043120" y="220345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1" i="0" sz="1300">
                <a:solidFill>
                  <a:srgbClr val="F5F3EF"/>
                </a:solidFill>
                <a:latin typeface="Barlow"/>
              </a:rPr>
              <a:t>GW</a:t>
            </a:r>
          </a:p>
        </p:txBody>
      </p:sp>
      <p:sp>
        <p:nvSpPr>
          <p:cNvPr id="33" name="Rectangle 32"/>
          <p:cNvSpPr/>
          <p:nvPr/>
        </p:nvSpPr>
        <p:spPr>
          <a:xfrm>
            <a:off x="7048500" y="2419350"/>
            <a:ext cx="4318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54850" y="242570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Kiewit / TIC</a:t>
            </a:r>
          </a:p>
        </p:txBody>
      </p:sp>
      <p:sp>
        <p:nvSpPr>
          <p:cNvPr id="35" name="TextBox 34"/>
          <p:cNvSpPr txBox="1"/>
          <p:nvPr/>
        </p:nvSpPr>
        <p:spPr>
          <a:xfrm>
            <a:off x="10043120" y="242570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6.8</a:t>
            </a:r>
          </a:p>
        </p:txBody>
      </p:sp>
      <p:sp>
        <p:nvSpPr>
          <p:cNvPr id="36" name="Rectangle 35"/>
          <p:cNvSpPr/>
          <p:nvPr/>
        </p:nvSpPr>
        <p:spPr>
          <a:xfrm>
            <a:off x="7048500" y="2641600"/>
            <a:ext cx="4318000" cy="2095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54850" y="264795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Zachry / Quanta</a:t>
            </a:r>
          </a:p>
        </p:txBody>
      </p:sp>
      <p:sp>
        <p:nvSpPr>
          <p:cNvPr id="38" name="TextBox 37"/>
          <p:cNvSpPr txBox="1"/>
          <p:nvPr/>
        </p:nvSpPr>
        <p:spPr>
          <a:xfrm>
            <a:off x="10043120" y="264795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2.6</a:t>
            </a:r>
          </a:p>
        </p:txBody>
      </p:sp>
      <p:sp>
        <p:nvSpPr>
          <p:cNvPr id="39" name="Rectangle 38"/>
          <p:cNvSpPr/>
          <p:nvPr/>
        </p:nvSpPr>
        <p:spPr>
          <a:xfrm>
            <a:off x="7048500" y="2863850"/>
            <a:ext cx="4318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54850" y="287020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Gemma Power Systems</a:t>
            </a:r>
          </a:p>
        </p:txBody>
      </p:sp>
      <p:sp>
        <p:nvSpPr>
          <p:cNvPr id="41" name="TextBox 40"/>
          <p:cNvSpPr txBox="1"/>
          <p:nvPr/>
        </p:nvSpPr>
        <p:spPr>
          <a:xfrm>
            <a:off x="10043120" y="287020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2.5</a:t>
            </a:r>
          </a:p>
        </p:txBody>
      </p:sp>
      <p:sp>
        <p:nvSpPr>
          <p:cNvPr id="42" name="Rectangle 41"/>
          <p:cNvSpPr/>
          <p:nvPr/>
        </p:nvSpPr>
        <p:spPr>
          <a:xfrm>
            <a:off x="7048500" y="3086100"/>
            <a:ext cx="4318000" cy="2095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54850" y="309245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PCL</a:t>
            </a:r>
          </a:p>
        </p:txBody>
      </p:sp>
      <p:sp>
        <p:nvSpPr>
          <p:cNvPr id="44" name="TextBox 43"/>
          <p:cNvSpPr txBox="1"/>
          <p:nvPr/>
        </p:nvSpPr>
        <p:spPr>
          <a:xfrm>
            <a:off x="10043120" y="309245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1.5</a:t>
            </a:r>
          </a:p>
        </p:txBody>
      </p:sp>
      <p:sp>
        <p:nvSpPr>
          <p:cNvPr id="45" name="Rectangle 44"/>
          <p:cNvSpPr/>
          <p:nvPr/>
        </p:nvSpPr>
        <p:spPr>
          <a:xfrm>
            <a:off x="7048500" y="3308350"/>
            <a:ext cx="4318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54850" y="3314700"/>
            <a:ext cx="300097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Burns &amp; McDonnell</a:t>
            </a:r>
          </a:p>
        </p:txBody>
      </p:sp>
      <p:sp>
        <p:nvSpPr>
          <p:cNvPr id="47" name="TextBox 46"/>
          <p:cNvSpPr txBox="1"/>
          <p:nvPr/>
        </p:nvSpPr>
        <p:spPr>
          <a:xfrm>
            <a:off x="10043120" y="3314700"/>
            <a:ext cx="1317030"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0.4</a:t>
            </a:r>
          </a:p>
        </p:txBody>
      </p:sp>
      <p:sp>
        <p:nvSpPr>
          <p:cNvPr id="48" name="TextBox 47"/>
          <p:cNvSpPr txBox="1"/>
          <p:nvPr/>
        </p:nvSpPr>
        <p:spPr>
          <a:xfrm>
            <a:off x="7035800" y="3619500"/>
            <a:ext cx="4473702" cy="426641"/>
          </a:xfrm>
          <a:prstGeom prst="rect">
            <a:avLst/>
          </a:prstGeom>
          <a:noFill/>
        </p:spPr>
        <p:txBody>
          <a:bodyPr wrap="square" lIns="0" rIns="0" tIns="0" bIns="0" anchor="t">
            <a:noAutofit/>
          </a:bodyPr>
          <a:lstStyle/>
          <a:p>
            <a:pPr algn="l">
              <a:lnSpc>
                <a:spcPts val="1680"/>
              </a:lnSpc>
              <a:spcBef>
                <a:spcPts val="0"/>
              </a:spcBef>
              <a:spcAft>
                <a:spcPts val="0"/>
              </a:spcAft>
            </a:pPr>
            <a:r>
              <a:rPr b="0" i="0" sz="1200">
                <a:solidFill>
                  <a:srgbClr val="4A525B"/>
                </a:solidFill>
                <a:latin typeface="Barlow"/>
              </a:rPr>
              <a:t>87% of gross capacity has no confirmed constructor yet: buyer discovery is the next job.</a:t>
            </a:r>
          </a:p>
        </p:txBody>
      </p:sp>
      <p:sp>
        <p:nvSpPr>
          <p:cNvPr id="49" name="TextBox 48"/>
          <p:cNvSpPr txBox="1"/>
          <p:nvPr/>
        </p:nvSpPr>
        <p:spPr>
          <a:xfrm>
            <a:off x="812800" y="6083300"/>
            <a:ext cx="9810750" cy="368300"/>
          </a:xfrm>
          <a:prstGeom prst="rect">
            <a:avLst/>
          </a:prstGeom>
          <a:noFill/>
        </p:spPr>
        <p:txBody>
          <a:bodyPr wrap="square" lIns="0" rIns="0" tIns="0" bIns="0" anchor="t">
            <a:noAutofit/>
          </a:bodyPr>
          <a:lstStyle/>
          <a:p>
            <a:pPr algn="l">
              <a:lnSpc>
                <a:spcPts val="1439"/>
              </a:lnSpc>
              <a:spcBef>
                <a:spcPts val="0"/>
              </a:spcBef>
              <a:spcAft>
                <a:spcPts val="0"/>
              </a:spcAft>
            </a:pPr>
            <a:r>
              <a:rPr b="0" i="0" sz="1200">
                <a:solidFill>
                  <a:srgbClr val="4A525B"/>
                </a:solidFill>
                <a:latin typeface="Barlow"/>
              </a:rPr>
              <a:t>Source: Southwire PowerGen commercial priorities model, Sep 11, 2026. Gross GW, unweighted. Copper = the three turbine OEMs; grey = engines, aeroderivatives and VoltaGrid.</a:t>
            </a:r>
          </a:p>
        </p:txBody>
      </p:sp>
      <p:sp>
        <p:nvSpPr>
          <p:cNvPr id="50" name="TextBox 49"/>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11</a:t>
            </a:r>
          </a:p>
        </p:txBody>
      </p:sp>
      <p:sp>
        <p:nvSpPr>
          <p:cNvPr id="51" name="Rectangle 50"/>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53" name="TextBox 52"/>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54"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INDUSTRY PARTICIPANTS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PRIORITY PLAYERS ACROSS THE BUYING CHAIN</a:t>
            </a:r>
          </a:p>
        </p:txBody>
      </p:sp>
      <p:sp>
        <p:nvSpPr>
          <p:cNvPr id="4" name="Rectangle 3"/>
          <p:cNvSpPr/>
          <p:nvPr/>
        </p:nvSpPr>
        <p:spPr>
          <a:xfrm>
            <a:off x="825500" y="1854200"/>
            <a:ext cx="10541000" cy="2286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1850" y="1860550"/>
            <a:ext cx="2300684"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Buying lane</a:t>
            </a:r>
          </a:p>
        </p:txBody>
      </p:sp>
      <p:sp>
        <p:nvSpPr>
          <p:cNvPr id="6" name="TextBox 5"/>
          <p:cNvSpPr txBox="1"/>
          <p:nvPr/>
        </p:nvSpPr>
        <p:spPr>
          <a:xfrm>
            <a:off x="3157934" y="1860550"/>
            <a:ext cx="419348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Examples</a:t>
            </a:r>
          </a:p>
        </p:txBody>
      </p:sp>
      <p:sp>
        <p:nvSpPr>
          <p:cNvPr id="7" name="TextBox 6"/>
          <p:cNvSpPr txBox="1"/>
          <p:nvPr/>
        </p:nvSpPr>
        <p:spPr>
          <a:xfrm>
            <a:off x="7376815" y="1860550"/>
            <a:ext cx="3983335"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What to establish</a:t>
            </a:r>
          </a:p>
        </p:txBody>
      </p:sp>
      <p:sp>
        <p:nvSpPr>
          <p:cNvPr id="8" name="Rectangle 7"/>
          <p:cNvSpPr/>
          <p:nvPr/>
        </p:nvSpPr>
        <p:spPr>
          <a:xfrm>
            <a:off x="825500" y="20955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850" y="2101850"/>
            <a:ext cx="2300684"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Owners · developers</a:t>
            </a:r>
          </a:p>
        </p:txBody>
      </p:sp>
      <p:sp>
        <p:nvSpPr>
          <p:cNvPr id="10" name="TextBox 9"/>
          <p:cNvSpPr txBox="1"/>
          <p:nvPr/>
        </p:nvSpPr>
        <p:spPr>
          <a:xfrm>
            <a:off x="3157934" y="2101850"/>
            <a:ext cx="419348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NRG, CPV, Entergy, Homer City Redevelopment</a:t>
            </a:r>
          </a:p>
        </p:txBody>
      </p:sp>
      <p:sp>
        <p:nvSpPr>
          <p:cNvPr id="11" name="TextBox 10"/>
          <p:cNvSpPr txBox="1"/>
          <p:nvPr/>
        </p:nvSpPr>
        <p:spPr>
          <a:xfrm>
            <a:off x="7376815" y="2101850"/>
            <a:ext cx="3983335"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Project phase, EPC, procurement route</a:t>
            </a:r>
          </a:p>
        </p:txBody>
      </p:sp>
      <p:sp>
        <p:nvSpPr>
          <p:cNvPr id="12" name="Rectangle 11"/>
          <p:cNvSpPr/>
          <p:nvPr/>
        </p:nvSpPr>
        <p:spPr>
          <a:xfrm>
            <a:off x="825500" y="2336800"/>
            <a:ext cx="10541000" cy="228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850" y="2343150"/>
            <a:ext cx="2300684"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EPC · engineering</a:t>
            </a:r>
          </a:p>
        </p:txBody>
      </p:sp>
      <p:sp>
        <p:nvSpPr>
          <p:cNvPr id="14" name="TextBox 13"/>
          <p:cNvSpPr txBox="1"/>
          <p:nvPr/>
        </p:nvSpPr>
        <p:spPr>
          <a:xfrm>
            <a:off x="3157934" y="2343150"/>
            <a:ext cx="419348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Kiewit, Gemma, Burns &amp; McDonnell, Black &amp; Veatch</a:t>
            </a:r>
          </a:p>
        </p:txBody>
      </p:sp>
      <p:sp>
        <p:nvSpPr>
          <p:cNvPr id="15" name="TextBox 14"/>
          <p:cNvSpPr txBox="1"/>
          <p:nvPr/>
        </p:nvSpPr>
        <p:spPr>
          <a:xfrm>
            <a:off x="7376815" y="2343150"/>
            <a:ext cx="3983335"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Electrical package buyer and spec access</a:t>
            </a:r>
          </a:p>
        </p:txBody>
      </p:sp>
      <p:sp>
        <p:nvSpPr>
          <p:cNvPr id="16" name="Rectangle 15"/>
          <p:cNvSpPr/>
          <p:nvPr/>
        </p:nvSpPr>
        <p:spPr>
          <a:xfrm>
            <a:off x="825500" y="2578100"/>
            <a:ext cx="10541000" cy="4445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850" y="2584450"/>
            <a:ext cx="2300684" cy="4318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141619"/>
                </a:solidFill>
                <a:latin typeface="Barlow"/>
              </a:rPr>
              <a:t>Turbine · engine OEMs</a:t>
            </a:r>
          </a:p>
        </p:txBody>
      </p:sp>
      <p:sp>
        <p:nvSpPr>
          <p:cNvPr id="18" name="TextBox 17"/>
          <p:cNvSpPr txBox="1"/>
          <p:nvPr/>
        </p:nvSpPr>
        <p:spPr>
          <a:xfrm>
            <a:off x="3157934" y="2584450"/>
            <a:ext cx="4193480"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GE Vernova, Siemens Energy, Mitsubishi Power</a:t>
            </a:r>
          </a:p>
        </p:txBody>
      </p:sp>
      <p:sp>
        <p:nvSpPr>
          <p:cNvPr id="19" name="TextBox 18"/>
          <p:cNvSpPr txBox="1"/>
          <p:nvPr/>
        </p:nvSpPr>
        <p:spPr>
          <a:xfrm>
            <a:off x="7376815" y="2584450"/>
            <a:ext cx="4102835" cy="431800"/>
          </a:xfrm>
          <a:prstGeom prst="rect">
            <a:avLst/>
          </a:prstGeom>
          <a:noFill/>
        </p:spPr>
        <p:txBody>
          <a:bodyPr wrap="square" lIns="0" rIns="0" tIns="0" bIns="0" anchor="t">
            <a:noAutofit/>
          </a:bodyPr>
          <a:lstStyle/>
          <a:p>
            <a:pPr algn="l">
              <a:lnSpc>
                <a:spcPts val="1680"/>
              </a:lnSpc>
              <a:spcBef>
                <a:spcPts val="0"/>
              </a:spcBef>
              <a:spcAft>
                <a:spcPts val="0"/>
              </a:spcAft>
            </a:pPr>
            <a:r>
              <a:rPr b="0" i="0" sz="1400">
                <a:solidFill>
                  <a:srgbClr val="141619"/>
                </a:solidFill>
                <a:latin typeface="Barlow"/>
              </a:rPr>
              <a:t>Equipment interfaces, approved cable constructions</a:t>
            </a:r>
          </a:p>
        </p:txBody>
      </p:sp>
      <p:sp>
        <p:nvSpPr>
          <p:cNvPr id="20" name="Rectangle 19"/>
          <p:cNvSpPr/>
          <p:nvPr/>
        </p:nvSpPr>
        <p:spPr>
          <a:xfrm>
            <a:off x="825500" y="3035300"/>
            <a:ext cx="10541000" cy="444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850" y="3041650"/>
            <a:ext cx="2300684" cy="4318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FFDFA"/>
                </a:solidFill>
                <a:latin typeface="Barlow"/>
              </a:rPr>
              <a:t>Modular · package builders</a:t>
            </a:r>
          </a:p>
        </p:txBody>
      </p:sp>
      <p:sp>
        <p:nvSpPr>
          <p:cNvPr id="22" name="TextBox 21"/>
          <p:cNvSpPr txBox="1"/>
          <p:nvPr/>
        </p:nvSpPr>
        <p:spPr>
          <a:xfrm>
            <a:off x="3157934" y="3041650"/>
            <a:ext cx="4193480"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FFFDFA"/>
                </a:solidFill>
                <a:latin typeface="Barlow"/>
              </a:rPr>
              <a:t>VoltaGrid, nVent, Powell, Fibrebond, Panelmatic</a:t>
            </a:r>
          </a:p>
        </p:txBody>
      </p:sp>
      <p:sp>
        <p:nvSpPr>
          <p:cNvPr id="23" name="TextBox 22"/>
          <p:cNvSpPr txBox="1"/>
          <p:nvPr/>
        </p:nvSpPr>
        <p:spPr>
          <a:xfrm>
            <a:off x="7376815" y="3041650"/>
            <a:ext cx="4102835" cy="431800"/>
          </a:xfrm>
          <a:prstGeom prst="rect">
            <a:avLst/>
          </a:prstGeom>
          <a:noFill/>
        </p:spPr>
        <p:txBody>
          <a:bodyPr wrap="square" lIns="0" rIns="0" tIns="0" bIns="0" anchor="t">
            <a:noAutofit/>
          </a:bodyPr>
          <a:lstStyle/>
          <a:p>
            <a:pPr algn="l">
              <a:lnSpc>
                <a:spcPts val="1680"/>
              </a:lnSpc>
              <a:spcBef>
                <a:spcPts val="0"/>
              </a:spcBef>
              <a:spcAft>
                <a:spcPts val="0"/>
              </a:spcAft>
            </a:pPr>
            <a:r>
              <a:rPr b="0" i="0" sz="1400">
                <a:solidFill>
                  <a:srgbClr val="FFFDFA"/>
                </a:solidFill>
                <a:latin typeface="Barlow"/>
              </a:rPr>
              <a:t>Internal BOM, repeat demand, assembly and channel fit</a:t>
            </a:r>
          </a:p>
        </p:txBody>
      </p:sp>
      <p:sp>
        <p:nvSpPr>
          <p:cNvPr id="24" name="TextBox 23"/>
          <p:cNvSpPr txBox="1"/>
          <p:nvPr/>
        </p:nvSpPr>
        <p:spPr>
          <a:xfrm>
            <a:off x="812800" y="3746500"/>
            <a:ext cx="1056640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4A525B"/>
                </a:solidFill>
                <a:latin typeface="Barlow"/>
              </a:rPr>
              <a:t>The owner influences the spec. Another party often buys the cable.</a:t>
            </a:r>
          </a:p>
        </p:txBody>
      </p:sp>
      <p:sp>
        <p:nvSpPr>
          <p:cNvPr id="25" name="TextBox 24"/>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Source: Southwire PowerGen buyer strategy, Oct 2026</a:t>
            </a:r>
          </a:p>
        </p:txBody>
      </p:sp>
      <p:sp>
        <p:nvSpPr>
          <p:cNvPr id="26" name="TextBox 25"/>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12</a:t>
            </a:r>
          </a:p>
        </p:txBody>
      </p:sp>
      <p:sp>
        <p:nvSpPr>
          <p:cNvPr id="27" name="Rectangle 26"/>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9" name="TextBox 28"/>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0"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NAMED PROJECT PURSUITS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TOP 7 OF 17 PRIORITY PURSUITS</a:t>
            </a:r>
          </a:p>
        </p:txBody>
      </p:sp>
      <p:sp>
        <p:nvSpPr>
          <p:cNvPr id="4" name="Rectangle 3"/>
          <p:cNvSpPr/>
          <p:nvPr/>
        </p:nvSpPr>
        <p:spPr>
          <a:xfrm>
            <a:off x="825500" y="1828800"/>
            <a:ext cx="10541000" cy="2095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1850" y="183515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F5F3EF"/>
                </a:solidFill>
                <a:latin typeface="Barlow"/>
              </a:rPr>
              <a:t>Project · owner group</a:t>
            </a:r>
          </a:p>
        </p:txBody>
      </p:sp>
      <p:sp>
        <p:nvSpPr>
          <p:cNvPr id="6" name="TextBox 5"/>
          <p:cNvSpPr txBox="1"/>
          <p:nvPr/>
        </p:nvSpPr>
        <p:spPr>
          <a:xfrm>
            <a:off x="3571974" y="183515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F5F3EF"/>
                </a:solidFill>
                <a:latin typeface="Barlow"/>
              </a:rPr>
              <a:t>State</a:t>
            </a:r>
          </a:p>
        </p:txBody>
      </p:sp>
      <p:sp>
        <p:nvSpPr>
          <p:cNvPr id="7" name="TextBox 6"/>
          <p:cNvSpPr txBox="1"/>
          <p:nvPr/>
        </p:nvSpPr>
        <p:spPr>
          <a:xfrm>
            <a:off x="4280793" y="183515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1" i="0" sz="1300">
                <a:solidFill>
                  <a:srgbClr val="F5F3EF"/>
                </a:solidFill>
                <a:latin typeface="Barlow"/>
              </a:rPr>
              <a:t>Gross MW</a:t>
            </a:r>
          </a:p>
        </p:txBody>
      </p:sp>
      <p:sp>
        <p:nvSpPr>
          <p:cNvPr id="8" name="TextBox 7"/>
          <p:cNvSpPr txBox="1"/>
          <p:nvPr/>
        </p:nvSpPr>
        <p:spPr>
          <a:xfrm>
            <a:off x="5485507" y="183515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F5F3EF"/>
                </a:solidFill>
                <a:latin typeface="Barlow"/>
              </a:rPr>
              <a:t>Constructor · next check</a:t>
            </a:r>
          </a:p>
        </p:txBody>
      </p:sp>
      <p:sp>
        <p:nvSpPr>
          <p:cNvPr id="9" name="TextBox 8"/>
          <p:cNvSpPr txBox="1"/>
          <p:nvPr/>
        </p:nvSpPr>
        <p:spPr>
          <a:xfrm>
            <a:off x="9656167" y="183515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1" i="0" sz="1300">
                <a:solidFill>
                  <a:srgbClr val="F5F3EF"/>
                </a:solidFill>
                <a:latin typeface="Barlow"/>
              </a:rPr>
              <a:t>Gross POs 27–29, $M</a:t>
            </a:r>
          </a:p>
        </p:txBody>
      </p:sp>
      <p:sp>
        <p:nvSpPr>
          <p:cNvPr id="10" name="Rectangle 9"/>
          <p:cNvSpPr/>
          <p:nvPr/>
        </p:nvSpPr>
        <p:spPr>
          <a:xfrm>
            <a:off x="825500" y="2051050"/>
            <a:ext cx="10541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850" y="205740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Homer City · IPP</a:t>
            </a:r>
          </a:p>
        </p:txBody>
      </p:sp>
      <p:sp>
        <p:nvSpPr>
          <p:cNvPr id="12" name="TextBox 11"/>
          <p:cNvSpPr txBox="1"/>
          <p:nvPr/>
        </p:nvSpPr>
        <p:spPr>
          <a:xfrm>
            <a:off x="3571974" y="205740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PA</a:t>
            </a:r>
          </a:p>
        </p:txBody>
      </p:sp>
      <p:sp>
        <p:nvSpPr>
          <p:cNvPr id="13" name="TextBox 12"/>
          <p:cNvSpPr txBox="1"/>
          <p:nvPr/>
        </p:nvSpPr>
        <p:spPr>
          <a:xfrm>
            <a:off x="4280793" y="205740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4,396</a:t>
            </a:r>
          </a:p>
        </p:txBody>
      </p:sp>
      <p:sp>
        <p:nvSpPr>
          <p:cNvPr id="14" name="TextBox 13"/>
          <p:cNvSpPr txBox="1"/>
          <p:nvPr/>
        </p:nvSpPr>
        <p:spPr>
          <a:xfrm>
            <a:off x="5485507" y="205740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Kiewit: campus phase releases</a:t>
            </a:r>
          </a:p>
        </p:txBody>
      </p:sp>
      <p:sp>
        <p:nvSpPr>
          <p:cNvPr id="15" name="TextBox 14"/>
          <p:cNvSpPr txBox="1"/>
          <p:nvPr/>
        </p:nvSpPr>
        <p:spPr>
          <a:xfrm>
            <a:off x="9656167" y="205740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21.9</a:t>
            </a:r>
          </a:p>
        </p:txBody>
      </p:sp>
      <p:sp>
        <p:nvSpPr>
          <p:cNvPr id="16" name="Rectangle 15"/>
          <p:cNvSpPr/>
          <p:nvPr/>
        </p:nvSpPr>
        <p:spPr>
          <a:xfrm>
            <a:off x="825500" y="2273300"/>
            <a:ext cx="10541000" cy="2095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850" y="227965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Roxboro CC1 + CC2 · IOU</a:t>
            </a:r>
          </a:p>
        </p:txBody>
      </p:sp>
      <p:sp>
        <p:nvSpPr>
          <p:cNvPr id="18" name="TextBox 17"/>
          <p:cNvSpPr txBox="1"/>
          <p:nvPr/>
        </p:nvSpPr>
        <p:spPr>
          <a:xfrm>
            <a:off x="3571974" y="227965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NC</a:t>
            </a:r>
          </a:p>
        </p:txBody>
      </p:sp>
      <p:sp>
        <p:nvSpPr>
          <p:cNvPr id="19" name="TextBox 18"/>
          <p:cNvSpPr txBox="1"/>
          <p:nvPr/>
        </p:nvSpPr>
        <p:spPr>
          <a:xfrm>
            <a:off x="4280793" y="227965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2,549</a:t>
            </a:r>
          </a:p>
        </p:txBody>
      </p:sp>
      <p:sp>
        <p:nvSpPr>
          <p:cNvPr id="20" name="TextBox 19"/>
          <p:cNvSpPr txBox="1"/>
          <p:nvPr/>
        </p:nvSpPr>
        <p:spPr>
          <a:xfrm>
            <a:off x="5485507" y="227965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Zachry: separate unit packages</a:t>
            </a:r>
          </a:p>
        </p:txBody>
      </p:sp>
      <p:sp>
        <p:nvSpPr>
          <p:cNvPr id="21" name="TextBox 20"/>
          <p:cNvSpPr txBox="1"/>
          <p:nvPr/>
        </p:nvSpPr>
        <p:spPr>
          <a:xfrm>
            <a:off x="9656167" y="227965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13.0</a:t>
            </a:r>
          </a:p>
        </p:txBody>
      </p:sp>
      <p:sp>
        <p:nvSpPr>
          <p:cNvPr id="22" name="Rectangle 21"/>
          <p:cNvSpPr/>
          <p:nvPr/>
        </p:nvSpPr>
        <p:spPr>
          <a:xfrm>
            <a:off x="825500" y="2495550"/>
            <a:ext cx="10541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850" y="250190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Bison 1 + 2 · co-op</a:t>
            </a:r>
          </a:p>
        </p:txBody>
      </p:sp>
      <p:sp>
        <p:nvSpPr>
          <p:cNvPr id="24" name="TextBox 23"/>
          <p:cNvSpPr txBox="1"/>
          <p:nvPr/>
        </p:nvSpPr>
        <p:spPr>
          <a:xfrm>
            <a:off x="3571974" y="250190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ND</a:t>
            </a:r>
          </a:p>
        </p:txBody>
      </p:sp>
      <p:sp>
        <p:nvSpPr>
          <p:cNvPr id="25" name="TextBox 24"/>
          <p:cNvSpPr txBox="1"/>
          <p:nvPr/>
        </p:nvSpPr>
        <p:spPr>
          <a:xfrm>
            <a:off x="4280793" y="250190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1,458</a:t>
            </a:r>
          </a:p>
        </p:txBody>
      </p:sp>
      <p:sp>
        <p:nvSpPr>
          <p:cNvPr id="26" name="TextBox 25"/>
          <p:cNvSpPr txBox="1"/>
          <p:nvPr/>
        </p:nvSpPr>
        <p:spPr>
          <a:xfrm>
            <a:off x="5485507" y="250190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PCL electrical buyer; B&amp;M engineering</a:t>
            </a:r>
          </a:p>
        </p:txBody>
      </p:sp>
      <p:sp>
        <p:nvSpPr>
          <p:cNvPr id="27" name="TextBox 26"/>
          <p:cNvSpPr txBox="1"/>
          <p:nvPr/>
        </p:nvSpPr>
        <p:spPr>
          <a:xfrm>
            <a:off x="9656167" y="250190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8.0</a:t>
            </a:r>
          </a:p>
        </p:txBody>
      </p:sp>
      <p:sp>
        <p:nvSpPr>
          <p:cNvPr id="28" name="Rectangle 27"/>
          <p:cNvSpPr/>
          <p:nvPr/>
        </p:nvSpPr>
        <p:spPr>
          <a:xfrm>
            <a:off x="825500" y="2717800"/>
            <a:ext cx="10541000" cy="2095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850" y="272415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CPV Basin Ranch · IPP</a:t>
            </a:r>
          </a:p>
        </p:txBody>
      </p:sp>
      <p:sp>
        <p:nvSpPr>
          <p:cNvPr id="30" name="TextBox 29"/>
          <p:cNvSpPr txBox="1"/>
          <p:nvPr/>
        </p:nvSpPr>
        <p:spPr>
          <a:xfrm>
            <a:off x="3571974" y="272415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TX</a:t>
            </a:r>
          </a:p>
        </p:txBody>
      </p:sp>
      <p:sp>
        <p:nvSpPr>
          <p:cNvPr id="31" name="TextBox 30"/>
          <p:cNvSpPr txBox="1"/>
          <p:nvPr/>
        </p:nvSpPr>
        <p:spPr>
          <a:xfrm>
            <a:off x="4280793" y="272415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1,345</a:t>
            </a:r>
          </a:p>
        </p:txBody>
      </p:sp>
      <p:sp>
        <p:nvSpPr>
          <p:cNvPr id="32" name="TextBox 31"/>
          <p:cNvSpPr txBox="1"/>
          <p:nvPr/>
        </p:nvSpPr>
        <p:spPr>
          <a:xfrm>
            <a:off x="5485507" y="272415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Gemma: remaining purchase releases</a:t>
            </a:r>
          </a:p>
        </p:txBody>
      </p:sp>
      <p:sp>
        <p:nvSpPr>
          <p:cNvPr id="33" name="TextBox 32"/>
          <p:cNvSpPr txBox="1"/>
          <p:nvPr/>
        </p:nvSpPr>
        <p:spPr>
          <a:xfrm>
            <a:off x="9656167" y="272415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7.8</a:t>
            </a:r>
          </a:p>
        </p:txBody>
      </p:sp>
      <p:sp>
        <p:nvSpPr>
          <p:cNvPr id="34" name="Rectangle 33"/>
          <p:cNvSpPr/>
          <p:nvPr/>
        </p:nvSpPr>
        <p:spPr>
          <a:xfrm>
            <a:off x="825500" y="2940050"/>
            <a:ext cx="10541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1850" y="294640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Smarr · co-op</a:t>
            </a:r>
          </a:p>
        </p:txBody>
      </p:sp>
      <p:sp>
        <p:nvSpPr>
          <p:cNvPr id="36" name="TextBox 35"/>
          <p:cNvSpPr txBox="1"/>
          <p:nvPr/>
        </p:nvSpPr>
        <p:spPr>
          <a:xfrm>
            <a:off x="3571974" y="294640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GA</a:t>
            </a:r>
          </a:p>
        </p:txBody>
      </p:sp>
      <p:sp>
        <p:nvSpPr>
          <p:cNvPr id="37" name="TextBox 36"/>
          <p:cNvSpPr txBox="1"/>
          <p:nvPr/>
        </p:nvSpPr>
        <p:spPr>
          <a:xfrm>
            <a:off x="4280793" y="294640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1,335</a:t>
            </a:r>
          </a:p>
        </p:txBody>
      </p:sp>
      <p:sp>
        <p:nvSpPr>
          <p:cNvPr id="38" name="TextBox 37"/>
          <p:cNvSpPr txBox="1"/>
          <p:nvPr/>
        </p:nvSpPr>
        <p:spPr>
          <a:xfrm>
            <a:off x="5485507" y="294640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TIC: specification and cable schedule</a:t>
            </a:r>
          </a:p>
        </p:txBody>
      </p:sp>
      <p:sp>
        <p:nvSpPr>
          <p:cNvPr id="39" name="TextBox 38"/>
          <p:cNvSpPr txBox="1"/>
          <p:nvPr/>
        </p:nvSpPr>
        <p:spPr>
          <a:xfrm>
            <a:off x="9656167" y="294640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7.8</a:t>
            </a:r>
          </a:p>
        </p:txBody>
      </p:sp>
      <p:sp>
        <p:nvSpPr>
          <p:cNvPr id="40" name="Rectangle 39"/>
          <p:cNvSpPr/>
          <p:nvPr/>
        </p:nvSpPr>
        <p:spPr>
          <a:xfrm>
            <a:off x="825500" y="3162300"/>
            <a:ext cx="10541000" cy="2095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1850" y="316865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Sandow Lakes · IPP</a:t>
            </a:r>
          </a:p>
        </p:txBody>
      </p:sp>
      <p:sp>
        <p:nvSpPr>
          <p:cNvPr id="42" name="TextBox 41"/>
          <p:cNvSpPr txBox="1"/>
          <p:nvPr/>
        </p:nvSpPr>
        <p:spPr>
          <a:xfrm>
            <a:off x="3571974" y="316865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TX</a:t>
            </a:r>
          </a:p>
        </p:txBody>
      </p:sp>
      <p:sp>
        <p:nvSpPr>
          <p:cNvPr id="43" name="TextBox 42"/>
          <p:cNvSpPr txBox="1"/>
          <p:nvPr/>
        </p:nvSpPr>
        <p:spPr>
          <a:xfrm>
            <a:off x="4280793" y="316865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1,200</a:t>
            </a:r>
          </a:p>
        </p:txBody>
      </p:sp>
      <p:sp>
        <p:nvSpPr>
          <p:cNvPr id="44" name="TextBox 43"/>
          <p:cNvSpPr txBox="1"/>
          <p:nvPr/>
        </p:nvSpPr>
        <p:spPr>
          <a:xfrm>
            <a:off x="5485507" y="316865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Gemma: whether bulk cable is awarded</a:t>
            </a:r>
          </a:p>
        </p:txBody>
      </p:sp>
      <p:sp>
        <p:nvSpPr>
          <p:cNvPr id="45" name="TextBox 44"/>
          <p:cNvSpPr txBox="1"/>
          <p:nvPr/>
        </p:nvSpPr>
        <p:spPr>
          <a:xfrm>
            <a:off x="9656167" y="316865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5.2</a:t>
            </a:r>
          </a:p>
        </p:txBody>
      </p:sp>
      <p:sp>
        <p:nvSpPr>
          <p:cNvPr id="46" name="Rectangle 45"/>
          <p:cNvSpPr/>
          <p:nvPr/>
        </p:nvSpPr>
        <p:spPr>
          <a:xfrm>
            <a:off x="825500" y="3384550"/>
            <a:ext cx="10541000" cy="2095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1850" y="3390900"/>
            <a:ext cx="2714724"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Lowman LEC 3 · co-op</a:t>
            </a:r>
          </a:p>
        </p:txBody>
      </p:sp>
      <p:sp>
        <p:nvSpPr>
          <p:cNvPr id="48" name="TextBox 47"/>
          <p:cNvSpPr txBox="1"/>
          <p:nvPr/>
        </p:nvSpPr>
        <p:spPr>
          <a:xfrm>
            <a:off x="3571974" y="3390900"/>
            <a:ext cx="721519"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AL</a:t>
            </a:r>
          </a:p>
        </p:txBody>
      </p:sp>
      <p:sp>
        <p:nvSpPr>
          <p:cNvPr id="49" name="TextBox 48"/>
          <p:cNvSpPr txBox="1"/>
          <p:nvPr/>
        </p:nvSpPr>
        <p:spPr>
          <a:xfrm>
            <a:off x="4280793" y="3390900"/>
            <a:ext cx="1179314"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401</a:t>
            </a:r>
          </a:p>
        </p:txBody>
      </p:sp>
      <p:sp>
        <p:nvSpPr>
          <p:cNvPr id="50" name="TextBox 49"/>
          <p:cNvSpPr txBox="1"/>
          <p:nvPr/>
        </p:nvSpPr>
        <p:spPr>
          <a:xfrm>
            <a:off x="5485507" y="3390900"/>
            <a:ext cx="4183360" cy="198120"/>
          </a:xfrm>
          <a:prstGeom prst="rect">
            <a:avLst/>
          </a:prstGeom>
          <a:noFill/>
        </p:spPr>
        <p:txBody>
          <a:bodyPr wrap="none" lIns="0" rIns="0" tIns="0" bIns="0" anchor="t">
            <a:noAutofit/>
          </a:bodyPr>
          <a:lstStyle/>
          <a:p>
            <a:pPr algn="l">
              <a:lnSpc>
                <a:spcPts val="1560"/>
              </a:lnSpc>
              <a:spcBef>
                <a:spcPts val="0"/>
              </a:spcBef>
              <a:spcAft>
                <a:spcPts val="0"/>
              </a:spcAft>
            </a:pPr>
            <a:r>
              <a:rPr b="0" i="0" sz="1300">
                <a:solidFill>
                  <a:srgbClr val="141619"/>
                </a:solidFill>
                <a:latin typeface="Barlow"/>
              </a:rPr>
              <a:t>B&amp;M: simple-cycle expansion scope</a:t>
            </a:r>
          </a:p>
        </p:txBody>
      </p:sp>
      <p:sp>
        <p:nvSpPr>
          <p:cNvPr id="51" name="TextBox 50"/>
          <p:cNvSpPr txBox="1"/>
          <p:nvPr/>
        </p:nvSpPr>
        <p:spPr>
          <a:xfrm>
            <a:off x="9656167" y="3390900"/>
            <a:ext cx="1703983" cy="198120"/>
          </a:xfrm>
          <a:prstGeom prst="rect">
            <a:avLst/>
          </a:prstGeom>
          <a:noFill/>
        </p:spPr>
        <p:txBody>
          <a:bodyPr wrap="none" lIns="0" rIns="0" tIns="0" bIns="0" anchor="t">
            <a:noAutofit/>
          </a:bodyPr>
          <a:lstStyle/>
          <a:p>
            <a:pPr algn="r">
              <a:lnSpc>
                <a:spcPts val="1560"/>
              </a:lnSpc>
              <a:spcBef>
                <a:spcPts val="0"/>
              </a:spcBef>
              <a:spcAft>
                <a:spcPts val="0"/>
              </a:spcAft>
            </a:pPr>
            <a:r>
              <a:rPr b="0" i="0" sz="1300">
                <a:solidFill>
                  <a:srgbClr val="141619"/>
                </a:solidFill>
                <a:latin typeface="Barlow"/>
              </a:rPr>
              <a:t>2.3</a:t>
            </a:r>
          </a:p>
        </p:txBody>
      </p:sp>
      <p:sp>
        <p:nvSpPr>
          <p:cNvPr id="52" name="TextBox 51"/>
          <p:cNvSpPr txBox="1"/>
          <p:nvPr/>
        </p:nvSpPr>
        <p:spPr>
          <a:xfrm>
            <a:off x="812800" y="6267450"/>
            <a:ext cx="97978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Source: Southwire PowerGen model, Sep 11, 2026. Rounded gross MW, unweighted; modeled POs shown gross, before completion probability.</a:t>
            </a:r>
          </a:p>
        </p:txBody>
      </p:sp>
      <p:sp>
        <p:nvSpPr>
          <p:cNvPr id="53" name="TextBox 52"/>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13</a:t>
            </a:r>
          </a:p>
        </p:txBody>
      </p:sp>
      <p:sp>
        <p:nvSpPr>
          <p:cNvPr id="54" name="Rectangle 53"/>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56" name="TextBox 55"/>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57"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SOUTHWIRE PROGRESS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FROM DISCOVERY TO EXECUTION IN SIX MONTHS</a:t>
            </a:r>
          </a:p>
        </p:txBody>
      </p:sp>
      <p:sp>
        <p:nvSpPr>
          <p:cNvPr id="4" name="Rectangle 3"/>
          <p:cNvSpPr/>
          <p:nvPr/>
        </p:nvSpPr>
        <p:spPr>
          <a:xfrm>
            <a:off x="812800" y="1892300"/>
            <a:ext cx="2508250" cy="1914426"/>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892300"/>
            <a:ext cx="25082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159000"/>
            <a:ext cx="210185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B4581F"/>
                </a:solidFill>
                <a:latin typeface="Barlow Condensed ExtraBold"/>
              </a:rPr>
              <a:t>386</a:t>
            </a:r>
          </a:p>
        </p:txBody>
      </p:sp>
      <p:sp>
        <p:nvSpPr>
          <p:cNvPr id="7" name="TextBox 6"/>
          <p:cNvSpPr txBox="1"/>
          <p:nvPr/>
        </p:nvSpPr>
        <p:spPr>
          <a:xfrm>
            <a:off x="1016000" y="2783780"/>
            <a:ext cx="210185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141619"/>
                </a:solidFill>
                <a:latin typeface="Barlow Condensed ExtraBold"/>
              </a:rPr>
              <a:t>PROJECTS TRACKED</a:t>
            </a:r>
          </a:p>
        </p:txBody>
      </p:sp>
      <p:sp>
        <p:nvSpPr>
          <p:cNvPr id="8" name="TextBox 7"/>
          <p:cNvSpPr txBox="1"/>
          <p:nvPr/>
        </p:nvSpPr>
        <p:spPr>
          <a:xfrm>
            <a:off x="1016000" y="3120330"/>
            <a:ext cx="2164906"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New gas generation in 40 states, all owner types</a:t>
            </a:r>
          </a:p>
        </p:txBody>
      </p:sp>
      <p:sp>
        <p:nvSpPr>
          <p:cNvPr id="9" name="Rectangle 8"/>
          <p:cNvSpPr/>
          <p:nvPr/>
        </p:nvSpPr>
        <p:spPr>
          <a:xfrm>
            <a:off x="3498850" y="1892300"/>
            <a:ext cx="2508250" cy="1914426"/>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98850" y="1892300"/>
            <a:ext cx="25082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2050" y="2159000"/>
            <a:ext cx="210185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B4581F"/>
                </a:solidFill>
                <a:latin typeface="Barlow Condensed ExtraBold"/>
              </a:rPr>
              <a:t>17</a:t>
            </a:r>
          </a:p>
        </p:txBody>
      </p:sp>
      <p:sp>
        <p:nvSpPr>
          <p:cNvPr id="12" name="TextBox 11"/>
          <p:cNvSpPr txBox="1"/>
          <p:nvPr/>
        </p:nvSpPr>
        <p:spPr>
          <a:xfrm>
            <a:off x="3702050" y="2783780"/>
            <a:ext cx="210185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141619"/>
                </a:solidFill>
                <a:latin typeface="Barlow Condensed ExtraBold"/>
              </a:rPr>
              <a:t>PRIORITY PURSUITS</a:t>
            </a:r>
          </a:p>
        </p:txBody>
      </p:sp>
      <p:sp>
        <p:nvSpPr>
          <p:cNvPr id="13" name="TextBox 12"/>
          <p:cNvSpPr txBox="1"/>
          <p:nvPr/>
        </p:nvSpPr>
        <p:spPr>
          <a:xfrm>
            <a:off x="3702050" y="3120330"/>
            <a:ext cx="2164906"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Validated, about $200M of cable potential</a:t>
            </a:r>
          </a:p>
        </p:txBody>
      </p:sp>
      <p:sp>
        <p:nvSpPr>
          <p:cNvPr id="14" name="Rectangle 13"/>
          <p:cNvSpPr/>
          <p:nvPr/>
        </p:nvSpPr>
        <p:spPr>
          <a:xfrm>
            <a:off x="6184900" y="1892300"/>
            <a:ext cx="2508250" cy="1914426"/>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4900" y="1892300"/>
            <a:ext cx="25082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100" y="2159000"/>
            <a:ext cx="210185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E39A5F"/>
                </a:solidFill>
                <a:latin typeface="Barlow Condensed ExtraBold"/>
              </a:rPr>
              <a:t>$50M+</a:t>
            </a:r>
          </a:p>
        </p:txBody>
      </p:sp>
      <p:sp>
        <p:nvSpPr>
          <p:cNvPr id="17" name="TextBox 16"/>
          <p:cNvSpPr txBox="1"/>
          <p:nvPr/>
        </p:nvSpPr>
        <p:spPr>
          <a:xfrm>
            <a:off x="6388100" y="2783780"/>
            <a:ext cx="210185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F5F3EF"/>
                </a:solidFill>
                <a:latin typeface="Barlow Condensed ExtraBold"/>
              </a:rPr>
              <a:t>BOOKED IN Q3</a:t>
            </a:r>
          </a:p>
        </p:txBody>
      </p:sp>
      <p:sp>
        <p:nvSpPr>
          <p:cNvPr id="18" name="TextBox 17"/>
          <p:cNvSpPr txBox="1"/>
          <p:nvPr/>
        </p:nvSpPr>
        <p:spPr>
          <a:xfrm>
            <a:off x="6388100" y="3120330"/>
            <a:ext cx="210185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$30M in September alone</a:t>
            </a:r>
          </a:p>
        </p:txBody>
      </p:sp>
      <p:sp>
        <p:nvSpPr>
          <p:cNvPr id="19" name="Rectangle 18"/>
          <p:cNvSpPr/>
          <p:nvPr/>
        </p:nvSpPr>
        <p:spPr>
          <a:xfrm>
            <a:off x="8870950" y="1892300"/>
            <a:ext cx="2508250" cy="1914426"/>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70950" y="1892300"/>
            <a:ext cx="250825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4150" y="2159000"/>
            <a:ext cx="210185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B4581F"/>
                </a:solidFill>
                <a:latin typeface="Barlow Condensed ExtraBold"/>
              </a:rPr>
              <a:t>$5M</a:t>
            </a:r>
          </a:p>
        </p:txBody>
      </p:sp>
      <p:sp>
        <p:nvSpPr>
          <p:cNvPr id="22" name="TextBox 21"/>
          <p:cNvSpPr txBox="1"/>
          <p:nvPr/>
        </p:nvSpPr>
        <p:spPr>
          <a:xfrm>
            <a:off x="9074150" y="2783780"/>
            <a:ext cx="2164906" cy="520700"/>
          </a:xfrm>
          <a:prstGeom prst="rect">
            <a:avLst/>
          </a:prstGeom>
          <a:noFill/>
        </p:spPr>
        <p:txBody>
          <a:bodyPr wrap="square" lIns="0" rIns="0" tIns="0" bIns="0" anchor="t">
            <a:noAutofit/>
          </a:bodyPr>
          <a:lstStyle/>
          <a:p>
            <a:pPr algn="l">
              <a:lnSpc>
                <a:spcPts val="2039"/>
              </a:lnSpc>
              <a:spcBef>
                <a:spcPts val="0"/>
              </a:spcBef>
              <a:spcAft>
                <a:spcPts val="0"/>
              </a:spcAft>
            </a:pPr>
            <a:r>
              <a:rPr b="0" i="0" sz="1700">
                <a:solidFill>
                  <a:srgbClr val="141619"/>
                </a:solidFill>
                <a:latin typeface="Barlow Condensed ExtraBold"/>
              </a:rPr>
              <a:t>ANIXTER POWER SOLUTIONS</a:t>
            </a:r>
          </a:p>
        </p:txBody>
      </p:sp>
      <p:sp>
        <p:nvSpPr>
          <p:cNvPr id="23" name="TextBox 22"/>
          <p:cNvSpPr txBox="1"/>
          <p:nvPr/>
        </p:nvSpPr>
        <p:spPr>
          <a:xfrm>
            <a:off x="9074150" y="3380680"/>
            <a:ext cx="210185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Booked in Q3</a:t>
            </a:r>
          </a:p>
        </p:txBody>
      </p:sp>
      <p:sp>
        <p:nvSpPr>
          <p:cNvPr id="24" name="TextBox 23"/>
          <p:cNvSpPr txBox="1"/>
          <p:nvPr/>
        </p:nvSpPr>
        <p:spPr>
          <a:xfrm>
            <a:off x="812800" y="4111526"/>
            <a:ext cx="9810750" cy="533400"/>
          </a:xfrm>
          <a:prstGeom prst="rect">
            <a:avLst/>
          </a:prstGeom>
          <a:noFill/>
        </p:spPr>
        <p:txBody>
          <a:bodyPr wrap="square" lIns="0" rIns="0" tIns="0" bIns="0" anchor="t">
            <a:noAutofit/>
          </a:bodyPr>
          <a:lstStyle/>
          <a:p>
            <a:pPr algn="l">
              <a:lnSpc>
                <a:spcPts val="2100"/>
              </a:lnSpc>
              <a:spcBef>
                <a:spcPts val="0"/>
              </a:spcBef>
              <a:spcAft>
                <a:spcPts val="0"/>
              </a:spcAft>
            </a:pPr>
            <a:r>
              <a:rPr b="0" i="0" sz="1500">
                <a:solidFill>
                  <a:srgbClr val="4A525B"/>
                </a:solidFill>
                <a:latin typeface="Barlow"/>
              </a:rPr>
              <a:t>Power Generation became its own Southwire vertical in early 2026. Owner conversations showed that cable is specified and bought through EPCs and package builders, so the pursuit model now follows that path.</a:t>
            </a:r>
          </a:p>
        </p:txBody>
      </p:sp>
      <p:sp>
        <p:nvSpPr>
          <p:cNvPr id="25" name="TextBox 24"/>
          <p:cNvSpPr txBox="1"/>
          <p:nvPr/>
        </p:nvSpPr>
        <p:spPr>
          <a:xfrm>
            <a:off x="812800" y="6267450"/>
            <a:ext cx="2553522"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INTERNAL FIGURES, 2026</a:t>
            </a:r>
          </a:p>
        </p:txBody>
      </p:sp>
      <p:sp>
        <p:nvSpPr>
          <p:cNvPr id="26" name="TextBox 25"/>
          <p:cNvSpPr txBox="1"/>
          <p:nvPr/>
        </p:nvSpPr>
        <p:spPr>
          <a:xfrm>
            <a:off x="11242080" y="6267450"/>
            <a:ext cx="170748"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14</a:t>
            </a:r>
          </a:p>
        </p:txBody>
      </p:sp>
      <p:sp>
        <p:nvSpPr>
          <p:cNvPr id="27" name="Rectangle 26"/>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9" name="TextBox 28"/>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0"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GO-TO-MARKET MODEL</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F5F3EF"/>
                </a:solidFill>
                <a:latin typeface="Barlow Condensed ExtraBold"/>
              </a:rPr>
              <a:t>WE FOLLOW THE WAY THE PROJECT IS BOUGHT</a:t>
            </a:r>
          </a:p>
        </p:txBody>
      </p:sp>
      <p:sp>
        <p:nvSpPr>
          <p:cNvPr id="4" name="Rectangle 3"/>
          <p:cNvSpPr/>
          <p:nvPr/>
        </p:nvSpPr>
        <p:spPr>
          <a:xfrm>
            <a:off x="812800" y="1943100"/>
            <a:ext cx="1615480" cy="230495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943100"/>
            <a:ext cx="1615480" cy="508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5200" y="2171700"/>
            <a:ext cx="1350000" cy="609600"/>
          </a:xfrm>
          <a:prstGeom prst="rect">
            <a:avLst/>
          </a:prstGeom>
          <a:noFill/>
        </p:spPr>
        <p:txBody>
          <a:bodyPr wrap="square" lIns="0" rIns="0" tIns="0" bIns="0" anchor="t">
            <a:noAutofit/>
          </a:bodyPr>
          <a:lstStyle/>
          <a:p>
            <a:pPr algn="l">
              <a:lnSpc>
                <a:spcPts val="2400"/>
              </a:lnSpc>
              <a:spcBef>
                <a:spcPts val="0"/>
              </a:spcBef>
              <a:spcAft>
                <a:spcPts val="0"/>
              </a:spcAft>
            </a:pPr>
            <a:r>
              <a:rPr b="0" i="0" sz="2000">
                <a:solidFill>
                  <a:srgbClr val="F5F3EF"/>
                </a:solidFill>
                <a:latin typeface="Barlow Condensed ExtraBold"/>
              </a:rPr>
              <a:t>OWNER · DEVELOPER</a:t>
            </a:r>
          </a:p>
        </p:txBody>
      </p:sp>
      <p:sp>
        <p:nvSpPr>
          <p:cNvPr id="7" name="TextBox 6"/>
          <p:cNvSpPr txBox="1"/>
          <p:nvPr/>
        </p:nvSpPr>
        <p:spPr>
          <a:xfrm>
            <a:off x="965200" y="2870200"/>
            <a:ext cx="1350000"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Cares about capital, ROI and COD risk.</a:t>
            </a:r>
          </a:p>
        </p:txBody>
      </p:sp>
      <p:sp>
        <p:nvSpPr>
          <p:cNvPr id="8" name="Right Arrow 7"/>
          <p:cNvSpPr/>
          <p:nvPr/>
        </p:nvSpPr>
        <p:spPr>
          <a:xfrm>
            <a:off x="2529880" y="2968526"/>
            <a:ext cx="355600" cy="2540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87080" y="1943100"/>
            <a:ext cx="1615480" cy="230495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87080" y="1943100"/>
            <a:ext cx="1615480" cy="50800"/>
          </a:xfrm>
          <a:prstGeom prst="rect">
            <a:avLst/>
          </a:prstGeom>
          <a:solidFill>
            <a:srgbClr val="6E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9480" y="2171700"/>
            <a:ext cx="1350000" cy="609600"/>
          </a:xfrm>
          <a:prstGeom prst="rect">
            <a:avLst/>
          </a:prstGeom>
          <a:noFill/>
        </p:spPr>
        <p:txBody>
          <a:bodyPr wrap="square" lIns="0" rIns="0" tIns="0" bIns="0" anchor="t">
            <a:noAutofit/>
          </a:bodyPr>
          <a:lstStyle/>
          <a:p>
            <a:pPr algn="l">
              <a:lnSpc>
                <a:spcPts val="2400"/>
              </a:lnSpc>
              <a:spcBef>
                <a:spcPts val="0"/>
              </a:spcBef>
              <a:spcAft>
                <a:spcPts val="0"/>
              </a:spcAft>
            </a:pPr>
            <a:r>
              <a:rPr b="0" i="0" sz="2000">
                <a:solidFill>
                  <a:srgbClr val="F5F3EF"/>
                </a:solidFill>
                <a:latin typeface="Barlow Condensed ExtraBold"/>
              </a:rPr>
              <a:t>OWNER'S ENGINEER</a:t>
            </a:r>
          </a:p>
        </p:txBody>
      </p:sp>
      <p:sp>
        <p:nvSpPr>
          <p:cNvPr id="12" name="TextBox 11"/>
          <p:cNvSpPr txBox="1"/>
          <p:nvPr/>
        </p:nvSpPr>
        <p:spPr>
          <a:xfrm>
            <a:off x="3139480" y="2870200"/>
            <a:ext cx="1350000" cy="1200051"/>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Writes the spec and approves vendors. Southwire engages here.</a:t>
            </a:r>
          </a:p>
        </p:txBody>
      </p:sp>
      <p:sp>
        <p:nvSpPr>
          <p:cNvPr id="13" name="Right Arrow 12"/>
          <p:cNvSpPr/>
          <p:nvPr/>
        </p:nvSpPr>
        <p:spPr>
          <a:xfrm>
            <a:off x="4704159" y="2968526"/>
            <a:ext cx="355600" cy="2540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1359" y="1943100"/>
            <a:ext cx="1615480" cy="230495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61359" y="1943100"/>
            <a:ext cx="161548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13759" y="2171700"/>
            <a:ext cx="1310680" cy="304800"/>
          </a:xfrm>
          <a:prstGeom prst="rect">
            <a:avLst/>
          </a:prstGeom>
          <a:noFill/>
        </p:spPr>
        <p:txBody>
          <a:bodyPr wrap="none" lIns="0" rIns="0" tIns="0" bIns="0" anchor="t">
            <a:noAutofit/>
          </a:bodyPr>
          <a:lstStyle/>
          <a:p>
            <a:pPr algn="l">
              <a:lnSpc>
                <a:spcPts val="2400"/>
              </a:lnSpc>
              <a:spcBef>
                <a:spcPts val="0"/>
              </a:spcBef>
              <a:spcAft>
                <a:spcPts val="0"/>
              </a:spcAft>
            </a:pPr>
            <a:r>
              <a:rPr b="0" i="0" sz="2000">
                <a:solidFill>
                  <a:srgbClr val="F5F3EF"/>
                </a:solidFill>
                <a:latin typeface="Barlow Condensed ExtraBold"/>
              </a:rPr>
              <a:t>EPC</a:t>
            </a:r>
          </a:p>
        </p:txBody>
      </p:sp>
      <p:sp>
        <p:nvSpPr>
          <p:cNvPr id="17" name="TextBox 16"/>
          <p:cNvSpPr txBox="1"/>
          <p:nvPr/>
        </p:nvSpPr>
        <p:spPr>
          <a:xfrm>
            <a:off x="5313759" y="2565400"/>
            <a:ext cx="1350000"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Builds the plant and buys the field cable.</a:t>
            </a:r>
          </a:p>
        </p:txBody>
      </p:sp>
      <p:sp>
        <p:nvSpPr>
          <p:cNvPr id="18" name="Right Arrow 17"/>
          <p:cNvSpPr/>
          <p:nvPr/>
        </p:nvSpPr>
        <p:spPr>
          <a:xfrm>
            <a:off x="6878439" y="2968526"/>
            <a:ext cx="355600" cy="2540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35639" y="1943100"/>
            <a:ext cx="1615480" cy="2304951"/>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5639" y="1943100"/>
            <a:ext cx="1615480" cy="5080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039" y="2171700"/>
            <a:ext cx="1350000" cy="609600"/>
          </a:xfrm>
          <a:prstGeom prst="rect">
            <a:avLst/>
          </a:prstGeom>
          <a:noFill/>
        </p:spPr>
        <p:txBody>
          <a:bodyPr wrap="square" lIns="0" rIns="0" tIns="0" bIns="0" anchor="t">
            <a:noAutofit/>
          </a:bodyPr>
          <a:lstStyle/>
          <a:p>
            <a:pPr algn="l">
              <a:lnSpc>
                <a:spcPts val="2400"/>
              </a:lnSpc>
              <a:spcBef>
                <a:spcPts val="0"/>
              </a:spcBef>
              <a:spcAft>
                <a:spcPts val="0"/>
              </a:spcAft>
            </a:pPr>
            <a:r>
              <a:rPr b="0" i="0" sz="2000">
                <a:solidFill>
                  <a:srgbClr val="F5F3EF"/>
                </a:solidFill>
                <a:latin typeface="Barlow Condensed ExtraBold"/>
              </a:rPr>
              <a:t>OEM · PACKAGE</a:t>
            </a:r>
          </a:p>
        </p:txBody>
      </p:sp>
      <p:sp>
        <p:nvSpPr>
          <p:cNvPr id="22" name="TextBox 21"/>
          <p:cNvSpPr txBox="1"/>
          <p:nvPr/>
        </p:nvSpPr>
        <p:spPr>
          <a:xfrm>
            <a:off x="7488039" y="2870200"/>
            <a:ext cx="1350000" cy="960041"/>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Builds modular equipment. Buys cable before the EPC RFQ.</a:t>
            </a:r>
          </a:p>
        </p:txBody>
      </p:sp>
      <p:sp>
        <p:nvSpPr>
          <p:cNvPr id="23" name="Right Arrow 22"/>
          <p:cNvSpPr/>
          <p:nvPr/>
        </p:nvSpPr>
        <p:spPr>
          <a:xfrm>
            <a:off x="9052719" y="2968526"/>
            <a:ext cx="355600" cy="254000"/>
          </a:xfrm>
          <a:prstGeom prst="rightArrow">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09919" y="1943100"/>
            <a:ext cx="1869480" cy="2304951"/>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919" y="1943100"/>
            <a:ext cx="1869480" cy="5080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62319" y="2171700"/>
            <a:ext cx="1683960" cy="304800"/>
          </a:xfrm>
          <a:prstGeom prst="rect">
            <a:avLst/>
          </a:prstGeom>
          <a:noFill/>
        </p:spPr>
        <p:txBody>
          <a:bodyPr wrap="none" lIns="0" rIns="0" tIns="0" bIns="0" anchor="t">
            <a:noAutofit/>
          </a:bodyPr>
          <a:lstStyle/>
          <a:p>
            <a:pPr algn="l">
              <a:lnSpc>
                <a:spcPts val="2400"/>
              </a:lnSpc>
              <a:spcBef>
                <a:spcPts val="0"/>
              </a:spcBef>
              <a:spcAft>
                <a:spcPts val="0"/>
              </a:spcAft>
            </a:pPr>
            <a:r>
              <a:rPr b="0" i="0" sz="2000">
                <a:solidFill>
                  <a:srgbClr val="FFFDFA"/>
                </a:solidFill>
                <a:latin typeface="Barlow Condensed ExtraBold"/>
              </a:rPr>
              <a:t>ANIXTER/WESCO</a:t>
            </a:r>
          </a:p>
        </p:txBody>
      </p:sp>
      <p:sp>
        <p:nvSpPr>
          <p:cNvPr id="27" name="TextBox 26"/>
          <p:cNvSpPr txBox="1"/>
          <p:nvPr/>
        </p:nvSpPr>
        <p:spPr>
          <a:xfrm>
            <a:off x="9662319" y="2565400"/>
            <a:ext cx="1611620"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FFFDFA"/>
                </a:solidFill>
                <a:latin typeface="Barlow"/>
              </a:rPr>
              <a:t>Fulfills, stocks and supports locally.</a:t>
            </a:r>
          </a:p>
        </p:txBody>
      </p:sp>
      <p:sp>
        <p:nvSpPr>
          <p:cNvPr id="28" name="Rectangle 27"/>
          <p:cNvSpPr/>
          <p:nvPr/>
        </p:nvSpPr>
        <p:spPr>
          <a:xfrm>
            <a:off x="812800" y="4603651"/>
            <a:ext cx="10566400" cy="468610"/>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800" y="4603651"/>
            <a:ext cx="50800" cy="46861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6000" y="4717951"/>
            <a:ext cx="10298063" cy="240030"/>
          </a:xfrm>
          <a:prstGeom prst="rect">
            <a:avLst/>
          </a:prstGeom>
          <a:noFill/>
        </p:spPr>
        <p:txBody>
          <a:bodyPr wrap="none" lIns="0" rIns="0" tIns="0" bIns="0" anchor="t">
            <a:noAutofit/>
          </a:bodyPr>
          <a:lstStyle/>
          <a:p>
            <a:pPr algn="l">
              <a:lnSpc>
                <a:spcPts val="1889"/>
              </a:lnSpc>
              <a:spcBef>
                <a:spcPts val="0"/>
              </a:spcBef>
              <a:spcAft>
                <a:spcPts val="0"/>
              </a:spcAft>
            </a:pPr>
            <a:r>
              <a:rPr b="1" i="0" sz="1400">
                <a:solidFill>
                  <a:srgbClr val="E39A5F"/>
                </a:solidFill>
                <a:latin typeface="Barlow"/>
              </a:rPr>
              <a:t>Influence flows back:</a:t>
            </a:r>
            <a:r>
              <a:rPr b="0" i="0" sz="1400">
                <a:solidFill>
                  <a:srgbClr val="F5F3EF"/>
                </a:solidFill>
                <a:latin typeface="Barlow"/>
              </a:rPr>
              <a:t> the owner's engineer and EPC shape what the owner approves, so specification wins are made upstream.</a:t>
            </a:r>
          </a:p>
        </p:txBody>
      </p:sp>
      <p:sp>
        <p:nvSpPr>
          <p:cNvPr id="31" name="TextBox 30"/>
          <p:cNvSpPr txBox="1"/>
          <p:nvPr/>
        </p:nvSpPr>
        <p:spPr>
          <a:xfrm>
            <a:off x="812800" y="5427861"/>
            <a:ext cx="10566400" cy="277495"/>
          </a:xfrm>
          <a:prstGeom prst="rect">
            <a:avLst/>
          </a:prstGeom>
          <a:noFill/>
        </p:spPr>
        <p:txBody>
          <a:bodyPr wrap="none" lIns="0" rIns="0" tIns="0" bIns="0" anchor="t">
            <a:noAutofit/>
          </a:bodyPr>
          <a:lstStyle/>
          <a:p>
            <a:pPr algn="l">
              <a:lnSpc>
                <a:spcPts val="2185"/>
              </a:lnSpc>
              <a:spcBef>
                <a:spcPts val="0"/>
              </a:spcBef>
              <a:spcAft>
                <a:spcPts val="0"/>
              </a:spcAft>
            </a:pPr>
            <a:r>
              <a:rPr b="1" i="0" sz="1900">
                <a:solidFill>
                  <a:srgbClr val="E39A5F"/>
                </a:solidFill>
                <a:latin typeface="Barlow Condensed"/>
              </a:rPr>
              <a:t>CABLE INSIDE PACKAGED EQUIPMENT IS BOUGHT MONTHS BEFORE THE EPC ISSUES ITS FIELD-CABLE RFQ.</a:t>
            </a:r>
          </a:p>
        </p:txBody>
      </p:sp>
      <p:sp>
        <p:nvSpPr>
          <p:cNvPr id="32" name="TextBox 31"/>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15</a:t>
            </a:r>
          </a:p>
        </p:txBody>
      </p:sp>
      <p:sp>
        <p:nvSpPr>
          <p:cNvPr id="33" name="Rectangle 32"/>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5" name="TextBox 34"/>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pic>
        <p:nvPicPr>
          <p:cNvPr id="36"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COVERAGE MODEL</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NAMED COVERAGE AT EVERY BUYING POINT</a:t>
            </a:r>
          </a:p>
        </p:txBody>
      </p:sp>
      <p:sp>
        <p:nvSpPr>
          <p:cNvPr id="4" name="Rectangle 3"/>
          <p:cNvSpPr/>
          <p:nvPr/>
        </p:nvSpPr>
        <p:spPr>
          <a:xfrm>
            <a:off x="825500" y="1854200"/>
            <a:ext cx="10541000" cy="2286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1850" y="1860550"/>
            <a:ext cx="2511028"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Name</a:t>
            </a:r>
          </a:p>
        </p:txBody>
      </p:sp>
      <p:sp>
        <p:nvSpPr>
          <p:cNvPr id="6" name="TextBox 5"/>
          <p:cNvSpPr txBox="1"/>
          <p:nvPr/>
        </p:nvSpPr>
        <p:spPr>
          <a:xfrm>
            <a:off x="3368278" y="1860550"/>
            <a:ext cx="4824412"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Role</a:t>
            </a:r>
          </a:p>
        </p:txBody>
      </p:sp>
      <p:sp>
        <p:nvSpPr>
          <p:cNvPr id="7" name="TextBox 6"/>
          <p:cNvSpPr txBox="1"/>
          <p:nvPr/>
        </p:nvSpPr>
        <p:spPr>
          <a:xfrm>
            <a:off x="8218091" y="1860550"/>
            <a:ext cx="3142059"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Focus</a:t>
            </a:r>
          </a:p>
        </p:txBody>
      </p:sp>
      <p:sp>
        <p:nvSpPr>
          <p:cNvPr id="8" name="Rectangle 7"/>
          <p:cNvSpPr/>
          <p:nvPr/>
        </p:nvSpPr>
        <p:spPr>
          <a:xfrm>
            <a:off x="825500" y="20955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850" y="2101850"/>
            <a:ext cx="2511028"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Stephan Hardt</a:t>
            </a:r>
          </a:p>
        </p:txBody>
      </p:sp>
      <p:sp>
        <p:nvSpPr>
          <p:cNvPr id="10" name="TextBox 9"/>
          <p:cNvSpPr txBox="1"/>
          <p:nvPr/>
        </p:nvSpPr>
        <p:spPr>
          <a:xfrm>
            <a:off x="3368278" y="2101850"/>
            <a:ext cx="4824412"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PowerGen strategy, plant model, owners and OEMs</a:t>
            </a:r>
          </a:p>
        </p:txBody>
      </p:sp>
      <p:sp>
        <p:nvSpPr>
          <p:cNvPr id="11" name="TextBox 10"/>
          <p:cNvSpPr txBox="1"/>
          <p:nvPr/>
        </p:nvSpPr>
        <p:spPr>
          <a:xfrm>
            <a:off x="8218091" y="2101850"/>
            <a:ext cx="3142059"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National</a:t>
            </a:r>
          </a:p>
        </p:txBody>
      </p:sp>
      <p:sp>
        <p:nvSpPr>
          <p:cNvPr id="12" name="Rectangle 11"/>
          <p:cNvSpPr/>
          <p:nvPr/>
        </p:nvSpPr>
        <p:spPr>
          <a:xfrm>
            <a:off x="825500" y="2336800"/>
            <a:ext cx="10541000" cy="4445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850" y="2343150"/>
            <a:ext cx="2511028"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Patrick Ritchie</a:t>
            </a:r>
          </a:p>
        </p:txBody>
      </p:sp>
      <p:sp>
        <p:nvSpPr>
          <p:cNvPr id="14" name="TextBox 13"/>
          <p:cNvSpPr txBox="1"/>
          <p:nvPr/>
        </p:nvSpPr>
        <p:spPr>
          <a:xfrm>
            <a:off x="3368278" y="2343150"/>
            <a:ext cx="4824412"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EPC account manager, Kansas City</a:t>
            </a:r>
          </a:p>
        </p:txBody>
      </p:sp>
      <p:sp>
        <p:nvSpPr>
          <p:cNvPr id="15" name="TextBox 14"/>
          <p:cNvSpPr txBox="1"/>
          <p:nvPr/>
        </p:nvSpPr>
        <p:spPr>
          <a:xfrm>
            <a:off x="8218091" y="2343150"/>
            <a:ext cx="3236321" cy="431800"/>
          </a:xfrm>
          <a:prstGeom prst="rect">
            <a:avLst/>
          </a:prstGeom>
          <a:noFill/>
        </p:spPr>
        <p:txBody>
          <a:bodyPr wrap="square" lIns="0" rIns="0" tIns="0" bIns="0" anchor="t">
            <a:noAutofit/>
          </a:bodyPr>
          <a:lstStyle/>
          <a:p>
            <a:pPr algn="l">
              <a:lnSpc>
                <a:spcPts val="1680"/>
              </a:lnSpc>
              <a:spcBef>
                <a:spcPts val="0"/>
              </a:spcBef>
              <a:spcAft>
                <a:spcPts val="0"/>
              </a:spcAft>
            </a:pPr>
            <a:r>
              <a:rPr b="0" i="0" sz="1400">
                <a:solidFill>
                  <a:srgbClr val="141619"/>
                </a:solidFill>
                <a:latin typeface="Barlow"/>
              </a:rPr>
              <a:t>Kiewit, Burns &amp; McDonnell, Black &amp; Veatch</a:t>
            </a:r>
          </a:p>
        </p:txBody>
      </p:sp>
      <p:sp>
        <p:nvSpPr>
          <p:cNvPr id="16" name="Rectangle 15"/>
          <p:cNvSpPr/>
          <p:nvPr/>
        </p:nvSpPr>
        <p:spPr>
          <a:xfrm>
            <a:off x="825500" y="27940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850" y="2800350"/>
            <a:ext cx="2511028"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Greyson</a:t>
            </a:r>
          </a:p>
        </p:txBody>
      </p:sp>
      <p:sp>
        <p:nvSpPr>
          <p:cNvPr id="18" name="TextBox 17"/>
          <p:cNvSpPr txBox="1"/>
          <p:nvPr/>
        </p:nvSpPr>
        <p:spPr>
          <a:xfrm>
            <a:off x="3368278" y="2800350"/>
            <a:ext cx="4824412"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EPC outreach to more gas-plant builders</a:t>
            </a:r>
          </a:p>
        </p:txBody>
      </p:sp>
      <p:sp>
        <p:nvSpPr>
          <p:cNvPr id="19" name="TextBox 18"/>
          <p:cNvSpPr txBox="1"/>
          <p:nvPr/>
        </p:nvSpPr>
        <p:spPr>
          <a:xfrm>
            <a:off x="8218091" y="2800350"/>
            <a:ext cx="3142059"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National</a:t>
            </a:r>
          </a:p>
        </p:txBody>
      </p:sp>
      <p:sp>
        <p:nvSpPr>
          <p:cNvPr id="20" name="Rectangle 19"/>
          <p:cNvSpPr/>
          <p:nvPr/>
        </p:nvSpPr>
        <p:spPr>
          <a:xfrm>
            <a:off x="825500" y="3035300"/>
            <a:ext cx="10541000" cy="4445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850" y="3041650"/>
            <a:ext cx="2511028"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Phil Metz · Bob Benish</a:t>
            </a:r>
          </a:p>
        </p:txBody>
      </p:sp>
      <p:sp>
        <p:nvSpPr>
          <p:cNvPr id="22" name="TextBox 21"/>
          <p:cNvSpPr txBox="1"/>
          <p:nvPr/>
        </p:nvSpPr>
        <p:spPr>
          <a:xfrm>
            <a:off x="3368278" y="3041650"/>
            <a:ext cx="4969145" cy="431800"/>
          </a:xfrm>
          <a:prstGeom prst="rect">
            <a:avLst/>
          </a:prstGeom>
          <a:noFill/>
        </p:spPr>
        <p:txBody>
          <a:bodyPr wrap="square" lIns="0" rIns="0" tIns="0" bIns="0" anchor="t">
            <a:noAutofit/>
          </a:bodyPr>
          <a:lstStyle/>
          <a:p>
            <a:pPr algn="l">
              <a:lnSpc>
                <a:spcPts val="1680"/>
              </a:lnSpc>
              <a:spcBef>
                <a:spcPts val="0"/>
              </a:spcBef>
              <a:spcAft>
                <a:spcPts val="0"/>
              </a:spcAft>
            </a:pPr>
            <a:r>
              <a:rPr b="0" i="0" sz="1400">
                <a:solidFill>
                  <a:srgbClr val="141619"/>
                </a:solidFill>
                <a:latin typeface="Barlow"/>
              </a:rPr>
              <a:t>OEMs and package builders: e-houses, switchgear, modular power, panel shops</a:t>
            </a:r>
          </a:p>
        </p:txBody>
      </p:sp>
      <p:sp>
        <p:nvSpPr>
          <p:cNvPr id="23" name="TextBox 22"/>
          <p:cNvSpPr txBox="1"/>
          <p:nvPr/>
        </p:nvSpPr>
        <p:spPr>
          <a:xfrm>
            <a:off x="8218091" y="3041650"/>
            <a:ext cx="3142059"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National</a:t>
            </a:r>
          </a:p>
        </p:txBody>
      </p:sp>
      <p:sp>
        <p:nvSpPr>
          <p:cNvPr id="24" name="Rectangle 23"/>
          <p:cNvSpPr/>
          <p:nvPr/>
        </p:nvSpPr>
        <p:spPr>
          <a:xfrm>
            <a:off x="825500" y="3492500"/>
            <a:ext cx="10541000" cy="444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850" y="3498850"/>
            <a:ext cx="2511028"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FFFDFA"/>
                </a:solidFill>
                <a:latin typeface="Barlow"/>
              </a:rPr>
              <a:t>Anixter/Wesco</a:t>
            </a:r>
          </a:p>
        </p:txBody>
      </p:sp>
      <p:sp>
        <p:nvSpPr>
          <p:cNvPr id="26" name="TextBox 25"/>
          <p:cNvSpPr txBox="1"/>
          <p:nvPr/>
        </p:nvSpPr>
        <p:spPr>
          <a:xfrm>
            <a:off x="3368278" y="3498850"/>
            <a:ext cx="4969145" cy="431800"/>
          </a:xfrm>
          <a:prstGeom prst="rect">
            <a:avLst/>
          </a:prstGeom>
          <a:noFill/>
        </p:spPr>
        <p:txBody>
          <a:bodyPr wrap="square" lIns="0" rIns="0" tIns="0" bIns="0" anchor="t">
            <a:noAutofit/>
          </a:bodyPr>
          <a:lstStyle/>
          <a:p>
            <a:pPr algn="l">
              <a:lnSpc>
                <a:spcPts val="1680"/>
              </a:lnSpc>
              <a:spcBef>
                <a:spcPts val="0"/>
              </a:spcBef>
              <a:spcAft>
                <a:spcPts val="0"/>
              </a:spcAft>
            </a:pPr>
            <a:r>
              <a:rPr b="0" i="0" sz="1400">
                <a:solidFill>
                  <a:srgbClr val="FFFDFA"/>
                </a:solidFill>
                <a:latin typeface="Barlow"/>
              </a:rPr>
              <a:t>Modular OEM Solutions: the same package builders, channel side</a:t>
            </a:r>
          </a:p>
        </p:txBody>
      </p:sp>
      <p:sp>
        <p:nvSpPr>
          <p:cNvPr id="27" name="TextBox 26"/>
          <p:cNvSpPr txBox="1"/>
          <p:nvPr/>
        </p:nvSpPr>
        <p:spPr>
          <a:xfrm>
            <a:off x="8218091" y="3498850"/>
            <a:ext cx="3142059" cy="4318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FFFDFA"/>
                </a:solidFill>
                <a:latin typeface="Barlow"/>
              </a:rPr>
              <a:t>National</a:t>
            </a:r>
          </a:p>
        </p:txBody>
      </p:sp>
      <p:sp>
        <p:nvSpPr>
          <p:cNvPr id="28" name="Rectangle 27"/>
          <p:cNvSpPr/>
          <p:nvPr/>
        </p:nvSpPr>
        <p:spPr>
          <a:xfrm>
            <a:off x="812800" y="4203700"/>
            <a:ext cx="5194300" cy="49401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5200" y="4330700"/>
            <a:ext cx="4889500" cy="240030"/>
          </a:xfrm>
          <a:prstGeom prst="rect">
            <a:avLst/>
          </a:prstGeom>
          <a:noFill/>
        </p:spPr>
        <p:txBody>
          <a:bodyPr wrap="none" lIns="0" rIns="0" tIns="0" bIns="0" anchor="t">
            <a:noAutofit/>
          </a:bodyPr>
          <a:lstStyle/>
          <a:p>
            <a:pPr algn="l">
              <a:lnSpc>
                <a:spcPts val="1889"/>
              </a:lnSpc>
              <a:spcBef>
                <a:spcPts val="0"/>
              </a:spcBef>
              <a:spcAft>
                <a:spcPts val="0"/>
              </a:spcAft>
            </a:pPr>
            <a:r>
              <a:rPr b="1" i="0" sz="1400">
                <a:solidFill>
                  <a:srgbClr val="F5F3EF"/>
                </a:solidFill>
                <a:latin typeface="Barlow"/>
              </a:rPr>
              <a:t>Priority geography:</a:t>
            </a:r>
            <a:r>
              <a:rPr b="0" i="0" sz="1400">
                <a:solidFill>
                  <a:srgbClr val="F5F3EF"/>
                </a:solidFill>
                <a:latin typeface="Barlow"/>
              </a:rPr>
              <a:t> Texas · Ohio · Indiana</a:t>
            </a:r>
          </a:p>
        </p:txBody>
      </p:sp>
      <p:sp>
        <p:nvSpPr>
          <p:cNvPr id="30" name="Rectangle 29"/>
          <p:cNvSpPr/>
          <p:nvPr/>
        </p:nvSpPr>
        <p:spPr>
          <a:xfrm>
            <a:off x="6184900" y="4203700"/>
            <a:ext cx="5194300" cy="49401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37300" y="4330700"/>
            <a:ext cx="4889500" cy="240030"/>
          </a:xfrm>
          <a:prstGeom prst="rect">
            <a:avLst/>
          </a:prstGeom>
          <a:noFill/>
        </p:spPr>
        <p:txBody>
          <a:bodyPr wrap="none" lIns="0" rIns="0" tIns="0" bIns="0" anchor="t">
            <a:noAutofit/>
          </a:bodyPr>
          <a:lstStyle/>
          <a:p>
            <a:pPr algn="l">
              <a:lnSpc>
                <a:spcPts val="1889"/>
              </a:lnSpc>
              <a:spcBef>
                <a:spcPts val="0"/>
              </a:spcBef>
              <a:spcAft>
                <a:spcPts val="0"/>
              </a:spcAft>
            </a:pPr>
            <a:r>
              <a:rPr b="1" i="0" sz="1400">
                <a:solidFill>
                  <a:srgbClr val="F5F3EF"/>
                </a:solidFill>
                <a:latin typeface="Barlow"/>
              </a:rPr>
              <a:t>Priority EPCs:</a:t>
            </a:r>
            <a:r>
              <a:rPr b="0" i="0" sz="1400">
                <a:solidFill>
                  <a:srgbClr val="F5F3EF"/>
                </a:solidFill>
                <a:latin typeface="Barlow"/>
              </a:rPr>
              <a:t> Kiewit and Burns &amp; McDonnell</a:t>
            </a:r>
          </a:p>
        </p:txBody>
      </p:sp>
      <p:sp>
        <p:nvSpPr>
          <p:cNvPr id="32" name="TextBox 31"/>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33" name="TextBox 32"/>
          <p:cNvSpPr txBox="1"/>
          <p:nvPr/>
        </p:nvSpPr>
        <p:spPr>
          <a:xfrm>
            <a:off x="11246644" y="6267450"/>
            <a:ext cx="16591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16</a:t>
            </a:r>
          </a:p>
        </p:txBody>
      </p:sp>
      <p:sp>
        <p:nvSpPr>
          <p:cNvPr id="34" name="Rectangle 33"/>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6" name="TextBox 35"/>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7"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pic>
        <p:nvPicPr>
          <p:cNvPr id="2" name="Picture 1" descr="sw_logo_hr.png"/>
          <p:cNvPicPr>
            <a:picLocks noChangeAspect="1"/>
          </p:cNvPicPr>
          <p:nvPr/>
        </p:nvPicPr>
        <p:blipFill>
          <a:blip r:embed="rId2"/>
          <a:stretch>
            <a:fillRect/>
          </a:stretch>
        </p:blipFill>
        <p:spPr>
          <a:xfrm>
            <a:off x="812800" y="457200"/>
            <a:ext cx="2540000" cy="628650"/>
          </a:xfrm>
          <a:prstGeom prst="rect">
            <a:avLst/>
          </a:prstGeom>
        </p:spPr>
      </p:pic>
      <p:pic>
        <p:nvPicPr>
          <p:cNvPr id="3" name="Picture 2" descr="divsol_b655e56b.jpg"/>
          <p:cNvPicPr>
            <a:picLocks noChangeAspect="1"/>
          </p:cNvPicPr>
          <p:nvPr/>
        </p:nvPicPr>
        <p:blipFill>
          <a:blip r:embed="rId3"/>
          <a:stretch>
            <a:fillRect/>
          </a:stretch>
        </p:blipFill>
        <p:spPr>
          <a:xfrm>
            <a:off x="4762500" y="0"/>
            <a:ext cx="7429500" cy="6858000"/>
          </a:xfrm>
          <a:prstGeom prst="rect">
            <a:avLst/>
          </a:prstGeom>
        </p:spPr>
      </p:pic>
      <p:sp>
        <p:nvSpPr>
          <p:cNvPr id="4" name="Rectangle 3"/>
          <p:cNvSpPr/>
          <p:nvPr/>
        </p:nvSpPr>
        <p:spPr>
          <a:xfrm>
            <a:off x="0" y="0"/>
            <a:ext cx="101600" cy="685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595438"/>
            <a:ext cx="10566400" cy="917575"/>
          </a:xfrm>
          <a:prstGeom prst="rect">
            <a:avLst/>
          </a:prstGeom>
          <a:noFill/>
        </p:spPr>
        <p:txBody>
          <a:bodyPr wrap="none" lIns="0" rIns="0" tIns="0" bIns="0" anchor="t">
            <a:noAutofit/>
          </a:bodyPr>
          <a:lstStyle/>
          <a:p>
            <a:pPr algn="l">
              <a:lnSpc>
                <a:spcPts val="7225"/>
              </a:lnSpc>
              <a:spcBef>
                <a:spcPts val="0"/>
              </a:spcBef>
              <a:spcAft>
                <a:spcPts val="0"/>
              </a:spcAft>
            </a:pPr>
            <a:r>
              <a:rPr b="0" i="0" sz="8500">
                <a:solidFill>
                  <a:srgbClr val="B4581F"/>
                </a:solidFill>
                <a:latin typeface="Barlow Condensed ExtraBold"/>
              </a:rPr>
              <a:t>02</a:t>
            </a:r>
          </a:p>
        </p:txBody>
      </p:sp>
      <p:sp>
        <p:nvSpPr>
          <p:cNvPr id="6" name="TextBox 5"/>
          <p:cNvSpPr txBox="1"/>
          <p:nvPr/>
        </p:nvSpPr>
        <p:spPr>
          <a:xfrm>
            <a:off x="812800" y="2703512"/>
            <a:ext cx="3924300" cy="1371600"/>
          </a:xfrm>
          <a:prstGeom prst="rect">
            <a:avLst/>
          </a:prstGeom>
          <a:noFill/>
        </p:spPr>
        <p:txBody>
          <a:bodyPr wrap="square" lIns="0" rIns="0" tIns="0" bIns="0" anchor="t">
            <a:noAutofit/>
          </a:bodyPr>
          <a:lstStyle/>
          <a:p>
            <a:pPr algn="l">
              <a:lnSpc>
                <a:spcPts val="5400"/>
              </a:lnSpc>
              <a:spcBef>
                <a:spcPts val="0"/>
              </a:spcBef>
              <a:spcAft>
                <a:spcPts val="0"/>
              </a:spcAft>
            </a:pPr>
            <a:r>
              <a:rPr b="0" i="0" sz="6000">
                <a:solidFill>
                  <a:srgbClr val="F5F3EF"/>
                </a:solidFill>
                <a:latin typeface="Barlow Condensed ExtraBold"/>
              </a:rPr>
              <a:t>GAS POWER </a:t>
            </a:r>
            <a:r>
              <a:rPr b="0" i="0" sz="6000">
                <a:solidFill>
                  <a:srgbClr val="E39A5F"/>
                </a:solidFill>
                <a:latin typeface="Barlow Condensed ExtraBold"/>
              </a:rPr>
              <a:t>SOLUTIONS</a:t>
            </a:r>
          </a:p>
        </p:txBody>
      </p:sp>
      <p:sp>
        <p:nvSpPr>
          <p:cNvPr id="7" name="Rectangle 6"/>
          <p:cNvSpPr/>
          <p:nvPr/>
        </p:nvSpPr>
        <p:spPr>
          <a:xfrm>
            <a:off x="812800" y="4265612"/>
            <a:ext cx="3429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4335462"/>
            <a:ext cx="34290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00">
                <a:solidFill>
                  <a:srgbClr val="C9CDD2"/>
                </a:solidFill>
                <a:latin typeface="Barlow Condensed"/>
              </a:rPr>
              <a:t>THE PLANT MODEL AND CABLE SYSTEMS</a:t>
            </a:r>
          </a:p>
        </p:txBody>
      </p:sp>
      <p:sp>
        <p:nvSpPr>
          <p:cNvPr id="9" name="Rectangle 8"/>
          <p:cNvSpPr/>
          <p:nvPr/>
        </p:nvSpPr>
        <p:spPr>
          <a:xfrm>
            <a:off x="812800" y="4627562"/>
            <a:ext cx="3429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4697412"/>
            <a:ext cx="34290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00">
                <a:solidFill>
                  <a:srgbClr val="C9CDD2"/>
                </a:solidFill>
                <a:latin typeface="Barlow Condensed"/>
              </a:rPr>
              <a:t>CABLE LINEUP AND DETAIL</a:t>
            </a:r>
          </a:p>
        </p:txBody>
      </p:sp>
      <p:sp>
        <p:nvSpPr>
          <p:cNvPr id="11" name="Rectangle 10"/>
          <p:cNvSpPr/>
          <p:nvPr/>
        </p:nvSpPr>
        <p:spPr>
          <a:xfrm>
            <a:off x="812800" y="4989512"/>
            <a:ext cx="3429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5059362"/>
            <a:ext cx="34290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00">
                <a:solidFill>
                  <a:srgbClr val="C9CDD2"/>
                </a:solidFill>
                <a:latin typeface="Barlow Condensed"/>
              </a:rPr>
              <a:t>MODULAR GAS POWER</a:t>
            </a:r>
          </a:p>
        </p:txBody>
      </p:sp>
      <p:sp>
        <p:nvSpPr>
          <p:cNvPr id="13" name="Rectangle 12"/>
          <p:cNvSpPr/>
          <p:nvPr/>
        </p:nvSpPr>
        <p:spPr>
          <a:xfrm>
            <a:off x="812800" y="5351462"/>
            <a:ext cx="3429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800" y="5713412"/>
            <a:ext cx="34290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800" y="5421312"/>
            <a:ext cx="3429000" cy="228600"/>
          </a:xfrm>
          <a:prstGeom prst="rect">
            <a:avLst/>
          </a:prstGeom>
          <a:noFill/>
        </p:spPr>
        <p:txBody>
          <a:bodyPr wrap="none" lIns="0" rIns="0" tIns="0" bIns="0" anchor="t">
            <a:noAutofit/>
          </a:bodyPr>
          <a:lstStyle/>
          <a:p>
            <a:pPr algn="l">
              <a:lnSpc>
                <a:spcPts val="1800"/>
              </a:lnSpc>
              <a:spcBef>
                <a:spcPts val="0"/>
              </a:spcBef>
              <a:spcAft>
                <a:spcPts val="0"/>
              </a:spcAft>
            </a:pPr>
            <a:r>
              <a:rPr b="1" i="0" sz="1500" spc="100">
                <a:solidFill>
                  <a:srgbClr val="C9CDD2"/>
                </a:solidFill>
                <a:latin typeface="Barlow Condensed"/>
              </a:rPr>
              <a:t>STANDARDS AND SERVICES</a:t>
            </a:r>
          </a:p>
        </p:txBody>
      </p:sp>
      <p:sp>
        <p:nvSpPr>
          <p:cNvPr id="16" name="Rectangle 15"/>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18" name="Rectangle 17"/>
          <p:cNvSpPr/>
          <p:nvPr/>
        </p:nvSpPr>
        <p:spPr>
          <a:xfrm>
            <a:off x="0" y="6546850"/>
            <a:ext cx="5874445"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10350"/>
            <a:ext cx="592922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Confidential · Do not distribute · © 2026 Southwire Company, LLC.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THE CHALLENGE</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EVERY MEGAWATT TRAVELS THROUGH A CABLE</a:t>
            </a:r>
          </a:p>
        </p:txBody>
      </p:sp>
      <p:sp>
        <p:nvSpPr>
          <p:cNvPr id="4" name="Rectangle 3"/>
          <p:cNvSpPr/>
          <p:nvPr/>
        </p:nvSpPr>
        <p:spPr>
          <a:xfrm>
            <a:off x="812800" y="1841500"/>
            <a:ext cx="5130800" cy="6413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432050"/>
            <a:ext cx="51308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0600" y="1968500"/>
            <a:ext cx="4775200"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F5F3EF"/>
                </a:solidFill>
                <a:latin typeface="Barlow Condensed ExtraBold"/>
              </a:rPr>
              <a:t>COMBINED CYCLE PLANTS</a:t>
            </a:r>
          </a:p>
        </p:txBody>
      </p:sp>
      <p:sp>
        <p:nvSpPr>
          <p:cNvPr id="7" name="Rectangle 6"/>
          <p:cNvSpPr/>
          <p:nvPr/>
        </p:nvSpPr>
        <p:spPr>
          <a:xfrm>
            <a:off x="812800" y="2914650"/>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584450"/>
            <a:ext cx="1651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HEAT</a:t>
            </a:r>
          </a:p>
        </p:txBody>
      </p:sp>
      <p:sp>
        <p:nvSpPr>
          <p:cNvPr id="9" name="TextBox 8"/>
          <p:cNvSpPr txBox="1"/>
          <p:nvPr/>
        </p:nvSpPr>
        <p:spPr>
          <a:xfrm>
            <a:off x="2590800" y="2584450"/>
            <a:ext cx="3567273" cy="228600"/>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Routes beside turbines, HRSGs and steam lines</a:t>
            </a:r>
          </a:p>
        </p:txBody>
      </p:sp>
      <p:sp>
        <p:nvSpPr>
          <p:cNvPr id="10" name="Rectangle 9"/>
          <p:cNvSpPr/>
          <p:nvPr/>
        </p:nvSpPr>
        <p:spPr>
          <a:xfrm>
            <a:off x="812800" y="3352800"/>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3022600"/>
            <a:ext cx="1651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DAILY CYCLING</a:t>
            </a:r>
          </a:p>
        </p:txBody>
      </p:sp>
      <p:sp>
        <p:nvSpPr>
          <p:cNvPr id="12" name="TextBox 11"/>
          <p:cNvSpPr txBox="1"/>
          <p:nvPr/>
        </p:nvSpPr>
        <p:spPr>
          <a:xfrm>
            <a:off x="2590800" y="3022600"/>
            <a:ext cx="3490603" cy="228600"/>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Frequent starts stress terminations and joints</a:t>
            </a:r>
          </a:p>
        </p:txBody>
      </p:sp>
      <p:sp>
        <p:nvSpPr>
          <p:cNvPr id="13" name="Rectangle 12"/>
          <p:cNvSpPr/>
          <p:nvPr/>
        </p:nvSpPr>
        <p:spPr>
          <a:xfrm>
            <a:off x="812800" y="4008041"/>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3460750"/>
            <a:ext cx="1651000" cy="445691"/>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FIRE AND SMOKE</a:t>
            </a:r>
          </a:p>
        </p:txBody>
      </p:sp>
      <p:sp>
        <p:nvSpPr>
          <p:cNvPr id="15" name="TextBox 14"/>
          <p:cNvSpPr txBox="1"/>
          <p:nvPr/>
        </p:nvSpPr>
        <p:spPr>
          <a:xfrm>
            <a:off x="2590800" y="3460750"/>
            <a:ext cx="3453384"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Flame-retardant, low-smoke cable in halls and control rooms</a:t>
            </a:r>
          </a:p>
        </p:txBody>
      </p:sp>
      <p:sp>
        <p:nvSpPr>
          <p:cNvPr id="16" name="Rectangle 15"/>
          <p:cNvSpPr/>
          <p:nvPr/>
        </p:nvSpPr>
        <p:spPr>
          <a:xfrm>
            <a:off x="812800" y="4663281"/>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800" y="4115991"/>
            <a:ext cx="1651000" cy="445691"/>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ELECTRICAL NOISE</a:t>
            </a:r>
          </a:p>
        </p:txBody>
      </p:sp>
      <p:sp>
        <p:nvSpPr>
          <p:cNvPr id="18" name="TextBox 17"/>
          <p:cNvSpPr txBox="1"/>
          <p:nvPr/>
        </p:nvSpPr>
        <p:spPr>
          <a:xfrm>
            <a:off x="2590800" y="4115991"/>
            <a:ext cx="3453384"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Drives and switchgear next to DCS and protection</a:t>
            </a:r>
          </a:p>
        </p:txBody>
      </p:sp>
      <p:sp>
        <p:nvSpPr>
          <p:cNvPr id="19" name="Rectangle 18"/>
          <p:cNvSpPr/>
          <p:nvPr/>
        </p:nvSpPr>
        <p:spPr>
          <a:xfrm>
            <a:off x="6248400" y="1841500"/>
            <a:ext cx="5130800" cy="6413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8400" y="2432050"/>
            <a:ext cx="51308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6200" y="1968500"/>
            <a:ext cx="4775200" cy="336550"/>
          </a:xfrm>
          <a:prstGeom prst="rect">
            <a:avLst/>
          </a:prstGeom>
          <a:noFill/>
        </p:spPr>
        <p:txBody>
          <a:bodyPr wrap="none" lIns="0" rIns="0" tIns="0" bIns="0" anchor="t">
            <a:noAutofit/>
          </a:bodyPr>
          <a:lstStyle/>
          <a:p>
            <a:pPr algn="l">
              <a:lnSpc>
                <a:spcPts val="2640"/>
              </a:lnSpc>
              <a:spcBef>
                <a:spcPts val="0"/>
              </a:spcBef>
              <a:spcAft>
                <a:spcPts val="0"/>
              </a:spcAft>
            </a:pPr>
            <a:r>
              <a:rPr b="0" i="0" sz="2200">
                <a:solidFill>
                  <a:srgbClr val="F5F3EF"/>
                </a:solidFill>
                <a:latin typeface="Barlow Condensed ExtraBold"/>
              </a:rPr>
              <a:t>MODULAR GAS POWER</a:t>
            </a:r>
          </a:p>
        </p:txBody>
      </p:sp>
      <p:sp>
        <p:nvSpPr>
          <p:cNvPr id="22" name="Rectangle 21"/>
          <p:cNvSpPr/>
          <p:nvPr/>
        </p:nvSpPr>
        <p:spPr>
          <a:xfrm>
            <a:off x="6248400" y="2914650"/>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8400" y="2584450"/>
            <a:ext cx="1651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COMPACT SKIDS</a:t>
            </a:r>
          </a:p>
        </p:txBody>
      </p:sp>
      <p:sp>
        <p:nvSpPr>
          <p:cNvPr id="24" name="TextBox 23"/>
          <p:cNvSpPr txBox="1"/>
          <p:nvPr/>
        </p:nvSpPr>
        <p:spPr>
          <a:xfrm>
            <a:off x="8026400" y="2584450"/>
            <a:ext cx="3352800" cy="228600"/>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Flexible cable with tight bend radii</a:t>
            </a:r>
          </a:p>
        </p:txBody>
      </p:sp>
      <p:sp>
        <p:nvSpPr>
          <p:cNvPr id="25" name="Rectangle 24"/>
          <p:cNvSpPr/>
          <p:nvPr/>
        </p:nvSpPr>
        <p:spPr>
          <a:xfrm>
            <a:off x="6248400" y="3352800"/>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8400" y="3022600"/>
            <a:ext cx="1651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VIBRATION</a:t>
            </a:r>
          </a:p>
        </p:txBody>
      </p:sp>
      <p:sp>
        <p:nvSpPr>
          <p:cNvPr id="27" name="TextBox 26"/>
          <p:cNvSpPr txBox="1"/>
          <p:nvPr/>
        </p:nvSpPr>
        <p:spPr>
          <a:xfrm>
            <a:off x="8026400" y="3022600"/>
            <a:ext cx="3388166" cy="228600"/>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Fine stranding and secure glands for engines</a:t>
            </a:r>
          </a:p>
        </p:txBody>
      </p:sp>
      <p:sp>
        <p:nvSpPr>
          <p:cNvPr id="28" name="Rectangle 27"/>
          <p:cNvSpPr/>
          <p:nvPr/>
        </p:nvSpPr>
        <p:spPr>
          <a:xfrm>
            <a:off x="6248400" y="3790950"/>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8400" y="3460750"/>
            <a:ext cx="165100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HARSH SITES</a:t>
            </a:r>
          </a:p>
        </p:txBody>
      </p:sp>
      <p:sp>
        <p:nvSpPr>
          <p:cNvPr id="30" name="TextBox 29"/>
          <p:cNvSpPr txBox="1"/>
          <p:nvPr/>
        </p:nvSpPr>
        <p:spPr>
          <a:xfrm>
            <a:off x="8026400" y="3460750"/>
            <a:ext cx="3527834" cy="228600"/>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4A525B"/>
                </a:solidFill>
                <a:latin typeface="Barlow"/>
              </a:rPr>
              <a:t>Oil, fuel, sunlight and wide temperature ranges</a:t>
            </a:r>
          </a:p>
        </p:txBody>
      </p:sp>
      <p:sp>
        <p:nvSpPr>
          <p:cNvPr id="31" name="Rectangle 30"/>
          <p:cNvSpPr/>
          <p:nvPr/>
        </p:nvSpPr>
        <p:spPr>
          <a:xfrm>
            <a:off x="6248400" y="4446191"/>
            <a:ext cx="5130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8400" y="3898900"/>
            <a:ext cx="1651000" cy="445691"/>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141619"/>
                </a:solidFill>
                <a:latin typeface="Barlow Condensed ExtraBold"/>
              </a:rPr>
              <a:t>SPEED TO POWER</a:t>
            </a:r>
          </a:p>
        </p:txBody>
      </p:sp>
      <p:sp>
        <p:nvSpPr>
          <p:cNvPr id="33" name="TextBox 32"/>
          <p:cNvSpPr txBox="1"/>
          <p:nvPr/>
        </p:nvSpPr>
        <p:spPr>
          <a:xfrm>
            <a:off x="8026400" y="3898900"/>
            <a:ext cx="3453384"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Pre-terminated, tested harnesses cut site hours</a:t>
            </a:r>
          </a:p>
        </p:txBody>
      </p:sp>
      <p:sp>
        <p:nvSpPr>
          <p:cNvPr id="34" name="TextBox 33"/>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35" name="TextBox 34"/>
          <p:cNvSpPr txBox="1"/>
          <p:nvPr/>
        </p:nvSpPr>
        <p:spPr>
          <a:xfrm>
            <a:off x="11245850" y="6267450"/>
            <a:ext cx="16675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18</a:t>
            </a:r>
          </a:p>
        </p:txBody>
      </p:sp>
      <p:sp>
        <p:nvSpPr>
          <p:cNvPr id="36" name="Rectangle 35"/>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8" name="TextBox 37"/>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9"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sp>
        <p:nvSpPr>
          <p:cNvPr id="2" name="TextBox 1"/>
          <p:cNvSpPr txBox="1"/>
          <p:nvPr/>
        </p:nvSpPr>
        <p:spPr>
          <a:xfrm>
            <a:off x="812800" y="4064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THE PLANT IS THE MODEL</a:t>
            </a:r>
          </a:p>
        </p:txBody>
      </p:sp>
      <p:sp>
        <p:nvSpPr>
          <p:cNvPr id="3" name="TextBox 2"/>
          <p:cNvSpPr txBox="1"/>
          <p:nvPr/>
        </p:nvSpPr>
        <p:spPr>
          <a:xfrm>
            <a:off x="812800" y="673100"/>
            <a:ext cx="10566400" cy="406400"/>
          </a:xfrm>
          <a:prstGeom prst="rect">
            <a:avLst/>
          </a:prstGeom>
          <a:noFill/>
        </p:spPr>
        <p:txBody>
          <a:bodyPr wrap="none" lIns="0" rIns="0" tIns="0" bIns="0" anchor="t">
            <a:noAutofit/>
          </a:bodyPr>
          <a:lstStyle/>
          <a:p>
            <a:pPr algn="l">
              <a:lnSpc>
                <a:spcPts val="3200"/>
              </a:lnSpc>
              <a:spcBef>
                <a:spcPts val="0"/>
              </a:spcBef>
              <a:spcAft>
                <a:spcPts val="0"/>
              </a:spcAft>
            </a:pPr>
            <a:r>
              <a:rPr b="0" i="0" sz="3200">
                <a:solidFill>
                  <a:srgbClr val="F5F3EF"/>
                </a:solidFill>
                <a:latin typeface="Barlow Condensed ExtraBold"/>
              </a:rPr>
              <a:t>16 ZONES, 75 EQUIPMENT NODES</a:t>
            </a:r>
          </a:p>
        </p:txBody>
      </p:sp>
      <p:pic>
        <p:nvPicPr>
          <p:cNvPr id="4" name="Picture 3" descr="zones_517787e4.jpg"/>
          <p:cNvPicPr>
            <a:picLocks noChangeAspect="1"/>
          </p:cNvPicPr>
          <p:nvPr/>
        </p:nvPicPr>
        <p:blipFill>
          <a:blip r:embed="rId2"/>
          <a:srcRect t="17" b="17"/>
          <a:stretch>
            <a:fillRect/>
          </a:stretch>
        </p:blipFill>
        <p:spPr>
          <a:xfrm>
            <a:off x="0" y="1270000"/>
            <a:ext cx="8255000" cy="4641850"/>
          </a:xfrm>
          <a:prstGeom prst="rect">
            <a:avLst/>
          </a:prstGeom>
        </p:spPr>
      </p:pic>
      <p:sp>
        <p:nvSpPr>
          <p:cNvPr id="5" name="Rounded Rectangle 4"/>
          <p:cNvSpPr/>
          <p:nvPr/>
        </p:nvSpPr>
        <p:spPr>
          <a:xfrm>
            <a:off x="3829050" y="54165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29050" y="54165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9050" y="56832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29050" y="5416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95750" y="5416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03650" y="54292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a:t>
            </a:r>
          </a:p>
        </p:txBody>
      </p:sp>
      <p:sp>
        <p:nvSpPr>
          <p:cNvPr id="11" name="Rounded Rectangle 10"/>
          <p:cNvSpPr/>
          <p:nvPr/>
        </p:nvSpPr>
        <p:spPr>
          <a:xfrm>
            <a:off x="5232400" y="513080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32400" y="51308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32400" y="53975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32400" y="51308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99100" y="51308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7000" y="514350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2</a:t>
            </a:r>
          </a:p>
        </p:txBody>
      </p:sp>
      <p:sp>
        <p:nvSpPr>
          <p:cNvPr id="17" name="Rounded Rectangle 16"/>
          <p:cNvSpPr/>
          <p:nvPr/>
        </p:nvSpPr>
        <p:spPr>
          <a:xfrm>
            <a:off x="5943600" y="444500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44450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47117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44450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0300" y="44450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18200" y="445770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3</a:t>
            </a:r>
          </a:p>
        </p:txBody>
      </p:sp>
      <p:sp>
        <p:nvSpPr>
          <p:cNvPr id="23" name="Rounded Rectangle 22"/>
          <p:cNvSpPr/>
          <p:nvPr/>
        </p:nvSpPr>
        <p:spPr>
          <a:xfrm>
            <a:off x="6927850" y="36766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7850" y="36766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7850" y="39433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7850" y="36766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94550" y="36766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2450" y="36893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4</a:t>
            </a:r>
          </a:p>
        </p:txBody>
      </p:sp>
      <p:sp>
        <p:nvSpPr>
          <p:cNvPr id="29" name="Rounded Rectangle 28"/>
          <p:cNvSpPr/>
          <p:nvPr/>
        </p:nvSpPr>
        <p:spPr>
          <a:xfrm>
            <a:off x="5842000" y="326390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42000" y="32639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42000" y="35306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42000" y="32639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08700" y="32639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16600" y="327660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5</a:t>
            </a:r>
          </a:p>
        </p:txBody>
      </p:sp>
      <p:sp>
        <p:nvSpPr>
          <p:cNvPr id="35" name="Rounded Rectangle 34"/>
          <p:cNvSpPr/>
          <p:nvPr/>
        </p:nvSpPr>
        <p:spPr>
          <a:xfrm>
            <a:off x="5721350" y="28765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721350" y="28765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721350" y="31432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721350" y="2876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88050" y="2876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95950" y="28892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6</a:t>
            </a:r>
          </a:p>
        </p:txBody>
      </p:sp>
      <p:sp>
        <p:nvSpPr>
          <p:cNvPr id="41" name="Rounded Rectangle 40"/>
          <p:cNvSpPr/>
          <p:nvPr/>
        </p:nvSpPr>
        <p:spPr>
          <a:xfrm>
            <a:off x="4737100" y="33083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37100" y="33083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37100" y="35750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37100" y="33083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03800" y="33083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11700" y="33210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7</a:t>
            </a:r>
          </a:p>
        </p:txBody>
      </p:sp>
      <p:sp>
        <p:nvSpPr>
          <p:cNvPr id="47" name="Rounded Rectangle 46"/>
          <p:cNvSpPr/>
          <p:nvPr/>
        </p:nvSpPr>
        <p:spPr>
          <a:xfrm>
            <a:off x="3251200" y="35115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51200" y="35115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51200" y="37782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51200" y="3511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517900" y="35115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25800" y="35242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8</a:t>
            </a:r>
          </a:p>
        </p:txBody>
      </p:sp>
      <p:sp>
        <p:nvSpPr>
          <p:cNvPr id="53" name="Rounded Rectangle 52"/>
          <p:cNvSpPr/>
          <p:nvPr/>
        </p:nvSpPr>
        <p:spPr>
          <a:xfrm>
            <a:off x="3302000" y="25844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02000" y="25844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02000" y="28511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302000" y="25844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568700" y="25844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76600" y="25971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9</a:t>
            </a:r>
          </a:p>
        </p:txBody>
      </p:sp>
      <p:sp>
        <p:nvSpPr>
          <p:cNvPr id="59" name="Rounded Rectangle 58"/>
          <p:cNvSpPr/>
          <p:nvPr/>
        </p:nvSpPr>
        <p:spPr>
          <a:xfrm>
            <a:off x="4083050" y="17081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083050" y="17081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083050" y="19748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083050" y="17081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349750" y="17081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057650" y="17208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10</a:t>
            </a:r>
          </a:p>
        </p:txBody>
      </p:sp>
      <p:sp>
        <p:nvSpPr>
          <p:cNvPr id="65" name="Rounded Rectangle 64"/>
          <p:cNvSpPr/>
          <p:nvPr/>
        </p:nvSpPr>
        <p:spPr>
          <a:xfrm>
            <a:off x="3683000" y="48958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683000" y="48958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683000" y="51625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683000" y="48958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949700" y="48958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57600" y="49085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11</a:t>
            </a:r>
          </a:p>
        </p:txBody>
      </p:sp>
      <p:sp>
        <p:nvSpPr>
          <p:cNvPr id="71" name="Rounded Rectangle 70"/>
          <p:cNvSpPr/>
          <p:nvPr/>
        </p:nvSpPr>
        <p:spPr>
          <a:xfrm>
            <a:off x="1581150" y="42989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581150" y="42989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581150" y="45656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581150" y="42989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847850" y="42989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555750" y="43116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12</a:t>
            </a:r>
          </a:p>
        </p:txBody>
      </p:sp>
      <p:sp>
        <p:nvSpPr>
          <p:cNvPr id="77" name="Rounded Rectangle 76"/>
          <p:cNvSpPr/>
          <p:nvPr/>
        </p:nvSpPr>
        <p:spPr>
          <a:xfrm>
            <a:off x="946150" y="322580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46150" y="32258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46150" y="34925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46150" y="32258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212850" y="32258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0750" y="323850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13</a:t>
            </a:r>
          </a:p>
        </p:txBody>
      </p:sp>
      <p:sp>
        <p:nvSpPr>
          <p:cNvPr id="83" name="Rounded Rectangle 82"/>
          <p:cNvSpPr/>
          <p:nvPr/>
        </p:nvSpPr>
        <p:spPr>
          <a:xfrm>
            <a:off x="1847850" y="25844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847850" y="25844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847850" y="28511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847850" y="25844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114550" y="25844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822450" y="25971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14</a:t>
            </a:r>
          </a:p>
        </p:txBody>
      </p:sp>
      <p:sp>
        <p:nvSpPr>
          <p:cNvPr id="89" name="Rounded Rectangle 88"/>
          <p:cNvSpPr/>
          <p:nvPr/>
        </p:nvSpPr>
        <p:spPr>
          <a:xfrm>
            <a:off x="2730500" y="205105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730500" y="20510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730500" y="231775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730500" y="20510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997200" y="205105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705100" y="206375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15</a:t>
            </a:r>
          </a:p>
        </p:txBody>
      </p:sp>
      <p:sp>
        <p:nvSpPr>
          <p:cNvPr id="95" name="Rounded Rectangle 94"/>
          <p:cNvSpPr/>
          <p:nvPr/>
        </p:nvSpPr>
        <p:spPr>
          <a:xfrm>
            <a:off x="2197100" y="3924300"/>
            <a:ext cx="279400" cy="279400"/>
          </a:xfrm>
          <a:prstGeom prst="roundRect">
            <a:avLst>
              <a:gd name="adj" fmla="val 50000"/>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197100" y="39243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197100" y="4191000"/>
            <a:ext cx="279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197100" y="39243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463800" y="3924300"/>
            <a:ext cx="1270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171700" y="3937000"/>
            <a:ext cx="3302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200">
                <a:solidFill>
                  <a:srgbClr val="FFFFFF"/>
                </a:solidFill>
                <a:latin typeface="Barlow"/>
              </a:rPr>
              <a:t>16</a:t>
            </a:r>
          </a:p>
        </p:txBody>
      </p:sp>
      <p:sp>
        <p:nvSpPr>
          <p:cNvPr id="101" name="TextBox 100"/>
          <p:cNvSpPr txBox="1"/>
          <p:nvPr/>
        </p:nvSpPr>
        <p:spPr>
          <a:xfrm>
            <a:off x="8509000" y="12700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01</a:t>
            </a:r>
            <a:r>
              <a:rPr b="0" i="0" sz="1250">
                <a:solidFill>
                  <a:srgbClr val="F5F3EF"/>
                </a:solidFill>
                <a:latin typeface="Barlow"/>
              </a:rPr>
              <a:t> Switchyard, GSU &amp; grid tie</a:t>
            </a:r>
          </a:p>
        </p:txBody>
      </p:sp>
      <p:sp>
        <p:nvSpPr>
          <p:cNvPr id="102" name="TextBox 101"/>
          <p:cNvSpPr txBox="1"/>
          <p:nvPr/>
        </p:nvSpPr>
        <p:spPr>
          <a:xfrm>
            <a:off x="8509000" y="15049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02</a:t>
            </a:r>
            <a:r>
              <a:rPr b="0" i="0" sz="1250">
                <a:solidFill>
                  <a:srgbClr val="F5F3EF"/>
                </a:solidFill>
                <a:latin typeface="Barlow"/>
              </a:rPr>
              <a:t> BESS yard</a:t>
            </a:r>
          </a:p>
        </p:txBody>
      </p:sp>
      <p:sp>
        <p:nvSpPr>
          <p:cNvPr id="103" name="TextBox 102"/>
          <p:cNvSpPr txBox="1"/>
          <p:nvPr/>
        </p:nvSpPr>
        <p:spPr>
          <a:xfrm>
            <a:off x="8509000" y="17399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03</a:t>
            </a:r>
            <a:r>
              <a:rPr b="0" i="0" sz="1250">
                <a:solidFill>
                  <a:srgbClr val="F5F3EF"/>
                </a:solidFill>
                <a:latin typeface="Barlow"/>
              </a:rPr>
              <a:t> Reel staging &amp; prefab</a:t>
            </a:r>
          </a:p>
        </p:txBody>
      </p:sp>
      <p:sp>
        <p:nvSpPr>
          <p:cNvPr id="104" name="TextBox 103"/>
          <p:cNvSpPr txBox="1"/>
          <p:nvPr/>
        </p:nvSpPr>
        <p:spPr>
          <a:xfrm>
            <a:off x="8509000" y="19748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04</a:t>
            </a:r>
            <a:r>
              <a:rPr b="0" i="0" sz="1250">
                <a:solidFill>
                  <a:srgbClr val="F5F3EF"/>
                </a:solidFill>
                <a:latin typeface="Barlow"/>
              </a:rPr>
              <a:t> Admin &amp; control room</a:t>
            </a:r>
          </a:p>
        </p:txBody>
      </p:sp>
      <p:sp>
        <p:nvSpPr>
          <p:cNvPr id="105" name="TextBox 104"/>
          <p:cNvSpPr txBox="1"/>
          <p:nvPr/>
        </p:nvSpPr>
        <p:spPr>
          <a:xfrm>
            <a:off x="8509000" y="22098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05</a:t>
            </a:r>
            <a:r>
              <a:rPr b="0" i="0" sz="1250">
                <a:solidFill>
                  <a:srgbClr val="F5F3EF"/>
                </a:solidFill>
                <a:latin typeface="Barlow"/>
              </a:rPr>
              <a:t> E-house</a:t>
            </a:r>
          </a:p>
        </p:txBody>
      </p:sp>
      <p:sp>
        <p:nvSpPr>
          <p:cNvPr id="106" name="TextBox 105"/>
          <p:cNvSpPr txBox="1"/>
          <p:nvPr/>
        </p:nvSpPr>
        <p:spPr>
          <a:xfrm>
            <a:off x="8509000" y="24447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06</a:t>
            </a:r>
            <a:r>
              <a:rPr b="0" i="0" sz="1250">
                <a:solidFill>
                  <a:srgbClr val="F5F3EF"/>
                </a:solidFill>
                <a:latin typeface="Barlow"/>
              </a:rPr>
              <a:t> HRSG trains &amp; stacks</a:t>
            </a:r>
          </a:p>
        </p:txBody>
      </p:sp>
      <p:sp>
        <p:nvSpPr>
          <p:cNvPr id="107" name="TextBox 106"/>
          <p:cNvSpPr txBox="1"/>
          <p:nvPr/>
        </p:nvSpPr>
        <p:spPr>
          <a:xfrm>
            <a:off x="8509000" y="26797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07</a:t>
            </a:r>
            <a:r>
              <a:rPr b="0" i="0" sz="1250">
                <a:solidFill>
                  <a:srgbClr val="F5F3EF"/>
                </a:solidFill>
                <a:latin typeface="Barlow"/>
              </a:rPr>
              <a:t> Turbine hall</a:t>
            </a:r>
          </a:p>
        </p:txBody>
      </p:sp>
      <p:sp>
        <p:nvSpPr>
          <p:cNvPr id="108" name="TextBox 107"/>
          <p:cNvSpPr txBox="1"/>
          <p:nvPr/>
        </p:nvSpPr>
        <p:spPr>
          <a:xfrm>
            <a:off x="8509000" y="29146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08</a:t>
            </a:r>
            <a:r>
              <a:rPr b="0" i="0" sz="1250">
                <a:solidFill>
                  <a:srgbClr val="F5F3EF"/>
                </a:solidFill>
                <a:latin typeface="Barlow"/>
              </a:rPr>
              <a:t> GT air inlets</a:t>
            </a:r>
          </a:p>
        </p:txBody>
      </p:sp>
      <p:sp>
        <p:nvSpPr>
          <p:cNvPr id="109" name="TextBox 108"/>
          <p:cNvSpPr txBox="1"/>
          <p:nvPr/>
        </p:nvSpPr>
        <p:spPr>
          <a:xfrm>
            <a:off x="8509000" y="31496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09</a:t>
            </a:r>
            <a:r>
              <a:rPr b="0" i="0" sz="1250">
                <a:solidFill>
                  <a:srgbClr val="F5F3EF"/>
                </a:solidFill>
                <a:latin typeface="Barlow"/>
              </a:rPr>
              <a:t> MCC, VFD &amp; UPS room</a:t>
            </a:r>
          </a:p>
        </p:txBody>
      </p:sp>
      <p:sp>
        <p:nvSpPr>
          <p:cNvPr id="110" name="TextBox 109"/>
          <p:cNvSpPr txBox="1"/>
          <p:nvPr/>
        </p:nvSpPr>
        <p:spPr>
          <a:xfrm>
            <a:off x="8509000" y="33845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10</a:t>
            </a:r>
            <a:r>
              <a:rPr b="0" i="0" sz="1250">
                <a:solidFill>
                  <a:srgbClr val="F5F3EF"/>
                </a:solidFill>
                <a:latin typeface="Barlow"/>
              </a:rPr>
              <a:t> Modular power yard</a:t>
            </a:r>
          </a:p>
        </p:txBody>
      </p:sp>
      <p:sp>
        <p:nvSpPr>
          <p:cNvPr id="111" name="TextBox 110"/>
          <p:cNvSpPr txBox="1"/>
          <p:nvPr/>
        </p:nvSpPr>
        <p:spPr>
          <a:xfrm>
            <a:off x="8509000" y="36195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11</a:t>
            </a:r>
            <a:r>
              <a:rPr b="0" i="0" sz="1250">
                <a:solidFill>
                  <a:srgbClr val="F5F3EF"/>
                </a:solidFill>
                <a:latin typeface="Barlow"/>
              </a:rPr>
              <a:t> Air-cooled condenser</a:t>
            </a:r>
          </a:p>
        </p:txBody>
      </p:sp>
      <p:sp>
        <p:nvSpPr>
          <p:cNvPr id="112" name="TextBox 111"/>
          <p:cNvSpPr txBox="1"/>
          <p:nvPr/>
        </p:nvSpPr>
        <p:spPr>
          <a:xfrm>
            <a:off x="8509000" y="38544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12</a:t>
            </a:r>
            <a:r>
              <a:rPr b="0" i="0" sz="1250">
                <a:solidFill>
                  <a:srgbClr val="F5F3EF"/>
                </a:solidFill>
                <a:latin typeface="Barlow"/>
              </a:rPr>
              <a:t> Chillers &amp; cooling towers</a:t>
            </a:r>
          </a:p>
        </p:txBody>
      </p:sp>
      <p:sp>
        <p:nvSpPr>
          <p:cNvPr id="113" name="TextBox 112"/>
          <p:cNvSpPr txBox="1"/>
          <p:nvPr/>
        </p:nvSpPr>
        <p:spPr>
          <a:xfrm>
            <a:off x="8509000" y="40894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13</a:t>
            </a:r>
            <a:r>
              <a:rPr b="0" i="0" sz="1250">
                <a:solidFill>
                  <a:srgbClr val="F5F3EF"/>
                </a:solidFill>
                <a:latin typeface="Barlow"/>
              </a:rPr>
              <a:t> Water treatment</a:t>
            </a:r>
          </a:p>
        </p:txBody>
      </p:sp>
      <p:sp>
        <p:nvSpPr>
          <p:cNvPr id="114" name="TextBox 113"/>
          <p:cNvSpPr txBox="1"/>
          <p:nvPr/>
        </p:nvSpPr>
        <p:spPr>
          <a:xfrm>
            <a:off x="8509000" y="43243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14</a:t>
            </a:r>
            <a:r>
              <a:rPr b="0" i="0" sz="1250">
                <a:solidFill>
                  <a:srgbClr val="F5F3EF"/>
                </a:solidFill>
                <a:latin typeface="Barlow"/>
              </a:rPr>
              <a:t> Carbon capture (CCS)</a:t>
            </a:r>
          </a:p>
        </p:txBody>
      </p:sp>
      <p:sp>
        <p:nvSpPr>
          <p:cNvPr id="115" name="TextBox 114"/>
          <p:cNvSpPr txBox="1"/>
          <p:nvPr/>
        </p:nvSpPr>
        <p:spPr>
          <a:xfrm>
            <a:off x="8509000" y="455930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15</a:t>
            </a:r>
            <a:r>
              <a:rPr b="0" i="0" sz="1250">
                <a:solidFill>
                  <a:srgbClr val="F5F3EF"/>
                </a:solidFill>
                <a:latin typeface="Barlow"/>
              </a:rPr>
              <a:t> Gas metering</a:t>
            </a:r>
          </a:p>
        </p:txBody>
      </p:sp>
      <p:sp>
        <p:nvSpPr>
          <p:cNvPr id="116" name="TextBox 115"/>
          <p:cNvSpPr txBox="1"/>
          <p:nvPr/>
        </p:nvSpPr>
        <p:spPr>
          <a:xfrm>
            <a:off x="8509000" y="4794250"/>
            <a:ext cx="3175000" cy="190500"/>
          </a:xfrm>
          <a:prstGeom prst="rect">
            <a:avLst/>
          </a:prstGeom>
          <a:noFill/>
        </p:spPr>
        <p:txBody>
          <a:bodyPr wrap="none" lIns="0" rIns="0" tIns="0" bIns="0" anchor="t">
            <a:noAutofit/>
          </a:bodyPr>
          <a:lstStyle/>
          <a:p>
            <a:pPr algn="l">
              <a:lnSpc>
                <a:spcPts val="1500"/>
              </a:lnSpc>
              <a:spcBef>
                <a:spcPts val="0"/>
              </a:spcBef>
              <a:spcAft>
                <a:spcPts val="0"/>
              </a:spcAft>
            </a:pPr>
            <a:r>
              <a:rPr b="1" i="0" sz="1250">
                <a:solidFill>
                  <a:srgbClr val="E39A5F"/>
                </a:solidFill>
                <a:latin typeface="Barlow"/>
              </a:rPr>
              <a:t>16</a:t>
            </a:r>
            <a:r>
              <a:rPr b="0" i="0" sz="1250">
                <a:solidFill>
                  <a:srgbClr val="F5F3EF"/>
                </a:solidFill>
                <a:latin typeface="Barlow"/>
              </a:rPr>
              <a:t> Cable corridor &amp; MV</a:t>
            </a:r>
          </a:p>
        </p:txBody>
      </p:sp>
      <p:sp>
        <p:nvSpPr>
          <p:cNvPr id="117" name="TextBox 116"/>
          <p:cNvSpPr txBox="1"/>
          <p:nvPr/>
        </p:nvSpPr>
        <p:spPr>
          <a:xfrm>
            <a:off x="812800" y="6235700"/>
            <a:ext cx="76200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100">
                <a:solidFill>
                  <a:srgbClr val="E39A5F"/>
                </a:solidFill>
                <a:latin typeface="Barlow Condensed"/>
              </a:rPr>
              <a:t>PLANT · EQUIPMENT · CABLE · DELIVERY</a:t>
            </a:r>
          </a:p>
        </p:txBody>
      </p:sp>
      <p:sp>
        <p:nvSpPr>
          <p:cNvPr id="118" name="TextBox 117"/>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19</a:t>
            </a:r>
          </a:p>
        </p:txBody>
      </p:sp>
      <p:sp>
        <p:nvSpPr>
          <p:cNvPr id="119" name="Rectangle 118"/>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121" name="TextBox 120"/>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B4581F"/>
                </a:solidFill>
                <a:latin typeface="Barlow Condensed ExtraBold"/>
              </a:rPr>
              <a:t>SEVEN CABLE SYSTEMS IN ONE PLANT</a:t>
            </a:r>
          </a:p>
        </p:txBody>
      </p:sp>
      <p:pic>
        <p:nvPicPr>
          <p:cNvPr id="3" name="Picture 2" descr="overview_6ebcaaa9.jpg"/>
          <p:cNvPicPr>
            <a:picLocks noChangeAspect="1"/>
          </p:cNvPicPr>
          <p:nvPr/>
        </p:nvPicPr>
        <p:blipFill>
          <a:blip r:embed="rId2"/>
          <a:stretch>
            <a:fillRect/>
          </a:stretch>
        </p:blipFill>
        <p:spPr>
          <a:xfrm>
            <a:off x="812800" y="1498600"/>
            <a:ext cx="6477000" cy="4318000"/>
          </a:xfrm>
          <a:prstGeom prst="rect">
            <a:avLst/>
          </a:prstGeom>
        </p:spPr>
      </p:pic>
      <p:sp>
        <p:nvSpPr>
          <p:cNvPr id="4" name="Rounded Rectangle 3"/>
          <p:cNvSpPr/>
          <p:nvPr/>
        </p:nvSpPr>
        <p:spPr>
          <a:xfrm>
            <a:off x="3314700" y="2686050"/>
            <a:ext cx="279400" cy="279400"/>
          </a:xfrm>
          <a:prstGeom prst="roundRect">
            <a:avLst>
              <a:gd name="adj" fmla="val 50000"/>
            </a:avLst>
          </a:prstGeom>
          <a:solidFill>
            <a:srgbClr val="3A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314700" y="26860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14700" y="29464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14700" y="268605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75050" y="268605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5650" y="270510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1</a:t>
            </a:r>
          </a:p>
        </p:txBody>
      </p:sp>
      <p:sp>
        <p:nvSpPr>
          <p:cNvPr id="10" name="Rounded Rectangle 9"/>
          <p:cNvSpPr/>
          <p:nvPr/>
        </p:nvSpPr>
        <p:spPr>
          <a:xfrm>
            <a:off x="4895850" y="2133600"/>
            <a:ext cx="279400" cy="279400"/>
          </a:xfrm>
          <a:prstGeom prst="roundRect">
            <a:avLst>
              <a:gd name="adj" fmla="val 50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95850" y="21336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95850" y="23939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95850" y="21336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56200" y="21336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76800" y="21526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2</a:t>
            </a:r>
          </a:p>
        </p:txBody>
      </p:sp>
      <p:sp>
        <p:nvSpPr>
          <p:cNvPr id="16" name="Rounded Rectangle 15"/>
          <p:cNvSpPr/>
          <p:nvPr/>
        </p:nvSpPr>
        <p:spPr>
          <a:xfrm>
            <a:off x="1816100" y="3670300"/>
            <a:ext cx="279400" cy="279400"/>
          </a:xfrm>
          <a:prstGeom prst="roundRect">
            <a:avLst>
              <a:gd name="adj" fmla="val 50000"/>
            </a:avLst>
          </a:prstGeom>
          <a:solidFill>
            <a:srgbClr val="D9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16100" y="36703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16100" y="39306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16100" y="36703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76450" y="36703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97050" y="36893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3</a:t>
            </a:r>
          </a:p>
        </p:txBody>
      </p:sp>
      <p:sp>
        <p:nvSpPr>
          <p:cNvPr id="22" name="Rounded Rectangle 21"/>
          <p:cNvSpPr/>
          <p:nvPr/>
        </p:nvSpPr>
        <p:spPr>
          <a:xfrm>
            <a:off x="2711450" y="3886200"/>
            <a:ext cx="279400" cy="279400"/>
          </a:xfrm>
          <a:prstGeom prst="roundRect">
            <a:avLst>
              <a:gd name="adj" fmla="val 50000"/>
            </a:avLst>
          </a:prstGeom>
          <a:solidFill>
            <a:srgbClr val="7C4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11450" y="38862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11450" y="41465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11450" y="38862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71800" y="38862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92400" y="39052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4</a:t>
            </a:r>
          </a:p>
        </p:txBody>
      </p:sp>
      <p:sp>
        <p:nvSpPr>
          <p:cNvPr id="28" name="Rounded Rectangle 27"/>
          <p:cNvSpPr/>
          <p:nvPr/>
        </p:nvSpPr>
        <p:spPr>
          <a:xfrm>
            <a:off x="3632200" y="4292600"/>
            <a:ext cx="279400" cy="279400"/>
          </a:xfrm>
          <a:prstGeom prst="roundRect">
            <a:avLst>
              <a:gd name="adj" fmla="val 50000"/>
            </a:avLst>
          </a:prstGeom>
          <a:solidFill>
            <a:srgbClr val="D9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32200" y="42926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2200" y="45529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32200" y="42926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92550" y="42926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13150" y="43116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5</a:t>
            </a:r>
          </a:p>
        </p:txBody>
      </p:sp>
      <p:sp>
        <p:nvSpPr>
          <p:cNvPr id="34" name="Rounded Rectangle 33"/>
          <p:cNvSpPr/>
          <p:nvPr/>
        </p:nvSpPr>
        <p:spPr>
          <a:xfrm>
            <a:off x="4330700" y="3733800"/>
            <a:ext cx="279400" cy="279400"/>
          </a:xfrm>
          <a:prstGeom prst="roundRect">
            <a:avLst>
              <a:gd name="adj" fmla="val 5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30700" y="37338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30700" y="39941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30700" y="37338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91050" y="37338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11650" y="37528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6</a:t>
            </a:r>
          </a:p>
        </p:txBody>
      </p:sp>
      <p:sp>
        <p:nvSpPr>
          <p:cNvPr id="40" name="Rounded Rectangle 39"/>
          <p:cNvSpPr/>
          <p:nvPr/>
        </p:nvSpPr>
        <p:spPr>
          <a:xfrm>
            <a:off x="6483350" y="4051300"/>
            <a:ext cx="279400" cy="279400"/>
          </a:xfrm>
          <a:prstGeom prst="roundRect">
            <a:avLst>
              <a:gd name="adj" fmla="val 50000"/>
            </a:avLst>
          </a:prstGeom>
          <a:solidFill>
            <a:srgbClr val="D9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83350" y="405130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83350" y="4311650"/>
            <a:ext cx="279400" cy="19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83350" y="40513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743700" y="4051300"/>
            <a:ext cx="19050" cy="27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4300" y="4070350"/>
            <a:ext cx="3175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7</a:t>
            </a:r>
          </a:p>
        </p:txBody>
      </p:sp>
      <p:sp>
        <p:nvSpPr>
          <p:cNvPr id="46" name="Rectangle 45"/>
          <p:cNvSpPr/>
          <p:nvPr/>
        </p:nvSpPr>
        <p:spPr>
          <a:xfrm>
            <a:off x="7645400" y="1498600"/>
            <a:ext cx="3733800" cy="127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645400" y="1612900"/>
            <a:ext cx="279400" cy="279400"/>
          </a:xfrm>
          <a:prstGeom prst="roundRect">
            <a:avLst>
              <a:gd name="adj" fmla="val 50000"/>
            </a:avLst>
          </a:prstGeom>
          <a:solidFill>
            <a:srgbClr val="3A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7300" y="161290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1</a:t>
            </a:r>
          </a:p>
        </p:txBody>
      </p:sp>
      <p:sp>
        <p:nvSpPr>
          <p:cNvPr id="49" name="TextBox 48"/>
          <p:cNvSpPr txBox="1"/>
          <p:nvPr/>
        </p:nvSpPr>
        <p:spPr>
          <a:xfrm>
            <a:off x="8051800" y="1631950"/>
            <a:ext cx="2489367"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Control &amp; instrumentation</a:t>
            </a:r>
          </a:p>
        </p:txBody>
      </p:sp>
      <p:sp>
        <p:nvSpPr>
          <p:cNvPr id="50" name="Rectangle 49"/>
          <p:cNvSpPr/>
          <p:nvPr/>
        </p:nvSpPr>
        <p:spPr>
          <a:xfrm>
            <a:off x="7645400" y="199390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645400" y="2101850"/>
            <a:ext cx="279400" cy="279400"/>
          </a:xfrm>
          <a:prstGeom prst="roundRect">
            <a:avLst>
              <a:gd name="adj" fmla="val 50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07300" y="210185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2</a:t>
            </a:r>
          </a:p>
        </p:txBody>
      </p:sp>
      <p:sp>
        <p:nvSpPr>
          <p:cNvPr id="53" name="TextBox 52"/>
          <p:cNvSpPr txBox="1"/>
          <p:nvPr/>
        </p:nvSpPr>
        <p:spPr>
          <a:xfrm>
            <a:off x="8051800" y="2120900"/>
            <a:ext cx="2081615"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LV power &amp; VFD cable</a:t>
            </a:r>
          </a:p>
        </p:txBody>
      </p:sp>
      <p:sp>
        <p:nvSpPr>
          <p:cNvPr id="54" name="Rectangle 53"/>
          <p:cNvSpPr/>
          <p:nvPr/>
        </p:nvSpPr>
        <p:spPr>
          <a:xfrm>
            <a:off x="7645400" y="248285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645400" y="2590800"/>
            <a:ext cx="279400" cy="279400"/>
          </a:xfrm>
          <a:prstGeom prst="roundRect">
            <a:avLst>
              <a:gd name="adj" fmla="val 50000"/>
            </a:avLst>
          </a:prstGeom>
          <a:solidFill>
            <a:srgbClr val="D9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07300" y="259080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3</a:t>
            </a:r>
          </a:p>
        </p:txBody>
      </p:sp>
      <p:sp>
        <p:nvSpPr>
          <p:cNvPr id="57" name="TextBox 56"/>
          <p:cNvSpPr txBox="1"/>
          <p:nvPr/>
        </p:nvSpPr>
        <p:spPr>
          <a:xfrm>
            <a:off x="8051800" y="2609850"/>
            <a:ext cx="2321092"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Medium-voltage feeders</a:t>
            </a:r>
          </a:p>
        </p:txBody>
      </p:sp>
      <p:sp>
        <p:nvSpPr>
          <p:cNvPr id="58" name="Rectangle 57"/>
          <p:cNvSpPr/>
          <p:nvPr/>
        </p:nvSpPr>
        <p:spPr>
          <a:xfrm>
            <a:off x="7645400" y="297180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645400" y="3079750"/>
            <a:ext cx="279400" cy="279400"/>
          </a:xfrm>
          <a:prstGeom prst="roundRect">
            <a:avLst>
              <a:gd name="adj" fmla="val 50000"/>
            </a:avLst>
          </a:prstGeom>
          <a:solidFill>
            <a:srgbClr val="7C4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07300" y="307975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4</a:t>
            </a:r>
          </a:p>
        </p:txBody>
      </p:sp>
      <p:sp>
        <p:nvSpPr>
          <p:cNvPr id="61" name="TextBox 60"/>
          <p:cNvSpPr txBox="1"/>
          <p:nvPr/>
        </p:nvSpPr>
        <p:spPr>
          <a:xfrm>
            <a:off x="8051800" y="3098800"/>
            <a:ext cx="2086558"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Fire-rated &amp; specialty</a:t>
            </a:r>
          </a:p>
        </p:txBody>
      </p:sp>
      <p:sp>
        <p:nvSpPr>
          <p:cNvPr id="62" name="Rectangle 61"/>
          <p:cNvSpPr/>
          <p:nvPr/>
        </p:nvSpPr>
        <p:spPr>
          <a:xfrm>
            <a:off x="7645400" y="346075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645400" y="3568700"/>
            <a:ext cx="279400" cy="279400"/>
          </a:xfrm>
          <a:prstGeom prst="roundRect">
            <a:avLst>
              <a:gd name="adj" fmla="val 50000"/>
            </a:avLst>
          </a:prstGeom>
          <a:solidFill>
            <a:srgbClr val="D9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7300" y="356870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5</a:t>
            </a:r>
          </a:p>
        </p:txBody>
      </p:sp>
      <p:sp>
        <p:nvSpPr>
          <p:cNvPr id="65" name="TextBox 64"/>
          <p:cNvSpPr txBox="1"/>
          <p:nvPr/>
        </p:nvSpPr>
        <p:spPr>
          <a:xfrm>
            <a:off x="8051800" y="3587750"/>
            <a:ext cx="2348226"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High-voltage XLPE cable</a:t>
            </a:r>
          </a:p>
        </p:txBody>
      </p:sp>
      <p:sp>
        <p:nvSpPr>
          <p:cNvPr id="66" name="Rectangle 65"/>
          <p:cNvSpPr/>
          <p:nvPr/>
        </p:nvSpPr>
        <p:spPr>
          <a:xfrm>
            <a:off x="7645400" y="394970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645400" y="4057650"/>
            <a:ext cx="279400" cy="279400"/>
          </a:xfrm>
          <a:prstGeom prst="roundRect">
            <a:avLst>
              <a:gd name="adj" fmla="val 5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07300" y="405765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6</a:t>
            </a:r>
          </a:p>
        </p:txBody>
      </p:sp>
      <p:sp>
        <p:nvSpPr>
          <p:cNvPr id="69" name="TextBox 68"/>
          <p:cNvSpPr txBox="1"/>
          <p:nvPr/>
        </p:nvSpPr>
        <p:spPr>
          <a:xfrm>
            <a:off x="8051800" y="4076700"/>
            <a:ext cx="1051352"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Fibre optic</a:t>
            </a:r>
          </a:p>
        </p:txBody>
      </p:sp>
      <p:sp>
        <p:nvSpPr>
          <p:cNvPr id="70" name="Rectangle 69"/>
          <p:cNvSpPr/>
          <p:nvPr/>
        </p:nvSpPr>
        <p:spPr>
          <a:xfrm>
            <a:off x="7645400" y="4438650"/>
            <a:ext cx="37338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645400" y="4927600"/>
            <a:ext cx="3733800" cy="127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645400" y="4546600"/>
            <a:ext cx="279400" cy="279400"/>
          </a:xfrm>
          <a:prstGeom prst="roundRect">
            <a:avLst>
              <a:gd name="adj" fmla="val 50000"/>
            </a:avLst>
          </a:prstGeom>
          <a:solidFill>
            <a:srgbClr val="D9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607300" y="4546600"/>
            <a:ext cx="355600" cy="279400"/>
          </a:xfrm>
          <a:prstGeom prst="rect">
            <a:avLst/>
          </a:prstGeom>
          <a:noFill/>
        </p:spPr>
        <p:txBody>
          <a:bodyPr wrap="none" lIns="0" rIns="0" tIns="0" bIns="0" anchor="t">
            <a:noAutofit/>
          </a:bodyPr>
          <a:lstStyle/>
          <a:p>
            <a:pPr algn="ctr">
              <a:lnSpc>
                <a:spcPts val="2200"/>
              </a:lnSpc>
              <a:spcBef>
                <a:spcPts val="0"/>
              </a:spcBef>
              <a:spcAft>
                <a:spcPts val="0"/>
              </a:spcAft>
            </a:pPr>
            <a:r>
              <a:rPr b="1" i="0" sz="1300">
                <a:solidFill>
                  <a:srgbClr val="FFFFFF"/>
                </a:solidFill>
                <a:latin typeface="Barlow"/>
              </a:rPr>
              <a:t>7</a:t>
            </a:r>
          </a:p>
        </p:txBody>
      </p:sp>
      <p:sp>
        <p:nvSpPr>
          <p:cNvPr id="74" name="TextBox 73"/>
          <p:cNvSpPr txBox="1"/>
          <p:nvPr/>
        </p:nvSpPr>
        <p:spPr>
          <a:xfrm>
            <a:off x="8051800" y="4565650"/>
            <a:ext cx="2761762"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141619"/>
                </a:solidFill>
                <a:latin typeface="Barlow SemiBold"/>
              </a:rPr>
              <a:t>Overhead conductor &amp; OPGW</a:t>
            </a:r>
          </a:p>
        </p:txBody>
      </p:sp>
      <p:sp>
        <p:nvSpPr>
          <p:cNvPr id="75" name="TextBox 74"/>
          <p:cNvSpPr txBox="1"/>
          <p:nvPr/>
        </p:nvSpPr>
        <p:spPr>
          <a:xfrm>
            <a:off x="812800" y="6267450"/>
            <a:ext cx="523887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ILLUSTRATIVE 1×1 COMBINED CYCLE BLOCK · CABLE DIAMETERS EXAGGERATED</a:t>
            </a:r>
          </a:p>
        </p:txBody>
      </p:sp>
      <p:sp>
        <p:nvSpPr>
          <p:cNvPr id="76" name="TextBox 75"/>
          <p:cNvSpPr txBox="1"/>
          <p:nvPr/>
        </p:nvSpPr>
        <p:spPr>
          <a:xfrm>
            <a:off x="11220450" y="6267450"/>
            <a:ext cx="19367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20</a:t>
            </a:r>
          </a:p>
        </p:txBody>
      </p:sp>
      <p:sp>
        <p:nvSpPr>
          <p:cNvPr id="77" name="Rectangle 76"/>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79" name="TextBox 78"/>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pic>
        <p:nvPicPr>
          <p:cNvPr id="2" name="Picture 1" descr="scope_77d19f41.jpg"/>
          <p:cNvPicPr>
            <a:picLocks noChangeAspect="1"/>
          </p:cNvPicPr>
          <p:nvPr/>
        </p:nvPicPr>
        <p:blipFill>
          <a:blip r:embed="rId2"/>
          <a:srcRect l="19793" r="19793"/>
          <a:stretch>
            <a:fillRect/>
          </a:stretch>
        </p:blipFill>
        <p:spPr>
          <a:xfrm>
            <a:off x="0" y="0"/>
            <a:ext cx="6731000" cy="6858000"/>
          </a:xfrm>
          <a:prstGeom prst="rect">
            <a:avLst/>
          </a:prstGeom>
        </p:spPr>
      </p:pic>
      <p:sp>
        <p:nvSpPr>
          <p:cNvPr id="3" name="Rectangle 2"/>
          <p:cNvSpPr/>
          <p:nvPr/>
        </p:nvSpPr>
        <p:spPr>
          <a:xfrm>
            <a:off x="6731000" y="0"/>
            <a:ext cx="76200" cy="685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12000" y="812800"/>
            <a:ext cx="42672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TECHNICAL SCOPE</a:t>
            </a:r>
          </a:p>
        </p:txBody>
      </p:sp>
      <p:sp>
        <p:nvSpPr>
          <p:cNvPr id="5" name="TextBox 4"/>
          <p:cNvSpPr txBox="1"/>
          <p:nvPr/>
        </p:nvSpPr>
        <p:spPr>
          <a:xfrm>
            <a:off x="7112000" y="1231900"/>
            <a:ext cx="4395216" cy="812800"/>
          </a:xfrm>
          <a:prstGeom prst="rect">
            <a:avLst/>
          </a:prstGeom>
          <a:noFill/>
        </p:spPr>
        <p:txBody>
          <a:bodyPr wrap="square" lIns="0" rIns="0" tIns="0" bIns="0" anchor="t">
            <a:noAutofit/>
          </a:bodyPr>
          <a:lstStyle/>
          <a:p>
            <a:pPr algn="l">
              <a:lnSpc>
                <a:spcPts val="3200"/>
              </a:lnSpc>
              <a:spcBef>
                <a:spcPts val="0"/>
              </a:spcBef>
              <a:spcAft>
                <a:spcPts val="0"/>
              </a:spcAft>
            </a:pPr>
            <a:r>
              <a:rPr b="0" i="0" sz="3200">
                <a:solidFill>
                  <a:srgbClr val="F5F3EF"/>
                </a:solidFill>
                <a:latin typeface="Barlow Condensed ExtraBold"/>
              </a:rPr>
              <a:t>ONE CONNECTED CABLE SCOPE</a:t>
            </a:r>
          </a:p>
        </p:txBody>
      </p:sp>
      <p:sp>
        <p:nvSpPr>
          <p:cNvPr id="6" name="Rectangle 5"/>
          <p:cNvSpPr/>
          <p:nvPr/>
        </p:nvSpPr>
        <p:spPr>
          <a:xfrm>
            <a:off x="7112000" y="2247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12000" y="2343150"/>
            <a:ext cx="42672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MV / HV POWER</a:t>
            </a:r>
          </a:p>
        </p:txBody>
      </p:sp>
      <p:sp>
        <p:nvSpPr>
          <p:cNvPr id="8" name="TextBox 7"/>
          <p:cNvSpPr txBox="1"/>
          <p:nvPr/>
        </p:nvSpPr>
        <p:spPr>
          <a:xfrm>
            <a:off x="7112000" y="2609850"/>
            <a:ext cx="42672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Plant feeders, transformer ties, collection</a:t>
            </a:r>
          </a:p>
        </p:txBody>
      </p:sp>
      <p:sp>
        <p:nvSpPr>
          <p:cNvPr id="9" name="Rectangle 8"/>
          <p:cNvSpPr/>
          <p:nvPr/>
        </p:nvSpPr>
        <p:spPr>
          <a:xfrm>
            <a:off x="7112000" y="2882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0" y="2978150"/>
            <a:ext cx="42672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CONTROL &amp; INSTRUMENTATION</a:t>
            </a:r>
          </a:p>
        </p:txBody>
      </p:sp>
      <p:sp>
        <p:nvSpPr>
          <p:cNvPr id="11" name="TextBox 10"/>
          <p:cNvSpPr txBox="1"/>
          <p:nvPr/>
        </p:nvSpPr>
        <p:spPr>
          <a:xfrm>
            <a:off x="7112000" y="3244850"/>
            <a:ext cx="42672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CT/VT, breaker control, shielded pairs and triads</a:t>
            </a:r>
          </a:p>
        </p:txBody>
      </p:sp>
      <p:sp>
        <p:nvSpPr>
          <p:cNvPr id="12" name="Rectangle 11"/>
          <p:cNvSpPr/>
          <p:nvPr/>
        </p:nvSpPr>
        <p:spPr>
          <a:xfrm>
            <a:off x="7112000" y="3517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0" y="3613150"/>
            <a:ext cx="42672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LV POWER &amp; AUXILIARIES</a:t>
            </a:r>
          </a:p>
        </p:txBody>
      </p:sp>
      <p:sp>
        <p:nvSpPr>
          <p:cNvPr id="14" name="TextBox 13"/>
          <p:cNvSpPr txBox="1"/>
          <p:nvPr/>
        </p:nvSpPr>
        <p:spPr>
          <a:xfrm>
            <a:off x="7112000" y="3879850"/>
            <a:ext cx="42672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Motors, panels, Machine FLEX VFD cable</a:t>
            </a:r>
          </a:p>
        </p:txBody>
      </p:sp>
      <p:sp>
        <p:nvSpPr>
          <p:cNvPr id="15" name="Rectangle 14"/>
          <p:cNvSpPr/>
          <p:nvPr/>
        </p:nvSpPr>
        <p:spPr>
          <a:xfrm>
            <a:off x="7112000" y="4152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12000" y="4248150"/>
            <a:ext cx="42672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GROUNDING &amp; BARE</a:t>
            </a:r>
          </a:p>
        </p:txBody>
      </p:sp>
      <p:sp>
        <p:nvSpPr>
          <p:cNvPr id="17" name="TextBox 16"/>
          <p:cNvSpPr txBox="1"/>
          <p:nvPr/>
        </p:nvSpPr>
        <p:spPr>
          <a:xfrm>
            <a:off x="7112000" y="4514850"/>
            <a:ext cx="42672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Ground grid and equipment bonds</a:t>
            </a:r>
          </a:p>
        </p:txBody>
      </p:sp>
      <p:sp>
        <p:nvSpPr>
          <p:cNvPr id="18" name="Rectangle 17"/>
          <p:cNvSpPr/>
          <p:nvPr/>
        </p:nvSpPr>
        <p:spPr>
          <a:xfrm>
            <a:off x="7112000" y="4787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12000" y="5422900"/>
            <a:ext cx="4267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12000" y="4883150"/>
            <a:ext cx="4267200" cy="243840"/>
          </a:xfrm>
          <a:prstGeom prst="rect">
            <a:avLst/>
          </a:prstGeom>
          <a:noFill/>
        </p:spPr>
        <p:txBody>
          <a:bodyPr wrap="none" lIns="0" rIns="0" tIns="0" bIns="0" anchor="t">
            <a:noAutofit/>
          </a:bodyPr>
          <a:lstStyle/>
          <a:p>
            <a:pPr algn="l">
              <a:lnSpc>
                <a:spcPts val="1920"/>
              </a:lnSpc>
              <a:spcBef>
                <a:spcPts val="0"/>
              </a:spcBef>
              <a:spcAft>
                <a:spcPts val="0"/>
              </a:spcAft>
            </a:pPr>
            <a:r>
              <a:rPr b="0" i="0" sz="1600">
                <a:solidFill>
                  <a:srgbClr val="F5F3EF"/>
                </a:solidFill>
                <a:latin typeface="Barlow Condensed ExtraBold"/>
              </a:rPr>
              <a:t>HAZARDOUS &amp; SPECIALTY</a:t>
            </a:r>
          </a:p>
        </p:txBody>
      </p:sp>
      <p:sp>
        <p:nvSpPr>
          <p:cNvPr id="21" name="TextBox 20"/>
          <p:cNvSpPr txBox="1"/>
          <p:nvPr/>
        </p:nvSpPr>
        <p:spPr>
          <a:xfrm>
            <a:off x="7112000" y="5149850"/>
            <a:ext cx="42672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Classified areas and DC circuits</a:t>
            </a:r>
          </a:p>
        </p:txBody>
      </p:sp>
      <p:sp>
        <p:nvSpPr>
          <p:cNvPr id="22" name="TextBox 21"/>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21</a:t>
            </a:r>
          </a:p>
        </p:txBody>
      </p:sp>
      <p:sp>
        <p:nvSpPr>
          <p:cNvPr id="23" name="Rectangle 22"/>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5" name="TextBox 24"/>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B4581F"/>
                </a:solidFill>
                <a:latin typeface="Barlow Condensed ExtraBold"/>
              </a:rPr>
              <a:t>ONE SUPPLIER. </a:t>
            </a:r>
            <a:r>
              <a:rPr b="0" i="0" sz="3600">
                <a:solidFill>
                  <a:srgbClr val="141619"/>
                </a:solidFill>
                <a:latin typeface="Barlow Condensed ExtraBold"/>
              </a:rPr>
              <a:t>EVERY CIRCUIT.</a:t>
            </a:r>
          </a:p>
        </p:txBody>
      </p:sp>
      <p:sp>
        <p:nvSpPr>
          <p:cNvPr id="3" name="Rectangle 2"/>
          <p:cNvSpPr/>
          <p:nvPr/>
        </p:nvSpPr>
        <p:spPr>
          <a:xfrm>
            <a:off x="812800" y="1524000"/>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1524000"/>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90600" y="1771650"/>
            <a:ext cx="825500" cy="215900"/>
          </a:xfrm>
          <a:prstGeom prst="roundRect">
            <a:avLst>
              <a:gd name="adj" fmla="val 23529"/>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16100" y="1784350"/>
            <a:ext cx="88900" cy="190500"/>
          </a:xfrm>
          <a:prstGeom prst="rect">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5000" y="1790700"/>
            <a:ext cx="12700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32000" y="1803400"/>
            <a:ext cx="215900" cy="152400"/>
          </a:xfrm>
          <a:prstGeom prst="rect">
            <a:avLst/>
          </a:prstGeom>
          <a:solidFill>
            <a:srgbClr val="EC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7900" y="1828800"/>
            <a:ext cx="279400" cy="101600"/>
          </a:xfrm>
          <a:prstGeom prst="rect">
            <a:avLst/>
          </a:prstGeom>
          <a:solidFill>
            <a:srgbClr val="C4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 y="2082800"/>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HV</a:t>
            </a:r>
            <a:r>
              <a:rPr b="0" i="0" sz="2200">
                <a:solidFill>
                  <a:srgbClr val="141619"/>
                </a:solidFill>
                <a:latin typeface="Barlow Condensed ExtraBold"/>
              </a:rPr>
              <a:t> 69–345 KV</a:t>
            </a:r>
          </a:p>
        </p:txBody>
      </p:sp>
      <p:sp>
        <p:nvSpPr>
          <p:cNvPr id="11" name="TextBox 10"/>
          <p:cNvSpPr txBox="1"/>
          <p:nvPr/>
        </p:nvSpPr>
        <p:spPr>
          <a:xfrm>
            <a:off x="990600" y="2438400"/>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XLPE from step-up transformer to switchyard</a:t>
            </a:r>
          </a:p>
        </p:txBody>
      </p:sp>
      <p:sp>
        <p:nvSpPr>
          <p:cNvPr id="12" name="TextBox 11"/>
          <p:cNvSpPr txBox="1"/>
          <p:nvPr/>
        </p:nvSpPr>
        <p:spPr>
          <a:xfrm>
            <a:off x="990600" y="296029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AEIC CS9 · ICEA S-108-720</a:t>
            </a:r>
          </a:p>
        </p:txBody>
      </p:sp>
      <p:sp>
        <p:nvSpPr>
          <p:cNvPr id="13" name="Rectangle 12"/>
          <p:cNvSpPr/>
          <p:nvPr/>
        </p:nvSpPr>
        <p:spPr>
          <a:xfrm>
            <a:off x="3492500" y="1524000"/>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2500" y="1524000"/>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70300" y="1771650"/>
            <a:ext cx="825500" cy="215900"/>
          </a:xfrm>
          <a:prstGeom prst="roundRect">
            <a:avLst>
              <a:gd name="adj" fmla="val 23529"/>
            </a:avLst>
          </a:prstGeom>
          <a:solidFill>
            <a:srgbClr val="C82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5800" y="1790700"/>
            <a:ext cx="114300" cy="177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0100" y="1803400"/>
            <a:ext cx="215900" cy="152400"/>
          </a:xfrm>
          <a:prstGeom prst="rect">
            <a:avLst/>
          </a:prstGeom>
          <a:solidFill>
            <a:srgbClr val="EC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26000" y="1828800"/>
            <a:ext cx="279400" cy="101600"/>
          </a:xfrm>
          <a:prstGeom prst="rect">
            <a:avLst/>
          </a:prstGeom>
          <a:solidFill>
            <a:srgbClr val="C4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0300" y="2082800"/>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MV</a:t>
            </a:r>
            <a:r>
              <a:rPr b="0" i="0" sz="2200">
                <a:solidFill>
                  <a:srgbClr val="141619"/>
                </a:solidFill>
                <a:latin typeface="Barlow Condensed ExtraBold"/>
              </a:rPr>
              <a:t> 5–35 KV</a:t>
            </a:r>
          </a:p>
        </p:txBody>
      </p:sp>
      <p:sp>
        <p:nvSpPr>
          <p:cNvPr id="20" name="TextBox 19"/>
          <p:cNvSpPr txBox="1"/>
          <p:nvPr/>
        </p:nvSpPr>
        <p:spPr>
          <a:xfrm>
            <a:off x="3670300" y="2438400"/>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Feeders to pumps, fans, compressors and GT start-up</a:t>
            </a:r>
          </a:p>
        </p:txBody>
      </p:sp>
      <p:sp>
        <p:nvSpPr>
          <p:cNvPr id="21" name="TextBox 20"/>
          <p:cNvSpPr txBox="1"/>
          <p:nvPr/>
        </p:nvSpPr>
        <p:spPr>
          <a:xfrm>
            <a:off x="3670300" y="296029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UL 1072 · ICEA S-93-639</a:t>
            </a:r>
          </a:p>
        </p:txBody>
      </p:sp>
      <p:sp>
        <p:nvSpPr>
          <p:cNvPr id="22" name="Rectangle 21"/>
          <p:cNvSpPr/>
          <p:nvPr/>
        </p:nvSpPr>
        <p:spPr>
          <a:xfrm>
            <a:off x="6172200" y="1524000"/>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1524000"/>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0000" y="1771650"/>
            <a:ext cx="825500" cy="215900"/>
          </a:xfrm>
          <a:prstGeom prst="roundRect">
            <a:avLst>
              <a:gd name="adj" fmla="val 23529"/>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75500" y="1790700"/>
            <a:ext cx="127000" cy="177800"/>
          </a:xfrm>
          <a:prstGeom prst="rect">
            <a:avLst/>
          </a:prstGeom>
          <a:solidFill>
            <a:srgbClr val="9AA3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02500" y="1816100"/>
            <a:ext cx="254000" cy="127000"/>
          </a:xfrm>
          <a:prstGeom prst="rect">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56500" y="1828800"/>
            <a:ext cx="279400" cy="101600"/>
          </a:xfrm>
          <a:prstGeom prst="rect">
            <a:avLst/>
          </a:prstGeom>
          <a:solidFill>
            <a:srgbClr val="C4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0000" y="2082800"/>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LV</a:t>
            </a:r>
            <a:r>
              <a:rPr b="0" i="0" sz="2200">
                <a:solidFill>
                  <a:srgbClr val="141619"/>
                </a:solidFill>
                <a:latin typeface="Barlow Condensed ExtraBold"/>
              </a:rPr>
              <a:t> POWER &amp; VFD</a:t>
            </a:r>
          </a:p>
        </p:txBody>
      </p:sp>
      <p:sp>
        <p:nvSpPr>
          <p:cNvPr id="29" name="TextBox 28"/>
          <p:cNvSpPr txBox="1"/>
          <p:nvPr/>
        </p:nvSpPr>
        <p:spPr>
          <a:xfrm>
            <a:off x="6350000" y="2438400"/>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MCC feeders, VFD motor leads, lighting</a:t>
            </a:r>
          </a:p>
        </p:txBody>
      </p:sp>
      <p:sp>
        <p:nvSpPr>
          <p:cNvPr id="30" name="TextBox 29"/>
          <p:cNvSpPr txBox="1"/>
          <p:nvPr/>
        </p:nvSpPr>
        <p:spPr>
          <a:xfrm>
            <a:off x="6350000" y="296029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UL 1277 TC-ER · UL 44 XHHW-2</a:t>
            </a:r>
          </a:p>
        </p:txBody>
      </p:sp>
      <p:sp>
        <p:nvSpPr>
          <p:cNvPr id="31" name="Rectangle 30"/>
          <p:cNvSpPr/>
          <p:nvPr/>
        </p:nvSpPr>
        <p:spPr>
          <a:xfrm>
            <a:off x="8851900" y="1524000"/>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51900" y="1524000"/>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29700" y="1771650"/>
            <a:ext cx="825500" cy="215900"/>
          </a:xfrm>
          <a:prstGeom prst="roundRect">
            <a:avLst>
              <a:gd name="adj" fmla="val 23529"/>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855200" y="1790700"/>
            <a:ext cx="101600" cy="177800"/>
          </a:xfrm>
          <a:prstGeom prst="rect">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56800" y="1816100"/>
            <a:ext cx="127000" cy="127000"/>
          </a:xfrm>
          <a:prstGeom prst="rect">
            <a:avLst/>
          </a:prstGeom>
          <a:solidFill>
            <a:srgbClr val="EC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83800" y="1822450"/>
            <a:ext cx="101600" cy="114300"/>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85400" y="1835150"/>
            <a:ext cx="254000" cy="88900"/>
          </a:xfrm>
          <a:prstGeom prst="rect">
            <a:avLst/>
          </a:prstGeom>
          <a:solidFill>
            <a:srgbClr val="C4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29700" y="2082800"/>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C&amp;I</a:t>
            </a:r>
            <a:r>
              <a:rPr b="0" i="0" sz="2200">
                <a:solidFill>
                  <a:srgbClr val="141619"/>
                </a:solidFill>
                <a:latin typeface="Barlow Condensed ExtraBold"/>
              </a:rPr>
              <a:t> CONTROL</a:t>
            </a:r>
          </a:p>
        </p:txBody>
      </p:sp>
      <p:sp>
        <p:nvSpPr>
          <p:cNvPr id="39" name="TextBox 38"/>
          <p:cNvSpPr txBox="1"/>
          <p:nvPr/>
        </p:nvSpPr>
        <p:spPr>
          <a:xfrm>
            <a:off x="9029700" y="2438400"/>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Shielded pairs, triads and thermocouple extension</a:t>
            </a:r>
          </a:p>
        </p:txBody>
      </p:sp>
      <p:sp>
        <p:nvSpPr>
          <p:cNvPr id="40" name="TextBox 39"/>
          <p:cNvSpPr txBox="1"/>
          <p:nvPr/>
        </p:nvSpPr>
        <p:spPr>
          <a:xfrm>
            <a:off x="9029700" y="296029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UL 2250 ITC · UL 13 PLTC</a:t>
            </a:r>
          </a:p>
        </p:txBody>
      </p:sp>
      <p:sp>
        <p:nvSpPr>
          <p:cNvPr id="41" name="Rectangle 40"/>
          <p:cNvSpPr/>
          <p:nvPr/>
        </p:nvSpPr>
        <p:spPr>
          <a:xfrm>
            <a:off x="812800" y="3474641"/>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2800" y="3474641"/>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90600" y="3722291"/>
            <a:ext cx="825500" cy="215900"/>
          </a:xfrm>
          <a:prstGeom prst="roundRect">
            <a:avLst>
              <a:gd name="adj" fmla="val 23529"/>
            </a:avLst>
          </a:prstGeom>
          <a:solidFill>
            <a:srgbClr val="E97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16100" y="3741341"/>
            <a:ext cx="101600" cy="177800"/>
          </a:xfrm>
          <a:prstGeom prst="rect">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917700" y="3754041"/>
            <a:ext cx="190500" cy="152400"/>
          </a:xfrm>
          <a:prstGeom prst="rect">
            <a:avLst/>
          </a:prstGeom>
          <a:solidFill>
            <a:srgbClr val="EC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08200" y="3766741"/>
            <a:ext cx="152400" cy="12700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260600" y="3779441"/>
            <a:ext cx="254000" cy="101600"/>
          </a:xfrm>
          <a:prstGeom prst="rect">
            <a:avLst/>
          </a:prstGeom>
          <a:solidFill>
            <a:srgbClr val="C4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0600" y="4033441"/>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FR</a:t>
            </a:r>
            <a:r>
              <a:rPr b="0" i="0" sz="2200">
                <a:solidFill>
                  <a:srgbClr val="141619"/>
                </a:solidFill>
                <a:latin typeface="Barlow Condensed ExtraBold"/>
              </a:rPr>
              <a:t> FIRE-RATED</a:t>
            </a:r>
          </a:p>
        </p:txBody>
      </p:sp>
      <p:sp>
        <p:nvSpPr>
          <p:cNvPr id="49" name="TextBox 48"/>
          <p:cNvSpPr txBox="1"/>
          <p:nvPr/>
        </p:nvSpPr>
        <p:spPr>
          <a:xfrm>
            <a:off x="990600" y="4389041"/>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2-hour circuit integrity for fire pumps, alarms, ESD</a:t>
            </a:r>
          </a:p>
        </p:txBody>
      </p:sp>
      <p:sp>
        <p:nvSpPr>
          <p:cNvPr id="50" name="TextBox 49"/>
          <p:cNvSpPr txBox="1"/>
          <p:nvPr/>
        </p:nvSpPr>
        <p:spPr>
          <a:xfrm>
            <a:off x="990600" y="491093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UL 2196 · IEC 60331</a:t>
            </a:r>
          </a:p>
        </p:txBody>
      </p:sp>
      <p:sp>
        <p:nvSpPr>
          <p:cNvPr id="51" name="Rectangle 50"/>
          <p:cNvSpPr/>
          <p:nvPr/>
        </p:nvSpPr>
        <p:spPr>
          <a:xfrm>
            <a:off x="3492500" y="3474641"/>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92500" y="3474641"/>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670300" y="3722291"/>
            <a:ext cx="825500" cy="215900"/>
          </a:xfrm>
          <a:prstGeom prst="roundRect">
            <a:avLst>
              <a:gd name="adj" fmla="val 23529"/>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95800" y="3741341"/>
            <a:ext cx="127000" cy="177800"/>
          </a:xfrm>
          <a:prstGeom prst="rect">
            <a:avLst/>
          </a:prstGeom>
          <a:solidFill>
            <a:srgbClr val="8A9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22800" y="3766741"/>
            <a:ext cx="190500" cy="127000"/>
          </a:xfrm>
          <a:prstGeom prst="rect">
            <a:avLst/>
          </a:prstGeom>
          <a:solidFill>
            <a:srgbClr val="E8C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813300" y="3804841"/>
            <a:ext cx="279400" cy="50800"/>
          </a:xfrm>
          <a:prstGeom prst="rect">
            <a:avLst/>
          </a:prstGeom>
          <a:solidFill>
            <a:srgbClr val="8FD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70300" y="4033441"/>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FO</a:t>
            </a:r>
            <a:r>
              <a:rPr b="0" i="0" sz="2200">
                <a:solidFill>
                  <a:srgbClr val="141619"/>
                </a:solidFill>
                <a:latin typeface="Barlow Condensed ExtraBold"/>
              </a:rPr>
              <a:t> FIBRE</a:t>
            </a:r>
          </a:p>
        </p:txBody>
      </p:sp>
      <p:sp>
        <p:nvSpPr>
          <p:cNvPr id="58" name="TextBox 57"/>
          <p:cNvSpPr txBox="1"/>
          <p:nvPr/>
        </p:nvSpPr>
        <p:spPr>
          <a:xfrm>
            <a:off x="3670300" y="4389041"/>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Relay links, plant network and OPGW</a:t>
            </a:r>
          </a:p>
        </p:txBody>
      </p:sp>
      <p:sp>
        <p:nvSpPr>
          <p:cNvPr id="59" name="TextBox 58"/>
          <p:cNvSpPr txBox="1"/>
          <p:nvPr/>
        </p:nvSpPr>
        <p:spPr>
          <a:xfrm>
            <a:off x="3670300" y="491093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ICEA S-87-640 · IEEE 1138</a:t>
            </a:r>
          </a:p>
        </p:txBody>
      </p:sp>
      <p:sp>
        <p:nvSpPr>
          <p:cNvPr id="60" name="Rectangle 59"/>
          <p:cNvSpPr/>
          <p:nvPr/>
        </p:nvSpPr>
        <p:spPr>
          <a:xfrm>
            <a:off x="6172200" y="3474641"/>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72200" y="3474641"/>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350000" y="3722291"/>
            <a:ext cx="825500" cy="215900"/>
          </a:xfrm>
          <a:prstGeom prst="roundRect">
            <a:avLst>
              <a:gd name="adj" fmla="val 23529"/>
            </a:avLst>
          </a:prstGeom>
          <a:solidFill>
            <a:srgbClr val="3B3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175500" y="3747691"/>
            <a:ext cx="88900" cy="165100"/>
          </a:xfrm>
          <a:prstGeom prst="rect">
            <a:avLst/>
          </a:prstGeom>
          <a:solidFill>
            <a:srgbClr val="EC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264400" y="3766741"/>
            <a:ext cx="203200" cy="127000"/>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467600" y="3779441"/>
            <a:ext cx="279400" cy="101600"/>
          </a:xfrm>
          <a:prstGeom prst="rect">
            <a:avLst/>
          </a:prstGeom>
          <a:solidFill>
            <a:srgbClr val="D08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50000" y="4033441"/>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MX</a:t>
            </a:r>
            <a:r>
              <a:rPr b="0" i="0" sz="2200">
                <a:solidFill>
                  <a:srgbClr val="141619"/>
                </a:solidFill>
                <a:latin typeface="Barlow Condensed ExtraBold"/>
              </a:rPr>
              <a:t> MODULAR</a:t>
            </a:r>
          </a:p>
        </p:txBody>
      </p:sp>
      <p:sp>
        <p:nvSpPr>
          <p:cNvPr id="67" name="TextBox 66"/>
          <p:cNvSpPr txBox="1"/>
          <p:nvPr/>
        </p:nvSpPr>
        <p:spPr>
          <a:xfrm>
            <a:off x="6350000" y="4389041"/>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Flexible, oil-resistant cable and harnesses for skids</a:t>
            </a:r>
          </a:p>
        </p:txBody>
      </p:sp>
      <p:sp>
        <p:nvSpPr>
          <p:cNvPr id="68" name="TextBox 67"/>
          <p:cNvSpPr txBox="1"/>
          <p:nvPr/>
        </p:nvSpPr>
        <p:spPr>
          <a:xfrm>
            <a:off x="6350000" y="491093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Class K stranding · UL 1277</a:t>
            </a:r>
          </a:p>
        </p:txBody>
      </p:sp>
      <p:sp>
        <p:nvSpPr>
          <p:cNvPr id="69" name="Rectangle 68"/>
          <p:cNvSpPr/>
          <p:nvPr/>
        </p:nvSpPr>
        <p:spPr>
          <a:xfrm>
            <a:off x="8851900" y="3474641"/>
            <a:ext cx="2527300" cy="179824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851900" y="3474641"/>
            <a:ext cx="25273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9029700" y="3722291"/>
            <a:ext cx="825500" cy="215900"/>
          </a:xfrm>
          <a:prstGeom prst="roundRect">
            <a:avLst>
              <a:gd name="adj" fmla="val 23529"/>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855200" y="3734991"/>
            <a:ext cx="152400" cy="190500"/>
          </a:xfrm>
          <a:prstGeom prst="rect">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007600" y="3754041"/>
            <a:ext cx="127000" cy="152400"/>
          </a:xfrm>
          <a:prstGeom prst="rect">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134600" y="3734991"/>
            <a:ext cx="152400" cy="190500"/>
          </a:xfrm>
          <a:prstGeom prst="rect">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29700" y="4033441"/>
            <a:ext cx="2171700"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GR</a:t>
            </a:r>
            <a:r>
              <a:rPr b="0" i="0" sz="2200">
                <a:solidFill>
                  <a:srgbClr val="141619"/>
                </a:solidFill>
                <a:latin typeface="Barlow Condensed ExtraBold"/>
              </a:rPr>
              <a:t> GROUNDING</a:t>
            </a:r>
          </a:p>
        </p:txBody>
      </p:sp>
      <p:sp>
        <p:nvSpPr>
          <p:cNvPr id="76" name="TextBox 75"/>
          <p:cNvSpPr txBox="1"/>
          <p:nvPr/>
        </p:nvSpPr>
        <p:spPr>
          <a:xfrm>
            <a:off x="9029700" y="4389041"/>
            <a:ext cx="2236851"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4A525B"/>
                </a:solidFill>
                <a:latin typeface="Barlow"/>
              </a:rPr>
              <a:t>Bare copper grid and equipment bonding</a:t>
            </a:r>
          </a:p>
        </p:txBody>
      </p:sp>
      <p:sp>
        <p:nvSpPr>
          <p:cNvPr id="77" name="TextBox 76"/>
          <p:cNvSpPr txBox="1"/>
          <p:nvPr/>
        </p:nvSpPr>
        <p:spPr>
          <a:xfrm>
            <a:off x="9029700" y="4910931"/>
            <a:ext cx="217170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141619"/>
                </a:solidFill>
                <a:latin typeface="Barlow Condensed"/>
              </a:rPr>
              <a:t>IEEE 80 · IEEE 665</a:t>
            </a:r>
          </a:p>
        </p:txBody>
      </p:sp>
      <p:sp>
        <p:nvSpPr>
          <p:cNvPr id="78" name="TextBox 77"/>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79" name="TextBox 78"/>
          <p:cNvSpPr txBox="1"/>
          <p:nvPr/>
        </p:nvSpPr>
        <p:spPr>
          <a:xfrm>
            <a:off x="11224220" y="6267450"/>
            <a:ext cx="189678"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22</a:t>
            </a:r>
          </a:p>
        </p:txBody>
      </p:sp>
      <p:sp>
        <p:nvSpPr>
          <p:cNvPr id="80" name="Rectangle 79"/>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82" name="TextBox 81"/>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83"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B4581F"/>
                </a:solidFill>
                <a:latin typeface="Barlow Condensed ExtraBold"/>
              </a:rPr>
              <a:t>CABLE IN DETAIL</a:t>
            </a:r>
          </a:p>
        </p:txBody>
      </p:sp>
      <p:pic>
        <p:nvPicPr>
          <p:cNvPr id="3" name="Picture 2" descr="detail_662ff9ce.jpg"/>
          <p:cNvPicPr>
            <a:picLocks noChangeAspect="1"/>
          </p:cNvPicPr>
          <p:nvPr/>
        </p:nvPicPr>
        <p:blipFill>
          <a:blip r:embed="rId2"/>
          <a:srcRect l="1190" r="1190"/>
          <a:stretch>
            <a:fillRect/>
          </a:stretch>
        </p:blipFill>
        <p:spPr>
          <a:xfrm>
            <a:off x="812800" y="1524000"/>
            <a:ext cx="5207000" cy="3556000"/>
          </a:xfrm>
          <a:prstGeom prst="rect">
            <a:avLst/>
          </a:prstGeom>
        </p:spPr>
      </p:pic>
      <p:sp>
        <p:nvSpPr>
          <p:cNvPr id="4" name="TextBox 3"/>
          <p:cNvSpPr txBox="1"/>
          <p:nvPr/>
        </p:nvSpPr>
        <p:spPr>
          <a:xfrm>
            <a:off x="812800" y="5181600"/>
            <a:ext cx="5363210" cy="445691"/>
          </a:xfrm>
          <a:prstGeom prst="rect">
            <a:avLst/>
          </a:prstGeom>
          <a:noFill/>
        </p:spPr>
        <p:txBody>
          <a:bodyPr wrap="square" lIns="0" rIns="0" tIns="0" bIns="0" anchor="t">
            <a:noAutofit/>
          </a:bodyPr>
          <a:lstStyle/>
          <a:p>
            <a:pPr algn="l">
              <a:lnSpc>
                <a:spcPts val="1755"/>
              </a:lnSpc>
              <a:spcBef>
                <a:spcPts val="0"/>
              </a:spcBef>
              <a:spcAft>
                <a:spcPts val="0"/>
              </a:spcAft>
            </a:pPr>
            <a:r>
              <a:rPr b="1" i="0" sz="1300">
                <a:solidFill>
                  <a:srgbClr val="4A525B"/>
                </a:solidFill>
                <a:latin typeface="Barlow"/>
              </a:rPr>
              <a:t>HV single-core XLPE.</a:t>
            </a:r>
            <a:r>
              <a:rPr b="0" i="0" sz="1300">
                <a:solidFill>
                  <a:srgbClr val="4A525B"/>
                </a:solidFill>
                <a:latin typeface="Barlow"/>
              </a:rPr>
              <a:t> Triple-extruded insulation, copper wire screen and water-blocking under a tough PE jacket.</a:t>
            </a:r>
          </a:p>
        </p:txBody>
      </p:sp>
      <p:pic>
        <p:nvPicPr>
          <p:cNvPr id="5" name="Picture 4" descr="detail_653228a1.jpg"/>
          <p:cNvPicPr>
            <a:picLocks noChangeAspect="1"/>
          </p:cNvPicPr>
          <p:nvPr/>
        </p:nvPicPr>
        <p:blipFill>
          <a:blip r:embed="rId3"/>
          <a:srcRect t="8122" b="8122"/>
          <a:stretch>
            <a:fillRect/>
          </a:stretch>
        </p:blipFill>
        <p:spPr>
          <a:xfrm>
            <a:off x="6223000" y="1524000"/>
            <a:ext cx="2501900" cy="1397000"/>
          </a:xfrm>
          <a:prstGeom prst="rect">
            <a:avLst/>
          </a:prstGeom>
        </p:spPr>
      </p:pic>
      <p:sp>
        <p:nvSpPr>
          <p:cNvPr id="6" name="TextBox 5"/>
          <p:cNvSpPr txBox="1"/>
          <p:nvPr/>
        </p:nvSpPr>
        <p:spPr>
          <a:xfrm>
            <a:off x="6223000" y="2984500"/>
            <a:ext cx="2576957" cy="396081"/>
          </a:xfrm>
          <a:prstGeom prst="rect">
            <a:avLst/>
          </a:prstGeom>
          <a:noFill/>
        </p:spPr>
        <p:txBody>
          <a:bodyPr wrap="square" lIns="0" rIns="0" tIns="0" bIns="0" anchor="t">
            <a:noAutofit/>
          </a:bodyPr>
          <a:lstStyle/>
          <a:p>
            <a:pPr algn="l">
              <a:lnSpc>
                <a:spcPts val="1560"/>
              </a:lnSpc>
              <a:spcBef>
                <a:spcPts val="0"/>
              </a:spcBef>
              <a:spcAft>
                <a:spcPts val="0"/>
              </a:spcAft>
            </a:pPr>
            <a:r>
              <a:rPr b="1" i="0" sz="1200">
                <a:solidFill>
                  <a:srgbClr val="4A525B"/>
                </a:solidFill>
                <a:latin typeface="Barlow"/>
              </a:rPr>
              <a:t>MV three-core</a:t>
            </a:r>
            <a:r>
              <a:rPr b="0" i="0" sz="1200">
                <a:solidFill>
                  <a:srgbClr val="4A525B"/>
                </a:solidFill>
                <a:latin typeface="Barlow"/>
              </a:rPr>
              <a:t> for large auxiliary motors</a:t>
            </a:r>
          </a:p>
        </p:txBody>
      </p:sp>
      <p:pic>
        <p:nvPicPr>
          <p:cNvPr id="7" name="Picture 6" descr="detail_96c4ce94.jpg"/>
          <p:cNvPicPr>
            <a:picLocks noChangeAspect="1"/>
          </p:cNvPicPr>
          <p:nvPr/>
        </p:nvPicPr>
        <p:blipFill>
          <a:blip r:embed="rId4"/>
          <a:srcRect t="8122" b="8122"/>
          <a:stretch>
            <a:fillRect/>
          </a:stretch>
        </p:blipFill>
        <p:spPr>
          <a:xfrm>
            <a:off x="8877300" y="1524000"/>
            <a:ext cx="2501900" cy="1397000"/>
          </a:xfrm>
          <a:prstGeom prst="rect">
            <a:avLst/>
          </a:prstGeom>
        </p:spPr>
      </p:pic>
      <p:sp>
        <p:nvSpPr>
          <p:cNvPr id="8" name="TextBox 7"/>
          <p:cNvSpPr txBox="1"/>
          <p:nvPr/>
        </p:nvSpPr>
        <p:spPr>
          <a:xfrm>
            <a:off x="8877300" y="2984500"/>
            <a:ext cx="2576957" cy="396081"/>
          </a:xfrm>
          <a:prstGeom prst="rect">
            <a:avLst/>
          </a:prstGeom>
          <a:noFill/>
        </p:spPr>
        <p:txBody>
          <a:bodyPr wrap="square" lIns="0" rIns="0" tIns="0" bIns="0" anchor="t">
            <a:noAutofit/>
          </a:bodyPr>
          <a:lstStyle/>
          <a:p>
            <a:pPr algn="l">
              <a:lnSpc>
                <a:spcPts val="1560"/>
              </a:lnSpc>
              <a:spcBef>
                <a:spcPts val="0"/>
              </a:spcBef>
              <a:spcAft>
                <a:spcPts val="0"/>
              </a:spcAft>
            </a:pPr>
            <a:r>
              <a:rPr b="1" i="0" sz="1200">
                <a:solidFill>
                  <a:srgbClr val="4A525B"/>
                </a:solidFill>
                <a:latin typeface="Barlow"/>
              </a:rPr>
              <a:t>Circuit integrity</a:t>
            </a:r>
            <a:r>
              <a:rPr b="0" i="0" sz="1200">
                <a:solidFill>
                  <a:srgbClr val="4A525B"/>
                </a:solidFill>
                <a:latin typeface="Barlow"/>
              </a:rPr>
              <a:t> for fire and shutdown circuits</a:t>
            </a:r>
          </a:p>
        </p:txBody>
      </p:sp>
      <p:pic>
        <p:nvPicPr>
          <p:cNvPr id="9" name="Picture 8" descr="detail_204db418.jpg"/>
          <p:cNvPicPr>
            <a:picLocks noChangeAspect="1"/>
          </p:cNvPicPr>
          <p:nvPr/>
        </p:nvPicPr>
        <p:blipFill>
          <a:blip r:embed="rId5"/>
          <a:srcRect t="8122" b="8122"/>
          <a:stretch>
            <a:fillRect/>
          </a:stretch>
        </p:blipFill>
        <p:spPr>
          <a:xfrm>
            <a:off x="6223000" y="3651845"/>
            <a:ext cx="2501900" cy="1397000"/>
          </a:xfrm>
          <a:prstGeom prst="rect">
            <a:avLst/>
          </a:prstGeom>
        </p:spPr>
      </p:pic>
      <p:sp>
        <p:nvSpPr>
          <p:cNvPr id="10" name="TextBox 9"/>
          <p:cNvSpPr txBox="1"/>
          <p:nvPr/>
        </p:nvSpPr>
        <p:spPr>
          <a:xfrm>
            <a:off x="6223000" y="5112345"/>
            <a:ext cx="2501900" cy="198120"/>
          </a:xfrm>
          <a:prstGeom prst="rect">
            <a:avLst/>
          </a:prstGeom>
          <a:noFill/>
        </p:spPr>
        <p:txBody>
          <a:bodyPr wrap="none" lIns="0" rIns="0" tIns="0" bIns="0" anchor="t">
            <a:noAutofit/>
          </a:bodyPr>
          <a:lstStyle/>
          <a:p>
            <a:pPr algn="l">
              <a:lnSpc>
                <a:spcPts val="1560"/>
              </a:lnSpc>
              <a:spcBef>
                <a:spcPts val="0"/>
              </a:spcBef>
              <a:spcAft>
                <a:spcPts val="0"/>
              </a:spcAft>
            </a:pPr>
            <a:r>
              <a:rPr b="1" i="0" sz="1200">
                <a:solidFill>
                  <a:srgbClr val="4A525B"/>
                </a:solidFill>
                <a:latin typeface="Barlow"/>
              </a:rPr>
              <a:t>Segregated trays</a:t>
            </a:r>
            <a:r>
              <a:rPr b="0" i="0" sz="1200">
                <a:solidFill>
                  <a:srgbClr val="4A525B"/>
                </a:solidFill>
                <a:latin typeface="Barlow"/>
              </a:rPr>
              <a:t> by voltage class</a:t>
            </a:r>
          </a:p>
        </p:txBody>
      </p:sp>
      <p:pic>
        <p:nvPicPr>
          <p:cNvPr id="11" name="Picture 10" descr="detail_01f05a19.jpg"/>
          <p:cNvPicPr>
            <a:picLocks noChangeAspect="1"/>
          </p:cNvPicPr>
          <p:nvPr/>
        </p:nvPicPr>
        <p:blipFill>
          <a:blip r:embed="rId6"/>
          <a:srcRect t="8122" b="8122"/>
          <a:stretch>
            <a:fillRect/>
          </a:stretch>
        </p:blipFill>
        <p:spPr>
          <a:xfrm>
            <a:off x="8877300" y="3651845"/>
            <a:ext cx="2501900" cy="1397000"/>
          </a:xfrm>
          <a:prstGeom prst="rect">
            <a:avLst/>
          </a:prstGeom>
        </p:spPr>
      </p:pic>
      <p:sp>
        <p:nvSpPr>
          <p:cNvPr id="12" name="TextBox 11"/>
          <p:cNvSpPr txBox="1"/>
          <p:nvPr/>
        </p:nvSpPr>
        <p:spPr>
          <a:xfrm>
            <a:off x="8877300" y="5112345"/>
            <a:ext cx="2576957" cy="396081"/>
          </a:xfrm>
          <a:prstGeom prst="rect">
            <a:avLst/>
          </a:prstGeom>
          <a:noFill/>
        </p:spPr>
        <p:txBody>
          <a:bodyPr wrap="square" lIns="0" rIns="0" tIns="0" bIns="0" anchor="t">
            <a:noAutofit/>
          </a:bodyPr>
          <a:lstStyle/>
          <a:p>
            <a:pPr algn="l">
              <a:lnSpc>
                <a:spcPts val="1560"/>
              </a:lnSpc>
              <a:spcBef>
                <a:spcPts val="0"/>
              </a:spcBef>
              <a:spcAft>
                <a:spcPts val="0"/>
              </a:spcAft>
            </a:pPr>
            <a:r>
              <a:rPr b="1" i="0" sz="1200">
                <a:solidFill>
                  <a:srgbClr val="4A525B"/>
                </a:solidFill>
                <a:latin typeface="Barlow"/>
              </a:rPr>
              <a:t>Duct bank</a:t>
            </a:r>
            <a:r>
              <a:rPr b="0" i="0" sz="1200">
                <a:solidFill>
                  <a:srgbClr val="4A525B"/>
                </a:solidFill>
                <a:latin typeface="Barlow"/>
              </a:rPr>
              <a:t> for HV runs to the switchyard</a:t>
            </a:r>
          </a:p>
        </p:txBody>
      </p:sp>
      <p:sp>
        <p:nvSpPr>
          <p:cNvPr id="13" name="TextBox 12"/>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14" name="TextBox 13"/>
          <p:cNvSpPr txBox="1"/>
          <p:nvPr/>
        </p:nvSpPr>
        <p:spPr>
          <a:xfrm>
            <a:off x="11224022" y="6267450"/>
            <a:ext cx="189889"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23</a:t>
            </a:r>
          </a:p>
        </p:txBody>
      </p:sp>
      <p:sp>
        <p:nvSpPr>
          <p:cNvPr id="15" name="Rectangle 14"/>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17" name="TextBox 16"/>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B4581F"/>
                </a:solidFill>
                <a:latin typeface="Barlow Condensed ExtraBold"/>
              </a:rPr>
              <a:t>BUILT TO NORTH AMERICAN SPECS</a:t>
            </a:r>
          </a:p>
        </p:txBody>
      </p:sp>
      <p:sp>
        <p:nvSpPr>
          <p:cNvPr id="3" name="Rectangle 2"/>
          <p:cNvSpPr/>
          <p:nvPr/>
        </p:nvSpPr>
        <p:spPr>
          <a:xfrm>
            <a:off x="825500" y="1536700"/>
            <a:ext cx="10541000" cy="2286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1850" y="15430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Cable family</a:t>
            </a:r>
          </a:p>
        </p:txBody>
      </p:sp>
      <p:sp>
        <p:nvSpPr>
          <p:cNvPr id="5" name="TextBox 4"/>
          <p:cNvSpPr txBox="1"/>
          <p:nvPr/>
        </p:nvSpPr>
        <p:spPr>
          <a:xfrm>
            <a:off x="3999210" y="15430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North American standards</a:t>
            </a:r>
          </a:p>
        </p:txBody>
      </p:sp>
      <p:sp>
        <p:nvSpPr>
          <p:cNvPr id="6" name="TextBox 5"/>
          <p:cNvSpPr txBox="1"/>
          <p:nvPr/>
        </p:nvSpPr>
        <p:spPr>
          <a:xfrm>
            <a:off x="8428434" y="15430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a:solidFill>
                  <a:srgbClr val="F5F3EF"/>
                </a:solidFill>
                <a:latin typeface="Barlow"/>
              </a:rPr>
              <a:t>International</a:t>
            </a:r>
          </a:p>
        </p:txBody>
      </p:sp>
      <p:sp>
        <p:nvSpPr>
          <p:cNvPr id="7" name="Rectangle 6"/>
          <p:cNvSpPr/>
          <p:nvPr/>
        </p:nvSpPr>
        <p:spPr>
          <a:xfrm>
            <a:off x="825500" y="17780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1850" y="17843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HV 69–345 kV</a:t>
            </a:r>
          </a:p>
        </p:txBody>
      </p:sp>
      <p:sp>
        <p:nvSpPr>
          <p:cNvPr id="9" name="TextBox 8"/>
          <p:cNvSpPr txBox="1"/>
          <p:nvPr/>
        </p:nvSpPr>
        <p:spPr>
          <a:xfrm>
            <a:off x="3999210" y="17843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AEIC CS9 · ICEA S-108-720</a:t>
            </a:r>
          </a:p>
        </p:txBody>
      </p:sp>
      <p:sp>
        <p:nvSpPr>
          <p:cNvPr id="10" name="TextBox 9"/>
          <p:cNvSpPr txBox="1"/>
          <p:nvPr/>
        </p:nvSpPr>
        <p:spPr>
          <a:xfrm>
            <a:off x="8428434" y="17843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60840 · IEC 62067</a:t>
            </a:r>
          </a:p>
        </p:txBody>
      </p:sp>
      <p:sp>
        <p:nvSpPr>
          <p:cNvPr id="11" name="Rectangle 10"/>
          <p:cNvSpPr/>
          <p:nvPr/>
        </p:nvSpPr>
        <p:spPr>
          <a:xfrm>
            <a:off x="825500" y="2019300"/>
            <a:ext cx="10541000" cy="228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850" y="20256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MV 5–35 kV</a:t>
            </a:r>
          </a:p>
        </p:txBody>
      </p:sp>
      <p:sp>
        <p:nvSpPr>
          <p:cNvPr id="13" name="TextBox 12"/>
          <p:cNvSpPr txBox="1"/>
          <p:nvPr/>
        </p:nvSpPr>
        <p:spPr>
          <a:xfrm>
            <a:off x="3999210" y="20256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UL 1072 · ICEA S-93-639</a:t>
            </a:r>
          </a:p>
        </p:txBody>
      </p:sp>
      <p:sp>
        <p:nvSpPr>
          <p:cNvPr id="14" name="TextBox 13"/>
          <p:cNvSpPr txBox="1"/>
          <p:nvPr/>
        </p:nvSpPr>
        <p:spPr>
          <a:xfrm>
            <a:off x="8428434" y="20256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60502-2</a:t>
            </a:r>
          </a:p>
        </p:txBody>
      </p:sp>
      <p:sp>
        <p:nvSpPr>
          <p:cNvPr id="15" name="Rectangle 14"/>
          <p:cNvSpPr/>
          <p:nvPr/>
        </p:nvSpPr>
        <p:spPr>
          <a:xfrm>
            <a:off x="825500" y="22606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850" y="22669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LV power &amp; VFD</a:t>
            </a:r>
          </a:p>
        </p:txBody>
      </p:sp>
      <p:sp>
        <p:nvSpPr>
          <p:cNvPr id="17" name="TextBox 16"/>
          <p:cNvSpPr txBox="1"/>
          <p:nvPr/>
        </p:nvSpPr>
        <p:spPr>
          <a:xfrm>
            <a:off x="3999210" y="22669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UL 1277 TC-ER · UL 44 XHHW-2</a:t>
            </a:r>
          </a:p>
        </p:txBody>
      </p:sp>
      <p:sp>
        <p:nvSpPr>
          <p:cNvPr id="18" name="TextBox 17"/>
          <p:cNvSpPr txBox="1"/>
          <p:nvPr/>
        </p:nvSpPr>
        <p:spPr>
          <a:xfrm>
            <a:off x="8428434" y="22669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60502-1</a:t>
            </a:r>
          </a:p>
        </p:txBody>
      </p:sp>
      <p:sp>
        <p:nvSpPr>
          <p:cNvPr id="19" name="Rectangle 18"/>
          <p:cNvSpPr/>
          <p:nvPr/>
        </p:nvSpPr>
        <p:spPr>
          <a:xfrm>
            <a:off x="825500" y="2501900"/>
            <a:ext cx="10541000" cy="228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850" y="25082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Control &amp; instrumentation</a:t>
            </a:r>
          </a:p>
        </p:txBody>
      </p:sp>
      <p:sp>
        <p:nvSpPr>
          <p:cNvPr id="21" name="TextBox 20"/>
          <p:cNvSpPr txBox="1"/>
          <p:nvPr/>
        </p:nvSpPr>
        <p:spPr>
          <a:xfrm>
            <a:off x="3999210" y="25082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UL 2250 ITC · UL 13 PLTC</a:t>
            </a:r>
          </a:p>
        </p:txBody>
      </p:sp>
      <p:sp>
        <p:nvSpPr>
          <p:cNvPr id="22" name="TextBox 21"/>
          <p:cNvSpPr txBox="1"/>
          <p:nvPr/>
        </p:nvSpPr>
        <p:spPr>
          <a:xfrm>
            <a:off x="8428434" y="25082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EN 50288-7</a:t>
            </a:r>
          </a:p>
        </p:txBody>
      </p:sp>
      <p:sp>
        <p:nvSpPr>
          <p:cNvPr id="23" name="Rectangle 22"/>
          <p:cNvSpPr/>
          <p:nvPr/>
        </p:nvSpPr>
        <p:spPr>
          <a:xfrm>
            <a:off x="825500" y="27432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1850" y="27495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Fire-rated</a:t>
            </a:r>
          </a:p>
        </p:txBody>
      </p:sp>
      <p:sp>
        <p:nvSpPr>
          <p:cNvPr id="25" name="TextBox 24"/>
          <p:cNvSpPr txBox="1"/>
          <p:nvPr/>
        </p:nvSpPr>
        <p:spPr>
          <a:xfrm>
            <a:off x="3999210" y="27495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UL 2196 circuit integrity</a:t>
            </a:r>
          </a:p>
        </p:txBody>
      </p:sp>
      <p:sp>
        <p:nvSpPr>
          <p:cNvPr id="26" name="TextBox 25"/>
          <p:cNvSpPr txBox="1"/>
          <p:nvPr/>
        </p:nvSpPr>
        <p:spPr>
          <a:xfrm>
            <a:off x="8428434" y="27495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60331</a:t>
            </a:r>
          </a:p>
        </p:txBody>
      </p:sp>
      <p:sp>
        <p:nvSpPr>
          <p:cNvPr id="27" name="Rectangle 26"/>
          <p:cNvSpPr/>
          <p:nvPr/>
        </p:nvSpPr>
        <p:spPr>
          <a:xfrm>
            <a:off x="825500" y="2984500"/>
            <a:ext cx="10541000" cy="228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850" y="29908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Flame propagation</a:t>
            </a:r>
          </a:p>
        </p:txBody>
      </p:sp>
      <p:sp>
        <p:nvSpPr>
          <p:cNvPr id="29" name="TextBox 28"/>
          <p:cNvSpPr txBox="1"/>
          <p:nvPr/>
        </p:nvSpPr>
        <p:spPr>
          <a:xfrm>
            <a:off x="3999210" y="29908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IEEE 1202 · UL 1685</a:t>
            </a:r>
          </a:p>
        </p:txBody>
      </p:sp>
      <p:sp>
        <p:nvSpPr>
          <p:cNvPr id="30" name="TextBox 29"/>
          <p:cNvSpPr txBox="1"/>
          <p:nvPr/>
        </p:nvSpPr>
        <p:spPr>
          <a:xfrm>
            <a:off x="8428434" y="29908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60332-3</a:t>
            </a:r>
          </a:p>
        </p:txBody>
      </p:sp>
      <p:sp>
        <p:nvSpPr>
          <p:cNvPr id="31" name="Rectangle 30"/>
          <p:cNvSpPr/>
          <p:nvPr/>
        </p:nvSpPr>
        <p:spPr>
          <a:xfrm>
            <a:off x="825500" y="3225800"/>
            <a:ext cx="10541000" cy="2286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850" y="32321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Fibre &amp; OPGW</a:t>
            </a:r>
          </a:p>
        </p:txBody>
      </p:sp>
      <p:sp>
        <p:nvSpPr>
          <p:cNvPr id="33" name="TextBox 32"/>
          <p:cNvSpPr txBox="1"/>
          <p:nvPr/>
        </p:nvSpPr>
        <p:spPr>
          <a:xfrm>
            <a:off x="3999210" y="32321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ICEA S-87-640 · IEEE 1138</a:t>
            </a:r>
          </a:p>
        </p:txBody>
      </p:sp>
      <p:sp>
        <p:nvSpPr>
          <p:cNvPr id="34" name="TextBox 33"/>
          <p:cNvSpPr txBox="1"/>
          <p:nvPr/>
        </p:nvSpPr>
        <p:spPr>
          <a:xfrm>
            <a:off x="8428434" y="32321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ITU-T G.652.D</a:t>
            </a:r>
          </a:p>
        </p:txBody>
      </p:sp>
      <p:sp>
        <p:nvSpPr>
          <p:cNvPr id="35" name="Rectangle 34"/>
          <p:cNvSpPr/>
          <p:nvPr/>
        </p:nvSpPr>
        <p:spPr>
          <a:xfrm>
            <a:off x="825500" y="3467100"/>
            <a:ext cx="10541000" cy="228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850" y="3473450"/>
            <a:ext cx="3141960"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Grounding</a:t>
            </a:r>
          </a:p>
        </p:txBody>
      </p:sp>
      <p:sp>
        <p:nvSpPr>
          <p:cNvPr id="37" name="TextBox 36"/>
          <p:cNvSpPr txBox="1"/>
          <p:nvPr/>
        </p:nvSpPr>
        <p:spPr>
          <a:xfrm>
            <a:off x="3999210" y="3473450"/>
            <a:ext cx="4403824"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IEEE 80 · IEEE 665</a:t>
            </a:r>
          </a:p>
        </p:txBody>
      </p:sp>
      <p:sp>
        <p:nvSpPr>
          <p:cNvPr id="38" name="TextBox 37"/>
          <p:cNvSpPr txBox="1"/>
          <p:nvPr/>
        </p:nvSpPr>
        <p:spPr>
          <a:xfrm>
            <a:off x="8428434" y="3473450"/>
            <a:ext cx="2931716" cy="215900"/>
          </a:xfrm>
          <a:prstGeom prst="rect">
            <a:avLst/>
          </a:prstGeom>
          <a:noFill/>
        </p:spPr>
        <p:txBody>
          <a:bodyPr wrap="none" lIns="0" rIns="0" tIns="0" bIns="0" anchor="t">
            <a:noAutofit/>
          </a:bodyPr>
          <a:lstStyle/>
          <a:p>
            <a:pPr algn="l">
              <a:lnSpc>
                <a:spcPts val="1680"/>
              </a:lnSpc>
              <a:spcBef>
                <a:spcPts val="0"/>
              </a:spcBef>
              <a:spcAft>
                <a:spcPts val="0"/>
              </a:spcAft>
            </a:pPr>
            <a:r>
              <a:rPr b="0" i="0" sz="1400">
                <a:solidFill>
                  <a:srgbClr val="141619"/>
                </a:solidFill>
                <a:latin typeface="Barlow"/>
              </a:rPr>
              <a:t>IEC 61936-1</a:t>
            </a:r>
          </a:p>
        </p:txBody>
      </p:sp>
      <p:sp>
        <p:nvSpPr>
          <p:cNvPr id="39" name="TextBox 38"/>
          <p:cNvSpPr txBox="1"/>
          <p:nvPr/>
        </p:nvSpPr>
        <p:spPr>
          <a:xfrm>
            <a:off x="812800" y="6267450"/>
            <a:ext cx="3044148"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CONFIRM LISTINGS PER PRODUCT DATASHEET</a:t>
            </a:r>
          </a:p>
        </p:txBody>
      </p:sp>
      <p:sp>
        <p:nvSpPr>
          <p:cNvPr id="40" name="TextBox 39"/>
          <p:cNvSpPr txBox="1"/>
          <p:nvPr/>
        </p:nvSpPr>
        <p:spPr>
          <a:xfrm>
            <a:off x="11219061" y="6267450"/>
            <a:ext cx="195147"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24</a:t>
            </a:r>
          </a:p>
        </p:txBody>
      </p:sp>
      <p:sp>
        <p:nvSpPr>
          <p:cNvPr id="41" name="Rectangle 40"/>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43" name="TextBox 42"/>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44"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pic>
        <p:nvPicPr>
          <p:cNvPr id="2" name="Picture 1" descr="modkit_0f4cef53.jpg"/>
          <p:cNvPicPr>
            <a:picLocks noChangeAspect="1"/>
          </p:cNvPicPr>
          <p:nvPr/>
        </p:nvPicPr>
        <p:blipFill>
          <a:blip r:embed="rId2"/>
          <a:stretch>
            <a:fillRect/>
          </a:stretch>
        </p:blipFill>
        <p:spPr>
          <a:xfrm>
            <a:off x="0" y="0"/>
            <a:ext cx="5715000" cy="6858000"/>
          </a:xfrm>
          <a:prstGeom prst="rect">
            <a:avLst/>
          </a:prstGeom>
        </p:spPr>
      </p:pic>
      <p:sp>
        <p:nvSpPr>
          <p:cNvPr id="3" name="Rectangle 2"/>
          <p:cNvSpPr/>
          <p:nvPr/>
        </p:nvSpPr>
        <p:spPr>
          <a:xfrm>
            <a:off x="5715000" y="0"/>
            <a:ext cx="76200" cy="685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50000" y="812800"/>
            <a:ext cx="5180076" cy="914400"/>
          </a:xfrm>
          <a:prstGeom prst="rect">
            <a:avLst/>
          </a:prstGeom>
          <a:noFill/>
        </p:spPr>
        <p:txBody>
          <a:bodyPr wrap="square" lIns="0" rIns="0" tIns="0" bIns="0" anchor="t">
            <a:noAutofit/>
          </a:bodyPr>
          <a:lstStyle/>
          <a:p>
            <a:pPr algn="l">
              <a:lnSpc>
                <a:spcPts val="3600"/>
              </a:lnSpc>
              <a:spcBef>
                <a:spcPts val="0"/>
              </a:spcBef>
              <a:spcAft>
                <a:spcPts val="0"/>
              </a:spcAft>
            </a:pPr>
            <a:r>
              <a:rPr b="0" i="0" sz="3600">
                <a:solidFill>
                  <a:srgbClr val="F5F3EF"/>
                </a:solidFill>
                <a:latin typeface="Barlow Condensed ExtraBold"/>
              </a:rPr>
              <a:t>BUILT FOR POWER THAT SHIPS </a:t>
            </a:r>
            <a:r>
              <a:rPr b="0" i="0" sz="3600">
                <a:solidFill>
                  <a:srgbClr val="E39A5F"/>
                </a:solidFill>
                <a:latin typeface="Barlow Condensed ExtraBold"/>
              </a:rPr>
              <a:t>IN A CONTAINER</a:t>
            </a:r>
          </a:p>
        </p:txBody>
      </p:sp>
      <p:sp>
        <p:nvSpPr>
          <p:cNvPr id="5" name="Rectangle 4"/>
          <p:cNvSpPr/>
          <p:nvPr/>
        </p:nvSpPr>
        <p:spPr>
          <a:xfrm>
            <a:off x="6350000" y="1955800"/>
            <a:ext cx="2387600" cy="25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0" y="2082800"/>
            <a:ext cx="23876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PRE-TERMINATED</a:t>
            </a:r>
          </a:p>
        </p:txBody>
      </p:sp>
      <p:sp>
        <p:nvSpPr>
          <p:cNvPr id="7" name="TextBox 6"/>
          <p:cNvSpPr txBox="1"/>
          <p:nvPr/>
        </p:nvSpPr>
        <p:spPr>
          <a:xfrm>
            <a:off x="6350000" y="2406650"/>
            <a:ext cx="2459228"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Cut, terminated, tested and labelled in the factory</a:t>
            </a:r>
          </a:p>
        </p:txBody>
      </p:sp>
      <p:sp>
        <p:nvSpPr>
          <p:cNvPr id="8" name="Rectangle 7"/>
          <p:cNvSpPr/>
          <p:nvPr/>
        </p:nvSpPr>
        <p:spPr>
          <a:xfrm>
            <a:off x="8991600" y="1955800"/>
            <a:ext cx="2387600" cy="25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91600" y="2082800"/>
            <a:ext cx="23876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FLEXIBLE</a:t>
            </a:r>
          </a:p>
        </p:txBody>
      </p:sp>
      <p:sp>
        <p:nvSpPr>
          <p:cNvPr id="10" name="TextBox 9"/>
          <p:cNvSpPr txBox="1"/>
          <p:nvPr/>
        </p:nvSpPr>
        <p:spPr>
          <a:xfrm>
            <a:off x="8991600" y="2406650"/>
            <a:ext cx="2459228"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Fine stranding and tight bend radii for dense skids</a:t>
            </a:r>
          </a:p>
        </p:txBody>
      </p:sp>
      <p:sp>
        <p:nvSpPr>
          <p:cNvPr id="11" name="Rectangle 10"/>
          <p:cNvSpPr/>
          <p:nvPr/>
        </p:nvSpPr>
        <p:spPr>
          <a:xfrm>
            <a:off x="6350000" y="3030141"/>
            <a:ext cx="2387600" cy="25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3157141"/>
            <a:ext cx="23876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VIBRATION-PROOF</a:t>
            </a:r>
          </a:p>
        </p:txBody>
      </p:sp>
      <p:sp>
        <p:nvSpPr>
          <p:cNvPr id="13" name="TextBox 12"/>
          <p:cNvSpPr txBox="1"/>
          <p:nvPr/>
        </p:nvSpPr>
        <p:spPr>
          <a:xfrm>
            <a:off x="6350000" y="3480991"/>
            <a:ext cx="2459228"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Built for engines and aeroderivative packages</a:t>
            </a:r>
          </a:p>
        </p:txBody>
      </p:sp>
      <p:sp>
        <p:nvSpPr>
          <p:cNvPr id="14" name="Rectangle 13"/>
          <p:cNvSpPr/>
          <p:nvPr/>
        </p:nvSpPr>
        <p:spPr>
          <a:xfrm>
            <a:off x="8991600" y="3030141"/>
            <a:ext cx="2387600" cy="254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1600" y="3157141"/>
            <a:ext cx="23876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SITE-RATED</a:t>
            </a:r>
          </a:p>
        </p:txBody>
      </p:sp>
      <p:sp>
        <p:nvSpPr>
          <p:cNvPr id="16" name="TextBox 15"/>
          <p:cNvSpPr txBox="1"/>
          <p:nvPr/>
        </p:nvSpPr>
        <p:spPr>
          <a:xfrm>
            <a:off x="8991600" y="3480991"/>
            <a:ext cx="2459228"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Oil-, fuel- and sunlight-resistant jackets</a:t>
            </a:r>
          </a:p>
        </p:txBody>
      </p:sp>
      <p:sp>
        <p:nvSpPr>
          <p:cNvPr id="17" name="Rectangle 16"/>
          <p:cNvSpPr/>
          <p:nvPr/>
        </p:nvSpPr>
        <p:spPr>
          <a:xfrm>
            <a:off x="6350000" y="4155281"/>
            <a:ext cx="1219200" cy="617141"/>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4282281"/>
            <a:ext cx="1016000" cy="363141"/>
          </a:xfrm>
          <a:prstGeom prst="rect">
            <a:avLst/>
          </a:prstGeom>
          <a:noFill/>
        </p:spPr>
        <p:txBody>
          <a:bodyPr wrap="none" lIns="0" rIns="0" tIns="0" bIns="0" anchor="t">
            <a:noAutofit/>
          </a:bodyPr>
          <a:lstStyle/>
          <a:p>
            <a:pPr algn="l">
              <a:lnSpc>
                <a:spcPts val="1430"/>
              </a:lnSpc>
              <a:spcBef>
                <a:spcPts val="0"/>
              </a:spcBef>
              <a:spcAft>
                <a:spcPts val="0"/>
              </a:spcAft>
            </a:pPr>
            <a:r>
              <a:rPr b="0" i="0" sz="1300">
                <a:solidFill>
                  <a:srgbClr val="F5F3EF"/>
                </a:solidFill>
                <a:latin typeface="Barlow Condensed ExtraBold"/>
              </a:rPr>
              <a:t>DESIGN</a:t>
            </a:r>
          </a:p>
        </p:txBody>
      </p:sp>
      <p:sp>
        <p:nvSpPr>
          <p:cNvPr id="19" name="Rectangle 18"/>
          <p:cNvSpPr/>
          <p:nvPr/>
        </p:nvSpPr>
        <p:spPr>
          <a:xfrm>
            <a:off x="7620000" y="4155281"/>
            <a:ext cx="1219200" cy="617141"/>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1600" y="4282281"/>
            <a:ext cx="1046480" cy="363141"/>
          </a:xfrm>
          <a:prstGeom prst="rect">
            <a:avLst/>
          </a:prstGeom>
          <a:noFill/>
        </p:spPr>
        <p:txBody>
          <a:bodyPr wrap="square" lIns="0" rIns="0" tIns="0" bIns="0" anchor="t">
            <a:noAutofit/>
          </a:bodyPr>
          <a:lstStyle/>
          <a:p>
            <a:pPr algn="l">
              <a:lnSpc>
                <a:spcPts val="1430"/>
              </a:lnSpc>
              <a:spcBef>
                <a:spcPts val="0"/>
              </a:spcBef>
              <a:spcAft>
                <a:spcPts val="0"/>
              </a:spcAft>
            </a:pPr>
            <a:r>
              <a:rPr b="0" i="0" sz="1300">
                <a:solidFill>
                  <a:srgbClr val="F5F3EF"/>
                </a:solidFill>
                <a:latin typeface="Barlow Condensed ExtraBold"/>
              </a:rPr>
              <a:t>CUT &amp; TERMINATE</a:t>
            </a:r>
          </a:p>
        </p:txBody>
      </p:sp>
      <p:sp>
        <p:nvSpPr>
          <p:cNvPr id="21" name="Rectangle 20"/>
          <p:cNvSpPr/>
          <p:nvPr/>
        </p:nvSpPr>
        <p:spPr>
          <a:xfrm>
            <a:off x="8890000" y="4155281"/>
            <a:ext cx="1219200" cy="617141"/>
          </a:xfrm>
          <a:prstGeom prst="rect">
            <a:avLst/>
          </a:prstGeom>
          <a:solidFill>
            <a:srgbClr val="2A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1600" y="4282281"/>
            <a:ext cx="1016000" cy="363141"/>
          </a:xfrm>
          <a:prstGeom prst="rect">
            <a:avLst/>
          </a:prstGeom>
          <a:noFill/>
        </p:spPr>
        <p:txBody>
          <a:bodyPr wrap="none" lIns="0" rIns="0" tIns="0" bIns="0" anchor="t">
            <a:noAutofit/>
          </a:bodyPr>
          <a:lstStyle/>
          <a:p>
            <a:pPr algn="l">
              <a:lnSpc>
                <a:spcPts val="1430"/>
              </a:lnSpc>
              <a:spcBef>
                <a:spcPts val="0"/>
              </a:spcBef>
              <a:spcAft>
                <a:spcPts val="0"/>
              </a:spcAft>
            </a:pPr>
            <a:r>
              <a:rPr b="0" i="0" sz="1300">
                <a:solidFill>
                  <a:srgbClr val="F5F3EF"/>
                </a:solidFill>
                <a:latin typeface="Barlow Condensed ExtraBold"/>
              </a:rPr>
              <a:t>TEST &amp; LABEL</a:t>
            </a:r>
          </a:p>
        </p:txBody>
      </p:sp>
      <p:sp>
        <p:nvSpPr>
          <p:cNvPr id="23" name="Rectangle 22"/>
          <p:cNvSpPr/>
          <p:nvPr/>
        </p:nvSpPr>
        <p:spPr>
          <a:xfrm>
            <a:off x="10160000" y="4155281"/>
            <a:ext cx="1219200" cy="617141"/>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61600" y="4282281"/>
            <a:ext cx="1046829" cy="363141"/>
          </a:xfrm>
          <a:prstGeom prst="rect">
            <a:avLst/>
          </a:prstGeom>
          <a:noFill/>
        </p:spPr>
        <p:txBody>
          <a:bodyPr wrap="none" lIns="0" rIns="0" tIns="0" bIns="0" anchor="t">
            <a:noAutofit/>
          </a:bodyPr>
          <a:lstStyle/>
          <a:p>
            <a:pPr algn="l">
              <a:lnSpc>
                <a:spcPts val="1430"/>
              </a:lnSpc>
              <a:spcBef>
                <a:spcPts val="0"/>
              </a:spcBef>
              <a:spcAft>
                <a:spcPts val="0"/>
              </a:spcAft>
            </a:pPr>
            <a:r>
              <a:rPr b="0" i="0" sz="1300">
                <a:solidFill>
                  <a:srgbClr val="141619"/>
                </a:solidFill>
                <a:latin typeface="Barlow Condensed ExtraBold"/>
              </a:rPr>
              <a:t>PLUG IN ON SITE</a:t>
            </a:r>
          </a:p>
        </p:txBody>
      </p:sp>
      <p:sp>
        <p:nvSpPr>
          <p:cNvPr id="25" name="TextBox 24"/>
          <p:cNvSpPr txBox="1"/>
          <p:nvPr/>
        </p:nvSpPr>
        <p:spPr>
          <a:xfrm>
            <a:off x="6350000" y="6267450"/>
            <a:ext cx="172960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C9CDD2"/>
                </a:solidFill>
                <a:latin typeface="Barlow Condensed SemiBold"/>
              </a:rPr>
              <a:t>RENDERED ILLUSTRATION</a:t>
            </a:r>
          </a:p>
        </p:txBody>
      </p:sp>
      <p:sp>
        <p:nvSpPr>
          <p:cNvPr id="26" name="TextBox 25"/>
          <p:cNvSpPr txBox="1"/>
          <p:nvPr/>
        </p:nvSpPr>
        <p:spPr>
          <a:xfrm>
            <a:off x="11223724" y="6267450"/>
            <a:ext cx="190204"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C9CDD2"/>
                </a:solidFill>
                <a:latin typeface="Barlow Condensed SemiBold"/>
              </a:rPr>
              <a:t>25</a:t>
            </a:r>
          </a:p>
        </p:txBody>
      </p:sp>
      <p:sp>
        <p:nvSpPr>
          <p:cNvPr id="27" name="Rectangle 26"/>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9" name="Rectangle 28"/>
          <p:cNvSpPr/>
          <p:nvPr/>
        </p:nvSpPr>
        <p:spPr>
          <a:xfrm>
            <a:off x="0" y="6546850"/>
            <a:ext cx="5874445"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10350"/>
            <a:ext cx="592922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Confidential · Do not distribute · © 2026 Southwire Company, LLC.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MODULAR GAS POWER</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EVERY PACKAGE NEEDS CABLE</a:t>
            </a:r>
          </a:p>
        </p:txBody>
      </p:sp>
      <p:pic>
        <p:nvPicPr>
          <p:cNvPr id="4" name="Picture 3" descr="modular_2497404b.jpg"/>
          <p:cNvPicPr>
            <a:picLocks noChangeAspect="1"/>
          </p:cNvPicPr>
          <p:nvPr/>
        </p:nvPicPr>
        <p:blipFill>
          <a:blip r:embed="rId2"/>
          <a:srcRect l="8" r="8"/>
          <a:stretch>
            <a:fillRect/>
          </a:stretch>
        </p:blipFill>
        <p:spPr>
          <a:xfrm>
            <a:off x="812800" y="1790700"/>
            <a:ext cx="6731000" cy="3784600"/>
          </a:xfrm>
          <a:prstGeom prst="rect">
            <a:avLst/>
          </a:prstGeom>
        </p:spPr>
      </p:pic>
      <p:sp>
        <p:nvSpPr>
          <p:cNvPr id="5" name="Rectangle 4"/>
          <p:cNvSpPr/>
          <p:nvPr/>
        </p:nvSpPr>
        <p:spPr>
          <a:xfrm>
            <a:off x="7848600" y="1790700"/>
            <a:ext cx="3530600" cy="127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0" y="1879600"/>
            <a:ext cx="271292" cy="42922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9E4C1A"/>
                </a:solidFill>
                <a:latin typeface="Barlow"/>
              </a:rPr>
              <a:t>1–4</a:t>
            </a:r>
          </a:p>
        </p:txBody>
      </p:sp>
      <p:sp>
        <p:nvSpPr>
          <p:cNvPr id="7" name="TextBox 6"/>
          <p:cNvSpPr txBox="1"/>
          <p:nvPr/>
        </p:nvSpPr>
        <p:spPr>
          <a:xfrm>
            <a:off x="8193881" y="1879600"/>
            <a:ext cx="3280878" cy="429220"/>
          </a:xfrm>
          <a:prstGeom prst="rect">
            <a:avLst/>
          </a:prstGeom>
          <a:noFill/>
        </p:spPr>
        <p:txBody>
          <a:bodyPr wrap="square" lIns="0" rIns="0" tIns="0" bIns="0" anchor="t">
            <a:noAutofit/>
          </a:bodyPr>
          <a:lstStyle/>
          <a:p>
            <a:pPr algn="l">
              <a:lnSpc>
                <a:spcPts val="1689"/>
              </a:lnSpc>
              <a:spcBef>
                <a:spcPts val="0"/>
              </a:spcBef>
              <a:spcAft>
                <a:spcPts val="0"/>
              </a:spcAft>
            </a:pPr>
            <a:r>
              <a:rPr b="0" i="0" sz="1300">
                <a:solidFill>
                  <a:srgbClr val="141619"/>
                </a:solidFill>
                <a:latin typeface="Barlow"/>
              </a:rPr>
              <a:t>Gas gensets: enclosed, open, containerized, mobile</a:t>
            </a:r>
          </a:p>
        </p:txBody>
      </p:sp>
      <p:sp>
        <p:nvSpPr>
          <p:cNvPr id="8" name="Rectangle 7"/>
          <p:cNvSpPr/>
          <p:nvPr/>
        </p:nvSpPr>
        <p:spPr>
          <a:xfrm>
            <a:off x="7848600" y="2385020"/>
            <a:ext cx="3530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48600" y="2467570"/>
            <a:ext cx="279400" cy="21461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9E4C1A"/>
                </a:solidFill>
                <a:latin typeface="Barlow"/>
              </a:rPr>
              <a:t>5</a:t>
            </a:r>
          </a:p>
        </p:txBody>
      </p:sp>
      <p:sp>
        <p:nvSpPr>
          <p:cNvPr id="10" name="TextBox 9"/>
          <p:cNvSpPr txBox="1"/>
          <p:nvPr/>
        </p:nvSpPr>
        <p:spPr>
          <a:xfrm>
            <a:off x="8229600" y="2467570"/>
            <a:ext cx="1651988" cy="214630"/>
          </a:xfrm>
          <a:prstGeom prst="rect">
            <a:avLst/>
          </a:prstGeom>
          <a:noFill/>
        </p:spPr>
        <p:txBody>
          <a:bodyPr wrap="none" lIns="0" rIns="0" tIns="0" bIns="0" anchor="t">
            <a:noAutofit/>
          </a:bodyPr>
          <a:lstStyle/>
          <a:p>
            <a:pPr algn="l">
              <a:lnSpc>
                <a:spcPts val="1689"/>
              </a:lnSpc>
              <a:spcBef>
                <a:spcPts val="0"/>
              </a:spcBef>
              <a:spcAft>
                <a:spcPts val="0"/>
              </a:spcAft>
            </a:pPr>
            <a:r>
              <a:rPr b="0" i="0" sz="1300">
                <a:solidFill>
                  <a:srgbClr val="141619"/>
                </a:solidFill>
                <a:latin typeface="Barlow"/>
              </a:rPr>
              <a:t>Packaged gas turbine</a:t>
            </a:r>
          </a:p>
        </p:txBody>
      </p:sp>
      <p:sp>
        <p:nvSpPr>
          <p:cNvPr id="11" name="Rectangle 10"/>
          <p:cNvSpPr/>
          <p:nvPr/>
        </p:nvSpPr>
        <p:spPr>
          <a:xfrm>
            <a:off x="7848600" y="2758380"/>
            <a:ext cx="3530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8600" y="2840930"/>
            <a:ext cx="293062" cy="21461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9E4C1A"/>
                </a:solidFill>
                <a:latin typeface="Barlow"/>
              </a:rPr>
              <a:t>6–8</a:t>
            </a:r>
          </a:p>
        </p:txBody>
      </p:sp>
      <p:sp>
        <p:nvSpPr>
          <p:cNvPr id="13" name="TextBox 12"/>
          <p:cNvSpPr txBox="1"/>
          <p:nvPr/>
        </p:nvSpPr>
        <p:spPr>
          <a:xfrm>
            <a:off x="8229600" y="2840930"/>
            <a:ext cx="2854734" cy="214630"/>
          </a:xfrm>
          <a:prstGeom prst="rect">
            <a:avLst/>
          </a:prstGeom>
          <a:noFill/>
        </p:spPr>
        <p:txBody>
          <a:bodyPr wrap="none" lIns="0" rIns="0" tIns="0" bIns="0" anchor="t">
            <a:noAutofit/>
          </a:bodyPr>
          <a:lstStyle/>
          <a:p>
            <a:pPr algn="l">
              <a:lnSpc>
                <a:spcPts val="1689"/>
              </a:lnSpc>
              <a:spcBef>
                <a:spcPts val="0"/>
              </a:spcBef>
              <a:spcAft>
                <a:spcPts val="0"/>
              </a:spcAft>
            </a:pPr>
            <a:r>
              <a:rPr b="0" i="0" sz="1300">
                <a:solidFill>
                  <a:srgbClr val="141619"/>
                </a:solidFill>
                <a:latin typeface="Barlow"/>
              </a:rPr>
              <a:t>Microturbines, fuel cells and inverters</a:t>
            </a:r>
          </a:p>
        </p:txBody>
      </p:sp>
      <p:sp>
        <p:nvSpPr>
          <p:cNvPr id="14" name="Rectangle 13"/>
          <p:cNvSpPr/>
          <p:nvPr/>
        </p:nvSpPr>
        <p:spPr>
          <a:xfrm>
            <a:off x="7848600" y="3131741"/>
            <a:ext cx="3530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8600" y="3214291"/>
            <a:ext cx="287782" cy="393700"/>
          </a:xfrm>
          <a:prstGeom prst="rect">
            <a:avLst/>
          </a:prstGeom>
          <a:noFill/>
        </p:spPr>
        <p:txBody>
          <a:bodyPr wrap="square" lIns="0" rIns="0" tIns="0" bIns="0" anchor="t">
            <a:noAutofit/>
          </a:bodyPr>
          <a:lstStyle/>
          <a:p>
            <a:pPr algn="l">
              <a:lnSpc>
                <a:spcPts val="1560"/>
              </a:lnSpc>
              <a:spcBef>
                <a:spcPts val="0"/>
              </a:spcBef>
              <a:spcAft>
                <a:spcPts val="0"/>
              </a:spcAft>
            </a:pPr>
            <a:r>
              <a:rPr b="1" i="0" sz="1300">
                <a:solidFill>
                  <a:srgbClr val="9E4C1A"/>
                </a:solidFill>
                <a:latin typeface="Barlow"/>
              </a:rPr>
              <a:t>9–11</a:t>
            </a:r>
          </a:p>
        </p:txBody>
      </p:sp>
      <p:sp>
        <p:nvSpPr>
          <p:cNvPr id="16" name="TextBox 15"/>
          <p:cNvSpPr txBox="1"/>
          <p:nvPr/>
        </p:nvSpPr>
        <p:spPr>
          <a:xfrm>
            <a:off x="8229600" y="3214291"/>
            <a:ext cx="3022273" cy="393700"/>
          </a:xfrm>
          <a:prstGeom prst="rect">
            <a:avLst/>
          </a:prstGeom>
          <a:noFill/>
        </p:spPr>
        <p:txBody>
          <a:bodyPr wrap="none" lIns="0" rIns="0" tIns="0" bIns="0" anchor="t">
            <a:noAutofit/>
          </a:bodyPr>
          <a:lstStyle/>
          <a:p>
            <a:pPr algn="l">
              <a:lnSpc>
                <a:spcPts val="1689"/>
              </a:lnSpc>
              <a:spcBef>
                <a:spcPts val="0"/>
              </a:spcBef>
              <a:spcAft>
                <a:spcPts val="0"/>
              </a:spcAft>
            </a:pPr>
            <a:r>
              <a:rPr b="0" i="0" sz="1300">
                <a:solidFill>
                  <a:srgbClr val="141619"/>
                </a:solidFill>
                <a:latin typeface="Barlow"/>
              </a:rPr>
              <a:t>E-house, step-up transformer, MV tie-in</a:t>
            </a:r>
          </a:p>
        </p:txBody>
      </p:sp>
      <p:sp>
        <p:nvSpPr>
          <p:cNvPr id="17" name="Rectangle 16"/>
          <p:cNvSpPr/>
          <p:nvPr/>
        </p:nvSpPr>
        <p:spPr>
          <a:xfrm>
            <a:off x="7848600" y="3684191"/>
            <a:ext cx="3530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8600" y="3766741"/>
            <a:ext cx="279400" cy="21461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9E4C1A"/>
                </a:solidFill>
                <a:latin typeface="Barlow"/>
              </a:rPr>
              <a:t>15</a:t>
            </a:r>
          </a:p>
        </p:txBody>
      </p:sp>
      <p:sp>
        <p:nvSpPr>
          <p:cNvPr id="19" name="TextBox 18"/>
          <p:cNvSpPr txBox="1"/>
          <p:nvPr/>
        </p:nvSpPr>
        <p:spPr>
          <a:xfrm>
            <a:off x="8229600" y="3766741"/>
            <a:ext cx="2463810" cy="214630"/>
          </a:xfrm>
          <a:prstGeom prst="rect">
            <a:avLst/>
          </a:prstGeom>
          <a:noFill/>
        </p:spPr>
        <p:txBody>
          <a:bodyPr wrap="none" lIns="0" rIns="0" tIns="0" bIns="0" anchor="t">
            <a:noAutofit/>
          </a:bodyPr>
          <a:lstStyle/>
          <a:p>
            <a:pPr algn="l">
              <a:lnSpc>
                <a:spcPts val="1689"/>
              </a:lnSpc>
              <a:spcBef>
                <a:spcPts val="0"/>
              </a:spcBef>
              <a:spcAft>
                <a:spcPts val="0"/>
              </a:spcAft>
            </a:pPr>
            <a:r>
              <a:rPr b="0" i="0" sz="1300">
                <a:solidFill>
                  <a:srgbClr val="141619"/>
                </a:solidFill>
                <a:latin typeface="Barlow"/>
              </a:rPr>
              <a:t>Cable reels and preparation area</a:t>
            </a:r>
          </a:p>
        </p:txBody>
      </p:sp>
      <p:sp>
        <p:nvSpPr>
          <p:cNvPr id="20" name="Rectangle 19"/>
          <p:cNvSpPr/>
          <p:nvPr/>
        </p:nvSpPr>
        <p:spPr>
          <a:xfrm>
            <a:off x="7848600" y="4057551"/>
            <a:ext cx="3530600" cy="6350"/>
          </a:xfrm>
          <a:prstGeom prst="rect">
            <a:avLst/>
          </a:prstGeom>
          <a:solidFill>
            <a:srgbClr val="D3D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48600" y="4430911"/>
            <a:ext cx="3530600" cy="127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8600" y="4140101"/>
            <a:ext cx="279400" cy="214610"/>
          </a:xfrm>
          <a:prstGeom prst="rect">
            <a:avLst/>
          </a:prstGeom>
          <a:noFill/>
        </p:spPr>
        <p:txBody>
          <a:bodyPr wrap="none" lIns="0" rIns="0" tIns="0" bIns="0" anchor="t">
            <a:noAutofit/>
          </a:bodyPr>
          <a:lstStyle/>
          <a:p>
            <a:pPr algn="l">
              <a:lnSpc>
                <a:spcPts val="1560"/>
              </a:lnSpc>
              <a:spcBef>
                <a:spcPts val="0"/>
              </a:spcBef>
              <a:spcAft>
                <a:spcPts val="0"/>
              </a:spcAft>
            </a:pPr>
            <a:r>
              <a:rPr b="1" i="0" sz="1300">
                <a:solidFill>
                  <a:srgbClr val="9E4C1A"/>
                </a:solidFill>
                <a:latin typeface="Barlow"/>
              </a:rPr>
              <a:t>16</a:t>
            </a:r>
          </a:p>
        </p:txBody>
      </p:sp>
      <p:sp>
        <p:nvSpPr>
          <p:cNvPr id="23" name="TextBox 22"/>
          <p:cNvSpPr txBox="1"/>
          <p:nvPr/>
        </p:nvSpPr>
        <p:spPr>
          <a:xfrm>
            <a:off x="8229600" y="4140101"/>
            <a:ext cx="2097496" cy="214630"/>
          </a:xfrm>
          <a:prstGeom prst="rect">
            <a:avLst/>
          </a:prstGeom>
          <a:noFill/>
        </p:spPr>
        <p:txBody>
          <a:bodyPr wrap="none" lIns="0" rIns="0" tIns="0" bIns="0" anchor="t">
            <a:noAutofit/>
          </a:bodyPr>
          <a:lstStyle/>
          <a:p>
            <a:pPr algn="l">
              <a:lnSpc>
                <a:spcPts val="1689"/>
              </a:lnSpc>
              <a:spcBef>
                <a:spcPts val="0"/>
              </a:spcBef>
              <a:spcAft>
                <a:spcPts val="0"/>
              </a:spcAft>
            </a:pPr>
            <a:r>
              <a:rPr b="0" i="0" sz="1300">
                <a:solidFill>
                  <a:srgbClr val="141619"/>
                </a:solidFill>
                <a:latin typeface="Barlow"/>
              </a:rPr>
              <a:t>Grounding grid and bonding</a:t>
            </a:r>
          </a:p>
        </p:txBody>
      </p:sp>
      <p:sp>
        <p:nvSpPr>
          <p:cNvPr id="24" name="TextBox 23"/>
          <p:cNvSpPr txBox="1"/>
          <p:nvPr/>
        </p:nvSpPr>
        <p:spPr>
          <a:xfrm>
            <a:off x="812800" y="6267450"/>
            <a:ext cx="451382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ILLUSTRATIVE ARRANGEMENT · GENERIC EQUIPMENT AND CIRCUITS</a:t>
            </a:r>
          </a:p>
        </p:txBody>
      </p:sp>
      <p:sp>
        <p:nvSpPr>
          <p:cNvPr id="25" name="TextBox 24"/>
          <p:cNvSpPr txBox="1"/>
          <p:nvPr/>
        </p:nvSpPr>
        <p:spPr>
          <a:xfrm>
            <a:off x="11223625" y="6267450"/>
            <a:ext cx="19031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26</a:t>
            </a:r>
          </a:p>
        </p:txBody>
      </p:sp>
      <p:sp>
        <p:nvSpPr>
          <p:cNvPr id="26" name="Rectangle 25"/>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8" name="TextBox 27"/>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B4581F"/>
                </a:solidFill>
                <a:latin typeface="Barlow Condensed ExtraBold"/>
              </a:rPr>
              <a:t>HOW WE BACK THE CHANNEL</a:t>
            </a:r>
          </a:p>
        </p:txBody>
      </p:sp>
      <p:sp>
        <p:nvSpPr>
          <p:cNvPr id="3" name="Rectangle 2"/>
          <p:cNvSpPr/>
          <p:nvPr/>
        </p:nvSpPr>
        <p:spPr>
          <a:xfrm>
            <a:off x="812800" y="1574800"/>
            <a:ext cx="3318867"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1739900"/>
            <a:ext cx="3318867"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01</a:t>
            </a:r>
          </a:p>
        </p:txBody>
      </p:sp>
      <p:sp>
        <p:nvSpPr>
          <p:cNvPr id="5" name="TextBox 4"/>
          <p:cNvSpPr txBox="1"/>
          <p:nvPr/>
        </p:nvSpPr>
        <p:spPr>
          <a:xfrm>
            <a:off x="812800" y="2082800"/>
            <a:ext cx="3318867"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SPEC SUPPORT</a:t>
            </a:r>
          </a:p>
        </p:txBody>
      </p:sp>
      <p:sp>
        <p:nvSpPr>
          <p:cNvPr id="6" name="TextBox 5"/>
          <p:cNvSpPr txBox="1"/>
          <p:nvPr/>
        </p:nvSpPr>
        <p:spPr>
          <a:xfrm>
            <a:off x="812800" y="2419350"/>
            <a:ext cx="3418433"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Cable sizing, derating and spec reviews for EPCs and OEMs</a:t>
            </a:r>
          </a:p>
        </p:txBody>
      </p:sp>
      <p:sp>
        <p:nvSpPr>
          <p:cNvPr id="7" name="Rectangle 6"/>
          <p:cNvSpPr/>
          <p:nvPr/>
        </p:nvSpPr>
        <p:spPr>
          <a:xfrm>
            <a:off x="4436467" y="1574800"/>
            <a:ext cx="3318966"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6467" y="1739900"/>
            <a:ext cx="3318966"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02</a:t>
            </a:r>
          </a:p>
        </p:txBody>
      </p:sp>
      <p:sp>
        <p:nvSpPr>
          <p:cNvPr id="9" name="TextBox 8"/>
          <p:cNvSpPr txBox="1"/>
          <p:nvPr/>
        </p:nvSpPr>
        <p:spPr>
          <a:xfrm>
            <a:off x="4436467" y="2082800"/>
            <a:ext cx="3318966"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CUT-TO-LENGTH</a:t>
            </a:r>
          </a:p>
        </p:txBody>
      </p:sp>
      <p:sp>
        <p:nvSpPr>
          <p:cNvPr id="10" name="TextBox 9"/>
          <p:cNvSpPr txBox="1"/>
          <p:nvPr/>
        </p:nvSpPr>
        <p:spPr>
          <a:xfrm>
            <a:off x="4436467" y="2419350"/>
            <a:ext cx="341853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Drum lengths planned against the cable schedule</a:t>
            </a:r>
          </a:p>
        </p:txBody>
      </p:sp>
      <p:sp>
        <p:nvSpPr>
          <p:cNvPr id="11" name="Rectangle 10"/>
          <p:cNvSpPr/>
          <p:nvPr/>
        </p:nvSpPr>
        <p:spPr>
          <a:xfrm>
            <a:off x="8060234" y="1574800"/>
            <a:ext cx="3318966"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0234" y="1739900"/>
            <a:ext cx="3318966"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03</a:t>
            </a:r>
          </a:p>
        </p:txBody>
      </p:sp>
      <p:sp>
        <p:nvSpPr>
          <p:cNvPr id="13" name="TextBox 12"/>
          <p:cNvSpPr txBox="1"/>
          <p:nvPr/>
        </p:nvSpPr>
        <p:spPr>
          <a:xfrm>
            <a:off x="8060234" y="2082800"/>
            <a:ext cx="3318966"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HARNESS KITS</a:t>
            </a:r>
          </a:p>
        </p:txBody>
      </p:sp>
      <p:sp>
        <p:nvSpPr>
          <p:cNvPr id="14" name="TextBox 13"/>
          <p:cNvSpPr txBox="1"/>
          <p:nvPr/>
        </p:nvSpPr>
        <p:spPr>
          <a:xfrm>
            <a:off x="8060234" y="2419350"/>
            <a:ext cx="341853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Pre-terminated, labelled kits for skids and panels</a:t>
            </a:r>
          </a:p>
        </p:txBody>
      </p:sp>
      <p:sp>
        <p:nvSpPr>
          <p:cNvPr id="15" name="Rectangle 14"/>
          <p:cNvSpPr/>
          <p:nvPr/>
        </p:nvSpPr>
        <p:spPr>
          <a:xfrm>
            <a:off x="812800" y="3153370"/>
            <a:ext cx="3318867"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3318470"/>
            <a:ext cx="3318867"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04</a:t>
            </a:r>
          </a:p>
        </p:txBody>
      </p:sp>
      <p:sp>
        <p:nvSpPr>
          <p:cNvPr id="17" name="TextBox 16"/>
          <p:cNvSpPr txBox="1"/>
          <p:nvPr/>
        </p:nvSpPr>
        <p:spPr>
          <a:xfrm>
            <a:off x="812800" y="3661370"/>
            <a:ext cx="3318867"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STOCKING PROGRAM</a:t>
            </a:r>
          </a:p>
        </p:txBody>
      </p:sp>
      <p:sp>
        <p:nvSpPr>
          <p:cNvPr id="18" name="TextBox 17"/>
          <p:cNvSpPr txBox="1"/>
          <p:nvPr/>
        </p:nvSpPr>
        <p:spPr>
          <a:xfrm>
            <a:off x="812800" y="3997920"/>
            <a:ext cx="3418433"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Core control and power SKUs held at [Anixter/Wesco locations]</a:t>
            </a:r>
          </a:p>
        </p:txBody>
      </p:sp>
      <p:sp>
        <p:nvSpPr>
          <p:cNvPr id="19" name="Rectangle 18"/>
          <p:cNvSpPr/>
          <p:nvPr/>
        </p:nvSpPr>
        <p:spPr>
          <a:xfrm>
            <a:off x="4436467" y="3153370"/>
            <a:ext cx="3318966"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6467" y="3318470"/>
            <a:ext cx="3318966"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05</a:t>
            </a:r>
          </a:p>
        </p:txBody>
      </p:sp>
      <p:sp>
        <p:nvSpPr>
          <p:cNvPr id="21" name="TextBox 20"/>
          <p:cNvSpPr txBox="1"/>
          <p:nvPr/>
        </p:nvSpPr>
        <p:spPr>
          <a:xfrm>
            <a:off x="4436467" y="3661370"/>
            <a:ext cx="3318966"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PROJECT LOGISTICS</a:t>
            </a:r>
          </a:p>
        </p:txBody>
      </p:sp>
      <p:sp>
        <p:nvSpPr>
          <p:cNvPr id="22" name="TextBox 21"/>
          <p:cNvSpPr txBox="1"/>
          <p:nvPr/>
        </p:nvSpPr>
        <p:spPr>
          <a:xfrm>
            <a:off x="4436467" y="3997920"/>
            <a:ext cx="341853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Drum tracking and sequenced site deliveries</a:t>
            </a:r>
          </a:p>
        </p:txBody>
      </p:sp>
      <p:sp>
        <p:nvSpPr>
          <p:cNvPr id="23" name="Rectangle 22"/>
          <p:cNvSpPr/>
          <p:nvPr/>
        </p:nvSpPr>
        <p:spPr>
          <a:xfrm>
            <a:off x="8060234" y="3153370"/>
            <a:ext cx="3318966"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60234" y="3318470"/>
            <a:ext cx="3318966" cy="279400"/>
          </a:xfrm>
          <a:prstGeom prst="rect">
            <a:avLst/>
          </a:prstGeom>
          <a:noFill/>
        </p:spPr>
        <p:txBody>
          <a:bodyPr wrap="none" lIns="0" rIns="0" tIns="0" bIns="0" anchor="t">
            <a:noAutofit/>
          </a:bodyPr>
          <a:lstStyle/>
          <a:p>
            <a:pPr algn="l">
              <a:lnSpc>
                <a:spcPts val="2200"/>
              </a:lnSpc>
              <a:spcBef>
                <a:spcPts val="0"/>
              </a:spcBef>
              <a:spcAft>
                <a:spcPts val="0"/>
              </a:spcAft>
            </a:pPr>
            <a:r>
              <a:rPr b="0" i="0" sz="2200">
                <a:solidFill>
                  <a:srgbClr val="9E4C1A"/>
                </a:solidFill>
                <a:latin typeface="Barlow Condensed ExtraBold"/>
              </a:rPr>
              <a:t>06</a:t>
            </a:r>
          </a:p>
        </p:txBody>
      </p:sp>
      <p:sp>
        <p:nvSpPr>
          <p:cNvPr id="25" name="TextBox 24"/>
          <p:cNvSpPr txBox="1"/>
          <p:nvPr/>
        </p:nvSpPr>
        <p:spPr>
          <a:xfrm>
            <a:off x="8060234" y="3661370"/>
            <a:ext cx="3318966"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FIELD SUPPORT</a:t>
            </a:r>
          </a:p>
        </p:txBody>
      </p:sp>
      <p:sp>
        <p:nvSpPr>
          <p:cNvPr id="26" name="TextBox 25"/>
          <p:cNvSpPr txBox="1"/>
          <p:nvPr/>
        </p:nvSpPr>
        <p:spPr>
          <a:xfrm>
            <a:off x="8060234" y="3997920"/>
            <a:ext cx="3418535" cy="48002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4A525B"/>
                </a:solidFill>
                <a:latin typeface="Barlow"/>
              </a:rPr>
              <a:t>Pulling calcs, termination and commissioning tests</a:t>
            </a:r>
          </a:p>
        </p:txBody>
      </p:sp>
      <p:sp>
        <p:nvSpPr>
          <p:cNvPr id="27" name="TextBox 26"/>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28" name="TextBox 27"/>
          <p:cNvSpPr txBox="1"/>
          <p:nvPr/>
        </p:nvSpPr>
        <p:spPr>
          <a:xfrm>
            <a:off x="11229280" y="6267450"/>
            <a:ext cx="18431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27</a:t>
            </a:r>
          </a:p>
        </p:txBody>
      </p:sp>
      <p:sp>
        <p:nvSpPr>
          <p:cNvPr id="29" name="Rectangle 28"/>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1" name="TextBox 30"/>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2"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pic>
        <p:nvPicPr>
          <p:cNvPr id="2" name="Picture 1" descr="value_65b70b63.jpg"/>
          <p:cNvPicPr>
            <a:picLocks noChangeAspect="1"/>
          </p:cNvPicPr>
          <p:nvPr/>
        </p:nvPicPr>
        <p:blipFill>
          <a:blip r:embed="rId2"/>
          <a:stretch>
            <a:fillRect/>
          </a:stretch>
        </p:blipFill>
        <p:spPr>
          <a:xfrm>
            <a:off x="0" y="0"/>
            <a:ext cx="6350000" cy="6858000"/>
          </a:xfrm>
          <a:prstGeom prst="rect">
            <a:avLst/>
          </a:prstGeom>
        </p:spPr>
      </p:pic>
      <p:sp>
        <p:nvSpPr>
          <p:cNvPr id="3" name="Rectangle 2"/>
          <p:cNvSpPr/>
          <p:nvPr/>
        </p:nvSpPr>
        <p:spPr>
          <a:xfrm>
            <a:off x="6350000" y="0"/>
            <a:ext cx="76200" cy="68580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31000" y="812800"/>
            <a:ext cx="46482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VALUE PROPOSITION</a:t>
            </a:r>
          </a:p>
        </p:txBody>
      </p:sp>
      <p:sp>
        <p:nvSpPr>
          <p:cNvPr id="5" name="TextBox 4"/>
          <p:cNvSpPr txBox="1"/>
          <p:nvPr/>
        </p:nvSpPr>
        <p:spPr>
          <a:xfrm>
            <a:off x="6731000" y="1231900"/>
            <a:ext cx="4787646" cy="914400"/>
          </a:xfrm>
          <a:prstGeom prst="rect">
            <a:avLst/>
          </a:prstGeom>
          <a:noFill/>
        </p:spPr>
        <p:txBody>
          <a:bodyPr wrap="square" lIns="0" rIns="0" tIns="0" bIns="0" anchor="t">
            <a:noAutofit/>
          </a:bodyPr>
          <a:lstStyle/>
          <a:p>
            <a:pPr algn="l">
              <a:lnSpc>
                <a:spcPts val="3600"/>
              </a:lnSpc>
              <a:spcBef>
                <a:spcPts val="0"/>
              </a:spcBef>
              <a:spcAft>
                <a:spcPts val="0"/>
              </a:spcAft>
            </a:pPr>
            <a:r>
              <a:rPr b="0" i="0" sz="3600">
                <a:solidFill>
                  <a:srgbClr val="F5F3EF"/>
                </a:solidFill>
                <a:latin typeface="Barlow Condensed ExtraBold"/>
              </a:rPr>
              <a:t>ACCELERATING TIME TO POWER</a:t>
            </a:r>
          </a:p>
        </p:txBody>
      </p:sp>
      <p:sp>
        <p:nvSpPr>
          <p:cNvPr id="6" name="Rectangle 5"/>
          <p:cNvSpPr/>
          <p:nvPr/>
        </p:nvSpPr>
        <p:spPr>
          <a:xfrm>
            <a:off x="6731000" y="2349500"/>
            <a:ext cx="4648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1000" y="2470150"/>
            <a:ext cx="4648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LESS INSTALLATION TIME</a:t>
            </a:r>
          </a:p>
        </p:txBody>
      </p:sp>
      <p:sp>
        <p:nvSpPr>
          <p:cNvPr id="8" name="TextBox 7"/>
          <p:cNvSpPr txBox="1"/>
          <p:nvPr/>
        </p:nvSpPr>
        <p:spPr>
          <a:xfrm>
            <a:off x="6731000" y="2781300"/>
            <a:ext cx="464820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Prefab and standard designs across projects</a:t>
            </a:r>
          </a:p>
        </p:txBody>
      </p:sp>
      <p:sp>
        <p:nvSpPr>
          <p:cNvPr id="9" name="Rectangle 8"/>
          <p:cNvSpPr/>
          <p:nvPr/>
        </p:nvSpPr>
        <p:spPr>
          <a:xfrm>
            <a:off x="6731000" y="3118445"/>
            <a:ext cx="4648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1000" y="3239095"/>
            <a:ext cx="4648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MATERIAL READINESS</a:t>
            </a:r>
          </a:p>
        </p:txBody>
      </p:sp>
      <p:sp>
        <p:nvSpPr>
          <p:cNvPr id="11" name="TextBox 10"/>
          <p:cNvSpPr txBox="1"/>
          <p:nvPr/>
        </p:nvSpPr>
        <p:spPr>
          <a:xfrm>
            <a:off x="6731000" y="3550245"/>
            <a:ext cx="464820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Reel IDs, kits and sequenced delivery</a:t>
            </a:r>
          </a:p>
        </p:txBody>
      </p:sp>
      <p:sp>
        <p:nvSpPr>
          <p:cNvPr id="12" name="Rectangle 11"/>
          <p:cNvSpPr/>
          <p:nvPr/>
        </p:nvSpPr>
        <p:spPr>
          <a:xfrm>
            <a:off x="6731000" y="3887391"/>
            <a:ext cx="4648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000" y="4008041"/>
            <a:ext cx="4648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SUPPLY CERTAINTY</a:t>
            </a:r>
          </a:p>
        </p:txBody>
      </p:sp>
      <p:sp>
        <p:nvSpPr>
          <p:cNvPr id="14" name="TextBox 13"/>
          <p:cNvSpPr txBox="1"/>
          <p:nvPr/>
        </p:nvSpPr>
        <p:spPr>
          <a:xfrm>
            <a:off x="6731000" y="4319191"/>
            <a:ext cx="464820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Forecasts tied to a confirmed supply plan</a:t>
            </a:r>
          </a:p>
        </p:txBody>
      </p:sp>
      <p:sp>
        <p:nvSpPr>
          <p:cNvPr id="15" name="Rectangle 14"/>
          <p:cNvSpPr/>
          <p:nvPr/>
        </p:nvSpPr>
        <p:spPr>
          <a:xfrm>
            <a:off x="6731000" y="4656336"/>
            <a:ext cx="4648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31000" y="5425281"/>
            <a:ext cx="4648200" cy="6350"/>
          </a:xfrm>
          <a:prstGeom prst="rect">
            <a:avLst/>
          </a:prstGeom>
          <a:solidFill>
            <a:srgbClr val="3A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31000" y="4776986"/>
            <a:ext cx="4648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F5F3EF"/>
                </a:solidFill>
                <a:latin typeface="Barlow Condensed ExtraBold"/>
              </a:rPr>
              <a:t>EXECUTION SPEED</a:t>
            </a:r>
          </a:p>
        </p:txBody>
      </p:sp>
      <p:sp>
        <p:nvSpPr>
          <p:cNvPr id="18" name="TextBox 17"/>
          <p:cNvSpPr txBox="1"/>
          <p:nvPr/>
        </p:nvSpPr>
        <p:spPr>
          <a:xfrm>
            <a:off x="6731000" y="5088136"/>
            <a:ext cx="464820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Earlier decisions and repeat designs</a:t>
            </a:r>
          </a:p>
        </p:txBody>
      </p:sp>
      <p:sp>
        <p:nvSpPr>
          <p:cNvPr id="19" name="TextBox 18"/>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28</a:t>
            </a:r>
          </a:p>
        </p:txBody>
      </p:sp>
      <p:sp>
        <p:nvSpPr>
          <p:cNvPr id="20" name="Rectangle 19"/>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2" name="Rectangle 21"/>
          <p:cNvSpPr/>
          <p:nvPr/>
        </p:nvSpPr>
        <p:spPr>
          <a:xfrm>
            <a:off x="0" y="6546850"/>
            <a:ext cx="5874445"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2400" y="6610350"/>
            <a:ext cx="592922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Confidential · Do not distribute · © 2026 Southwire Company, LLC.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B4581F"/>
        </a:solidFill>
        <a:effectLst/>
      </p:bgPr>
    </p:bg>
    <p:spTree>
      <p:nvGrpSpPr>
        <p:cNvPr id="1" name=""/>
        <p:cNvGrpSpPr/>
        <p:nvPr/>
      </p:nvGrpSpPr>
      <p:grpSpPr/>
      <p:pic>
        <p:nvPicPr>
          <p:cNvPr id="2" name="Picture 1" descr="sw_logo_white.png"/>
          <p:cNvPicPr>
            <a:picLocks noChangeAspect="1"/>
          </p:cNvPicPr>
          <p:nvPr/>
        </p:nvPicPr>
        <p:blipFill>
          <a:blip r:embed="rId2"/>
          <a:stretch>
            <a:fillRect/>
          </a:stretch>
        </p:blipFill>
        <p:spPr>
          <a:xfrm>
            <a:off x="812800" y="457200"/>
            <a:ext cx="2540000" cy="628650"/>
          </a:xfrm>
          <a:prstGeom prst="rect">
            <a:avLst/>
          </a:prstGeom>
        </p:spPr>
      </p:pic>
      <p:pic>
        <p:nvPicPr>
          <p:cNvPr id="3" name="Picture 2" descr="divwin_4a801023.jpg"/>
          <p:cNvPicPr>
            <a:picLocks noChangeAspect="1"/>
          </p:cNvPicPr>
          <p:nvPr/>
        </p:nvPicPr>
        <p:blipFill>
          <a:blip r:embed="rId3"/>
          <a:stretch>
            <a:fillRect/>
          </a:stretch>
        </p:blipFill>
        <p:spPr>
          <a:xfrm>
            <a:off x="5207000" y="0"/>
            <a:ext cx="6985000" cy="6858000"/>
          </a:xfrm>
          <a:prstGeom prst="rect">
            <a:avLst/>
          </a:prstGeom>
        </p:spPr>
      </p:pic>
      <p:sp>
        <p:nvSpPr>
          <p:cNvPr id="4" name="TextBox 3"/>
          <p:cNvSpPr txBox="1"/>
          <p:nvPr/>
        </p:nvSpPr>
        <p:spPr>
          <a:xfrm>
            <a:off x="812800" y="1519238"/>
            <a:ext cx="10566400" cy="917575"/>
          </a:xfrm>
          <a:prstGeom prst="rect">
            <a:avLst/>
          </a:prstGeom>
          <a:noFill/>
        </p:spPr>
        <p:txBody>
          <a:bodyPr wrap="none" lIns="0" rIns="0" tIns="0" bIns="0" anchor="t">
            <a:noAutofit/>
          </a:bodyPr>
          <a:lstStyle/>
          <a:p>
            <a:pPr algn="l">
              <a:lnSpc>
                <a:spcPts val="7225"/>
              </a:lnSpc>
              <a:spcBef>
                <a:spcPts val="0"/>
              </a:spcBef>
              <a:spcAft>
                <a:spcPts val="0"/>
              </a:spcAft>
            </a:pPr>
            <a:r>
              <a:rPr b="0" i="0" sz="8500">
                <a:solidFill>
                  <a:srgbClr val="141619"/>
                </a:solidFill>
                <a:latin typeface="Barlow Condensed ExtraBold"/>
              </a:rPr>
              <a:t>03</a:t>
            </a:r>
          </a:p>
        </p:txBody>
      </p:sp>
      <p:sp>
        <p:nvSpPr>
          <p:cNvPr id="5" name="TextBox 4"/>
          <p:cNvSpPr txBox="1"/>
          <p:nvPr/>
        </p:nvSpPr>
        <p:spPr>
          <a:xfrm>
            <a:off x="812800" y="2627312"/>
            <a:ext cx="4709160" cy="1371600"/>
          </a:xfrm>
          <a:prstGeom prst="rect">
            <a:avLst/>
          </a:prstGeom>
          <a:noFill/>
        </p:spPr>
        <p:txBody>
          <a:bodyPr wrap="square" lIns="0" rIns="0" tIns="0" bIns="0" anchor="t">
            <a:noAutofit/>
          </a:bodyPr>
          <a:lstStyle/>
          <a:p>
            <a:pPr algn="l">
              <a:lnSpc>
                <a:spcPts val="5400"/>
              </a:lnSpc>
              <a:spcBef>
                <a:spcPts val="0"/>
              </a:spcBef>
              <a:spcAft>
                <a:spcPts val="0"/>
              </a:spcAft>
            </a:pPr>
            <a:r>
              <a:rPr b="0" i="0" sz="6000">
                <a:solidFill>
                  <a:srgbClr val="FFFDFA"/>
                </a:solidFill>
                <a:latin typeface="Barlow Condensed ExtraBold"/>
              </a:rPr>
              <a:t>WINNING </a:t>
            </a:r>
            <a:r>
              <a:rPr b="0" i="0" sz="6000">
                <a:solidFill>
                  <a:srgbClr val="141619"/>
                </a:solidFill>
                <a:latin typeface="Barlow Condensed ExtraBold"/>
              </a:rPr>
              <a:t>TOGETHER</a:t>
            </a:r>
          </a:p>
        </p:txBody>
      </p:sp>
      <p:sp>
        <p:nvSpPr>
          <p:cNvPr id="6" name="Rectangle 5"/>
          <p:cNvSpPr/>
          <p:nvPr/>
        </p:nvSpPr>
        <p:spPr>
          <a:xfrm>
            <a:off x="812800" y="4189412"/>
            <a:ext cx="4064000" cy="63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427196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FFFDFA"/>
                </a:solidFill>
                <a:latin typeface="Barlow Condensed"/>
              </a:rPr>
              <a:t>PROJECTS WORTH A JOINT REVIEW</a:t>
            </a:r>
          </a:p>
        </p:txBody>
      </p:sp>
      <p:sp>
        <p:nvSpPr>
          <p:cNvPr id="8" name="Rectangle 7"/>
          <p:cNvSpPr/>
          <p:nvPr/>
        </p:nvSpPr>
        <p:spPr>
          <a:xfrm>
            <a:off x="812800" y="4589462"/>
            <a:ext cx="4064000" cy="63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467201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FFFDFA"/>
                </a:solidFill>
                <a:latin typeface="Barlow Condensed"/>
              </a:rPr>
              <a:t>PACKAGE BUILDERS AND PANEL SHOPS</a:t>
            </a:r>
          </a:p>
        </p:txBody>
      </p:sp>
      <p:sp>
        <p:nvSpPr>
          <p:cNvPr id="10" name="Rectangle 9"/>
          <p:cNvSpPr/>
          <p:nvPr/>
        </p:nvSpPr>
        <p:spPr>
          <a:xfrm>
            <a:off x="812800" y="4989512"/>
            <a:ext cx="4064000" cy="63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507206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FFFDFA"/>
                </a:solidFill>
                <a:latin typeface="Barlow Condensed"/>
              </a:rPr>
              <a:t>JOINT OPERATING MODEL</a:t>
            </a:r>
          </a:p>
        </p:txBody>
      </p:sp>
      <p:sp>
        <p:nvSpPr>
          <p:cNvPr id="12" name="Rectangle 11"/>
          <p:cNvSpPr/>
          <p:nvPr/>
        </p:nvSpPr>
        <p:spPr>
          <a:xfrm>
            <a:off x="812800" y="5389562"/>
            <a:ext cx="4064000" cy="63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2800" y="5789612"/>
            <a:ext cx="4064000" cy="6350"/>
          </a:xfrm>
          <a:prstGeom prst="rect">
            <a:avLst/>
          </a:prstGeom>
          <a:solidFill>
            <a:srgbClr val="E3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5472112"/>
            <a:ext cx="4064000" cy="243840"/>
          </a:xfrm>
          <a:prstGeom prst="rect">
            <a:avLst/>
          </a:prstGeom>
          <a:noFill/>
        </p:spPr>
        <p:txBody>
          <a:bodyPr wrap="none" lIns="0" rIns="0" tIns="0" bIns="0" anchor="t">
            <a:noAutofit/>
          </a:bodyPr>
          <a:lstStyle/>
          <a:p>
            <a:pPr algn="l">
              <a:lnSpc>
                <a:spcPts val="1920"/>
              </a:lnSpc>
              <a:spcBef>
                <a:spcPts val="0"/>
              </a:spcBef>
              <a:spcAft>
                <a:spcPts val="0"/>
              </a:spcAft>
            </a:pPr>
            <a:r>
              <a:rPr b="1" i="0" sz="1600" spc="100">
                <a:solidFill>
                  <a:srgbClr val="FFFDFA"/>
                </a:solidFill>
                <a:latin typeface="Barlow Condensed"/>
              </a:rPr>
              <a:t>DECISIONS FOR TODAY</a:t>
            </a:r>
          </a:p>
        </p:txBody>
      </p:sp>
      <p:sp>
        <p:nvSpPr>
          <p:cNvPr id="15" name="Rectangle 14"/>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17" name="Rectangle 16"/>
          <p:cNvSpPr/>
          <p:nvPr/>
        </p:nvSpPr>
        <p:spPr>
          <a:xfrm>
            <a:off x="0" y="6546850"/>
            <a:ext cx="5874445"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10350"/>
            <a:ext cx="592922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Confidential · Do not distribute · © 2026 Southwire Company, LLC.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PUBLIC PROJECT SIGNALS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PROJECTS WORTH A JOINT REVIEW</a:t>
            </a:r>
          </a:p>
        </p:txBody>
      </p:sp>
      <p:sp>
        <p:nvSpPr>
          <p:cNvPr id="4" name="Rectangle 3"/>
          <p:cNvSpPr/>
          <p:nvPr/>
        </p:nvSpPr>
        <p:spPr>
          <a:xfrm>
            <a:off x="825500" y="1828800"/>
            <a:ext cx="10541000" cy="21590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1850" y="1835150"/>
            <a:ext cx="2721273" cy="20574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F5F3EF"/>
                </a:solidFill>
                <a:latin typeface="Barlow"/>
              </a:rPr>
              <a:t>Project · program</a:t>
            </a:r>
          </a:p>
        </p:txBody>
      </p:sp>
      <p:sp>
        <p:nvSpPr>
          <p:cNvPr id="6" name="TextBox 5"/>
          <p:cNvSpPr txBox="1"/>
          <p:nvPr/>
        </p:nvSpPr>
        <p:spPr>
          <a:xfrm>
            <a:off x="3578523" y="1835150"/>
            <a:ext cx="3772892" cy="20574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F5F3EF"/>
                </a:solidFill>
                <a:latin typeface="Barlow"/>
              </a:rPr>
              <a:t>Public evidence</a:t>
            </a:r>
          </a:p>
        </p:txBody>
      </p:sp>
      <p:sp>
        <p:nvSpPr>
          <p:cNvPr id="7" name="TextBox 6"/>
          <p:cNvSpPr txBox="1"/>
          <p:nvPr/>
        </p:nvSpPr>
        <p:spPr>
          <a:xfrm>
            <a:off x="7376815" y="1835150"/>
            <a:ext cx="3983335" cy="20574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F5F3EF"/>
                </a:solidFill>
                <a:latin typeface="Barlow"/>
              </a:rPr>
              <a:t>Joint review question</a:t>
            </a:r>
          </a:p>
        </p:txBody>
      </p:sp>
      <p:sp>
        <p:nvSpPr>
          <p:cNvPr id="8" name="Rectangle 7"/>
          <p:cNvSpPr/>
          <p:nvPr/>
        </p:nvSpPr>
        <p:spPr>
          <a:xfrm>
            <a:off x="825500" y="2057400"/>
            <a:ext cx="10541000" cy="2159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850" y="2063750"/>
            <a:ext cx="2721273" cy="20574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141619"/>
                </a:solidFill>
                <a:latin typeface="Barlow"/>
              </a:rPr>
              <a:t>CPV Basin Ranch, TX</a:t>
            </a:r>
          </a:p>
        </p:txBody>
      </p:sp>
      <p:sp>
        <p:nvSpPr>
          <p:cNvPr id="10" name="TextBox 9"/>
          <p:cNvSpPr txBox="1"/>
          <p:nvPr/>
        </p:nvSpPr>
        <p:spPr>
          <a:xfrm>
            <a:off x="3578523" y="2063750"/>
            <a:ext cx="3772892" cy="205740"/>
          </a:xfrm>
          <a:prstGeom prst="rect">
            <a:avLst/>
          </a:prstGeom>
          <a:noFill/>
        </p:spPr>
        <p:txBody>
          <a:bodyPr wrap="none" lIns="0" rIns="0" tIns="0" bIns="0" anchor="t">
            <a:noAutofit/>
          </a:bodyPr>
          <a:lstStyle/>
          <a:p>
            <a:pPr algn="l">
              <a:lnSpc>
                <a:spcPts val="1620"/>
              </a:lnSpc>
              <a:spcBef>
                <a:spcPts val="0"/>
              </a:spcBef>
              <a:spcAft>
                <a:spcPts val="0"/>
              </a:spcAft>
            </a:pPr>
            <a:r>
              <a:rPr b="0" i="0" sz="1350">
                <a:solidFill>
                  <a:srgbClr val="141619"/>
                </a:solidFill>
                <a:latin typeface="Barlow"/>
              </a:rPr>
              <a:t>1,350 MW CCGT, construction under way</a:t>
            </a:r>
          </a:p>
        </p:txBody>
      </p:sp>
      <p:sp>
        <p:nvSpPr>
          <p:cNvPr id="11" name="TextBox 10"/>
          <p:cNvSpPr txBox="1"/>
          <p:nvPr/>
        </p:nvSpPr>
        <p:spPr>
          <a:xfrm>
            <a:off x="7376815" y="2063750"/>
            <a:ext cx="3983335" cy="205740"/>
          </a:xfrm>
          <a:prstGeom prst="rect">
            <a:avLst/>
          </a:prstGeom>
          <a:noFill/>
        </p:spPr>
        <p:txBody>
          <a:bodyPr wrap="none" lIns="0" rIns="0" tIns="0" bIns="0" anchor="t">
            <a:noAutofit/>
          </a:bodyPr>
          <a:lstStyle/>
          <a:p>
            <a:pPr algn="l">
              <a:lnSpc>
                <a:spcPts val="1620"/>
              </a:lnSpc>
              <a:spcBef>
                <a:spcPts val="0"/>
              </a:spcBef>
              <a:spcAft>
                <a:spcPts val="0"/>
              </a:spcAft>
            </a:pPr>
            <a:r>
              <a:rPr b="0" i="0" sz="1350">
                <a:solidFill>
                  <a:srgbClr val="141619"/>
                </a:solidFill>
                <a:latin typeface="Barlow"/>
              </a:rPr>
              <a:t>Who buys the remaining electrical packages?</a:t>
            </a:r>
          </a:p>
        </p:txBody>
      </p:sp>
      <p:sp>
        <p:nvSpPr>
          <p:cNvPr id="12" name="Rectangle 11"/>
          <p:cNvSpPr/>
          <p:nvPr/>
        </p:nvSpPr>
        <p:spPr>
          <a:xfrm>
            <a:off x="825500" y="2286000"/>
            <a:ext cx="10541000" cy="4191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850" y="2292350"/>
            <a:ext cx="2721273" cy="40640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141619"/>
                </a:solidFill>
                <a:latin typeface="Barlow"/>
              </a:rPr>
              <a:t>Homer City, PA</a:t>
            </a:r>
          </a:p>
        </p:txBody>
      </p:sp>
      <p:sp>
        <p:nvSpPr>
          <p:cNvPr id="14" name="TextBox 13"/>
          <p:cNvSpPr txBox="1"/>
          <p:nvPr/>
        </p:nvSpPr>
        <p:spPr>
          <a:xfrm>
            <a:off x="3578523" y="2292350"/>
            <a:ext cx="3886079" cy="406400"/>
          </a:xfrm>
          <a:prstGeom prst="rect">
            <a:avLst/>
          </a:prstGeom>
          <a:noFill/>
        </p:spPr>
        <p:txBody>
          <a:bodyPr wrap="square" lIns="0" rIns="0" tIns="0" bIns="0" anchor="t">
            <a:noAutofit/>
          </a:bodyPr>
          <a:lstStyle/>
          <a:p>
            <a:pPr algn="l">
              <a:lnSpc>
                <a:spcPts val="1620"/>
              </a:lnSpc>
              <a:spcBef>
                <a:spcPts val="0"/>
              </a:spcBef>
              <a:spcAft>
                <a:spcPts val="0"/>
              </a:spcAft>
            </a:pPr>
            <a:r>
              <a:rPr b="0" i="0" sz="1350">
                <a:solidFill>
                  <a:srgbClr val="141619"/>
                </a:solidFill>
                <a:latin typeface="Barlow"/>
              </a:rPr>
              <a:t>Up to 4.4 GW under construction; Kiewit, GE Vernova</a:t>
            </a:r>
          </a:p>
        </p:txBody>
      </p:sp>
      <p:sp>
        <p:nvSpPr>
          <p:cNvPr id="15" name="TextBox 14"/>
          <p:cNvSpPr txBox="1"/>
          <p:nvPr/>
        </p:nvSpPr>
        <p:spPr>
          <a:xfrm>
            <a:off x="7376815" y="2292350"/>
            <a:ext cx="3983335" cy="406400"/>
          </a:xfrm>
          <a:prstGeom prst="rect">
            <a:avLst/>
          </a:prstGeom>
          <a:noFill/>
        </p:spPr>
        <p:txBody>
          <a:bodyPr wrap="none" lIns="0" rIns="0" tIns="0" bIns="0" anchor="t">
            <a:noAutofit/>
          </a:bodyPr>
          <a:lstStyle/>
          <a:p>
            <a:pPr algn="l">
              <a:lnSpc>
                <a:spcPts val="1620"/>
              </a:lnSpc>
              <a:spcBef>
                <a:spcPts val="0"/>
              </a:spcBef>
              <a:spcAft>
                <a:spcPts val="0"/>
              </a:spcAft>
            </a:pPr>
            <a:r>
              <a:rPr b="0" i="0" sz="1350">
                <a:solidFill>
                  <a:srgbClr val="141619"/>
                </a:solidFill>
                <a:latin typeface="Barlow"/>
              </a:rPr>
              <a:t>Which site and OEM packages remain open?</a:t>
            </a:r>
          </a:p>
        </p:txBody>
      </p:sp>
      <p:sp>
        <p:nvSpPr>
          <p:cNvPr id="16" name="Rectangle 15"/>
          <p:cNvSpPr/>
          <p:nvPr/>
        </p:nvSpPr>
        <p:spPr>
          <a:xfrm>
            <a:off x="825500" y="2717800"/>
            <a:ext cx="10541000" cy="4191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850" y="2724150"/>
            <a:ext cx="2721273" cy="40640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141619"/>
                </a:solidFill>
                <a:latin typeface="Barlow"/>
              </a:rPr>
              <a:t>NRG Texas Energy Fund</a:t>
            </a:r>
          </a:p>
        </p:txBody>
      </p:sp>
      <p:sp>
        <p:nvSpPr>
          <p:cNvPr id="18" name="TextBox 17"/>
          <p:cNvSpPr txBox="1"/>
          <p:nvPr/>
        </p:nvSpPr>
        <p:spPr>
          <a:xfrm>
            <a:off x="3578523" y="2724150"/>
            <a:ext cx="3886079" cy="406400"/>
          </a:xfrm>
          <a:prstGeom prst="rect">
            <a:avLst/>
          </a:prstGeom>
          <a:noFill/>
        </p:spPr>
        <p:txBody>
          <a:bodyPr wrap="square" lIns="0" rIns="0" tIns="0" bIns="0" anchor="t">
            <a:noAutofit/>
          </a:bodyPr>
          <a:lstStyle/>
          <a:p>
            <a:pPr algn="l">
              <a:lnSpc>
                <a:spcPts val="1620"/>
              </a:lnSpc>
              <a:spcBef>
                <a:spcPts val="0"/>
              </a:spcBef>
              <a:spcAft>
                <a:spcPts val="0"/>
              </a:spcAft>
            </a:pPr>
            <a:r>
              <a:rPr b="0" i="0" sz="1350">
                <a:solidFill>
                  <a:srgbClr val="141619"/>
                </a:solidFill>
                <a:latin typeface="Barlow"/>
              </a:rPr>
              <a:t>Three projects, 1.5 GW, financed construction program</a:t>
            </a:r>
          </a:p>
        </p:txBody>
      </p:sp>
      <p:sp>
        <p:nvSpPr>
          <p:cNvPr id="19" name="TextBox 18"/>
          <p:cNvSpPr txBox="1"/>
          <p:nvPr/>
        </p:nvSpPr>
        <p:spPr>
          <a:xfrm>
            <a:off x="7376815" y="2724150"/>
            <a:ext cx="3983335" cy="406400"/>
          </a:xfrm>
          <a:prstGeom prst="rect">
            <a:avLst/>
          </a:prstGeom>
          <a:noFill/>
        </p:spPr>
        <p:txBody>
          <a:bodyPr wrap="none" lIns="0" rIns="0" tIns="0" bIns="0" anchor="t">
            <a:noAutofit/>
          </a:bodyPr>
          <a:lstStyle/>
          <a:p>
            <a:pPr algn="l">
              <a:lnSpc>
                <a:spcPts val="1620"/>
              </a:lnSpc>
              <a:spcBef>
                <a:spcPts val="0"/>
              </a:spcBef>
              <a:spcAft>
                <a:spcPts val="0"/>
              </a:spcAft>
            </a:pPr>
            <a:r>
              <a:rPr b="0" i="0" sz="1350">
                <a:solidFill>
                  <a:srgbClr val="141619"/>
                </a:solidFill>
                <a:latin typeface="Barlow"/>
              </a:rPr>
              <a:t>Which units and packages still need supply?</a:t>
            </a:r>
          </a:p>
        </p:txBody>
      </p:sp>
      <p:sp>
        <p:nvSpPr>
          <p:cNvPr id="20" name="Rectangle 19"/>
          <p:cNvSpPr/>
          <p:nvPr/>
        </p:nvSpPr>
        <p:spPr>
          <a:xfrm>
            <a:off x="825500" y="3149600"/>
            <a:ext cx="10541000" cy="419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850" y="3155950"/>
            <a:ext cx="2721273" cy="40640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FFFDFA"/>
                </a:solidFill>
                <a:latin typeface="Barlow"/>
              </a:rPr>
              <a:t>VoltaGrid</a:t>
            </a:r>
          </a:p>
        </p:txBody>
      </p:sp>
      <p:sp>
        <p:nvSpPr>
          <p:cNvPr id="22" name="TextBox 21"/>
          <p:cNvSpPr txBox="1"/>
          <p:nvPr/>
        </p:nvSpPr>
        <p:spPr>
          <a:xfrm>
            <a:off x="3578523" y="3155950"/>
            <a:ext cx="3886079" cy="406400"/>
          </a:xfrm>
          <a:prstGeom prst="rect">
            <a:avLst/>
          </a:prstGeom>
          <a:noFill/>
        </p:spPr>
        <p:txBody>
          <a:bodyPr wrap="square" lIns="0" rIns="0" tIns="0" bIns="0" anchor="t">
            <a:noAutofit/>
          </a:bodyPr>
          <a:lstStyle/>
          <a:p>
            <a:pPr algn="l">
              <a:lnSpc>
                <a:spcPts val="1620"/>
              </a:lnSpc>
              <a:spcBef>
                <a:spcPts val="0"/>
              </a:spcBef>
              <a:spcAft>
                <a:spcPts val="0"/>
              </a:spcAft>
            </a:pPr>
            <a:r>
              <a:rPr b="0" i="0" sz="1350">
                <a:solidFill>
                  <a:srgbClr val="FFFDFA"/>
                </a:solidFill>
                <a:latin typeface="Barlow"/>
              </a:rPr>
              <a:t>2.3 GW Oracle fleet; 1.5 GW, 300-engine order for delivery by 2028</a:t>
            </a:r>
          </a:p>
        </p:txBody>
      </p:sp>
      <p:sp>
        <p:nvSpPr>
          <p:cNvPr id="23" name="TextBox 22"/>
          <p:cNvSpPr txBox="1"/>
          <p:nvPr/>
        </p:nvSpPr>
        <p:spPr>
          <a:xfrm>
            <a:off x="7376815" y="3155950"/>
            <a:ext cx="4141091" cy="406400"/>
          </a:xfrm>
          <a:prstGeom prst="rect">
            <a:avLst/>
          </a:prstGeom>
          <a:noFill/>
        </p:spPr>
        <p:txBody>
          <a:bodyPr wrap="none" lIns="0" rIns="0" tIns="0" bIns="0" anchor="t">
            <a:noAutofit/>
          </a:bodyPr>
          <a:lstStyle/>
          <a:p>
            <a:pPr algn="l">
              <a:lnSpc>
                <a:spcPts val="1620"/>
              </a:lnSpc>
              <a:spcBef>
                <a:spcPts val="0"/>
              </a:spcBef>
              <a:spcAft>
                <a:spcPts val="0"/>
              </a:spcAft>
            </a:pPr>
            <a:r>
              <a:rPr b="0" i="0" sz="1350">
                <a:solidFill>
                  <a:srgbClr val="FFFDFA"/>
                </a:solidFill>
                <a:latin typeface="Barlow"/>
              </a:rPr>
              <a:t>Where does internal wiring split from site collection?</a:t>
            </a:r>
          </a:p>
        </p:txBody>
      </p:sp>
      <p:sp>
        <p:nvSpPr>
          <p:cNvPr id="24" name="Rectangle 23"/>
          <p:cNvSpPr/>
          <p:nvPr/>
        </p:nvSpPr>
        <p:spPr>
          <a:xfrm>
            <a:off x="825500" y="3581400"/>
            <a:ext cx="10541000" cy="4191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850" y="3587750"/>
            <a:ext cx="2721273" cy="406400"/>
          </a:xfrm>
          <a:prstGeom prst="rect">
            <a:avLst/>
          </a:prstGeom>
          <a:noFill/>
        </p:spPr>
        <p:txBody>
          <a:bodyPr wrap="none" lIns="0" rIns="0" tIns="0" bIns="0" anchor="t">
            <a:noAutofit/>
          </a:bodyPr>
          <a:lstStyle/>
          <a:p>
            <a:pPr algn="l">
              <a:lnSpc>
                <a:spcPts val="1620"/>
              </a:lnSpc>
              <a:spcBef>
                <a:spcPts val="0"/>
              </a:spcBef>
              <a:spcAft>
                <a:spcPts val="0"/>
              </a:spcAft>
            </a:pPr>
            <a:r>
              <a:rPr b="1" i="0" sz="1350">
                <a:solidFill>
                  <a:srgbClr val="141619"/>
                </a:solidFill>
                <a:latin typeface="Barlow"/>
              </a:rPr>
              <a:t>Entergy · IOU</a:t>
            </a:r>
          </a:p>
        </p:txBody>
      </p:sp>
      <p:sp>
        <p:nvSpPr>
          <p:cNvPr id="26" name="TextBox 25"/>
          <p:cNvSpPr txBox="1"/>
          <p:nvPr/>
        </p:nvSpPr>
        <p:spPr>
          <a:xfrm>
            <a:off x="3578523" y="3587750"/>
            <a:ext cx="3886079" cy="406400"/>
          </a:xfrm>
          <a:prstGeom prst="rect">
            <a:avLst/>
          </a:prstGeom>
          <a:noFill/>
        </p:spPr>
        <p:txBody>
          <a:bodyPr wrap="square" lIns="0" rIns="0" tIns="0" bIns="0" anchor="t">
            <a:noAutofit/>
          </a:bodyPr>
          <a:lstStyle/>
          <a:p>
            <a:pPr algn="l">
              <a:lnSpc>
                <a:spcPts val="1620"/>
              </a:lnSpc>
              <a:spcBef>
                <a:spcPts val="0"/>
              </a:spcBef>
              <a:spcAft>
                <a:spcPts val="0"/>
              </a:spcAft>
            </a:pPr>
            <a:r>
              <a:rPr b="0" i="0" sz="1350">
                <a:solidFill>
                  <a:srgbClr val="141619"/>
                </a:solidFill>
                <a:latin typeface="Barlow"/>
              </a:rPr>
              <a:t>16 gas units, ~14 GW in LA, TX, MS, AR; 5.8 GW building, incl. Meta’s Richland Parish</a:t>
            </a:r>
          </a:p>
        </p:txBody>
      </p:sp>
      <p:sp>
        <p:nvSpPr>
          <p:cNvPr id="27" name="TextBox 26"/>
          <p:cNvSpPr txBox="1"/>
          <p:nvPr/>
        </p:nvSpPr>
        <p:spPr>
          <a:xfrm>
            <a:off x="7376815" y="3587750"/>
            <a:ext cx="4102835" cy="406400"/>
          </a:xfrm>
          <a:prstGeom prst="rect">
            <a:avLst/>
          </a:prstGeom>
          <a:noFill/>
        </p:spPr>
        <p:txBody>
          <a:bodyPr wrap="square" lIns="0" rIns="0" tIns="0" bIns="0" anchor="t">
            <a:noAutofit/>
          </a:bodyPr>
          <a:lstStyle/>
          <a:p>
            <a:pPr algn="l">
              <a:lnSpc>
                <a:spcPts val="1620"/>
              </a:lnSpc>
              <a:spcBef>
                <a:spcPts val="0"/>
              </a:spcBef>
              <a:spcAft>
                <a:spcPts val="0"/>
              </a:spcAft>
            </a:pPr>
            <a:r>
              <a:rPr b="0" i="0" sz="1350">
                <a:solidFill>
                  <a:srgbClr val="141619"/>
                </a:solidFill>
                <a:latin typeface="Barlow"/>
              </a:rPr>
              <a:t>S&amp;L/TIC/Mitsubishi consortium on 8 units: who buys BOP and field cable?</a:t>
            </a:r>
          </a:p>
        </p:txBody>
      </p:sp>
      <p:sp>
        <p:nvSpPr>
          <p:cNvPr id="28" name="TextBox 27"/>
          <p:cNvSpPr txBox="1"/>
          <p:nvPr/>
        </p:nvSpPr>
        <p:spPr>
          <a:xfrm>
            <a:off x="812800" y="6267450"/>
            <a:ext cx="952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4A525B"/>
                </a:solidFill>
                <a:latin typeface="Barlow"/>
              </a:rPr>
              <a:t>Public status as of the Oct 2 source review. Anixter/Wesco access to be confirmed.</a:t>
            </a:r>
          </a:p>
        </p:txBody>
      </p:sp>
      <p:sp>
        <p:nvSpPr>
          <p:cNvPr id="29" name="TextBox 28"/>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4A525B"/>
                </a:solidFill>
                <a:latin typeface="Barlow Condensed SemiBold"/>
              </a:rPr>
              <a:t>30</a:t>
            </a:r>
          </a:p>
        </p:txBody>
      </p:sp>
      <p:sp>
        <p:nvSpPr>
          <p:cNvPr id="30" name="Rectangle 29"/>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2" name="TextBox 31"/>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3"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PACKAGE BUILDER OPPORTUNITY</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FROM FIELD CABLE INTO THE PACKAGE</a:t>
            </a:r>
          </a:p>
        </p:txBody>
      </p:sp>
      <p:pic>
        <p:nvPicPr>
          <p:cNvPr id="4" name="Picture 3" descr="package_a16b9456.jpg"/>
          <p:cNvPicPr>
            <a:picLocks noChangeAspect="1"/>
          </p:cNvPicPr>
          <p:nvPr/>
        </p:nvPicPr>
        <p:blipFill>
          <a:blip r:embed="rId2"/>
          <a:srcRect l="16536" r="16536"/>
          <a:stretch>
            <a:fillRect/>
          </a:stretch>
        </p:blipFill>
        <p:spPr>
          <a:xfrm>
            <a:off x="812800" y="1790700"/>
            <a:ext cx="4445000" cy="3937000"/>
          </a:xfrm>
          <a:prstGeom prst="rect">
            <a:avLst/>
          </a:prstGeom>
        </p:spPr>
      </p:pic>
      <p:sp>
        <p:nvSpPr>
          <p:cNvPr id="5" name="Rectangle 4"/>
          <p:cNvSpPr/>
          <p:nvPr/>
        </p:nvSpPr>
        <p:spPr>
          <a:xfrm>
            <a:off x="5511800" y="1790700"/>
            <a:ext cx="5867400" cy="130919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11800" y="1790700"/>
            <a:ext cx="5867400"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76900" y="1968500"/>
            <a:ext cx="5537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E-HOUSE · POWER ENCLOSURE</a:t>
            </a:r>
          </a:p>
        </p:txBody>
      </p:sp>
      <p:sp>
        <p:nvSpPr>
          <p:cNvPr id="8" name="TextBox 7"/>
          <p:cNvSpPr txBox="1"/>
          <p:nvPr/>
        </p:nvSpPr>
        <p:spPr>
          <a:xfrm>
            <a:off x="5676900" y="2292350"/>
            <a:ext cx="5703316" cy="411361"/>
          </a:xfrm>
          <a:prstGeom prst="rect">
            <a:avLst/>
          </a:prstGeom>
          <a:noFill/>
        </p:spPr>
        <p:txBody>
          <a:bodyPr wrap="square" lIns="0" rIns="0" tIns="0" bIns="0" anchor="t">
            <a:noAutofit/>
          </a:bodyPr>
          <a:lstStyle/>
          <a:p>
            <a:pPr algn="l">
              <a:lnSpc>
                <a:spcPts val="1620"/>
              </a:lnSpc>
              <a:spcBef>
                <a:spcPts val="0"/>
              </a:spcBef>
              <a:spcAft>
                <a:spcPts val="0"/>
              </a:spcAft>
            </a:pPr>
            <a:r>
              <a:rPr b="1" i="0" sz="1200">
                <a:solidFill>
                  <a:srgbClr val="141619"/>
                </a:solidFill>
                <a:latin typeface="Barlow"/>
              </a:rPr>
              <a:t>Powell Industries</a:t>
            </a:r>
            <a:r>
              <a:rPr b="0" i="0" sz="1200">
                <a:solidFill>
                  <a:srgbClr val="141619"/>
                </a:solidFill>
                <a:latin typeface="Barlow"/>
              </a:rPr>
              <a:t> (Anixter/Wesco global account), Fibrebond (Eaton), TAS, EAS North Carolina</a:t>
            </a:r>
          </a:p>
        </p:txBody>
      </p:sp>
      <p:sp>
        <p:nvSpPr>
          <p:cNvPr id="9" name="TextBox 8"/>
          <p:cNvSpPr txBox="1"/>
          <p:nvPr/>
        </p:nvSpPr>
        <p:spPr>
          <a:xfrm>
            <a:off x="5676900" y="2754511"/>
            <a:ext cx="55372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4A525B"/>
                </a:solidFill>
                <a:latin typeface="Barlow"/>
              </a:rPr>
              <a:t>MV EPR switchgear ties, Machine FLEX, tray and panel wire</a:t>
            </a:r>
          </a:p>
        </p:txBody>
      </p:sp>
      <p:sp>
        <p:nvSpPr>
          <p:cNvPr id="10" name="Rectangle 9"/>
          <p:cNvSpPr/>
          <p:nvPr/>
        </p:nvSpPr>
        <p:spPr>
          <a:xfrm>
            <a:off x="5511800" y="3226891"/>
            <a:ext cx="5867400" cy="110351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11800" y="3226891"/>
            <a:ext cx="5867400"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76900" y="3404691"/>
            <a:ext cx="5537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PANEL · INTEGRATION SHOP</a:t>
            </a:r>
          </a:p>
        </p:txBody>
      </p:sp>
      <p:sp>
        <p:nvSpPr>
          <p:cNvPr id="13" name="TextBox 12"/>
          <p:cNvSpPr txBox="1"/>
          <p:nvPr/>
        </p:nvSpPr>
        <p:spPr>
          <a:xfrm>
            <a:off x="5676900" y="3728541"/>
            <a:ext cx="5537200" cy="205740"/>
          </a:xfrm>
          <a:prstGeom prst="rect">
            <a:avLst/>
          </a:prstGeom>
          <a:noFill/>
        </p:spPr>
        <p:txBody>
          <a:bodyPr wrap="none" lIns="0" rIns="0" tIns="0" bIns="0" anchor="t">
            <a:noAutofit/>
          </a:bodyPr>
          <a:lstStyle/>
          <a:p>
            <a:pPr algn="l">
              <a:lnSpc>
                <a:spcPts val="1620"/>
              </a:lnSpc>
              <a:spcBef>
                <a:spcPts val="0"/>
              </a:spcBef>
              <a:spcAft>
                <a:spcPts val="0"/>
              </a:spcAft>
            </a:pPr>
            <a:r>
              <a:rPr b="1" i="0" sz="1200">
                <a:solidFill>
                  <a:srgbClr val="141619"/>
                </a:solidFill>
                <a:latin typeface="Barlow"/>
              </a:rPr>
              <a:t>Panelmatic Houston</a:t>
            </a:r>
            <a:r>
              <a:rPr b="0" i="0" sz="1200">
                <a:solidFill>
                  <a:srgbClr val="141619"/>
                </a:solidFill>
                <a:latin typeface="Barlow"/>
              </a:rPr>
              <a:t>, industrial HVAC and BMS panel shops</a:t>
            </a:r>
          </a:p>
        </p:txBody>
      </p:sp>
      <p:sp>
        <p:nvSpPr>
          <p:cNvPr id="14" name="TextBox 13"/>
          <p:cNvSpPr txBox="1"/>
          <p:nvPr/>
        </p:nvSpPr>
        <p:spPr>
          <a:xfrm>
            <a:off x="5676900" y="3985022"/>
            <a:ext cx="55372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4A525B"/>
                </a:solidFill>
                <a:latin typeface="Barlow"/>
              </a:rPr>
              <a:t>AWM panel wire, SAFEGUARD cord, control and instrumentation</a:t>
            </a:r>
          </a:p>
        </p:txBody>
      </p:sp>
      <p:sp>
        <p:nvSpPr>
          <p:cNvPr id="15" name="Rectangle 14"/>
          <p:cNvSpPr/>
          <p:nvPr/>
        </p:nvSpPr>
        <p:spPr>
          <a:xfrm>
            <a:off x="5511800" y="4457402"/>
            <a:ext cx="5867400" cy="1103511"/>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11800" y="4457402"/>
            <a:ext cx="5867400" cy="381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76900" y="4635202"/>
            <a:ext cx="55372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141619"/>
                </a:solidFill>
                <a:latin typeface="Barlow Condensed ExtraBold"/>
              </a:rPr>
              <a:t>MOBILE · MODULAR POWER</a:t>
            </a:r>
          </a:p>
        </p:txBody>
      </p:sp>
      <p:sp>
        <p:nvSpPr>
          <p:cNvPr id="18" name="TextBox 17"/>
          <p:cNvSpPr txBox="1"/>
          <p:nvPr/>
        </p:nvSpPr>
        <p:spPr>
          <a:xfrm>
            <a:off x="5676900" y="4959052"/>
            <a:ext cx="5537200" cy="205740"/>
          </a:xfrm>
          <a:prstGeom prst="rect">
            <a:avLst/>
          </a:prstGeom>
          <a:noFill/>
        </p:spPr>
        <p:txBody>
          <a:bodyPr wrap="none" lIns="0" rIns="0" tIns="0" bIns="0" anchor="t">
            <a:noAutofit/>
          </a:bodyPr>
          <a:lstStyle/>
          <a:p>
            <a:pPr algn="l">
              <a:lnSpc>
                <a:spcPts val="1620"/>
              </a:lnSpc>
              <a:spcBef>
                <a:spcPts val="0"/>
              </a:spcBef>
              <a:spcAft>
                <a:spcPts val="0"/>
              </a:spcAft>
            </a:pPr>
            <a:r>
              <a:rPr b="1" i="0" sz="1200">
                <a:solidFill>
                  <a:srgbClr val="141619"/>
                </a:solidFill>
                <a:latin typeface="Barlow"/>
              </a:rPr>
              <a:t>VoltaGrid</a:t>
            </a:r>
          </a:p>
        </p:txBody>
      </p:sp>
      <p:sp>
        <p:nvSpPr>
          <p:cNvPr id="19" name="TextBox 18"/>
          <p:cNvSpPr txBox="1"/>
          <p:nvPr/>
        </p:nvSpPr>
        <p:spPr>
          <a:xfrm>
            <a:off x="5676900" y="5215533"/>
            <a:ext cx="5537200"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4A525B"/>
                </a:solidFill>
                <a:latin typeface="Barlow"/>
              </a:rPr>
              <a:t>DLO, MV and tray cable for generator, collection and auxiliaries</a:t>
            </a:r>
          </a:p>
        </p:txBody>
      </p:sp>
      <p:sp>
        <p:nvSpPr>
          <p:cNvPr id="20" name="TextBox 19"/>
          <p:cNvSpPr txBox="1"/>
          <p:nvPr/>
        </p:nvSpPr>
        <p:spPr>
          <a:xfrm>
            <a:off x="812800" y="6267450"/>
            <a:ext cx="3241871"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ALL BOUGHT BEFORE THE EPC FIELD-CABLE RFQ</a:t>
            </a:r>
          </a:p>
        </p:txBody>
      </p:sp>
      <p:sp>
        <p:nvSpPr>
          <p:cNvPr id="21" name="TextBox 20"/>
          <p:cNvSpPr txBox="1"/>
          <p:nvPr/>
        </p:nvSpPr>
        <p:spPr>
          <a:xfrm>
            <a:off x="11250910" y="6267450"/>
            <a:ext cx="161387"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31</a:t>
            </a:r>
          </a:p>
        </p:txBody>
      </p:sp>
      <p:sp>
        <p:nvSpPr>
          <p:cNvPr id="22" name="Rectangle 21"/>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4" name="TextBox 23"/>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JOINT OPERATING MODEL</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141619"/>
                </a:solidFill>
                <a:latin typeface="Barlow Condensed ExtraBold"/>
              </a:rPr>
              <a:t>TARGET, OWN, STOCK AND QUOTE, ACT</a:t>
            </a:r>
          </a:p>
        </p:txBody>
      </p:sp>
      <p:sp>
        <p:nvSpPr>
          <p:cNvPr id="4" name="Rectangle 3"/>
          <p:cNvSpPr/>
          <p:nvPr/>
        </p:nvSpPr>
        <p:spPr>
          <a:xfrm>
            <a:off x="812800" y="1841500"/>
            <a:ext cx="5181600" cy="1845072"/>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841500"/>
            <a:ext cx="518160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108200"/>
            <a:ext cx="4775200" cy="304800"/>
          </a:xfrm>
          <a:prstGeom prst="rect">
            <a:avLst/>
          </a:prstGeom>
          <a:noFill/>
        </p:spPr>
        <p:txBody>
          <a:bodyPr wrap="none" lIns="0" rIns="0" tIns="0" bIns="0" anchor="t">
            <a:noAutofit/>
          </a:bodyPr>
          <a:lstStyle/>
          <a:p>
            <a:pPr algn="l">
              <a:lnSpc>
                <a:spcPts val="2400"/>
              </a:lnSpc>
              <a:spcBef>
                <a:spcPts val="0"/>
              </a:spcBef>
              <a:spcAft>
                <a:spcPts val="0"/>
              </a:spcAft>
            </a:pPr>
            <a:r>
              <a:rPr b="0" i="0" sz="2000">
                <a:solidFill>
                  <a:srgbClr val="141619"/>
                </a:solidFill>
                <a:latin typeface="Barlow Condensed ExtraBold"/>
              </a:rPr>
              <a:t>SOUTHWIRE BRINGS</a:t>
            </a:r>
          </a:p>
        </p:txBody>
      </p:sp>
      <p:sp>
        <p:nvSpPr>
          <p:cNvPr id="7" name="TextBox 6"/>
          <p:cNvSpPr txBox="1"/>
          <p:nvPr/>
        </p:nvSpPr>
        <p:spPr>
          <a:xfrm>
            <a:off x="1221680" y="2489200"/>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4A525B"/>
                </a:solidFill>
                <a:latin typeface="Barlow"/>
              </a:rPr>
              <a:t>• </a:t>
            </a:r>
            <a:r>
              <a:rPr b="0" i="0" sz="1350">
                <a:solidFill>
                  <a:srgbClr val="4A525B"/>
                </a:solidFill>
                <a:latin typeface="Barlow"/>
              </a:rPr>
              <a:t>386 tracked projects in 40 states</a:t>
            </a:r>
          </a:p>
        </p:txBody>
      </p:sp>
      <p:sp>
        <p:nvSpPr>
          <p:cNvPr id="8" name="TextBox 7"/>
          <p:cNvSpPr txBox="1"/>
          <p:nvPr/>
        </p:nvSpPr>
        <p:spPr>
          <a:xfrm>
            <a:off x="1221680" y="2737743"/>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4A525B"/>
                </a:solidFill>
                <a:latin typeface="Barlow"/>
              </a:rPr>
              <a:t>• </a:t>
            </a:r>
            <a:r>
              <a:rPr b="0" i="0" sz="1350">
                <a:solidFill>
                  <a:srgbClr val="4A525B"/>
                </a:solidFill>
                <a:latin typeface="Barlow"/>
              </a:rPr>
              <a:t>Spec support and plant-wide cable scoping</a:t>
            </a:r>
          </a:p>
        </p:txBody>
      </p:sp>
      <p:sp>
        <p:nvSpPr>
          <p:cNvPr id="9" name="TextBox 8"/>
          <p:cNvSpPr txBox="1"/>
          <p:nvPr/>
        </p:nvSpPr>
        <p:spPr>
          <a:xfrm>
            <a:off x="1221680" y="2986286"/>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4A525B"/>
                </a:solidFill>
                <a:latin typeface="Barlow"/>
              </a:rPr>
              <a:t>• </a:t>
            </a:r>
            <a:r>
              <a:rPr b="0" i="0" sz="1350">
                <a:solidFill>
                  <a:srgbClr val="4A525B"/>
                </a:solidFill>
                <a:latin typeface="Barlow"/>
              </a:rPr>
              <a:t>Named EPC and OEM relationships</a:t>
            </a:r>
          </a:p>
        </p:txBody>
      </p:sp>
      <p:sp>
        <p:nvSpPr>
          <p:cNvPr id="10" name="TextBox 9"/>
          <p:cNvSpPr txBox="1"/>
          <p:nvPr/>
        </p:nvSpPr>
        <p:spPr>
          <a:xfrm>
            <a:off x="1221680" y="3234829"/>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4A525B"/>
                </a:solidFill>
                <a:latin typeface="Barlow"/>
              </a:rPr>
              <a:t>• </a:t>
            </a:r>
            <a:r>
              <a:rPr b="0" i="0" sz="1350">
                <a:solidFill>
                  <a:srgbClr val="4A525B"/>
                </a:solidFill>
                <a:latin typeface="Barlow"/>
              </a:rPr>
              <a:t>Application guides and line cards</a:t>
            </a:r>
          </a:p>
        </p:txBody>
      </p:sp>
      <p:sp>
        <p:nvSpPr>
          <p:cNvPr id="11" name="Rectangle 10"/>
          <p:cNvSpPr/>
          <p:nvPr/>
        </p:nvSpPr>
        <p:spPr>
          <a:xfrm>
            <a:off x="6197600" y="1841500"/>
            <a:ext cx="5181600" cy="1845072"/>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7600" y="1841500"/>
            <a:ext cx="5181600" cy="635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108200"/>
            <a:ext cx="4775200" cy="304800"/>
          </a:xfrm>
          <a:prstGeom prst="rect">
            <a:avLst/>
          </a:prstGeom>
          <a:noFill/>
        </p:spPr>
        <p:txBody>
          <a:bodyPr wrap="none" lIns="0" rIns="0" tIns="0" bIns="0" anchor="t">
            <a:noAutofit/>
          </a:bodyPr>
          <a:lstStyle/>
          <a:p>
            <a:pPr algn="l">
              <a:lnSpc>
                <a:spcPts val="2400"/>
              </a:lnSpc>
              <a:spcBef>
                <a:spcPts val="0"/>
              </a:spcBef>
              <a:spcAft>
                <a:spcPts val="0"/>
              </a:spcAft>
            </a:pPr>
            <a:r>
              <a:rPr b="0" i="0" sz="2000">
                <a:solidFill>
                  <a:srgbClr val="F5F3EF"/>
                </a:solidFill>
                <a:latin typeface="Barlow Condensed ExtraBold"/>
              </a:rPr>
              <a:t>ANIXTER/WESCO BRINGS</a:t>
            </a:r>
          </a:p>
        </p:txBody>
      </p:sp>
      <p:sp>
        <p:nvSpPr>
          <p:cNvPr id="14" name="TextBox 13"/>
          <p:cNvSpPr txBox="1"/>
          <p:nvPr/>
        </p:nvSpPr>
        <p:spPr>
          <a:xfrm>
            <a:off x="6606480" y="2489200"/>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C9CDD2"/>
                </a:solidFill>
                <a:latin typeface="Barlow"/>
              </a:rPr>
              <a:t>• </a:t>
            </a:r>
            <a:r>
              <a:rPr b="0" i="0" sz="1350">
                <a:solidFill>
                  <a:srgbClr val="C9CDD2"/>
                </a:solidFill>
                <a:latin typeface="Barlow"/>
              </a:rPr>
              <a:t>Global accounts, Powell Industries and more</a:t>
            </a:r>
          </a:p>
        </p:txBody>
      </p:sp>
      <p:sp>
        <p:nvSpPr>
          <p:cNvPr id="15" name="TextBox 14"/>
          <p:cNvSpPr txBox="1"/>
          <p:nvPr/>
        </p:nvSpPr>
        <p:spPr>
          <a:xfrm>
            <a:off x="6606480" y="2737743"/>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C9CDD2"/>
                </a:solidFill>
                <a:latin typeface="Barlow"/>
              </a:rPr>
              <a:t>• </a:t>
            </a:r>
            <a:r>
              <a:rPr b="0" i="0" sz="1350">
                <a:solidFill>
                  <a:srgbClr val="C9CDD2"/>
                </a:solidFill>
                <a:latin typeface="Barlow"/>
              </a:rPr>
              <a:t>Local stocking and fulfillment</a:t>
            </a:r>
          </a:p>
        </p:txBody>
      </p:sp>
      <p:sp>
        <p:nvSpPr>
          <p:cNvPr id="16" name="TextBox 15"/>
          <p:cNvSpPr txBox="1"/>
          <p:nvPr/>
        </p:nvSpPr>
        <p:spPr>
          <a:xfrm>
            <a:off x="6606480" y="2986286"/>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C9CDD2"/>
                </a:solidFill>
                <a:latin typeface="Barlow"/>
              </a:rPr>
              <a:t>• </a:t>
            </a:r>
            <a:r>
              <a:rPr b="0" i="0" sz="1350">
                <a:solidFill>
                  <a:srgbClr val="C9CDD2"/>
                </a:solidFill>
                <a:latin typeface="Barlow"/>
              </a:rPr>
              <a:t>Modular OEM Solutions coverage</a:t>
            </a:r>
          </a:p>
        </p:txBody>
      </p:sp>
      <p:sp>
        <p:nvSpPr>
          <p:cNvPr id="17" name="TextBox 16"/>
          <p:cNvSpPr txBox="1"/>
          <p:nvPr/>
        </p:nvSpPr>
        <p:spPr>
          <a:xfrm>
            <a:off x="6606480" y="3234829"/>
            <a:ext cx="4569520" cy="248602"/>
          </a:xfrm>
          <a:prstGeom prst="rect">
            <a:avLst/>
          </a:prstGeom>
          <a:noFill/>
        </p:spPr>
        <p:txBody>
          <a:bodyPr wrap="none" lIns="0" rIns="0" tIns="0" bIns="0" anchor="t">
            <a:noAutofit/>
          </a:bodyPr>
          <a:lstStyle/>
          <a:p>
            <a:pPr algn="l">
              <a:lnSpc>
                <a:spcPts val="1957"/>
              </a:lnSpc>
              <a:spcBef>
                <a:spcPts val="0"/>
              </a:spcBef>
              <a:spcAft>
                <a:spcPts val="0"/>
              </a:spcAft>
            </a:pPr>
            <a:r>
              <a:rPr sz="1350">
                <a:solidFill>
                  <a:srgbClr val="C9CDD2"/>
                </a:solidFill>
                <a:latin typeface="Barlow"/>
              </a:rPr>
              <a:t>• </a:t>
            </a:r>
            <a:r>
              <a:rPr b="0" i="0" sz="1350">
                <a:solidFill>
                  <a:srgbClr val="C9CDD2"/>
                </a:solidFill>
                <a:latin typeface="Barlow"/>
              </a:rPr>
              <a:t>Quotes, logistics and access in TX, OH, IN</a:t>
            </a:r>
          </a:p>
        </p:txBody>
      </p:sp>
      <p:sp>
        <p:nvSpPr>
          <p:cNvPr id="18" name="Rectangle 17"/>
          <p:cNvSpPr/>
          <p:nvPr/>
        </p:nvSpPr>
        <p:spPr>
          <a:xfrm>
            <a:off x="812800" y="3940572"/>
            <a:ext cx="2584450" cy="482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5200" y="4067572"/>
            <a:ext cx="227965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9E4C1A"/>
                </a:solidFill>
                <a:latin typeface="Barlow Condensed ExtraBold"/>
              </a:rPr>
              <a:t>1</a:t>
            </a:r>
            <a:r>
              <a:rPr b="0" i="0" sz="1500">
                <a:solidFill>
                  <a:srgbClr val="141619"/>
                </a:solidFill>
                <a:latin typeface="Barlow Condensed ExtraBold"/>
              </a:rPr>
              <a:t> TARGET THE ACCOUNT</a:t>
            </a:r>
          </a:p>
        </p:txBody>
      </p:sp>
      <p:sp>
        <p:nvSpPr>
          <p:cNvPr id="20" name="Rectangle 19"/>
          <p:cNvSpPr/>
          <p:nvPr/>
        </p:nvSpPr>
        <p:spPr>
          <a:xfrm>
            <a:off x="3473450" y="3940572"/>
            <a:ext cx="2584450" cy="482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5850" y="4067572"/>
            <a:ext cx="227965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9E4C1A"/>
                </a:solidFill>
                <a:latin typeface="Barlow Condensed ExtraBold"/>
              </a:rPr>
              <a:t>2</a:t>
            </a:r>
            <a:r>
              <a:rPr b="0" i="0" sz="1500">
                <a:solidFill>
                  <a:srgbClr val="141619"/>
                </a:solidFill>
                <a:latin typeface="Barlow Condensed ExtraBold"/>
              </a:rPr>
              <a:t> OWN THE RELATIONSHIP</a:t>
            </a:r>
          </a:p>
        </p:txBody>
      </p:sp>
      <p:sp>
        <p:nvSpPr>
          <p:cNvPr id="22" name="Rectangle 21"/>
          <p:cNvSpPr/>
          <p:nvPr/>
        </p:nvSpPr>
        <p:spPr>
          <a:xfrm>
            <a:off x="6134100" y="3940572"/>
            <a:ext cx="2584450" cy="4826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4067572"/>
            <a:ext cx="227965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9E4C1A"/>
                </a:solidFill>
                <a:latin typeface="Barlow Condensed ExtraBold"/>
              </a:rPr>
              <a:t>3</a:t>
            </a:r>
            <a:r>
              <a:rPr b="0" i="0" sz="1500">
                <a:solidFill>
                  <a:srgbClr val="141619"/>
                </a:solidFill>
                <a:latin typeface="Barlow Condensed ExtraBold"/>
              </a:rPr>
              <a:t> AGREE STOCK &amp; QUOTE</a:t>
            </a:r>
          </a:p>
        </p:txBody>
      </p:sp>
      <p:sp>
        <p:nvSpPr>
          <p:cNvPr id="24" name="Rectangle 23"/>
          <p:cNvSpPr/>
          <p:nvPr/>
        </p:nvSpPr>
        <p:spPr>
          <a:xfrm>
            <a:off x="8794750" y="3940572"/>
            <a:ext cx="2584450" cy="4826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47150" y="4067572"/>
            <a:ext cx="2279650" cy="228600"/>
          </a:xfrm>
          <a:prstGeom prst="rect">
            <a:avLst/>
          </a:prstGeom>
          <a:noFill/>
        </p:spPr>
        <p:txBody>
          <a:bodyPr wrap="none" lIns="0" rIns="0" tIns="0" bIns="0" anchor="t">
            <a:noAutofit/>
          </a:bodyPr>
          <a:lstStyle/>
          <a:p>
            <a:pPr algn="l">
              <a:lnSpc>
                <a:spcPts val="1800"/>
              </a:lnSpc>
              <a:spcBef>
                <a:spcPts val="0"/>
              </a:spcBef>
              <a:spcAft>
                <a:spcPts val="0"/>
              </a:spcAft>
            </a:pPr>
            <a:r>
              <a:rPr b="0" i="0" sz="1500">
                <a:solidFill>
                  <a:srgbClr val="FFFDFA"/>
                </a:solidFill>
                <a:latin typeface="Barlow Condensed ExtraBold"/>
              </a:rPr>
              <a:t>4 ACT TOGETHER</a:t>
            </a:r>
          </a:p>
        </p:txBody>
      </p:sp>
      <p:sp>
        <p:nvSpPr>
          <p:cNvPr id="26" name="TextBox 25"/>
          <p:cNvSpPr txBox="1"/>
          <p:nvPr/>
        </p:nvSpPr>
        <p:spPr>
          <a:xfrm>
            <a:off x="812800" y="6267450"/>
            <a:ext cx="5214265"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SOUTHWIRE POWER GENERATION SOLUTIONS · ANIXTER/WESCO · OCT 6, 2026</a:t>
            </a:r>
          </a:p>
        </p:txBody>
      </p:sp>
      <p:sp>
        <p:nvSpPr>
          <p:cNvPr id="27" name="TextBox 26"/>
          <p:cNvSpPr txBox="1"/>
          <p:nvPr/>
        </p:nvSpPr>
        <p:spPr>
          <a:xfrm>
            <a:off x="11224022" y="6267450"/>
            <a:ext cx="189889"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32</a:t>
            </a:r>
          </a:p>
        </p:txBody>
      </p:sp>
      <p:sp>
        <p:nvSpPr>
          <p:cNvPr id="28" name="Rectangle 27"/>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0" name="TextBox 29"/>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1"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1619"/>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E39A5F"/>
                </a:solidFill>
                <a:latin typeface="Barlow Condensed"/>
              </a:rPr>
              <a:t>FIRST 90 DAYS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F5F3EF"/>
                </a:solidFill>
                <a:latin typeface="Barlow Condensed ExtraBold"/>
              </a:rPr>
              <a:t>A SMALL SHORTLIST WITH NAMED NEXT ACTIONS</a:t>
            </a:r>
          </a:p>
        </p:txBody>
      </p:sp>
      <p:sp>
        <p:nvSpPr>
          <p:cNvPr id="4" name="Rectangle 3"/>
          <p:cNvSpPr/>
          <p:nvPr/>
        </p:nvSpPr>
        <p:spPr>
          <a:xfrm>
            <a:off x="812800" y="1892300"/>
            <a:ext cx="3403600" cy="2196902"/>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892300"/>
            <a:ext cx="34036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146300"/>
            <a:ext cx="2997200" cy="355600"/>
          </a:xfrm>
          <a:prstGeom prst="rect">
            <a:avLst/>
          </a:prstGeom>
          <a:noFill/>
        </p:spPr>
        <p:txBody>
          <a:bodyPr wrap="none" lIns="0" rIns="0" tIns="0" bIns="0" anchor="t">
            <a:noAutofit/>
          </a:bodyPr>
          <a:lstStyle/>
          <a:p>
            <a:pPr algn="l">
              <a:lnSpc>
                <a:spcPts val="2800"/>
              </a:lnSpc>
              <a:spcBef>
                <a:spcPts val="0"/>
              </a:spcBef>
              <a:spcAft>
                <a:spcPts val="0"/>
              </a:spcAft>
            </a:pPr>
            <a:r>
              <a:rPr b="0" i="0" sz="2800">
                <a:solidFill>
                  <a:srgbClr val="E39A5F"/>
                </a:solidFill>
                <a:latin typeface="Barlow Condensed ExtraBold"/>
              </a:rPr>
              <a:t>Days 0–30</a:t>
            </a:r>
          </a:p>
        </p:txBody>
      </p:sp>
      <p:sp>
        <p:nvSpPr>
          <p:cNvPr id="7" name="TextBox 6"/>
          <p:cNvSpPr txBox="1"/>
          <p:nvPr/>
        </p:nvSpPr>
        <p:spPr>
          <a:xfrm>
            <a:off x="1016000" y="2590800"/>
            <a:ext cx="299720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F5F3EF"/>
                </a:solidFill>
                <a:latin typeface="Barlow Condensed ExtraBold"/>
              </a:rPr>
              <a:t>EXCHANGE AND SELECT</a:t>
            </a:r>
          </a:p>
        </p:txBody>
      </p:sp>
      <p:sp>
        <p:nvSpPr>
          <p:cNvPr id="8" name="TextBox 7"/>
          <p:cNvSpPr txBox="1"/>
          <p:nvPr/>
        </p:nvSpPr>
        <p:spPr>
          <a:xfrm>
            <a:off x="1016000" y="2940050"/>
            <a:ext cx="3087116"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Swap account lists; pick 5–10 projects or builders</a:t>
            </a:r>
          </a:p>
        </p:txBody>
      </p:sp>
      <p:sp>
        <p:nvSpPr>
          <p:cNvPr id="9" name="TextBox 8"/>
          <p:cNvSpPr txBox="1"/>
          <p:nvPr/>
        </p:nvSpPr>
        <p:spPr>
          <a:xfrm>
            <a:off x="1016000" y="3474641"/>
            <a:ext cx="3087116" cy="411361"/>
          </a:xfrm>
          <a:prstGeom prst="rect">
            <a:avLst/>
          </a:prstGeom>
          <a:noFill/>
        </p:spPr>
        <p:txBody>
          <a:bodyPr wrap="square" lIns="0" rIns="0" tIns="0" bIns="0" anchor="t">
            <a:noAutofit/>
          </a:bodyPr>
          <a:lstStyle/>
          <a:p>
            <a:pPr algn="l">
              <a:lnSpc>
                <a:spcPts val="1620"/>
              </a:lnSpc>
              <a:spcBef>
                <a:spcPts val="0"/>
              </a:spcBef>
              <a:spcAft>
                <a:spcPts val="0"/>
              </a:spcAft>
            </a:pPr>
            <a:r>
              <a:rPr b="0" i="0" sz="1200">
                <a:solidFill>
                  <a:srgbClr val="E39A5F"/>
                </a:solidFill>
                <a:latin typeface="Barlow"/>
              </a:rPr>
              <a:t>Output: lead contact, package scope, open questions</a:t>
            </a:r>
          </a:p>
        </p:txBody>
      </p:sp>
      <p:sp>
        <p:nvSpPr>
          <p:cNvPr id="10" name="Rectangle 9"/>
          <p:cNvSpPr/>
          <p:nvPr/>
        </p:nvSpPr>
        <p:spPr>
          <a:xfrm>
            <a:off x="4394200" y="1892300"/>
            <a:ext cx="3403600" cy="2196902"/>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4200" y="1892300"/>
            <a:ext cx="34036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146300"/>
            <a:ext cx="2997200" cy="355600"/>
          </a:xfrm>
          <a:prstGeom prst="rect">
            <a:avLst/>
          </a:prstGeom>
          <a:noFill/>
        </p:spPr>
        <p:txBody>
          <a:bodyPr wrap="none" lIns="0" rIns="0" tIns="0" bIns="0" anchor="t">
            <a:noAutofit/>
          </a:bodyPr>
          <a:lstStyle/>
          <a:p>
            <a:pPr algn="l">
              <a:lnSpc>
                <a:spcPts val="2800"/>
              </a:lnSpc>
              <a:spcBef>
                <a:spcPts val="0"/>
              </a:spcBef>
              <a:spcAft>
                <a:spcPts val="0"/>
              </a:spcAft>
            </a:pPr>
            <a:r>
              <a:rPr b="0" i="0" sz="2800">
                <a:solidFill>
                  <a:srgbClr val="E39A5F"/>
                </a:solidFill>
                <a:latin typeface="Barlow Condensed ExtraBold"/>
              </a:rPr>
              <a:t>Days 31–60</a:t>
            </a:r>
          </a:p>
        </p:txBody>
      </p:sp>
      <p:sp>
        <p:nvSpPr>
          <p:cNvPr id="13" name="TextBox 12"/>
          <p:cNvSpPr txBox="1"/>
          <p:nvPr/>
        </p:nvSpPr>
        <p:spPr>
          <a:xfrm>
            <a:off x="4597400" y="2590800"/>
            <a:ext cx="299720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F5F3EF"/>
                </a:solidFill>
                <a:latin typeface="Barlow Condensed ExtraBold"/>
              </a:rPr>
              <a:t>CALL AND QUALIFY</a:t>
            </a:r>
          </a:p>
        </p:txBody>
      </p:sp>
      <p:sp>
        <p:nvSpPr>
          <p:cNvPr id="14" name="TextBox 13"/>
          <p:cNvSpPr txBox="1"/>
          <p:nvPr/>
        </p:nvSpPr>
        <p:spPr>
          <a:xfrm>
            <a:off x="4597400" y="2940050"/>
            <a:ext cx="2997200" cy="222885"/>
          </a:xfrm>
          <a:prstGeom prst="rect">
            <a:avLst/>
          </a:prstGeom>
          <a:noFill/>
        </p:spPr>
        <p:txBody>
          <a:bodyPr wrap="none" lIns="0" rIns="0" tIns="0" bIns="0" anchor="t">
            <a:noAutofit/>
          </a:bodyPr>
          <a:lstStyle/>
          <a:p>
            <a:pPr algn="l">
              <a:lnSpc>
                <a:spcPts val="1755"/>
              </a:lnSpc>
              <a:spcBef>
                <a:spcPts val="0"/>
              </a:spcBef>
              <a:spcAft>
                <a:spcPts val="0"/>
              </a:spcAft>
            </a:pPr>
            <a:r>
              <a:rPr b="0" i="0" sz="1300">
                <a:solidFill>
                  <a:srgbClr val="C9CDD2"/>
                </a:solidFill>
                <a:latin typeface="Barlow"/>
              </a:rPr>
              <a:t>Joint calls and technical qualification</a:t>
            </a:r>
          </a:p>
        </p:txBody>
      </p:sp>
      <p:sp>
        <p:nvSpPr>
          <p:cNvPr id="15" name="TextBox 14"/>
          <p:cNvSpPr txBox="1"/>
          <p:nvPr/>
        </p:nvSpPr>
        <p:spPr>
          <a:xfrm>
            <a:off x="4597400" y="3251795"/>
            <a:ext cx="3042571"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E39A5F"/>
                </a:solidFill>
                <a:latin typeface="Barlow"/>
              </a:rPr>
              <a:t>Output: buyer, spec, timing and quote route</a:t>
            </a:r>
          </a:p>
        </p:txBody>
      </p:sp>
      <p:sp>
        <p:nvSpPr>
          <p:cNvPr id="16" name="Rectangle 15"/>
          <p:cNvSpPr/>
          <p:nvPr/>
        </p:nvSpPr>
        <p:spPr>
          <a:xfrm>
            <a:off x="7975600" y="1892300"/>
            <a:ext cx="3403600" cy="2196902"/>
          </a:xfrm>
          <a:prstGeom prst="rect">
            <a:avLst/>
          </a:prstGeom>
          <a:solidFill>
            <a:srgbClr val="22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75600" y="1892300"/>
            <a:ext cx="3403600" cy="50800"/>
          </a:xfrm>
          <a:prstGeom prst="rect">
            <a:avLst/>
          </a:prstGeom>
          <a:solidFill>
            <a:srgbClr val="B45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8800" y="2146300"/>
            <a:ext cx="2997200" cy="355600"/>
          </a:xfrm>
          <a:prstGeom prst="rect">
            <a:avLst/>
          </a:prstGeom>
          <a:noFill/>
        </p:spPr>
        <p:txBody>
          <a:bodyPr wrap="none" lIns="0" rIns="0" tIns="0" bIns="0" anchor="t">
            <a:noAutofit/>
          </a:bodyPr>
          <a:lstStyle/>
          <a:p>
            <a:pPr algn="l">
              <a:lnSpc>
                <a:spcPts val="2800"/>
              </a:lnSpc>
              <a:spcBef>
                <a:spcPts val="0"/>
              </a:spcBef>
              <a:spcAft>
                <a:spcPts val="0"/>
              </a:spcAft>
            </a:pPr>
            <a:r>
              <a:rPr b="0" i="0" sz="2800">
                <a:solidFill>
                  <a:srgbClr val="E39A5F"/>
                </a:solidFill>
                <a:latin typeface="Barlow Condensed ExtraBold"/>
              </a:rPr>
              <a:t>Days 61–90</a:t>
            </a:r>
          </a:p>
        </p:txBody>
      </p:sp>
      <p:sp>
        <p:nvSpPr>
          <p:cNvPr id="19" name="TextBox 18"/>
          <p:cNvSpPr txBox="1"/>
          <p:nvPr/>
        </p:nvSpPr>
        <p:spPr>
          <a:xfrm>
            <a:off x="8178800" y="2590800"/>
            <a:ext cx="2997200" cy="260350"/>
          </a:xfrm>
          <a:prstGeom prst="rect">
            <a:avLst/>
          </a:prstGeom>
          <a:noFill/>
        </p:spPr>
        <p:txBody>
          <a:bodyPr wrap="none" lIns="0" rIns="0" tIns="0" bIns="0" anchor="t">
            <a:noAutofit/>
          </a:bodyPr>
          <a:lstStyle/>
          <a:p>
            <a:pPr algn="l">
              <a:lnSpc>
                <a:spcPts val="2039"/>
              </a:lnSpc>
              <a:spcBef>
                <a:spcPts val="0"/>
              </a:spcBef>
              <a:spcAft>
                <a:spcPts val="0"/>
              </a:spcAft>
            </a:pPr>
            <a:r>
              <a:rPr b="0" i="0" sz="1700">
                <a:solidFill>
                  <a:srgbClr val="F5F3EF"/>
                </a:solidFill>
                <a:latin typeface="Barlow Condensed ExtraBold"/>
              </a:rPr>
              <a:t>PROPOSE SUPPLY</a:t>
            </a:r>
          </a:p>
        </p:txBody>
      </p:sp>
      <p:sp>
        <p:nvSpPr>
          <p:cNvPr id="20" name="TextBox 19"/>
          <p:cNvSpPr txBox="1"/>
          <p:nvPr/>
        </p:nvSpPr>
        <p:spPr>
          <a:xfrm>
            <a:off x="8178800" y="2940050"/>
            <a:ext cx="3087116" cy="445691"/>
          </a:xfrm>
          <a:prstGeom prst="rect">
            <a:avLst/>
          </a:prstGeom>
          <a:noFill/>
        </p:spPr>
        <p:txBody>
          <a:bodyPr wrap="square" lIns="0" rIns="0" tIns="0" bIns="0" anchor="t">
            <a:noAutofit/>
          </a:bodyPr>
          <a:lstStyle/>
          <a:p>
            <a:pPr algn="l">
              <a:lnSpc>
                <a:spcPts val="1755"/>
              </a:lnSpc>
              <a:spcBef>
                <a:spcPts val="0"/>
              </a:spcBef>
              <a:spcAft>
                <a:spcPts val="0"/>
              </a:spcAft>
            </a:pPr>
            <a:r>
              <a:rPr b="0" i="0" sz="1300">
                <a:solidFill>
                  <a:srgbClr val="C9CDD2"/>
                </a:solidFill>
                <a:latin typeface="Barlow"/>
              </a:rPr>
              <a:t>Supply and inventory proposals where qualified</a:t>
            </a:r>
          </a:p>
        </p:txBody>
      </p:sp>
      <p:sp>
        <p:nvSpPr>
          <p:cNvPr id="21" name="TextBox 20"/>
          <p:cNvSpPr txBox="1"/>
          <p:nvPr/>
        </p:nvSpPr>
        <p:spPr>
          <a:xfrm>
            <a:off x="8178800" y="3474641"/>
            <a:ext cx="3109776" cy="205740"/>
          </a:xfrm>
          <a:prstGeom prst="rect">
            <a:avLst/>
          </a:prstGeom>
          <a:noFill/>
        </p:spPr>
        <p:txBody>
          <a:bodyPr wrap="none" lIns="0" rIns="0" tIns="0" bIns="0" anchor="t">
            <a:noAutofit/>
          </a:bodyPr>
          <a:lstStyle/>
          <a:p>
            <a:pPr algn="l">
              <a:lnSpc>
                <a:spcPts val="1620"/>
              </a:lnSpc>
              <a:spcBef>
                <a:spcPts val="0"/>
              </a:spcBef>
              <a:spcAft>
                <a:spcPts val="0"/>
              </a:spcAft>
            </a:pPr>
            <a:r>
              <a:rPr b="0" i="0" sz="1200">
                <a:solidFill>
                  <a:srgbClr val="E39A5F"/>
                </a:solidFill>
                <a:latin typeface="Barlow"/>
              </a:rPr>
              <a:t>Output: written next action and delivery plan</a:t>
            </a:r>
          </a:p>
        </p:txBody>
      </p:sp>
      <p:sp>
        <p:nvSpPr>
          <p:cNvPr id="22" name="TextBox 21"/>
          <p:cNvSpPr txBox="1"/>
          <p:nvPr/>
        </p:nvSpPr>
        <p:spPr>
          <a:xfrm>
            <a:off x="812800" y="4394002"/>
            <a:ext cx="10566400" cy="274320"/>
          </a:xfrm>
          <a:prstGeom prst="rect">
            <a:avLst/>
          </a:prstGeom>
          <a:noFill/>
        </p:spPr>
        <p:txBody>
          <a:bodyPr wrap="none" lIns="0" rIns="0" tIns="0" bIns="0" anchor="t">
            <a:noAutofit/>
          </a:bodyPr>
          <a:lstStyle/>
          <a:p>
            <a:pPr algn="l">
              <a:lnSpc>
                <a:spcPts val="2160"/>
              </a:lnSpc>
              <a:spcBef>
                <a:spcPts val="0"/>
              </a:spcBef>
              <a:spcAft>
                <a:spcPts val="0"/>
              </a:spcAft>
            </a:pPr>
            <a:r>
              <a:rPr b="0" i="0" sz="1800">
                <a:solidFill>
                  <a:srgbClr val="E39A5F"/>
                </a:solidFill>
                <a:latin typeface="Barlow Condensed ExtraBold"/>
              </a:rPr>
              <a:t>START WITH THE 17 PRIORITY PURSUITS AND THE PACKAGE BUILDERS WE BOTH CALL ON</a:t>
            </a:r>
          </a:p>
        </p:txBody>
      </p:sp>
      <p:sp>
        <p:nvSpPr>
          <p:cNvPr id="23" name="TextBox 22"/>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C9CDD2"/>
                </a:solidFill>
                <a:latin typeface="Barlow Condensed SemiBold"/>
              </a:rPr>
              <a:t>33</a:t>
            </a:r>
          </a:p>
        </p:txBody>
      </p:sp>
      <p:sp>
        <p:nvSpPr>
          <p:cNvPr id="24" name="Rectangle 23"/>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6" name="TextBox 25"/>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8A8F95"/>
                </a:solidFill>
                <a:latin typeface="Barlow"/>
              </a:rPr>
              <a:t>Confidential · Do not distribute · © 2026 Southwire Company, LLC. All rights reserved.</a:t>
            </a:r>
          </a:p>
        </p:txBody>
      </p:sp>
      <p:pic>
        <p:nvPicPr>
          <p:cNvPr id="27"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B4581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141619"/>
                </a:solidFill>
                <a:latin typeface="Barlow Condensed"/>
              </a:rPr>
              <a:t>CALL TO ACTION · PANEL BUILDERS &amp; OEMS</a:t>
            </a:r>
          </a:p>
        </p:txBody>
      </p:sp>
      <p:sp>
        <p:nvSpPr>
          <p:cNvPr id="3" name="TextBox 2"/>
          <p:cNvSpPr txBox="1"/>
          <p:nvPr/>
        </p:nvSpPr>
        <p:spPr>
          <a:xfrm>
            <a:off x="812800" y="1130300"/>
            <a:ext cx="10566400" cy="457200"/>
          </a:xfrm>
          <a:prstGeom prst="rect">
            <a:avLst/>
          </a:prstGeom>
          <a:noFill/>
        </p:spPr>
        <p:txBody>
          <a:bodyPr wrap="none" lIns="0" rIns="0" tIns="0" bIns="0" anchor="t">
            <a:noAutofit/>
          </a:bodyPr>
          <a:lstStyle/>
          <a:p>
            <a:pPr algn="l">
              <a:lnSpc>
                <a:spcPts val="3600"/>
              </a:lnSpc>
              <a:spcBef>
                <a:spcPts val="0"/>
              </a:spcBef>
              <a:spcAft>
                <a:spcPts val="0"/>
              </a:spcAft>
            </a:pPr>
            <a:r>
              <a:rPr b="0" i="0" sz="3600">
                <a:solidFill>
                  <a:srgbClr val="FFFDFA"/>
                </a:solidFill>
                <a:latin typeface="Barlow Condensed ExtraBold"/>
              </a:rPr>
              <a:t>THREE DECISIONS FOR TODAY</a:t>
            </a:r>
          </a:p>
        </p:txBody>
      </p:sp>
      <p:sp>
        <p:nvSpPr>
          <p:cNvPr id="4" name="Rectangle 3"/>
          <p:cNvSpPr/>
          <p:nvPr/>
        </p:nvSpPr>
        <p:spPr>
          <a:xfrm>
            <a:off x="812800" y="1841500"/>
            <a:ext cx="3403600" cy="2170311"/>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2070100"/>
            <a:ext cx="294640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E39A5F"/>
                </a:solidFill>
                <a:latin typeface="Barlow Condensed ExtraBold"/>
              </a:rPr>
              <a:t>1</a:t>
            </a:r>
          </a:p>
        </p:txBody>
      </p:sp>
      <p:sp>
        <p:nvSpPr>
          <p:cNvPr id="6" name="TextBox 5"/>
          <p:cNvSpPr txBox="1"/>
          <p:nvPr/>
        </p:nvSpPr>
        <p:spPr>
          <a:xfrm>
            <a:off x="1041400" y="2707580"/>
            <a:ext cx="2946400" cy="266700"/>
          </a:xfrm>
          <a:prstGeom prst="rect">
            <a:avLst/>
          </a:prstGeom>
          <a:noFill/>
        </p:spPr>
        <p:txBody>
          <a:bodyPr wrap="none" lIns="0" rIns="0" tIns="0" bIns="0" anchor="t">
            <a:noAutofit/>
          </a:bodyPr>
          <a:lstStyle/>
          <a:p>
            <a:pPr algn="l">
              <a:lnSpc>
                <a:spcPts val="2100"/>
              </a:lnSpc>
              <a:spcBef>
                <a:spcPts val="0"/>
              </a:spcBef>
              <a:spcAft>
                <a:spcPts val="0"/>
              </a:spcAft>
            </a:pPr>
            <a:r>
              <a:rPr b="0" i="0" sz="2000">
                <a:solidFill>
                  <a:srgbClr val="F5F3EF"/>
                </a:solidFill>
                <a:latin typeface="Barlow Condensed ExtraBold"/>
              </a:rPr>
              <a:t>CONFIRM TARGETS</a:t>
            </a:r>
          </a:p>
        </p:txBody>
      </p:sp>
      <p:sp>
        <p:nvSpPr>
          <p:cNvPr id="7" name="TextBox 6"/>
          <p:cNvSpPr txBox="1"/>
          <p:nvPr/>
        </p:nvSpPr>
        <p:spPr>
          <a:xfrm>
            <a:off x="1041400" y="3063180"/>
            <a:ext cx="3034792"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The first 3–5 package builders, OEMs or projects to pursue jointly in TX, OH and IN, starting with Powell</a:t>
            </a:r>
          </a:p>
        </p:txBody>
      </p:sp>
      <p:sp>
        <p:nvSpPr>
          <p:cNvPr id="8" name="Rectangle 7"/>
          <p:cNvSpPr/>
          <p:nvPr/>
        </p:nvSpPr>
        <p:spPr>
          <a:xfrm>
            <a:off x="4394200" y="1841500"/>
            <a:ext cx="3403600" cy="2170311"/>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2800" y="2070100"/>
            <a:ext cx="294640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E39A5F"/>
                </a:solidFill>
                <a:latin typeface="Barlow Condensed ExtraBold"/>
              </a:rPr>
              <a:t>2</a:t>
            </a:r>
          </a:p>
        </p:txBody>
      </p:sp>
      <p:sp>
        <p:nvSpPr>
          <p:cNvPr id="10" name="TextBox 9"/>
          <p:cNvSpPr txBox="1"/>
          <p:nvPr/>
        </p:nvSpPr>
        <p:spPr>
          <a:xfrm>
            <a:off x="4622800" y="2707580"/>
            <a:ext cx="2946400" cy="266700"/>
          </a:xfrm>
          <a:prstGeom prst="rect">
            <a:avLst/>
          </a:prstGeom>
          <a:noFill/>
        </p:spPr>
        <p:txBody>
          <a:bodyPr wrap="none" lIns="0" rIns="0" tIns="0" bIns="0" anchor="t">
            <a:noAutofit/>
          </a:bodyPr>
          <a:lstStyle/>
          <a:p>
            <a:pPr algn="l">
              <a:lnSpc>
                <a:spcPts val="2100"/>
              </a:lnSpc>
              <a:spcBef>
                <a:spcPts val="0"/>
              </a:spcBef>
              <a:spcAft>
                <a:spcPts val="0"/>
              </a:spcAft>
            </a:pPr>
            <a:r>
              <a:rPr b="0" i="0" sz="2000">
                <a:solidFill>
                  <a:srgbClr val="F5F3EF"/>
                </a:solidFill>
                <a:latin typeface="Barlow Condensed ExtraBold"/>
              </a:rPr>
              <a:t>ASSIGN OWNERSHIP</a:t>
            </a:r>
          </a:p>
        </p:txBody>
      </p:sp>
      <p:sp>
        <p:nvSpPr>
          <p:cNvPr id="11" name="TextBox 10"/>
          <p:cNvSpPr txBox="1"/>
          <p:nvPr/>
        </p:nvSpPr>
        <p:spPr>
          <a:xfrm>
            <a:off x="4622800" y="3063180"/>
            <a:ext cx="3034792"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Who leads each account, who stocks and who quotes, for every builder we both call on</a:t>
            </a:r>
          </a:p>
        </p:txBody>
      </p:sp>
      <p:sp>
        <p:nvSpPr>
          <p:cNvPr id="12" name="Rectangle 11"/>
          <p:cNvSpPr/>
          <p:nvPr/>
        </p:nvSpPr>
        <p:spPr>
          <a:xfrm>
            <a:off x="7975600" y="1841500"/>
            <a:ext cx="3403600" cy="2170311"/>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4200" y="2070100"/>
            <a:ext cx="2946400" cy="548640"/>
          </a:xfrm>
          <a:prstGeom prst="rect">
            <a:avLst/>
          </a:prstGeom>
          <a:noFill/>
        </p:spPr>
        <p:txBody>
          <a:bodyPr wrap="none" lIns="0" rIns="0" tIns="0" bIns="0" anchor="t">
            <a:noAutofit/>
          </a:bodyPr>
          <a:lstStyle/>
          <a:p>
            <a:pPr algn="l">
              <a:lnSpc>
                <a:spcPts val="4320"/>
              </a:lnSpc>
              <a:spcBef>
                <a:spcPts val="0"/>
              </a:spcBef>
              <a:spcAft>
                <a:spcPts val="0"/>
              </a:spcAft>
            </a:pPr>
            <a:r>
              <a:rPr b="0" i="0" sz="4800">
                <a:solidFill>
                  <a:srgbClr val="E39A5F"/>
                </a:solidFill>
                <a:latin typeface="Barlow Condensed ExtraBold"/>
              </a:rPr>
              <a:t>3</a:t>
            </a:r>
          </a:p>
        </p:txBody>
      </p:sp>
      <p:sp>
        <p:nvSpPr>
          <p:cNvPr id="14" name="TextBox 13"/>
          <p:cNvSpPr txBox="1"/>
          <p:nvPr/>
        </p:nvSpPr>
        <p:spPr>
          <a:xfrm>
            <a:off x="8204200" y="2707580"/>
            <a:ext cx="2946400" cy="266700"/>
          </a:xfrm>
          <a:prstGeom prst="rect">
            <a:avLst/>
          </a:prstGeom>
          <a:noFill/>
        </p:spPr>
        <p:txBody>
          <a:bodyPr wrap="none" lIns="0" rIns="0" tIns="0" bIns="0" anchor="t">
            <a:noAutofit/>
          </a:bodyPr>
          <a:lstStyle/>
          <a:p>
            <a:pPr algn="l">
              <a:lnSpc>
                <a:spcPts val="2100"/>
              </a:lnSpc>
              <a:spcBef>
                <a:spcPts val="0"/>
              </a:spcBef>
              <a:spcAft>
                <a:spcPts val="0"/>
              </a:spcAft>
            </a:pPr>
            <a:r>
              <a:rPr b="0" i="0" sz="2000">
                <a:solidFill>
                  <a:srgbClr val="F5F3EF"/>
                </a:solidFill>
                <a:latin typeface="Barlow Condensed ExtraBold"/>
              </a:rPr>
              <a:t>BOOK THE FIRST CALLS</a:t>
            </a:r>
          </a:p>
        </p:txBody>
      </p:sp>
      <p:sp>
        <p:nvSpPr>
          <p:cNvPr id="15" name="TextBox 14"/>
          <p:cNvSpPr txBox="1"/>
          <p:nvPr/>
        </p:nvSpPr>
        <p:spPr>
          <a:xfrm>
            <a:off x="8204200" y="3063180"/>
            <a:ext cx="3034792" cy="720030"/>
          </a:xfrm>
          <a:prstGeom prst="rect">
            <a:avLst/>
          </a:prstGeom>
          <a:noFill/>
        </p:spPr>
        <p:txBody>
          <a:bodyPr wrap="square" lIns="0" rIns="0" tIns="0" bIns="0" anchor="t">
            <a:noAutofit/>
          </a:bodyPr>
          <a:lstStyle/>
          <a:p>
            <a:pPr algn="l">
              <a:lnSpc>
                <a:spcPts val="1889"/>
              </a:lnSpc>
              <a:spcBef>
                <a:spcPts val="0"/>
              </a:spcBef>
              <a:spcAft>
                <a:spcPts val="0"/>
              </a:spcAft>
            </a:pPr>
            <a:r>
              <a:rPr b="0" i="0" sz="1400">
                <a:solidFill>
                  <a:srgbClr val="C9CDD2"/>
                </a:solidFill>
                <a:latin typeface="Barlow"/>
              </a:rPr>
              <a:t>2–3 joint customer meetings with panel builders and OEM packagers before year-end</a:t>
            </a:r>
          </a:p>
        </p:txBody>
      </p:sp>
      <p:sp>
        <p:nvSpPr>
          <p:cNvPr id="16" name="TextBox 15"/>
          <p:cNvSpPr txBox="1"/>
          <p:nvPr/>
        </p:nvSpPr>
        <p:spPr>
          <a:xfrm>
            <a:off x="812800" y="4265811"/>
            <a:ext cx="10464800" cy="533400"/>
          </a:xfrm>
          <a:prstGeom prst="rect">
            <a:avLst/>
          </a:prstGeom>
          <a:noFill/>
        </p:spPr>
        <p:txBody>
          <a:bodyPr wrap="square" lIns="0" rIns="0" tIns="0" bIns="0" anchor="t">
            <a:noAutofit/>
          </a:bodyPr>
          <a:lstStyle/>
          <a:p>
            <a:pPr algn="l">
              <a:lnSpc>
                <a:spcPts val="2100"/>
              </a:lnSpc>
              <a:spcBef>
                <a:spcPts val="0"/>
              </a:spcBef>
              <a:spcAft>
                <a:spcPts val="0"/>
              </a:spcAft>
            </a:pPr>
            <a:r>
              <a:rPr b="1" i="0" sz="1500">
                <a:solidFill>
                  <a:srgbClr val="FFFDFA"/>
                </a:solidFill>
                <a:latin typeface="Barlow"/>
              </a:rPr>
              <a:t>Why it works:</a:t>
            </a:r>
            <a:r>
              <a:rPr b="0" i="0" sz="1500">
                <a:solidFill>
                  <a:srgbClr val="FFFDFA"/>
                </a:solidFill>
                <a:latin typeface="Barlow"/>
              </a:rPr>
              <a:t> demand is durable, Southwire has real PowerGen traction, and we already call on the same package builders. A joint plan turns that overlap into an advantage.</a:t>
            </a:r>
          </a:p>
        </p:txBody>
      </p:sp>
      <p:sp>
        <p:nvSpPr>
          <p:cNvPr id="17" name="TextBox 16"/>
          <p:cNvSpPr txBox="1"/>
          <p:nvPr/>
        </p:nvSpPr>
        <p:spPr>
          <a:xfrm>
            <a:off x="10833100" y="6267450"/>
            <a:ext cx="546100" cy="184150"/>
          </a:xfrm>
          <a:prstGeom prst="rect">
            <a:avLst/>
          </a:prstGeom>
          <a:noFill/>
        </p:spPr>
        <p:txBody>
          <a:bodyPr wrap="none" lIns="0" rIns="0" tIns="0" bIns="0" anchor="t">
            <a:noAutofit/>
          </a:bodyPr>
          <a:lstStyle/>
          <a:p>
            <a:pPr algn="r">
              <a:lnSpc>
                <a:spcPts val="1439"/>
              </a:lnSpc>
              <a:spcBef>
                <a:spcPts val="0"/>
              </a:spcBef>
              <a:spcAft>
                <a:spcPts val="0"/>
              </a:spcAft>
            </a:pPr>
            <a:r>
              <a:rPr b="0" i="0" sz="1200">
                <a:solidFill>
                  <a:srgbClr val="FFFDFA"/>
                </a:solidFill>
                <a:latin typeface="Barlow Condensed SemiBold"/>
              </a:rPr>
              <a:t>34</a:t>
            </a:r>
          </a:p>
        </p:txBody>
      </p:sp>
      <p:sp>
        <p:nvSpPr>
          <p:cNvPr id="18" name="Rectangle 17"/>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20" name="TextBox 19"/>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FFDFA"/>
                </a:solidFill>
                <a:latin typeface="Barlow"/>
              </a:rPr>
              <a:t>Confidential · Do not distribute · © 2026 Southwire Company, LLC. All rights reserved.</a:t>
            </a:r>
          </a:p>
        </p:txBody>
      </p:sp>
      <p:pic>
        <p:nvPicPr>
          <p:cNvPr id="21"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E1012"/>
        </a:solidFill>
        <a:effectLst/>
      </p:bgPr>
    </p:bg>
    <p:spTree>
      <p:nvGrpSpPr>
        <p:cNvPr id="1" name=""/>
        <p:cNvGrpSpPr/>
        <p:nvPr/>
      </p:nvGrpSpPr>
      <p:grpSpPr/>
      <p:pic>
        <p:nvPicPr>
          <p:cNvPr id="2" name="Picture 1" descr="up_p18_220d1e47.jp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5" name="Rectangle 4"/>
          <p:cNvSpPr/>
          <p:nvPr/>
        </p:nvSpPr>
        <p:spPr>
          <a:xfrm>
            <a:off x="0" y="6546850"/>
            <a:ext cx="5874445"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400" y="6610350"/>
            <a:ext cx="5929223"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C9CDD2"/>
                </a:solidFill>
                <a:latin typeface="Barlow"/>
              </a:rPr>
              <a:t>Confidential · Do not distribute · © 2026 Southwire Company, LLC. All rights reserved.</a:t>
            </a:r>
          </a:p>
        </p:txBody>
      </p:sp>
      <p:pic>
        <p:nvPicPr>
          <p:cNvPr id="7" name="Watermark" descr="slide_wm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none" lIns="0" rIns="0" tIns="0" bIns="0" anchor="t">
            <a:noAutofit/>
          </a:bodyPr>
          <a:lstStyle/>
          <a:p>
            <a:pPr algn="l">
              <a:lnSpc>
                <a:spcPts val="1680"/>
              </a:lnSpc>
              <a:spcBef>
                <a:spcPts val="0"/>
              </a:spcBef>
              <a:spcAft>
                <a:spcPts val="0"/>
              </a:spcAft>
            </a:pPr>
            <a:r>
              <a:rPr b="1" i="0" sz="1400" spc="250">
                <a:solidFill>
                  <a:srgbClr val="9E4C1A"/>
                </a:solidFill>
                <a:latin typeface="Barlow Condensed"/>
              </a:rPr>
              <a:t>APPENDIX</a:t>
            </a:r>
          </a:p>
        </p:txBody>
      </p:sp>
      <p:sp>
        <p:nvSpPr>
          <p:cNvPr id="3" name="TextBox 2"/>
          <p:cNvSpPr txBox="1"/>
          <p:nvPr/>
        </p:nvSpPr>
        <p:spPr>
          <a:xfrm>
            <a:off x="812800" y="1130300"/>
            <a:ext cx="10566400" cy="406400"/>
          </a:xfrm>
          <a:prstGeom prst="rect">
            <a:avLst/>
          </a:prstGeom>
          <a:noFill/>
        </p:spPr>
        <p:txBody>
          <a:bodyPr wrap="none" lIns="0" rIns="0" tIns="0" bIns="0" anchor="t">
            <a:noAutofit/>
          </a:bodyPr>
          <a:lstStyle/>
          <a:p>
            <a:pPr algn="l">
              <a:lnSpc>
                <a:spcPts val="3200"/>
              </a:lnSpc>
              <a:spcBef>
                <a:spcPts val="0"/>
              </a:spcBef>
              <a:spcAft>
                <a:spcPts val="0"/>
              </a:spcAft>
            </a:pPr>
            <a:r>
              <a:rPr b="0" i="0" sz="3200">
                <a:solidFill>
                  <a:srgbClr val="141619"/>
                </a:solidFill>
                <a:latin typeface="Barlow Condensed ExtraBold"/>
              </a:rPr>
              <a:t>SOURCES AND QUALIFIERS</a:t>
            </a:r>
          </a:p>
        </p:txBody>
      </p:sp>
      <p:sp>
        <p:nvSpPr>
          <p:cNvPr id="4" name="Rectangle 3"/>
          <p:cNvSpPr/>
          <p:nvPr/>
        </p:nvSpPr>
        <p:spPr>
          <a:xfrm>
            <a:off x="825500" y="1752600"/>
            <a:ext cx="10541000" cy="1968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1850" y="175895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F5F3EF"/>
                </a:solidFill>
                <a:latin typeface="Barlow"/>
              </a:rPr>
              <a:t>Figure</a:t>
            </a:r>
          </a:p>
        </p:txBody>
      </p:sp>
      <p:sp>
        <p:nvSpPr>
          <p:cNvPr id="6" name="TextBox 5"/>
          <p:cNvSpPr txBox="1"/>
          <p:nvPr/>
        </p:nvSpPr>
        <p:spPr>
          <a:xfrm>
            <a:off x="4002980" y="175895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1" i="0" sz="1200">
                <a:solidFill>
                  <a:srgbClr val="F5F3EF"/>
                </a:solidFill>
                <a:latin typeface="Barlow"/>
              </a:rPr>
              <a:t>Source</a:t>
            </a:r>
          </a:p>
        </p:txBody>
      </p:sp>
      <p:sp>
        <p:nvSpPr>
          <p:cNvPr id="7" name="Rectangle 6"/>
          <p:cNvSpPr/>
          <p:nvPr/>
        </p:nvSpPr>
        <p:spPr>
          <a:xfrm>
            <a:off x="825500" y="1962150"/>
            <a:ext cx="10541000" cy="1968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1850" y="196850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Load growth, data centers</a:t>
            </a:r>
          </a:p>
        </p:txBody>
      </p:sp>
      <p:sp>
        <p:nvSpPr>
          <p:cNvPr id="9" name="TextBox 8"/>
          <p:cNvSpPr txBox="1"/>
          <p:nvPr/>
        </p:nvSpPr>
        <p:spPr>
          <a:xfrm>
            <a:off x="4002980" y="196850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Grid Strategies, National Load Growth Report, 2025 (forecast)</a:t>
            </a:r>
          </a:p>
        </p:txBody>
      </p:sp>
      <p:sp>
        <p:nvSpPr>
          <p:cNvPr id="10" name="Rectangle 9"/>
          <p:cNvSpPr/>
          <p:nvPr/>
        </p:nvSpPr>
        <p:spPr>
          <a:xfrm>
            <a:off x="825500" y="2171700"/>
            <a:ext cx="10541000" cy="1968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850" y="217805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378 GW pipeline, 52 GW building</a:t>
            </a:r>
          </a:p>
        </p:txBody>
      </p:sp>
      <p:sp>
        <p:nvSpPr>
          <p:cNvPr id="12" name="TextBox 11"/>
          <p:cNvSpPr txBox="1"/>
          <p:nvPr/>
        </p:nvSpPr>
        <p:spPr>
          <a:xfrm>
            <a:off x="4002980" y="217805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Global Energy Monitor, Aug 2026; early-stage proposals will not all be built</a:t>
            </a:r>
          </a:p>
        </p:txBody>
      </p:sp>
      <p:sp>
        <p:nvSpPr>
          <p:cNvPr id="13" name="Rectangle 12"/>
          <p:cNvSpPr/>
          <p:nvPr/>
        </p:nvSpPr>
        <p:spPr>
          <a:xfrm>
            <a:off x="825500" y="2381250"/>
            <a:ext cx="10541000" cy="1968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850" y="238760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Turbine lead times</a:t>
            </a:r>
          </a:p>
        </p:txBody>
      </p:sp>
      <p:sp>
        <p:nvSpPr>
          <p:cNvPr id="15" name="TextBox 14"/>
          <p:cNvSpPr txBox="1"/>
          <p:nvPr/>
        </p:nvSpPr>
        <p:spPr>
          <a:xfrm>
            <a:off x="4002980" y="238760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S&amp;P Global Commodity Insights, May 20, 2025</a:t>
            </a:r>
          </a:p>
        </p:txBody>
      </p:sp>
      <p:sp>
        <p:nvSpPr>
          <p:cNvPr id="16" name="Rectangle 15"/>
          <p:cNvSpPr/>
          <p:nvPr/>
        </p:nvSpPr>
        <p:spPr>
          <a:xfrm>
            <a:off x="825500" y="2590800"/>
            <a:ext cx="10541000" cy="38100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850" y="2597150"/>
            <a:ext cx="3145730" cy="36830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OEM backlogs and orders</a:t>
            </a:r>
          </a:p>
        </p:txBody>
      </p:sp>
      <p:sp>
        <p:nvSpPr>
          <p:cNvPr id="18" name="TextBox 17"/>
          <p:cNvSpPr txBox="1"/>
          <p:nvPr/>
        </p:nvSpPr>
        <p:spPr>
          <a:xfrm>
            <a:off x="4002980" y="2597150"/>
            <a:ext cx="7577885" cy="368300"/>
          </a:xfrm>
          <a:prstGeom prst="rect">
            <a:avLst/>
          </a:prstGeom>
          <a:noFill/>
        </p:spPr>
        <p:txBody>
          <a:bodyPr wrap="square" lIns="0" rIns="0" tIns="0" bIns="0" anchor="t">
            <a:noAutofit/>
          </a:bodyPr>
          <a:lstStyle/>
          <a:p>
            <a:pPr algn="l">
              <a:lnSpc>
                <a:spcPts val="1439"/>
              </a:lnSpc>
              <a:spcBef>
                <a:spcPts val="0"/>
              </a:spcBef>
              <a:spcAft>
                <a:spcPts val="0"/>
              </a:spcAft>
            </a:pPr>
            <a:r>
              <a:rPr b="0" i="0" sz="1200">
                <a:solidFill>
                  <a:srgbClr val="141619"/>
                </a:solidFill>
                <a:latin typeface="Barlow"/>
              </a:rPr>
              <a:t>GE Vernova 2Q'26; Siemens Energy Q3 FY26; Utility Dive, Aug 13, 2026 (MHI); Caterpillar 2Q'26; Eaton, Jun 2025; POWER Magazine on VoltaGrid (Oracle, Oct 2025; Vantage, Feb 2026)</a:t>
            </a:r>
          </a:p>
        </p:txBody>
      </p:sp>
      <p:sp>
        <p:nvSpPr>
          <p:cNvPr id="19" name="Rectangle 18"/>
          <p:cNvSpPr/>
          <p:nvPr/>
        </p:nvSpPr>
        <p:spPr>
          <a:xfrm>
            <a:off x="825500" y="2984500"/>
            <a:ext cx="10541000" cy="38100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850" y="2990850"/>
            <a:ext cx="3145730" cy="36830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Cable opportunity, OEM, EPC, projects</a:t>
            </a:r>
          </a:p>
        </p:txBody>
      </p:sp>
      <p:sp>
        <p:nvSpPr>
          <p:cNvPr id="21" name="TextBox 20"/>
          <p:cNvSpPr txBox="1"/>
          <p:nvPr/>
        </p:nvSpPr>
        <p:spPr>
          <a:xfrm>
            <a:off x="4002980" y="2990850"/>
            <a:ext cx="7577885" cy="368300"/>
          </a:xfrm>
          <a:prstGeom prst="rect">
            <a:avLst/>
          </a:prstGeom>
          <a:noFill/>
        </p:spPr>
        <p:txBody>
          <a:bodyPr wrap="square" lIns="0" rIns="0" tIns="0" bIns="0" anchor="t">
            <a:noAutofit/>
          </a:bodyPr>
          <a:lstStyle/>
          <a:p>
            <a:pPr algn="l">
              <a:lnSpc>
                <a:spcPts val="1439"/>
              </a:lnSpc>
              <a:spcBef>
                <a:spcPts val="0"/>
              </a:spcBef>
              <a:spcAft>
                <a:spcPts val="0"/>
              </a:spcAft>
            </a:pPr>
            <a:r>
              <a:rPr b="0" i="0" sz="1200">
                <a:solidFill>
                  <a:srgbClr val="141619"/>
                </a:solidFill>
                <a:latin typeface="Barlow"/>
              </a:rPr>
              <a:t>Southwire PowerGen commercial priorities model, Sep 11, 2026: assumed rates and probabilities, no statistical confidence interval</a:t>
            </a:r>
          </a:p>
        </p:txBody>
      </p:sp>
      <p:sp>
        <p:nvSpPr>
          <p:cNvPr id="22" name="Rectangle 21"/>
          <p:cNvSpPr/>
          <p:nvPr/>
        </p:nvSpPr>
        <p:spPr>
          <a:xfrm>
            <a:off x="825500" y="3378200"/>
            <a:ext cx="10541000" cy="196850"/>
          </a:xfrm>
          <a:prstGeom prst="rect">
            <a:avLst/>
          </a:prstGeom>
          <a:solidFill>
            <a:srgbClr val="EC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850" y="338455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Register, owners, geography, buyers</a:t>
            </a:r>
          </a:p>
        </p:txBody>
      </p:sp>
      <p:sp>
        <p:nvSpPr>
          <p:cNvPr id="24" name="TextBox 23"/>
          <p:cNvSpPr txBox="1"/>
          <p:nvPr/>
        </p:nvSpPr>
        <p:spPr>
          <a:xfrm>
            <a:off x="4002980" y="338455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Southwire PowerGen capacity and buyer strategy, Oct 2026 (register snapshot Sep 11, 2026)</a:t>
            </a:r>
          </a:p>
        </p:txBody>
      </p:sp>
      <p:sp>
        <p:nvSpPr>
          <p:cNvPr id="25" name="Rectangle 24"/>
          <p:cNvSpPr/>
          <p:nvPr/>
        </p:nvSpPr>
        <p:spPr>
          <a:xfrm>
            <a:off x="825500" y="3587750"/>
            <a:ext cx="10541000" cy="1968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850" y="359410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Progress and coverage</a:t>
            </a:r>
          </a:p>
        </p:txBody>
      </p:sp>
      <p:sp>
        <p:nvSpPr>
          <p:cNvPr id="27" name="TextBox 26"/>
          <p:cNvSpPr txBox="1"/>
          <p:nvPr/>
        </p:nvSpPr>
        <p:spPr>
          <a:xfrm>
            <a:off x="4002980" y="359410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Southwire internal, 2026</a:t>
            </a:r>
          </a:p>
        </p:txBody>
      </p:sp>
      <p:sp>
        <p:nvSpPr>
          <p:cNvPr id="28" name="Rectangle 27"/>
          <p:cNvSpPr/>
          <p:nvPr/>
        </p:nvSpPr>
        <p:spPr>
          <a:xfrm>
            <a:off x="825500" y="3797300"/>
            <a:ext cx="10541000" cy="196850"/>
          </a:xfrm>
          <a:prstGeom prst="rect">
            <a:avLst/>
          </a:prstGeom>
          <a:solidFill>
            <a:srgbClr val="FF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850" y="3803650"/>
            <a:ext cx="314573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Plant and yard renders</a:t>
            </a:r>
          </a:p>
        </p:txBody>
      </p:sp>
      <p:sp>
        <p:nvSpPr>
          <p:cNvPr id="30" name="TextBox 29"/>
          <p:cNvSpPr txBox="1"/>
          <p:nvPr/>
        </p:nvSpPr>
        <p:spPr>
          <a:xfrm>
            <a:off x="4002980" y="3803650"/>
            <a:ext cx="735717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141619"/>
                </a:solidFill>
                <a:latin typeface="Barlow"/>
              </a:rPr>
              <a:t>Southwire PowerGen plant model: conceptual and illustrative, not engineering data</a:t>
            </a:r>
          </a:p>
        </p:txBody>
      </p:sp>
      <p:sp>
        <p:nvSpPr>
          <p:cNvPr id="31" name="TextBox 30"/>
          <p:cNvSpPr txBox="1"/>
          <p:nvPr/>
        </p:nvSpPr>
        <p:spPr>
          <a:xfrm>
            <a:off x="812800" y="6267450"/>
            <a:ext cx="4906322"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VERIFY ALL FIGURES AGAINST PRIMARY SOURCES BEFORE EXTERNAL USE</a:t>
            </a:r>
          </a:p>
        </p:txBody>
      </p:sp>
      <p:sp>
        <p:nvSpPr>
          <p:cNvPr id="32" name="TextBox 31"/>
          <p:cNvSpPr txBox="1"/>
          <p:nvPr/>
        </p:nvSpPr>
        <p:spPr>
          <a:xfrm>
            <a:off x="11223427" y="6267450"/>
            <a:ext cx="19052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spc="100">
                <a:solidFill>
                  <a:srgbClr val="4A525B"/>
                </a:solidFill>
                <a:latin typeface="Barlow Condensed SemiBold"/>
              </a:rPr>
              <a:t>36</a:t>
            </a:r>
          </a:p>
        </p:txBody>
      </p:sp>
      <p:sp>
        <p:nvSpPr>
          <p:cNvPr id="33" name="Rectangle 32"/>
          <p:cNvSpPr/>
          <p:nvPr/>
        </p:nvSpPr>
        <p:spPr>
          <a:xfrm>
            <a:off x="9851827" y="6546850"/>
            <a:ext cx="2340173" cy="311150"/>
          </a:xfrm>
          <a:prstGeom prst="rect">
            <a:avLst/>
          </a:prstGeom>
          <a:solidFill>
            <a:srgbClr val="1416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04227" y="6610350"/>
            <a:ext cx="2182896"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F5F3EF"/>
                </a:solidFill>
                <a:latin typeface="Barlow"/>
              </a:rPr>
              <a:t>stephan.hardt@southwire.com</a:t>
            </a:r>
          </a:p>
        </p:txBody>
      </p:sp>
      <p:sp>
        <p:nvSpPr>
          <p:cNvPr id="35" name="TextBox 34"/>
          <p:cNvSpPr txBox="1"/>
          <p:nvPr/>
        </p:nvSpPr>
        <p:spPr>
          <a:xfrm>
            <a:off x="812800" y="6597650"/>
            <a:ext cx="8255000" cy="184150"/>
          </a:xfrm>
          <a:prstGeom prst="rect">
            <a:avLst/>
          </a:prstGeom>
          <a:noFill/>
        </p:spPr>
        <p:txBody>
          <a:bodyPr wrap="none" lIns="0" rIns="0" tIns="0" bIns="0" anchor="t">
            <a:noAutofit/>
          </a:bodyPr>
          <a:lstStyle/>
          <a:p>
            <a:pPr algn="l">
              <a:lnSpc>
                <a:spcPts val="1439"/>
              </a:lnSpc>
              <a:spcBef>
                <a:spcPts val="0"/>
              </a:spcBef>
              <a:spcAft>
                <a:spcPts val="0"/>
              </a:spcAft>
            </a:pPr>
            <a:r>
              <a:rPr b="0" i="0" sz="1200">
                <a:solidFill>
                  <a:srgbClr val="6E7780"/>
                </a:solidFill>
                <a:latin typeface="Barlow"/>
              </a:rPr>
              <a:t>Confidential · Do not distribute · © 2026 Southwire Company, LLC. All rights reserved.</a:t>
            </a:r>
          </a:p>
        </p:txBody>
      </p:sp>
      <p:pic>
        <p:nvPicPr>
          <p:cNvPr id="36" name="Watermark" descr="slide_wm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